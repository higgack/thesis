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8"/>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기술범위 (두 클래스 내 CPC 서브그룹 수)</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circle"/>
            <c:size val="10"/>
            <c:spPr>
              <a:solidFill>
                <a:srgbClr val="7C3AED"/>
              </a:solidFill>
              <a:ln>
                <a:solidFill>
                  <a:srgbClr val="7C3AED"/>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t"/>
              <c:showLegendKey val="0"/>
              <c:showVal val="1"/>
              <c:showCatName val="0"/>
              <c:showSerName val="0"/>
              <c:showPercent val="0"/>
              <c:showBubbleSize val="0"/>
            </c:dLbl>
            <c:numFmt formatCode="0.0&quot;%&quot;" sourceLinked="0"/>
            <c:txPr>
              <a:bodyPr/>
              <a:lstStyle/>
              <a:p>
                <a:pPr>
                  <a:defRPr sz="1150" b="1">
                    <a:solidFill>
                      <a:srgbClr val="7C3AED"/>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31.3</c:v>
                </c:pt>
                <c:pt idx="1">
                  <c:v>62.2</c:v>
                </c:pt>
                <c:pt idx="2">
                  <c:v>44.3</c:v>
                </c:pt>
              </c:numCache>
            </c:numRef>
          </c:val>
          <c:smooth val="0"/>
        </c:ser>
        <c:ser>
          <c:idx val="1"/>
          <c:order val="1"/>
          <c:tx>
            <c:strRef>
              <c:f>Sheet1!$C$1</c:f>
              <c:strCache>
                <c:ptCount val="1"/>
                <c:pt idx="0">
                  <c:v>접합 단독형</c:v>
                </c:pt>
              </c:strCache>
            </c:strRef>
          </c:tx>
          <c:spPr>
            <a:ln w="57150">
              <a:solidFill>
                <a:srgbClr val="EA7A28"/>
              </a:solidFill>
            </a:ln>
          </c:spPr>
          <c:marker>
            <c:symbol val="circle"/>
            <c:size val="10"/>
            <c:spPr>
              <a:solidFill>
                <a:srgbClr val="EA7A28"/>
              </a:solidFill>
              <a:ln>
                <a:solidFill>
                  <a:srgbClr val="EA7A28"/>
                </a:solidFill>
              </a:ln>
            </c:spPr>
          </c:marker>
          <c:dLbls>
            <c:dLbl>
              <c:idx val="0"/>
              <c:spPr/>
              <c:txPr>
                <a:bodyPr/>
                <a:lstStyle/>
                <a:p>
                  <a:pPr>
                    <a:defRPr/>
                  </a:pPr>
                </a:p>
              </c:txPr>
              <c:dLblPos val="b"/>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EA7A28"/>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25.1</c:v>
                </c:pt>
                <c:pt idx="1">
                  <c:v>23.0</c:v>
                </c:pt>
                <c:pt idx="2">
                  <c:v>45.4</c:v>
                </c:pt>
              </c:numCache>
            </c:numRef>
          </c:val>
          <c:smooth val="0"/>
        </c:ser>
        <c:ser>
          <c:idx val="2"/>
          <c:order val="2"/>
          <c:tx>
            <c:strRef>
              <c:f>Sheet1!$D$1</c:f>
              <c:strCache>
                <c:ptCount val="1"/>
                <c:pt idx="0">
                  <c:v>공정 단독형</c:v>
                </c:pt>
              </c:strCache>
            </c:strRef>
          </c:tx>
          <c:spPr>
            <a:ln w="25400">
              <a:solidFill>
                <a:srgbClr val="2563C9"/>
              </a:solidFill>
            </a:ln>
          </c:spPr>
          <c:marker>
            <c:symbol val="circle"/>
            <c:size val="7"/>
            <c:spPr>
              <a:solidFill>
                <a:srgbClr val="2563C9"/>
              </a:solidFill>
              <a:ln>
                <a:solidFill>
                  <a:srgbClr val="2563C9"/>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b"/>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43.6</c:v>
                </c:pt>
                <c:pt idx="1">
                  <c:v>14.8</c:v>
                </c:pt>
                <c:pt idx="2">
                  <c:v>10.4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70.0"/>
          <c:min val="0.0"/>
        </c:scaling>
        <c:delete val="0"/>
        <c:axPos val="l"/>
        <c:majorGridlines>
          <c:spPr>
            <a:ln>
              <a:solidFill>
                <a:srgbClr val="DDE2EA"/>
              </a:solidFill>
            </a:ln>
          </c:spPr>
        </c:majorGridlines>
        <c:numFmt formatCode="0&quot;%&quot;"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20.0"/>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시작했는지부터, 어떤 이론을 바탕으로 연구 질문을 세웠고 어떤 자료와 방법으로 분석했는지, 그리고 최종적으로 어떤 결과가 나왔으며 그것이 무엇을 의미하는지를 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말씀드리겠습니다. 하이브리드 본딩 특허 928건에서 세 가지를 확인했습니다. 첫째, 제조공정과 접합 기술을 함께 담은 통합형이 45.8%였고, 패키징 단계 공정을 뺀 좁은 정의에서도 37.2%였습니다. 경계를 넘는 발명은 예외가 아니었습니다. 둘째, 융합은 계속 늘지 않고 형성기, 확산기, 재편기의 세 국면을 거쳤습니다. 셋째, 핵심 설계가 고착화되면서 융합의 중심이 웨이퍼 제조공정에서 공정 장치와 패키징 단계 공정 같은 주변으로 옮겨 갔습니다. 그 과정을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크게 두 단계로 나뉩니다. 웨이퍼 위에 트랜지스터를 만드는 전공정, 그리고 완성된 웨이퍼를 잘라 조립하고 패키징하는 후공정입니다. 전공정은 종합반도체기업과 파운드리의 팹에서, 후공정은 조립·테스트 전문업체에서 맡는 분업이 반세기 넘게 유지되어 왔습니다. 이 분업이 가능했던 것은 두 단계 사이의 인터페이스가 안정적이었기 때문입니다. 그런데 회로 선폭을 줄이는 미세화가 한계에 부딪히자, 산업은 다이를 나누고 쌓아 연결하는 첨단 패키징에서 새로운 성능 향상의 기회를 찾기 시작했고,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가운데 그림처럼 기존의 범프 접합이 두 다이를 솔더라는 접착제로 붙이는 방식이라면, 하이브리드 본딩은 두 표면을 거울처럼 평평하게 갈아 그대로 맞붙이는 방식입니다. 덕분에 오른쪽의 후공정 목표, 즉 10마이크로미터 이하의 연결 간격과 웨이퍼와 다이의 직접 적층을 구현합니다. 그런데 이 목표를 위해 필요한 왼쪽의 역량, 화학적 기계연마를 이용한 평탄화, 표면 활성화, 파티클 제어, 정밀 정렬은 후공정이 쌓아 온 역량이 아니라 전공정의 팹에서 다루어 온 제조공정 역량입니다. 후공정 기술의 성패를 전공정 역량이 좌우하게 된 것입니다. 반세기 동안 안정적이던 두 공정 단계의 경계가 흔들리고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이 현상을 기술융합 연구에서 찾아보았습니다. 기술융합 연구는 오랫동안 축적되어 왔지만, 아쉬운 점이 세 가지 있었습니다. 첫째, 대부분 정보통신과 가전, 식품과 제약처럼 서로 다른 산업 사이의 융합을 다루었고, 한 산업 안에서 공정 단계를 가로지르는 융합은 드물었습니다. 둘째, 융합을 분야 수준의 지수로 측정하다 보니 어떤 발명이 융합을 담고 있는지는 설명하기 어려웠습니다. 셋째, 이론은 융합을 단계적 과정으로 보지만, 실증 연구는 융합의 정도가 늘었는지를 확인하는 데 머물렀습니다. 그래서 저는 한 산업의 공정 단계 사이에서 일어나는 융합을 개별 특허 수준에서, 시간의 흐름에 따라 분석하였습니다.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19세기 총기와 재봉틀을 위해 개발된 가공 기술이 공통의 생산공정을 통해 다른 산업으로 퍼져 나가고, 그 공정 지식을 축적한 공작기계 산업이 독립된 산업으로 등장한 과정을 기술적 수렴이라고 불렀습니다. Kodama는 분리된 기술 분야가 결합하여 어느 한쪽만으로는 갖지 못한 역량을 만드는 과정을 기술융합으로 정의했습니다. Hacklin 등은 융합이 단계적으로 진행된다는 단계 모형을 제시했습니다. 하이브리드 본딩에서도 두 공정 단계가 증착, 식각, 도금, 연마라는 공통의 공정과 장비를 공유하기 시작했고, 10마이크로미터 이하의 연결 간격은 두 영역이 결합해야만 달성됩니다. 즉, 공정 단계 간 융합은 기술융합의 고전적 개념을 한 산업 내부의 공정 경계에 적용한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Hacklin 등은 융합이 지식 융합, 기술 융합, 응용 융합, 산업 융합의 네 단계로 진행된다고 보았습니다. 하이브리드 본딩에 대입해 보면, 평탄화나 표면 활성화 같은 제조공정 지식이 칩 연결 문제에 쓰이기 시작하는 것이 지식 융합, 그 지식이 접합 구조와 하나의 발명 안에서 결합되는 것이 기술 융합, 결합된 기술이 이미지센서나 HBM 같은 제품으로 구현되는 것이 응용 융합, 그리고 파운드리가 첨단 패키징을 내재화하는 것처럼 분업 구조가 바뀌는 것이 산업 융합입니다. 이 가운데 특허의 공동분류로 직접 관찰할 수 있는 것은 기술 융합 단계입니다. 응용 융합은 세 번째 연구 질문에서 간접적으로만 다루고, 산업 융합은 분석 범위 밖입니다.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분리되면서 팹리스, 파운드리, 조립·테스트 전문업체가 등장한 대표적인 산업입니다. 그런데 Kapoor와 Adner는 1974년부터 2005년까지 DRAM 산업의 12개 제품 세대를 분석하여, 외주화한 부품의 지식까지 보유한 비통합 기업이 기술 전환에서 성과 우위를 얻었음을 보였습니다. Brusoni 등도 구성요소 사이의 상호의존을 예측하기 어려울 때 기업은 직접 생산하는 범위보다 넓은 지식을 가져야 한다고 설명합니다. 즉, 생산의 경계와 지식의 경계는 다릅니다. 하이브리드 본딩처럼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Anderson과 Tushman에 따르면 새로운 기술은 여러 설계가 경쟁하는 격동기를 거쳐 하나의 지배적 설계로 수렴하고, 그 뒤에는 정해진 설계를 다듬는 점진적 변화가 이어집니다. Murmann과 Frenken은 지배적 설계를, 다른 요소와 안정된 인터페이스 역할을 하는 핵심 요소의 설계로 보았습니다. 핵심 설계가 안정되면 이후의 기술 변화는 그 인터페이스를 전제로 주변 요소에서 이어집니다. 도로에 비유하면, 규격이 정해지기 전에는 설계자와 시공자가 한 몸처럼 움직여야 하지만, 규격이 정해진 뒤에는 각자 그 규격을 전제로 일하게 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이론을 요약해 보면, 첫째, 공정 단계 간 융합은 기술융합의 개념을 한 산업 내부에 적용한 것이며, 특허로는 기술 융합 단계를 관찰할 수 있습니다. 둘째, 생산의 경계와 지식의 경계는 다르기 때문에, 인터페이스가 불안정해지면 경계를 넘는 발명이 나타납니다. 셋째, 지배적 설계가 고착화되면 융합의 중심은 핵심에서 주변으로 이동할 수 있습니다. 이 세 가지를 기억해 주시면 감사하겠습니다.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질문입니다. 첫 번째 연구 질문은 융합의 수준과 유형에 관한 것입니다. 앞에서 말씀드린 지식 경계의 논리에 따르면, 하이브리드 본딩으로 전공정과 후공정 사이의 인터페이스가 불안정해졌다면 두 영역의 기술을 함께 담은 발명이 예외적이지 않은 비중으로 나타나야 합니다. 그리고 발명을 기술 요소의 새로운 조합으로 보는 Fleming의 관점에 따르면, 두 영역에 걸친 발명은 한 영역에 머무는 발명보다 더 다양한 세부 기술을 포함하고 있을 것입니다. 그래서 첫 번째 연구 질문은 "하이브리드 본딩 기술에서 제조공정과 접합 기술 간의 융합이 어느 정도로, 어떠한 형태로 나타나는가"입니다.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시간적 변화입니다. 단계 모형과 기술 순환 모형을 결합하면, 기술이 형성되는 시기에는 직접 접합을 가능하게 하는 공정 발명이 주를 이루고, 확산되는 시기에는 공정 지식과 접합 발명의 결합이 늘며, 지배적 설계가 자리 잡은 뒤에는 결합이 응용에 필요한 주변 공정으로 옮겨 갈 것으로 기대할 수 있습니다. 실제로 하이브리드 본딩은 이미지센서와 3D NAND의 웨이퍼 단위 접합에서 시작해 HBM과 로직의 다이 단위 접합으로 확대되었고, 발명의 중심도 표면 준비나 평탄화 같은 공정에서 접합 구조와 적층으로 옮겨 갔습니다. 따라서 융합의 수준은 꾸준히 늘기보다 단계에 따라 오르내릴 수 있습니다. 그래서 두 번째 연구 질문은 "공정 단계 간 기술융합은 시간에 따라 어떻게 변화해 왔는가"입니다.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융합의 중심 변화입니다. 하이브리드 본딩의 핵심은 범프 없이 접합 패드끼리 직접 연결하는 방식입니다. 이 인터페이스가 확정되기 전에는 핵심 기술을 발명하려면 평탄화나 웨이퍼 접합 같은 제조공정 지식을 함께 다루어야 합니다. 그러나 설계가 고착화되면 그 지식은 주어진 조건이 되고, 새로운 결합은 다이를 다루고 패키지로 완성하는 주변 공정에서 일어날 것입니다. 그래서 세 번째 연구 질문은 "공정 단계 간 기술융합의 중심이 핵심 기술과 주변 기술 사이에서 시기에 따라 어떻게 재편되는가"입니다.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질문과 각 질문의 이론적 기대를 한 장으로 정리하면 이렇습니다. 오른쪽의 이론적 기대는 통계적 가설로 검정하는 것이 아니라, 결과를 해석하는 기준으로 사용했습니다. 이 세 질문에 답하기 위해 분석 대상과 자료를 선정하였습니다.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본딩을 조금 더 들여다보겠습니다. 왼쪽처럼 하이브리드 본딩은 기반 공정, 접합 형태, 소자 구조, 적용 제품의 네 층위로 정리할 수 있는데, 기반 공정은 CPC의 제조공정 클래스인 H01L21에, 접합 형태는 접합·인터커넥트 클래스인 H01L24에 주로 대응합니다. 오른쪽은 다이-투-웨이퍼 하이브리드 본딩의 실제 공정 흐름입니다. 다이를 자르기 전까지 절연막 증착, 다마신 식각, 구리 증착과 도금, 화학적 기계연마가 이어지는데, 모두 전공정에서 쓰이던 공정과 장비입니다. 특허 활동을 주도하는 출원인에도 TSMC, Adeia, YMTC, Intel, Samsung처럼 라이선싱 기업, 파운드리,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조건과 표본의 특성을 조금 더 자세히 보겠습니다. 위의 표처럼 1차로 제조공정 분류 H01L21과 접합 분류 H01L24를, 2차로 제목 키워드를 적용했습니다. 표본에는 서브그룹 기호 262개가 나타나며, 그중 제조공정 기호가 202개, 접합 기호가 60개입니다. 제목에 hybrid bonding이 들어간 467건, 관련 없는 용법으로 쓰인 68건, 같은 제목으로 여러 출원청에 출원된 경우는 강건성 검증에서 따로 다루었습니다. 출원청별로는 미국이 382건으로 가장 많고, 중국 175건, PCT 국제출원 113건 순입니다.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심사관이 기술 내용에 따라 CPC 분류 기호를 부여합니다. 왼쪽 원은 제조공정 클래스인 H01L21, 오른쪽 원은 접합·인터커넥트 클래스인 H01L24입니다. 한 출원이 두 클래스의 기호를 함께 가지면, 두 영역의 지식이 하나의 발명 안에서 결합되었다는 흔적으로 보고 통합형이라 불렀습니다. 한쪽만 가지면 공정 단독형 또는 접합 단독형입니다.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출원 세 건으로 보면 이렇습니다. 왼쪽 대만 출원은 제조공정 기호만 가진 공정 단독형, 가운데 미국 출원은 제조공정 기호와 접합 기호를 함께 가진 통합형, 오른쪽 미국 출원은 접합 기호만 가진 접합 단독형입니다. 가운데의 통합형이 공정 단계의 경계를 넘는 특허입니다. 아래처럼 공정 단계 간 기술융합이라는 이론적 개념을, 두 기술이 한 출원에 함께 포함되는 현상으로 관찰하고, 이를 공동분류라는 지표로 측정했습니다.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방법은 세 가지 회귀모형입니다. 첫 번째 주모형은 다항 로짓으로, 출원이 세 유형 가운데 어디에 속하는지를 기술범위와 출원연도로 설명합니다. 기술범위는 두 클래스 안에서 출원이 가진 세부 분류 기호의 수입니다. 두 번째는 제조공정 분류를 가졌는지를 보는 이항 로짓으로, 보완분석입니다. 세 번째는 세 번째 연구 질문을 위한 이항 로짓으로, 접합 출원 763건에서 핵심 기술 보유와 출원 시기의 상호작용을 봅니다. 출원 시기는 출원이 드물었던 2014년 이전과 2015년부터 2019년, 2020년부터 2024년의 세 시기로 나누었습니다. 여기에 제조공정 영역별 결합 강도인 Jaccard 계수와 기술 네트워크의 매개 중심성을 보조 지표로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결과를 말씀드리겠습니다. 첫 번째 연구 질문의 결과입니다. 928건 가운데 가장 많은 유형은 두 영역의 기호를 모두 가진 통합형으로, 425건, 45.8%였습니다. 접합 단독형이 36.4%, 공정 단독형이 17.8%였습니다. 제조공정 분류에 패키징 단계의 공정도 들어 있다는 점을 고려해 이를 제외한 좁은 정의를 적용해도 통합형은 37.2%였습니다. 하이브리드 본딩에서 공정 단계 간 융합은 예외적인 현상이 아니었습니다.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어떤 특허가 경계를 넘었을까요? 다항 로짓 결과, 세부 분류가 하나 늘 때마다 접합 단독형 대비 통합형일 상대위험이 40% 높아졌습니다. 그래프로 보면, 기술범위가 3인 출원은 통합형일 확률이 0.26이지만 8인 출원은 0.68입니다. 즉, 경계를 넘는 특허는 더 다양한 세부 기술을 포함하고 있었습니다. 다만 통합형은 정의상 기호가 두 개 이상이라는 기계적인 측면이 있어, 유형의 최소 기호 수를 뺀 지표로도 확인했는데 상대위험비는 1.262로 방향이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연구 질문의 결과입니다. 출원을 세 시기로 나누어 보았습니다. 2014년 이전 47년간의 출원이 179건으로 이후 5년간의 209건보다 적을 만큼 드물었기 때문에 하나의 시기로 묶었습니다. 2014년 이전에는 공정 단독형이 43.6%로 가장 많았고, 2015년부터 2019년까지는 통합형이 62.2%로 정점에 이르렀으며, 2020년 이후에는 통합형이 44.3%로 낮아지고 접합 단독형이 45.4%까지 늘었습니다. 저는 이 세 국면을 형성기, 확산기, 재편기라고 이름 붙였습니다. 융합은 계속 늘어난 것이 아니라 오르내렸습니다.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 이제 각 국면을 하나씩 들여다보겠습니다.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형성기입니다. 이 시기에는 공정 단독형이 43.6%로 가장 많았습니다. 직접 접합을 가능하게 하는 제조공정 발명이 먼저 단독으로 쌓인 시기입니다. 주목할 점은 핵심 기술, 즉 접합 패드 기호를 포함한 접합 출원의 79.6%가 통합형이었다는 것입니다. 핵심 기술이 없는 출원은 27.7%에 그쳤고, 출원청을 통제한 승산비는 11.07이었습니다. 인터페이스가 확정되기 전이라, 핵심 기술을 발명하려면 평탄화나 웨이퍼 접합 같은 제조공정 지식을 함께 다루어야 했던 것으로 해석됩니다. 단계 모형으로는 지식 융합에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확산기에는 통합형이 62.2%로 정점에 이르렀습니다. 웨이퍼 제조공정이 접합 기호와 함께 부여되는 정도를 나타내는 Jaccard 계수도 0.598로 가장 높았고, 핵심 기술과 함께 부여된 대표 기호는 반도체 몸체끼리의 접합이었습니다. 핵심 기술의 승산비는 2.45로 줄었지만 유지되었고, 핵심 기술을 포함한 접합 출원의 비중은 78.7%로 커졌습니다. 두 영역의 지식이 하나의 발명 안에서 가장 활발히 결합된, 단계 모형의 기술 융합 국면입니다.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재편기에는 예상과 다른 모습이 나타났습니다. 출원이 540건으로 가장 많았던 이 시기에 통합형은 44.3%로 내려왔고, 접합 단독형이 45.4%로 늘어 두 유형이 비슷해졌습니다. 기술이 가장 활발히 발명된 시기에 경계를 넘는 발명의 비중은 오히려 줄어든 것입니다. 이 변화가 어디에서 비롯되었는지 핵심 기술 모형으로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핵심 기술 모형입니다. 핵심 기술의 승산비는 형성기 11.1에서 확산기 2.5로 줄었고, 재편기에는 0.66으로 유의한 차이가 확인되지 않았습니다. 두 상호작용을 함께 본 Wald 검정도 유의했습니다. 흥미로운 점은 변화가 핵심 기술을 포함한 출원에서 비롯되었다는 것입니다. 핵심 기술을 포함한 출원의 통합형 비중은 79.6%, 77.1%에서 48.4%로 낮아졌지만, 핵심 기술이 없는 출원은 27.7%에서 56.9%로 오히려 높아졌습니다. 그사이 접합 출원 가운데 핵심 기술을 포함한 비중은 53.5%에서 88.0%로 높아졌습니다. 그렇다면 왜 핵심 기술의 경계 넘기 우위는 사라졌을까요?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이를 기술 순환 모형의 지배적 설계로 해석했습니다. 인터페이스가 불안정한 격동기에는 접합 패드를 발명할 때마다 평탄화와 표면 화학, 웨이퍼 접합 지식을 함께 다루어야 했습니다. 그러나 직접 접합의 원리가 지배적 설계로 고착화되면, 그 원리는 발명이 매번 새로 다룰 대상이 아니라 주어진 조건이 됩니다. 그래서 핵심 기술의 우위는 사라지고, 새로운 결합은 주변 공정에서 일어나게 됩니다. 다만 출원 시기는 지배적 설계의 근사이고, 이것은 인과를 검정한 결과가 아니라 해석입니다. 그렇다면 융합은 어디로 옮겨 갔을까요?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선의 굵기는 접합 기호와 함께 부여되는 정도, 원의 크기는 매개 중심성입니다. 세 시기를 나란히 놓으면, 웨이퍼 제조공정은 확산기까지 굵은 선으로 연결되었지만 재편기에는 선이 가늘어지고 원도 작아졌습니다. 그 자리를 공정 장치와 패키징 단계 공정이 채웠습니다. 핵심 기술은 세 시기 내내 허브로 남았지만, 핵심 기술과 함께 부여된 공정은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이를 수치로 확인해 보겠습니다. 왼쪽 그래프는 제조공정 영역별로 접합 기호와 함께 부여되는 정도입니다. 웨이퍼 제조공정은 0.306, 0.598, 0.159로 오르내렸지만, 공정 장치는 0.046에서 0.176으로, 패키징 단계 공정은 0.194에서 0.268로 꾸준히 높아졌습니다. 아래 표의 매개 중심성을 보면, 웨이퍼 제조공정은 53.6%에서 9.0%로 낮아졌고 공정 장치는 0.0%에서 26.1%로 높아졌습니다. 접합과 제조공정을 잇는 연결 기호도 반도체 몸체끼리의 접합 기호에서 공정 장치 기호로 바뀌었습니다. 이것이 세 번째 연구 질문의 답입니다. 융합의 중심은 웨이퍼 제조공정에서 공정 장치와 패키징 단계 공정으로 옮겨 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하나의 그림으로 정리하면 이렇습니다.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이론에서 말씀드린 지식 융합, 기술 융합, 응용 융합의 흐름과 맞닿아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결과는 산업 구조에도 시사점을 줍니다. 반도체 산업은 설계, 제조, 조립·테스트가 분리되며 발전했고, 이 분업은 두 단계 사이의 인터페이스가 안정적이라는 전제 위에 있었습니다. 하이브리드 본딩은 이 전제를 흔듭니다. Kapoor와 Adner가 보였듯이 생산의 경계와 지식의 경계는 다르고, 인터페이스가 흔들린 징후는 조직이나 산업 구조보다 먼저 두 단계의 지식을 함께 담은 발명으로 나타났습니다. 통합형 45.8%라는 결과가 그것입니다.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기업에 주는 시사점은 세 가지입니다. 첫째, 상당수의 출원이 제조공정과 접합 기술을 함께 담고 있다는 것은 접합 기술 역량만으로는 충분하지 않을 수 있다는 뜻입니다. 둘째, 재편기의 결합은 다이 지지와 봉지 공정으로 옮겨 갔습니다. 차세대 HBM에 하이브리드 본딩을 도입하려는 한국 메모리 산업에는 얇은 다이를 다루고 적층하는 공정 역량까지 필요할 수 있습니다. 셋째, 재편기에 접합과 제조공정을 잇는 기호가 공정 장치로 바뀐 것은 장비를 매개로 공정 지식이 확산된다는 Rosenberg의 관찰과 맥을 같이합니다. 장비를 통한 지식의 흐름에 주목할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연구에는 한계도 있습니다. 첫째, 공동분류는 융합의 대리측정치이고, CPC가 과거 출원까지 소급해 재분류될 수 있어 시간적 변화의 일부는 분류 체계의 변화를 반영했을 수 있습니다. 둘째, 제목 키워드로 검색했기 때문에 제목에 관련어가 없는 출원은 빠졌습니다. 셋째, 특허 패밀리 정보가 없어 같은 제목으로 중복을 근사했습니다. 넷째, 출원인이나 응용처 같은 변수가 없고, 결과는 인과관계가 아니라 조건부 연관입니다. 향후에는 출원인과 패밀리 정보를 결합하고, 디스플레이나 배터리처럼 하류 단계가 상류 역량에 의존하게 된 다른 공정기술과 비교하여 이 세 국면이 일반적인 현상인지 검증해 보고자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 문장으로 정리하겠습니다. 공정 단계 간 기술융합은 한 번 결합하고 멈추는 사건이 아니라, 핵심 설계의 고착화와 함께 그 중심이 핵심에서 주변으로 옮겨 가는 과정입니다. 그렇다면 다음 경쟁은 핵심 원리보다 주변 공정과의 결합에서 일어날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chart" Target="../charts/char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chart" Target="../charts/char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chart" Target="../charts/char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chart" Target="../charts/char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700000"/>
            <a:ext cx="432000" cy="432000"/>
          </a:xfrm>
          <a:prstGeom prst="rect">
            <a:avLst/>
          </a:prstGeom>
        </p:spPr>
      </p:pic>
      <p:sp>
        <p:nvSpPr>
          <p:cNvPr id="7" name="TextBox 6"/>
          <p:cNvSpPr txBox="1"/>
          <p:nvPr/>
        </p:nvSpPr>
        <p:spPr>
          <a:xfrm>
            <a:off x="6456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700000"/>
            <a:ext cx="432000" cy="432000"/>
          </a:xfrm>
          <a:prstGeom prst="rect">
            <a:avLst/>
          </a:prstGeom>
        </p:spPr>
      </p:pic>
      <p:sp>
        <p:nvSpPr>
          <p:cNvPr id="13" name="TextBox 12"/>
          <p:cNvSpPr txBox="1"/>
          <p:nvPr/>
        </p:nvSpPr>
        <p:spPr>
          <a:xfrm>
            <a:off x="29208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700000"/>
            <a:ext cx="432000" cy="432000"/>
          </a:xfrm>
          <a:prstGeom prst="rect">
            <a:avLst/>
          </a:prstGeom>
        </p:spPr>
      </p:pic>
      <p:sp>
        <p:nvSpPr>
          <p:cNvPr id="19" name="TextBox 18"/>
          <p:cNvSpPr txBox="1"/>
          <p:nvPr/>
        </p:nvSpPr>
        <p:spPr>
          <a:xfrm>
            <a:off x="51960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a:t>
            </a:r>
          </a:p>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방법</a:t>
            </a:r>
          </a:p>
        </p:txBody>
      </p:sp>
      <p:sp>
        <p:nvSpPr>
          <p:cNvPr id="20" name="TextBox 19"/>
          <p:cNvSpPr txBox="1"/>
          <p:nvPr/>
        </p:nvSpPr>
        <p:spPr>
          <a:xfrm>
            <a:off x="51960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700000"/>
            <a:ext cx="432000" cy="432000"/>
          </a:xfrm>
          <a:prstGeom prst="rect">
            <a:avLst/>
          </a:prstGeom>
        </p:spPr>
      </p:pic>
      <p:sp>
        <p:nvSpPr>
          <p:cNvPr id="25" name="TextBox 24"/>
          <p:cNvSpPr txBox="1"/>
          <p:nvPr/>
        </p:nvSpPr>
        <p:spPr>
          <a:xfrm>
            <a:off x="74712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700000"/>
            <a:ext cx="432000" cy="432000"/>
          </a:xfrm>
          <a:prstGeom prst="rect">
            <a:avLst/>
          </a:prstGeom>
        </p:spPr>
      </p:pic>
      <p:sp>
        <p:nvSpPr>
          <p:cNvPr id="31" name="TextBox 30"/>
          <p:cNvSpPr txBox="1"/>
          <p:nvPr/>
        </p:nvSpPr>
        <p:spPr>
          <a:xfrm>
            <a:off x="97464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핵심 요약</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경계를 넘는 발명은 예외가 아니었고, 한 방향으로 쌓이지 않았으며, 그 중심은 핵심에서 주변으로 옮겨 갔다</a:t>
            </a:r>
          </a:p>
        </p:txBody>
      </p:sp>
      <p:sp>
        <p:nvSpPr>
          <p:cNvPr id="4" name="Rounded Rectangle 3"/>
          <p:cNvSpPr/>
          <p:nvPr/>
        </p:nvSpPr>
        <p:spPr>
          <a:xfrm>
            <a:off x="540000" y="954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Rounded Rectangle 4"/>
          <p:cNvSpPr/>
          <p:nvPr/>
        </p:nvSpPr>
        <p:spPr>
          <a:xfrm>
            <a:off x="720000" y="1116000"/>
            <a:ext cx="684000" cy="34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RQ1</a:t>
            </a:r>
          </a:p>
        </p:txBody>
      </p:sp>
      <p:sp>
        <p:nvSpPr>
          <p:cNvPr id="6" name="TextBox 5"/>
          <p:cNvSpPr txBox="1"/>
          <p:nvPr/>
        </p:nvSpPr>
        <p:spPr>
          <a:xfrm>
            <a:off x="1530000" y="1098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경계를 넘는 발명은 예외가 아니다</a:t>
            </a:r>
          </a:p>
        </p:txBody>
      </p:sp>
      <p:sp>
        <p:nvSpPr>
          <p:cNvPr id="7" name="TextBox 6"/>
          <p:cNvSpPr txBox="1"/>
          <p:nvPr/>
        </p:nvSpPr>
        <p:spPr>
          <a:xfrm>
            <a:off x="756000" y="1566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통합형 45.8%</a:t>
            </a:r>
            <a:r>
              <a:rPr sz="1550" b="0" i="0" lang="ko-KR" altLang="en-US">
                <a:solidFill>
                  <a:srgbClr val="5B6475"/>
                </a:solidFill>
                <a:latin typeface="맑은 고딕"/>
                <a:ea typeface="맑은 고딕"/>
                <a:cs typeface="맑은 고딕"/>
              </a:rPr>
              <a:t> (좁은 정의 37.2%)</a:t>
            </a:r>
          </a:p>
        </p:txBody>
      </p:sp>
      <p:sp>
        <p:nvSpPr>
          <p:cNvPr id="8" name="TextBox 7"/>
          <p:cNvSpPr txBox="1"/>
          <p:nvPr/>
        </p:nvSpPr>
        <p:spPr>
          <a:xfrm>
            <a:off x="756000" y="1962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세부 기술을 다양하게 포함한 출원일수록 통합형일 가능성이 높음</a:t>
            </a:r>
          </a:p>
        </p:txBody>
      </p:sp>
      <p:sp>
        <p:nvSpPr>
          <p:cNvPr id="9" name="Rounded Rectangle 8"/>
          <p:cNvSpPr/>
          <p:nvPr/>
        </p:nvSpPr>
        <p:spPr>
          <a:xfrm>
            <a:off x="540000" y="2628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Rounded Rectangle 9"/>
          <p:cNvSpPr/>
          <p:nvPr/>
        </p:nvSpPr>
        <p:spPr>
          <a:xfrm>
            <a:off x="720000" y="2790000"/>
            <a:ext cx="684000" cy="342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RQ2</a:t>
            </a:r>
          </a:p>
        </p:txBody>
      </p:sp>
      <p:sp>
        <p:nvSpPr>
          <p:cNvPr id="11" name="TextBox 10"/>
          <p:cNvSpPr txBox="1"/>
          <p:nvPr/>
        </p:nvSpPr>
        <p:spPr>
          <a:xfrm>
            <a:off x="1530000" y="2772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융합은 세 국면을 거쳤다</a:t>
            </a:r>
          </a:p>
        </p:txBody>
      </p:sp>
      <p:sp>
        <p:nvSpPr>
          <p:cNvPr id="12" name="TextBox 11"/>
          <p:cNvSpPr txBox="1"/>
          <p:nvPr/>
        </p:nvSpPr>
        <p:spPr>
          <a:xfrm>
            <a:off x="756000" y="3240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공정 단독형 43.6% → 통합형 62.2% → 접합 단독형 45.4%</a:t>
            </a:r>
          </a:p>
        </p:txBody>
      </p:sp>
      <p:sp>
        <p:nvSpPr>
          <p:cNvPr id="13" name="TextBox 12"/>
          <p:cNvSpPr txBox="1"/>
          <p:nvPr/>
        </p:nvSpPr>
        <p:spPr>
          <a:xfrm>
            <a:off x="756000" y="3636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형성기(–2014) → 확산기(2015–2019) → 재편기(2020–2024)</a:t>
            </a:r>
          </a:p>
        </p:txBody>
      </p:sp>
      <p:sp>
        <p:nvSpPr>
          <p:cNvPr id="14" name="Rounded Rectangle 13"/>
          <p:cNvSpPr/>
          <p:nvPr/>
        </p:nvSpPr>
        <p:spPr>
          <a:xfrm>
            <a:off x="540000" y="4302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Rounded Rectangle 14"/>
          <p:cNvSpPr/>
          <p:nvPr/>
        </p:nvSpPr>
        <p:spPr>
          <a:xfrm>
            <a:off x="720000" y="4464000"/>
            <a:ext cx="684000" cy="342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RQ3</a:t>
            </a:r>
          </a:p>
        </p:txBody>
      </p:sp>
      <p:sp>
        <p:nvSpPr>
          <p:cNvPr id="16" name="TextBox 15"/>
          <p:cNvSpPr txBox="1"/>
          <p:nvPr/>
        </p:nvSpPr>
        <p:spPr>
          <a:xfrm>
            <a:off x="1530000" y="4446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융합의 중심이 주변으로 옮겨 갔다</a:t>
            </a:r>
          </a:p>
        </p:txBody>
      </p:sp>
      <p:sp>
        <p:nvSpPr>
          <p:cNvPr id="17" name="TextBox 16"/>
          <p:cNvSpPr txBox="1"/>
          <p:nvPr/>
        </p:nvSpPr>
        <p:spPr>
          <a:xfrm>
            <a:off x="756000" y="4914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핵심 기술의 승산비 11.1 → 2.5 → 비유의</a:t>
            </a:r>
          </a:p>
        </p:txBody>
      </p:sp>
      <p:sp>
        <p:nvSpPr>
          <p:cNvPr id="18" name="TextBox 17"/>
          <p:cNvSpPr txBox="1"/>
          <p:nvPr/>
        </p:nvSpPr>
        <p:spPr>
          <a:xfrm>
            <a:off x="756000" y="5310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결합 중심: 웨이퍼 제조공정 → 공정 장치 · 패키징 단계 공정</a:t>
            </a:r>
          </a:p>
        </p:txBody>
      </p:sp>
      <p:sp>
        <p:nvSpPr>
          <p:cNvPr id="19" name="Rounded Rectangle 18"/>
          <p:cNvSpPr/>
          <p:nvPr/>
        </p:nvSpPr>
        <p:spPr>
          <a:xfrm>
            <a:off x="7452000" y="954000"/>
            <a:ext cx="4200120" cy="4878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20" name="Oval 19"/>
          <p:cNvSpPr/>
          <p:nvPr/>
        </p:nvSpPr>
        <p:spPr>
          <a:xfrm>
            <a:off x="7776000" y="1656000"/>
            <a:ext cx="2232000" cy="2232000"/>
          </a:xfrm>
          <a:prstGeom prst="ellipse">
            <a:avLst/>
          </a:prstGeom>
          <a:solidFill>
            <a:srgbClr val="2563C9">
              <a:alpha val="22000"/>
            </a:srgbClr>
          </a:solidFill>
          <a:ln w="19050">
            <a:solidFill>
              <a:srgbClr val="2563C9"/>
            </a:solidFill>
          </a:ln>
        </p:spPr>
        <p:txBody>
          <a:bodyPr rtlCol="0" anchor="ctr" lIns="36000" rIns="36000" tIns="36000" bIns="36000"/>
          <a:lstStyle/>
          <a:p>
            <a:pPr algn="ctr"/>
          </a:p>
        </p:txBody>
      </p:sp>
      <p:sp>
        <p:nvSpPr>
          <p:cNvPr id="21" name="Oval 20"/>
          <p:cNvSpPr/>
          <p:nvPr/>
        </p:nvSpPr>
        <p:spPr>
          <a:xfrm>
            <a:off x="9180000" y="1656000"/>
            <a:ext cx="2232000" cy="2232000"/>
          </a:xfrm>
          <a:prstGeom prst="ellipse">
            <a:avLst/>
          </a:prstGeom>
          <a:solidFill>
            <a:srgbClr val="EA7A28">
              <a:alpha val="22000"/>
            </a:srgbClr>
          </a:solidFill>
          <a:ln w="19050">
            <a:solidFill>
              <a:srgbClr val="EA7A28"/>
            </a:solidFill>
          </a:ln>
        </p:spPr>
        <p:txBody>
          <a:bodyPr rtlCol="0" anchor="ctr" lIns="36000" rIns="36000" tIns="36000" bIns="36000"/>
          <a:lstStyle/>
          <a:p>
            <a:pPr algn="ctr"/>
          </a:p>
        </p:txBody>
      </p:sp>
      <p:sp>
        <p:nvSpPr>
          <p:cNvPr id="22" name="TextBox 21"/>
          <p:cNvSpPr txBox="1"/>
          <p:nvPr/>
        </p:nvSpPr>
        <p:spPr>
          <a:xfrm>
            <a:off x="7884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23" name="TextBox 22"/>
          <p:cNvSpPr txBox="1"/>
          <p:nvPr/>
        </p:nvSpPr>
        <p:spPr>
          <a:xfrm>
            <a:off x="10116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H01L24</a:t>
            </a:r>
          </a:p>
        </p:txBody>
      </p:sp>
      <p:sp>
        <p:nvSpPr>
          <p:cNvPr id="24" name="Rounded Rectangle 23"/>
          <p:cNvSpPr/>
          <p:nvPr/>
        </p:nvSpPr>
        <p:spPr>
          <a:xfrm>
            <a:off x="9036000" y="2574000"/>
            <a:ext cx="1116000" cy="396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통합형</a:t>
            </a:r>
          </a:p>
        </p:txBody>
      </p:sp>
      <p:sp>
        <p:nvSpPr>
          <p:cNvPr id="25" name="Oval 24"/>
          <p:cNvSpPr/>
          <p:nvPr/>
        </p:nvSpPr>
        <p:spPr>
          <a:xfrm>
            <a:off x="10392120" y="4356000"/>
            <a:ext cx="936000" cy="936000"/>
          </a:xfrm>
          <a:prstGeom prst="ellipse">
            <a:avLst/>
          </a:prstGeom>
          <a:solidFill>
            <a:srgbClr val="10A39A">
              <a:alpha val="85000"/>
            </a:srgbClr>
          </a:solidFill>
          <a:ln>
            <a:noFill/>
          </a:ln>
        </p:spPr>
        <p:txBody>
          <a:bodyPr rtlCol="0" anchor="ctr" lIns="36000" rIns="36000" tIns="36000" bIns="36000"/>
          <a:lstStyle/>
          <a:p>
            <a:pPr algn="ctr"/>
          </a:p>
        </p:txBody>
      </p:sp>
      <p:sp>
        <p:nvSpPr>
          <p:cNvPr id="26" name="TextBox 25"/>
          <p:cNvSpPr txBox="1"/>
          <p:nvPr/>
        </p:nvSpPr>
        <p:spPr>
          <a:xfrm>
            <a:off x="10248120" y="4500000"/>
            <a:ext cx="1224000" cy="648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주변</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공정</a:t>
            </a:r>
          </a:p>
        </p:txBody>
      </p:sp>
      <p:cxnSp>
        <p:nvCxnSpPr>
          <p:cNvPr id="27" name="Connector 26"/>
          <p:cNvCxnSpPr/>
          <p:nvPr/>
        </p:nvCxnSpPr>
        <p:spPr>
          <a:xfrm>
            <a:off x="9882000" y="3816000"/>
            <a:ext cx="582120" cy="900000"/>
          </a:xfrm>
          <a:prstGeom prst="line">
            <a:avLst/>
          </a:prstGeom>
          <a:ln w="38100">
            <a:solidFill>
              <a:srgbClr val="10A39A"/>
            </a:solidFill>
            <a:tailEnd type="triangle" w="med" len="med"/>
          </a:ln>
        </p:spPr>
      </p:cxnSp>
      <p:sp>
        <p:nvSpPr>
          <p:cNvPr id="28" name="TextBox 27"/>
          <p:cNvSpPr txBox="1"/>
          <p:nvPr/>
        </p:nvSpPr>
        <p:spPr>
          <a:xfrm>
            <a:off x="7668000" y="4284000"/>
            <a:ext cx="2508120" cy="1152000"/>
          </a:xfrm>
          <a:prstGeom prst="rect">
            <a:avLst/>
          </a:prstGeom>
          <a:noFill/>
        </p:spPr>
        <p:txBody>
          <a:bodyPr wrap="square" lIns="0" rIns="0" tIns="0" bIns="0" anchor="ctr">
            <a:noAutofit/>
          </a:bodyPr>
          <a:lstStyle/>
          <a:p>
            <a:pPr algn="l" marL="0" indent="0">
              <a:lnSpc>
                <a:spcPts val="1560"/>
              </a:lnSpc>
              <a:spcBef>
                <a:spcPts val="0"/>
              </a:spcBef>
              <a:spcAft>
                <a:spcPts val="300"/>
              </a:spcAft>
              <a:buNone/>
            </a:pPr>
            <a:r>
              <a:rPr sz="1300" b="1" i="0" lang="ko-KR" altLang="en-US">
                <a:solidFill>
                  <a:srgbClr val="10A39A"/>
                </a:solidFill>
                <a:latin typeface="맑은 고딕"/>
                <a:ea typeface="맑은 고딕"/>
                <a:cs typeface="맑은 고딕"/>
              </a:rPr>
              <a:t>재편기</a:t>
            </a:r>
          </a:p>
          <a:p>
            <a:pPr algn="l" marL="0" indent="0">
              <a:lnSpc>
                <a:spcPts val="1500"/>
              </a:lnSpc>
              <a:spcBef>
                <a:spcPts val="0"/>
              </a:spcBef>
              <a:spcAft>
                <a:spcPts val="200"/>
              </a:spcAft>
              <a:buNone/>
            </a:pPr>
            <a:r>
              <a:rPr sz="1250" b="1" i="0" lang="ko-KR" altLang="en-US">
                <a:solidFill>
                  <a:srgbClr val="1E2532"/>
                </a:solidFill>
                <a:latin typeface="맑은 고딕"/>
                <a:ea typeface="맑은 고딕"/>
                <a:cs typeface="맑은 고딕"/>
              </a:rPr>
              <a:t>다이 지지 · 봉지 공정</a:t>
            </a:r>
          </a:p>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공정 장치가 연결의 중심으로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목표를 위해 전공정의 역량이 필요해졌다: 두 공정 단계의 경계가 흔들린다</a:t>
            </a:r>
          </a:p>
        </p:txBody>
      </p:sp>
      <p:sp>
        <p:nvSpPr>
          <p:cNvPr id="4" name="Rounded Rectangle 3"/>
          <p:cNvSpPr/>
          <p:nvPr/>
        </p:nvSpPr>
        <p:spPr>
          <a:xfrm>
            <a:off x="3816000" y="936000"/>
            <a:ext cx="4572000" cy="370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3816000" y="990000"/>
            <a:ext cx="4572000" cy="30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솔더 범프 접합과 하이브리드 본딩 (개념도)</a:t>
            </a:r>
          </a:p>
        </p:txBody>
      </p:sp>
      <p:sp>
        <p:nvSpPr>
          <p:cNvPr id="6" name="TextBox 5"/>
          <p:cNvSpPr txBox="1"/>
          <p:nvPr/>
        </p:nvSpPr>
        <p:spPr>
          <a:xfrm>
            <a:off x="3996000" y="1350000"/>
            <a:ext cx="1854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기존: 솔더 범프</a:t>
            </a:r>
          </a:p>
        </p:txBody>
      </p:sp>
      <p:sp>
        <p:nvSpPr>
          <p:cNvPr id="7" name="Rectangle 6"/>
          <p:cNvSpPr/>
          <p:nvPr/>
        </p:nvSpPr>
        <p:spPr>
          <a:xfrm>
            <a:off x="3996000" y="1692000"/>
            <a:ext cx="1854000" cy="540000"/>
          </a:xfrm>
          <a:prstGeom prst="rect">
            <a:avLst/>
          </a:prstGeom>
          <a:solidFill>
            <a:srgbClr val="8A97AD"/>
          </a:solidFill>
          <a:ln>
            <a:noFill/>
          </a:ln>
        </p:spPr>
        <p:txBody>
          <a:bodyPr rtlCol="0" anchor="ctr" lIns="36000" rIns="36000" tIns="36000" bIns="36000"/>
          <a:lstStyle/>
          <a:p>
            <a:pPr algn="ctr"/>
          </a:p>
        </p:txBody>
      </p:sp>
      <p:sp>
        <p:nvSpPr>
          <p:cNvPr id="8" name="Oval 7"/>
          <p:cNvSpPr/>
          <p:nvPr/>
        </p:nvSpPr>
        <p:spPr>
          <a:xfrm>
            <a:off x="4194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4482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4770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5058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Oval 11"/>
          <p:cNvSpPr/>
          <p:nvPr/>
        </p:nvSpPr>
        <p:spPr>
          <a:xfrm>
            <a:off x="5346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3" name="Rectangle 12"/>
          <p:cNvSpPr/>
          <p:nvPr/>
        </p:nvSpPr>
        <p:spPr>
          <a:xfrm>
            <a:off x="3996000" y="2520000"/>
            <a:ext cx="1854000" cy="540000"/>
          </a:xfrm>
          <a:prstGeom prst="rect">
            <a:avLst/>
          </a:prstGeom>
          <a:solidFill>
            <a:srgbClr val="5E6C85"/>
          </a:solidFill>
          <a:ln>
            <a:noFill/>
          </a:ln>
        </p:spPr>
        <p:txBody>
          <a:bodyPr rtlCol="0" anchor="ctr" lIns="36000" rIns="36000" tIns="36000" bIns="36000"/>
          <a:lstStyle/>
          <a:p>
            <a:pPr algn="ctr"/>
          </a:p>
        </p:txBody>
      </p:sp>
      <p:sp>
        <p:nvSpPr>
          <p:cNvPr id="14" name="TextBox 13"/>
          <p:cNvSpPr txBox="1"/>
          <p:nvPr/>
        </p:nvSpPr>
        <p:spPr>
          <a:xfrm>
            <a:off x="3996000" y="3132000"/>
            <a:ext cx="1854000" cy="27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연결 간격 축소에 한계</a:t>
            </a:r>
          </a:p>
        </p:txBody>
      </p:sp>
      <p:sp>
        <p:nvSpPr>
          <p:cNvPr id="15" name="TextBox 14"/>
          <p:cNvSpPr txBox="1"/>
          <p:nvPr/>
        </p:nvSpPr>
        <p:spPr>
          <a:xfrm>
            <a:off x="6354000" y="1350000"/>
            <a:ext cx="1854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 본딩</a:t>
            </a:r>
          </a:p>
        </p:txBody>
      </p:sp>
      <p:sp>
        <p:nvSpPr>
          <p:cNvPr id="16" name="Rectangle 15"/>
          <p:cNvSpPr/>
          <p:nvPr/>
        </p:nvSpPr>
        <p:spPr>
          <a:xfrm>
            <a:off x="6354000" y="1692000"/>
            <a:ext cx="1854000" cy="540000"/>
          </a:xfrm>
          <a:prstGeom prst="rect">
            <a:avLst/>
          </a:prstGeom>
          <a:solidFill>
            <a:srgbClr val="8A97AD"/>
          </a:solidFill>
          <a:ln>
            <a:noFill/>
          </a:ln>
        </p:spPr>
        <p:txBody>
          <a:bodyPr rtlCol="0" anchor="ctr" lIns="36000" rIns="36000" tIns="36000" bIns="36000"/>
          <a:lstStyle/>
          <a:p>
            <a:pPr algn="ctr"/>
          </a:p>
        </p:txBody>
      </p:sp>
      <p:sp>
        <p:nvSpPr>
          <p:cNvPr id="17" name="Rectangle 16"/>
          <p:cNvSpPr/>
          <p:nvPr/>
        </p:nvSpPr>
        <p:spPr>
          <a:xfrm>
            <a:off x="6354000" y="2095200"/>
            <a:ext cx="1854000" cy="136800"/>
          </a:xfrm>
          <a:prstGeom prst="rect">
            <a:avLst/>
          </a:prstGeom>
          <a:solidFill>
            <a:srgbClr val="BFE3E6"/>
          </a:solidFill>
          <a:ln>
            <a:noFill/>
          </a:ln>
        </p:spPr>
        <p:txBody>
          <a:bodyPr rtlCol="0" anchor="ctr" lIns="36000" rIns="36000" tIns="36000" bIns="36000"/>
          <a:lstStyle/>
          <a:p>
            <a:pPr algn="ctr"/>
          </a:p>
        </p:txBody>
      </p:sp>
      <p:sp>
        <p:nvSpPr>
          <p:cNvPr id="18" name="Rectangle 17"/>
          <p:cNvSpPr/>
          <p:nvPr/>
        </p:nvSpPr>
        <p:spPr>
          <a:xfrm>
            <a:off x="6354000" y="2268000"/>
            <a:ext cx="1854000" cy="136800"/>
          </a:xfrm>
          <a:prstGeom prst="rect">
            <a:avLst/>
          </a:prstGeom>
          <a:solidFill>
            <a:srgbClr val="BFE3E6"/>
          </a:solidFill>
          <a:ln>
            <a:noFill/>
          </a:ln>
        </p:spPr>
        <p:txBody>
          <a:bodyPr rtlCol="0" anchor="ctr" lIns="36000" rIns="36000" tIns="36000" bIns="36000"/>
          <a:lstStyle/>
          <a:p>
            <a:pPr algn="ctr"/>
          </a:p>
        </p:txBody>
      </p:sp>
      <p:sp>
        <p:nvSpPr>
          <p:cNvPr id="19" name="Rectangle 18"/>
          <p:cNvSpPr/>
          <p:nvPr/>
        </p:nvSpPr>
        <p:spPr>
          <a:xfrm>
            <a:off x="6516000" y="2095200"/>
            <a:ext cx="252000" cy="136800"/>
          </a:xfrm>
          <a:prstGeom prst="rect">
            <a:avLst/>
          </a:prstGeom>
          <a:solidFill>
            <a:srgbClr val="EA7A28"/>
          </a:solidFill>
          <a:ln>
            <a:noFill/>
          </a:ln>
        </p:spPr>
        <p:txBody>
          <a:bodyPr rtlCol="0" anchor="ctr" lIns="36000" rIns="36000" tIns="36000" bIns="36000"/>
          <a:lstStyle/>
          <a:p>
            <a:pPr algn="ctr"/>
          </a:p>
        </p:txBody>
      </p:sp>
      <p:sp>
        <p:nvSpPr>
          <p:cNvPr id="20" name="Rectangle 19"/>
          <p:cNvSpPr/>
          <p:nvPr/>
        </p:nvSpPr>
        <p:spPr>
          <a:xfrm>
            <a:off x="6516000" y="2268000"/>
            <a:ext cx="252000" cy="136800"/>
          </a:xfrm>
          <a:prstGeom prst="rect">
            <a:avLst/>
          </a:prstGeom>
          <a:solidFill>
            <a:srgbClr val="EA7A28"/>
          </a:solidFill>
          <a:ln>
            <a:noFill/>
          </a:ln>
        </p:spPr>
        <p:txBody>
          <a:bodyPr rtlCol="0" anchor="ctr" lIns="36000" rIns="36000" tIns="36000" bIns="36000"/>
          <a:lstStyle/>
          <a:p>
            <a:pPr algn="ctr"/>
          </a:p>
        </p:txBody>
      </p:sp>
      <p:sp>
        <p:nvSpPr>
          <p:cNvPr id="21" name="Rectangle 20"/>
          <p:cNvSpPr/>
          <p:nvPr/>
        </p:nvSpPr>
        <p:spPr>
          <a:xfrm>
            <a:off x="6771600" y="2095200"/>
            <a:ext cx="252000" cy="136800"/>
          </a:xfrm>
          <a:prstGeom prst="rect">
            <a:avLst/>
          </a:prstGeom>
          <a:solidFill>
            <a:srgbClr val="EA7A28"/>
          </a:solidFill>
          <a:ln>
            <a:noFill/>
          </a:ln>
        </p:spPr>
        <p:txBody>
          <a:bodyPr rtlCol="0" anchor="ctr" lIns="36000" rIns="36000" tIns="36000" bIns="36000"/>
          <a:lstStyle/>
          <a:p>
            <a:pPr algn="ctr"/>
          </a:p>
        </p:txBody>
      </p:sp>
      <p:sp>
        <p:nvSpPr>
          <p:cNvPr id="22" name="Rectangle 21"/>
          <p:cNvSpPr/>
          <p:nvPr/>
        </p:nvSpPr>
        <p:spPr>
          <a:xfrm>
            <a:off x="6771600" y="2268000"/>
            <a:ext cx="252000" cy="1368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027200" y="209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7027200" y="226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82800" y="209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282800" y="226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538400" y="209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7538400" y="226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7794000" y="209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7794000" y="226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6354000" y="2232000"/>
            <a:ext cx="1854000" cy="36000"/>
          </a:xfrm>
          <a:prstGeom prst="rect">
            <a:avLst/>
          </a:prstGeom>
          <a:solidFill>
            <a:srgbClr val="7C3AED"/>
          </a:solidFill>
          <a:ln>
            <a:noFill/>
          </a:ln>
        </p:spPr>
        <p:txBody>
          <a:bodyPr rtlCol="0" anchor="ctr" lIns="36000" rIns="36000" tIns="36000" bIns="36000"/>
          <a:lstStyle/>
          <a:p>
            <a:pPr algn="ctr"/>
          </a:p>
        </p:txBody>
      </p:sp>
      <p:sp>
        <p:nvSpPr>
          <p:cNvPr id="32" name="Rectangle 31"/>
          <p:cNvSpPr/>
          <p:nvPr/>
        </p:nvSpPr>
        <p:spPr>
          <a:xfrm>
            <a:off x="6354000" y="2404800"/>
            <a:ext cx="1854000" cy="540000"/>
          </a:xfrm>
          <a:prstGeom prst="rect">
            <a:avLst/>
          </a:prstGeom>
          <a:solidFill>
            <a:srgbClr val="5E6C85"/>
          </a:solidFill>
          <a:ln>
            <a:noFill/>
          </a:ln>
        </p:spPr>
        <p:txBody>
          <a:bodyPr rtlCol="0" anchor="ctr" lIns="36000" rIns="36000" tIns="36000" bIns="36000"/>
          <a:lstStyle/>
          <a:p>
            <a:pPr algn="ctr"/>
          </a:p>
        </p:txBody>
      </p:sp>
      <p:sp>
        <p:nvSpPr>
          <p:cNvPr id="33" name="TextBox 32"/>
          <p:cNvSpPr txBox="1"/>
          <p:nvPr/>
        </p:nvSpPr>
        <p:spPr>
          <a:xfrm>
            <a:off x="6354000" y="3016800"/>
            <a:ext cx="1854000" cy="27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10 µm 이하 연결 간격</a:t>
            </a:r>
          </a:p>
        </p:txBody>
      </p:sp>
      <p:cxnSp>
        <p:nvCxnSpPr>
          <p:cNvPr id="34" name="Connector 33"/>
          <p:cNvCxnSpPr/>
          <p:nvPr/>
        </p:nvCxnSpPr>
        <p:spPr>
          <a:xfrm>
            <a:off x="5940000" y="2304000"/>
            <a:ext cx="324000" cy="0"/>
          </a:xfrm>
          <a:prstGeom prst="line">
            <a:avLst/>
          </a:prstGeom>
          <a:ln w="31750">
            <a:solidFill>
              <a:srgbClr val="7C3AED"/>
            </a:solidFill>
            <a:tailEnd type="triangle" w="med" len="med"/>
          </a:ln>
        </p:spPr>
      </p:cxnSp>
      <p:sp>
        <p:nvSpPr>
          <p:cNvPr id="35" name="Rectangle 34"/>
          <p:cNvSpPr/>
          <p:nvPr/>
        </p:nvSpPr>
        <p:spPr>
          <a:xfrm>
            <a:off x="4140000" y="3438000"/>
            <a:ext cx="151200" cy="151200"/>
          </a:xfrm>
          <a:prstGeom prst="rect">
            <a:avLst/>
          </a:prstGeom>
          <a:solidFill>
            <a:srgbClr val="A9AFBA"/>
          </a:solidFill>
          <a:ln>
            <a:noFill/>
          </a:ln>
        </p:spPr>
        <p:txBody>
          <a:bodyPr rtlCol="0" anchor="ctr" lIns="36000" rIns="36000" tIns="36000" bIns="36000"/>
          <a:lstStyle/>
          <a:p>
            <a:pPr algn="ctr"/>
          </a:p>
        </p:txBody>
      </p:sp>
      <p:sp>
        <p:nvSpPr>
          <p:cNvPr id="36" name="TextBox 35"/>
          <p:cNvSpPr txBox="1"/>
          <p:nvPr/>
        </p:nvSpPr>
        <p:spPr>
          <a:xfrm>
            <a:off x="4338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37" name="Rectangle 36"/>
          <p:cNvSpPr/>
          <p:nvPr/>
        </p:nvSpPr>
        <p:spPr>
          <a:xfrm>
            <a:off x="5166000" y="3438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5364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6192000" y="3438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6390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7218000" y="3438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7416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3888000" y="3726000"/>
            <a:ext cx="4428000" cy="828000"/>
          </a:xfrm>
          <a:prstGeom prst="rect">
            <a:avLst/>
          </a:prstGeom>
          <a:noFill/>
        </p:spPr>
        <p:txBody>
          <a:bodyPr wrap="square" lIns="0" rIns="0" tIns="0" bIns="0" anchor="ctr">
            <a:noAutofit/>
          </a:bodyPr>
          <a:lstStyle/>
          <a:p>
            <a:pPr algn="ctr" marL="0" indent="0">
              <a:lnSpc>
                <a:spcPts val="1560"/>
              </a:lnSpc>
              <a:spcBef>
                <a:spcPts val="0"/>
              </a:spcBef>
              <a:spcAft>
                <a:spcPts val="400"/>
              </a:spcAft>
              <a:buNone/>
            </a:pPr>
            <a:r>
              <a:rPr sz="1300" b="1" i="0" lang="ko-KR" altLang="en-US">
                <a:solidFill>
                  <a:srgbClr val="1E2532"/>
                </a:solidFill>
                <a:latin typeface="맑은 고딕"/>
                <a:ea typeface="맑은 고딕"/>
                <a:cs typeface="맑은 고딕"/>
              </a:rPr>
              <a:t>솔더 범프 없이 구리–구리, 산화막–산화막을 직접 접합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비유: 접착제(솔더)로 붙이기 → 거울처럼 평평한 두 면을 그대로 맞붙이기</a:t>
            </a:r>
          </a:p>
        </p:txBody>
      </p:sp>
      <p:sp>
        <p:nvSpPr>
          <p:cNvPr id="44" name="Rounded Rectangle 43"/>
          <p:cNvSpPr/>
          <p:nvPr/>
        </p:nvSpPr>
        <p:spPr>
          <a:xfrm>
            <a:off x="540000" y="936000"/>
            <a:ext cx="2988000" cy="414000"/>
          </a:xfrm>
          <a:prstGeom prst="roundRect">
            <a:avLst>
              <a:gd name="adj" fmla="val 25000"/>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필수 역량 · 전공정</a:t>
            </a:r>
          </a:p>
        </p:txBody>
      </p:sp>
      <p:sp>
        <p:nvSpPr>
          <p:cNvPr id="45" name="Rounded Rectangle 44"/>
          <p:cNvSpPr/>
          <p:nvPr/>
        </p:nvSpPr>
        <p:spPr>
          <a:xfrm>
            <a:off x="540000" y="1494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수준의 표면</a:t>
            </a:r>
          </a:p>
        </p:txBody>
      </p:sp>
      <p:sp>
        <p:nvSpPr>
          <p:cNvPr id="46" name="Rounded Rectangle 45"/>
          <p:cNvSpPr/>
          <p:nvPr/>
        </p:nvSpPr>
        <p:spPr>
          <a:xfrm>
            <a:off x="540000" y="2232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7" name="Rounded Rectangle 46"/>
          <p:cNvSpPr/>
          <p:nvPr/>
        </p:nvSpPr>
        <p:spPr>
          <a:xfrm>
            <a:off x="540000" y="2970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8" name="Rounded Rectangle 47"/>
          <p:cNvSpPr/>
          <p:nvPr/>
        </p:nvSpPr>
        <p:spPr>
          <a:xfrm>
            <a:off x="540000" y="3708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sp>
        <p:nvSpPr>
          <p:cNvPr id="49" name="TextBox 48"/>
          <p:cNvSpPr txBox="1"/>
          <p:nvPr/>
        </p:nvSpPr>
        <p:spPr>
          <a:xfrm>
            <a:off x="540000" y="4464000"/>
            <a:ext cx="2988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H01L21 (제조공정)</a:t>
            </a:r>
          </a:p>
        </p:txBody>
      </p:sp>
      <p:sp>
        <p:nvSpPr>
          <p:cNvPr id="50" name="Rounded Rectangle 49"/>
          <p:cNvSpPr/>
          <p:nvPr/>
        </p:nvSpPr>
        <p:spPr>
          <a:xfrm>
            <a:off x="8532000" y="936000"/>
            <a:ext cx="3120120" cy="414000"/>
          </a:xfrm>
          <a:prstGeom prst="roundRect">
            <a:avLst>
              <a:gd name="adj" fmla="val 25000"/>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목표 · 후공정</a:t>
            </a:r>
          </a:p>
        </p:txBody>
      </p:sp>
      <p:sp>
        <p:nvSpPr>
          <p:cNvPr id="51" name="Rounded Rectangle 50"/>
          <p:cNvSpPr/>
          <p:nvPr/>
        </p:nvSpPr>
        <p:spPr>
          <a:xfrm>
            <a:off x="8532000" y="149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연구 단계에서는 1 µm 이하</a:t>
            </a:r>
          </a:p>
        </p:txBody>
      </p:sp>
      <p:sp>
        <p:nvSpPr>
          <p:cNvPr id="52" name="Rounded Rectangle 51"/>
          <p:cNvSpPr/>
          <p:nvPr/>
        </p:nvSpPr>
        <p:spPr>
          <a:xfrm>
            <a:off x="8532000" y="248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다이 · 웨이퍼의 직접 적층</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W2W · D2W</a:t>
            </a:r>
          </a:p>
        </p:txBody>
      </p:sp>
      <p:sp>
        <p:nvSpPr>
          <p:cNvPr id="53" name="Rounded Rectangle 52"/>
          <p:cNvSpPr/>
          <p:nvPr/>
        </p:nvSpPr>
        <p:spPr>
          <a:xfrm>
            <a:off x="8532000" y="347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HBM · 칩렛 · 3D 로직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CMOS 이미지센서 · 3D NAND에서 먼저 상용화</a:t>
            </a:r>
          </a:p>
        </p:txBody>
      </p:sp>
      <p:sp>
        <p:nvSpPr>
          <p:cNvPr id="54" name="TextBox 53"/>
          <p:cNvSpPr txBox="1"/>
          <p:nvPr/>
        </p:nvSpPr>
        <p:spPr>
          <a:xfrm>
            <a:off x="8532000" y="4464000"/>
            <a:ext cx="312012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H01L24 (접합 · 인터커넥트)</a:t>
            </a:r>
          </a:p>
        </p:txBody>
      </p:sp>
      <p:sp>
        <p:nvSpPr>
          <p:cNvPr id="55" name="Rounded Rectangle 54"/>
          <p:cNvSpPr/>
          <p:nvPr/>
        </p:nvSpPr>
        <p:spPr>
          <a:xfrm>
            <a:off x="540000" y="4824000"/>
            <a:ext cx="11112120" cy="99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6" name="TextBox 55"/>
          <p:cNvSpPr txBox="1"/>
          <p:nvPr/>
        </p:nvSpPr>
        <p:spPr>
          <a:xfrm>
            <a:off x="828000" y="4824000"/>
            <a:ext cx="10536120" cy="990000"/>
          </a:xfrm>
          <a:prstGeom prst="rect">
            <a:avLst/>
          </a:prstGeom>
          <a:noFill/>
        </p:spPr>
        <p:txBody>
          <a:bodyPr wrap="square" lIns="0" rIns="0" tIns="0" bIns="0" anchor="ctr">
            <a:noAutofit/>
          </a:bodyPr>
          <a:lstStyle/>
          <a:p>
            <a:pPr algn="ctr" marL="0" indent="0">
              <a:lnSpc>
                <a:spcPts val="1800"/>
              </a:lnSpc>
              <a:spcBef>
                <a:spcPts val="0"/>
              </a:spcBef>
              <a:spcAft>
                <a:spcPts val="400"/>
              </a:spcAft>
              <a:buNone/>
            </a:pPr>
            <a:r>
              <a:rPr sz="1500" b="1" i="0" lang="ko-KR" altLang="en-US">
                <a:solidFill>
                  <a:srgbClr val="FFFFFF"/>
                </a:solidFill>
                <a:latin typeface="맑은 고딕"/>
                <a:ea typeface="맑은 고딕"/>
                <a:cs typeface="맑은 고딕"/>
              </a:rPr>
              <a:t>반세기의 분업은 두 단계 사이의 인터페이스가 안정적이라는 전제 위에 있었다.</a:t>
            </a:r>
          </a:p>
          <a:p>
            <a:pPr algn="ctr" marL="0" indent="0">
              <a:lnSpc>
                <a:spcPts val="1800"/>
              </a:lnSpc>
              <a:spcBef>
                <a:spcPts val="0"/>
              </a:spcBef>
              <a:spcAft>
                <a:spcPts val="0"/>
              </a:spcAft>
              <a:buNone/>
            </a:pPr>
            <a:r>
              <a:rPr sz="1500" b="1" i="0" lang="ko-KR" altLang="en-US">
                <a:solidFill>
                  <a:srgbClr val="D4A72C"/>
                </a:solidFill>
                <a:latin typeface="맑은 고딕"/>
                <a:ea typeface="맑은 고딕"/>
                <a:cs typeface="맑은 고딕"/>
              </a:rPr>
              <a:t>하이브리드 본딩은 후공정 기술의 성패를 전공정의 제조공정 역량에 의존하게 만든다.</a:t>
            </a:r>
          </a:p>
        </p:txBody>
      </p:sp>
      <p:sp>
        <p:nvSpPr>
          <p:cNvPr id="57" name="Source"/>
          <p:cNvSpPr txBox="1"/>
          <p:nvPr/>
        </p:nvSpPr>
        <p:spPr>
          <a:xfrm>
            <a:off x="540000" y="5886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기술융합의 개념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 = 기술융합의 고전적 개념을 한 산업 내부의 공정 경계에 적용한 것</a:t>
            </a:r>
          </a:p>
        </p:txBody>
      </p:sp>
      <p:sp>
        <p:nvSpPr>
          <p:cNvPr id="4" name="Rounded Rectangle 3"/>
          <p:cNvSpPr/>
          <p:nvPr/>
        </p:nvSpPr>
        <p:spPr>
          <a:xfrm>
            <a:off x="5376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기술적 수렴</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Technological Convergence</a:t>
            </a:r>
          </a:p>
        </p:txBody>
      </p:sp>
      <p:sp>
        <p:nvSpPr>
          <p:cNvPr id="5" name="TextBox 4"/>
          <p:cNvSpPr txBox="1"/>
          <p:nvPr/>
        </p:nvSpPr>
        <p:spPr>
          <a:xfrm>
            <a:off x="5376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Rosenberg (1963)</a:t>
            </a:r>
          </a:p>
        </p:txBody>
      </p:sp>
      <p:sp>
        <p:nvSpPr>
          <p:cNvPr id="6" name="Rounded Rectangle 5"/>
          <p:cNvSpPr/>
          <p:nvPr/>
        </p:nvSpPr>
        <p:spPr>
          <a:xfrm>
            <a:off x="5376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816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공통의 생산공정을 통해 가공 기술이</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산업 경계를 넘어 확산</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 공작기계 산업의 등장</a:t>
            </a:r>
          </a:p>
        </p:txBody>
      </p:sp>
      <p:cxnSp>
        <p:nvCxnSpPr>
          <p:cNvPr id="8" name="Connector 7"/>
          <p:cNvCxnSpPr/>
          <p:nvPr/>
        </p:nvCxnSpPr>
        <p:spPr>
          <a:xfrm>
            <a:off x="2157660" y="3690000"/>
            <a:ext cx="0" cy="288000"/>
          </a:xfrm>
          <a:prstGeom prst="line">
            <a:avLst/>
          </a:prstGeom>
          <a:ln w="25400">
            <a:solidFill>
              <a:srgbClr val="13294B"/>
            </a:solidFill>
            <a:tailEnd type="triangle" w="med" len="med"/>
          </a:ln>
        </p:spPr>
      </p:cxnSp>
      <p:sp>
        <p:nvSpPr>
          <p:cNvPr id="9" name="Rounded Rectangle 8"/>
          <p:cNvSpPr/>
          <p:nvPr/>
        </p:nvSpPr>
        <p:spPr>
          <a:xfrm>
            <a:off x="5376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0" name="TextBox 9"/>
          <p:cNvSpPr txBox="1"/>
          <p:nvPr/>
        </p:nvSpPr>
        <p:spPr>
          <a:xfrm>
            <a:off x="6816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11" name="TextBox 10"/>
          <p:cNvSpPr txBox="1"/>
          <p:nvPr/>
        </p:nvSpPr>
        <p:spPr>
          <a:xfrm>
            <a:off x="6816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공정 단계가 증착 · 식각 · 도금 · CMP</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공정과 장비를 공유</a:t>
            </a:r>
          </a:p>
        </p:txBody>
      </p:sp>
      <p:cxnSp>
        <p:nvCxnSpPr>
          <p:cNvPr id="12" name="Connector 11"/>
          <p:cNvCxnSpPr/>
          <p:nvPr/>
        </p:nvCxnSpPr>
        <p:spPr>
          <a:xfrm>
            <a:off x="3867660" y="1386000"/>
            <a:ext cx="518400" cy="0"/>
          </a:xfrm>
          <a:prstGeom prst="line">
            <a:avLst/>
          </a:prstGeom>
          <a:ln w="25400">
            <a:solidFill>
              <a:srgbClr val="13294B"/>
            </a:solidFill>
            <a:tailEnd type="triangle" w="med" len="med"/>
          </a:ln>
        </p:spPr>
      </p:cxnSp>
      <p:sp>
        <p:nvSpPr>
          <p:cNvPr id="13" name="Rounded Rectangle 12"/>
          <p:cNvSpPr/>
          <p:nvPr/>
        </p:nvSpPr>
        <p:spPr>
          <a:xfrm>
            <a:off x="44760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기술융합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Technology Fusion</a:t>
            </a:r>
          </a:p>
        </p:txBody>
      </p:sp>
      <p:sp>
        <p:nvSpPr>
          <p:cNvPr id="14" name="TextBox 13"/>
          <p:cNvSpPr txBox="1"/>
          <p:nvPr/>
        </p:nvSpPr>
        <p:spPr>
          <a:xfrm>
            <a:off x="44760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Kodama (1992)</a:t>
            </a:r>
          </a:p>
        </p:txBody>
      </p:sp>
      <p:sp>
        <p:nvSpPr>
          <p:cNvPr id="15" name="Rounded Rectangle 14"/>
          <p:cNvSpPr/>
          <p:nvPr/>
        </p:nvSpPr>
        <p:spPr>
          <a:xfrm>
            <a:off x="44760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6200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분리된 기술 분야의 결합으로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어느 한 분야도 갖지 못한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역량을 창출</a:t>
            </a:r>
          </a:p>
        </p:txBody>
      </p:sp>
      <p:cxnSp>
        <p:nvCxnSpPr>
          <p:cNvPr id="17" name="Connector 16"/>
          <p:cNvCxnSpPr/>
          <p:nvPr/>
        </p:nvCxnSpPr>
        <p:spPr>
          <a:xfrm>
            <a:off x="6096060" y="3690000"/>
            <a:ext cx="0" cy="288000"/>
          </a:xfrm>
          <a:prstGeom prst="line">
            <a:avLst/>
          </a:prstGeom>
          <a:ln w="25400">
            <a:solidFill>
              <a:srgbClr val="13294B"/>
            </a:solidFill>
            <a:tailEnd type="triangle" w="med" len="med"/>
          </a:ln>
        </p:spPr>
      </p:cxnSp>
      <p:sp>
        <p:nvSpPr>
          <p:cNvPr id="18" name="Rounded Rectangle 17"/>
          <p:cNvSpPr/>
          <p:nvPr/>
        </p:nvSpPr>
        <p:spPr>
          <a:xfrm>
            <a:off x="44760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46200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0" name="TextBox 19"/>
          <p:cNvSpPr txBox="1"/>
          <p:nvPr/>
        </p:nvSpPr>
        <p:spPr>
          <a:xfrm>
            <a:off x="46200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10 µm 이하 연결 간격은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영역의 결합으로만 달성</a:t>
            </a:r>
          </a:p>
        </p:txBody>
      </p:sp>
      <p:cxnSp>
        <p:nvCxnSpPr>
          <p:cNvPr id="21" name="Connector 20"/>
          <p:cNvCxnSpPr/>
          <p:nvPr/>
        </p:nvCxnSpPr>
        <p:spPr>
          <a:xfrm>
            <a:off x="7806060" y="1386000"/>
            <a:ext cx="518400" cy="0"/>
          </a:xfrm>
          <a:prstGeom prst="line">
            <a:avLst/>
          </a:prstGeom>
          <a:ln w="25400">
            <a:solidFill>
              <a:srgbClr val="13294B"/>
            </a:solidFill>
            <a:tailEnd type="triangle" w="med" len="med"/>
          </a:ln>
        </p:spPr>
      </p:cxnSp>
      <p:sp>
        <p:nvSpPr>
          <p:cNvPr id="22" name="Rounded Rectangle 21"/>
          <p:cNvSpPr/>
          <p:nvPr/>
        </p:nvSpPr>
        <p:spPr>
          <a:xfrm>
            <a:off x="84144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단계 모형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Stage Model of Convergence</a:t>
            </a:r>
          </a:p>
        </p:txBody>
      </p:sp>
      <p:sp>
        <p:nvSpPr>
          <p:cNvPr id="23" name="TextBox 22"/>
          <p:cNvSpPr txBox="1"/>
          <p:nvPr/>
        </p:nvSpPr>
        <p:spPr>
          <a:xfrm>
            <a:off x="84144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Hacklin et al. (2009, 2010)</a:t>
            </a:r>
          </a:p>
        </p:txBody>
      </p:sp>
      <p:sp>
        <p:nvSpPr>
          <p:cNvPr id="24" name="Rounded Rectangle 23"/>
          <p:cNvSpPr/>
          <p:nvPr/>
        </p:nvSpPr>
        <p:spPr>
          <a:xfrm>
            <a:off x="84144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5" name="TextBox 24"/>
          <p:cNvSpPr txBox="1"/>
          <p:nvPr/>
        </p:nvSpPr>
        <p:spPr>
          <a:xfrm>
            <a:off x="85584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지식 → 기술 → 응용 → 산업 융합</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단계 사이의 공진화적 순환</a:t>
            </a:r>
          </a:p>
        </p:txBody>
      </p:sp>
      <p:cxnSp>
        <p:nvCxnSpPr>
          <p:cNvPr id="26" name="Connector 25"/>
          <p:cNvCxnSpPr/>
          <p:nvPr/>
        </p:nvCxnSpPr>
        <p:spPr>
          <a:xfrm>
            <a:off x="10034460" y="3690000"/>
            <a:ext cx="0" cy="288000"/>
          </a:xfrm>
          <a:prstGeom prst="line">
            <a:avLst/>
          </a:prstGeom>
          <a:ln w="25400">
            <a:solidFill>
              <a:srgbClr val="13294B"/>
            </a:solidFill>
            <a:tailEnd type="triangle" w="med" len="med"/>
          </a:ln>
        </p:spPr>
      </p:cxnSp>
      <p:sp>
        <p:nvSpPr>
          <p:cNvPr id="27" name="Rounded Rectangle 26"/>
          <p:cNvSpPr/>
          <p:nvPr/>
        </p:nvSpPr>
        <p:spPr>
          <a:xfrm>
            <a:off x="84144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8" name="TextBox 27"/>
          <p:cNvSpPr txBox="1"/>
          <p:nvPr/>
        </p:nvSpPr>
        <p:spPr>
          <a:xfrm>
            <a:off x="85584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9" name="TextBox 28"/>
          <p:cNvSpPr txBox="1"/>
          <p:nvPr/>
        </p:nvSpPr>
        <p:spPr>
          <a:xfrm>
            <a:off x="85584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특허로 관찰할 수 있는 것은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융합" 단계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융합의 단계 모형과 하이브리드 본딩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Pentagon 3"/>
          <p:cNvSpPr/>
          <p:nvPr/>
        </p:nvSpPr>
        <p:spPr>
          <a:xfrm>
            <a:off x="577260" y="1044000"/>
            <a:ext cx="2772000" cy="864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지식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Knowledge</a:t>
            </a:r>
          </a:p>
        </p:txBody>
      </p:sp>
      <p:sp>
        <p:nvSpPr>
          <p:cNvPr id="5" name="Rounded Rectangle 4"/>
          <p:cNvSpPr/>
          <p:nvPr/>
        </p:nvSpPr>
        <p:spPr>
          <a:xfrm>
            <a:off x="6132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392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제조공정 지식이 칩 연결 문제에 적용</a:t>
            </a:r>
          </a:p>
        </p:txBody>
      </p:sp>
      <p:cxnSp>
        <p:nvCxnSpPr>
          <p:cNvPr id="7" name="Connector 6"/>
          <p:cNvCxnSpPr/>
          <p:nvPr/>
        </p:nvCxnSpPr>
        <p:spPr>
          <a:xfrm>
            <a:off x="1009260" y="3330000"/>
            <a:ext cx="1782000" cy="0"/>
          </a:xfrm>
          <a:prstGeom prst="line">
            <a:avLst/>
          </a:prstGeom>
          <a:ln w="12700">
            <a:solidFill>
              <a:srgbClr val="D5DBE3"/>
            </a:solidFill>
          </a:ln>
        </p:spPr>
      </p:cxnSp>
      <p:sp>
        <p:nvSpPr>
          <p:cNvPr id="8" name="TextBox 7"/>
          <p:cNvSpPr txBox="1"/>
          <p:nvPr/>
        </p:nvSpPr>
        <p:spPr>
          <a:xfrm>
            <a:off x="7392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평탄화 · 표면 활성화 · 웨이퍼 직접 접합</a:t>
            </a:r>
          </a:p>
        </p:txBody>
      </p:sp>
      <p:sp>
        <p:nvSpPr>
          <p:cNvPr id="9" name="Rounded Rectangle 8"/>
          <p:cNvSpPr/>
          <p:nvPr/>
        </p:nvSpPr>
        <p:spPr>
          <a:xfrm>
            <a:off x="7212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10" name="Chevron 9"/>
          <p:cNvSpPr/>
          <p:nvPr/>
        </p:nvSpPr>
        <p:spPr>
          <a:xfrm>
            <a:off x="3374460" y="1044000"/>
            <a:ext cx="2772000" cy="864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FFFFFF"/>
                </a:solidFill>
                <a:latin typeface="맑은 고딕"/>
                <a:ea typeface="맑은 고딕"/>
                <a:cs typeface="맑은 고딕"/>
              </a:rPr>
              <a:t>기술 융합</a:t>
            </a:r>
          </a:p>
          <a:p>
            <a:pPr algn="ctr" marL="0" indent="0">
              <a:lnSpc>
                <a:spcPts val="1320"/>
              </a:lnSpc>
              <a:spcBef>
                <a:spcPts val="0"/>
              </a:spcBef>
              <a:spcAft>
                <a:spcPts val="0"/>
              </a:spcAft>
              <a:buNone/>
            </a:pPr>
            <a:r>
              <a:rPr sz="1100" b="0" i="0" lang="ko-KR" altLang="en-US">
                <a:solidFill>
                  <a:srgbClr val="C8D3E6"/>
                </a:solidFill>
                <a:latin typeface="맑은 고딕"/>
                <a:ea typeface="맑은 고딕"/>
                <a:cs typeface="맑은 고딕"/>
              </a:rPr>
              <a:t>Technological</a:t>
            </a:r>
          </a:p>
        </p:txBody>
      </p:sp>
      <p:sp>
        <p:nvSpPr>
          <p:cNvPr id="11" name="Rounded Rectangle 10"/>
          <p:cNvSpPr/>
          <p:nvPr/>
        </p:nvSpPr>
        <p:spPr>
          <a:xfrm>
            <a:off x="3410460" y="2088000"/>
            <a:ext cx="2574000" cy="2160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12" name="TextBox 11"/>
          <p:cNvSpPr txBox="1"/>
          <p:nvPr/>
        </p:nvSpPr>
        <p:spPr>
          <a:xfrm>
            <a:off x="35364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그 지식이 접합 구조 · 연결 방법과 하나의 발명 안에서 결합</a:t>
            </a:r>
          </a:p>
        </p:txBody>
      </p:sp>
      <p:cxnSp>
        <p:nvCxnSpPr>
          <p:cNvPr id="13" name="Connector 12"/>
          <p:cNvCxnSpPr/>
          <p:nvPr/>
        </p:nvCxnSpPr>
        <p:spPr>
          <a:xfrm>
            <a:off x="3806460" y="3330000"/>
            <a:ext cx="1782000" cy="0"/>
          </a:xfrm>
          <a:prstGeom prst="line">
            <a:avLst/>
          </a:prstGeom>
          <a:ln w="12700">
            <a:solidFill>
              <a:srgbClr val="D5DBE3"/>
            </a:solidFill>
          </a:ln>
        </p:spPr>
      </p:cxnSp>
      <p:sp>
        <p:nvSpPr>
          <p:cNvPr id="14" name="TextBox 13"/>
          <p:cNvSpPr txBox="1"/>
          <p:nvPr/>
        </p:nvSpPr>
        <p:spPr>
          <a:xfrm>
            <a:off x="35364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공동분류로 관찰</a:t>
            </a:r>
          </a:p>
        </p:txBody>
      </p:sp>
      <p:sp>
        <p:nvSpPr>
          <p:cNvPr id="15" name="Rounded Rectangle 14"/>
          <p:cNvSpPr/>
          <p:nvPr/>
        </p:nvSpPr>
        <p:spPr>
          <a:xfrm>
            <a:off x="3518460" y="4446000"/>
            <a:ext cx="2358000" cy="46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16" name="Chevron 15"/>
          <p:cNvSpPr/>
          <p:nvPr/>
        </p:nvSpPr>
        <p:spPr>
          <a:xfrm>
            <a:off x="61716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응용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Applicational</a:t>
            </a:r>
          </a:p>
        </p:txBody>
      </p:sp>
      <p:sp>
        <p:nvSpPr>
          <p:cNvPr id="17" name="Rounded Rectangle 16"/>
          <p:cNvSpPr/>
          <p:nvPr/>
        </p:nvSpPr>
        <p:spPr>
          <a:xfrm>
            <a:off x="62076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63336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결합된 기술이 제품으로 구현</a:t>
            </a:r>
          </a:p>
        </p:txBody>
      </p:sp>
      <p:cxnSp>
        <p:nvCxnSpPr>
          <p:cNvPr id="19" name="Connector 18"/>
          <p:cNvCxnSpPr/>
          <p:nvPr/>
        </p:nvCxnSpPr>
        <p:spPr>
          <a:xfrm>
            <a:off x="6603660" y="3330000"/>
            <a:ext cx="1782000" cy="0"/>
          </a:xfrm>
          <a:prstGeom prst="line">
            <a:avLst/>
          </a:prstGeom>
          <a:ln w="12700">
            <a:solidFill>
              <a:srgbClr val="D5DBE3"/>
            </a:solidFill>
          </a:ln>
        </p:spPr>
      </p:cxnSp>
      <p:sp>
        <p:nvSpPr>
          <p:cNvPr id="20" name="TextBox 19"/>
          <p:cNvSpPr txBox="1"/>
          <p:nvPr/>
        </p:nvSpPr>
        <p:spPr>
          <a:xfrm>
            <a:off x="63336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이미지센서 · 3D NAND · HBM · 칩렛</a:t>
            </a:r>
          </a:p>
        </p:txBody>
      </p:sp>
      <p:sp>
        <p:nvSpPr>
          <p:cNvPr id="21" name="Rounded Rectangle 20"/>
          <p:cNvSpPr/>
          <p:nvPr/>
        </p:nvSpPr>
        <p:spPr>
          <a:xfrm>
            <a:off x="63156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22" name="Chevron 21"/>
          <p:cNvSpPr/>
          <p:nvPr/>
        </p:nvSpPr>
        <p:spPr>
          <a:xfrm>
            <a:off x="89688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산업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Industrial</a:t>
            </a:r>
          </a:p>
        </p:txBody>
      </p:sp>
      <p:sp>
        <p:nvSpPr>
          <p:cNvPr id="23" name="Rounded Rectangle 22"/>
          <p:cNvSpPr/>
          <p:nvPr/>
        </p:nvSpPr>
        <p:spPr>
          <a:xfrm>
            <a:off x="90048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TextBox 23"/>
          <p:cNvSpPr txBox="1"/>
          <p:nvPr/>
        </p:nvSpPr>
        <p:spPr>
          <a:xfrm>
            <a:off x="91308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단계 간 분업 구조의 재편</a:t>
            </a:r>
          </a:p>
        </p:txBody>
      </p:sp>
      <p:cxnSp>
        <p:nvCxnSpPr>
          <p:cNvPr id="25" name="Connector 24"/>
          <p:cNvCxnSpPr/>
          <p:nvPr/>
        </p:nvCxnSpPr>
        <p:spPr>
          <a:xfrm>
            <a:off x="9400860" y="3330000"/>
            <a:ext cx="1782000" cy="0"/>
          </a:xfrm>
          <a:prstGeom prst="line">
            <a:avLst/>
          </a:prstGeom>
          <a:ln w="12700">
            <a:solidFill>
              <a:srgbClr val="D5DBE3"/>
            </a:solidFill>
          </a:ln>
        </p:spPr>
      </p:cxnSp>
      <p:sp>
        <p:nvSpPr>
          <p:cNvPr id="26" name="TextBox 25"/>
          <p:cNvSpPr txBox="1"/>
          <p:nvPr/>
        </p:nvSpPr>
        <p:spPr>
          <a:xfrm>
            <a:off x="91308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파운드리의 첨단 패키징 내재화</a:t>
            </a:r>
          </a:p>
        </p:txBody>
      </p:sp>
      <p:sp>
        <p:nvSpPr>
          <p:cNvPr id="27" name="Rounded Rectangle 26"/>
          <p:cNvSpPr/>
          <p:nvPr/>
        </p:nvSpPr>
        <p:spPr>
          <a:xfrm>
            <a:off x="9112860" y="4446000"/>
            <a:ext cx="2358000" cy="468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28" name="TextBox 27"/>
          <p:cNvSpPr txBox="1"/>
          <p:nvPr/>
        </p:nvSpPr>
        <p:spPr>
          <a:xfrm>
            <a:off x="540000" y="5112000"/>
            <a:ext cx="1111212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공동분류는 서로 다른 분야의 기술이 하나의 발명 안에서 결합되는 "기술 융합" 단계를 관찰하는 데 적합하다</a:t>
            </a:r>
          </a:p>
        </p:txBody>
      </p:sp>
      <p:sp>
        <p:nvSpPr>
          <p:cNvPr id="29" name="Source"/>
          <p:cNvSpPr txBox="1"/>
          <p:nvPr/>
        </p:nvSpPr>
        <p:spPr>
          <a:xfrm>
            <a:off x="540000" y="5508000"/>
            <a:ext cx="11112120" cy="180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(2010); Curran &amp; Leker (2011); Lau (2022); KnowMade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2  Summary</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RQ1) 공정 단계 간 융합의 수준과 유형</a:t>
            </a:r>
          </a:p>
        </p:txBody>
      </p:sp>
      <p:sp>
        <p:nvSpPr>
          <p:cNvPr id="3" name="Rounded Rectangle 2"/>
          <p:cNvSpPr/>
          <p:nvPr/>
        </p:nvSpPr>
        <p:spPr>
          <a:xfrm>
            <a:off x="684000" y="1080000"/>
            <a:ext cx="2808000" cy="108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2563C9"/>
                </a:solidFill>
                <a:latin typeface="맑은 고딕"/>
                <a:ea typeface="맑은 고딕"/>
                <a:cs typeface="맑은 고딕"/>
              </a:rPr>
              <a:t>제조공정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H01L21</a:t>
            </a:r>
          </a:p>
        </p:txBody>
      </p:sp>
      <p:sp>
        <p:nvSpPr>
          <p:cNvPr id="4" name="Rounded Rectangle 3"/>
          <p:cNvSpPr/>
          <p:nvPr/>
        </p:nvSpPr>
        <p:spPr>
          <a:xfrm>
            <a:off x="4356000" y="1080000"/>
            <a:ext cx="2808000" cy="1080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EA7A28"/>
                </a:solidFill>
                <a:latin typeface="맑은 고딕"/>
                <a:ea typeface="맑은 고딕"/>
                <a:cs typeface="맑은 고딕"/>
              </a:rPr>
              <a:t>접합·인터커넥트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H01L24</a:t>
            </a:r>
          </a:p>
        </p:txBody>
      </p:sp>
      <p:cxnSp>
        <p:nvCxnSpPr>
          <p:cNvPr id="5" name="Connector 4"/>
          <p:cNvCxnSpPr/>
          <p:nvPr/>
        </p:nvCxnSpPr>
        <p:spPr>
          <a:xfrm flipH="1">
            <a:off x="3762000" y="1008000"/>
            <a:ext cx="162000" cy="324000"/>
          </a:xfrm>
          <a:prstGeom prst="line">
            <a:avLst/>
          </a:prstGeom>
          <a:ln w="31750">
            <a:solidFill>
              <a:srgbClr val="C0392B"/>
            </a:solidFill>
          </a:ln>
        </p:spPr>
      </p:cxnSp>
      <p:cxnSp>
        <p:nvCxnSpPr>
          <p:cNvPr id="6" name="Connector 5"/>
          <p:cNvCxnSpPr/>
          <p:nvPr/>
        </p:nvCxnSpPr>
        <p:spPr>
          <a:xfrm>
            <a:off x="3762000" y="1332000"/>
            <a:ext cx="324000" cy="288000"/>
          </a:xfrm>
          <a:prstGeom prst="line">
            <a:avLst/>
          </a:prstGeom>
          <a:ln w="31750">
            <a:solidFill>
              <a:srgbClr val="C0392B"/>
            </a:solidFill>
          </a:ln>
        </p:spPr>
      </p:cxnSp>
      <p:cxnSp>
        <p:nvCxnSpPr>
          <p:cNvPr id="7" name="Connector 6"/>
          <p:cNvCxnSpPr/>
          <p:nvPr/>
        </p:nvCxnSpPr>
        <p:spPr>
          <a:xfrm flipH="1">
            <a:off x="3762000" y="1620000"/>
            <a:ext cx="324000" cy="288000"/>
          </a:xfrm>
          <a:prstGeom prst="line">
            <a:avLst/>
          </a:prstGeom>
          <a:ln w="31750">
            <a:solidFill>
              <a:srgbClr val="C0392B"/>
            </a:solidFill>
          </a:ln>
        </p:spPr>
      </p:cxnSp>
      <p:cxnSp>
        <p:nvCxnSpPr>
          <p:cNvPr id="8" name="Connector 7"/>
          <p:cNvCxnSpPr/>
          <p:nvPr/>
        </p:nvCxnSpPr>
        <p:spPr>
          <a:xfrm>
            <a:off x="3762000" y="1908000"/>
            <a:ext cx="162000" cy="324000"/>
          </a:xfrm>
          <a:prstGeom prst="line">
            <a:avLst/>
          </a:prstGeom>
          <a:ln w="31750">
            <a:solidFill>
              <a:srgbClr val="C0392B"/>
            </a:solidFill>
          </a:ln>
        </p:spPr>
      </p:cxnSp>
      <p:sp>
        <p:nvSpPr>
          <p:cNvPr id="9" name="TextBox 8"/>
          <p:cNvSpPr txBox="1"/>
          <p:nvPr/>
        </p:nvSpPr>
        <p:spPr>
          <a:xfrm>
            <a:off x="2844000" y="2268000"/>
            <a:ext cx="2160000" cy="28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C0392B"/>
                </a:solidFill>
                <a:latin typeface="맑은 고딕"/>
                <a:ea typeface="맑은 고딕"/>
                <a:cs typeface="맑은 고딕"/>
              </a:rPr>
              <a:t>불안정해진 인터페이스</a:t>
            </a:r>
          </a:p>
        </p:txBody>
      </p:sp>
      <p:cxnSp>
        <p:nvCxnSpPr>
          <p:cNvPr id="10" name="Connector 9"/>
          <p:cNvCxnSpPr/>
          <p:nvPr/>
        </p:nvCxnSpPr>
        <p:spPr>
          <a:xfrm>
            <a:off x="2088000" y="2214000"/>
            <a:ext cx="972000" cy="810000"/>
          </a:xfrm>
          <a:prstGeom prst="line">
            <a:avLst/>
          </a:prstGeom>
          <a:ln w="31750">
            <a:solidFill>
              <a:srgbClr val="2563C9"/>
            </a:solidFill>
            <a:tailEnd type="triangle" w="med" len="med"/>
          </a:ln>
        </p:spPr>
      </p:cxnSp>
      <p:cxnSp>
        <p:nvCxnSpPr>
          <p:cNvPr id="11" name="Connector 10"/>
          <p:cNvCxnSpPr/>
          <p:nvPr/>
        </p:nvCxnSpPr>
        <p:spPr>
          <a:xfrm flipH="1">
            <a:off x="4788000" y="2214000"/>
            <a:ext cx="972000" cy="810000"/>
          </a:xfrm>
          <a:prstGeom prst="line">
            <a:avLst/>
          </a:prstGeom>
          <a:ln w="31750">
            <a:solidFill>
              <a:srgbClr val="EA7A28"/>
            </a:solidFill>
            <a:tailEnd type="triangle" w="med" len="med"/>
          </a:ln>
        </p:spPr>
      </p:cxnSp>
      <p:sp>
        <p:nvSpPr>
          <p:cNvPr id="12" name="Rounded Rectangle 11"/>
          <p:cNvSpPr/>
          <p:nvPr/>
        </p:nvSpPr>
        <p:spPr>
          <a:xfrm>
            <a:off x="2052000" y="3096000"/>
            <a:ext cx="3600000" cy="1080000"/>
          </a:xfrm>
          <a:prstGeom prst="roundRect">
            <a:avLst>
              <a:gd name="adj" fmla="val 18000"/>
            </a:avLst>
          </a:prstGeom>
          <a:solidFill>
            <a:srgbClr val="EEE6FD"/>
          </a:solidFill>
          <a:ln w="22225">
            <a:solidFill>
              <a:srgbClr val="7C3AED"/>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7C3AED"/>
                </a:solidFill>
                <a:latin typeface="맑은 고딕"/>
                <a:ea typeface="맑은 고딕"/>
                <a:cs typeface="맑은 고딕"/>
              </a:rPr>
              <a:t>두 영역을 함께 담은 발명</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경계를 넘는 발명 (통합형)</a:t>
            </a:r>
          </a:p>
        </p:txBody>
      </p:sp>
      <p:sp>
        <p:nvSpPr>
          <p:cNvPr id="13" name="TextBox 12"/>
          <p:cNvSpPr txBox="1"/>
          <p:nvPr/>
        </p:nvSpPr>
        <p:spPr>
          <a:xfrm>
            <a:off x="540000" y="4320000"/>
            <a:ext cx="6768000" cy="972000"/>
          </a:xfrm>
          <a:prstGeom prst="rect">
            <a:avLst/>
          </a:prstGeom>
          <a:noFill/>
        </p:spPr>
        <p:txBody>
          <a:bodyPr wrap="square" lIns="0" rIns="0" tIns="0" bIns="0" anchor="t">
            <a:noAutofit/>
          </a:bodyPr>
          <a:lstStyle/>
          <a:p>
            <a:pPr algn="ctr" marL="0" indent="0">
              <a:lnSpc>
                <a:spcPts val="1560"/>
              </a:lnSpc>
              <a:spcBef>
                <a:spcPts val="0"/>
              </a:spcBef>
              <a:spcAft>
                <a:spcPts val="300"/>
              </a:spcAft>
              <a:buNone/>
            </a:pPr>
            <a:r>
              <a:rPr sz="1300" b="0" i="0" lang="ko-KR" altLang="en-US">
                <a:solidFill>
                  <a:srgbClr val="5B6475"/>
                </a:solidFill>
                <a:latin typeface="맑은 고딕"/>
                <a:ea typeface="맑은 고딕"/>
                <a:cs typeface="맑은 고딕"/>
              </a:rPr>
              <a:t>발명 = 기존 지식 요소의 새로운 조합 (Fleming, 2001)</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범위 = 포괄하는 분류의 수 (Lerner, 1994)</a:t>
            </a:r>
          </a:p>
        </p:txBody>
      </p:sp>
      <p:sp>
        <p:nvSpPr>
          <p:cNvPr id="14" name="TextBox 13"/>
          <p:cNvSpPr txBox="1"/>
          <p:nvPr/>
        </p:nvSpPr>
        <p:spPr>
          <a:xfrm>
            <a:off x="7740000" y="1008000"/>
            <a:ext cx="391212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이론적 기대</a:t>
            </a:r>
          </a:p>
        </p:txBody>
      </p:sp>
      <p:sp>
        <p:nvSpPr>
          <p:cNvPr id="15" name="Rounded Rectangle 14"/>
          <p:cNvSpPr/>
          <p:nvPr/>
        </p:nvSpPr>
        <p:spPr>
          <a:xfrm>
            <a:off x="7740000" y="14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6" name="Rounded Rectangle 15"/>
          <p:cNvSpPr/>
          <p:nvPr/>
        </p:nvSpPr>
        <p:spPr>
          <a:xfrm>
            <a:off x="7920000" y="16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①</a:t>
            </a:r>
          </a:p>
        </p:txBody>
      </p:sp>
      <p:sp>
        <p:nvSpPr>
          <p:cNvPr id="17" name="TextBox 16"/>
          <p:cNvSpPr txBox="1"/>
          <p:nvPr/>
        </p:nvSpPr>
        <p:spPr>
          <a:xfrm>
            <a:off x="7920000" y="20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두 영역의 기술을 함께 포함하는 발명이 예외적이지 않은 비중으로 나타난다</a:t>
            </a:r>
          </a:p>
        </p:txBody>
      </p:sp>
      <p:sp>
        <p:nvSpPr>
          <p:cNvPr id="18" name="Rounded Rectangle 17"/>
          <p:cNvSpPr/>
          <p:nvPr/>
        </p:nvSpPr>
        <p:spPr>
          <a:xfrm>
            <a:off x="7740000" y="32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Rounded Rectangle 18"/>
          <p:cNvSpPr/>
          <p:nvPr/>
        </p:nvSpPr>
        <p:spPr>
          <a:xfrm>
            <a:off x="7920000" y="34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②</a:t>
            </a:r>
          </a:p>
        </p:txBody>
      </p:sp>
      <p:sp>
        <p:nvSpPr>
          <p:cNvPr id="20" name="TextBox 19"/>
          <p:cNvSpPr txBox="1"/>
          <p:nvPr/>
        </p:nvSpPr>
        <p:spPr>
          <a:xfrm>
            <a:off x="7920000" y="38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그러한 발명은 한 영역에 머무는 발명보다 더 다양한 세부 기술을 포함한다</a:t>
            </a:r>
          </a:p>
        </p:txBody>
      </p:sp>
      <p:sp>
        <p:nvSpPr>
          <p:cNvPr id="21"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&amp; Adner (2012); Brusoni et al. (2001); Jacobides et al. (2006)</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하이브리드 본딩 기술에서 제조공정과 접합 기술 간의 융합이 어느 정도로, 어떠한 형태로 나타나는가?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RQ2) 공정 단계 간 융합의 시간적 변화</a:t>
            </a:r>
          </a:p>
        </p:txBody>
      </p:sp>
      <p:sp>
        <p:nvSpPr>
          <p:cNvPr id="3" name="Right Arrow 2"/>
          <p:cNvSpPr/>
          <p:nvPr/>
        </p:nvSpPr>
        <p:spPr>
          <a:xfrm>
            <a:off x="678060" y="1080000"/>
            <a:ext cx="10836000" cy="576000"/>
          </a:xfrm>
          <a:prstGeom prst="rightArrow">
            <a:avLst/>
          </a:prstGeom>
          <a:solidFill>
            <a:srgbClr val="E8EEF7"/>
          </a:solidFill>
          <a:ln>
            <a:noFill/>
          </a:ln>
        </p:spPr>
        <p:txBody>
          <a:bodyPr rtlCol="0" anchor="ctr" lIns="36000" rIns="36000" tIns="36000" bIns="36000"/>
          <a:lstStyle/>
          <a:p>
            <a:pPr algn="ctr"/>
          </a:p>
        </p:txBody>
      </p:sp>
      <p:sp>
        <p:nvSpPr>
          <p:cNvPr id="4" name="TextBox 3"/>
          <p:cNvSpPr txBox="1"/>
          <p:nvPr/>
        </p:nvSpPr>
        <p:spPr>
          <a:xfrm>
            <a:off x="750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형성</a:t>
            </a:r>
            <a:r>
              <a:rPr sz="1250" b="0" i="0" lang="ko-KR" altLang="en-US">
                <a:solidFill>
                  <a:srgbClr val="5B6475"/>
                </a:solidFill>
                <a:latin typeface="맑은 고딕"/>
                <a:ea typeface="맑은 고딕"/>
                <a:cs typeface="맑은 고딕"/>
              </a:rPr>
              <a:t>  (격동기)</a:t>
            </a:r>
          </a:p>
        </p:txBody>
      </p:sp>
      <p:sp>
        <p:nvSpPr>
          <p:cNvPr id="5" name="Rounded Rectangle 4"/>
          <p:cNvSpPr/>
          <p:nvPr/>
        </p:nvSpPr>
        <p:spPr>
          <a:xfrm>
            <a:off x="750060" y="1800000"/>
            <a:ext cx="334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858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예상되는 발명</a:t>
            </a:r>
          </a:p>
        </p:txBody>
      </p:sp>
      <p:sp>
        <p:nvSpPr>
          <p:cNvPr id="7" name="TextBox 6"/>
          <p:cNvSpPr txBox="1"/>
          <p:nvPr/>
        </p:nvSpPr>
        <p:spPr>
          <a:xfrm>
            <a:off x="858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직접 접합을 가능하게 하는</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발명이 주를 이룸</a:t>
            </a:r>
          </a:p>
        </p:txBody>
      </p:sp>
      <p:sp>
        <p:nvSpPr>
          <p:cNvPr id="8" name="Rounded Rectangle 7"/>
          <p:cNvSpPr/>
          <p:nvPr/>
        </p:nvSpPr>
        <p:spPr>
          <a:xfrm>
            <a:off x="1560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단계 모형: 지식 융합</a:t>
            </a:r>
          </a:p>
        </p:txBody>
      </p:sp>
      <p:sp>
        <p:nvSpPr>
          <p:cNvPr id="9" name="TextBox 8"/>
          <p:cNvSpPr txBox="1"/>
          <p:nvPr/>
        </p:nvSpPr>
        <p:spPr>
          <a:xfrm>
            <a:off x="4422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확산</a:t>
            </a:r>
            <a:r>
              <a:rPr sz="1250" b="0" i="0" lang="ko-KR" altLang="en-US">
                <a:solidFill>
                  <a:srgbClr val="5B6475"/>
                </a:solidFill>
                <a:latin typeface="맑은 고딕"/>
                <a:ea typeface="맑은 고딕"/>
                <a:cs typeface="맑은 고딕"/>
              </a:rPr>
              <a:t>  (설계의 수렴)</a:t>
            </a:r>
          </a:p>
        </p:txBody>
      </p:sp>
      <p:sp>
        <p:nvSpPr>
          <p:cNvPr id="10" name="Rounded Rectangle 9"/>
          <p:cNvSpPr/>
          <p:nvPr/>
        </p:nvSpPr>
        <p:spPr>
          <a:xfrm>
            <a:off x="4422060" y="1800000"/>
            <a:ext cx="334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4530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예상되는 발명</a:t>
            </a:r>
          </a:p>
        </p:txBody>
      </p:sp>
      <p:sp>
        <p:nvSpPr>
          <p:cNvPr id="12" name="TextBox 11"/>
          <p:cNvSpPr txBox="1"/>
          <p:nvPr/>
        </p:nvSpPr>
        <p:spPr>
          <a:xfrm>
            <a:off x="4530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지식이 접합 발명과</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결합하는 사례가 증가</a:t>
            </a:r>
          </a:p>
        </p:txBody>
      </p:sp>
      <p:sp>
        <p:nvSpPr>
          <p:cNvPr id="13" name="Rounded Rectangle 12"/>
          <p:cNvSpPr/>
          <p:nvPr/>
        </p:nvSpPr>
        <p:spPr>
          <a:xfrm>
            <a:off x="5232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단계 모형: 기술 융합</a:t>
            </a:r>
          </a:p>
        </p:txBody>
      </p:sp>
      <p:sp>
        <p:nvSpPr>
          <p:cNvPr id="14" name="TextBox 13"/>
          <p:cNvSpPr txBox="1"/>
          <p:nvPr/>
        </p:nvSpPr>
        <p:spPr>
          <a:xfrm>
            <a:off x="8094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지배적 설계 이후</a:t>
            </a:r>
            <a:r>
              <a:rPr sz="1250" b="0" i="0" lang="ko-KR" altLang="en-US">
                <a:solidFill>
                  <a:srgbClr val="5B6475"/>
                </a:solidFill>
                <a:latin typeface="맑은 고딕"/>
                <a:ea typeface="맑은 고딕"/>
                <a:cs typeface="맑은 고딕"/>
              </a:rPr>
              <a:t>  (점진적 변화)</a:t>
            </a:r>
          </a:p>
        </p:txBody>
      </p:sp>
      <p:sp>
        <p:nvSpPr>
          <p:cNvPr id="15" name="Rounded Rectangle 14"/>
          <p:cNvSpPr/>
          <p:nvPr/>
        </p:nvSpPr>
        <p:spPr>
          <a:xfrm>
            <a:off x="8094060" y="1800000"/>
            <a:ext cx="3348000" cy="165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8202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예상되는 발명</a:t>
            </a:r>
          </a:p>
        </p:txBody>
      </p:sp>
      <p:sp>
        <p:nvSpPr>
          <p:cNvPr id="17" name="TextBox 16"/>
          <p:cNvSpPr txBox="1"/>
          <p:nvPr/>
        </p:nvSpPr>
        <p:spPr>
          <a:xfrm>
            <a:off x="8202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두 기술의 결합이 응용에</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필요한 주변 공정으로 이동</a:t>
            </a:r>
          </a:p>
        </p:txBody>
      </p:sp>
      <p:sp>
        <p:nvSpPr>
          <p:cNvPr id="18" name="Rounded Rectangle 17"/>
          <p:cNvSpPr/>
          <p:nvPr/>
        </p:nvSpPr>
        <p:spPr>
          <a:xfrm>
            <a:off x="8904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단계 모형: 응용 융합</a:t>
            </a:r>
          </a:p>
        </p:txBody>
      </p:sp>
      <p:sp>
        <p:nvSpPr>
          <p:cNvPr id="19" name="Rounded Rectangle 18"/>
          <p:cNvSpPr/>
          <p:nvPr/>
        </p:nvSpPr>
        <p:spPr>
          <a:xfrm>
            <a:off x="540000" y="3636000"/>
            <a:ext cx="11112120" cy="16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TextBox 19"/>
          <p:cNvSpPr txBox="1"/>
          <p:nvPr/>
        </p:nvSpPr>
        <p:spPr>
          <a:xfrm>
            <a:off x="756000" y="3726000"/>
            <a:ext cx="360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본딩의 실제 전개</a:t>
            </a:r>
          </a:p>
        </p:txBody>
      </p:sp>
      <p:sp>
        <p:nvSpPr>
          <p:cNvPr id="21" name="Rounded Rectangle 20"/>
          <p:cNvSpPr/>
          <p:nvPr/>
        </p:nvSpPr>
        <p:spPr>
          <a:xfrm>
            <a:off x="756000" y="4086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적용 범위</a:t>
            </a:r>
          </a:p>
        </p:txBody>
      </p:sp>
      <p:sp>
        <p:nvSpPr>
          <p:cNvPr id="22" name="TextBox 21"/>
          <p:cNvSpPr txBox="1"/>
          <p:nvPr/>
        </p:nvSpPr>
        <p:spPr>
          <a:xfrm>
            <a:off x="2088000" y="4086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웨이퍼 단위(W2W): CMOS 이미지센서 · 3D NAND</a:t>
            </a:r>
          </a:p>
        </p:txBody>
      </p:sp>
      <p:cxnSp>
        <p:nvCxnSpPr>
          <p:cNvPr id="23" name="Connector 22"/>
          <p:cNvCxnSpPr/>
          <p:nvPr/>
        </p:nvCxnSpPr>
        <p:spPr>
          <a:xfrm>
            <a:off x="6336000" y="4273200"/>
            <a:ext cx="540000" cy="0"/>
          </a:xfrm>
          <a:prstGeom prst="line">
            <a:avLst/>
          </a:prstGeom>
          <a:ln w="25400">
            <a:solidFill>
              <a:srgbClr val="13294B"/>
            </a:solidFill>
            <a:tailEnd type="triangle" w="med" len="med"/>
          </a:ln>
        </p:spPr>
      </p:cxnSp>
      <p:sp>
        <p:nvSpPr>
          <p:cNvPr id="24" name="TextBox 23"/>
          <p:cNvSpPr txBox="1"/>
          <p:nvPr/>
        </p:nvSpPr>
        <p:spPr>
          <a:xfrm>
            <a:off x="7020000" y="4086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다이 단위(D2W): HBM · 칩렛 · 3D 로직</a:t>
            </a:r>
          </a:p>
        </p:txBody>
      </p:sp>
      <p:sp>
        <p:nvSpPr>
          <p:cNvPr id="25" name="Rounded Rectangle 24"/>
          <p:cNvSpPr/>
          <p:nvPr/>
        </p:nvSpPr>
        <p:spPr>
          <a:xfrm>
            <a:off x="756000" y="4644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발명의 중심</a:t>
            </a:r>
          </a:p>
        </p:txBody>
      </p:sp>
      <p:sp>
        <p:nvSpPr>
          <p:cNvPr id="26" name="TextBox 25"/>
          <p:cNvSpPr txBox="1"/>
          <p:nvPr/>
        </p:nvSpPr>
        <p:spPr>
          <a:xfrm>
            <a:off x="2088000" y="4644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표면 준비 · 저온 어닐링 · 평탄화 (공정)</a:t>
            </a:r>
          </a:p>
        </p:txBody>
      </p:sp>
      <p:cxnSp>
        <p:nvCxnSpPr>
          <p:cNvPr id="27" name="Connector 26"/>
          <p:cNvCxnSpPr/>
          <p:nvPr/>
        </p:nvCxnSpPr>
        <p:spPr>
          <a:xfrm>
            <a:off x="6336000" y="4831200"/>
            <a:ext cx="540000" cy="0"/>
          </a:xfrm>
          <a:prstGeom prst="line">
            <a:avLst/>
          </a:prstGeom>
          <a:ln w="25400">
            <a:solidFill>
              <a:srgbClr val="13294B"/>
            </a:solidFill>
            <a:tailEnd type="triangle" w="med" len="med"/>
          </a:ln>
        </p:spPr>
      </p:cxnSp>
      <p:sp>
        <p:nvSpPr>
          <p:cNvPr id="28" name="TextBox 27"/>
          <p:cNvSpPr txBox="1"/>
          <p:nvPr/>
        </p:nvSpPr>
        <p:spPr>
          <a:xfrm>
            <a:off x="7020000" y="4644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접합 구조 · 적층</a:t>
            </a:r>
          </a:p>
        </p:txBody>
      </p:sp>
      <p:sp>
        <p:nvSpPr>
          <p:cNvPr id="29"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Anderson &amp; Tushman (1990); Jeong et al. (2015); Yun &amp; Geum (2019); Lau (2021, 2022)</a:t>
            </a:r>
          </a:p>
        </p:txBody>
      </p:sp>
      <p:sp>
        <p:nvSpPr>
          <p:cNvPr id="30"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31" name="Rounded Rectangle 30"/>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a:t>
            </a:r>
          </a:p>
        </p:txBody>
      </p:sp>
      <p:sp>
        <p:nvSpPr>
          <p:cNvPr id="32" name="TextBox 31"/>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기술융합은 시간에 따라 어떻게 변화해 왔는가?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RQ3) 공정 단계 간 융합의 구조적 중심 변화</a:t>
            </a:r>
          </a:p>
        </p:txBody>
      </p:sp>
      <p:sp>
        <p:nvSpPr>
          <p:cNvPr id="3" name="Rounded Rectangle 2"/>
          <p:cNvSpPr/>
          <p:nvPr/>
        </p:nvSpPr>
        <p:spPr>
          <a:xfrm>
            <a:off x="54000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2000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인터페이스가 확정되기 전</a:t>
            </a:r>
            <a:r>
              <a:rPr sz="1250" b="0" i="0" lang="ko-KR" altLang="en-US">
                <a:solidFill>
                  <a:srgbClr val="5B6475"/>
                </a:solidFill>
                <a:latin typeface="맑은 고딕"/>
                <a:ea typeface="맑은 고딕"/>
                <a:cs typeface="맑은 고딕"/>
              </a:rPr>
              <a:t>  (격동기)</a:t>
            </a:r>
          </a:p>
        </p:txBody>
      </p:sp>
      <p:cxnSp>
        <p:nvCxnSpPr>
          <p:cNvPr id="5" name="Connector 4"/>
          <p:cNvCxnSpPr/>
          <p:nvPr/>
        </p:nvCxnSpPr>
        <p:spPr>
          <a:xfrm flipH="1" flipV="1">
            <a:off x="1620000" y="2178000"/>
            <a:ext cx="1368000" cy="828000"/>
          </a:xfrm>
          <a:prstGeom prst="line">
            <a:avLst/>
          </a:prstGeom>
          <a:ln w="76200">
            <a:solidFill>
              <a:srgbClr val="2563C9"/>
            </a:solidFill>
          </a:ln>
        </p:spPr>
      </p:cxnSp>
      <p:sp>
        <p:nvSpPr>
          <p:cNvPr id="6" name="Rounded Rectangle 5"/>
          <p:cNvSpPr/>
          <p:nvPr/>
        </p:nvSpPr>
        <p:spPr>
          <a:xfrm>
            <a:off x="648000" y="1674000"/>
            <a:ext cx="1872000" cy="72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평탄화 · 웨이퍼 접합</a:t>
            </a:r>
          </a:p>
        </p:txBody>
      </p:sp>
      <p:sp>
        <p:nvSpPr>
          <p:cNvPr id="7" name="TextBox 6"/>
          <p:cNvSpPr txBox="1"/>
          <p:nvPr/>
        </p:nvSpPr>
        <p:spPr>
          <a:xfrm>
            <a:off x="72000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핵심 기술의 발명이 경계 반대편의 지식을</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함께 다루어야 함</a:t>
            </a:r>
          </a:p>
        </p:txBody>
      </p:sp>
      <p:sp>
        <p:nvSpPr>
          <p:cNvPr id="8" name="Oval 7"/>
          <p:cNvSpPr/>
          <p:nvPr/>
        </p:nvSpPr>
        <p:spPr>
          <a:xfrm>
            <a:off x="248400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9" name="Rounded Rectangle 8"/>
          <p:cNvSpPr/>
          <p:nvPr/>
        </p:nvSpPr>
        <p:spPr>
          <a:xfrm>
            <a:off x="639612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57612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설계가 고착화된 후</a:t>
            </a:r>
            <a:r>
              <a:rPr sz="1250" b="0" i="0" lang="ko-KR" altLang="en-US">
                <a:solidFill>
                  <a:srgbClr val="5B6475"/>
                </a:solidFill>
                <a:latin typeface="맑은 고딕"/>
                <a:ea typeface="맑은 고딕"/>
                <a:cs typeface="맑은 고딕"/>
              </a:rPr>
              <a:t>  (지배적 설계 이후)</a:t>
            </a:r>
          </a:p>
        </p:txBody>
      </p:sp>
      <p:cxnSp>
        <p:nvCxnSpPr>
          <p:cNvPr id="11" name="Connector 10"/>
          <p:cNvCxnSpPr/>
          <p:nvPr/>
        </p:nvCxnSpPr>
        <p:spPr>
          <a:xfrm flipH="1" flipV="1">
            <a:off x="7476120" y="2178000"/>
            <a:ext cx="1368000" cy="828000"/>
          </a:xfrm>
          <a:prstGeom prst="line">
            <a:avLst/>
          </a:prstGeom>
          <a:ln w="15875">
            <a:solidFill>
              <a:srgbClr val="9AA6B8"/>
            </a:solidFill>
            <a:prstDash val="dash"/>
          </a:ln>
        </p:spPr>
      </p:cxnSp>
      <p:sp>
        <p:nvSpPr>
          <p:cNvPr id="12" name="Rounded Rectangle 11"/>
          <p:cNvSpPr/>
          <p:nvPr/>
        </p:nvSpPr>
        <p:spPr>
          <a:xfrm>
            <a:off x="6504120" y="1674000"/>
            <a:ext cx="1872000" cy="720000"/>
          </a:xfrm>
          <a:prstGeom prst="roundRect">
            <a:avLst>
              <a:gd name="adj" fmla="val 18000"/>
            </a:avLst>
          </a:prstGeom>
          <a:solidFill>
            <a:srgbClr val="FFFFFF"/>
          </a:solidFill>
          <a:ln w="22225">
            <a:solidFill>
              <a:srgbClr val="9AA6B8"/>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5B6475"/>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주어진 조건으로 전제</a:t>
            </a:r>
          </a:p>
        </p:txBody>
      </p:sp>
      <p:cxnSp>
        <p:nvCxnSpPr>
          <p:cNvPr id="13" name="Connector 12"/>
          <p:cNvCxnSpPr/>
          <p:nvPr/>
        </p:nvCxnSpPr>
        <p:spPr>
          <a:xfrm flipV="1">
            <a:off x="9600120" y="2070000"/>
            <a:ext cx="360000" cy="828000"/>
          </a:xfrm>
          <a:prstGeom prst="line">
            <a:avLst/>
          </a:prstGeom>
          <a:ln w="63500">
            <a:solidFill>
              <a:srgbClr val="10A39A"/>
            </a:solidFill>
          </a:ln>
        </p:spPr>
      </p:cxnSp>
      <p:sp>
        <p:nvSpPr>
          <p:cNvPr id="14" name="Rounded Rectangle 13"/>
          <p:cNvSpPr/>
          <p:nvPr/>
        </p:nvSpPr>
        <p:spPr>
          <a:xfrm>
            <a:off x="9960120" y="17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다이 지지 · 적층</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cxnSp>
        <p:nvCxnSpPr>
          <p:cNvPr id="15" name="Connector 14"/>
          <p:cNvCxnSpPr/>
          <p:nvPr/>
        </p:nvCxnSpPr>
        <p:spPr>
          <a:xfrm>
            <a:off x="9600120" y="3114000"/>
            <a:ext cx="360000" cy="756000"/>
          </a:xfrm>
          <a:prstGeom prst="line">
            <a:avLst/>
          </a:prstGeom>
          <a:ln w="63500">
            <a:solidFill>
              <a:srgbClr val="10A39A"/>
            </a:solidFill>
          </a:ln>
        </p:spPr>
      </p:cxnSp>
      <p:sp>
        <p:nvSpPr>
          <p:cNvPr id="16" name="Rounded Rectangle 15"/>
          <p:cNvSpPr/>
          <p:nvPr/>
        </p:nvSpPr>
        <p:spPr>
          <a:xfrm>
            <a:off x="9960120" y="35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봉지 · 패키지 완성</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sp>
        <p:nvSpPr>
          <p:cNvPr id="17" name="TextBox 16"/>
          <p:cNvSpPr txBox="1"/>
          <p:nvPr/>
        </p:nvSpPr>
        <p:spPr>
          <a:xfrm>
            <a:off x="657612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새로운 결합은 핵심의 인터페이스를 전제로</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주변 공정에서 일어남</a:t>
            </a:r>
          </a:p>
        </p:txBody>
      </p:sp>
      <p:sp>
        <p:nvSpPr>
          <p:cNvPr id="18" name="Oval 17"/>
          <p:cNvSpPr/>
          <p:nvPr/>
        </p:nvSpPr>
        <p:spPr>
          <a:xfrm>
            <a:off x="834012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19" name="Right Arrow 18"/>
          <p:cNvSpPr/>
          <p:nvPr/>
        </p:nvSpPr>
        <p:spPr>
          <a:xfrm>
            <a:off x="5922000" y="2592000"/>
            <a:ext cx="348120" cy="648000"/>
          </a:xfrm>
          <a:prstGeom prst="rightArrow">
            <a:avLst/>
          </a:prstGeom>
          <a:solidFill>
            <a:srgbClr val="13294B"/>
          </a:solidFill>
          <a:ln>
            <a:noFill/>
          </a:ln>
        </p:spPr>
        <p:txBody>
          <a:bodyPr rtlCol="0" anchor="ctr" lIns="36000" rIns="36000" tIns="36000" bIns="36000"/>
          <a:lstStyle/>
          <a:p>
            <a:pPr algn="ctr"/>
          </a:p>
        </p:txBody>
      </p:sp>
      <p:sp>
        <p:nvSpPr>
          <p:cNvPr id="20" name="Source"/>
          <p:cNvSpPr txBox="1"/>
          <p:nvPr/>
        </p:nvSpPr>
        <p:spPr>
          <a:xfrm>
            <a:off x="540000" y="495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Murmann &amp; Frenken (2006); Henderson &amp; Clark (1990); Brusoni et al. (2001); Anderson &amp; Tushman (1990)</a:t>
            </a:r>
          </a:p>
        </p:txBody>
      </p:sp>
      <p:sp>
        <p:nvSpPr>
          <p:cNvPr id="21" name="TextBox 20"/>
          <p:cNvSpPr txBox="1"/>
          <p:nvPr/>
        </p:nvSpPr>
        <p:spPr>
          <a:xfrm>
            <a:off x="540000" y="5148000"/>
            <a:ext cx="11112120" cy="468000"/>
          </a:xfrm>
          <a:prstGeom prst="rect">
            <a:avLst/>
          </a:prstGeom>
          <a:noFill/>
        </p:spPr>
        <p:txBody>
          <a:bodyPr wrap="square" lIns="0" rIns="0" tIns="0" bIns="0" anchor="ctr">
            <a:noAutofit/>
          </a:bodyPr>
          <a:lstStyle/>
          <a:p>
            <a:pPr algn="ctr" marL="0" indent="0">
              <a:lnSpc>
                <a:spcPts val="1720"/>
              </a:lnSpc>
              <a:spcBef>
                <a:spcPts val="0"/>
              </a:spcBef>
              <a:spcAft>
                <a:spcPts val="0"/>
              </a:spcAft>
              <a:buNone/>
            </a:pPr>
            <a:r>
              <a:rPr sz="1300" b="1" i="0" lang="ko-KR" altLang="en-US">
                <a:solidFill>
                  <a:srgbClr val="13294B"/>
                </a:solidFill>
                <a:latin typeface="맑은 고딕"/>
                <a:ea typeface="맑은 고딕"/>
                <a:cs typeface="맑은 고딕"/>
              </a:rPr>
              <a:t>기대: 핵심 기술을 포함한 발명이 제조공정 지식을 함께 포함하는 정도는 시기에 따라 줄고, 접합과 결합하는 제조공정의 중심은 웨이퍼 제조공정에서 주변 공정으로 이동할 것이다</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RQ3</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기술융합의 중심이 핵심 기술과 주변 기술 사이에서 시기에 따라 어떻게 재편되는가?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연구 질문과 이론적 기대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이론적 기대는 통계적 가설이 아니라, 결과를 해석하는 기준으로 사용한다</a:t>
            </a:r>
          </a:p>
        </p:txBody>
      </p:sp>
      <p:sp>
        <p:nvSpPr>
          <p:cNvPr id="4" name="TextBox 3"/>
          <p:cNvSpPr txBox="1"/>
          <p:nvPr/>
        </p:nvSpPr>
        <p:spPr>
          <a:xfrm>
            <a:off x="6084000" y="882000"/>
            <a:ext cx="5400000" cy="216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이론적 기대</a:t>
            </a:r>
          </a:p>
        </p:txBody>
      </p:sp>
      <p:sp>
        <p:nvSpPr>
          <p:cNvPr id="5" name="Rounded Rectangle 4"/>
          <p:cNvSpPr/>
          <p:nvPr/>
        </p:nvSpPr>
        <p:spPr>
          <a:xfrm>
            <a:off x="540000" y="1116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Rounded Rectangle 5"/>
          <p:cNvSpPr/>
          <p:nvPr/>
        </p:nvSpPr>
        <p:spPr>
          <a:xfrm>
            <a:off x="702000" y="1260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RQ1</a:t>
            </a:r>
          </a:p>
        </p:txBody>
      </p:sp>
      <p:sp>
        <p:nvSpPr>
          <p:cNvPr id="7" name="TextBox 6"/>
          <p:cNvSpPr txBox="1"/>
          <p:nvPr/>
        </p:nvSpPr>
        <p:spPr>
          <a:xfrm>
            <a:off x="1530000" y="1260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수준과 유형</a:t>
            </a:r>
          </a:p>
        </p:txBody>
      </p:sp>
      <p:sp>
        <p:nvSpPr>
          <p:cNvPr id="8" name="TextBox 7"/>
          <p:cNvSpPr txBox="1"/>
          <p:nvPr/>
        </p:nvSpPr>
        <p:spPr>
          <a:xfrm>
            <a:off x="702000" y="1656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9" name="Right Arrow 8"/>
          <p:cNvSpPr/>
          <p:nvPr/>
        </p:nvSpPr>
        <p:spPr>
          <a:xfrm>
            <a:off x="5850000" y="1692000"/>
            <a:ext cx="288000" cy="360000"/>
          </a:xfrm>
          <a:prstGeom prst="rightArrow">
            <a:avLst/>
          </a:prstGeom>
          <a:solidFill>
            <a:srgbClr val="C9D2E0"/>
          </a:solidFill>
          <a:ln>
            <a:noFill/>
          </a:ln>
        </p:spPr>
        <p:txBody>
          <a:bodyPr rtlCol="0" anchor="ctr" lIns="36000" rIns="36000" tIns="36000" bIns="36000"/>
          <a:lstStyle/>
          <a:p>
            <a:pPr algn="ctr"/>
          </a:p>
        </p:txBody>
      </p:sp>
      <p:sp>
        <p:nvSpPr>
          <p:cNvPr id="10" name="TextBox 9"/>
          <p:cNvSpPr txBox="1"/>
          <p:nvPr/>
        </p:nvSpPr>
        <p:spPr>
          <a:xfrm>
            <a:off x="6228000" y="1224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인터페이스가 불안정해진 공정 단계 사이에서 두 영역을 함께 포함하는 발명이 예외적이지 않은 비중으로 나타나고, 더 다양한 세부 기술을 포함한다</a:t>
            </a:r>
          </a:p>
        </p:txBody>
      </p:sp>
      <p:sp>
        <p:nvSpPr>
          <p:cNvPr id="11" name="TextBox 10"/>
          <p:cNvSpPr txBox="1"/>
          <p:nvPr/>
        </p:nvSpPr>
        <p:spPr>
          <a:xfrm>
            <a:off x="6228000" y="2268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지식 경계 · 산업 아키텍처 · 재조합</a:t>
            </a:r>
          </a:p>
        </p:txBody>
      </p:sp>
      <p:sp>
        <p:nvSpPr>
          <p:cNvPr id="12" name="Rounded Rectangle 11"/>
          <p:cNvSpPr/>
          <p:nvPr/>
        </p:nvSpPr>
        <p:spPr>
          <a:xfrm>
            <a:off x="540000" y="2754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Rounded Rectangle 12"/>
          <p:cNvSpPr/>
          <p:nvPr/>
        </p:nvSpPr>
        <p:spPr>
          <a:xfrm>
            <a:off x="702000" y="2898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RQ2</a:t>
            </a:r>
          </a:p>
        </p:txBody>
      </p:sp>
      <p:sp>
        <p:nvSpPr>
          <p:cNvPr id="14" name="TextBox 13"/>
          <p:cNvSpPr txBox="1"/>
          <p:nvPr/>
        </p:nvSpPr>
        <p:spPr>
          <a:xfrm>
            <a:off x="1530000" y="2898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시간적 변화</a:t>
            </a:r>
          </a:p>
        </p:txBody>
      </p:sp>
      <p:sp>
        <p:nvSpPr>
          <p:cNvPr id="15" name="TextBox 14"/>
          <p:cNvSpPr txBox="1"/>
          <p:nvPr/>
        </p:nvSpPr>
        <p:spPr>
          <a:xfrm>
            <a:off x="702000" y="3294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기술융합은 시간에 따라 어떻게 변화해 왔는가?</a:t>
            </a:r>
          </a:p>
        </p:txBody>
      </p:sp>
      <p:sp>
        <p:nvSpPr>
          <p:cNvPr id="16" name="Right Arrow 15"/>
          <p:cNvSpPr/>
          <p:nvPr/>
        </p:nvSpPr>
        <p:spPr>
          <a:xfrm>
            <a:off x="5850000" y="3330000"/>
            <a:ext cx="288000" cy="360000"/>
          </a:xfrm>
          <a:prstGeom prst="rightArrow">
            <a:avLst/>
          </a:prstGeom>
          <a:solidFill>
            <a:srgbClr val="C9D2E0"/>
          </a:solidFill>
          <a:ln>
            <a:noFill/>
          </a:ln>
        </p:spPr>
        <p:txBody>
          <a:bodyPr rtlCol="0" anchor="ctr" lIns="36000" rIns="36000" tIns="36000" bIns="36000"/>
          <a:lstStyle/>
          <a:p>
            <a:pPr algn="ctr"/>
          </a:p>
        </p:txBody>
      </p:sp>
      <p:sp>
        <p:nvSpPr>
          <p:cNvPr id="17" name="TextBox 16"/>
          <p:cNvSpPr txBox="1"/>
          <p:nvPr/>
        </p:nvSpPr>
        <p:spPr>
          <a:xfrm>
            <a:off x="6228000" y="2862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융합은 단선적으로 확대되기보다 발전 단계에 따라 수준이 달라지고, 출원의 구성은 제조공정 중심에서 접합 중심으로 이동한다</a:t>
            </a:r>
          </a:p>
        </p:txBody>
      </p:sp>
      <p:sp>
        <p:nvSpPr>
          <p:cNvPr id="18" name="TextBox 17"/>
          <p:cNvSpPr txBox="1"/>
          <p:nvPr/>
        </p:nvSpPr>
        <p:spPr>
          <a:xfrm>
            <a:off x="6228000" y="3906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단계 모형 · 기술 순환 모형</a:t>
            </a:r>
          </a:p>
        </p:txBody>
      </p:sp>
      <p:sp>
        <p:nvSpPr>
          <p:cNvPr id="19" name="Rounded Rectangle 18"/>
          <p:cNvSpPr/>
          <p:nvPr/>
        </p:nvSpPr>
        <p:spPr>
          <a:xfrm>
            <a:off x="540000" y="4392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702000" y="4536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RQ3</a:t>
            </a:r>
          </a:p>
        </p:txBody>
      </p:sp>
      <p:sp>
        <p:nvSpPr>
          <p:cNvPr id="21" name="TextBox 20"/>
          <p:cNvSpPr txBox="1"/>
          <p:nvPr/>
        </p:nvSpPr>
        <p:spPr>
          <a:xfrm>
            <a:off x="1530000" y="4536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구조적 중심 변화</a:t>
            </a:r>
          </a:p>
        </p:txBody>
      </p:sp>
      <p:sp>
        <p:nvSpPr>
          <p:cNvPr id="22" name="TextBox 21"/>
          <p:cNvSpPr txBox="1"/>
          <p:nvPr/>
        </p:nvSpPr>
        <p:spPr>
          <a:xfrm>
            <a:off x="702000" y="4932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23" name="Right Arrow 22"/>
          <p:cNvSpPr/>
          <p:nvPr/>
        </p:nvSpPr>
        <p:spPr>
          <a:xfrm>
            <a:off x="5850000" y="4968000"/>
            <a:ext cx="288000" cy="360000"/>
          </a:xfrm>
          <a:prstGeom prst="rightArrow">
            <a:avLst/>
          </a:prstGeom>
          <a:solidFill>
            <a:srgbClr val="C9D2E0"/>
          </a:solidFill>
          <a:ln>
            <a:noFill/>
          </a:ln>
        </p:spPr>
        <p:txBody>
          <a:bodyPr rtlCol="0" anchor="ctr" lIns="36000" rIns="36000" tIns="36000" bIns="36000"/>
          <a:lstStyle/>
          <a:p>
            <a:pPr algn="ctr"/>
          </a:p>
        </p:txBody>
      </p:sp>
      <p:sp>
        <p:nvSpPr>
          <p:cNvPr id="24" name="TextBox 23"/>
          <p:cNvSpPr txBox="1"/>
          <p:nvPr/>
        </p:nvSpPr>
        <p:spPr>
          <a:xfrm>
            <a:off x="6228000" y="4500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핵심 설계가 고착화되면 핵심 기술의 제조공정 지식 포함 우위가 줄고, 융합의 중심은 응용에 필요한 주변 공정으로 이동한다</a:t>
            </a:r>
          </a:p>
        </p:txBody>
      </p:sp>
      <p:sp>
        <p:nvSpPr>
          <p:cNvPr id="25" name="TextBox 24"/>
          <p:cNvSpPr txBox="1"/>
          <p:nvPr/>
        </p:nvSpPr>
        <p:spPr>
          <a:xfrm>
            <a:off x="6228000" y="5544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핵심–주변 구조 · 아키텍처 지식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검색 전략과 자료의 특성</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두 단계 검색으로 표본을 구성하고, 표본의 특성은 강건성 검증에 활용</a:t>
            </a:r>
          </a:p>
        </p:txBody>
      </p:sp>
      <p:graphicFrame>
        <p:nvGraphicFramePr>
          <p:cNvPr id="4" name="Table 3"/>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Rounded Rectangle 4"/>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6" name="TextBox 5"/>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7" name="Rounded Rectangle 6"/>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8" name="TextBox 7"/>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5)</a:t>
            </a:r>
          </a:p>
        </p:txBody>
      </p:sp>
      <p:sp>
        <p:nvSpPr>
          <p:cNvPr id="9" name="Rounded Rectangle 8"/>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10" name="TextBox 9"/>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1" name="Rounded Rectangle 10"/>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2" name="TextBox 11"/>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3" name="Rounded Rectangle 12"/>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4" name="TextBox 13"/>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5" name="Rounded Rectangle 14"/>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6" name="TextBox 15"/>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두 CPC 클래스의 공동분류</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Oval 3"/>
          <p:cNvSpPr/>
          <p:nvPr/>
        </p:nvSpPr>
        <p:spPr>
          <a:xfrm>
            <a:off x="2964060" y="936000"/>
            <a:ext cx="3816000" cy="3816000"/>
          </a:xfrm>
          <a:prstGeom prst="ellipse">
            <a:avLst/>
          </a:prstGeom>
          <a:solidFill>
            <a:srgbClr val="2563C9">
              <a:alpha val="16000"/>
            </a:srgbClr>
          </a:solidFill>
          <a:ln w="25400">
            <a:solidFill>
              <a:srgbClr val="2563C9"/>
            </a:solidFill>
          </a:ln>
        </p:spPr>
        <p:txBody>
          <a:bodyPr rtlCol="0" anchor="ctr" lIns="36000" rIns="36000" tIns="36000" bIns="36000"/>
          <a:lstStyle/>
          <a:p>
            <a:pPr algn="ctr"/>
          </a:p>
        </p:txBody>
      </p:sp>
      <p:sp>
        <p:nvSpPr>
          <p:cNvPr id="5" name="Oval 4"/>
          <p:cNvSpPr/>
          <p:nvPr/>
        </p:nvSpPr>
        <p:spPr>
          <a:xfrm>
            <a:off x="5412060" y="936000"/>
            <a:ext cx="3816000" cy="3816000"/>
          </a:xfrm>
          <a:prstGeom prst="ellipse">
            <a:avLst/>
          </a:prstGeom>
          <a:solidFill>
            <a:srgbClr val="EA7A28">
              <a:alpha val="16000"/>
            </a:srgbClr>
          </a:solidFill>
          <a:ln w="25400">
            <a:solidFill>
              <a:srgbClr val="EA7A28"/>
            </a:solidFill>
          </a:ln>
        </p:spPr>
        <p:txBody>
          <a:bodyPr rtlCol="0" anchor="ctr" lIns="36000" rIns="36000" tIns="36000" bIns="36000"/>
          <a:lstStyle/>
          <a:p>
            <a:pPr algn="ctr"/>
          </a:p>
        </p:txBody>
      </p:sp>
      <p:sp>
        <p:nvSpPr>
          <p:cNvPr id="6" name="TextBox 5"/>
          <p:cNvSpPr txBox="1"/>
          <p:nvPr/>
        </p:nvSpPr>
        <p:spPr>
          <a:xfrm>
            <a:off x="3144060" y="1476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H01L21</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반도체 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웨이퍼 접합 · CMP</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절연층 처리</a:t>
            </a:r>
          </a:p>
        </p:txBody>
      </p:sp>
      <p:sp>
        <p:nvSpPr>
          <p:cNvPr id="7" name="TextBox 6"/>
          <p:cNvSpPr txBox="1"/>
          <p:nvPr/>
        </p:nvSpPr>
        <p:spPr>
          <a:xfrm>
            <a:off x="7284060" y="1476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H01L24</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접합 · 인터커넥트</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범프 · 와이어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패드 구조</a:t>
            </a:r>
          </a:p>
        </p:txBody>
      </p:sp>
      <p:sp>
        <p:nvSpPr>
          <p:cNvPr id="8" name="Rounded Rectangle 7"/>
          <p:cNvSpPr/>
          <p:nvPr/>
        </p:nvSpPr>
        <p:spPr>
          <a:xfrm>
            <a:off x="3198060" y="2952000"/>
            <a:ext cx="1656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공정 단독형</a:t>
            </a:r>
          </a:p>
        </p:txBody>
      </p:sp>
      <p:sp>
        <p:nvSpPr>
          <p:cNvPr id="9" name="Rounded Rectangle 8"/>
          <p:cNvSpPr/>
          <p:nvPr/>
        </p:nvSpPr>
        <p:spPr>
          <a:xfrm>
            <a:off x="7338060" y="2952000"/>
            <a:ext cx="1656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접합 단독형</a:t>
            </a:r>
          </a:p>
        </p:txBody>
      </p:sp>
      <p:sp>
        <p:nvSpPr>
          <p:cNvPr id="10" name="Rounded Rectangle 9"/>
          <p:cNvSpPr/>
          <p:nvPr/>
        </p:nvSpPr>
        <p:spPr>
          <a:xfrm>
            <a:off x="5466060" y="2466000"/>
            <a:ext cx="1260000" cy="43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통합형</a:t>
            </a:r>
          </a:p>
        </p:txBody>
      </p:sp>
      <p:sp>
        <p:nvSpPr>
          <p:cNvPr id="11" name="TextBox 10"/>
          <p:cNvSpPr txBox="1"/>
          <p:nvPr/>
        </p:nvSpPr>
        <p:spPr>
          <a:xfrm>
            <a:off x="5412060" y="2934000"/>
            <a:ext cx="1368000" cy="46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두 클래스를</a:t>
            </a:r>
          </a:p>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함께 보유</a:t>
            </a:r>
          </a:p>
        </p:txBody>
      </p:sp>
      <p:sp>
        <p:nvSpPr>
          <p:cNvPr id="12" name="TextBox 11"/>
          <p:cNvSpPr txBox="1"/>
          <p:nvPr/>
        </p:nvSpPr>
        <p:spPr>
          <a:xfrm>
            <a:off x="540000" y="4950000"/>
            <a:ext cx="11112120" cy="46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한 출원에 두 클래스의 기호가 함께 부여 = 두 영역의 지식이 하나의 발명 안에서 결합된 흔적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기호는 심사관이 기술 내용에 따라 부여: 대리측정치이며 법적 청구범위의 측정이 아님 (Curran &amp; Leker, 2011; Fleming, 2001)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실제 출원의 CPC 기호</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실제 출원에 부여된 CPC 기호의 조합으로 세 유형을 구분한다</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649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21/2007</a:t>
            </a:r>
          </a:p>
        </p:txBody>
      </p:sp>
      <p:sp>
        <p:nvSpPr>
          <p:cNvPr id="9" name="Rounded Rectangle 8"/>
          <p:cNvSpPr/>
          <p:nvPr/>
        </p:nvSpPr>
        <p:spPr>
          <a:xfrm>
            <a:off x="1495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21/4803</a:t>
            </a:r>
          </a:p>
        </p:txBody>
      </p:sp>
      <p:sp>
        <p:nvSpPr>
          <p:cNvPr id="10" name="Rounded Rectangle 9"/>
          <p:cNvSpPr/>
          <p:nvPr/>
        </p:nvSpPr>
        <p:spPr>
          <a:xfrm>
            <a:off x="23412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21/76251</a:t>
            </a:r>
          </a:p>
        </p:txBody>
      </p:sp>
      <p:sp>
        <p:nvSpPr>
          <p:cNvPr id="11" name="Rounded Rectangle 10"/>
          <p:cNvSpPr/>
          <p:nvPr/>
        </p:nvSpPr>
        <p:spPr>
          <a:xfrm>
            <a:off x="32736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50214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21/185</a:t>
            </a:r>
          </a:p>
        </p:txBody>
      </p:sp>
      <p:sp>
        <p:nvSpPr>
          <p:cNvPr id="19" name="Rounded Rectangle 18"/>
          <p:cNvSpPr/>
          <p:nvPr/>
        </p:nvSpPr>
        <p:spPr>
          <a:xfrm>
            <a:off x="57810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21/187</a:t>
            </a:r>
          </a:p>
        </p:txBody>
      </p:sp>
      <p:sp>
        <p:nvSpPr>
          <p:cNvPr id="20" name="Rounded Rectangle 19"/>
          <p:cNvSpPr/>
          <p:nvPr/>
        </p:nvSpPr>
        <p:spPr>
          <a:xfrm>
            <a:off x="6540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4612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24/00</a:t>
            </a:r>
          </a:p>
        </p:txBody>
      </p:sp>
      <p:sp>
        <p:nvSpPr>
          <p:cNvPr id="28" name="Rounded Rectangle 27"/>
          <p:cNvSpPr/>
          <p:nvPr/>
        </p:nvSpPr>
        <p:spPr>
          <a:xfrm>
            <a:off x="91344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sp>
        <p:nvSpPr>
          <p:cNvPr id="29" name="Rounded Rectangle 28"/>
          <p:cNvSpPr/>
          <p:nvPr/>
        </p:nvSpPr>
        <p:spPr>
          <a:xfrm>
            <a:off x="9807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24/08</a:t>
            </a:r>
          </a:p>
        </p:txBody>
      </p:sp>
      <p:sp>
        <p:nvSpPr>
          <p:cNvPr id="30" name="Rounded Rectangle 29"/>
          <p:cNvSpPr/>
          <p:nvPr/>
        </p:nvSpPr>
        <p:spPr>
          <a:xfrm>
            <a:off x="104808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 (H01L21–H01L24)</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공동분류 =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통제변수</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(US · CN · KR · TW · JP · EP · WO · 기타)</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보조 지표 (RQ3)</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Jaccard 계수(영역별 결합 강도) · 매개 중심성(연결 기호)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두 공정 단계를 함께 담은 통합형이 가장 많았다: 공정 단계 간 융합은 예외가 아니다</a:t>
            </a:r>
          </a:p>
        </p:txBody>
      </p:sp>
      <p:graphicFrame>
        <p:nvGraphicFramePr>
          <p:cNvPr id="4" name="Chart 3"/>
          <p:cNvGraphicFramePr>
            <a:graphicFrameLocks noGrp="1"/>
          </p:cNvGraphicFramePr>
          <p:nvPr/>
        </p:nvGraphicFramePr>
        <p:xfrm>
          <a:off x="612000" y="918000"/>
          <a:ext cx="4176000" cy="4680000"/>
        </p:xfrm>
        <a:graphic>
          <a:graphicData uri="http://schemas.openxmlformats.org/drawingml/2006/chart">
            <c:chart xmlns:c="http://schemas.openxmlformats.org/drawingml/2006/chart" r:id="rId3"/>
          </a:graphicData>
        </a:graphic>
      </p:graphicFrame>
      <p:sp>
        <p:nvSpPr>
          <p:cNvPr id="5" name="TextBox 4"/>
          <p:cNvSpPr txBox="1"/>
          <p:nvPr/>
        </p:nvSpPr>
        <p:spPr>
          <a:xfrm>
            <a:off x="612000" y="2718000"/>
            <a:ext cx="4176000" cy="1080000"/>
          </a:xfrm>
          <a:prstGeom prst="rect">
            <a:avLst/>
          </a:prstGeom>
          <a:noFill/>
        </p:spPr>
        <p:txBody>
          <a:bodyPr wrap="square" lIns="0" rIns="0" tIns="0" bIns="0" anchor="ctr">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N = 928</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a:t>
            </a:r>
          </a:p>
        </p:txBody>
      </p:sp>
      <p:sp>
        <p:nvSpPr>
          <p:cNvPr id="6" name="Rounded Rectangle 5"/>
          <p:cNvSpPr/>
          <p:nvPr/>
        </p:nvSpPr>
        <p:spPr>
          <a:xfrm>
            <a:off x="5004000" y="1566000"/>
            <a:ext cx="198000" cy="75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5328000" y="1512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통합형</a:t>
            </a:r>
          </a:p>
        </p:txBody>
      </p:sp>
      <p:sp>
        <p:nvSpPr>
          <p:cNvPr id="8" name="TextBox 7"/>
          <p:cNvSpPr txBox="1"/>
          <p:nvPr/>
        </p:nvSpPr>
        <p:spPr>
          <a:xfrm>
            <a:off x="5328000" y="1836000"/>
            <a:ext cx="2160000" cy="504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ltLang="en-US">
                <a:solidFill>
                  <a:srgbClr val="1E2532"/>
                </a:solidFill>
                <a:latin typeface="맑은 고딕"/>
                <a:ea typeface="맑은 고딕"/>
                <a:cs typeface="맑은 고딕"/>
              </a:rPr>
              <a:t>45.8%</a:t>
            </a:r>
            <a:r>
              <a:rPr sz="1300" b="0" i="0" lang="ko-KR" altLang="en-US">
                <a:solidFill>
                  <a:srgbClr val="5B6475"/>
                </a:solidFill>
                <a:latin typeface="맑은 고딕"/>
                <a:ea typeface="맑은 고딕"/>
                <a:cs typeface="맑은 고딕"/>
              </a:rPr>
              <a:t>  425건</a:t>
            </a:r>
          </a:p>
        </p:txBody>
      </p:sp>
      <p:sp>
        <p:nvSpPr>
          <p:cNvPr id="9" name="Rounded Rectangle 8"/>
          <p:cNvSpPr/>
          <p:nvPr/>
        </p:nvSpPr>
        <p:spPr>
          <a:xfrm>
            <a:off x="5004000" y="2718000"/>
            <a:ext cx="198000" cy="75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5328000" y="2664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5328000" y="2988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36.4%</a:t>
            </a:r>
            <a:r>
              <a:rPr sz="1300" b="0" i="0" lang="ko-KR" altLang="en-US">
                <a:solidFill>
                  <a:srgbClr val="5B6475"/>
                </a:solidFill>
                <a:latin typeface="맑은 고딕"/>
                <a:ea typeface="맑은 고딕"/>
                <a:cs typeface="맑은 고딕"/>
              </a:rPr>
              <a:t>  338건</a:t>
            </a:r>
          </a:p>
        </p:txBody>
      </p:sp>
      <p:sp>
        <p:nvSpPr>
          <p:cNvPr id="12" name="Rounded Rectangle 11"/>
          <p:cNvSpPr/>
          <p:nvPr/>
        </p:nvSpPr>
        <p:spPr>
          <a:xfrm>
            <a:off x="5004000" y="3870000"/>
            <a:ext cx="198000" cy="75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5328000" y="3816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5328000" y="4140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17.8%</a:t>
            </a:r>
            <a:r>
              <a:rPr sz="1300" b="0" i="0" lang="ko-KR" altLang="en-US">
                <a:solidFill>
                  <a:srgbClr val="5B6475"/>
                </a:solidFill>
                <a:latin typeface="맑은 고딕"/>
                <a:ea typeface="맑은 고딕"/>
                <a:cs typeface="맑은 고딕"/>
              </a:rPr>
              <a:t>  165건</a:t>
            </a:r>
          </a:p>
        </p:txBody>
      </p:sp>
      <p:sp>
        <p:nvSpPr>
          <p:cNvPr id="15" name="Rounded Rectangle 14"/>
          <p:cNvSpPr/>
          <p:nvPr/>
        </p:nvSpPr>
        <p:spPr>
          <a:xfrm>
            <a:off x="7524000" y="990000"/>
            <a:ext cx="412812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704000" y="1116000"/>
            <a:ext cx="376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17" name="TextBox 16"/>
          <p:cNvSpPr txBox="1"/>
          <p:nvPr/>
        </p:nvSpPr>
        <p:spPr>
          <a:xfrm>
            <a:off x="7704000" y="1422000"/>
            <a:ext cx="3768120" cy="68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8" name="Connector 17"/>
          <p:cNvCxnSpPr/>
          <p:nvPr/>
        </p:nvCxnSpPr>
        <p:spPr>
          <a:xfrm>
            <a:off x="7704000" y="2160000"/>
            <a:ext cx="3768120" cy="0"/>
          </a:xfrm>
          <a:prstGeom prst="line">
            <a:avLst/>
          </a:prstGeom>
          <a:ln w="12700">
            <a:solidFill>
              <a:srgbClr val="D5DBE3"/>
            </a:solidFill>
          </a:ln>
        </p:spPr>
      </p:cxnSp>
      <p:sp>
        <p:nvSpPr>
          <p:cNvPr id="19" name="TextBox 18"/>
          <p:cNvSpPr txBox="1"/>
          <p:nvPr/>
        </p:nvSpPr>
        <p:spPr>
          <a:xfrm>
            <a:off x="7704000" y="2232000"/>
            <a:ext cx="3768120" cy="2124000"/>
          </a:xfrm>
          <a:prstGeom prst="rect">
            <a:avLst/>
          </a:prstGeom>
          <a:noFill/>
        </p:spPr>
        <p:txBody>
          <a:bodyPr wrap="square" lIns="0" rIns="0" tIns="0" bIns="0" anchor="t">
            <a:noAutofit/>
          </a:bodyPr>
          <a:lstStyle/>
          <a:p>
            <a:pPr algn="l" marL="0" indent="0">
              <a:lnSpc>
                <a:spcPts val="1920"/>
              </a:lnSpc>
              <a:spcBef>
                <a:spcPts val="0"/>
              </a:spcBef>
              <a:spcAft>
                <a:spcPts val="800"/>
              </a:spcAft>
              <a:buNone/>
            </a:pPr>
            <a:r>
              <a:rPr sz="1600" b="1" i="0" lang="ko-KR" altLang="en-US">
                <a:solidFill>
                  <a:srgbClr val="13294B"/>
                </a:solidFill>
                <a:latin typeface="맑은 고딕"/>
                <a:ea typeface="맑은 고딕"/>
                <a:cs typeface="맑은 고딕"/>
              </a:rPr>
              <a:t>통합형 45.8% — 가장 큰 비중</a:t>
            </a:r>
          </a:p>
          <a:p>
            <a:pPr algn="l" marL="180000" indent="-180000">
              <a:lnSpc>
                <a:spcPts val="1620"/>
              </a:lnSpc>
              <a:spcBef>
                <a:spcPts val="0"/>
              </a:spcBef>
              <a:spcAft>
                <a:spcPts val="500"/>
              </a:spcAft>
              <a:buClr>
                <a:srgbClr val="13294B"/>
              </a:buClr>
              <a:buSzPct val="70000"/>
              <a:buFont typeface="Arial"/>
              <a:buChar char="■"/>
            </a:pPr>
            <a:r>
              <a:rPr sz="1350" b="1" i="0" lang="ko-KR" altLang="en-US">
                <a:solidFill>
                  <a:srgbClr val="1E2532"/>
                </a:solidFill>
                <a:latin typeface="맑은 고딕"/>
                <a:ea typeface="맑은 고딕"/>
                <a:cs typeface="맑은 고딕"/>
              </a:rPr>
              <a:t>좁은 정의(패키징 단계 공정 제외)에서도 37.2%</a:t>
            </a:r>
          </a:p>
          <a:p>
            <a:pPr algn="l" marL="180000" indent="-180000">
              <a:lnSpc>
                <a:spcPts val="1620"/>
              </a:lnSpc>
              <a:spcBef>
                <a:spcPts val="0"/>
              </a:spcBef>
              <a:spcAft>
                <a:spcPts val="500"/>
              </a:spcAft>
              <a:buClr>
                <a:srgbClr val="13294B"/>
              </a:buClr>
              <a:buSzPct val="70000"/>
              <a:buFont typeface="Arial"/>
              <a:buChar char="■"/>
            </a:pPr>
            <a:r>
              <a:rPr sz="1350" b="0" i="0" lang="ko-KR" altLang="en-US">
                <a:solidFill>
                  <a:srgbClr val="1E2532"/>
                </a:solidFill>
                <a:latin typeface="맑은 고딕"/>
                <a:ea typeface="맑은 고딕"/>
                <a:cs typeface="맑은 고딕"/>
              </a:rPr>
              <a:t>제조공정 기호 보유 출원 590건 (63.6%)</a:t>
            </a:r>
          </a:p>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 공정 단계 간 융합은 예외가 아님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형태: 기술범위와 통합형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1764000"/>
        </p:xfrm>
        <a:graphic>
          <a:graphicData uri="http://schemas.openxmlformats.org/drawingml/2006/table">
            <a:tbl>
              <a:tblPr firstRow="1">
                <a:tableStyleId>{2D5ABB26-0587-4C30-8999-92F81FD0307C}</a:tableStyleId>
              </a:tblPr>
              <a:tblGrid>
                <a:gridCol w="990000"/>
                <a:gridCol w="2454120"/>
                <a:gridCol w="1440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모형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관계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rowSpan="2">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다항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RRR 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vMerge="1">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RRR 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이항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OR 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예측확률</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통합형: 범위 3 →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0.26 → 0.68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6" name="TextBox 5"/>
          <p:cNvSpPr txBox="1"/>
          <p:nvPr/>
        </p:nvSpPr>
        <p:spPr>
          <a:xfrm>
            <a:off x="6768000" y="279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 p &lt; 0.01, ** p &lt; 0.05 · 다항 로짓 기준 범주 = 접합 단독형 · 출원청 통제</a:t>
            </a:r>
          </a:p>
        </p:txBody>
      </p:sp>
      <p:sp>
        <p:nvSpPr>
          <p:cNvPr id="7" name="Rounded Rectangle 6"/>
          <p:cNvSpPr/>
          <p:nvPr/>
        </p:nvSpPr>
        <p:spPr>
          <a:xfrm>
            <a:off x="6768000" y="3078000"/>
            <a:ext cx="4884120" cy="282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20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9" name="TextBox 8"/>
          <p:cNvSpPr txBox="1"/>
          <p:nvPr/>
        </p:nvSpPr>
        <p:spPr>
          <a:xfrm>
            <a:off x="6948000" y="351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0" name="Connector 9"/>
          <p:cNvCxnSpPr/>
          <p:nvPr/>
        </p:nvCxnSpPr>
        <p:spPr>
          <a:xfrm>
            <a:off x="6948000" y="4140000"/>
            <a:ext cx="4524120" cy="0"/>
          </a:xfrm>
          <a:prstGeom prst="line">
            <a:avLst/>
          </a:prstGeom>
          <a:ln w="12700">
            <a:solidFill>
              <a:srgbClr val="D5DBE3"/>
            </a:solidFill>
          </a:ln>
        </p:spPr>
      </p:cxnSp>
      <p:sp>
        <p:nvSpPr>
          <p:cNvPr id="11" name="TextBox 10"/>
          <p:cNvSpPr txBox="1"/>
          <p:nvPr/>
        </p:nvSpPr>
        <p:spPr>
          <a:xfrm>
            <a:off x="6948000" y="4212000"/>
            <a:ext cx="4524120" cy="1602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세부 분류 1개 증가 → 통합형 상대위험 +40%</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정의상 최소 기호 수 차이를 뺀 지표로도 RRR 1.262 (방향 유지)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Rounded Rectangle 19"/>
          <p:cNvSpPr/>
          <p:nvPr/>
        </p:nvSpPr>
        <p:spPr>
          <a:xfrm>
            <a:off x="7092000" y="4842000"/>
            <a:ext cx="4560120" cy="1116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21" name="TextBox 20"/>
          <p:cNvSpPr txBox="1"/>
          <p:nvPr/>
        </p:nvSpPr>
        <p:spPr>
          <a:xfrm>
            <a:off x="7254000" y="4860000"/>
            <a:ext cx="4236120" cy="1080000"/>
          </a:xfrm>
          <a:prstGeom prst="rect">
            <a:avLst/>
          </a:prstGeom>
          <a:noFill/>
        </p:spPr>
        <p:txBody>
          <a:bodyPr wrap="square" lIns="0" rIns="0" tIns="0" bIns="0" anchor="ctr">
            <a:noAutofit/>
          </a:bodyPr>
          <a:lstStyle/>
          <a:p>
            <a:pPr algn="l" marL="0" indent="0">
              <a:lnSpc>
                <a:spcPts val="1620"/>
              </a:lnSpc>
              <a:spcBef>
                <a:spcPts val="0"/>
              </a:spcBef>
              <a:spcAft>
                <a:spcPts val="400"/>
              </a:spcAft>
              <a:buNone/>
            </a:pPr>
            <a:r>
              <a:rPr sz="1350" b="1" i="0" lang="ko-KR" altLang="en-US">
                <a:solidFill>
                  <a:srgbClr val="13294B"/>
                </a:solidFill>
                <a:latin typeface="맑은 고딕"/>
                <a:ea typeface="맑은 고딕"/>
                <a:cs typeface="맑은 고딕"/>
              </a:rPr>
              <a:t>출원연도 → 공정 단독형 RRR 0.913*** (연 8.7% 감소)</a:t>
            </a:r>
          </a:p>
          <a:p>
            <a:pPr algn="l" marL="0" indent="0">
              <a:lnSpc>
                <a:spcPts val="1440"/>
              </a:lnSpc>
              <a:spcBef>
                <a:spcPts val="0"/>
              </a:spcBef>
              <a:spcAft>
                <a:spcPts val="300"/>
              </a:spcAft>
              <a:buNone/>
            </a:pPr>
            <a:r>
              <a:rPr sz="1200" b="0" i="0" lang="ko-KR" altLang="en-US">
                <a:solidFill>
                  <a:srgbClr val="1E2532"/>
                </a:solidFill>
                <a:latin typeface="맑은 고딕"/>
                <a:ea typeface="맑은 고딕"/>
                <a:cs typeface="맑은 고딕"/>
              </a:rPr>
              <a:t>예측확률 2010 → 2022: 공정 단독형 0.27 → 0.12, 접합 단독형 0.31 → 0.40</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 &lt; 이후 5년간 209건 → 하나로 묶음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형성기: 전공정 지식의 축적</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형성기: 핵심 기술을 발명하려면 제조공정 지식을 함께 다루어야 했다</a:t>
            </a:r>
          </a:p>
        </p:txBody>
      </p:sp>
      <p:sp>
        <p:nvSpPr>
          <p:cNvPr id="4" name="Pentagon 3"/>
          <p:cNvSpPr/>
          <p:nvPr/>
        </p:nvSpPr>
        <p:spPr>
          <a:xfrm>
            <a:off x="540000" y="900000"/>
            <a:ext cx="3776040" cy="432000"/>
          </a:xfrm>
          <a:prstGeom prst="homePlate">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1  형성기</a:t>
            </a:r>
            <a:r>
              <a:rPr sz="1200" b="0" i="0" lang="ko-KR" altLang="en-US">
                <a:solidFill>
                  <a:srgbClr val="FFFFFF"/>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179</a:t>
            </a:r>
          </a:p>
        </p:txBody>
      </p:sp>
      <p:sp>
        <p:nvSpPr>
          <p:cNvPr id="8" name="Rectangle 7"/>
          <p:cNvSpPr/>
          <p:nvPr/>
        </p:nvSpPr>
        <p:spPr>
          <a:xfrm>
            <a:off x="540000" y="1800000"/>
            <a:ext cx="2762496"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43.6%</a:t>
            </a:r>
          </a:p>
        </p:txBody>
      </p:sp>
      <p:sp>
        <p:nvSpPr>
          <p:cNvPr id="9" name="Rectangle 8"/>
          <p:cNvSpPr/>
          <p:nvPr/>
        </p:nvSpPr>
        <p:spPr>
          <a:xfrm>
            <a:off x="3302496" y="1800000"/>
            <a:ext cx="1983168"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31.3%</a:t>
            </a:r>
          </a:p>
        </p:txBody>
      </p:sp>
      <p:sp>
        <p:nvSpPr>
          <p:cNvPr id="10" name="Rectangle 9"/>
          <p:cNvSpPr/>
          <p:nvPr/>
        </p:nvSpPr>
        <p:spPr>
          <a:xfrm>
            <a:off x="5285664" y="1800000"/>
            <a:ext cx="1590336"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25.1%</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공정 단독형 43.6%로 최다</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직접 접합을 가능하게 하는 제조공정 발명이 단독으로 출원</a:t>
            </a:r>
          </a:p>
        </p:txBody>
      </p:sp>
      <p:sp>
        <p:nvSpPr>
          <p:cNvPr id="21" name="Rounded Rectangle 20"/>
          <p:cNvSpPr/>
          <p:nvPr/>
        </p:nvSpPr>
        <p:spPr>
          <a:xfrm>
            <a:off x="3798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핵심 기술 보유 접합 출원의 79.6%가 통합형</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핵심 기술이 없는 접합 출원은 27.7%</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53.6%)</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2563C9"/>
                </a:solidFill>
                <a:latin typeface="맑은 고딕"/>
                <a:ea typeface="맑은 고딕"/>
                <a:cs typeface="맑은 고딕"/>
              </a:rPr>
              <a:t>지식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47년간 179건: 이후 5년간 209건보다 적어 하나의 시기로 묶음</a:t>
            </a:r>
          </a:p>
        </p:txBody>
      </p:sp>
      <p:sp>
        <p:nvSpPr>
          <p:cNvPr id="27" name="Rectangle 26"/>
          <p:cNvSpPr/>
          <p:nvPr/>
        </p:nvSpPr>
        <p:spPr>
          <a:xfrm>
            <a:off x="7164000" y="1512000"/>
            <a:ext cx="4488120" cy="4338000"/>
          </a:xfrm>
          <a:prstGeom prst="rect">
            <a:avLst/>
          </a:prstGeom>
          <a:solidFill>
            <a:srgbClr val="FFFFFF"/>
          </a:solidFill>
          <a:ln w="38100">
            <a:solidFill>
              <a:srgbClr val="2563C9"/>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2563C9"/>
                </a:solidFill>
                <a:latin typeface="맑은 고딕"/>
                <a:ea typeface="맑은 고딕"/>
                <a:cs typeface="맑은 고딕"/>
              </a:rPr>
              <a:t>11.07</a:t>
            </a:r>
            <a:r>
              <a:rPr sz="2600" b="1" i="0" lang="ko-KR" altLang="en-US">
                <a:solidFill>
                  <a:srgbClr val="2563C9"/>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4.211–29.107 · p &lt; 0.01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인터페이스가 확정되기 전</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직접 접합 패드를 발명하려면 평탄화 · 웨이퍼 접합 같은 제조공정 지식을 함께 다루어야 했던 시기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확산기: 두 지식의 결합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확산기: 두 공정의 지식이 하나의 발명 안에서 가장 활발히 결합되었다</a:t>
            </a:r>
          </a:p>
        </p:txBody>
      </p:sp>
      <p:sp>
        <p:nvSpPr>
          <p:cNvPr id="4" name="Pentagon 3"/>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7C3AED"/>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2  확산기</a:t>
            </a:r>
            <a:r>
              <a:rPr sz="1200" b="0" i="0" lang="ko-KR" altLang="en-US">
                <a:solidFill>
                  <a:srgbClr val="FFFFFF"/>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209</a:t>
            </a:r>
          </a:p>
        </p:txBody>
      </p:sp>
      <p:sp>
        <p:nvSpPr>
          <p:cNvPr id="8" name="Rectangle 7"/>
          <p:cNvSpPr/>
          <p:nvPr/>
        </p:nvSpPr>
        <p:spPr>
          <a:xfrm>
            <a:off x="540000" y="1800000"/>
            <a:ext cx="937728"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14.8%</a:t>
            </a:r>
          </a:p>
        </p:txBody>
      </p:sp>
      <p:sp>
        <p:nvSpPr>
          <p:cNvPr id="9" name="Rectangle 8"/>
          <p:cNvSpPr/>
          <p:nvPr/>
        </p:nvSpPr>
        <p:spPr>
          <a:xfrm>
            <a:off x="1477728" y="1800000"/>
            <a:ext cx="3940992"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62.2%</a:t>
            </a:r>
          </a:p>
        </p:txBody>
      </p:sp>
      <p:sp>
        <p:nvSpPr>
          <p:cNvPr id="10" name="Rectangle 9"/>
          <p:cNvSpPr/>
          <p:nvPr/>
        </p:nvSpPr>
        <p:spPr>
          <a:xfrm>
            <a:off x="5418720" y="1800000"/>
            <a:ext cx="1457280"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23.0%</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통합형 62.2%로 정점</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두 공정의 기술을 하나의 발명에 함께 담은 출원이 가장 많음</a:t>
            </a:r>
          </a:p>
        </p:txBody>
      </p:sp>
      <p:sp>
        <p:nvSpPr>
          <p:cNvPr id="21" name="Rounded Rectangle 20"/>
          <p:cNvSpPr/>
          <p:nvPr/>
        </p:nvSpPr>
        <p:spPr>
          <a:xfrm>
            <a:off x="3798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웨이퍼 제조공정과의 결합 최고</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접합 기호와의 Jaccard 계수 0.598 · 함께 부여: 21/187 반도체 몸체끼리의 접합</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42.5%)</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7C3AED"/>
                </a:solidFill>
                <a:latin typeface="맑은 고딕"/>
                <a:ea typeface="맑은 고딕"/>
                <a:cs typeface="맑은 고딕"/>
              </a:rPr>
              <a:t>기술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확산기의 승산비는 군집 표준오차 · 무관 용법 제외 표본에서 유의성을 잃음</a:t>
            </a:r>
          </a:p>
        </p:txBody>
      </p:sp>
      <p:sp>
        <p:nvSpPr>
          <p:cNvPr id="27" name="Rectangle 26"/>
          <p:cNvSpPr/>
          <p:nvPr/>
        </p:nvSpPr>
        <p:spPr>
          <a:xfrm>
            <a:off x="7164000" y="1512000"/>
            <a:ext cx="4488120" cy="4338000"/>
          </a:xfrm>
          <a:prstGeom prst="rect">
            <a:avLst/>
          </a:prstGeom>
          <a:solidFill>
            <a:srgbClr val="FFFFFF"/>
          </a:solidFill>
          <a:ln w="38100">
            <a:solidFill>
              <a:srgbClr val="7C3AED"/>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7C3AED"/>
                </a:solidFill>
                <a:latin typeface="맑은 고딕"/>
                <a:ea typeface="맑은 고딕"/>
                <a:cs typeface="맑은 고딕"/>
              </a:rPr>
              <a:t>2.45</a:t>
            </a:r>
            <a:r>
              <a:rPr sz="2600" b="1" i="0" lang="ko-KR" altLang="en-US">
                <a:solidFill>
                  <a:srgbClr val="7C3AED"/>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1.158–5.194 · p &lt; 0.05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우위는 줄었지만 유지</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접합 출원 중 핵심 기술 비중 53.5% → 78.7%: 핵심 설계로 수렴하는 중</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재편기: 융합이 줄어든 역설</a:t>
            </a:r>
          </a:p>
        </p:txBody>
      </p:sp>
      <p:sp>
        <p:nvSpPr>
          <p:cNvPr id="3" name="Pentagon 2"/>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4" name="Chevron 3"/>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5" name="Chevron 4"/>
          <p:cNvSpPr/>
          <p:nvPr/>
        </p:nvSpPr>
        <p:spPr>
          <a:xfrm>
            <a:off x="7984080" y="900000"/>
            <a:ext cx="3776040" cy="432000"/>
          </a:xfrm>
          <a:prstGeom prst="chevron">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3  재편기</a:t>
            </a:r>
            <a:r>
              <a:rPr sz="1200" b="0" i="0" lang="ko-KR" altLang="en-US">
                <a:solidFill>
                  <a:srgbClr val="FFFFFF"/>
                </a:solidFill>
                <a:latin typeface="맑은 고딕"/>
                <a:ea typeface="맑은 고딕"/>
                <a:cs typeface="맑은 고딕"/>
              </a:rPr>
              <a:t>   2020–2024</a:t>
            </a:r>
          </a:p>
        </p:txBody>
      </p:sp>
      <p:graphicFrame>
        <p:nvGraphicFramePr>
          <p:cNvPr id="6" name="Chart 5"/>
          <p:cNvGraphicFramePr>
            <a:graphicFrameLocks noGrp="1"/>
          </p:cNvGraphicFramePr>
          <p:nvPr/>
        </p:nvGraphicFramePr>
        <p:xfrm>
          <a:off x="540000" y="1440000"/>
          <a:ext cx="6336000" cy="3240000"/>
        </p:xfrm>
        <a:graphic>
          <a:graphicData uri="http://schemas.openxmlformats.org/drawingml/2006/chart">
            <c:chart xmlns:c="http://schemas.openxmlformats.org/drawingml/2006/chart" r:id="rId3"/>
          </a:graphicData>
        </a:graphic>
      </p:graphicFrame>
      <p:sp>
        <p:nvSpPr>
          <p:cNvPr id="7" name="Rounded Rectangle 6"/>
          <p:cNvSpPr/>
          <p:nvPr/>
        </p:nvSpPr>
        <p:spPr>
          <a:xfrm>
            <a:off x="7164000" y="1476000"/>
            <a:ext cx="4488120" cy="97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8" name="TextBox 7"/>
          <p:cNvSpPr txBox="1"/>
          <p:nvPr/>
        </p:nvSpPr>
        <p:spPr>
          <a:xfrm>
            <a:off x="7344000" y="153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 45.4% ≈ 통합형 44.3%</a:t>
            </a:r>
          </a:p>
        </p:txBody>
      </p:sp>
      <p:sp>
        <p:nvSpPr>
          <p:cNvPr id="9" name="TextBox 8"/>
          <p:cNvSpPr txBox="1"/>
          <p:nvPr/>
        </p:nvSpPr>
        <p:spPr>
          <a:xfrm>
            <a:off x="7344000" y="192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통합형은 정점에서 내려오고 접합 단독형이 늘어남</a:t>
            </a:r>
          </a:p>
        </p:txBody>
      </p:sp>
      <p:sp>
        <p:nvSpPr>
          <p:cNvPr id="10" name="Rounded Rectangle 9"/>
          <p:cNvSpPr/>
          <p:nvPr/>
        </p:nvSpPr>
        <p:spPr>
          <a:xfrm>
            <a:off x="7164000" y="2556000"/>
            <a:ext cx="4488120" cy="97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344000" y="261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핵심 기술의 승산비 0.66 (비유의)</a:t>
            </a:r>
          </a:p>
        </p:txBody>
      </p:sp>
      <p:sp>
        <p:nvSpPr>
          <p:cNvPr id="12" name="TextBox 11"/>
          <p:cNvSpPr txBox="1"/>
          <p:nvPr/>
        </p:nvSpPr>
        <p:spPr>
          <a:xfrm>
            <a:off x="7344000" y="300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95% CI 0.374–1.160: 핵심 기술의 "경계 넘기" 우위가 확인되지 않음</a:t>
            </a:r>
          </a:p>
        </p:txBody>
      </p:sp>
      <p:sp>
        <p:nvSpPr>
          <p:cNvPr id="13" name="Rounded Rectangle 12"/>
          <p:cNvSpPr/>
          <p:nvPr/>
        </p:nvSpPr>
        <p:spPr>
          <a:xfrm>
            <a:off x="7164000" y="3636000"/>
            <a:ext cx="4488120" cy="972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7344000" y="369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중 핵심 기술 비중 88.0%</a:t>
            </a:r>
          </a:p>
        </p:txBody>
      </p:sp>
      <p:sp>
        <p:nvSpPr>
          <p:cNvPr id="15" name="TextBox 14"/>
          <p:cNvSpPr txBox="1"/>
          <p:nvPr/>
        </p:nvSpPr>
        <p:spPr>
          <a:xfrm>
            <a:off x="7344000" y="408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출원 540건으로 가장 많은 시기 · 발명이 하나의 핵심 설계로 수렴</a:t>
            </a:r>
          </a:p>
        </p:txBody>
      </p:sp>
      <p:sp>
        <p:nvSpPr>
          <p:cNvPr id="16" name="Rounded Rectangle 15"/>
          <p:cNvSpPr/>
          <p:nvPr/>
        </p:nvSpPr>
        <p:spPr>
          <a:xfrm>
            <a:off x="540000" y="4842000"/>
            <a:ext cx="11112120" cy="108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17" name="TextBox 16"/>
          <p:cNvSpPr txBox="1"/>
          <p:nvPr/>
        </p:nvSpPr>
        <p:spPr>
          <a:xfrm>
            <a:off x="900000" y="4842000"/>
            <a:ext cx="10392120" cy="1080000"/>
          </a:xfrm>
          <a:prstGeom prst="rect">
            <a:avLst/>
          </a:prstGeom>
          <a:noFill/>
        </p:spPr>
        <p:txBody>
          <a:bodyPr wrap="square" lIns="0" rIns="0" tIns="0" bIns="0" anchor="ctr">
            <a:noAutofit/>
          </a:bodyPr>
          <a:lstStyle/>
          <a:p>
            <a:pPr algn="ctr" marL="0" indent="0">
              <a:lnSpc>
                <a:spcPts val="2640"/>
              </a:lnSpc>
              <a:spcBef>
                <a:spcPts val="0"/>
              </a:spcBef>
              <a:spcAft>
                <a:spcPts val="0"/>
              </a:spcAft>
              <a:buNone/>
            </a:pPr>
            <a:r>
              <a:rPr sz="2200" b="1" i="0" lang="ko-KR" altLang="en-US">
                <a:solidFill>
                  <a:srgbClr val="FFFFFF"/>
                </a:solidFill>
                <a:latin typeface="맑은 고딕"/>
                <a:ea typeface="맑은 고딕"/>
                <a:cs typeface="맑은 고딕"/>
              </a:rPr>
              <a:t>출원이 가장 많아진 시기에, 왜 경계를 넘는 발명의 비중은 줄고</a:t>
            </a:r>
          </a:p>
          <a:p>
            <a:pPr algn="ctr" marL="0" indent="0">
              <a:lnSpc>
                <a:spcPts val="2640"/>
              </a:lnSpc>
              <a:spcBef>
                <a:spcPts val="0"/>
              </a:spcBef>
              <a:spcAft>
                <a:spcPts val="0"/>
              </a:spcAft>
              <a:buNone/>
            </a:pPr>
            <a:r>
              <a:rPr sz="2200" b="1" i="0" lang="ko-KR" altLang="en-US">
                <a:solidFill>
                  <a:srgbClr val="D4A72C"/>
                </a:solidFill>
                <a:latin typeface="맑은 고딕"/>
                <a:ea typeface="맑은 고딕"/>
                <a:cs typeface="맑은 고딕"/>
              </a:rPr>
              <a:t>접합 발명은 다시 단독으로 출원되기 시작했을까?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해석: 지배적 설계의 고착화와 인터페이스 안정화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설계가 고착화되자, 발명은 경계 반대편의 지식을 매번 함께 다룰 필요가 줄었다</a:t>
            </a:r>
          </a:p>
        </p:txBody>
      </p:sp>
      <p:sp>
        <p:nvSpPr>
          <p:cNvPr id="4" name="Rounded Rectangle 3"/>
          <p:cNvSpPr/>
          <p:nvPr/>
        </p:nvSpPr>
        <p:spPr>
          <a:xfrm>
            <a:off x="540000" y="936000"/>
            <a:ext cx="11112120" cy="504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 name="TextBox 4"/>
          <p:cNvSpPr txBox="1"/>
          <p:nvPr/>
        </p:nvSpPr>
        <p:spPr>
          <a:xfrm>
            <a:off x="828000" y="936000"/>
            <a:ext cx="10536120" cy="50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재편기: 출원이 가장 많아진 시기에 왜 통합형의 비중은 줄고 접합 단독형이 늘었을까?</a:t>
            </a:r>
          </a:p>
        </p:txBody>
      </p:sp>
      <p:sp>
        <p:nvSpPr>
          <p:cNvPr id="6" name="Rounded Rectangle 5"/>
          <p:cNvSpPr/>
          <p:nvPr/>
        </p:nvSpPr>
        <p:spPr>
          <a:xfrm>
            <a:off x="540000" y="1548000"/>
            <a:ext cx="5160060" cy="270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7" name="TextBox 6"/>
          <p:cNvSpPr txBox="1"/>
          <p:nvPr/>
        </p:nvSpPr>
        <p:spPr>
          <a:xfrm>
            <a:off x="75600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2563C9"/>
                </a:solidFill>
                <a:latin typeface="맑은 고딕"/>
                <a:ea typeface="맑은 고딕"/>
                <a:cs typeface="맑은 고딕"/>
              </a:rPr>
              <a:t>인터페이스 불안정기</a:t>
            </a:r>
          </a:p>
        </p:txBody>
      </p:sp>
      <p:sp>
        <p:nvSpPr>
          <p:cNvPr id="8" name="TextBox 7"/>
          <p:cNvSpPr txBox="1"/>
          <p:nvPr/>
        </p:nvSpPr>
        <p:spPr>
          <a:xfrm>
            <a:off x="75600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형성기 · 확산기  (격동기)</a:t>
            </a:r>
          </a:p>
        </p:txBody>
      </p:sp>
      <p:sp>
        <p:nvSpPr>
          <p:cNvPr id="9" name="Rectangle 8"/>
          <p:cNvSpPr/>
          <p:nvPr/>
        </p:nvSpPr>
        <p:spPr>
          <a:xfrm>
            <a:off x="756000" y="2304000"/>
            <a:ext cx="864000" cy="16560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1908000" y="2304000"/>
            <a:ext cx="864000" cy="1656000"/>
          </a:xfrm>
          <a:prstGeom prst="rect">
            <a:avLst/>
          </a:prstGeom>
          <a:solidFill>
            <a:srgbClr val="2563C9"/>
          </a:solidFill>
          <a:ln>
            <a:noFill/>
          </a:ln>
        </p:spPr>
        <p:txBody>
          <a:bodyPr rtlCol="0" anchor="ctr" lIns="36000" rIns="36000" tIns="36000" bIns="36000"/>
          <a:lstStyle/>
          <a:p>
            <a:pPr algn="ctr"/>
          </a:p>
        </p:txBody>
      </p:sp>
      <p:sp>
        <p:nvSpPr>
          <p:cNvPr id="11" name="TextBox 10"/>
          <p:cNvSpPr txBox="1"/>
          <p:nvPr/>
        </p:nvSpPr>
        <p:spPr>
          <a:xfrm>
            <a:off x="756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12" name="TextBox 11"/>
          <p:cNvSpPr txBox="1"/>
          <p:nvPr/>
        </p:nvSpPr>
        <p:spPr>
          <a:xfrm>
            <a:off x="1908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13" name="Connector 12"/>
          <p:cNvCxnSpPr/>
          <p:nvPr/>
        </p:nvCxnSpPr>
        <p:spPr>
          <a:xfrm>
            <a:off x="1620000" y="2484000"/>
            <a:ext cx="288000" cy="648000"/>
          </a:xfrm>
          <a:prstGeom prst="line">
            <a:avLst/>
          </a:prstGeom>
          <a:ln w="25400">
            <a:solidFill>
              <a:srgbClr val="7C3AED"/>
            </a:solidFill>
          </a:ln>
        </p:spPr>
      </p:cxnSp>
      <p:cxnSp>
        <p:nvCxnSpPr>
          <p:cNvPr id="14" name="Connector 13"/>
          <p:cNvCxnSpPr/>
          <p:nvPr/>
        </p:nvCxnSpPr>
        <p:spPr>
          <a:xfrm flipV="1">
            <a:off x="1620000" y="2484000"/>
            <a:ext cx="288000" cy="324000"/>
          </a:xfrm>
          <a:prstGeom prst="line">
            <a:avLst/>
          </a:prstGeom>
          <a:ln w="25400">
            <a:solidFill>
              <a:srgbClr val="5B6475"/>
            </a:solidFill>
          </a:ln>
        </p:spPr>
      </p:cxnSp>
      <p:cxnSp>
        <p:nvCxnSpPr>
          <p:cNvPr id="15" name="Connector 14"/>
          <p:cNvCxnSpPr/>
          <p:nvPr/>
        </p:nvCxnSpPr>
        <p:spPr>
          <a:xfrm>
            <a:off x="1620000" y="3132000"/>
            <a:ext cx="288000" cy="324000"/>
          </a:xfrm>
          <a:prstGeom prst="line">
            <a:avLst/>
          </a:prstGeom>
          <a:ln w="25400">
            <a:solidFill>
              <a:srgbClr val="EA7A28"/>
            </a:solidFill>
          </a:ln>
        </p:spPr>
      </p:cxnSp>
      <p:cxnSp>
        <p:nvCxnSpPr>
          <p:cNvPr id="16" name="Connector 15"/>
          <p:cNvCxnSpPr/>
          <p:nvPr/>
        </p:nvCxnSpPr>
        <p:spPr>
          <a:xfrm flipV="1">
            <a:off x="1620000" y="2808000"/>
            <a:ext cx="288000" cy="648000"/>
          </a:xfrm>
          <a:prstGeom prst="line">
            <a:avLst/>
          </a:prstGeom>
          <a:ln w="25400">
            <a:solidFill>
              <a:srgbClr val="2563C9"/>
            </a:solidFill>
          </a:ln>
        </p:spPr>
      </p:cxnSp>
      <p:cxnSp>
        <p:nvCxnSpPr>
          <p:cNvPr id="17" name="Connector 16"/>
          <p:cNvCxnSpPr/>
          <p:nvPr/>
        </p:nvCxnSpPr>
        <p:spPr>
          <a:xfrm>
            <a:off x="1620000" y="3780000"/>
            <a:ext cx="288000" cy="0"/>
          </a:xfrm>
          <a:prstGeom prst="line">
            <a:avLst/>
          </a:prstGeom>
          <a:ln w="25400">
            <a:solidFill>
              <a:srgbClr val="9AA6B8"/>
            </a:solidFill>
          </a:ln>
        </p:spPr>
      </p:cxnSp>
      <p:sp>
        <p:nvSpPr>
          <p:cNvPr id="18" name="TextBox 17"/>
          <p:cNvSpPr txBox="1"/>
          <p:nvPr/>
        </p:nvSpPr>
        <p:spPr>
          <a:xfrm>
            <a:off x="291600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핵심 접합 패드를 발명할 때마다</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평탄화 · 표면 화학 · 웨이퍼 접합</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지식을 함께 다룸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통합형 · 핵심 기술의 우위</a:t>
            </a:r>
          </a:p>
        </p:txBody>
      </p:sp>
      <p:sp>
        <p:nvSpPr>
          <p:cNvPr id="19" name="Rounded Rectangle 18"/>
          <p:cNvSpPr/>
          <p:nvPr/>
        </p:nvSpPr>
        <p:spPr>
          <a:xfrm>
            <a:off x="6492060" y="1548000"/>
            <a:ext cx="5160060" cy="270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20" name="TextBox 19"/>
          <p:cNvSpPr txBox="1"/>
          <p:nvPr/>
        </p:nvSpPr>
        <p:spPr>
          <a:xfrm>
            <a:off x="670806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EA7A28"/>
                </a:solidFill>
                <a:latin typeface="맑은 고딕"/>
                <a:ea typeface="맑은 고딕"/>
                <a:cs typeface="맑은 고딕"/>
              </a:rPr>
              <a:t>지배적 설계의 고착화</a:t>
            </a:r>
          </a:p>
        </p:txBody>
      </p:sp>
      <p:sp>
        <p:nvSpPr>
          <p:cNvPr id="21" name="TextBox 20"/>
          <p:cNvSpPr txBox="1"/>
          <p:nvPr/>
        </p:nvSpPr>
        <p:spPr>
          <a:xfrm>
            <a:off x="670806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재편기  (점진적 변화)</a:t>
            </a:r>
          </a:p>
        </p:txBody>
      </p:sp>
      <p:sp>
        <p:nvSpPr>
          <p:cNvPr id="22" name="Rectangle 21"/>
          <p:cNvSpPr/>
          <p:nvPr/>
        </p:nvSpPr>
        <p:spPr>
          <a:xfrm>
            <a:off x="6708060" y="2304000"/>
            <a:ext cx="864000" cy="16560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860060" y="2304000"/>
            <a:ext cx="864000" cy="1656000"/>
          </a:xfrm>
          <a:prstGeom prst="rect">
            <a:avLst/>
          </a:prstGeom>
          <a:solidFill>
            <a:srgbClr val="2563C9"/>
          </a:solidFill>
          <a:ln>
            <a:noFill/>
          </a:ln>
        </p:spPr>
        <p:txBody>
          <a:bodyPr rtlCol="0" anchor="ctr" lIns="36000" rIns="36000" tIns="36000" bIns="36000"/>
          <a:lstStyle/>
          <a:p>
            <a:pPr algn="ctr"/>
          </a:p>
        </p:txBody>
      </p:sp>
      <p:sp>
        <p:nvSpPr>
          <p:cNvPr id="24" name="TextBox 23"/>
          <p:cNvSpPr txBox="1"/>
          <p:nvPr/>
        </p:nvSpPr>
        <p:spPr>
          <a:xfrm>
            <a:off x="6708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25" name="TextBox 24"/>
          <p:cNvSpPr txBox="1"/>
          <p:nvPr/>
        </p:nvSpPr>
        <p:spPr>
          <a:xfrm>
            <a:off x="7860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26" name="Connector 25"/>
          <p:cNvCxnSpPr/>
          <p:nvPr/>
        </p:nvCxnSpPr>
        <p:spPr>
          <a:xfrm>
            <a:off x="7572060" y="2484000"/>
            <a:ext cx="288000" cy="0"/>
          </a:xfrm>
          <a:prstGeom prst="line">
            <a:avLst/>
          </a:prstGeom>
          <a:ln w="38100">
            <a:solidFill>
              <a:srgbClr val="7C3AED"/>
            </a:solidFill>
          </a:ln>
        </p:spPr>
      </p:cxnSp>
      <p:cxnSp>
        <p:nvCxnSpPr>
          <p:cNvPr id="27" name="Connector 26"/>
          <p:cNvCxnSpPr/>
          <p:nvPr/>
        </p:nvCxnSpPr>
        <p:spPr>
          <a:xfrm>
            <a:off x="7572060" y="2808000"/>
            <a:ext cx="288000" cy="0"/>
          </a:xfrm>
          <a:prstGeom prst="line">
            <a:avLst/>
          </a:prstGeom>
          <a:ln w="38100">
            <a:solidFill>
              <a:srgbClr val="7C3AED"/>
            </a:solidFill>
          </a:ln>
        </p:spPr>
      </p:cxnSp>
      <p:cxnSp>
        <p:nvCxnSpPr>
          <p:cNvPr id="28" name="Connector 27"/>
          <p:cNvCxnSpPr/>
          <p:nvPr/>
        </p:nvCxnSpPr>
        <p:spPr>
          <a:xfrm>
            <a:off x="7572060" y="3132000"/>
            <a:ext cx="288000" cy="0"/>
          </a:xfrm>
          <a:prstGeom prst="line">
            <a:avLst/>
          </a:prstGeom>
          <a:ln w="38100">
            <a:solidFill>
              <a:srgbClr val="7C3AED"/>
            </a:solidFill>
          </a:ln>
        </p:spPr>
      </p:cxnSp>
      <p:cxnSp>
        <p:nvCxnSpPr>
          <p:cNvPr id="29" name="Connector 28"/>
          <p:cNvCxnSpPr/>
          <p:nvPr/>
        </p:nvCxnSpPr>
        <p:spPr>
          <a:xfrm>
            <a:off x="7572060" y="3456000"/>
            <a:ext cx="288000" cy="0"/>
          </a:xfrm>
          <a:prstGeom prst="line">
            <a:avLst/>
          </a:prstGeom>
          <a:ln w="38100">
            <a:solidFill>
              <a:srgbClr val="7C3AED"/>
            </a:solidFill>
          </a:ln>
        </p:spPr>
      </p:cxnSp>
      <p:cxnSp>
        <p:nvCxnSpPr>
          <p:cNvPr id="30" name="Connector 29"/>
          <p:cNvCxnSpPr/>
          <p:nvPr/>
        </p:nvCxnSpPr>
        <p:spPr>
          <a:xfrm>
            <a:off x="7572060" y="3780000"/>
            <a:ext cx="288000" cy="0"/>
          </a:xfrm>
          <a:prstGeom prst="line">
            <a:avLst/>
          </a:prstGeom>
          <a:ln w="38100">
            <a:solidFill>
              <a:srgbClr val="7C3AED"/>
            </a:solidFill>
          </a:ln>
        </p:spPr>
      </p:cxnSp>
      <p:sp>
        <p:nvSpPr>
          <p:cNvPr id="31" name="TextBox 30"/>
          <p:cNvSpPr txBox="1"/>
          <p:nvPr/>
        </p:nvSpPr>
        <p:spPr>
          <a:xfrm>
            <a:off x="886806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직접 접합의 원리가</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"주어진 조건"이 됨</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핵심 기술의 우위 소멸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새로운 결합은 주변 공정에서</a:t>
            </a:r>
          </a:p>
        </p:txBody>
      </p:sp>
      <p:sp>
        <p:nvSpPr>
          <p:cNvPr id="32" name="Right Arrow 31"/>
          <p:cNvSpPr/>
          <p:nvPr/>
        </p:nvSpPr>
        <p:spPr>
          <a:xfrm>
            <a:off x="5826060" y="2628000"/>
            <a:ext cx="540000" cy="540000"/>
          </a:xfrm>
          <a:prstGeom prst="rightArrow">
            <a:avLst/>
          </a:prstGeom>
          <a:solidFill>
            <a:srgbClr val="13294B"/>
          </a:solidFill>
          <a:ln>
            <a:noFill/>
          </a:ln>
        </p:spPr>
        <p:txBody>
          <a:bodyPr rtlCol="0" anchor="ctr" lIns="36000" rIns="36000" tIns="36000" bIns="36000"/>
          <a:lstStyle/>
          <a:p>
            <a:pPr algn="ctr"/>
          </a:p>
        </p:txBody>
      </p:sp>
      <p:cxnSp>
        <p:nvCxnSpPr>
          <p:cNvPr id="33" name="Connector 32"/>
          <p:cNvCxnSpPr/>
          <p:nvPr/>
        </p:nvCxnSpPr>
        <p:spPr>
          <a:xfrm>
            <a:off x="540000" y="4446000"/>
            <a:ext cx="11112120" cy="0"/>
          </a:xfrm>
          <a:prstGeom prst="line">
            <a:avLst/>
          </a:prstGeom>
          <a:ln w="25400">
            <a:solidFill>
              <a:srgbClr val="9AA3B2"/>
            </a:solidFill>
            <a:tailEnd type="triangle" w="med" len="med"/>
          </a:ln>
        </p:spPr>
      </p:cxnSp>
      <p:sp>
        <p:nvSpPr>
          <p:cNvPr id="34" name="Oval 33"/>
          <p:cNvSpPr/>
          <p:nvPr/>
        </p:nvSpPr>
        <p:spPr>
          <a:xfrm>
            <a:off x="2330820" y="4384800"/>
            <a:ext cx="122400" cy="122400"/>
          </a:xfrm>
          <a:prstGeom prst="ellipse">
            <a:avLst/>
          </a:prstGeom>
          <a:solidFill>
            <a:srgbClr val="13294B"/>
          </a:solidFill>
          <a:ln>
            <a:noFill/>
          </a:ln>
        </p:spPr>
        <p:txBody>
          <a:bodyPr rtlCol="0" anchor="ctr" lIns="36000" rIns="36000" tIns="36000" bIns="36000"/>
          <a:lstStyle/>
          <a:p>
            <a:pPr algn="ctr"/>
          </a:p>
        </p:txBody>
      </p:sp>
      <p:sp>
        <p:nvSpPr>
          <p:cNvPr id="35" name="TextBox 34"/>
          <p:cNvSpPr txBox="1"/>
          <p:nvPr/>
        </p:nvSpPr>
        <p:spPr>
          <a:xfrm>
            <a:off x="131202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격동기</a:t>
            </a:r>
          </a:p>
        </p:txBody>
      </p:sp>
      <p:sp>
        <p:nvSpPr>
          <p:cNvPr id="36" name="Oval 35"/>
          <p:cNvSpPr/>
          <p:nvPr/>
        </p:nvSpPr>
        <p:spPr>
          <a:xfrm>
            <a:off x="6034860" y="4384800"/>
            <a:ext cx="122400" cy="122400"/>
          </a:xfrm>
          <a:prstGeom prst="ellipse">
            <a:avLst/>
          </a:prstGeom>
          <a:solidFill>
            <a:srgbClr val="13294B"/>
          </a:solidFill>
          <a:ln>
            <a:noFill/>
          </a:ln>
        </p:spPr>
        <p:txBody>
          <a:bodyPr rtlCol="0" anchor="ctr" lIns="36000" rIns="36000" tIns="36000" bIns="36000"/>
          <a:lstStyle/>
          <a:p>
            <a:pPr algn="ctr"/>
          </a:p>
        </p:txBody>
      </p:sp>
      <p:sp>
        <p:nvSpPr>
          <p:cNvPr id="37" name="TextBox 36"/>
          <p:cNvSpPr txBox="1"/>
          <p:nvPr/>
        </p:nvSpPr>
        <p:spPr>
          <a:xfrm>
            <a:off x="501606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지배적 설계</a:t>
            </a:r>
          </a:p>
        </p:txBody>
      </p:sp>
      <p:sp>
        <p:nvSpPr>
          <p:cNvPr id="38" name="Oval 37"/>
          <p:cNvSpPr/>
          <p:nvPr/>
        </p:nvSpPr>
        <p:spPr>
          <a:xfrm>
            <a:off x="9738900" y="4384800"/>
            <a:ext cx="122400" cy="122400"/>
          </a:xfrm>
          <a:prstGeom prst="ellipse">
            <a:avLst/>
          </a:prstGeom>
          <a:solidFill>
            <a:srgbClr val="13294B"/>
          </a:solidFill>
          <a:ln>
            <a:noFill/>
          </a:ln>
        </p:spPr>
        <p:txBody>
          <a:bodyPr rtlCol="0" anchor="ctr" lIns="36000" rIns="36000" tIns="36000" bIns="36000"/>
          <a:lstStyle/>
          <a:p>
            <a:pPr algn="ctr"/>
          </a:p>
        </p:txBody>
      </p:sp>
      <p:sp>
        <p:nvSpPr>
          <p:cNvPr id="39" name="TextBox 38"/>
          <p:cNvSpPr txBox="1"/>
          <p:nvPr/>
        </p:nvSpPr>
        <p:spPr>
          <a:xfrm>
            <a:off x="872010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점진적 변화</a:t>
            </a:r>
          </a:p>
        </p:txBody>
      </p:sp>
      <p:sp>
        <p:nvSpPr>
          <p:cNvPr id="40" name="TextBox 39"/>
          <p:cNvSpPr txBox="1"/>
          <p:nvPr/>
        </p:nvSpPr>
        <p:spPr>
          <a:xfrm>
            <a:off x="540000" y="4806000"/>
            <a:ext cx="11112120" cy="756000"/>
          </a:xfrm>
          <a:prstGeom prst="rect">
            <a:avLst/>
          </a:prstGeom>
          <a:noFill/>
        </p:spPr>
        <p:txBody>
          <a:bodyPr wrap="square" lIns="0" rIns="0" tIns="0" bIns="0" anchor="ctr">
            <a:noAutofit/>
          </a:bodyPr>
          <a:lstStyle/>
          <a:p>
            <a:pPr algn="ctr" marL="0" indent="0">
              <a:lnSpc>
                <a:spcPts val="1560"/>
              </a:lnSpc>
              <a:spcBef>
                <a:spcPts val="0"/>
              </a:spcBef>
              <a:spcAft>
                <a:spcPts val="300"/>
              </a:spcAft>
              <a:buNone/>
            </a:pPr>
            <a:r>
              <a:rPr sz="1300" b="1" i="0" lang="ko-KR" altLang="en-US">
                <a:solidFill>
                  <a:srgbClr val="13294B"/>
                </a:solidFill>
                <a:latin typeface="맑은 고딕"/>
                <a:ea typeface="맑은 고딕"/>
                <a:cs typeface="맑은 고딕"/>
              </a:rPr>
              <a:t>핵심 요소가 다른 요소와 안정된 인터페이스가 되면, 이후의 변화는 주변 요소에서 일어난다 (Anderson &amp; Tushman, 1990; Murmann &amp; Frenken, 2006)</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해석: 출원 시기는 지배적 설계의 근사이며, 인과를 검정한 것은 아님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허브로 남고, 접합과 제조공정을 잇는 연결은 공정 장치 · 패키징 단계 공정으로 옮겨 갔다</a:t>
            </a:r>
          </a:p>
        </p:txBody>
      </p:sp>
      <p:sp>
        <p:nvSpPr>
          <p:cNvPr id="4" name="Rounded Rectangle 3"/>
          <p:cNvSpPr/>
          <p:nvPr/>
        </p:nvSpPr>
        <p:spPr>
          <a:xfrm>
            <a:off x="54000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8400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형성기</a:t>
            </a:r>
            <a:r>
              <a:rPr sz="1150" b="0" i="0" lang="ko-KR" altLang="en-US">
                <a:solidFill>
                  <a:srgbClr val="5B6475"/>
                </a:solidFill>
                <a:latin typeface="맑은 고딕"/>
                <a:ea typeface="맑은 고딕"/>
                <a:cs typeface="맑은 고딕"/>
              </a:rPr>
              <a:t>  –2014</a:t>
            </a:r>
          </a:p>
        </p:txBody>
      </p:sp>
      <p:cxnSp>
        <p:nvCxnSpPr>
          <p:cNvPr id="6" name="Connector 5"/>
          <p:cNvCxnSpPr/>
          <p:nvPr/>
        </p:nvCxnSpPr>
        <p:spPr>
          <a:xfrm flipH="1" flipV="1">
            <a:off x="1242000" y="2142000"/>
            <a:ext cx="1096020" cy="936000"/>
          </a:xfrm>
          <a:prstGeom prst="line">
            <a:avLst/>
          </a:prstGeom>
          <a:ln w="101041">
            <a:solidFill>
              <a:srgbClr val="2563C9"/>
            </a:solidFill>
          </a:ln>
        </p:spPr>
      </p:cxnSp>
      <p:cxnSp>
        <p:nvCxnSpPr>
          <p:cNvPr id="7" name="Connector 6"/>
          <p:cNvCxnSpPr/>
          <p:nvPr/>
        </p:nvCxnSpPr>
        <p:spPr>
          <a:xfrm flipV="1">
            <a:off x="2338020" y="2142000"/>
            <a:ext cx="1096020" cy="936000"/>
          </a:xfrm>
          <a:prstGeom prst="line">
            <a:avLst/>
          </a:prstGeom>
          <a:ln w="15189">
            <a:solidFill>
              <a:srgbClr val="10A39A"/>
            </a:solidFill>
          </a:ln>
        </p:spPr>
      </p:cxnSp>
      <p:cxnSp>
        <p:nvCxnSpPr>
          <p:cNvPr id="8" name="Connector 7"/>
          <p:cNvCxnSpPr/>
          <p:nvPr/>
        </p:nvCxnSpPr>
        <p:spPr>
          <a:xfrm>
            <a:off x="2338020" y="3078000"/>
            <a:ext cx="0" cy="936000"/>
          </a:xfrm>
          <a:prstGeom prst="line">
            <a:avLst/>
          </a:prstGeom>
          <a:ln w="64058">
            <a:solidFill>
              <a:srgbClr val="E0A100"/>
            </a:solidFill>
          </a:ln>
        </p:spPr>
      </p:cxnSp>
      <p:sp>
        <p:nvSpPr>
          <p:cNvPr id="9" name="Oval 8"/>
          <p:cNvSpPr/>
          <p:nvPr/>
        </p:nvSpPr>
        <p:spPr>
          <a:xfrm>
            <a:off x="726264" y="1626264"/>
            <a:ext cx="1031472" cy="1031472"/>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10" name="TextBox 9"/>
          <p:cNvSpPr txBox="1"/>
          <p:nvPr/>
        </p:nvSpPr>
        <p:spPr>
          <a:xfrm>
            <a:off x="522000" y="13814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53.6%</a:t>
            </a:r>
          </a:p>
        </p:txBody>
      </p:sp>
      <p:sp>
        <p:nvSpPr>
          <p:cNvPr id="11" name="Oval 10"/>
          <p:cNvSpPr/>
          <p:nvPr/>
        </p:nvSpPr>
        <p:spPr>
          <a:xfrm>
            <a:off x="3227040" y="1935000"/>
            <a:ext cx="414000" cy="414000"/>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12" name="TextBox 11"/>
          <p:cNvSpPr txBox="1"/>
          <p:nvPr/>
        </p:nvSpPr>
        <p:spPr>
          <a:xfrm>
            <a:off x="2714040" y="16902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0.0%</a:t>
            </a:r>
          </a:p>
        </p:txBody>
      </p:sp>
      <p:sp>
        <p:nvSpPr>
          <p:cNvPr id="13" name="Oval 12"/>
          <p:cNvSpPr/>
          <p:nvPr/>
        </p:nvSpPr>
        <p:spPr>
          <a:xfrm>
            <a:off x="2129292" y="3805272"/>
            <a:ext cx="417456" cy="41745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14" name="TextBox 13"/>
          <p:cNvSpPr txBox="1"/>
          <p:nvPr/>
        </p:nvSpPr>
        <p:spPr>
          <a:xfrm>
            <a:off x="26007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0.3%</a:t>
            </a:r>
          </a:p>
        </p:txBody>
      </p:sp>
      <p:sp>
        <p:nvSpPr>
          <p:cNvPr id="15" name="Rounded Rectangle 14"/>
          <p:cNvSpPr/>
          <p:nvPr/>
        </p:nvSpPr>
        <p:spPr>
          <a:xfrm>
            <a:off x="148009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0.306</a:t>
            </a:r>
          </a:p>
        </p:txBody>
      </p:sp>
      <p:sp>
        <p:nvSpPr>
          <p:cNvPr id="16" name="Rounded Rectangle 15"/>
          <p:cNvSpPr/>
          <p:nvPr/>
        </p:nvSpPr>
        <p:spPr>
          <a:xfrm>
            <a:off x="261995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0.046</a:t>
            </a:r>
          </a:p>
        </p:txBody>
      </p:sp>
      <p:sp>
        <p:nvSpPr>
          <p:cNvPr id="17" name="Rounded Rectangle 16"/>
          <p:cNvSpPr/>
          <p:nvPr/>
        </p:nvSpPr>
        <p:spPr>
          <a:xfrm>
            <a:off x="205002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0.194</a:t>
            </a:r>
          </a:p>
        </p:txBody>
      </p:sp>
      <p:sp>
        <p:nvSpPr>
          <p:cNvPr id="18" name="Oval 17"/>
          <p:cNvSpPr/>
          <p:nvPr/>
        </p:nvSpPr>
        <p:spPr>
          <a:xfrm>
            <a:off x="196002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19" name="TextBox 18"/>
          <p:cNvSpPr txBox="1"/>
          <p:nvPr/>
        </p:nvSpPr>
        <p:spPr>
          <a:xfrm>
            <a:off x="196002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20" name="Rounded Rectangle 19"/>
          <p:cNvSpPr/>
          <p:nvPr/>
        </p:nvSpPr>
        <p:spPr>
          <a:xfrm>
            <a:off x="429804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TextBox 20"/>
          <p:cNvSpPr txBox="1"/>
          <p:nvPr/>
        </p:nvSpPr>
        <p:spPr>
          <a:xfrm>
            <a:off x="444204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7C3AED"/>
                </a:solidFill>
                <a:latin typeface="맑은 고딕"/>
                <a:ea typeface="맑은 고딕"/>
                <a:cs typeface="맑은 고딕"/>
              </a:rPr>
              <a:t>확산기</a:t>
            </a:r>
            <a:r>
              <a:rPr sz="1150" b="0" i="0" lang="ko-KR" altLang="en-US">
                <a:solidFill>
                  <a:srgbClr val="5B6475"/>
                </a:solidFill>
                <a:latin typeface="맑은 고딕"/>
                <a:ea typeface="맑은 고딕"/>
                <a:cs typeface="맑은 고딕"/>
              </a:rPr>
              <a:t>  2015–2019</a:t>
            </a:r>
          </a:p>
        </p:txBody>
      </p:sp>
      <p:cxnSp>
        <p:nvCxnSpPr>
          <p:cNvPr id="22" name="Connector 21"/>
          <p:cNvCxnSpPr/>
          <p:nvPr/>
        </p:nvCxnSpPr>
        <p:spPr>
          <a:xfrm flipH="1" flipV="1">
            <a:off x="5000040" y="2142000"/>
            <a:ext cx="1096020" cy="936000"/>
          </a:xfrm>
          <a:prstGeom prst="line">
            <a:avLst/>
          </a:prstGeom>
          <a:ln w="197459">
            <a:solidFill>
              <a:srgbClr val="2563C9"/>
            </a:solidFill>
          </a:ln>
        </p:spPr>
      </p:cxnSp>
      <p:cxnSp>
        <p:nvCxnSpPr>
          <p:cNvPr id="23" name="Connector 22"/>
          <p:cNvCxnSpPr/>
          <p:nvPr/>
        </p:nvCxnSpPr>
        <p:spPr>
          <a:xfrm flipV="1">
            <a:off x="6096060" y="2142000"/>
            <a:ext cx="1096020" cy="936000"/>
          </a:xfrm>
          <a:prstGeom prst="line">
            <a:avLst/>
          </a:prstGeom>
          <a:ln w="19481">
            <a:solidFill>
              <a:srgbClr val="10A39A"/>
            </a:solidFill>
          </a:ln>
        </p:spPr>
      </p:cxnSp>
      <p:cxnSp>
        <p:nvCxnSpPr>
          <p:cNvPr id="24" name="Connector 23"/>
          <p:cNvCxnSpPr/>
          <p:nvPr/>
        </p:nvCxnSpPr>
        <p:spPr>
          <a:xfrm>
            <a:off x="6096060" y="3078000"/>
            <a:ext cx="0" cy="936000"/>
          </a:xfrm>
          <a:prstGeom prst="line">
            <a:avLst/>
          </a:prstGeom>
          <a:ln w="77266">
            <a:solidFill>
              <a:srgbClr val="E0A100"/>
            </a:solidFill>
          </a:ln>
        </p:spPr>
      </p:cxnSp>
      <p:sp>
        <p:nvSpPr>
          <p:cNvPr id="25" name="Oval 24"/>
          <p:cNvSpPr/>
          <p:nvPr/>
        </p:nvSpPr>
        <p:spPr>
          <a:xfrm>
            <a:off x="4548240" y="1690200"/>
            <a:ext cx="903600" cy="90360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26" name="TextBox 25"/>
          <p:cNvSpPr txBox="1"/>
          <p:nvPr/>
        </p:nvSpPr>
        <p:spPr>
          <a:xfrm>
            <a:off x="4280040" y="14454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42.5%</a:t>
            </a:r>
          </a:p>
        </p:txBody>
      </p:sp>
      <p:sp>
        <p:nvSpPr>
          <p:cNvPr id="27" name="Oval 26"/>
          <p:cNvSpPr/>
          <p:nvPr/>
        </p:nvSpPr>
        <p:spPr>
          <a:xfrm>
            <a:off x="6974712" y="1924632"/>
            <a:ext cx="434736" cy="434736"/>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28" name="TextBox 27"/>
          <p:cNvSpPr txBox="1"/>
          <p:nvPr/>
        </p:nvSpPr>
        <p:spPr>
          <a:xfrm>
            <a:off x="6472080" y="1679832"/>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1.8%</a:t>
            </a:r>
          </a:p>
        </p:txBody>
      </p:sp>
      <p:sp>
        <p:nvSpPr>
          <p:cNvPr id="29" name="Oval 28"/>
          <p:cNvSpPr/>
          <p:nvPr/>
        </p:nvSpPr>
        <p:spPr>
          <a:xfrm>
            <a:off x="5885604" y="3803544"/>
            <a:ext cx="420912" cy="420912"/>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30" name="TextBox 29"/>
          <p:cNvSpPr txBox="1"/>
          <p:nvPr/>
        </p:nvSpPr>
        <p:spPr>
          <a:xfrm>
            <a:off x="6360516"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0.6%</a:t>
            </a:r>
          </a:p>
        </p:txBody>
      </p:sp>
      <p:sp>
        <p:nvSpPr>
          <p:cNvPr id="31" name="Rounded Rectangle 30"/>
          <p:cNvSpPr/>
          <p:nvPr/>
        </p:nvSpPr>
        <p:spPr>
          <a:xfrm>
            <a:off x="523813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0.598</a:t>
            </a:r>
          </a:p>
        </p:txBody>
      </p:sp>
      <p:sp>
        <p:nvSpPr>
          <p:cNvPr id="32" name="Rounded Rectangle 31"/>
          <p:cNvSpPr/>
          <p:nvPr/>
        </p:nvSpPr>
        <p:spPr>
          <a:xfrm>
            <a:off x="637799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0.059</a:t>
            </a:r>
          </a:p>
        </p:txBody>
      </p:sp>
      <p:sp>
        <p:nvSpPr>
          <p:cNvPr id="33" name="Rounded Rectangle 32"/>
          <p:cNvSpPr/>
          <p:nvPr/>
        </p:nvSpPr>
        <p:spPr>
          <a:xfrm>
            <a:off x="580806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0.234</a:t>
            </a:r>
          </a:p>
        </p:txBody>
      </p:sp>
      <p:sp>
        <p:nvSpPr>
          <p:cNvPr id="34" name="Oval 33"/>
          <p:cNvSpPr/>
          <p:nvPr/>
        </p:nvSpPr>
        <p:spPr>
          <a:xfrm>
            <a:off x="571806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35" name="TextBox 34"/>
          <p:cNvSpPr txBox="1"/>
          <p:nvPr/>
        </p:nvSpPr>
        <p:spPr>
          <a:xfrm>
            <a:off x="571806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36" name="Rounded Rectangle 35"/>
          <p:cNvSpPr/>
          <p:nvPr/>
        </p:nvSpPr>
        <p:spPr>
          <a:xfrm>
            <a:off x="805608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7" name="TextBox 36"/>
          <p:cNvSpPr txBox="1"/>
          <p:nvPr/>
        </p:nvSpPr>
        <p:spPr>
          <a:xfrm>
            <a:off x="820008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재편기</a:t>
            </a:r>
            <a:r>
              <a:rPr sz="1150" b="0" i="0" lang="ko-KR" altLang="en-US">
                <a:solidFill>
                  <a:srgbClr val="5B6475"/>
                </a:solidFill>
                <a:latin typeface="맑은 고딕"/>
                <a:ea typeface="맑은 고딕"/>
                <a:cs typeface="맑은 고딕"/>
              </a:rPr>
              <a:t>  2020–2024</a:t>
            </a:r>
          </a:p>
        </p:txBody>
      </p:sp>
      <p:cxnSp>
        <p:nvCxnSpPr>
          <p:cNvPr id="38" name="Connector 37"/>
          <p:cNvCxnSpPr/>
          <p:nvPr/>
        </p:nvCxnSpPr>
        <p:spPr>
          <a:xfrm flipH="1" flipV="1">
            <a:off x="8758080" y="2142000"/>
            <a:ext cx="1096020" cy="936000"/>
          </a:xfrm>
          <a:prstGeom prst="line">
            <a:avLst/>
          </a:prstGeom>
          <a:ln w="52501">
            <a:solidFill>
              <a:srgbClr val="2563C9"/>
            </a:solidFill>
          </a:ln>
        </p:spPr>
      </p:cxnSp>
      <p:cxnSp>
        <p:nvCxnSpPr>
          <p:cNvPr id="39" name="Connector 38"/>
          <p:cNvCxnSpPr/>
          <p:nvPr/>
        </p:nvCxnSpPr>
        <p:spPr>
          <a:xfrm flipV="1">
            <a:off x="9854100" y="2142000"/>
            <a:ext cx="1096020" cy="936000"/>
          </a:xfrm>
          <a:prstGeom prst="line">
            <a:avLst/>
          </a:prstGeom>
          <a:ln w="58115">
            <a:solidFill>
              <a:srgbClr val="10A39A"/>
            </a:solidFill>
          </a:ln>
        </p:spPr>
      </p:cxnSp>
      <p:cxnSp>
        <p:nvCxnSpPr>
          <p:cNvPr id="40" name="Connector 39"/>
          <p:cNvCxnSpPr/>
          <p:nvPr/>
        </p:nvCxnSpPr>
        <p:spPr>
          <a:xfrm>
            <a:off x="9854100" y="3078000"/>
            <a:ext cx="0" cy="936000"/>
          </a:xfrm>
          <a:prstGeom prst="line">
            <a:avLst/>
          </a:prstGeom>
          <a:ln w="88493">
            <a:solidFill>
              <a:srgbClr val="E0A100"/>
            </a:solidFill>
          </a:ln>
        </p:spPr>
      </p:cxnSp>
      <p:sp>
        <p:nvSpPr>
          <p:cNvPr id="41" name="Oval 40"/>
          <p:cNvSpPr/>
          <p:nvPr/>
        </p:nvSpPr>
        <p:spPr>
          <a:xfrm>
            <a:off x="8499240" y="1883160"/>
            <a:ext cx="517680" cy="51768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42" name="TextBox 41"/>
          <p:cNvSpPr txBox="1"/>
          <p:nvPr/>
        </p:nvSpPr>
        <p:spPr>
          <a:xfrm>
            <a:off x="8038080" y="163836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9.0%</a:t>
            </a:r>
          </a:p>
        </p:txBody>
      </p:sp>
      <p:sp>
        <p:nvSpPr>
          <p:cNvPr id="43" name="Oval 42"/>
          <p:cNvSpPr/>
          <p:nvPr/>
        </p:nvSpPr>
        <p:spPr>
          <a:xfrm>
            <a:off x="10592784" y="1784664"/>
            <a:ext cx="714672" cy="714672"/>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44" name="TextBox 43"/>
          <p:cNvSpPr txBox="1"/>
          <p:nvPr/>
        </p:nvSpPr>
        <p:spPr>
          <a:xfrm>
            <a:off x="10230120" y="15398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26.1%</a:t>
            </a:r>
          </a:p>
        </p:txBody>
      </p:sp>
      <p:sp>
        <p:nvSpPr>
          <p:cNvPr id="45" name="Oval 44"/>
          <p:cNvSpPr/>
          <p:nvPr/>
        </p:nvSpPr>
        <p:spPr>
          <a:xfrm>
            <a:off x="9605052" y="3764952"/>
            <a:ext cx="498096" cy="49809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46" name="TextBox 45"/>
          <p:cNvSpPr txBox="1"/>
          <p:nvPr/>
        </p:nvSpPr>
        <p:spPr>
          <a:xfrm>
            <a:off x="101571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7.3%</a:t>
            </a:r>
          </a:p>
        </p:txBody>
      </p:sp>
      <p:sp>
        <p:nvSpPr>
          <p:cNvPr id="47" name="Rounded Rectangle 46"/>
          <p:cNvSpPr/>
          <p:nvPr/>
        </p:nvSpPr>
        <p:spPr>
          <a:xfrm>
            <a:off x="899617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0.159</a:t>
            </a:r>
          </a:p>
        </p:txBody>
      </p:sp>
      <p:sp>
        <p:nvSpPr>
          <p:cNvPr id="48" name="Rounded Rectangle 47"/>
          <p:cNvSpPr/>
          <p:nvPr/>
        </p:nvSpPr>
        <p:spPr>
          <a:xfrm>
            <a:off x="1013603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0.176</a:t>
            </a:r>
          </a:p>
        </p:txBody>
      </p:sp>
      <p:sp>
        <p:nvSpPr>
          <p:cNvPr id="49" name="Rounded Rectangle 48"/>
          <p:cNvSpPr/>
          <p:nvPr/>
        </p:nvSpPr>
        <p:spPr>
          <a:xfrm>
            <a:off x="956610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0.268</a:t>
            </a:r>
          </a:p>
        </p:txBody>
      </p:sp>
      <p:sp>
        <p:nvSpPr>
          <p:cNvPr id="50" name="Oval 49"/>
          <p:cNvSpPr/>
          <p:nvPr/>
        </p:nvSpPr>
        <p:spPr>
          <a:xfrm>
            <a:off x="947610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51" name="TextBox 50"/>
          <p:cNvSpPr txBox="1"/>
          <p:nvPr/>
        </p:nvSpPr>
        <p:spPr>
          <a:xfrm>
            <a:off x="947610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52" name="TextBox 51"/>
          <p:cNvSpPr txBox="1"/>
          <p:nvPr/>
        </p:nvSpPr>
        <p:spPr>
          <a:xfrm>
            <a:off x="540000" y="4410000"/>
            <a:ext cx="1111212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a:t>
            </a:r>
            <a:r>
              <a:rPr sz="1100" b="1" i="0" lang="ko-KR" altLang="en-US">
                <a:solidFill>
                  <a:srgbClr val="1E2532"/>
                </a:solidFill>
                <a:latin typeface="맑은 고딕"/>
                <a:ea typeface="맑은 고딕"/>
                <a:cs typeface="맑은 고딕"/>
              </a:rPr>
              <a:t> 웨이퍼 제조공정    </a:t>
            </a:r>
            <a:r>
              <a:rPr sz="1300" b="1" i="0" lang="ko-KR" altLang="en-US">
                <a:solidFill>
                  <a:srgbClr val="10A39A"/>
                </a:solidFill>
                <a:latin typeface="맑은 고딕"/>
                <a:ea typeface="맑은 고딕"/>
                <a:cs typeface="맑은 고딕"/>
              </a:rPr>
              <a:t>●</a:t>
            </a:r>
            <a:r>
              <a:rPr sz="1100" b="1" i="0" lang="ko-KR" altLang="en-US">
                <a:solidFill>
                  <a:srgbClr val="1E2532"/>
                </a:solidFill>
                <a:latin typeface="맑은 고딕"/>
                <a:ea typeface="맑은 고딕"/>
                <a:cs typeface="맑은 고딕"/>
              </a:rPr>
              <a:t> 공정 장치    </a:t>
            </a:r>
            <a:r>
              <a:rPr sz="1300" b="1" i="0" lang="ko-KR" altLang="en-US">
                <a:solidFill>
                  <a:srgbClr val="E0A100"/>
                </a:solidFill>
                <a:latin typeface="맑은 고딕"/>
                <a:ea typeface="맑은 고딕"/>
                <a:cs typeface="맑은 고딕"/>
              </a:rPr>
              <a:t>●</a:t>
            </a:r>
            <a:r>
              <a:rPr sz="1100" b="1" i="0" lang="ko-KR" altLang="en-US">
                <a:solidFill>
                  <a:srgbClr val="1E2532"/>
                </a:solidFill>
                <a:latin typeface="맑은 고딕"/>
                <a:ea typeface="맑은 고딕"/>
                <a:cs typeface="맑은 고딕"/>
              </a:rPr>
              <a:t> 패키징 단계 공정    </a:t>
            </a:r>
            <a:r>
              <a:rPr sz="1300" b="1" i="0" lang="ko-KR" altLang="en-US">
                <a:solidFill>
                  <a:srgbClr val="B5441B"/>
                </a:solidFill>
                <a:latin typeface="맑은 고딕"/>
                <a:ea typeface="맑은 고딕"/>
                <a:cs typeface="맑은 고딕"/>
              </a:rPr>
              <a:t>●</a:t>
            </a:r>
            <a:r>
              <a:rPr sz="1100" b="1" i="0" lang="ko-KR" altLang="en-US">
                <a:solidFill>
                  <a:srgbClr val="1E2532"/>
                </a:solidFill>
                <a:latin typeface="맑은 고딕"/>
                <a:ea typeface="맑은 고딕"/>
                <a:cs typeface="맑은 고딕"/>
              </a:rPr>
              <a:t> 핵심 기술(접합 패드 기호 4개)    </a:t>
            </a:r>
            <a:r>
              <a:rPr sz="1050" b="0" i="0" lang="ko-KR" altLang="en-US">
                <a:solidFill>
                  <a:srgbClr val="5B6475"/>
                </a:solidFill>
                <a:latin typeface="맑은 고딕"/>
                <a:ea typeface="맑은 고딕"/>
                <a:cs typeface="맑은 고딕"/>
              </a:rPr>
              <a:t>선 굵기 · 숫자 = Jaccard 계수,  원 크기 = 매개 중심성</a:t>
            </a:r>
          </a:p>
        </p:txBody>
      </p:sp>
      <p:sp>
        <p:nvSpPr>
          <p:cNvPr id="53" name="Rounded Rectangle 52"/>
          <p:cNvSpPr/>
          <p:nvPr/>
        </p:nvSpPr>
        <p:spPr>
          <a:xfrm>
            <a:off x="540000" y="4680000"/>
            <a:ext cx="11112120" cy="1224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54" name="TextBox 53"/>
          <p:cNvSpPr txBox="1"/>
          <p:nvPr/>
        </p:nvSpPr>
        <p:spPr>
          <a:xfrm>
            <a:off x="756000" y="4716000"/>
            <a:ext cx="5040000" cy="36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핵심 기술과 함께 부여된 제조공정 기호</a:t>
            </a:r>
          </a:p>
        </p:txBody>
      </p:sp>
      <p:sp>
        <p:nvSpPr>
          <p:cNvPr id="55" name="Rounded Rectangle 54"/>
          <p:cNvSpPr/>
          <p:nvPr/>
        </p:nvSpPr>
        <p:spPr>
          <a:xfrm>
            <a:off x="756000" y="5148000"/>
            <a:ext cx="864000" cy="378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56" name="TextBox 55"/>
          <p:cNvSpPr txBox="1"/>
          <p:nvPr/>
        </p:nvSpPr>
        <p:spPr>
          <a:xfrm>
            <a:off x="176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21/187</a:t>
            </a:r>
          </a:p>
        </p:txBody>
      </p:sp>
      <p:sp>
        <p:nvSpPr>
          <p:cNvPr id="57" name="TextBox 56"/>
          <p:cNvSpPr txBox="1"/>
          <p:nvPr/>
        </p:nvSpPr>
        <p:spPr>
          <a:xfrm>
            <a:off x="176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58" name="TextBox 57"/>
          <p:cNvSpPr txBox="1"/>
          <p:nvPr/>
        </p:nvSpPr>
        <p:spPr>
          <a:xfrm>
            <a:off x="392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21/76898</a:t>
            </a:r>
          </a:p>
        </p:txBody>
      </p:sp>
      <p:sp>
        <p:nvSpPr>
          <p:cNvPr id="59" name="TextBox 58"/>
          <p:cNvSpPr txBox="1"/>
          <p:nvPr/>
        </p:nvSpPr>
        <p:spPr>
          <a:xfrm>
            <a:off x="392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cxnSp>
        <p:nvCxnSpPr>
          <p:cNvPr id="60" name="Connector 59"/>
          <p:cNvCxnSpPr/>
          <p:nvPr/>
        </p:nvCxnSpPr>
        <p:spPr>
          <a:xfrm>
            <a:off x="6012000" y="5335200"/>
            <a:ext cx="288000" cy="0"/>
          </a:xfrm>
          <a:prstGeom prst="line">
            <a:avLst/>
          </a:prstGeom>
          <a:ln w="31750">
            <a:solidFill>
              <a:srgbClr val="13294B"/>
            </a:solidFill>
            <a:tailEnd type="triangle" w="med" len="med"/>
          </a:ln>
        </p:spPr>
      </p:cxnSp>
      <p:sp>
        <p:nvSpPr>
          <p:cNvPr id="61" name="Rounded Rectangle 60"/>
          <p:cNvSpPr/>
          <p:nvPr/>
        </p:nvSpPr>
        <p:spPr>
          <a:xfrm>
            <a:off x="6372000" y="5148000"/>
            <a:ext cx="864000" cy="378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62" name="TextBox 61"/>
          <p:cNvSpPr txBox="1"/>
          <p:nvPr/>
        </p:nvSpPr>
        <p:spPr>
          <a:xfrm>
            <a:off x="738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21/6835</a:t>
            </a:r>
          </a:p>
        </p:txBody>
      </p:sp>
      <p:sp>
        <p:nvSpPr>
          <p:cNvPr id="63" name="TextBox 62"/>
          <p:cNvSpPr txBox="1"/>
          <p:nvPr/>
        </p:nvSpPr>
        <p:spPr>
          <a:xfrm>
            <a:off x="738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64" name="TextBox 63"/>
          <p:cNvSpPr txBox="1"/>
          <p:nvPr/>
        </p:nvSpPr>
        <p:spPr>
          <a:xfrm>
            <a:off x="954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21/568</a:t>
            </a:r>
          </a:p>
        </p:txBody>
      </p:sp>
      <p:sp>
        <p:nvSpPr>
          <p:cNvPr id="65" name="TextBox 64"/>
          <p:cNvSpPr txBox="1"/>
          <p:nvPr/>
        </p:nvSpPr>
        <p:spPr>
          <a:xfrm>
            <a:off x="954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강도와 매개 중심성</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4.6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4  Summary</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산업적 함의: 흔들리는 분업의 인터페이스</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경계와 지식의 경계는 다르다: 인터페이스가 흔들리면 지식 경계가 먼저 넓어진다</a:t>
            </a:r>
          </a:p>
        </p:txBody>
      </p:sp>
      <p:sp>
        <p:nvSpPr>
          <p:cNvPr id="4" name="Rectangle 3"/>
          <p:cNvSpPr/>
          <p:nvPr/>
        </p:nvSpPr>
        <p:spPr>
          <a:xfrm>
            <a:off x="540000" y="1008000"/>
            <a:ext cx="2664000" cy="1872000"/>
          </a:xfrm>
          <a:prstGeom prst="rect">
            <a:avLst/>
          </a:prstGeom>
          <a:solidFill>
            <a:srgbClr val="FFFFFF"/>
          </a:solidFill>
          <a:ln w="22225">
            <a:solidFill>
              <a:srgbClr val="13294B"/>
            </a:solid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sp>
        <p:nvSpPr>
          <p:cNvPr id="5" name="Rectangle 4"/>
          <p:cNvSpPr/>
          <p:nvPr/>
        </p:nvSpPr>
        <p:spPr>
          <a:xfrm>
            <a:off x="3924000" y="1008000"/>
            <a:ext cx="3240000" cy="1872000"/>
          </a:xfrm>
          <a:prstGeom prst="rect">
            <a:avLst/>
          </a:prstGeom>
          <a:solidFill>
            <a:srgbClr val="2563C9"/>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제조 · 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종합반도체기업(IDM) · 파운드리</a:t>
            </a:r>
          </a:p>
        </p:txBody>
      </p:sp>
      <p:sp>
        <p:nvSpPr>
          <p:cNvPr id="6" name="Rectangle 5"/>
          <p:cNvSpPr/>
          <p:nvPr/>
        </p:nvSpPr>
        <p:spPr>
          <a:xfrm>
            <a:off x="8316000" y="1008000"/>
            <a:ext cx="3337200" cy="1872000"/>
          </a:xfrm>
          <a:prstGeom prst="rect">
            <a:avLst/>
          </a:prstGeom>
          <a:solidFill>
            <a:srgbClr val="EA7A28"/>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조립 · 테스트 · 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조립 · 테스트 전문업체(OSAT)</a:t>
            </a:r>
          </a:p>
        </p:txBody>
      </p:sp>
      <p:cxnSp>
        <p:nvCxnSpPr>
          <p:cNvPr id="7" name="Connector 6"/>
          <p:cNvCxnSpPr/>
          <p:nvPr/>
        </p:nvCxnSpPr>
        <p:spPr>
          <a:xfrm>
            <a:off x="3276000" y="1944000"/>
            <a:ext cx="576000" cy="0"/>
          </a:xfrm>
          <a:prstGeom prst="line">
            <a:avLst/>
          </a:prstGeom>
          <a:ln w="31750">
            <a:solidFill>
              <a:srgbClr val="13294B"/>
            </a:solidFill>
            <a:tailEnd type="triangle" w="med" len="med"/>
          </a:ln>
        </p:spPr>
      </p:cxnSp>
      <p:sp>
        <p:nvSpPr>
          <p:cNvPr id="8" name="Rectangle 7"/>
          <p:cNvSpPr/>
          <p:nvPr/>
        </p:nvSpPr>
        <p:spPr>
          <a:xfrm>
            <a:off x="7416000" y="864000"/>
            <a:ext cx="576000" cy="2160000"/>
          </a:xfrm>
          <a:prstGeom prst="rect">
            <a:avLst/>
          </a:prstGeom>
          <a:solidFill>
            <a:srgbClr val="C9CED6"/>
          </a:solidFill>
          <a:ln w="12700">
            <a:solidFill>
              <a:srgbClr val="9AA3B2"/>
            </a:solidFill>
          </a:ln>
        </p:spPr>
        <p:txBody>
          <a:bodyPr rtlCol="0" anchor="ctr" lIns="36000" rIns="36000" tIns="36000" bIns="36000"/>
          <a:lstStyle/>
          <a:p>
            <a:pPr algn="ctr"/>
          </a:p>
        </p:txBody>
      </p:sp>
      <p:cxnSp>
        <p:nvCxnSpPr>
          <p:cNvPr id="9" name="Connector 8"/>
          <p:cNvCxnSpPr/>
          <p:nvPr/>
        </p:nvCxnSpPr>
        <p:spPr>
          <a:xfrm>
            <a:off x="7488000" y="1224000"/>
            <a:ext cx="288000" cy="180000"/>
          </a:xfrm>
          <a:prstGeom prst="line">
            <a:avLst/>
          </a:prstGeom>
          <a:ln w="19050">
            <a:solidFill>
              <a:srgbClr val="7D8594"/>
            </a:solidFill>
          </a:ln>
        </p:spPr>
      </p:cxnSp>
      <p:cxnSp>
        <p:nvCxnSpPr>
          <p:cNvPr id="10" name="Connector 9"/>
          <p:cNvCxnSpPr/>
          <p:nvPr/>
        </p:nvCxnSpPr>
        <p:spPr>
          <a:xfrm flipH="1">
            <a:off x="7596000" y="1404000"/>
            <a:ext cx="180000" cy="180000"/>
          </a:xfrm>
          <a:prstGeom prst="line">
            <a:avLst/>
          </a:prstGeom>
          <a:ln w="19050">
            <a:solidFill>
              <a:srgbClr val="7D8594"/>
            </a:solidFill>
          </a:ln>
        </p:spPr>
      </p:cxnSp>
      <p:cxnSp>
        <p:nvCxnSpPr>
          <p:cNvPr id="11" name="Connector 10"/>
          <p:cNvCxnSpPr/>
          <p:nvPr/>
        </p:nvCxnSpPr>
        <p:spPr>
          <a:xfrm>
            <a:off x="7488000" y="1656000"/>
            <a:ext cx="288000" cy="180000"/>
          </a:xfrm>
          <a:prstGeom prst="line">
            <a:avLst/>
          </a:prstGeom>
          <a:ln w="19050">
            <a:solidFill>
              <a:srgbClr val="7D8594"/>
            </a:solidFill>
          </a:ln>
        </p:spPr>
      </p:cxnSp>
      <p:cxnSp>
        <p:nvCxnSpPr>
          <p:cNvPr id="12" name="Connector 11"/>
          <p:cNvCxnSpPr/>
          <p:nvPr/>
        </p:nvCxnSpPr>
        <p:spPr>
          <a:xfrm flipH="1">
            <a:off x="7596000" y="1836000"/>
            <a:ext cx="180000" cy="180000"/>
          </a:xfrm>
          <a:prstGeom prst="line">
            <a:avLst/>
          </a:prstGeom>
          <a:ln w="19050">
            <a:solidFill>
              <a:srgbClr val="7D8594"/>
            </a:solidFill>
          </a:ln>
        </p:spPr>
      </p:cxnSp>
      <p:cxnSp>
        <p:nvCxnSpPr>
          <p:cNvPr id="13" name="Connector 12"/>
          <p:cNvCxnSpPr/>
          <p:nvPr/>
        </p:nvCxnSpPr>
        <p:spPr>
          <a:xfrm>
            <a:off x="7488000" y="2088000"/>
            <a:ext cx="288000" cy="180000"/>
          </a:xfrm>
          <a:prstGeom prst="line">
            <a:avLst/>
          </a:prstGeom>
          <a:ln w="19050">
            <a:solidFill>
              <a:srgbClr val="7D8594"/>
            </a:solidFill>
          </a:ln>
        </p:spPr>
      </p:cxnSp>
      <p:cxnSp>
        <p:nvCxnSpPr>
          <p:cNvPr id="14" name="Connector 13"/>
          <p:cNvCxnSpPr/>
          <p:nvPr/>
        </p:nvCxnSpPr>
        <p:spPr>
          <a:xfrm flipH="1">
            <a:off x="7596000" y="2268000"/>
            <a:ext cx="180000" cy="180000"/>
          </a:xfrm>
          <a:prstGeom prst="line">
            <a:avLst/>
          </a:prstGeom>
          <a:ln w="19050">
            <a:solidFill>
              <a:srgbClr val="7D8594"/>
            </a:solidFill>
          </a:ln>
        </p:spPr>
      </p:cxnSp>
      <p:cxnSp>
        <p:nvCxnSpPr>
          <p:cNvPr id="15" name="Connector 14"/>
          <p:cNvCxnSpPr/>
          <p:nvPr/>
        </p:nvCxnSpPr>
        <p:spPr>
          <a:xfrm>
            <a:off x="7488000" y="2520000"/>
            <a:ext cx="288000" cy="180000"/>
          </a:xfrm>
          <a:prstGeom prst="line">
            <a:avLst/>
          </a:prstGeom>
          <a:ln w="19050">
            <a:solidFill>
              <a:srgbClr val="7D8594"/>
            </a:solidFill>
          </a:ln>
        </p:spPr>
      </p:cxnSp>
      <p:cxnSp>
        <p:nvCxnSpPr>
          <p:cNvPr id="16" name="Connector 15"/>
          <p:cNvCxnSpPr/>
          <p:nvPr/>
        </p:nvCxnSpPr>
        <p:spPr>
          <a:xfrm flipH="1">
            <a:off x="7596000" y="2700000"/>
            <a:ext cx="180000" cy="180000"/>
          </a:xfrm>
          <a:prstGeom prst="line">
            <a:avLst/>
          </a:prstGeom>
          <a:ln w="19050">
            <a:solidFill>
              <a:srgbClr val="7D8594"/>
            </a:solidFill>
          </a:ln>
        </p:spPr>
      </p:cxnSp>
      <p:cxnSp>
        <p:nvCxnSpPr>
          <p:cNvPr id="17" name="Connector 16"/>
          <p:cNvCxnSpPr/>
          <p:nvPr/>
        </p:nvCxnSpPr>
        <p:spPr>
          <a:xfrm>
            <a:off x="7200000" y="1944000"/>
            <a:ext cx="1080000" cy="0"/>
          </a:xfrm>
          <a:prstGeom prst="line">
            <a:avLst/>
          </a:prstGeom>
          <a:ln w="44450">
            <a:solidFill>
              <a:srgbClr val="7C3AED"/>
            </a:solidFill>
            <a:tailEnd type="triangle" w="med" len="med"/>
          </a:ln>
        </p:spPr>
      </p:cxnSp>
      <p:sp>
        <p:nvSpPr>
          <p:cNvPr id="18" name="TextBox 17"/>
          <p:cNvSpPr txBox="1"/>
          <p:nvPr/>
        </p:nvSpPr>
        <p:spPr>
          <a:xfrm>
            <a:off x="6840000" y="3060000"/>
            <a:ext cx="1728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인터페이스</a:t>
            </a:r>
          </a:p>
        </p:txBody>
      </p:sp>
      <p:sp>
        <p:nvSpPr>
          <p:cNvPr id="19" name="Rounded Rectangle 18"/>
          <p:cNvSpPr/>
          <p:nvPr/>
        </p:nvSpPr>
        <p:spPr>
          <a:xfrm>
            <a:off x="54000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Oval 19"/>
          <p:cNvSpPr/>
          <p:nvPr/>
        </p:nvSpPr>
        <p:spPr>
          <a:xfrm>
            <a:off x="720000" y="3618000"/>
            <a:ext cx="198000" cy="198000"/>
          </a:xfrm>
          <a:prstGeom prst="ellipse">
            <a:avLst/>
          </a:prstGeom>
          <a:solidFill>
            <a:srgbClr val="2563C9"/>
          </a:solidFill>
          <a:ln>
            <a:noFill/>
          </a:ln>
        </p:spPr>
        <p:txBody>
          <a:bodyPr rtlCol="0" anchor="ctr" lIns="36000" rIns="36000" tIns="36000" bIns="36000"/>
          <a:lstStyle/>
          <a:p>
            <a:pPr algn="ctr"/>
          </a:p>
        </p:txBody>
      </p:sp>
      <p:sp>
        <p:nvSpPr>
          <p:cNvPr id="21" name="TextBox 20"/>
          <p:cNvSpPr txBox="1"/>
          <p:nvPr/>
        </p:nvSpPr>
        <p:spPr>
          <a:xfrm>
            <a:off x="100800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흔들리는 인터페이스</a:t>
            </a:r>
          </a:p>
        </p:txBody>
      </p:sp>
      <p:sp>
        <p:nvSpPr>
          <p:cNvPr id="22" name="TextBox 21"/>
          <p:cNvSpPr txBox="1"/>
          <p:nvPr/>
        </p:nvSpPr>
        <p:spPr>
          <a:xfrm>
            <a:off x="72000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반세기의 분업은 두 단계 사이의 안정적 인터페이스를 전제로 했다. 하이브리드 본딩은 후공정 기술의 성패를 전공정 역량에 의존하게 한다.</a:t>
            </a:r>
          </a:p>
        </p:txBody>
      </p:sp>
      <p:sp>
        <p:nvSpPr>
          <p:cNvPr id="23" name="Rounded Rectangle 22"/>
          <p:cNvSpPr/>
          <p:nvPr/>
        </p:nvSpPr>
        <p:spPr>
          <a:xfrm>
            <a:off x="431604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Oval 23"/>
          <p:cNvSpPr/>
          <p:nvPr/>
        </p:nvSpPr>
        <p:spPr>
          <a:xfrm>
            <a:off x="4496040" y="3618000"/>
            <a:ext cx="198000" cy="198000"/>
          </a:xfrm>
          <a:prstGeom prst="ellipse">
            <a:avLst/>
          </a:prstGeom>
          <a:solidFill>
            <a:srgbClr val="7C3AED"/>
          </a:solidFill>
          <a:ln>
            <a:noFill/>
          </a:ln>
        </p:spPr>
        <p:txBody>
          <a:bodyPr rtlCol="0" anchor="ctr" lIns="36000" rIns="36000" tIns="36000" bIns="36000"/>
          <a:lstStyle/>
          <a:p>
            <a:pPr algn="ctr"/>
          </a:p>
        </p:txBody>
      </p:sp>
      <p:sp>
        <p:nvSpPr>
          <p:cNvPr id="25" name="TextBox 24"/>
          <p:cNvSpPr txBox="1"/>
          <p:nvPr/>
        </p:nvSpPr>
        <p:spPr>
          <a:xfrm>
            <a:off x="478404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sp>
        <p:nvSpPr>
          <p:cNvPr id="26" name="TextBox 25"/>
          <p:cNvSpPr txBox="1"/>
          <p:nvPr/>
        </p:nvSpPr>
        <p:spPr>
          <a:xfrm>
            <a:off x="449604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직접 생산하는 범위보다 넓은 지식을 보유한 기업이 기술 전환에서 성과 우위를 얻었다 (Kapoor &amp; Adner, 2012).</a:t>
            </a:r>
          </a:p>
        </p:txBody>
      </p:sp>
      <p:sp>
        <p:nvSpPr>
          <p:cNvPr id="27" name="Rounded Rectangle 26"/>
          <p:cNvSpPr/>
          <p:nvPr/>
        </p:nvSpPr>
        <p:spPr>
          <a:xfrm>
            <a:off x="809208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Oval 27"/>
          <p:cNvSpPr/>
          <p:nvPr/>
        </p:nvSpPr>
        <p:spPr>
          <a:xfrm>
            <a:off x="8272080" y="3618000"/>
            <a:ext cx="198000" cy="198000"/>
          </a:xfrm>
          <a:prstGeom prst="ellipse">
            <a:avLst/>
          </a:prstGeom>
          <a:solidFill>
            <a:srgbClr val="EA7A28"/>
          </a:solidFill>
          <a:ln>
            <a:noFill/>
          </a:ln>
        </p:spPr>
        <p:txBody>
          <a:bodyPr rtlCol="0" anchor="ctr" lIns="36000" rIns="36000" tIns="36000" bIns="36000"/>
          <a:lstStyle/>
          <a:p>
            <a:pPr algn="ctr"/>
          </a:p>
        </p:txBody>
      </p:sp>
      <p:sp>
        <p:nvSpPr>
          <p:cNvPr id="29" name="TextBox 28"/>
          <p:cNvSpPr txBox="1"/>
          <p:nvPr/>
        </p:nvSpPr>
        <p:spPr>
          <a:xfrm>
            <a:off x="856008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발명이 먼저 보여 준 징후</a:t>
            </a:r>
          </a:p>
        </p:txBody>
      </p:sp>
      <p:sp>
        <p:nvSpPr>
          <p:cNvPr id="30" name="TextBox 29"/>
          <p:cNvSpPr txBox="1"/>
          <p:nvPr/>
        </p:nvSpPr>
        <p:spPr>
          <a:xfrm>
            <a:off x="827208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인터페이스가 흔들린 징후는 조직이나 산업 구조보다 먼저, 두 단계의 지식을 함께 담은 발명(통합형 45.8%)으로 나타났다.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5.3  </a:t>
            </a:r>
            <a:r>
              <a:rPr sz="2200" b="1" i="0" lang="ko-KR" altLang="en-US">
                <a:solidFill>
                  <a:srgbClr val="13294B"/>
                </a:solidFill>
                <a:latin typeface="맑은 고딕"/>
                <a:ea typeface="맑은 고딕"/>
                <a:cs typeface="맑은 고딕"/>
              </a:rPr>
              <a:t>실무적 시사점: 차세대 패키징을 준비하는 기업에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780020" y="1224000"/>
            <a:ext cx="1080000" cy="1080000"/>
          </a:xfrm>
          <a:prstGeom prst="ellipse">
            <a:avLst/>
          </a:prstGeom>
          <a:solidFill>
            <a:srgbClr val="2563C9"/>
          </a:solidFill>
          <a:ln>
            <a:noFill/>
          </a:ln>
        </p:spPr>
        <p:txBody>
          <a:bodyPr rtlCol="0" anchor="ctr" lIns="36000" rIns="36000" tIns="36000" bIns="36000"/>
          <a:lstStyle/>
          <a:p>
            <a:pPr algn="ctr"/>
          </a:p>
        </p:txBody>
      </p:sp>
      <p:pic>
        <p:nvPicPr>
          <p:cNvPr id="6" name="Picture 5" descr="FaLayerGroup_FFFFFF.png"/>
          <p:cNvPicPr>
            <a:picLocks noChangeAspect="1"/>
          </p:cNvPicPr>
          <p:nvPr/>
        </p:nvPicPr>
        <p:blipFill>
          <a:blip r:embed="rId3"/>
          <a:stretch>
            <a:fillRect/>
          </a:stretch>
        </p:blipFill>
        <p:spPr>
          <a:xfrm>
            <a:off x="2050020" y="1494000"/>
            <a:ext cx="540000" cy="540000"/>
          </a:xfrm>
          <a:prstGeom prst="rect">
            <a:avLst/>
          </a:prstGeom>
        </p:spPr>
      </p:pic>
      <p:sp>
        <p:nvSpPr>
          <p:cNvPr id="7" name="TextBox 6"/>
          <p:cNvSpPr txBox="1"/>
          <p:nvPr/>
        </p:nvSpPr>
        <p:spPr>
          <a:xfrm>
            <a:off x="68400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접합 기술만으로는 부족할 수 있다</a:t>
            </a:r>
          </a:p>
        </p:txBody>
      </p:sp>
      <p:sp>
        <p:nvSpPr>
          <p:cNvPr id="8" name="Rounded Rectangle 7"/>
          <p:cNvSpPr/>
          <p:nvPr/>
        </p:nvSpPr>
        <p:spPr>
          <a:xfrm>
            <a:off x="1276020" y="3042000"/>
            <a:ext cx="2088000" cy="306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근거: RQ1 융합의 수준</a:t>
            </a:r>
          </a:p>
        </p:txBody>
      </p:sp>
      <p:sp>
        <p:nvSpPr>
          <p:cNvPr id="9" name="TextBox 8"/>
          <p:cNvSpPr txBox="1"/>
          <p:nvPr/>
        </p:nvSpPr>
        <p:spPr>
          <a:xfrm>
            <a:off x="79200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상당수 출원이 제조공정과 접합 기술을 함께 담음 → 평탄화 · 오염 제어 · 표면 화학 · 정렬을 아우르는 인접 공정 지식이 중요</a:t>
            </a:r>
          </a:p>
        </p:txBody>
      </p:sp>
      <p:sp>
        <p:nvSpPr>
          <p:cNvPr id="10" name="Rounded Rectangle 9"/>
          <p:cNvSpPr/>
          <p:nvPr/>
        </p:nvSpPr>
        <p:spPr>
          <a:xfrm>
            <a:off x="431604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1" name="Oval 10"/>
          <p:cNvSpPr/>
          <p:nvPr/>
        </p:nvSpPr>
        <p:spPr>
          <a:xfrm>
            <a:off x="5556060" y="1224000"/>
            <a:ext cx="1080000" cy="1080000"/>
          </a:xfrm>
          <a:prstGeom prst="ellipse">
            <a:avLst/>
          </a:prstGeom>
          <a:solidFill>
            <a:srgbClr val="EA7A28"/>
          </a:solidFill>
          <a:ln>
            <a:noFill/>
          </a:ln>
        </p:spPr>
        <p:txBody>
          <a:bodyPr rtlCol="0" anchor="ctr" lIns="36000" rIns="36000" tIns="36000" bIns="36000"/>
          <a:lstStyle/>
          <a:p>
            <a:pPr algn="ctr"/>
          </a:p>
        </p:txBody>
      </p:sp>
      <p:pic>
        <p:nvPicPr>
          <p:cNvPr id="12" name="Picture 11" descr="FaMemory_FFFFFF.png"/>
          <p:cNvPicPr>
            <a:picLocks noChangeAspect="1"/>
          </p:cNvPicPr>
          <p:nvPr/>
        </p:nvPicPr>
        <p:blipFill>
          <a:blip r:embed="rId4"/>
          <a:stretch>
            <a:fillRect/>
          </a:stretch>
        </p:blipFill>
        <p:spPr>
          <a:xfrm>
            <a:off x="5826060" y="1494000"/>
            <a:ext cx="540000" cy="540000"/>
          </a:xfrm>
          <a:prstGeom prst="rect">
            <a:avLst/>
          </a:prstGeom>
        </p:spPr>
      </p:pic>
      <p:sp>
        <p:nvSpPr>
          <p:cNvPr id="13" name="TextBox 12"/>
          <p:cNvSpPr txBox="1"/>
          <p:nvPr/>
        </p:nvSpPr>
        <p:spPr>
          <a:xfrm>
            <a:off x="446004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주변 공정에 주목하라</a:t>
            </a:r>
          </a:p>
        </p:txBody>
      </p:sp>
      <p:sp>
        <p:nvSpPr>
          <p:cNvPr id="14" name="Rounded Rectangle 13"/>
          <p:cNvSpPr/>
          <p:nvPr/>
        </p:nvSpPr>
        <p:spPr>
          <a:xfrm>
            <a:off x="5052060" y="3042000"/>
            <a:ext cx="2088000" cy="306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근거: RQ3 결합 중심</a:t>
            </a:r>
          </a:p>
        </p:txBody>
      </p:sp>
      <p:sp>
        <p:nvSpPr>
          <p:cNvPr id="15" name="TextBox 14"/>
          <p:cNvSpPr txBox="1"/>
          <p:nvPr/>
        </p:nvSpPr>
        <p:spPr>
          <a:xfrm>
            <a:off x="456804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재편기의 결합은 다이 지지 · 봉지 공정으로 → 차세대 HBM에는 얇은 다이를 다루고 적층하는 공정 역량까지 필요할 수 있음</a:t>
            </a:r>
          </a:p>
        </p:txBody>
      </p:sp>
      <p:sp>
        <p:nvSpPr>
          <p:cNvPr id="16" name="Rounded Rectangle 15"/>
          <p:cNvSpPr/>
          <p:nvPr/>
        </p:nvSpPr>
        <p:spPr>
          <a:xfrm>
            <a:off x="809208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Oval 16"/>
          <p:cNvSpPr/>
          <p:nvPr/>
        </p:nvSpPr>
        <p:spPr>
          <a:xfrm>
            <a:off x="9332100" y="1224000"/>
            <a:ext cx="1080000" cy="1080000"/>
          </a:xfrm>
          <a:prstGeom prst="ellipse">
            <a:avLst/>
          </a:prstGeom>
          <a:solidFill>
            <a:srgbClr val="10A39A"/>
          </a:solidFill>
          <a:ln>
            <a:noFill/>
          </a:ln>
        </p:spPr>
        <p:txBody>
          <a:bodyPr rtlCol="0" anchor="ctr" lIns="36000" rIns="36000" tIns="36000" bIns="36000"/>
          <a:lstStyle/>
          <a:p>
            <a:pPr algn="ctr"/>
          </a:p>
        </p:txBody>
      </p:sp>
      <p:pic>
        <p:nvPicPr>
          <p:cNvPr id="18" name="Picture 17" descr="FaGears_FFFFFF.png"/>
          <p:cNvPicPr>
            <a:picLocks noChangeAspect="1"/>
          </p:cNvPicPr>
          <p:nvPr/>
        </p:nvPicPr>
        <p:blipFill>
          <a:blip r:embed="rId5"/>
          <a:stretch>
            <a:fillRect/>
          </a:stretch>
        </p:blipFill>
        <p:spPr>
          <a:xfrm>
            <a:off x="9602100" y="1494000"/>
            <a:ext cx="540000" cy="540000"/>
          </a:xfrm>
          <a:prstGeom prst="rect">
            <a:avLst/>
          </a:prstGeom>
        </p:spPr>
      </p:pic>
      <p:sp>
        <p:nvSpPr>
          <p:cNvPr id="19" name="TextBox 18"/>
          <p:cNvSpPr txBox="1"/>
          <p:nvPr/>
        </p:nvSpPr>
        <p:spPr>
          <a:xfrm>
            <a:off x="823608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장비를 통한 지식의 흐름</a:t>
            </a:r>
          </a:p>
        </p:txBody>
      </p:sp>
      <p:sp>
        <p:nvSpPr>
          <p:cNvPr id="20" name="Rounded Rectangle 19"/>
          <p:cNvSpPr/>
          <p:nvPr/>
        </p:nvSpPr>
        <p:spPr>
          <a:xfrm>
            <a:off x="8828100" y="3042000"/>
            <a:ext cx="2088000" cy="306000"/>
          </a:xfrm>
          <a:prstGeom prst="roundRect">
            <a:avLst>
              <a:gd name="adj" fmla="val 5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10A39A"/>
                </a:solidFill>
                <a:latin typeface="맑은 고딕"/>
                <a:ea typeface="맑은 고딕"/>
                <a:cs typeface="맑은 고딕"/>
              </a:rPr>
              <a:t>근거: RQ3 연결 기호</a:t>
            </a:r>
          </a:p>
        </p:txBody>
      </p:sp>
      <p:sp>
        <p:nvSpPr>
          <p:cNvPr id="21" name="TextBox 20"/>
          <p:cNvSpPr txBox="1"/>
          <p:nvPr/>
        </p:nvSpPr>
        <p:spPr>
          <a:xfrm>
            <a:off x="834408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재편기에 접합과 제조공정을 잇는 기호가 공정 장치로 바뀜 → 장비를 매개로 공정 지식이 확산되는 경로(Rosenberg, 1963)에 주목</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5.4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82000"/>
            </a:srgbClr>
          </a:solidFill>
          <a:ln>
            <a:noFill/>
          </a:ln>
        </p:spPr>
        <p:txBody>
          <a:bodyPr rtlCol="0" anchor="ctr" lIns="36000" rIns="36000" tIns="36000" bIns="36000"/>
          <a:lstStyle/>
          <a:p>
            <a:pPr algn="ctr"/>
          </a:p>
        </p:txBody>
      </p:sp>
      <p:sp>
        <p:nvSpPr>
          <p:cNvPr id="4" name="Rectangle 3"/>
          <p:cNvSpPr/>
          <p:nvPr/>
        </p:nvSpPr>
        <p:spPr>
          <a:xfrm>
            <a:off x="1584000" y="1512000"/>
            <a:ext cx="9024120" cy="2736000"/>
          </a:xfrm>
          <a:prstGeom prst="rect">
            <a:avLst/>
          </a:prstGeom>
          <a:noFill/>
          <a:ln w="19050">
            <a:solidFill>
              <a:srgbClr val="FFFFFF"/>
            </a:solidFill>
          </a:ln>
        </p:spPr>
        <p:txBody>
          <a:bodyPr rtlCol="0" anchor="ctr" lIns="36000" rIns="36000" tIns="36000" bIns="36000"/>
          <a:lstStyle/>
          <a:p>
            <a:pPr algn="ctr"/>
          </a:p>
        </p:txBody>
      </p:sp>
      <p:sp>
        <p:nvSpPr>
          <p:cNvPr id="5" name="TextBox 4"/>
          <p:cNvSpPr txBox="1"/>
          <p:nvPr/>
        </p:nvSpPr>
        <p:spPr>
          <a:xfrm>
            <a:off x="1944000" y="1620000"/>
            <a:ext cx="8304120" cy="2520000"/>
          </a:xfrm>
          <a:prstGeom prst="rect">
            <a:avLst/>
          </a:prstGeom>
          <a:noFill/>
        </p:spPr>
        <p:txBody>
          <a:bodyPr wrap="square" lIns="0" rIns="0" tIns="0" bIns="0" anchor="ctr">
            <a:noAutofit/>
          </a:bodyPr>
          <a:lstStyle/>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“공정 단계 간 기술융합은 한 번 결합하고 멈추는 사건이 아니라,</a:t>
            </a:r>
          </a:p>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핵심 설계의 고착화와 함께 그 중심이</a:t>
            </a:r>
          </a:p>
          <a:p>
            <a:pPr algn="ctr" marL="0" indent="0">
              <a:lnSpc>
                <a:spcPts val="2880"/>
              </a:lnSpc>
              <a:spcBef>
                <a:spcPts val="0"/>
              </a:spcBef>
              <a:spcAft>
                <a:spcPts val="0"/>
              </a:spcAft>
              <a:buNone/>
            </a:pPr>
            <a:r>
              <a:rPr sz="2400" b="1" i="0" lang="ko-KR" altLang="en-US">
                <a:solidFill>
                  <a:srgbClr val="D4A72C"/>
                </a:solidFill>
                <a:latin typeface="맑은 고딕"/>
                <a:ea typeface="맑은 고딕"/>
                <a:cs typeface="맑은 고딕"/>
              </a:rPr>
              <a:t>핵심에서 주변으로 옮겨 가는 과정이다.”</a:t>
            </a:r>
          </a:p>
        </p:txBody>
      </p:sp>
      <p:sp>
        <p:nvSpPr>
          <p:cNvPr id="6" name="TextBox 5"/>
          <p:cNvSpPr txBox="1"/>
          <p:nvPr/>
        </p:nvSpPr>
        <p:spPr>
          <a:xfrm>
            <a:off x="1584000" y="4500000"/>
            <a:ext cx="9024120" cy="720000"/>
          </a:xfrm>
          <a:prstGeom prst="rect">
            <a:avLst/>
          </a:prstGeom>
          <a:noFill/>
        </p:spPr>
        <p:txBody>
          <a:bodyPr wrap="square" lIns="0" rIns="0" tIns="0" bIns="0" anchor="ctr">
            <a:noAutofit/>
          </a:bodyPr>
          <a:lstStyle/>
          <a:p>
            <a:pPr algn="ctr" marL="0" indent="0">
              <a:lnSpc>
                <a:spcPts val="1680"/>
              </a:lnSpc>
              <a:spcBef>
                <a:spcPts val="0"/>
              </a:spcBef>
              <a:spcAft>
                <a:spcPts val="400"/>
              </a:spcAft>
              <a:buNone/>
            </a:pPr>
            <a:r>
              <a:rPr sz="1400" b="0" i="0" lang="ko-KR" altLang="en-US">
                <a:solidFill>
                  <a:srgbClr val="B9C6DD"/>
                </a:solidFill>
                <a:latin typeface="맑은 고딕"/>
                <a:ea typeface="맑은 고딕"/>
                <a:cs typeface="맑은 고딕"/>
              </a:rPr>
              <a:t>하이브리드 본딩 특허 928건(1968–2024)의 종단 분석</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다음 경쟁은 핵심 원리보다 주변 공정과의 결합에서 일어날 수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3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4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5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6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