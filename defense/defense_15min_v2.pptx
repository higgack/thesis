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6"/>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1275">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1275">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1275">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100" b="0" i="0" lang="ko-KR" altLang="en-US">
                    <a:solidFill>
                      <a:srgbClr val="5B6475"/>
                    </a:solidFill>
                    <a:latin typeface="맑은 고딕"/>
                    <a:ea typeface="맑은 고딕"/>
                    <a:cs typeface="맑은 고딕"/>
                  </a:rPr>
                  <a:t>기술범위 (CPC 서브그룹 수)</a:t>
                </a:r>
              </a:p>
            </c:rich>
          </c:tx>
          <c:layout/>
          <c:overlay val="0"/>
        </c:title>
        <c:majorTickMark val="out"/>
        <c:minorTickMark val="none"/>
        <c:tickLblPos val="nextTo"/>
        <c:spPr>
          <a:ln>
            <a:solidFill>
              <a:srgbClr val="9AA3B2"/>
            </a:solidFill>
          </a:ln>
        </c:spPr>
        <c:txPr>
          <a:bodyPr/>
          <a:lstStyle/>
          <a:p>
            <a:pPr>
              <a:defRPr sz="115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1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15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150">
              <a:solidFill>
                <a:srgbClr val="1E2532"/>
              </a:solidFill>
              <a:latin typeface="맑은 고딕"/>
              <a:ea typeface="맑은 고딕"/>
            </a:defRPr>
          </a:pPr>
        </a:p>
      </c:txPr>
    </c:legend>
    <c:plotVisOnly val="1"/>
    <c:dispBlanksAs val="gap"/>
    <c:showDLblsOverMax val="0"/>
  </c:chart>
  <c:spPr>
    <a:noFill/>
    <a:ln>
      <a:noFill/>
    </a:ln>
  </c:spPr>
  <c:txPr>
    <a:bodyPr/>
    <a:lstStyle/>
    <a:p>
      <a:pPr>
        <a:defRPr sz="115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circle"/>
            <c:size val="10"/>
            <c:spPr>
              <a:solidFill>
                <a:srgbClr val="7C3AED"/>
              </a:solidFill>
              <a:ln>
                <a:solidFill>
                  <a:srgbClr val="7C3AED"/>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t"/>
              <c:showLegendKey val="0"/>
              <c:showVal val="1"/>
              <c:showCatName val="0"/>
              <c:showSerName val="0"/>
              <c:showPercent val="0"/>
              <c:showBubbleSize val="0"/>
            </c:dLbl>
            <c:numFmt formatCode="0.0&quot;%&quot;" sourceLinked="0"/>
            <c:txPr>
              <a:bodyPr/>
              <a:lstStyle/>
              <a:p>
                <a:pPr>
                  <a:defRPr sz="1150" b="1">
                    <a:solidFill>
                      <a:srgbClr val="7C3AED"/>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31.3</c:v>
                </c:pt>
                <c:pt idx="1">
                  <c:v>62.2</c:v>
                </c:pt>
                <c:pt idx="2">
                  <c:v>44.3</c:v>
                </c:pt>
              </c:numCache>
            </c:numRef>
          </c:val>
          <c:smooth val="0"/>
        </c:ser>
        <c:ser>
          <c:idx val="1"/>
          <c:order val="1"/>
          <c:tx>
            <c:strRef>
              <c:f>Sheet1!$C$1</c:f>
              <c:strCache>
                <c:ptCount val="1"/>
                <c:pt idx="0">
                  <c:v>접합 단독형</c:v>
                </c:pt>
              </c:strCache>
            </c:strRef>
          </c:tx>
          <c:spPr>
            <a:ln w="57150">
              <a:solidFill>
                <a:srgbClr val="EA7A28"/>
              </a:solidFill>
            </a:ln>
          </c:spPr>
          <c:marker>
            <c:symbol val="circle"/>
            <c:size val="10"/>
            <c:spPr>
              <a:solidFill>
                <a:srgbClr val="EA7A28"/>
              </a:solidFill>
              <a:ln>
                <a:solidFill>
                  <a:srgbClr val="EA7A28"/>
                </a:solidFill>
              </a:ln>
            </c:spPr>
          </c:marker>
          <c:dLbls>
            <c:dLbl>
              <c:idx val="0"/>
              <c:spPr/>
              <c:txPr>
                <a:bodyPr/>
                <a:lstStyle/>
                <a:p>
                  <a:pPr>
                    <a:defRPr/>
                  </a:pPr>
                </a:p>
              </c:txPr>
              <c:dLblPos val="b"/>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EA7A28"/>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25.1</c:v>
                </c:pt>
                <c:pt idx="1">
                  <c:v>23.0</c:v>
                </c:pt>
                <c:pt idx="2">
                  <c:v>45.4</c:v>
                </c:pt>
              </c:numCache>
            </c:numRef>
          </c:val>
          <c:smooth val="0"/>
        </c:ser>
        <c:ser>
          <c:idx val="2"/>
          <c:order val="2"/>
          <c:tx>
            <c:strRef>
              <c:f>Sheet1!$D$1</c:f>
              <c:strCache>
                <c:ptCount val="1"/>
                <c:pt idx="0">
                  <c:v>공정 단독형</c:v>
                </c:pt>
              </c:strCache>
            </c:strRef>
          </c:tx>
          <c:spPr>
            <a:ln w="25400">
              <a:solidFill>
                <a:srgbClr val="2563C9"/>
              </a:solidFill>
            </a:ln>
          </c:spPr>
          <c:marker>
            <c:symbol val="circle"/>
            <c:size val="7"/>
            <c:spPr>
              <a:solidFill>
                <a:srgbClr val="2563C9"/>
              </a:solidFill>
              <a:ln>
                <a:solidFill>
                  <a:srgbClr val="2563C9"/>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b"/>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43.6</c:v>
                </c:pt>
                <c:pt idx="1">
                  <c:v>14.8</c:v>
                </c:pt>
                <c:pt idx="2">
                  <c:v>10.4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70.0"/>
          <c:min val="0.0"/>
        </c:scaling>
        <c:delete val="0"/>
        <c:axPos val="l"/>
        <c:majorGridlines>
          <c:spPr>
            <a:ln>
              <a:solidFill>
                <a:srgbClr val="DDE2EA"/>
              </a:solidFill>
            </a:ln>
          </c:spPr>
        </c:majorGridlines>
        <c:numFmt formatCode="0&quot;%&quot;"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20.0"/>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dLbl>
              <c:idx val="2"/>
              <c:tx>
                <c:rich>
                  <a:bodyPr/>
                  <a:lstStyle/>
                  <a:p>
                    <a:r>
                      <a:rPr sz="1100" b="1" i="0" lang="ko-KR" altLang="en-US">
                        <a:solidFill>
                          <a:srgbClr val="2563C9"/>
                        </a:solidFill>
                        <a:latin typeface="맑은 고딕"/>
                        <a:ea typeface="맑은 고딕"/>
                        <a:cs typeface="맑은 고딕"/>
                      </a:rPr>
                      <a:t>0.159</a:t>
                    </a:r>
                  </a:p>
                </c:rich>
              </c:tx>
              <c:dLblPos val="b"/>
              <c:showLegendKey val="0"/>
              <c:showVal val="1"/>
              <c:showCatName val="0"/>
              <c:showSerName val="0"/>
              <c:showPercent val="0"/>
              <c:showBubbleSize val="0"/>
            </c:dLbl>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dLbl>
              <c:idx val="2"/>
              <c:tx>
                <c:rich>
                  <a:bodyPr/>
                  <a:lstStyle/>
                  <a:p>
                    <a:r>
                      <a:rPr sz="1100" b="1" i="0" lang="ko-KR" altLang="en-US">
                        <a:solidFill>
                          <a:srgbClr val="10A39A"/>
                        </a:solidFill>
                        <a:latin typeface="맑은 고딕"/>
                        <a:ea typeface="맑은 고딕"/>
                        <a:cs typeface="맑은 고딕"/>
                      </a:rPr>
                      <a:t>0.176</a:t>
                    </a:r>
                  </a:p>
                </c:rich>
              </c:tx>
              <c:dLblPos val="t"/>
              <c:showLegendKey val="0"/>
              <c:showVal val="1"/>
              <c:showCatName val="0"/>
              <c:showSerName val="0"/>
              <c:showPercent val="0"/>
              <c:showBubbleSize val="0"/>
            </c:dLbl>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말씀드리겠습니다. 하이브리드 본딩 특허 928건에서 세 가지를 확인했습니다. 첫째, 제조공정과 접합 기술을 함께 담은 통합형이 45.8%, 좁은 정의에서도 37.2%로, 경계를 넘는 발명은 예외가 아니었습니다. 둘째, 융합은 형성기, 확산기, 재편기의 세 국면을 거쳤습니다. 셋째, 핵심 설계가 고착화되면서 융합의 중심이 주변 공정으로 옮겨 갔습니다. 그 과정을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웨이퍼 위에 소자를 만드는 전공정과, 이를 잘라 조립하는 후공정으로 반세기 넘게 나뉘어 왔고, 이 분업은 두 단계 사이의 인터페이스가 안정적이었기에 가능했습니다. 하이브리드 본딩은 솔더 범프 없이 구리 패드와 산화막을 직접 맞붙여 10마이크로미터 이하의 연결 간격을 구현하는 후공정 기술입니다. 범프 접합이 접착제로 붙이는 방식이라면, 하이브리드 본딩은 거울처럼 평평한 두 면을 그대로 맞붙이는 방식입니다. 그런데 그 성패를 좌우하는 평탄화, 표면 활성화, 파티클 제어, 정밀 정렬은 전공정의 제조공정 역량입니다. 후공정 기술의 성패를 전공정 역량이 좌우하게 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현상을 기술융합 연구에서 찾아보았지만 아쉬운 점이 세 가지 있었습니다. 첫째, 대부분 서로 다른 산업 사이의 융합을 다루었고, 한 산업 안에서 공정 단계를 가로지르는 융합은 드물었습니다. 둘째, 융합을 분야 수준의 지수로 측정해 어떤 발명이 융합을 담는지는 설명하기 어려웠습니다. 셋째, 이론은 융합을 단계적 과정으로 보지만 실증 연구는 융합이 늘었는지를 확인하는 데 머물렀습니다. 그래서 저는 공정 단계 사이의 융합을 개별 특허 수준에서, 시간의 흐름에 따라 분석했습니다.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공통의 생산공정을 통해 기술이 산업의 경계를 넘어 퍼지는 현상을 기술적 수렴이라 불렀고, Kodama는 분리된 기술 분야가 결합해 새로운 역량을 만드는 과정을 기술융합으로 정의했습니다. Hacklin 등은 융합이 지식, 기술, 응용, 산업의 네 단계로 진행된다고 보았습니다. 하이브리드 본딩에 대입하면, 제조공정 지식이 칩 연결 문제에 쓰이기 시작하는 것이 지식 융합, 그 지식이 접합 구조와 하나의 발명 안에서 결합되는 것이 기술 융합, HBM 같은 제품으로 구현되는 것이 응용 융합, 분업 구조가 바뀌는 것이 산업 융합입니다. 이 가운데 특허 공동분류로 직접 관찰할 수 있는 것은 기술 융합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여기에 두 가지 이론을 더했습니다. 첫째, 수직 전문화와 지식 경계입니다. Kapoor와 Adner는 DRAM 산업에서 외주화한 부품의 지식까지 보유한 기업이 기술 전환에서 성과 우위를 얻었음을 보였습니다. 생산의 경계와 지식의 경계는 다르기 때문에, 인터페이스가 불안정해지면 그 징후는 조직보다 먼저 경계를 넘는 발명으로 나타날 것입니다. 둘째, 기술 순환 모형과 핵심–주변 구조입니다. 지배적 설계가 고착화되면 새로운 결합은 핵심이 아닌 주변에서 일어날 것입니다. 도로의 규격이 정해지면 새로운 일이 그 규격 위에서 이루어지는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이론들로부터 세 가지 연구 질문을 세웠습니다. 첫째, 융합이 어느 정도로, 어떤 형태로 나타나는가입니다. 지식 경계의 논리에 따르면 두 영역을 함께 담은 발명은 예외가 아닐 것입니다. 둘째, 시간에 따라 어떻게 변화해 왔는가입니다. 융합은 꾸준히 늘기보다 발전 단계에 따라 달라질 것입니다. 셋째, 융합의 중심이 핵심 기술과 주변 기술 사이에서 어떻게 재편되는가입니다. 핵심 설계가 고착화되면 중심은 주변 공정으로 이동할 것입니다. 이 기대들은 통계적 가설이 아니라 결과를 해석하는 기준으로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융합은 CPC 공동분류로 측정했습니다. 실제 출원 세 건을 보시면, 제조공정 기호만 가지면 공정 단독형, 접합 기호만 가지면 접합 단독형, 둘을 함께 가지면 공정 단계의 경계를 넘는 통합형입니다. 다만 이것은 대리측정치이며 법적 청구범위를 뜻하지는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분석은 세 유형을 설명하는 다항 로짓을 주모형으로 했습니다. 설명변수는 두 클래스 안에서 출원이 가진 세부 분류 기호의 수인 기술범위와 출원연도입니다. 제조공정 분류 보유 여부의 이항 로짓은 보완분석이고, 세 번째 질문은 접합 출원 763건에서 핵심 기술과 출원 시기의 상호작용을 이항 로짓으로 보았습니다. 출원 시기는 2014년 이전, 2015년부터 2019년, 2020년부터 2024년으로 나누었습니다. 핵심 기술은 기술 클러스터와 네트워크로 식별한 접합 패드 기호 네 개이며, 접합 출원의 81.3%가 이를 포함합니다.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결과입니다. 첫 번째 연구 질문의 결과, 928건 가운데 가장 많은 유형은 통합형으로 45.8%였고, 패키징 단계 공정을 뺀 좁은 정의에서도 37.2%였습니다. 공정 단계 간 융합은 예외가 아니었습니다. 그렇다면 어떤 특허가 경계를 넘었을까요? 세부 분류가 하나 늘 때마다 통합형일 상대위험이 40% 높아져, 기술범위 3에서 0.26이던 예측확률이 8에서는 0.68이 되었습니다. 통합형은 정의상 기호가 두 개 이상이라는 기계적 측면이 있어 이를 조정한 지표로도 확인했는데, 방향은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결과입니다. 2014년 이전 47년간의 출원은 이후 5년간보다 적을 만큼 드물어 하나의 시기로 묶었습니다. 2014년 이전에는 공정 단독형이 43.6%로 가장 많았고, 2015년부터 2019년까지는 통합형이 62.2%로 정점에 이르렀으며, 2020년 이후에는 통합형이 44.3%로 낮아지고 접합 단독형이 45.4%로 늘었습니다. 저는 이를 형성기, 확산기, 재편기라 이름 붙였습니다. 회귀분석에서도 공정 단독형의 상대위험은 매년 8.7%씩 줄어, 출원의 무게중심이 제조공정에서 접합 쪽으로 이동했습니다.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결과입니다. 핵심 기술을 포함한 접합 출원이 통합형일 승산은 형성기에 11.1배였지만, 확산기에는 2.5배로 줄었고, 재편기에는 유의한 차이가 확인되지 않았습니다. 그사이 핵심 기술을 포함한 출원의 비중은 53.5%에서 88.0%로 높아져, 발명이 하나의 핵심 설계로 수렴한 것으로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재편기에 통합형은 44.3%로 줄고 접합 단독형은 45.4%로 늘었습니다. 출원이 가장 많아진 시기에 왜 경계를 넘는 발명의 비중이 줄었을까요? 저는 이를 지배적 설계로 해석했습니다. 인터페이스가 불안정한 시기에는 접합 패드를 발명할 때마다 제조공정 지식을 함께 다루어야 했지만, 직접 접합의 원리가 고착화되면 그 지식은 주어진 조건이 되고 새로운 결합은 주변 공정에서 일어납니다. 다만 이는 인과를 검정한 결과가 아닌 해석입니다.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선의 굵기는 접합 기호와 함께 부여되는 정도, 원의 크기는 매개 중심성입니다. 웨이퍼 제조공정의 결합 강도는 확산기 0.598에서 재편기 0.159로 낮아졌고, 공정 장치와 패키징 단계 공정은 높아졌습니다. 핵심 기술은 허브로 남았지만, 함께 부여된 공정은 반도체 몸체끼리의 접합에서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하나로 정리하면,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 결과는 여러 재추정에서도 유지되었고, 시간 추세만 2014년 이전 출원이 30건뿐인 hybrid bonding 표본에서 식별되지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실무적으로는 하이브리드 본딩의 경쟁력이 접합 원리 하나에 좌우되지 않을 수 있습니다. 차세대 HBM에 하이브리드 본딩을 도입하려는 한국 메모리 산업에는 평탄화, 표면 화학, 정렬 계측 같은 제조공정 역량과 함께 얇은 다이를 다루고 적층하는 공정 역량이 필요할 수 있습니다. 한계도 있습니다. 공동분류는 대리측정치이고, CPC 재분류의 영향을 배제할 수 없으며, 제목 검색과 패밀리 정보에도 한계가 있고, 결과는 인과가 아닌 조건부 연관입니다. 향후에는 출원인과 패밀리 정보를 결합하고, 다른 공정기술과 비교하여 이 세 국면의 일반성을 검증하고자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문장으로 정리하면, 공정 단계 간 기술융합은 한 번 결합하고 멈추는 사건이 아니라 핵심 설계의 고착화와 함께 그 중심이 핵심에서 주변으로 옮겨 가는 과정입니다. 다음 경쟁은 핵심 원리보다 주변 공정과의 결합에서 일어날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크게 두 단계로 나뉩니다. 웨이퍼 위에 트랜지스터를 만드는 전공정, 그리고 완성된 웨이퍼를 잘라 조립하고 패키징하는 후공정입니다. 전공정은 종합반도체기업과 파운드리의 팹에서, 후공정은 조립·테스트 전문업체에서 맡는 분업이 반세기 넘게 유지되어 왔습니다. 이 분업이 가능했던 것은 두 단계 사이의 인터페이스가 안정적이었기 때문입니다. 그런데 회로 선폭을 줄이는 미세화가 한계에 부딪히자, 산업은 다이를 나누고 쌓아 연결하는 첨단 패키징에서 새로운 성능 향상의 기회를 찾기 시작했고,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분리되면서 팹리스, 파운드리, 조립·테스트 전문업체가 등장한 대표적인 산업입니다. 그런데 Kapoor와 Adner는 1974년부터 2005년까지 DRAM 산업의 12개 제품 세대를 분석하여, 외주화한 부품의 지식까지 보유한 비통합 기업이 기술 전환에서 성과 우위를 얻었음을 보였습니다. Brusoni 등도 구성요소 사이의 상호의존을 예측하기 어려울 때 기업은 직접 생산하는 범위보다 넓은 지식을 가져야 한다고 설명합니다. 즉, 생산의 경계와 지식의 경계는 다릅니다. 하이브리드 본딩처럼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Anderson과 Tushman에 따르면 새로운 기술은 여러 설계가 경쟁하는 격동기를 거쳐 하나의 지배적 설계로 수렴하고, 그 뒤에는 정해진 설계를 다듬는 점진적 변화가 이어집니다. Murmann과 Frenken은 지배적 설계를, 다른 요소와 안정된 인터페이스 역할을 하는 핵심 요소의 설계로 보았습니다. 핵심 설계가 안정되면 이후의 기술 변화는 그 인터페이스를 전제로 주변 요소에서 이어집니다. 도로에 비유하면, 규격이 정해지기 전에는 설계자와 시공자가 한 몸처럼 움직여야 하지만, 규격이 정해진 뒤에는 각자 그 규격을 전제로 일하게 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본딩을 조금 더 들여다보겠습니다. 왼쪽처럼 하이브리드 본딩은 기반 공정, 접합 형태, 소자 구조, 적용 제품의 네 층위로 정리할 수 있는데, 기반 공정은 CPC의 제조공정 클래스인 H01L21에, 접합 형태는 접합·인터커넥트 클래스인 H01L24에 주로 대응합니다. 오른쪽은 다이-투-웨이퍼 하이브리드 본딩의 실제 공정 흐름입니다. 다이를 자르기 전까지 절연막 증착, 다마신 식각, 구리 증착과 도금, 화학적 기계연마가 이어지는데, 모두 전공정에서 쓰이던 공정과 장비입니다. 특허 활동을 주도하는 출원인에도 TSMC, Adeia, YMTC, Intel, Samsung처럼 라이선싱 기업, 파운드리, 메모리 기업이 함께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기술 클러스터 분석으로 200건 이상의 출원에 공통으로 부여된 기호를 찾고, 기술 네트워크 분석으로 기호 사이의 연결 구조를 확인했습니다. 그 결과 접합 패드에 관한 네 기호, 즉 24/03, 24/05, 24/08, 24/80이 가장 많이 부여되면서 서로 가장 강하게 연결된 기호로 나타났습니다. 이 네 기호를 핵심 기술로 정의했고,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형성기입니다. 이 시기에는 공정 단독형이 43.6%로 가장 많았습니다. 직접 접합을 가능하게 하는 제조공정 발명이 먼저 단독으로 쌓인 시기입니다. 주목할 점은 핵심 기술, 즉 접합 패드 기호를 포함한 접합 출원의 79.6%가 통합형이었다는 것입니다. 핵심 기술이 없는 출원은 27.7%에 그쳤고, 출원청을 통제한 승산비는 11.07이었습니다. 인터페이스가 확정되기 전이라, 핵심 기술을 발명하려면 평탄화나 웨이퍼 접합 같은 제조공정 지식을 함께 다루어야 했던 것으로 해석됩니다. 단계 모형으로는 지식 융합에 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확산기에는 통합형이 62.2%로 정점에 이르렀습니다. 웨이퍼 제조공정이 접합 기호와 함께 부여되는 정도를 나타내는 Jaccard 계수도 0.598로 가장 높았고, 핵심 기술과 함께 부여된 대표 기호는 반도체 몸체끼리의 접합이었습니다. 핵심 기술의 승산비는 2.45로 줄었지만 유지되었고, 핵심 기술을 포함한 접합 출원의 비중은 78.7%로 커졌습니다. 두 영역의 지식이 하나의 발명 안에서 가장 활발히 결합된, 단계 모형의 기술 융합 국면입니다.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재편기에는 예상과 다른 모습이 나타났습니다. 출원이 540건으로 가장 많았던 이 시기에 통합형은 44.3%로 내려왔고, 접합 단독형이 45.4%로 늘어 두 유형이 비슷해졌습니다. 핵심 기술의 승산비는 0.66으로 유의한 차이가 확인되지 않았고, 접합 출원의 88.0%가 핵심 기술을 포함하게 되었습니다. 기술이 가장 활발히 발명된 시기에, 왜 경계를 넘는 발명의 비중은 오히려 줄었을까요?</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접합 기호와 함께 부여되는 정도를 제조공정 영역별로 보면, 웨이퍼 제조공정은 확산기 0.598에서 재편기 0.159로 크게 낮아진 반면, 공정 장치와 패키징 단계 공정은 꾸준히 높아졌습니다. 기술 네트워크에서도 핵심 기호는 세 시기 내내 허브의 자리를 지켰지만, 접합과 제조공정을 잇는 연결 기호는 웨이퍼 제조공정에서 공정 장치로 바뀌었습니다. 핵심 기술과 함께 부여된 공정도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결과는 산업 구조에도 시사점을 줍니다. 반도체 산업은 설계, 제조, 조립·테스트가 분리되며 발전했고, 이 분업은 두 단계 사이의 인터페이스가 안정적이라는 전제 위에 있었습니다. 하이브리드 본딩은 이 전제를 흔듭니다. Kapoor와 Adner가 보였듯이 생산의 경계와 지식의 경계는 다르고, 인터페이스가 흔들린 징후는 조직이나 산업 구조보다 먼저 두 단계의 지식을 함께 담은 발명으로 나타났습니다. 통합형 45.8%라는 결과가 그것입니다.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기업에 주는 시사점은 세 가지입니다. 첫째, 상당수의 출원이 제조공정과 접합 기술을 함께 담고 있다는 것은 접합 기술 역량만으로는 충분하지 않을 수 있다는 뜻입니다. 둘째, 재편기의 결합은 다이 지지와 봉지 공정으로 옮겨 갔습니다. 차세대 HBM에 하이브리드 본딩을 도입하려는 한국 메모리 산업에는 얇은 다이를 다루고 적층하는 공정 역량까지 필요할 수 있습니다. 셋째, 재편기에 접합과 제조공정을 잇는 기호가 공정 장치로 바뀐 것은 장비를 매개로 공정 지식이 확산된다는 Rosenberg의 관찰과 맥을 같이합니다. 장비를 통한 지식의 흐름에 주목할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연구에는 한계도 있습니다. 첫째, 공동분류는 융합의 대리측정치이고, CPC가 과거 출원까지 소급해 재분류될 수 있어 시간적 변화의 일부는 분류 체계의 변화를 반영했을 수 있습니다. 둘째, 제목 키워드로 검색했기 때문에 제목에 관련어가 없는 출원은 빠졌습니다. 셋째, 특허 패밀리 정보가 없어 같은 제목으로 중복을 근사했습니다. 넷째, 출원인이나 응용처 같은 변수가 없고, 결과는 인과관계가 아니라 조건부 연관입니다. 향후에는 출원인과 패밀리 정보를 결합하고, 디스플레이나 배터리처럼 하류 단계가 상류 역량에 의존하게 된 다른 공정기술과 비교하여 이 세 국면이 일반적인 현상인지 검증해 보고자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전략과 표본의 특성을 묻는 질문에 쓰는 슬라이드입니다. 1차로 CPC 두 클래스, 2차로 제목 키워드를 적용했고, hybrid bonding 표본 467건, 무관 용법 68건, 동일 제목 473개를 강건성 검증에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기술의 근거를 묻는 질문에 쓰는 슬라이드입니다. 클러스터 상위 기호와 네트워크의 가장 강한 기호 쌍이 모두 접합 패드와 직접 접합 기호로 이루어져 있습니다. 인덱싱 코드는 회귀 자료에 없으므로 핵심 기술은 회귀 자료의 H01L24 기호 네 개로 정의했습니다.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chart" Target="../charts/char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chart" Target="../charts/char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chart" Target="../charts/char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21.png"/><Relationship Id="rId4" Type="http://schemas.openxmlformats.org/officeDocument/2006/relationships/image" Target="../media/image5.png"/><Relationship Id="rId5"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핵심 요약</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경계를 넘는 발명은 예외가 아니었고, 한 방향으로 쌓이지 않았으며, 그 중심은 핵심에서 주변으로 옮겨 갔다</a:t>
            </a:r>
          </a:p>
        </p:txBody>
      </p:sp>
      <p:sp>
        <p:nvSpPr>
          <p:cNvPr id="4" name="Rounded Rectangle 3"/>
          <p:cNvSpPr/>
          <p:nvPr/>
        </p:nvSpPr>
        <p:spPr>
          <a:xfrm>
            <a:off x="540000" y="954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Rounded Rectangle 4"/>
          <p:cNvSpPr/>
          <p:nvPr/>
        </p:nvSpPr>
        <p:spPr>
          <a:xfrm>
            <a:off x="720000" y="1116000"/>
            <a:ext cx="684000" cy="34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RQ1</a:t>
            </a:r>
          </a:p>
        </p:txBody>
      </p:sp>
      <p:sp>
        <p:nvSpPr>
          <p:cNvPr id="6" name="TextBox 5"/>
          <p:cNvSpPr txBox="1"/>
          <p:nvPr/>
        </p:nvSpPr>
        <p:spPr>
          <a:xfrm>
            <a:off x="1530000" y="1098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경계를 넘는 발명은 예외가 아니다</a:t>
            </a:r>
          </a:p>
        </p:txBody>
      </p:sp>
      <p:sp>
        <p:nvSpPr>
          <p:cNvPr id="7" name="TextBox 6"/>
          <p:cNvSpPr txBox="1"/>
          <p:nvPr/>
        </p:nvSpPr>
        <p:spPr>
          <a:xfrm>
            <a:off x="756000" y="1566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통합형 45.8%</a:t>
            </a:r>
            <a:r>
              <a:rPr sz="1550" b="0" i="0" lang="ko-KR" altLang="en-US">
                <a:solidFill>
                  <a:srgbClr val="5B6475"/>
                </a:solidFill>
                <a:latin typeface="맑은 고딕"/>
                <a:ea typeface="맑은 고딕"/>
                <a:cs typeface="맑은 고딕"/>
              </a:rPr>
              <a:t> (좁은 정의 37.2%)</a:t>
            </a:r>
          </a:p>
        </p:txBody>
      </p:sp>
      <p:sp>
        <p:nvSpPr>
          <p:cNvPr id="8" name="TextBox 7"/>
          <p:cNvSpPr txBox="1"/>
          <p:nvPr/>
        </p:nvSpPr>
        <p:spPr>
          <a:xfrm>
            <a:off x="756000" y="1962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세부 기술을 다양하게 포함한 출원일수록 통합형일 가능성이 높음</a:t>
            </a:r>
          </a:p>
        </p:txBody>
      </p:sp>
      <p:sp>
        <p:nvSpPr>
          <p:cNvPr id="9" name="Rounded Rectangle 8"/>
          <p:cNvSpPr/>
          <p:nvPr/>
        </p:nvSpPr>
        <p:spPr>
          <a:xfrm>
            <a:off x="540000" y="2628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Rounded Rectangle 9"/>
          <p:cNvSpPr/>
          <p:nvPr/>
        </p:nvSpPr>
        <p:spPr>
          <a:xfrm>
            <a:off x="720000" y="2790000"/>
            <a:ext cx="684000" cy="342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RQ2</a:t>
            </a:r>
          </a:p>
        </p:txBody>
      </p:sp>
      <p:sp>
        <p:nvSpPr>
          <p:cNvPr id="11" name="TextBox 10"/>
          <p:cNvSpPr txBox="1"/>
          <p:nvPr/>
        </p:nvSpPr>
        <p:spPr>
          <a:xfrm>
            <a:off x="1530000" y="2772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융합은 세 국면을 거쳤다</a:t>
            </a:r>
          </a:p>
        </p:txBody>
      </p:sp>
      <p:sp>
        <p:nvSpPr>
          <p:cNvPr id="12" name="TextBox 11"/>
          <p:cNvSpPr txBox="1"/>
          <p:nvPr/>
        </p:nvSpPr>
        <p:spPr>
          <a:xfrm>
            <a:off x="756000" y="3240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공정 단독형 43.6% → 통합형 62.2% → 접합 단독형 45.4%</a:t>
            </a:r>
          </a:p>
        </p:txBody>
      </p:sp>
      <p:sp>
        <p:nvSpPr>
          <p:cNvPr id="13" name="TextBox 12"/>
          <p:cNvSpPr txBox="1"/>
          <p:nvPr/>
        </p:nvSpPr>
        <p:spPr>
          <a:xfrm>
            <a:off x="756000" y="3636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형성기(–2014) → 확산기(2015–2019) → 재편기(2020–2024)</a:t>
            </a:r>
          </a:p>
        </p:txBody>
      </p:sp>
      <p:sp>
        <p:nvSpPr>
          <p:cNvPr id="14" name="Rounded Rectangle 13"/>
          <p:cNvSpPr/>
          <p:nvPr/>
        </p:nvSpPr>
        <p:spPr>
          <a:xfrm>
            <a:off x="540000" y="4302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Rounded Rectangle 14"/>
          <p:cNvSpPr/>
          <p:nvPr/>
        </p:nvSpPr>
        <p:spPr>
          <a:xfrm>
            <a:off x="720000" y="4464000"/>
            <a:ext cx="684000" cy="342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RQ3</a:t>
            </a:r>
          </a:p>
        </p:txBody>
      </p:sp>
      <p:sp>
        <p:nvSpPr>
          <p:cNvPr id="16" name="TextBox 15"/>
          <p:cNvSpPr txBox="1"/>
          <p:nvPr/>
        </p:nvSpPr>
        <p:spPr>
          <a:xfrm>
            <a:off x="1530000" y="4446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융합의 중심이 주변으로 옮겨 갔다</a:t>
            </a:r>
          </a:p>
        </p:txBody>
      </p:sp>
      <p:sp>
        <p:nvSpPr>
          <p:cNvPr id="17" name="TextBox 16"/>
          <p:cNvSpPr txBox="1"/>
          <p:nvPr/>
        </p:nvSpPr>
        <p:spPr>
          <a:xfrm>
            <a:off x="756000" y="4914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핵심 기술의 승산비 11.1 → 2.5 → 비유의</a:t>
            </a:r>
          </a:p>
        </p:txBody>
      </p:sp>
      <p:sp>
        <p:nvSpPr>
          <p:cNvPr id="18" name="TextBox 17"/>
          <p:cNvSpPr txBox="1"/>
          <p:nvPr/>
        </p:nvSpPr>
        <p:spPr>
          <a:xfrm>
            <a:off x="756000" y="5310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결합 중심: 웨이퍼 제조공정 → 공정 장치 · 패키징 단계 공정</a:t>
            </a:r>
          </a:p>
        </p:txBody>
      </p:sp>
      <p:sp>
        <p:nvSpPr>
          <p:cNvPr id="19" name="Rounded Rectangle 18"/>
          <p:cNvSpPr/>
          <p:nvPr/>
        </p:nvSpPr>
        <p:spPr>
          <a:xfrm>
            <a:off x="7452000" y="954000"/>
            <a:ext cx="4200120" cy="4878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20" name="Oval 19"/>
          <p:cNvSpPr/>
          <p:nvPr/>
        </p:nvSpPr>
        <p:spPr>
          <a:xfrm>
            <a:off x="7776000" y="1656000"/>
            <a:ext cx="2232000" cy="2232000"/>
          </a:xfrm>
          <a:prstGeom prst="ellipse">
            <a:avLst/>
          </a:prstGeom>
          <a:solidFill>
            <a:srgbClr val="2563C9">
              <a:alpha val="22000"/>
            </a:srgbClr>
          </a:solidFill>
          <a:ln w="19050">
            <a:solidFill>
              <a:srgbClr val="2563C9"/>
            </a:solidFill>
          </a:ln>
        </p:spPr>
        <p:txBody>
          <a:bodyPr rtlCol="0" anchor="ctr" lIns="36000" rIns="36000" tIns="36000" bIns="36000"/>
          <a:lstStyle/>
          <a:p>
            <a:pPr algn="ctr"/>
          </a:p>
        </p:txBody>
      </p:sp>
      <p:sp>
        <p:nvSpPr>
          <p:cNvPr id="21" name="Oval 20"/>
          <p:cNvSpPr/>
          <p:nvPr/>
        </p:nvSpPr>
        <p:spPr>
          <a:xfrm>
            <a:off x="9180000" y="1656000"/>
            <a:ext cx="2232000" cy="2232000"/>
          </a:xfrm>
          <a:prstGeom prst="ellipse">
            <a:avLst/>
          </a:prstGeom>
          <a:solidFill>
            <a:srgbClr val="EA7A28">
              <a:alpha val="22000"/>
            </a:srgbClr>
          </a:solidFill>
          <a:ln w="19050">
            <a:solidFill>
              <a:srgbClr val="EA7A28"/>
            </a:solidFill>
          </a:ln>
        </p:spPr>
        <p:txBody>
          <a:bodyPr rtlCol="0" anchor="ctr" lIns="36000" rIns="36000" tIns="36000" bIns="36000"/>
          <a:lstStyle/>
          <a:p>
            <a:pPr algn="ctr"/>
          </a:p>
        </p:txBody>
      </p:sp>
      <p:sp>
        <p:nvSpPr>
          <p:cNvPr id="22" name="TextBox 21"/>
          <p:cNvSpPr txBox="1"/>
          <p:nvPr/>
        </p:nvSpPr>
        <p:spPr>
          <a:xfrm>
            <a:off x="7884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23" name="TextBox 22"/>
          <p:cNvSpPr txBox="1"/>
          <p:nvPr/>
        </p:nvSpPr>
        <p:spPr>
          <a:xfrm>
            <a:off x="10116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H01L24</a:t>
            </a:r>
          </a:p>
        </p:txBody>
      </p:sp>
      <p:sp>
        <p:nvSpPr>
          <p:cNvPr id="24" name="Rounded Rectangle 23"/>
          <p:cNvSpPr/>
          <p:nvPr/>
        </p:nvSpPr>
        <p:spPr>
          <a:xfrm>
            <a:off x="9036000" y="2574000"/>
            <a:ext cx="1116000" cy="396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통합형</a:t>
            </a:r>
          </a:p>
        </p:txBody>
      </p:sp>
      <p:sp>
        <p:nvSpPr>
          <p:cNvPr id="25" name="Oval 24"/>
          <p:cNvSpPr/>
          <p:nvPr/>
        </p:nvSpPr>
        <p:spPr>
          <a:xfrm>
            <a:off x="10392120" y="4356000"/>
            <a:ext cx="936000" cy="936000"/>
          </a:xfrm>
          <a:prstGeom prst="ellipse">
            <a:avLst/>
          </a:prstGeom>
          <a:solidFill>
            <a:srgbClr val="10A39A">
              <a:alpha val="85000"/>
            </a:srgbClr>
          </a:solidFill>
          <a:ln>
            <a:noFill/>
          </a:ln>
        </p:spPr>
        <p:txBody>
          <a:bodyPr rtlCol="0" anchor="ctr" lIns="36000" rIns="36000" tIns="36000" bIns="36000"/>
          <a:lstStyle/>
          <a:p>
            <a:pPr algn="ctr"/>
          </a:p>
        </p:txBody>
      </p:sp>
      <p:sp>
        <p:nvSpPr>
          <p:cNvPr id="26" name="TextBox 25"/>
          <p:cNvSpPr txBox="1"/>
          <p:nvPr/>
        </p:nvSpPr>
        <p:spPr>
          <a:xfrm>
            <a:off x="10248120" y="4500000"/>
            <a:ext cx="1224000" cy="648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주변</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공정</a:t>
            </a:r>
          </a:p>
        </p:txBody>
      </p:sp>
      <p:cxnSp>
        <p:nvCxnSpPr>
          <p:cNvPr id="27" name="Connector 26"/>
          <p:cNvCxnSpPr/>
          <p:nvPr/>
        </p:nvCxnSpPr>
        <p:spPr>
          <a:xfrm>
            <a:off x="9882000" y="3816000"/>
            <a:ext cx="582120" cy="900000"/>
          </a:xfrm>
          <a:prstGeom prst="line">
            <a:avLst/>
          </a:prstGeom>
          <a:ln w="38100">
            <a:solidFill>
              <a:srgbClr val="10A39A"/>
            </a:solidFill>
            <a:tailEnd type="triangle" w="med" len="med"/>
          </a:ln>
        </p:spPr>
      </p:cxnSp>
      <p:sp>
        <p:nvSpPr>
          <p:cNvPr id="28" name="TextBox 27"/>
          <p:cNvSpPr txBox="1"/>
          <p:nvPr/>
        </p:nvSpPr>
        <p:spPr>
          <a:xfrm>
            <a:off x="7668000" y="4284000"/>
            <a:ext cx="2508120" cy="1152000"/>
          </a:xfrm>
          <a:prstGeom prst="rect">
            <a:avLst/>
          </a:prstGeom>
          <a:noFill/>
        </p:spPr>
        <p:txBody>
          <a:bodyPr wrap="square" lIns="0" rIns="0" tIns="0" bIns="0" anchor="ctr">
            <a:noAutofit/>
          </a:bodyPr>
          <a:lstStyle/>
          <a:p>
            <a:pPr algn="l" marL="0" indent="0">
              <a:lnSpc>
                <a:spcPts val="1560"/>
              </a:lnSpc>
              <a:spcBef>
                <a:spcPts val="0"/>
              </a:spcBef>
              <a:spcAft>
                <a:spcPts val="300"/>
              </a:spcAft>
              <a:buNone/>
            </a:pPr>
            <a:r>
              <a:rPr sz="1300" b="1" i="0" lang="ko-KR" altLang="en-US">
                <a:solidFill>
                  <a:srgbClr val="10A39A"/>
                </a:solidFill>
                <a:latin typeface="맑은 고딕"/>
                <a:ea typeface="맑은 고딕"/>
                <a:cs typeface="맑은 고딕"/>
              </a:rPr>
              <a:t>재편기</a:t>
            </a:r>
          </a:p>
          <a:p>
            <a:pPr algn="l" marL="0" indent="0">
              <a:lnSpc>
                <a:spcPts val="1500"/>
              </a:lnSpc>
              <a:spcBef>
                <a:spcPts val="0"/>
              </a:spcBef>
              <a:spcAft>
                <a:spcPts val="200"/>
              </a:spcAft>
              <a:buNone/>
            </a:pPr>
            <a:r>
              <a:rPr sz="1250" b="1" i="0" lang="ko-KR" altLang="en-US">
                <a:solidFill>
                  <a:srgbClr val="1E2532"/>
                </a:solidFill>
                <a:latin typeface="맑은 고딕"/>
                <a:ea typeface="맑은 고딕"/>
                <a:cs typeface="맑은 고딕"/>
              </a:rPr>
              <a:t>다이 지지 · 봉지 공정</a:t>
            </a:r>
          </a:p>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공정 장치가 연결의 중심으로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목표를 위해 전공정의 역량이 필요해졌다: 두 공정 단계의 경계가 흔들린다</a:t>
            </a:r>
          </a:p>
        </p:txBody>
      </p:sp>
      <p:sp>
        <p:nvSpPr>
          <p:cNvPr id="4" name="Rounded Rectangle 3"/>
          <p:cNvSpPr/>
          <p:nvPr/>
        </p:nvSpPr>
        <p:spPr>
          <a:xfrm>
            <a:off x="3816000" y="936000"/>
            <a:ext cx="4572000" cy="370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3816000" y="990000"/>
            <a:ext cx="4572000" cy="30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 단면 (개념도)</a:t>
            </a:r>
          </a:p>
        </p:txBody>
      </p:sp>
      <p:sp>
        <p:nvSpPr>
          <p:cNvPr id="6" name="Rectangle 5"/>
          <p:cNvSpPr/>
          <p:nvPr/>
        </p:nvSpPr>
        <p:spPr>
          <a:xfrm>
            <a:off x="3996000" y="1512000"/>
            <a:ext cx="4212000" cy="756000"/>
          </a:xfrm>
          <a:prstGeom prst="rect">
            <a:avLst/>
          </a:prstGeom>
          <a:solidFill>
            <a:srgbClr val="8A97AD"/>
          </a:solidFill>
          <a:ln>
            <a:noFill/>
          </a:ln>
        </p:spPr>
        <p:txBody>
          <a:bodyPr rtlCol="0" anchor="ctr" lIns="36000" rIns="36000" tIns="36000" bIns="36000"/>
          <a:lstStyle/>
          <a:p>
            <a:pPr algn="ctr"/>
          </a:p>
        </p:txBody>
      </p:sp>
      <p:sp>
        <p:nvSpPr>
          <p:cNvPr id="7" name="Rectangle 6"/>
          <p:cNvSpPr/>
          <p:nvPr/>
        </p:nvSpPr>
        <p:spPr>
          <a:xfrm>
            <a:off x="3996000" y="2131200"/>
            <a:ext cx="4212000" cy="136800"/>
          </a:xfrm>
          <a:prstGeom prst="rect">
            <a:avLst/>
          </a:prstGeom>
          <a:solidFill>
            <a:srgbClr val="BFE3E6"/>
          </a:solidFill>
          <a:ln>
            <a:noFill/>
          </a:ln>
        </p:spPr>
        <p:txBody>
          <a:bodyPr rtlCol="0" anchor="ctr" lIns="36000" rIns="36000" tIns="36000" bIns="36000"/>
          <a:lstStyle/>
          <a:p>
            <a:pPr algn="ctr"/>
          </a:p>
        </p:txBody>
      </p:sp>
      <p:sp>
        <p:nvSpPr>
          <p:cNvPr id="8" name="Rectangle 7"/>
          <p:cNvSpPr/>
          <p:nvPr/>
        </p:nvSpPr>
        <p:spPr>
          <a:xfrm>
            <a:off x="3996000" y="2304000"/>
            <a:ext cx="4212000" cy="136800"/>
          </a:xfrm>
          <a:prstGeom prst="rect">
            <a:avLst/>
          </a:prstGeom>
          <a:solidFill>
            <a:srgbClr val="BFE3E6"/>
          </a:solidFill>
          <a:ln>
            <a:noFill/>
          </a:ln>
        </p:spPr>
        <p:txBody>
          <a:bodyPr rtlCol="0" anchor="ctr" lIns="36000" rIns="36000" tIns="36000" bIns="36000"/>
          <a:lstStyle/>
          <a:p>
            <a:pPr algn="ctr"/>
          </a:p>
        </p:txBody>
      </p:sp>
      <p:sp>
        <p:nvSpPr>
          <p:cNvPr id="9" name="Rectangle 8"/>
          <p:cNvSpPr/>
          <p:nvPr/>
        </p:nvSpPr>
        <p:spPr>
          <a:xfrm>
            <a:off x="4158000" y="2131200"/>
            <a:ext cx="252000" cy="1368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4158000" y="2304000"/>
            <a:ext cx="252000" cy="136800"/>
          </a:xfrm>
          <a:prstGeom prst="rect">
            <a:avLst/>
          </a:prstGeom>
          <a:solidFill>
            <a:srgbClr val="EA7A28"/>
          </a:solidFill>
          <a:ln>
            <a:noFill/>
          </a:ln>
        </p:spPr>
        <p:txBody>
          <a:bodyPr rtlCol="0" anchor="ctr" lIns="36000" rIns="36000" tIns="36000" bIns="36000"/>
          <a:lstStyle/>
          <a:p>
            <a:pPr algn="ctr"/>
          </a:p>
        </p:txBody>
      </p:sp>
      <p:sp>
        <p:nvSpPr>
          <p:cNvPr id="11" name="Rectangle 10"/>
          <p:cNvSpPr/>
          <p:nvPr/>
        </p:nvSpPr>
        <p:spPr>
          <a:xfrm>
            <a:off x="4885200" y="2131200"/>
            <a:ext cx="252000" cy="136800"/>
          </a:xfrm>
          <a:prstGeom prst="rect">
            <a:avLst/>
          </a:prstGeom>
          <a:solidFill>
            <a:srgbClr val="EA7A28"/>
          </a:solidFill>
          <a:ln>
            <a:noFill/>
          </a:ln>
        </p:spPr>
        <p:txBody>
          <a:bodyPr rtlCol="0" anchor="ctr" lIns="36000" rIns="36000" tIns="36000" bIns="36000"/>
          <a:lstStyle/>
          <a:p>
            <a:pPr algn="ctr"/>
          </a:p>
        </p:txBody>
      </p:sp>
      <p:sp>
        <p:nvSpPr>
          <p:cNvPr id="12" name="Rectangle 11"/>
          <p:cNvSpPr/>
          <p:nvPr/>
        </p:nvSpPr>
        <p:spPr>
          <a:xfrm>
            <a:off x="4885200" y="2304000"/>
            <a:ext cx="252000" cy="136800"/>
          </a:xfrm>
          <a:prstGeom prst="rect">
            <a:avLst/>
          </a:prstGeom>
          <a:solidFill>
            <a:srgbClr val="EA7A28"/>
          </a:solidFill>
          <a:ln>
            <a:noFill/>
          </a:ln>
        </p:spPr>
        <p:txBody>
          <a:bodyPr rtlCol="0" anchor="ctr" lIns="36000" rIns="36000" tIns="36000" bIns="36000"/>
          <a:lstStyle/>
          <a:p>
            <a:pPr algn="ctr"/>
          </a:p>
        </p:txBody>
      </p:sp>
      <p:sp>
        <p:nvSpPr>
          <p:cNvPr id="13" name="Rectangle 12"/>
          <p:cNvSpPr/>
          <p:nvPr/>
        </p:nvSpPr>
        <p:spPr>
          <a:xfrm>
            <a:off x="5612400" y="2131200"/>
            <a:ext cx="252000" cy="136800"/>
          </a:xfrm>
          <a:prstGeom prst="rect">
            <a:avLst/>
          </a:prstGeom>
          <a:solidFill>
            <a:srgbClr val="EA7A28"/>
          </a:solidFill>
          <a:ln>
            <a:noFill/>
          </a:ln>
        </p:spPr>
        <p:txBody>
          <a:bodyPr rtlCol="0" anchor="ctr" lIns="36000" rIns="36000" tIns="36000" bIns="36000"/>
          <a:lstStyle/>
          <a:p>
            <a:pPr algn="ctr"/>
          </a:p>
        </p:txBody>
      </p:sp>
      <p:sp>
        <p:nvSpPr>
          <p:cNvPr id="14" name="Rectangle 13"/>
          <p:cNvSpPr/>
          <p:nvPr/>
        </p:nvSpPr>
        <p:spPr>
          <a:xfrm>
            <a:off x="5612400" y="2304000"/>
            <a:ext cx="252000" cy="136800"/>
          </a:xfrm>
          <a:prstGeom prst="rect">
            <a:avLst/>
          </a:prstGeom>
          <a:solidFill>
            <a:srgbClr val="EA7A28"/>
          </a:solidFill>
          <a:ln>
            <a:noFill/>
          </a:ln>
        </p:spPr>
        <p:txBody>
          <a:bodyPr rtlCol="0" anchor="ctr" lIns="36000" rIns="36000" tIns="36000" bIns="36000"/>
          <a:lstStyle/>
          <a:p>
            <a:pPr algn="ctr"/>
          </a:p>
        </p:txBody>
      </p:sp>
      <p:sp>
        <p:nvSpPr>
          <p:cNvPr id="15" name="Rectangle 14"/>
          <p:cNvSpPr/>
          <p:nvPr/>
        </p:nvSpPr>
        <p:spPr>
          <a:xfrm>
            <a:off x="6339600" y="2131200"/>
            <a:ext cx="252000" cy="136800"/>
          </a:xfrm>
          <a:prstGeom prst="rect">
            <a:avLst/>
          </a:prstGeom>
          <a:solidFill>
            <a:srgbClr val="EA7A28"/>
          </a:solidFill>
          <a:ln>
            <a:noFill/>
          </a:ln>
        </p:spPr>
        <p:txBody>
          <a:bodyPr rtlCol="0" anchor="ctr" lIns="36000" rIns="36000" tIns="36000" bIns="36000"/>
          <a:lstStyle/>
          <a:p>
            <a:pPr algn="ctr"/>
          </a:p>
        </p:txBody>
      </p:sp>
      <p:sp>
        <p:nvSpPr>
          <p:cNvPr id="16" name="Rectangle 15"/>
          <p:cNvSpPr/>
          <p:nvPr/>
        </p:nvSpPr>
        <p:spPr>
          <a:xfrm>
            <a:off x="6339600" y="2304000"/>
            <a:ext cx="252000" cy="136800"/>
          </a:xfrm>
          <a:prstGeom prst="rect">
            <a:avLst/>
          </a:prstGeom>
          <a:solidFill>
            <a:srgbClr val="EA7A28"/>
          </a:solidFill>
          <a:ln>
            <a:noFill/>
          </a:ln>
        </p:spPr>
        <p:txBody>
          <a:bodyPr rtlCol="0" anchor="ctr" lIns="36000" rIns="36000" tIns="36000" bIns="36000"/>
          <a:lstStyle/>
          <a:p>
            <a:pPr algn="ctr"/>
          </a:p>
        </p:txBody>
      </p:sp>
      <p:sp>
        <p:nvSpPr>
          <p:cNvPr id="17" name="Rectangle 16"/>
          <p:cNvSpPr/>
          <p:nvPr/>
        </p:nvSpPr>
        <p:spPr>
          <a:xfrm>
            <a:off x="7066800" y="2131200"/>
            <a:ext cx="252000" cy="136800"/>
          </a:xfrm>
          <a:prstGeom prst="rect">
            <a:avLst/>
          </a:prstGeom>
          <a:solidFill>
            <a:srgbClr val="EA7A28"/>
          </a:solidFill>
          <a:ln>
            <a:noFill/>
          </a:ln>
        </p:spPr>
        <p:txBody>
          <a:bodyPr rtlCol="0" anchor="ctr" lIns="36000" rIns="36000" tIns="36000" bIns="36000"/>
          <a:lstStyle/>
          <a:p>
            <a:pPr algn="ctr"/>
          </a:p>
        </p:txBody>
      </p:sp>
      <p:sp>
        <p:nvSpPr>
          <p:cNvPr id="18" name="Rectangle 17"/>
          <p:cNvSpPr/>
          <p:nvPr/>
        </p:nvSpPr>
        <p:spPr>
          <a:xfrm>
            <a:off x="7066800" y="2304000"/>
            <a:ext cx="252000" cy="136800"/>
          </a:xfrm>
          <a:prstGeom prst="rect">
            <a:avLst/>
          </a:prstGeom>
          <a:solidFill>
            <a:srgbClr val="EA7A28"/>
          </a:solidFill>
          <a:ln>
            <a:noFill/>
          </a:ln>
        </p:spPr>
        <p:txBody>
          <a:bodyPr rtlCol="0" anchor="ctr" lIns="36000" rIns="36000" tIns="36000" bIns="36000"/>
          <a:lstStyle/>
          <a:p>
            <a:pPr algn="ctr"/>
          </a:p>
        </p:txBody>
      </p:sp>
      <p:sp>
        <p:nvSpPr>
          <p:cNvPr id="19" name="Rectangle 18"/>
          <p:cNvSpPr/>
          <p:nvPr/>
        </p:nvSpPr>
        <p:spPr>
          <a:xfrm>
            <a:off x="7794000" y="2131200"/>
            <a:ext cx="252000" cy="136800"/>
          </a:xfrm>
          <a:prstGeom prst="rect">
            <a:avLst/>
          </a:prstGeom>
          <a:solidFill>
            <a:srgbClr val="EA7A28"/>
          </a:solidFill>
          <a:ln>
            <a:noFill/>
          </a:ln>
        </p:spPr>
        <p:txBody>
          <a:bodyPr rtlCol="0" anchor="ctr" lIns="36000" rIns="36000" tIns="36000" bIns="36000"/>
          <a:lstStyle/>
          <a:p>
            <a:pPr algn="ctr"/>
          </a:p>
        </p:txBody>
      </p:sp>
      <p:sp>
        <p:nvSpPr>
          <p:cNvPr id="20" name="Rectangle 19"/>
          <p:cNvSpPr/>
          <p:nvPr/>
        </p:nvSpPr>
        <p:spPr>
          <a:xfrm>
            <a:off x="7794000" y="2304000"/>
            <a:ext cx="252000" cy="136800"/>
          </a:xfrm>
          <a:prstGeom prst="rect">
            <a:avLst/>
          </a:prstGeom>
          <a:solidFill>
            <a:srgbClr val="EA7A28"/>
          </a:solidFill>
          <a:ln>
            <a:noFill/>
          </a:ln>
        </p:spPr>
        <p:txBody>
          <a:bodyPr rtlCol="0" anchor="ctr" lIns="36000" rIns="36000" tIns="36000" bIns="36000"/>
          <a:lstStyle/>
          <a:p>
            <a:pPr algn="ctr"/>
          </a:p>
        </p:txBody>
      </p:sp>
      <p:sp>
        <p:nvSpPr>
          <p:cNvPr id="21" name="Rectangle 20"/>
          <p:cNvSpPr/>
          <p:nvPr/>
        </p:nvSpPr>
        <p:spPr>
          <a:xfrm>
            <a:off x="3996000" y="2268000"/>
            <a:ext cx="4212000" cy="36000"/>
          </a:xfrm>
          <a:prstGeom prst="rect">
            <a:avLst/>
          </a:prstGeom>
          <a:solidFill>
            <a:srgbClr val="7C3AED"/>
          </a:solidFill>
          <a:ln>
            <a:noFill/>
          </a:ln>
        </p:spPr>
        <p:txBody>
          <a:bodyPr rtlCol="0" anchor="ctr" lIns="36000" rIns="36000" tIns="36000" bIns="36000"/>
          <a:lstStyle/>
          <a:p>
            <a:pPr algn="ctr"/>
          </a:p>
        </p:txBody>
      </p:sp>
      <p:sp>
        <p:nvSpPr>
          <p:cNvPr id="22" name="Rectangle 21"/>
          <p:cNvSpPr/>
          <p:nvPr/>
        </p:nvSpPr>
        <p:spPr>
          <a:xfrm>
            <a:off x="3996000" y="2440800"/>
            <a:ext cx="4212000" cy="756000"/>
          </a:xfrm>
          <a:prstGeom prst="rect">
            <a:avLst/>
          </a:prstGeom>
          <a:solidFill>
            <a:srgbClr val="5E6C85"/>
          </a:solidFill>
          <a:ln>
            <a:noFill/>
          </a:ln>
        </p:spPr>
        <p:txBody>
          <a:bodyPr rtlCol="0" anchor="ctr" lIns="36000" rIns="36000" tIns="36000" bIns="36000"/>
          <a:lstStyle/>
          <a:p>
            <a:pPr algn="ctr"/>
          </a:p>
        </p:txBody>
      </p:sp>
      <p:sp>
        <p:nvSpPr>
          <p:cNvPr id="23" name="Rectangle 22"/>
          <p:cNvSpPr/>
          <p:nvPr/>
        </p:nvSpPr>
        <p:spPr>
          <a:xfrm>
            <a:off x="4428000" y="3358800"/>
            <a:ext cx="151200" cy="151200"/>
          </a:xfrm>
          <a:prstGeom prst="rect">
            <a:avLst/>
          </a:prstGeom>
          <a:solidFill>
            <a:srgbClr val="BFE3E6"/>
          </a:solidFill>
          <a:ln>
            <a:noFill/>
          </a:ln>
        </p:spPr>
        <p:txBody>
          <a:bodyPr rtlCol="0" anchor="ctr" lIns="36000" rIns="36000" tIns="36000" bIns="36000"/>
          <a:lstStyle/>
          <a:p>
            <a:pPr algn="ctr"/>
          </a:p>
        </p:txBody>
      </p:sp>
      <p:sp>
        <p:nvSpPr>
          <p:cNvPr id="24" name="TextBox 23"/>
          <p:cNvSpPr txBox="1"/>
          <p:nvPr/>
        </p:nvSpPr>
        <p:spPr>
          <a:xfrm>
            <a:off x="4626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산화막</a:t>
            </a:r>
          </a:p>
        </p:txBody>
      </p:sp>
      <p:sp>
        <p:nvSpPr>
          <p:cNvPr id="25" name="Rectangle 24"/>
          <p:cNvSpPr/>
          <p:nvPr/>
        </p:nvSpPr>
        <p:spPr>
          <a:xfrm>
            <a:off x="5616000" y="3358800"/>
            <a:ext cx="151200" cy="151200"/>
          </a:xfrm>
          <a:prstGeom prst="rect">
            <a:avLst/>
          </a:prstGeom>
          <a:solidFill>
            <a:srgbClr val="EA7A28"/>
          </a:solidFill>
          <a:ln>
            <a:noFill/>
          </a:ln>
        </p:spPr>
        <p:txBody>
          <a:bodyPr rtlCol="0" anchor="ctr" lIns="36000" rIns="36000" tIns="36000" bIns="36000"/>
          <a:lstStyle/>
          <a:p>
            <a:pPr algn="ctr"/>
          </a:p>
        </p:txBody>
      </p:sp>
      <p:sp>
        <p:nvSpPr>
          <p:cNvPr id="26" name="TextBox 25"/>
          <p:cNvSpPr txBox="1"/>
          <p:nvPr/>
        </p:nvSpPr>
        <p:spPr>
          <a:xfrm>
            <a:off x="5814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구리 패드</a:t>
            </a:r>
          </a:p>
        </p:txBody>
      </p:sp>
      <p:sp>
        <p:nvSpPr>
          <p:cNvPr id="27" name="Rectangle 26"/>
          <p:cNvSpPr/>
          <p:nvPr/>
        </p:nvSpPr>
        <p:spPr>
          <a:xfrm>
            <a:off x="6804000" y="3358800"/>
            <a:ext cx="151200" cy="151200"/>
          </a:xfrm>
          <a:prstGeom prst="rect">
            <a:avLst/>
          </a:prstGeom>
          <a:solidFill>
            <a:srgbClr val="7C3AED"/>
          </a:solidFill>
          <a:ln>
            <a:noFill/>
          </a:ln>
        </p:spPr>
        <p:txBody>
          <a:bodyPr rtlCol="0" anchor="ctr" lIns="36000" rIns="36000" tIns="36000" bIns="36000"/>
          <a:lstStyle/>
          <a:p>
            <a:pPr algn="ctr"/>
          </a:p>
        </p:txBody>
      </p:sp>
      <p:sp>
        <p:nvSpPr>
          <p:cNvPr id="28" name="TextBox 27"/>
          <p:cNvSpPr txBox="1"/>
          <p:nvPr/>
        </p:nvSpPr>
        <p:spPr>
          <a:xfrm>
            <a:off x="7002000" y="3308400"/>
            <a:ext cx="86400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 계면</a:t>
            </a:r>
          </a:p>
        </p:txBody>
      </p:sp>
      <p:sp>
        <p:nvSpPr>
          <p:cNvPr id="29" name="TextBox 28"/>
          <p:cNvSpPr txBox="1"/>
          <p:nvPr/>
        </p:nvSpPr>
        <p:spPr>
          <a:xfrm>
            <a:off x="3888000" y="3592800"/>
            <a:ext cx="4428000" cy="64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솔더 범프 없이 구리–구리, 산화막–산화막을 직접 접합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비유: 접착제(솔더)로 붙이기 → 거울처럼 평평한 두 면을 그대로 맞붙이기</a:t>
            </a:r>
          </a:p>
        </p:txBody>
      </p:sp>
      <p:sp>
        <p:nvSpPr>
          <p:cNvPr id="30" name="Rounded Rectangle 29"/>
          <p:cNvSpPr/>
          <p:nvPr/>
        </p:nvSpPr>
        <p:spPr>
          <a:xfrm>
            <a:off x="540000" y="936000"/>
            <a:ext cx="2988000" cy="414000"/>
          </a:xfrm>
          <a:prstGeom prst="roundRect">
            <a:avLst>
              <a:gd name="adj" fmla="val 25000"/>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필수 역량 · 전공정</a:t>
            </a:r>
          </a:p>
        </p:txBody>
      </p:sp>
      <p:sp>
        <p:nvSpPr>
          <p:cNvPr id="31" name="Rounded Rectangle 30"/>
          <p:cNvSpPr/>
          <p:nvPr/>
        </p:nvSpPr>
        <p:spPr>
          <a:xfrm>
            <a:off x="540000" y="1494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수준의 표면</a:t>
            </a:r>
          </a:p>
        </p:txBody>
      </p:sp>
      <p:sp>
        <p:nvSpPr>
          <p:cNvPr id="32" name="Rounded Rectangle 31"/>
          <p:cNvSpPr/>
          <p:nvPr/>
        </p:nvSpPr>
        <p:spPr>
          <a:xfrm>
            <a:off x="540000" y="2232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33" name="Rounded Rectangle 32"/>
          <p:cNvSpPr/>
          <p:nvPr/>
        </p:nvSpPr>
        <p:spPr>
          <a:xfrm>
            <a:off x="540000" y="2970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34" name="Rounded Rectangle 33"/>
          <p:cNvSpPr/>
          <p:nvPr/>
        </p:nvSpPr>
        <p:spPr>
          <a:xfrm>
            <a:off x="540000" y="3708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sp>
        <p:nvSpPr>
          <p:cNvPr id="35" name="TextBox 34"/>
          <p:cNvSpPr txBox="1"/>
          <p:nvPr/>
        </p:nvSpPr>
        <p:spPr>
          <a:xfrm>
            <a:off x="540000" y="4464000"/>
            <a:ext cx="2988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H01L21 (제조공정)</a:t>
            </a:r>
          </a:p>
        </p:txBody>
      </p:sp>
      <p:cxnSp>
        <p:nvCxnSpPr>
          <p:cNvPr id="36" name="Connector 35"/>
          <p:cNvCxnSpPr/>
          <p:nvPr/>
        </p:nvCxnSpPr>
        <p:spPr>
          <a:xfrm flipV="1">
            <a:off x="3564000" y="2286000"/>
            <a:ext cx="396000" cy="306000"/>
          </a:xfrm>
          <a:prstGeom prst="line">
            <a:avLst/>
          </a:prstGeom>
          <a:ln w="25400">
            <a:solidFill>
              <a:srgbClr val="2563C9"/>
            </a:solidFill>
            <a:tailEnd type="oval" w="med" len="med"/>
          </a:ln>
        </p:spPr>
      </p:cxnSp>
      <p:sp>
        <p:nvSpPr>
          <p:cNvPr id="37" name="Rounded Rectangle 36"/>
          <p:cNvSpPr/>
          <p:nvPr/>
        </p:nvSpPr>
        <p:spPr>
          <a:xfrm>
            <a:off x="8532000" y="936000"/>
            <a:ext cx="3120120" cy="414000"/>
          </a:xfrm>
          <a:prstGeom prst="roundRect">
            <a:avLst>
              <a:gd name="adj" fmla="val 25000"/>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목표 · 후공정</a:t>
            </a:r>
          </a:p>
        </p:txBody>
      </p:sp>
      <p:sp>
        <p:nvSpPr>
          <p:cNvPr id="38" name="Rounded Rectangle 37"/>
          <p:cNvSpPr/>
          <p:nvPr/>
        </p:nvSpPr>
        <p:spPr>
          <a:xfrm>
            <a:off x="8532000" y="149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연구 단계에서는 1 µm 이하</a:t>
            </a:r>
          </a:p>
        </p:txBody>
      </p:sp>
      <p:sp>
        <p:nvSpPr>
          <p:cNvPr id="39" name="Rounded Rectangle 38"/>
          <p:cNvSpPr/>
          <p:nvPr/>
        </p:nvSpPr>
        <p:spPr>
          <a:xfrm>
            <a:off x="8532000" y="248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다이 · 웨이퍼의 직접 적층</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W2W · D2W</a:t>
            </a:r>
          </a:p>
        </p:txBody>
      </p:sp>
      <p:sp>
        <p:nvSpPr>
          <p:cNvPr id="40" name="Rounded Rectangle 39"/>
          <p:cNvSpPr/>
          <p:nvPr/>
        </p:nvSpPr>
        <p:spPr>
          <a:xfrm>
            <a:off x="8532000" y="347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HBM · 칩렛 · 3D 로직</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CMOS 이미지센서 · 3D NAND에서 먼저 상용화</a:t>
            </a:r>
          </a:p>
        </p:txBody>
      </p:sp>
      <p:sp>
        <p:nvSpPr>
          <p:cNvPr id="41" name="TextBox 40"/>
          <p:cNvSpPr txBox="1"/>
          <p:nvPr/>
        </p:nvSpPr>
        <p:spPr>
          <a:xfrm>
            <a:off x="8532000" y="4464000"/>
            <a:ext cx="312012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H01L24 (접합 · 인터커넥트)</a:t>
            </a:r>
          </a:p>
        </p:txBody>
      </p:sp>
      <p:cxnSp>
        <p:nvCxnSpPr>
          <p:cNvPr id="42" name="Connector 41"/>
          <p:cNvCxnSpPr/>
          <p:nvPr/>
        </p:nvCxnSpPr>
        <p:spPr>
          <a:xfrm flipH="1">
            <a:off x="7848000" y="1926000"/>
            <a:ext cx="648000" cy="144000"/>
          </a:xfrm>
          <a:prstGeom prst="line">
            <a:avLst/>
          </a:prstGeom>
          <a:ln w="25400">
            <a:solidFill>
              <a:srgbClr val="EA7A28"/>
            </a:solidFill>
            <a:tailEnd type="oval" w="med" len="med"/>
          </a:ln>
        </p:spPr>
      </p:cxnSp>
      <p:sp>
        <p:nvSpPr>
          <p:cNvPr id="43" name="Rounded Rectangle 42"/>
          <p:cNvSpPr/>
          <p:nvPr/>
        </p:nvSpPr>
        <p:spPr>
          <a:xfrm>
            <a:off x="540000" y="4824000"/>
            <a:ext cx="11112120" cy="99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44" name="TextBox 43"/>
          <p:cNvSpPr txBox="1"/>
          <p:nvPr/>
        </p:nvSpPr>
        <p:spPr>
          <a:xfrm>
            <a:off x="828000" y="4824000"/>
            <a:ext cx="10536120" cy="990000"/>
          </a:xfrm>
          <a:prstGeom prst="rect">
            <a:avLst/>
          </a:prstGeom>
          <a:noFill/>
        </p:spPr>
        <p:txBody>
          <a:bodyPr wrap="square" lIns="0" rIns="0" tIns="0" bIns="0" anchor="ctr">
            <a:noAutofit/>
          </a:bodyPr>
          <a:lstStyle/>
          <a:p>
            <a:pPr algn="ctr" marL="0" indent="0">
              <a:lnSpc>
                <a:spcPts val="1800"/>
              </a:lnSpc>
              <a:spcBef>
                <a:spcPts val="0"/>
              </a:spcBef>
              <a:spcAft>
                <a:spcPts val="400"/>
              </a:spcAft>
              <a:buNone/>
            </a:pPr>
            <a:r>
              <a:rPr sz="1500" b="1" i="0" lang="ko-KR" altLang="en-US">
                <a:solidFill>
                  <a:srgbClr val="FFFFFF"/>
                </a:solidFill>
                <a:latin typeface="맑은 고딕"/>
                <a:ea typeface="맑은 고딕"/>
                <a:cs typeface="맑은 고딕"/>
              </a:rPr>
              <a:t>반세기의 분업은 두 단계 사이의 인터페이스가 안정적이라는 전제 위에 있었다.</a:t>
            </a:r>
          </a:p>
          <a:p>
            <a:pPr algn="ctr" marL="0" indent="0">
              <a:lnSpc>
                <a:spcPts val="1800"/>
              </a:lnSpc>
              <a:spcBef>
                <a:spcPts val="0"/>
              </a:spcBef>
              <a:spcAft>
                <a:spcPts val="0"/>
              </a:spcAft>
              <a:buNone/>
            </a:pPr>
            <a:r>
              <a:rPr sz="1500" b="1" i="0" lang="ko-KR" altLang="en-US">
                <a:solidFill>
                  <a:srgbClr val="D4A72C"/>
                </a:solidFill>
                <a:latin typeface="맑은 고딕"/>
                <a:ea typeface="맑은 고딕"/>
                <a:cs typeface="맑은 고딕"/>
              </a:rPr>
              <a:t>하이브리드 본딩은 후공정 기술의 성패를 전공정의 제조공정 역량에 의존하게 만든다.</a:t>
            </a:r>
          </a:p>
        </p:txBody>
      </p:sp>
      <p:sp>
        <p:nvSpPr>
          <p:cNvPr id="45" name="Source"/>
          <p:cNvSpPr txBox="1"/>
          <p:nvPr/>
        </p:nvSpPr>
        <p:spPr>
          <a:xfrm>
            <a:off x="540000" y="5886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기술융합과 융합의 단계 모형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Rounded Rectangle 3"/>
          <p:cNvSpPr/>
          <p:nvPr/>
        </p:nvSpPr>
        <p:spPr>
          <a:xfrm>
            <a:off x="552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수렴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Rosenberg (1963)</a:t>
            </a:r>
          </a:p>
        </p:txBody>
      </p:sp>
      <p:sp>
        <p:nvSpPr>
          <p:cNvPr id="5" name="TextBox 4"/>
          <p:cNvSpPr txBox="1"/>
          <p:nvPr/>
        </p:nvSpPr>
        <p:spPr>
          <a:xfrm>
            <a:off x="552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공통의 생산공정을 통한 기술 확산 → 공작기계 산업의 등장</a:t>
            </a:r>
          </a:p>
        </p:txBody>
      </p:sp>
      <p:cxnSp>
        <p:nvCxnSpPr>
          <p:cNvPr id="6" name="Connector 5"/>
          <p:cNvCxnSpPr/>
          <p:nvPr/>
        </p:nvCxnSpPr>
        <p:spPr>
          <a:xfrm>
            <a:off x="4062060" y="1278000"/>
            <a:ext cx="252000" cy="0"/>
          </a:xfrm>
          <a:prstGeom prst="line">
            <a:avLst/>
          </a:prstGeom>
          <a:ln w="25400">
            <a:solidFill>
              <a:srgbClr val="13294B"/>
            </a:solidFill>
            <a:tailEnd type="triangle" w="med" len="med"/>
          </a:ln>
        </p:spPr>
      </p:cxnSp>
      <p:sp>
        <p:nvSpPr>
          <p:cNvPr id="7" name="Rounded Rectangle 6"/>
          <p:cNvSpPr/>
          <p:nvPr/>
        </p:nvSpPr>
        <p:spPr>
          <a:xfrm>
            <a:off x="4368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Kodama (1992)</a:t>
            </a:r>
          </a:p>
        </p:txBody>
      </p:sp>
      <p:sp>
        <p:nvSpPr>
          <p:cNvPr id="8" name="TextBox 7"/>
          <p:cNvSpPr txBox="1"/>
          <p:nvPr/>
        </p:nvSpPr>
        <p:spPr>
          <a:xfrm>
            <a:off x="4368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분리된 기술의 결합으로 어느 한쪽도 갖지 못한 역량 창출</a:t>
            </a:r>
          </a:p>
        </p:txBody>
      </p:sp>
      <p:cxnSp>
        <p:nvCxnSpPr>
          <p:cNvPr id="9" name="Connector 8"/>
          <p:cNvCxnSpPr/>
          <p:nvPr/>
        </p:nvCxnSpPr>
        <p:spPr>
          <a:xfrm>
            <a:off x="7878060" y="1278000"/>
            <a:ext cx="252000" cy="0"/>
          </a:xfrm>
          <a:prstGeom prst="line">
            <a:avLst/>
          </a:prstGeom>
          <a:ln w="25400">
            <a:solidFill>
              <a:srgbClr val="13294B"/>
            </a:solidFill>
            <a:tailEnd type="triangle" w="med" len="med"/>
          </a:ln>
        </p:spPr>
      </p:cxnSp>
      <p:sp>
        <p:nvSpPr>
          <p:cNvPr id="10" name="Rounded Rectangle 9"/>
          <p:cNvSpPr/>
          <p:nvPr/>
        </p:nvSpPr>
        <p:spPr>
          <a:xfrm>
            <a:off x="8184060" y="936000"/>
            <a:ext cx="3456000" cy="684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단계 모형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Hacklin et al. (2009, 2010)</a:t>
            </a:r>
          </a:p>
        </p:txBody>
      </p:sp>
      <p:sp>
        <p:nvSpPr>
          <p:cNvPr id="11" name="TextBox 10"/>
          <p:cNvSpPr txBox="1"/>
          <p:nvPr/>
        </p:nvSpPr>
        <p:spPr>
          <a:xfrm>
            <a:off x="8184060" y="1656000"/>
            <a:ext cx="3456000" cy="37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지식 → 기술 → 응용 → 산업 융합, 공진화적 순환</a:t>
            </a:r>
          </a:p>
        </p:txBody>
      </p:sp>
      <p:cxnSp>
        <p:nvCxnSpPr>
          <p:cNvPr id="12" name="Connector 11"/>
          <p:cNvCxnSpPr/>
          <p:nvPr/>
        </p:nvCxnSpPr>
        <p:spPr>
          <a:xfrm>
            <a:off x="540000" y="2178000"/>
            <a:ext cx="11112120" cy="0"/>
          </a:xfrm>
          <a:prstGeom prst="line">
            <a:avLst/>
          </a:prstGeom>
          <a:ln w="12700">
            <a:solidFill>
              <a:srgbClr val="D5DBE3"/>
            </a:solidFill>
          </a:ln>
        </p:spPr>
      </p:cxnSp>
      <p:sp>
        <p:nvSpPr>
          <p:cNvPr id="13" name="TextBox 12"/>
          <p:cNvSpPr txBox="1"/>
          <p:nvPr/>
        </p:nvSpPr>
        <p:spPr>
          <a:xfrm>
            <a:off x="540000" y="2232000"/>
            <a:ext cx="11112120" cy="270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단계 모형을 하이브리드 본딩에 적용하면</a:t>
            </a:r>
          </a:p>
        </p:txBody>
      </p:sp>
      <p:sp>
        <p:nvSpPr>
          <p:cNvPr id="14" name="Pentagon 13"/>
          <p:cNvSpPr/>
          <p:nvPr/>
        </p:nvSpPr>
        <p:spPr>
          <a:xfrm>
            <a:off x="577260" y="2574000"/>
            <a:ext cx="2772000" cy="666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지식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Knowledge</a:t>
            </a:r>
          </a:p>
        </p:txBody>
      </p:sp>
      <p:sp>
        <p:nvSpPr>
          <p:cNvPr id="15" name="Rounded Rectangle 14"/>
          <p:cNvSpPr/>
          <p:nvPr/>
        </p:nvSpPr>
        <p:spPr>
          <a:xfrm>
            <a:off x="6132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212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제조공정 지식이 칩 연결 문제에 적용</a:t>
            </a:r>
          </a:p>
        </p:txBody>
      </p:sp>
      <p:cxnSp>
        <p:nvCxnSpPr>
          <p:cNvPr id="17" name="Connector 16"/>
          <p:cNvCxnSpPr/>
          <p:nvPr/>
        </p:nvCxnSpPr>
        <p:spPr>
          <a:xfrm>
            <a:off x="1009260" y="4140000"/>
            <a:ext cx="1782000" cy="0"/>
          </a:xfrm>
          <a:prstGeom prst="line">
            <a:avLst/>
          </a:prstGeom>
          <a:ln w="12700">
            <a:solidFill>
              <a:srgbClr val="D5DBE3"/>
            </a:solidFill>
          </a:ln>
        </p:spPr>
      </p:cxnSp>
      <p:sp>
        <p:nvSpPr>
          <p:cNvPr id="18" name="TextBox 17"/>
          <p:cNvSpPr txBox="1"/>
          <p:nvPr/>
        </p:nvSpPr>
        <p:spPr>
          <a:xfrm>
            <a:off x="7212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평탄화 · 표면 활성화 · 웨이퍼 직접 접합</a:t>
            </a:r>
          </a:p>
        </p:txBody>
      </p:sp>
      <p:sp>
        <p:nvSpPr>
          <p:cNvPr id="19" name="Rounded Rectangle 18"/>
          <p:cNvSpPr/>
          <p:nvPr/>
        </p:nvSpPr>
        <p:spPr>
          <a:xfrm>
            <a:off x="7212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20" name="Chevron 19"/>
          <p:cNvSpPr/>
          <p:nvPr/>
        </p:nvSpPr>
        <p:spPr>
          <a:xfrm>
            <a:off x="3374460" y="2574000"/>
            <a:ext cx="2772000" cy="666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융합</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Technological</a:t>
            </a:r>
          </a:p>
        </p:txBody>
      </p:sp>
      <p:sp>
        <p:nvSpPr>
          <p:cNvPr id="21" name="Rounded Rectangle 20"/>
          <p:cNvSpPr/>
          <p:nvPr/>
        </p:nvSpPr>
        <p:spPr>
          <a:xfrm>
            <a:off x="3410460" y="3330000"/>
            <a:ext cx="2574000" cy="1566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22" name="TextBox 21"/>
          <p:cNvSpPr txBox="1"/>
          <p:nvPr/>
        </p:nvSpPr>
        <p:spPr>
          <a:xfrm>
            <a:off x="35184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그 지식이 접합 구조와 하나의 발명 안에서 결합</a:t>
            </a:r>
          </a:p>
        </p:txBody>
      </p:sp>
      <p:cxnSp>
        <p:nvCxnSpPr>
          <p:cNvPr id="23" name="Connector 22"/>
          <p:cNvCxnSpPr/>
          <p:nvPr/>
        </p:nvCxnSpPr>
        <p:spPr>
          <a:xfrm>
            <a:off x="3806460" y="4140000"/>
            <a:ext cx="1782000" cy="0"/>
          </a:xfrm>
          <a:prstGeom prst="line">
            <a:avLst/>
          </a:prstGeom>
          <a:ln w="12700">
            <a:solidFill>
              <a:srgbClr val="D5DBE3"/>
            </a:solidFill>
          </a:ln>
        </p:spPr>
      </p:cxnSp>
      <p:sp>
        <p:nvSpPr>
          <p:cNvPr id="24" name="TextBox 23"/>
          <p:cNvSpPr txBox="1"/>
          <p:nvPr/>
        </p:nvSpPr>
        <p:spPr>
          <a:xfrm>
            <a:off x="35184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H01L21 + H01L24 공동분류</a:t>
            </a:r>
          </a:p>
        </p:txBody>
      </p:sp>
      <p:sp>
        <p:nvSpPr>
          <p:cNvPr id="25" name="Rounded Rectangle 24"/>
          <p:cNvSpPr/>
          <p:nvPr/>
        </p:nvSpPr>
        <p:spPr>
          <a:xfrm>
            <a:off x="3518460" y="4986000"/>
            <a:ext cx="2358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26" name="Chevron 25"/>
          <p:cNvSpPr/>
          <p:nvPr/>
        </p:nvSpPr>
        <p:spPr>
          <a:xfrm>
            <a:off x="61716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응용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Applicational</a:t>
            </a:r>
          </a:p>
        </p:txBody>
      </p:sp>
      <p:sp>
        <p:nvSpPr>
          <p:cNvPr id="27" name="Rounded Rectangle 26"/>
          <p:cNvSpPr/>
          <p:nvPr/>
        </p:nvSpPr>
        <p:spPr>
          <a:xfrm>
            <a:off x="62076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63156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결합된 기술이 제품으로 구현</a:t>
            </a:r>
          </a:p>
        </p:txBody>
      </p:sp>
      <p:cxnSp>
        <p:nvCxnSpPr>
          <p:cNvPr id="29" name="Connector 28"/>
          <p:cNvCxnSpPr/>
          <p:nvPr/>
        </p:nvCxnSpPr>
        <p:spPr>
          <a:xfrm>
            <a:off x="6603660" y="4140000"/>
            <a:ext cx="1782000" cy="0"/>
          </a:xfrm>
          <a:prstGeom prst="line">
            <a:avLst/>
          </a:prstGeom>
          <a:ln w="12700">
            <a:solidFill>
              <a:srgbClr val="D5DBE3"/>
            </a:solidFill>
          </a:ln>
        </p:spPr>
      </p:cxnSp>
      <p:sp>
        <p:nvSpPr>
          <p:cNvPr id="30" name="TextBox 29"/>
          <p:cNvSpPr txBox="1"/>
          <p:nvPr/>
        </p:nvSpPr>
        <p:spPr>
          <a:xfrm>
            <a:off x="63156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이미지센서 · 3D NAND · HBM · 칩렛</a:t>
            </a:r>
          </a:p>
        </p:txBody>
      </p:sp>
      <p:sp>
        <p:nvSpPr>
          <p:cNvPr id="31" name="Rounded Rectangle 30"/>
          <p:cNvSpPr/>
          <p:nvPr/>
        </p:nvSpPr>
        <p:spPr>
          <a:xfrm>
            <a:off x="6315660" y="4986000"/>
            <a:ext cx="2358000" cy="414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32" name="Chevron 31"/>
          <p:cNvSpPr/>
          <p:nvPr/>
        </p:nvSpPr>
        <p:spPr>
          <a:xfrm>
            <a:off x="8968860" y="2574000"/>
            <a:ext cx="2772000" cy="666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산업 융합</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Industrial</a:t>
            </a:r>
          </a:p>
        </p:txBody>
      </p:sp>
      <p:sp>
        <p:nvSpPr>
          <p:cNvPr id="33" name="Rounded Rectangle 32"/>
          <p:cNvSpPr/>
          <p:nvPr/>
        </p:nvSpPr>
        <p:spPr>
          <a:xfrm>
            <a:off x="9004860" y="3330000"/>
            <a:ext cx="2574000" cy="15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9112860" y="3384000"/>
            <a:ext cx="2358000" cy="72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E2532"/>
                </a:solidFill>
                <a:latin typeface="맑은 고딕"/>
                <a:ea typeface="맑은 고딕"/>
                <a:cs typeface="맑은 고딕"/>
              </a:rPr>
              <a:t>공정 단계 간 분업 구조의 재편</a:t>
            </a:r>
          </a:p>
        </p:txBody>
      </p:sp>
      <p:cxnSp>
        <p:nvCxnSpPr>
          <p:cNvPr id="35" name="Connector 34"/>
          <p:cNvCxnSpPr/>
          <p:nvPr/>
        </p:nvCxnSpPr>
        <p:spPr>
          <a:xfrm>
            <a:off x="9400860" y="4140000"/>
            <a:ext cx="1782000" cy="0"/>
          </a:xfrm>
          <a:prstGeom prst="line">
            <a:avLst/>
          </a:prstGeom>
          <a:ln w="12700">
            <a:solidFill>
              <a:srgbClr val="D5DBE3"/>
            </a:solidFill>
          </a:ln>
        </p:spPr>
      </p:cxnSp>
      <p:sp>
        <p:nvSpPr>
          <p:cNvPr id="36" name="TextBox 35"/>
          <p:cNvSpPr txBox="1"/>
          <p:nvPr/>
        </p:nvSpPr>
        <p:spPr>
          <a:xfrm>
            <a:off x="9112860" y="4176000"/>
            <a:ext cx="2358000" cy="66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파운드리의 첨단 패키징 내재화</a:t>
            </a:r>
          </a:p>
        </p:txBody>
      </p:sp>
      <p:sp>
        <p:nvSpPr>
          <p:cNvPr id="37" name="Rounded Rectangle 36"/>
          <p:cNvSpPr/>
          <p:nvPr/>
        </p:nvSpPr>
        <p:spPr>
          <a:xfrm>
            <a:off x="9112860" y="4986000"/>
            <a:ext cx="2358000" cy="414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38" name="Source"/>
          <p:cNvSpPr txBox="1"/>
          <p:nvPr/>
        </p:nvSpPr>
        <p:spPr>
          <a:xfrm>
            <a:off x="540000" y="559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Curran &amp; Leker (2011); Lau (2022); KnowMade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지식 경계와 기술 순환: 이론적 틀</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266000"/>
            <a:ext cx="144000" cy="0"/>
          </a:xfrm>
          <a:prstGeom prst="line">
            <a:avLst/>
          </a:prstGeom>
          <a:ln w="31750">
            <a:solidFill>
              <a:srgbClr val="7C3AED"/>
            </a:solidFill>
            <a:tailEnd type="triangle" w="med" len="med"/>
          </a:ln>
        </p:spPr>
      </p:cxnSp>
      <p:sp>
        <p:nvSpPr>
          <p:cNvPr id="36" name="Rounded Rectangle 35"/>
          <p:cNvSpPr/>
          <p:nvPr/>
        </p:nvSpPr>
        <p:spPr>
          <a:xfrm>
            <a:off x="908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연구 질문과 이론적 기대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이론적 기대는 통계적 가설이 아니라, 결과를 해석하는 기준으로 사용한다</a:t>
            </a:r>
          </a:p>
        </p:txBody>
      </p:sp>
      <p:sp>
        <p:nvSpPr>
          <p:cNvPr id="4" name="TextBox 3"/>
          <p:cNvSpPr txBox="1"/>
          <p:nvPr/>
        </p:nvSpPr>
        <p:spPr>
          <a:xfrm>
            <a:off x="6084000" y="882000"/>
            <a:ext cx="5400000" cy="216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이론적 기대</a:t>
            </a:r>
          </a:p>
        </p:txBody>
      </p:sp>
      <p:sp>
        <p:nvSpPr>
          <p:cNvPr id="5" name="Rounded Rectangle 4"/>
          <p:cNvSpPr/>
          <p:nvPr/>
        </p:nvSpPr>
        <p:spPr>
          <a:xfrm>
            <a:off x="540000" y="1116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Rounded Rectangle 5"/>
          <p:cNvSpPr/>
          <p:nvPr/>
        </p:nvSpPr>
        <p:spPr>
          <a:xfrm>
            <a:off x="702000" y="1260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RQ1</a:t>
            </a:r>
          </a:p>
        </p:txBody>
      </p:sp>
      <p:sp>
        <p:nvSpPr>
          <p:cNvPr id="7" name="TextBox 6"/>
          <p:cNvSpPr txBox="1"/>
          <p:nvPr/>
        </p:nvSpPr>
        <p:spPr>
          <a:xfrm>
            <a:off x="1530000" y="1260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수준과 유형</a:t>
            </a:r>
          </a:p>
        </p:txBody>
      </p:sp>
      <p:sp>
        <p:nvSpPr>
          <p:cNvPr id="8" name="TextBox 7"/>
          <p:cNvSpPr txBox="1"/>
          <p:nvPr/>
        </p:nvSpPr>
        <p:spPr>
          <a:xfrm>
            <a:off x="702000" y="1656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9" name="Right Arrow 8"/>
          <p:cNvSpPr/>
          <p:nvPr/>
        </p:nvSpPr>
        <p:spPr>
          <a:xfrm>
            <a:off x="5850000" y="1692000"/>
            <a:ext cx="288000" cy="360000"/>
          </a:xfrm>
          <a:prstGeom prst="rightArrow">
            <a:avLst/>
          </a:prstGeom>
          <a:solidFill>
            <a:srgbClr val="C9D2E0"/>
          </a:solidFill>
          <a:ln>
            <a:noFill/>
          </a:ln>
        </p:spPr>
        <p:txBody>
          <a:bodyPr rtlCol="0" anchor="ctr" lIns="36000" rIns="36000" tIns="36000" bIns="36000"/>
          <a:lstStyle/>
          <a:p>
            <a:pPr algn="ctr"/>
          </a:p>
        </p:txBody>
      </p:sp>
      <p:sp>
        <p:nvSpPr>
          <p:cNvPr id="10" name="TextBox 9"/>
          <p:cNvSpPr txBox="1"/>
          <p:nvPr/>
        </p:nvSpPr>
        <p:spPr>
          <a:xfrm>
            <a:off x="6228000" y="1224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인터페이스가 불안정해진 공정 단계 사이에서 두 영역을 함께 포함하는 발명이 예외적이지 않은 비중으로 나타나고, 더 다양한 세부 기술을 포함한다</a:t>
            </a:r>
          </a:p>
        </p:txBody>
      </p:sp>
      <p:sp>
        <p:nvSpPr>
          <p:cNvPr id="11" name="TextBox 10"/>
          <p:cNvSpPr txBox="1"/>
          <p:nvPr/>
        </p:nvSpPr>
        <p:spPr>
          <a:xfrm>
            <a:off x="6228000" y="2268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지식 경계 · 산업 아키텍처 · 재조합</a:t>
            </a:r>
          </a:p>
        </p:txBody>
      </p:sp>
      <p:sp>
        <p:nvSpPr>
          <p:cNvPr id="12" name="Rounded Rectangle 11"/>
          <p:cNvSpPr/>
          <p:nvPr/>
        </p:nvSpPr>
        <p:spPr>
          <a:xfrm>
            <a:off x="540000" y="2754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Rounded Rectangle 12"/>
          <p:cNvSpPr/>
          <p:nvPr/>
        </p:nvSpPr>
        <p:spPr>
          <a:xfrm>
            <a:off x="702000" y="2898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RQ2</a:t>
            </a:r>
          </a:p>
        </p:txBody>
      </p:sp>
      <p:sp>
        <p:nvSpPr>
          <p:cNvPr id="14" name="TextBox 13"/>
          <p:cNvSpPr txBox="1"/>
          <p:nvPr/>
        </p:nvSpPr>
        <p:spPr>
          <a:xfrm>
            <a:off x="1530000" y="2898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시간적 변화</a:t>
            </a:r>
          </a:p>
        </p:txBody>
      </p:sp>
      <p:sp>
        <p:nvSpPr>
          <p:cNvPr id="15" name="TextBox 14"/>
          <p:cNvSpPr txBox="1"/>
          <p:nvPr/>
        </p:nvSpPr>
        <p:spPr>
          <a:xfrm>
            <a:off x="702000" y="3294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기술융합은 시간에 따라 어떻게 변화해 왔는가?</a:t>
            </a:r>
          </a:p>
        </p:txBody>
      </p:sp>
      <p:sp>
        <p:nvSpPr>
          <p:cNvPr id="16" name="Right Arrow 15"/>
          <p:cNvSpPr/>
          <p:nvPr/>
        </p:nvSpPr>
        <p:spPr>
          <a:xfrm>
            <a:off x="5850000" y="3330000"/>
            <a:ext cx="288000" cy="360000"/>
          </a:xfrm>
          <a:prstGeom prst="rightArrow">
            <a:avLst/>
          </a:prstGeom>
          <a:solidFill>
            <a:srgbClr val="C9D2E0"/>
          </a:solidFill>
          <a:ln>
            <a:noFill/>
          </a:ln>
        </p:spPr>
        <p:txBody>
          <a:bodyPr rtlCol="0" anchor="ctr" lIns="36000" rIns="36000" tIns="36000" bIns="36000"/>
          <a:lstStyle/>
          <a:p>
            <a:pPr algn="ctr"/>
          </a:p>
        </p:txBody>
      </p:sp>
      <p:sp>
        <p:nvSpPr>
          <p:cNvPr id="17" name="TextBox 16"/>
          <p:cNvSpPr txBox="1"/>
          <p:nvPr/>
        </p:nvSpPr>
        <p:spPr>
          <a:xfrm>
            <a:off x="6228000" y="2862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융합은 단선적으로 확대되기보다 발전 단계에 따라 수준이 달라지고, 출원의 구성은 제조공정 중심에서 접합 중심으로 이동한다</a:t>
            </a:r>
          </a:p>
        </p:txBody>
      </p:sp>
      <p:sp>
        <p:nvSpPr>
          <p:cNvPr id="18" name="TextBox 17"/>
          <p:cNvSpPr txBox="1"/>
          <p:nvPr/>
        </p:nvSpPr>
        <p:spPr>
          <a:xfrm>
            <a:off x="6228000" y="3906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단계 모형 · 기술 순환 모형</a:t>
            </a:r>
          </a:p>
        </p:txBody>
      </p:sp>
      <p:sp>
        <p:nvSpPr>
          <p:cNvPr id="19" name="Rounded Rectangle 18"/>
          <p:cNvSpPr/>
          <p:nvPr/>
        </p:nvSpPr>
        <p:spPr>
          <a:xfrm>
            <a:off x="540000" y="4392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702000" y="4536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RQ3</a:t>
            </a:r>
          </a:p>
        </p:txBody>
      </p:sp>
      <p:sp>
        <p:nvSpPr>
          <p:cNvPr id="21" name="TextBox 20"/>
          <p:cNvSpPr txBox="1"/>
          <p:nvPr/>
        </p:nvSpPr>
        <p:spPr>
          <a:xfrm>
            <a:off x="1530000" y="4536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구조적 중심 변화</a:t>
            </a:r>
          </a:p>
        </p:txBody>
      </p:sp>
      <p:sp>
        <p:nvSpPr>
          <p:cNvPr id="22" name="TextBox 21"/>
          <p:cNvSpPr txBox="1"/>
          <p:nvPr/>
        </p:nvSpPr>
        <p:spPr>
          <a:xfrm>
            <a:off x="702000" y="4932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23" name="Right Arrow 22"/>
          <p:cNvSpPr/>
          <p:nvPr/>
        </p:nvSpPr>
        <p:spPr>
          <a:xfrm>
            <a:off x="5850000" y="4968000"/>
            <a:ext cx="288000" cy="360000"/>
          </a:xfrm>
          <a:prstGeom prst="rightArrow">
            <a:avLst/>
          </a:prstGeom>
          <a:solidFill>
            <a:srgbClr val="C9D2E0"/>
          </a:solidFill>
          <a:ln>
            <a:noFill/>
          </a:ln>
        </p:spPr>
        <p:txBody>
          <a:bodyPr rtlCol="0" anchor="ctr" lIns="36000" rIns="36000" tIns="36000" bIns="36000"/>
          <a:lstStyle/>
          <a:p>
            <a:pPr algn="ctr"/>
          </a:p>
        </p:txBody>
      </p:sp>
      <p:sp>
        <p:nvSpPr>
          <p:cNvPr id="24" name="TextBox 23"/>
          <p:cNvSpPr txBox="1"/>
          <p:nvPr/>
        </p:nvSpPr>
        <p:spPr>
          <a:xfrm>
            <a:off x="6228000" y="4500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핵심 설계가 고착화되면 핵심 기술의 제조공정 지식 포함 우위가 줄고, 융합의 중심은 응용에 필요한 주변 공정으로 이동한다</a:t>
            </a:r>
          </a:p>
        </p:txBody>
      </p:sp>
      <p:sp>
        <p:nvSpPr>
          <p:cNvPr id="25" name="TextBox 24"/>
          <p:cNvSpPr txBox="1"/>
          <p:nvPr/>
        </p:nvSpPr>
        <p:spPr>
          <a:xfrm>
            <a:off x="6228000" y="5544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핵심–주변 구조 · 아키텍처 지식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두 CPC 클래스의 공동분류</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Oval 3"/>
          <p:cNvSpPr/>
          <p:nvPr/>
        </p:nvSpPr>
        <p:spPr>
          <a:xfrm>
            <a:off x="3324060" y="918000"/>
            <a:ext cx="3456000" cy="3456000"/>
          </a:xfrm>
          <a:prstGeom prst="ellipse">
            <a:avLst/>
          </a:prstGeom>
          <a:solidFill>
            <a:srgbClr val="2563C9">
              <a:alpha val="16000"/>
            </a:srgbClr>
          </a:solidFill>
          <a:ln w="25400">
            <a:solidFill>
              <a:srgbClr val="2563C9"/>
            </a:solidFill>
          </a:ln>
        </p:spPr>
        <p:txBody>
          <a:bodyPr rtlCol="0" anchor="ctr" lIns="36000" rIns="36000" tIns="36000" bIns="36000"/>
          <a:lstStyle/>
          <a:p>
            <a:pPr algn="ctr"/>
          </a:p>
        </p:txBody>
      </p:sp>
      <p:sp>
        <p:nvSpPr>
          <p:cNvPr id="5" name="Oval 4"/>
          <p:cNvSpPr/>
          <p:nvPr/>
        </p:nvSpPr>
        <p:spPr>
          <a:xfrm>
            <a:off x="5412060" y="918000"/>
            <a:ext cx="3456000" cy="3456000"/>
          </a:xfrm>
          <a:prstGeom prst="ellipse">
            <a:avLst/>
          </a:prstGeom>
          <a:solidFill>
            <a:srgbClr val="EA7A28">
              <a:alpha val="16000"/>
            </a:srgbClr>
          </a:solidFill>
          <a:ln w="25400">
            <a:solidFill>
              <a:srgbClr val="EA7A28"/>
            </a:solidFill>
          </a:ln>
        </p:spPr>
        <p:txBody>
          <a:bodyPr rtlCol="0" anchor="ctr" lIns="36000" rIns="36000" tIns="36000" bIns="36000"/>
          <a:lstStyle/>
          <a:p>
            <a:pPr algn="ctr"/>
          </a:p>
        </p:txBody>
      </p:sp>
      <p:sp>
        <p:nvSpPr>
          <p:cNvPr id="6" name="TextBox 5"/>
          <p:cNvSpPr txBox="1"/>
          <p:nvPr/>
        </p:nvSpPr>
        <p:spPr>
          <a:xfrm>
            <a:off x="3504060" y="1458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H01L21</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반도체 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웨이퍼 접합 · CMP</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절연층 처리</a:t>
            </a:r>
          </a:p>
        </p:txBody>
      </p:sp>
      <p:sp>
        <p:nvSpPr>
          <p:cNvPr id="7" name="TextBox 6"/>
          <p:cNvSpPr txBox="1"/>
          <p:nvPr/>
        </p:nvSpPr>
        <p:spPr>
          <a:xfrm>
            <a:off x="6924060" y="1458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H01L24</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접합 · 인터커넥트</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범프 · 와이어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패드 구조</a:t>
            </a:r>
          </a:p>
        </p:txBody>
      </p:sp>
      <p:sp>
        <p:nvSpPr>
          <p:cNvPr id="8" name="Rounded Rectangle 7"/>
          <p:cNvSpPr/>
          <p:nvPr/>
        </p:nvSpPr>
        <p:spPr>
          <a:xfrm>
            <a:off x="3558060" y="2934000"/>
            <a:ext cx="1656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공정 단독형</a:t>
            </a:r>
          </a:p>
        </p:txBody>
      </p:sp>
      <p:sp>
        <p:nvSpPr>
          <p:cNvPr id="9" name="Rounded Rectangle 8"/>
          <p:cNvSpPr/>
          <p:nvPr/>
        </p:nvSpPr>
        <p:spPr>
          <a:xfrm>
            <a:off x="6978060" y="2934000"/>
            <a:ext cx="1656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접합 단독형</a:t>
            </a:r>
          </a:p>
        </p:txBody>
      </p:sp>
      <p:sp>
        <p:nvSpPr>
          <p:cNvPr id="10" name="Rounded Rectangle 9"/>
          <p:cNvSpPr/>
          <p:nvPr/>
        </p:nvSpPr>
        <p:spPr>
          <a:xfrm>
            <a:off x="5466060" y="2268000"/>
            <a:ext cx="1260000" cy="43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통합형</a:t>
            </a:r>
          </a:p>
        </p:txBody>
      </p:sp>
      <p:sp>
        <p:nvSpPr>
          <p:cNvPr id="11" name="TextBox 10"/>
          <p:cNvSpPr txBox="1"/>
          <p:nvPr/>
        </p:nvSpPr>
        <p:spPr>
          <a:xfrm>
            <a:off x="5412060" y="2736000"/>
            <a:ext cx="1368000" cy="46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두 클래스를</a:t>
            </a:r>
          </a:p>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함께 보유</a:t>
            </a:r>
          </a:p>
        </p:txBody>
      </p:sp>
      <p:sp>
        <p:nvSpPr>
          <p:cNvPr id="12" name="Rounded Rectangle 11"/>
          <p:cNvSpPr/>
          <p:nvPr/>
        </p:nvSpPr>
        <p:spPr>
          <a:xfrm>
            <a:off x="54000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TextBox 12"/>
          <p:cNvSpPr txBox="1"/>
          <p:nvPr/>
        </p:nvSpPr>
        <p:spPr>
          <a:xfrm>
            <a:off x="68400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공정 단독형 예 · TW 2019</a:t>
            </a:r>
          </a:p>
        </p:txBody>
      </p:sp>
      <p:sp>
        <p:nvSpPr>
          <p:cNvPr id="14" name="TextBox 13"/>
          <p:cNvSpPr txBox="1"/>
          <p:nvPr/>
        </p:nvSpPr>
        <p:spPr>
          <a:xfrm>
            <a:off x="68400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DIRECT BONDING OF HETEROGENEOUS SUBSTRATES</a:t>
            </a:r>
          </a:p>
        </p:txBody>
      </p:sp>
      <p:sp>
        <p:nvSpPr>
          <p:cNvPr id="15" name="Rounded Rectangle 14"/>
          <p:cNvSpPr/>
          <p:nvPr/>
        </p:nvSpPr>
        <p:spPr>
          <a:xfrm>
            <a:off x="430404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444804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7C3AED"/>
                </a:solidFill>
                <a:latin typeface="맑은 고딕"/>
                <a:ea typeface="맑은 고딕"/>
                <a:cs typeface="맑은 고딕"/>
              </a:rPr>
              <a:t>통합형 예 · US 2017</a:t>
            </a:r>
          </a:p>
        </p:txBody>
      </p:sp>
      <p:sp>
        <p:nvSpPr>
          <p:cNvPr id="17" name="TextBox 16"/>
          <p:cNvSpPr txBox="1"/>
          <p:nvPr/>
        </p:nvSpPr>
        <p:spPr>
          <a:xfrm>
            <a:off x="444804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Metal-metal direct bonding method</a:t>
            </a:r>
          </a:p>
        </p:txBody>
      </p:sp>
      <p:sp>
        <p:nvSpPr>
          <p:cNvPr id="18" name="Rounded Rectangle 17"/>
          <p:cNvSpPr/>
          <p:nvPr/>
        </p:nvSpPr>
        <p:spPr>
          <a:xfrm>
            <a:off x="8068080" y="4518000"/>
            <a:ext cx="3584040" cy="72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8212080" y="4536000"/>
            <a:ext cx="3296040" cy="28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접합 단독형 예 · US 2017</a:t>
            </a:r>
          </a:p>
        </p:txBody>
      </p:sp>
      <p:sp>
        <p:nvSpPr>
          <p:cNvPr id="20" name="TextBox 19"/>
          <p:cNvSpPr txBox="1"/>
          <p:nvPr/>
        </p:nvSpPr>
        <p:spPr>
          <a:xfrm>
            <a:off x="8212080" y="4806000"/>
            <a:ext cx="3296040" cy="396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Hybrid bond pad structure</a:t>
            </a:r>
          </a:p>
        </p:txBody>
      </p:sp>
      <p:sp>
        <p:nvSpPr>
          <p:cNvPr id="21" name="TextBox 20"/>
          <p:cNvSpPr txBox="1"/>
          <p:nvPr/>
        </p:nvSpPr>
        <p:spPr>
          <a:xfrm>
            <a:off x="540000" y="5310000"/>
            <a:ext cx="11112120" cy="46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개념(공정 단계 간 기술융합) → 관찰 현상(두 기술이 한 출원에 함께 포함) → 조작적 지표(H01L21–H01L24 공동분류)</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기호는 심사관이 기술 내용에 따라 부여: 대리측정치이며 법적 청구범위의 측정이 아님 (Curran &amp; Leker, 2011; Fleming, 2001)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(RQ3)</a:t>
            </a:r>
          </a:p>
        </p:txBody>
      </p:sp>
      <p:sp>
        <p:nvSpPr>
          <p:cNvPr id="18" name="TextBox 17"/>
          <p:cNvSpPr txBox="1"/>
          <p:nvPr/>
        </p:nvSpPr>
        <p:spPr>
          <a:xfrm>
            <a:off x="225000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접합 패드 기호 24/03 · 05 · 08 · 80: 출원 200건 이상, 클러스터 · 네트워크로 식별</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21" name="TextBox 20"/>
          <p:cNvSpPr txBox="1"/>
          <p:nvPr/>
        </p:nvSpPr>
        <p:spPr>
          <a:xfrm>
            <a:off x="791406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4" name="TextBox 23"/>
          <p:cNvSpPr txBox="1"/>
          <p:nvPr/>
        </p:nvSpPr>
        <p:spPr>
          <a:xfrm>
            <a:off x="225000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 · 보조 지표</a:t>
            </a:r>
          </a:p>
        </p:txBody>
      </p:sp>
      <p:sp>
        <p:nvSpPr>
          <p:cNvPr id="27" name="TextBox 26"/>
          <p:cNvSpPr txBox="1"/>
          <p:nvPr/>
        </p:nvSpPr>
        <p:spPr>
          <a:xfrm>
            <a:off x="791406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통제 · Jaccard 계수 · 매개 중심성 (RQ3)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수준과 형태</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통합형이 가장 많았고, 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36000"/>
          <a:ext cx="3456000" cy="3240000"/>
        </p:xfrm>
        <a:graphic>
          <a:graphicData uri="http://schemas.openxmlformats.org/drawingml/2006/chart">
            <c:chart xmlns:c="http://schemas.openxmlformats.org/drawingml/2006/chart" r:id="rId3"/>
          </a:graphicData>
        </a:graphic>
      </p:graphicFrame>
      <p:sp>
        <p:nvSpPr>
          <p:cNvPr id="5" name="TextBox 4"/>
          <p:cNvSpPr txBox="1"/>
          <p:nvPr/>
        </p:nvSpPr>
        <p:spPr>
          <a:xfrm>
            <a:off x="540000" y="2160000"/>
            <a:ext cx="3456000" cy="792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N = 928</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출원</a:t>
            </a:r>
          </a:p>
        </p:txBody>
      </p:sp>
      <p:sp>
        <p:nvSpPr>
          <p:cNvPr id="6" name="Rounded Rectangle 5"/>
          <p:cNvSpPr/>
          <p:nvPr/>
        </p:nvSpPr>
        <p:spPr>
          <a:xfrm>
            <a:off x="756000" y="4338000"/>
            <a:ext cx="180000" cy="21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1026000" y="4248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7C3AED"/>
                </a:solidFill>
                <a:latin typeface="맑은 고딕"/>
                <a:ea typeface="맑은 고딕"/>
                <a:cs typeface="맑은 고딕"/>
              </a:rPr>
              <a:t>통합형</a:t>
            </a:r>
          </a:p>
        </p:txBody>
      </p:sp>
      <p:sp>
        <p:nvSpPr>
          <p:cNvPr id="8" name="TextBox 7"/>
          <p:cNvSpPr txBox="1"/>
          <p:nvPr/>
        </p:nvSpPr>
        <p:spPr>
          <a:xfrm>
            <a:off x="2304000" y="4248000"/>
            <a:ext cx="1692000" cy="396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E2532"/>
                </a:solidFill>
                <a:latin typeface="맑은 고딕"/>
                <a:ea typeface="맑은 고딕"/>
                <a:cs typeface="맑은 고딕"/>
              </a:rPr>
              <a:t>45.8%</a:t>
            </a:r>
            <a:r>
              <a:rPr sz="1100" b="0" i="0" lang="ko-KR" altLang="en-US">
                <a:solidFill>
                  <a:srgbClr val="5B6475"/>
                </a:solidFill>
                <a:latin typeface="맑은 고딕"/>
                <a:ea typeface="맑은 고딕"/>
                <a:cs typeface="맑은 고딕"/>
              </a:rPr>
              <a:t>  425건</a:t>
            </a:r>
          </a:p>
        </p:txBody>
      </p:sp>
      <p:sp>
        <p:nvSpPr>
          <p:cNvPr id="9" name="Rounded Rectangle 8"/>
          <p:cNvSpPr/>
          <p:nvPr/>
        </p:nvSpPr>
        <p:spPr>
          <a:xfrm>
            <a:off x="756000" y="4806000"/>
            <a:ext cx="180000" cy="21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1026000" y="4716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2304000" y="4716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36.4%</a:t>
            </a:r>
            <a:r>
              <a:rPr sz="1100" b="0" i="0" lang="ko-KR" altLang="en-US">
                <a:solidFill>
                  <a:srgbClr val="5B6475"/>
                </a:solidFill>
                <a:latin typeface="맑은 고딕"/>
                <a:ea typeface="맑은 고딕"/>
                <a:cs typeface="맑은 고딕"/>
              </a:rPr>
              <a:t>  338건</a:t>
            </a:r>
          </a:p>
        </p:txBody>
      </p:sp>
      <p:sp>
        <p:nvSpPr>
          <p:cNvPr id="12" name="Rounded Rectangle 11"/>
          <p:cNvSpPr/>
          <p:nvPr/>
        </p:nvSpPr>
        <p:spPr>
          <a:xfrm>
            <a:off x="756000" y="5274000"/>
            <a:ext cx="180000" cy="21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1026000" y="5184000"/>
            <a:ext cx="1296000" cy="396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2304000" y="5184000"/>
            <a:ext cx="169200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17.8%</a:t>
            </a:r>
            <a:r>
              <a:rPr sz="1100" b="0" i="0" lang="ko-KR" altLang="en-US">
                <a:solidFill>
                  <a:srgbClr val="5B6475"/>
                </a:solidFill>
                <a:latin typeface="맑은 고딕"/>
                <a:ea typeface="맑은 고딕"/>
                <a:cs typeface="맑은 고딕"/>
              </a:rPr>
              <a:t>  165건</a:t>
            </a:r>
          </a:p>
        </p:txBody>
      </p:sp>
      <p:sp>
        <p:nvSpPr>
          <p:cNvPr id="15" name="Rounded Rectangle 14"/>
          <p:cNvSpPr/>
          <p:nvPr/>
        </p:nvSpPr>
        <p:spPr>
          <a:xfrm>
            <a:off x="720000" y="5634000"/>
            <a:ext cx="3096000" cy="342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좁은 정의에서도 통합형 37.2%</a:t>
            </a:r>
          </a:p>
        </p:txBody>
      </p:sp>
      <p:graphicFrame>
        <p:nvGraphicFramePr>
          <p:cNvPr id="16" name="Chart 15"/>
          <p:cNvGraphicFramePr>
            <a:graphicFrameLocks noGrp="1"/>
          </p:cNvGraphicFramePr>
          <p:nvPr/>
        </p:nvGraphicFramePr>
        <p:xfrm>
          <a:off x="4140000" y="900000"/>
          <a:ext cx="4428000" cy="5112000"/>
        </p:xfrm>
        <a:graphic>
          <a:graphicData uri="http://schemas.openxmlformats.org/drawingml/2006/chart">
            <c:chart xmlns:c="http://schemas.openxmlformats.org/drawingml/2006/chart" r:id="rId4"/>
          </a:graphicData>
        </a:graphic>
      </p:graphicFrame>
      <p:sp>
        <p:nvSpPr>
          <p:cNvPr id="17" name="Rounded Rectangle 16"/>
          <p:cNvSpPr/>
          <p:nvPr/>
        </p:nvSpPr>
        <p:spPr>
          <a:xfrm>
            <a:off x="8712000" y="990000"/>
            <a:ext cx="294012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8892000" y="1116000"/>
            <a:ext cx="2580120" cy="28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Research Question 1</a:t>
            </a:r>
          </a:p>
        </p:txBody>
      </p:sp>
      <p:sp>
        <p:nvSpPr>
          <p:cNvPr id="19" name="TextBox 18"/>
          <p:cNvSpPr txBox="1"/>
          <p:nvPr/>
        </p:nvSpPr>
        <p:spPr>
          <a:xfrm>
            <a:off x="8892000" y="1422000"/>
            <a:ext cx="2580120" cy="1044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20" name="Connector 19"/>
          <p:cNvCxnSpPr/>
          <p:nvPr/>
        </p:nvCxnSpPr>
        <p:spPr>
          <a:xfrm>
            <a:off x="8892000" y="2520000"/>
            <a:ext cx="2580120" cy="0"/>
          </a:xfrm>
          <a:prstGeom prst="line">
            <a:avLst/>
          </a:prstGeom>
          <a:ln w="12700">
            <a:solidFill>
              <a:srgbClr val="D5DBE3"/>
            </a:solidFill>
          </a:ln>
        </p:spPr>
      </p:cxnSp>
      <p:sp>
        <p:nvSpPr>
          <p:cNvPr id="21" name="TextBox 20"/>
          <p:cNvSpPr txBox="1"/>
          <p:nvPr/>
        </p:nvSpPr>
        <p:spPr>
          <a:xfrm>
            <a:off x="8892000" y="2592000"/>
            <a:ext cx="2580120" cy="3294000"/>
          </a:xfrm>
          <a:prstGeom prst="rect">
            <a:avLst/>
          </a:prstGeom>
          <a:noFill/>
        </p:spPr>
        <p:txBody>
          <a:bodyPr wrap="square" lIns="0" rIns="0" tIns="0" bIns="0" anchor="t">
            <a:noAutofit/>
          </a:bodyPr>
          <a:lstStyle/>
          <a:p>
            <a:pPr algn="l" marL="0" indent="0">
              <a:lnSpc>
                <a:spcPts val="1620"/>
              </a:lnSpc>
              <a:spcBef>
                <a:spcPts val="0"/>
              </a:spcBef>
              <a:spcAft>
                <a:spcPts val="700"/>
              </a:spcAft>
              <a:buNone/>
            </a:pPr>
            <a:r>
              <a:rPr sz="1350" b="1" i="0" lang="ko-KR" altLang="en-US">
                <a:solidFill>
                  <a:srgbClr val="13294B"/>
                </a:solidFill>
                <a:latin typeface="맑은 고딕"/>
                <a:ea typeface="맑은 고딕"/>
                <a:cs typeface="맑은 고딕"/>
              </a:rPr>
              <a:t>통합형 45.8%: 가장 큰 비중</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기술범위 →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RRR 1.403*** (서브그룹 1개당 +40%)</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예측확률 (통합형)</a:t>
            </a:r>
          </a:p>
          <a:p>
            <a:pPr algn="l" marL="0" indent="0">
              <a:lnSpc>
                <a:spcPts val="1560"/>
              </a:lnSpc>
              <a:spcBef>
                <a:spcPts val="0"/>
              </a:spcBef>
              <a:spcAft>
                <a:spcPts val="600"/>
              </a:spcAft>
              <a:buNone/>
            </a:pPr>
            <a:r>
              <a:rPr sz="1300" b="1" i="0" lang="ko-KR" altLang="en-US">
                <a:solidFill>
                  <a:srgbClr val="1E2532"/>
                </a:solidFill>
                <a:latin typeface="맑은 고딕"/>
                <a:ea typeface="맑은 고딕"/>
                <a:cs typeface="맑은 고딕"/>
              </a:rPr>
              <a:t>범위 3: 0.26 → 범위 8: 0.68</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최소 기호 수를 조정해도</a:t>
            </a:r>
          </a:p>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RRR 1.262 (방향 유지)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Rounded Rectangle 19"/>
          <p:cNvSpPr/>
          <p:nvPr/>
        </p:nvSpPr>
        <p:spPr>
          <a:xfrm>
            <a:off x="7092000" y="4842000"/>
            <a:ext cx="4560120" cy="1116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21" name="TextBox 20"/>
          <p:cNvSpPr txBox="1"/>
          <p:nvPr/>
        </p:nvSpPr>
        <p:spPr>
          <a:xfrm>
            <a:off x="7254000" y="4860000"/>
            <a:ext cx="4236120" cy="1080000"/>
          </a:xfrm>
          <a:prstGeom prst="rect">
            <a:avLst/>
          </a:prstGeom>
          <a:noFill/>
        </p:spPr>
        <p:txBody>
          <a:bodyPr wrap="square" lIns="0" rIns="0" tIns="0" bIns="0" anchor="ctr">
            <a:noAutofit/>
          </a:bodyPr>
          <a:lstStyle/>
          <a:p>
            <a:pPr algn="l" marL="0" indent="0">
              <a:lnSpc>
                <a:spcPts val="1620"/>
              </a:lnSpc>
              <a:spcBef>
                <a:spcPts val="0"/>
              </a:spcBef>
              <a:spcAft>
                <a:spcPts val="400"/>
              </a:spcAft>
              <a:buNone/>
            </a:pPr>
            <a:r>
              <a:rPr sz="1350" b="1" i="0" lang="ko-KR" altLang="en-US">
                <a:solidFill>
                  <a:srgbClr val="13294B"/>
                </a:solidFill>
                <a:latin typeface="맑은 고딕"/>
                <a:ea typeface="맑은 고딕"/>
                <a:cs typeface="맑은 고딕"/>
              </a:rPr>
              <a:t>출원연도 → 공정 단독형 RRR 0.913*** (연 8.7% 감소)</a:t>
            </a:r>
          </a:p>
          <a:p>
            <a:pPr algn="l" marL="0" indent="0">
              <a:lnSpc>
                <a:spcPts val="1440"/>
              </a:lnSpc>
              <a:spcBef>
                <a:spcPts val="0"/>
              </a:spcBef>
              <a:spcAft>
                <a:spcPts val="300"/>
              </a:spcAft>
              <a:buNone/>
            </a:pPr>
            <a:r>
              <a:rPr sz="1200" b="0" i="0" lang="ko-KR" altLang="en-US">
                <a:solidFill>
                  <a:srgbClr val="1E2532"/>
                </a:solidFill>
                <a:latin typeface="맑은 고딕"/>
                <a:ea typeface="맑은 고딕"/>
                <a:cs typeface="맑은 고딕"/>
              </a:rPr>
              <a:t>예측확률 2010 → 2022: 공정 단독형 0.27 → 0.12, 접합 단독형 0.31 → 0.40</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 &lt; 이후 5년간 209건 → 하나로 묶음</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800000"/>
                <a:gridCol w="1224000"/>
                <a:gridCol w="1224000"/>
                <a:gridCol w="1152000"/>
                <a:gridCol w="1440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보유</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없음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확산기 (2015–19)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재편기 (2020–24)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통합형 여부 · 출원청 통제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70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178000"/>
            <a:ext cx="3624120" cy="0"/>
          </a:xfrm>
          <a:prstGeom prst="line">
            <a:avLst/>
          </a:prstGeom>
          <a:ln w="12700">
            <a:solidFill>
              <a:srgbClr val="D5DBE3"/>
            </a:solidFill>
          </a:ln>
        </p:spPr>
      </p:cxnSp>
      <p:sp>
        <p:nvSpPr>
          <p:cNvPr id="43" name="TextBox 42"/>
          <p:cNvSpPr txBox="1"/>
          <p:nvPr/>
        </p:nvSpPr>
        <p:spPr>
          <a:xfrm>
            <a:off x="7848000" y="2250000"/>
            <a:ext cx="3624120" cy="3510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해석: 지배적 설계의 고착화와 인터페이스 안정화</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설계가 고착화되자, 발명은 경계 반대편의 지식을 매번 함께 다룰 필요가 줄었다</a:t>
            </a:r>
          </a:p>
        </p:txBody>
      </p:sp>
      <p:sp>
        <p:nvSpPr>
          <p:cNvPr id="4" name="Rounded Rectangle 3"/>
          <p:cNvSpPr/>
          <p:nvPr/>
        </p:nvSpPr>
        <p:spPr>
          <a:xfrm>
            <a:off x="540000" y="936000"/>
            <a:ext cx="11112120" cy="504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5" name="TextBox 4"/>
          <p:cNvSpPr txBox="1"/>
          <p:nvPr/>
        </p:nvSpPr>
        <p:spPr>
          <a:xfrm>
            <a:off x="828000" y="936000"/>
            <a:ext cx="10536120" cy="50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재편기: 출원이 가장 많아진 시기에 왜 통합형의 비중은 줄고 접합 단독형이 늘었을까?</a:t>
            </a:r>
          </a:p>
        </p:txBody>
      </p:sp>
      <p:sp>
        <p:nvSpPr>
          <p:cNvPr id="6" name="Rounded Rectangle 5"/>
          <p:cNvSpPr/>
          <p:nvPr/>
        </p:nvSpPr>
        <p:spPr>
          <a:xfrm>
            <a:off x="540000" y="1548000"/>
            <a:ext cx="5160060" cy="270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7" name="TextBox 6"/>
          <p:cNvSpPr txBox="1"/>
          <p:nvPr/>
        </p:nvSpPr>
        <p:spPr>
          <a:xfrm>
            <a:off x="75600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2563C9"/>
                </a:solidFill>
                <a:latin typeface="맑은 고딕"/>
                <a:ea typeface="맑은 고딕"/>
                <a:cs typeface="맑은 고딕"/>
              </a:rPr>
              <a:t>인터페이스 불안정기</a:t>
            </a:r>
          </a:p>
        </p:txBody>
      </p:sp>
      <p:sp>
        <p:nvSpPr>
          <p:cNvPr id="8" name="TextBox 7"/>
          <p:cNvSpPr txBox="1"/>
          <p:nvPr/>
        </p:nvSpPr>
        <p:spPr>
          <a:xfrm>
            <a:off x="75600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형성기 · 확산기  (격동기)</a:t>
            </a:r>
          </a:p>
        </p:txBody>
      </p:sp>
      <p:sp>
        <p:nvSpPr>
          <p:cNvPr id="9" name="Rectangle 8"/>
          <p:cNvSpPr/>
          <p:nvPr/>
        </p:nvSpPr>
        <p:spPr>
          <a:xfrm>
            <a:off x="756000" y="2304000"/>
            <a:ext cx="864000" cy="16560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1908000" y="2304000"/>
            <a:ext cx="864000" cy="1656000"/>
          </a:xfrm>
          <a:prstGeom prst="rect">
            <a:avLst/>
          </a:prstGeom>
          <a:solidFill>
            <a:srgbClr val="2563C9"/>
          </a:solidFill>
          <a:ln>
            <a:noFill/>
          </a:ln>
        </p:spPr>
        <p:txBody>
          <a:bodyPr rtlCol="0" anchor="ctr" lIns="36000" rIns="36000" tIns="36000" bIns="36000"/>
          <a:lstStyle/>
          <a:p>
            <a:pPr algn="ctr"/>
          </a:p>
        </p:txBody>
      </p:sp>
      <p:sp>
        <p:nvSpPr>
          <p:cNvPr id="11" name="TextBox 10"/>
          <p:cNvSpPr txBox="1"/>
          <p:nvPr/>
        </p:nvSpPr>
        <p:spPr>
          <a:xfrm>
            <a:off x="756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12" name="TextBox 11"/>
          <p:cNvSpPr txBox="1"/>
          <p:nvPr/>
        </p:nvSpPr>
        <p:spPr>
          <a:xfrm>
            <a:off x="1908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13" name="Connector 12"/>
          <p:cNvCxnSpPr/>
          <p:nvPr/>
        </p:nvCxnSpPr>
        <p:spPr>
          <a:xfrm>
            <a:off x="1620000" y="2484000"/>
            <a:ext cx="288000" cy="648000"/>
          </a:xfrm>
          <a:prstGeom prst="line">
            <a:avLst/>
          </a:prstGeom>
          <a:ln w="25400">
            <a:solidFill>
              <a:srgbClr val="7C3AED"/>
            </a:solidFill>
          </a:ln>
        </p:spPr>
      </p:cxnSp>
      <p:cxnSp>
        <p:nvCxnSpPr>
          <p:cNvPr id="14" name="Connector 13"/>
          <p:cNvCxnSpPr/>
          <p:nvPr/>
        </p:nvCxnSpPr>
        <p:spPr>
          <a:xfrm flipV="1">
            <a:off x="1620000" y="2484000"/>
            <a:ext cx="288000" cy="324000"/>
          </a:xfrm>
          <a:prstGeom prst="line">
            <a:avLst/>
          </a:prstGeom>
          <a:ln w="25400">
            <a:solidFill>
              <a:srgbClr val="5B6475"/>
            </a:solidFill>
          </a:ln>
        </p:spPr>
      </p:cxnSp>
      <p:cxnSp>
        <p:nvCxnSpPr>
          <p:cNvPr id="15" name="Connector 14"/>
          <p:cNvCxnSpPr/>
          <p:nvPr/>
        </p:nvCxnSpPr>
        <p:spPr>
          <a:xfrm>
            <a:off x="1620000" y="3132000"/>
            <a:ext cx="288000" cy="324000"/>
          </a:xfrm>
          <a:prstGeom prst="line">
            <a:avLst/>
          </a:prstGeom>
          <a:ln w="25400">
            <a:solidFill>
              <a:srgbClr val="EA7A28"/>
            </a:solidFill>
          </a:ln>
        </p:spPr>
      </p:cxnSp>
      <p:cxnSp>
        <p:nvCxnSpPr>
          <p:cNvPr id="16" name="Connector 15"/>
          <p:cNvCxnSpPr/>
          <p:nvPr/>
        </p:nvCxnSpPr>
        <p:spPr>
          <a:xfrm flipV="1">
            <a:off x="1620000" y="2808000"/>
            <a:ext cx="288000" cy="648000"/>
          </a:xfrm>
          <a:prstGeom prst="line">
            <a:avLst/>
          </a:prstGeom>
          <a:ln w="25400">
            <a:solidFill>
              <a:srgbClr val="2563C9"/>
            </a:solidFill>
          </a:ln>
        </p:spPr>
      </p:cxnSp>
      <p:cxnSp>
        <p:nvCxnSpPr>
          <p:cNvPr id="17" name="Connector 16"/>
          <p:cNvCxnSpPr/>
          <p:nvPr/>
        </p:nvCxnSpPr>
        <p:spPr>
          <a:xfrm>
            <a:off x="1620000" y="3780000"/>
            <a:ext cx="288000" cy="0"/>
          </a:xfrm>
          <a:prstGeom prst="line">
            <a:avLst/>
          </a:prstGeom>
          <a:ln w="25400">
            <a:solidFill>
              <a:srgbClr val="9AA6B8"/>
            </a:solidFill>
          </a:ln>
        </p:spPr>
      </p:cxnSp>
      <p:sp>
        <p:nvSpPr>
          <p:cNvPr id="18" name="TextBox 17"/>
          <p:cNvSpPr txBox="1"/>
          <p:nvPr/>
        </p:nvSpPr>
        <p:spPr>
          <a:xfrm>
            <a:off x="291600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핵심 접합 패드를 발명할 때마다</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평탄화 · 표면 화학 · 웨이퍼 접합</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지식을 함께 다룸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통합형 · 핵심 기술의 우위</a:t>
            </a:r>
          </a:p>
        </p:txBody>
      </p:sp>
      <p:sp>
        <p:nvSpPr>
          <p:cNvPr id="19" name="Rounded Rectangle 18"/>
          <p:cNvSpPr/>
          <p:nvPr/>
        </p:nvSpPr>
        <p:spPr>
          <a:xfrm>
            <a:off x="6492060" y="1548000"/>
            <a:ext cx="5160060" cy="270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20" name="TextBox 19"/>
          <p:cNvSpPr txBox="1"/>
          <p:nvPr/>
        </p:nvSpPr>
        <p:spPr>
          <a:xfrm>
            <a:off x="670806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EA7A28"/>
                </a:solidFill>
                <a:latin typeface="맑은 고딕"/>
                <a:ea typeface="맑은 고딕"/>
                <a:cs typeface="맑은 고딕"/>
              </a:rPr>
              <a:t>지배적 설계의 고착화</a:t>
            </a:r>
          </a:p>
        </p:txBody>
      </p:sp>
      <p:sp>
        <p:nvSpPr>
          <p:cNvPr id="21" name="TextBox 20"/>
          <p:cNvSpPr txBox="1"/>
          <p:nvPr/>
        </p:nvSpPr>
        <p:spPr>
          <a:xfrm>
            <a:off x="670806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재편기  (점진적 변화)</a:t>
            </a:r>
          </a:p>
        </p:txBody>
      </p:sp>
      <p:sp>
        <p:nvSpPr>
          <p:cNvPr id="22" name="Rectangle 21"/>
          <p:cNvSpPr/>
          <p:nvPr/>
        </p:nvSpPr>
        <p:spPr>
          <a:xfrm>
            <a:off x="6708060" y="2304000"/>
            <a:ext cx="864000" cy="1656000"/>
          </a:xfrm>
          <a:prstGeom prst="rect">
            <a:avLst/>
          </a:prstGeom>
          <a:solidFill>
            <a:srgbClr val="EA7A28"/>
          </a:solidFill>
          <a:ln>
            <a:noFill/>
          </a:ln>
        </p:spPr>
        <p:txBody>
          <a:bodyPr rtlCol="0" anchor="ctr" lIns="36000" rIns="36000" tIns="36000" bIns="36000"/>
          <a:lstStyle/>
          <a:p>
            <a:pPr algn="ctr"/>
          </a:p>
        </p:txBody>
      </p:sp>
      <p:sp>
        <p:nvSpPr>
          <p:cNvPr id="23" name="Rectangle 22"/>
          <p:cNvSpPr/>
          <p:nvPr/>
        </p:nvSpPr>
        <p:spPr>
          <a:xfrm>
            <a:off x="7860060" y="2304000"/>
            <a:ext cx="864000" cy="1656000"/>
          </a:xfrm>
          <a:prstGeom prst="rect">
            <a:avLst/>
          </a:prstGeom>
          <a:solidFill>
            <a:srgbClr val="2563C9"/>
          </a:solidFill>
          <a:ln>
            <a:noFill/>
          </a:ln>
        </p:spPr>
        <p:txBody>
          <a:bodyPr rtlCol="0" anchor="ctr" lIns="36000" rIns="36000" tIns="36000" bIns="36000"/>
          <a:lstStyle/>
          <a:p>
            <a:pPr algn="ctr"/>
          </a:p>
        </p:txBody>
      </p:sp>
      <p:sp>
        <p:nvSpPr>
          <p:cNvPr id="24" name="TextBox 23"/>
          <p:cNvSpPr txBox="1"/>
          <p:nvPr/>
        </p:nvSpPr>
        <p:spPr>
          <a:xfrm>
            <a:off x="6708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25" name="TextBox 24"/>
          <p:cNvSpPr txBox="1"/>
          <p:nvPr/>
        </p:nvSpPr>
        <p:spPr>
          <a:xfrm>
            <a:off x="7860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26" name="Connector 25"/>
          <p:cNvCxnSpPr/>
          <p:nvPr/>
        </p:nvCxnSpPr>
        <p:spPr>
          <a:xfrm>
            <a:off x="7572060" y="2484000"/>
            <a:ext cx="288000" cy="0"/>
          </a:xfrm>
          <a:prstGeom prst="line">
            <a:avLst/>
          </a:prstGeom>
          <a:ln w="38100">
            <a:solidFill>
              <a:srgbClr val="7C3AED"/>
            </a:solidFill>
          </a:ln>
        </p:spPr>
      </p:cxnSp>
      <p:cxnSp>
        <p:nvCxnSpPr>
          <p:cNvPr id="27" name="Connector 26"/>
          <p:cNvCxnSpPr/>
          <p:nvPr/>
        </p:nvCxnSpPr>
        <p:spPr>
          <a:xfrm>
            <a:off x="7572060" y="2808000"/>
            <a:ext cx="288000" cy="0"/>
          </a:xfrm>
          <a:prstGeom prst="line">
            <a:avLst/>
          </a:prstGeom>
          <a:ln w="38100">
            <a:solidFill>
              <a:srgbClr val="7C3AED"/>
            </a:solidFill>
          </a:ln>
        </p:spPr>
      </p:cxnSp>
      <p:cxnSp>
        <p:nvCxnSpPr>
          <p:cNvPr id="28" name="Connector 27"/>
          <p:cNvCxnSpPr/>
          <p:nvPr/>
        </p:nvCxnSpPr>
        <p:spPr>
          <a:xfrm>
            <a:off x="7572060" y="3132000"/>
            <a:ext cx="288000" cy="0"/>
          </a:xfrm>
          <a:prstGeom prst="line">
            <a:avLst/>
          </a:prstGeom>
          <a:ln w="38100">
            <a:solidFill>
              <a:srgbClr val="7C3AED"/>
            </a:solidFill>
          </a:ln>
        </p:spPr>
      </p:cxnSp>
      <p:cxnSp>
        <p:nvCxnSpPr>
          <p:cNvPr id="29" name="Connector 28"/>
          <p:cNvCxnSpPr/>
          <p:nvPr/>
        </p:nvCxnSpPr>
        <p:spPr>
          <a:xfrm>
            <a:off x="7572060" y="3456000"/>
            <a:ext cx="288000" cy="0"/>
          </a:xfrm>
          <a:prstGeom prst="line">
            <a:avLst/>
          </a:prstGeom>
          <a:ln w="38100">
            <a:solidFill>
              <a:srgbClr val="7C3AED"/>
            </a:solidFill>
          </a:ln>
        </p:spPr>
      </p:cxnSp>
      <p:cxnSp>
        <p:nvCxnSpPr>
          <p:cNvPr id="30" name="Connector 29"/>
          <p:cNvCxnSpPr/>
          <p:nvPr/>
        </p:nvCxnSpPr>
        <p:spPr>
          <a:xfrm>
            <a:off x="7572060" y="3780000"/>
            <a:ext cx="288000" cy="0"/>
          </a:xfrm>
          <a:prstGeom prst="line">
            <a:avLst/>
          </a:prstGeom>
          <a:ln w="38100">
            <a:solidFill>
              <a:srgbClr val="7C3AED"/>
            </a:solidFill>
          </a:ln>
        </p:spPr>
      </p:cxnSp>
      <p:sp>
        <p:nvSpPr>
          <p:cNvPr id="31" name="TextBox 30"/>
          <p:cNvSpPr txBox="1"/>
          <p:nvPr/>
        </p:nvSpPr>
        <p:spPr>
          <a:xfrm>
            <a:off x="886806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직접 접합의 원리가</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"주어진 조건"이 됨</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핵심 기술의 우위 소멸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새로운 결합은 주변 공정에서</a:t>
            </a:r>
          </a:p>
        </p:txBody>
      </p:sp>
      <p:sp>
        <p:nvSpPr>
          <p:cNvPr id="32" name="Right Arrow 31"/>
          <p:cNvSpPr/>
          <p:nvPr/>
        </p:nvSpPr>
        <p:spPr>
          <a:xfrm>
            <a:off x="5826060" y="2628000"/>
            <a:ext cx="540000" cy="540000"/>
          </a:xfrm>
          <a:prstGeom prst="rightArrow">
            <a:avLst/>
          </a:prstGeom>
          <a:solidFill>
            <a:srgbClr val="13294B"/>
          </a:solidFill>
          <a:ln>
            <a:noFill/>
          </a:ln>
        </p:spPr>
        <p:txBody>
          <a:bodyPr rtlCol="0" anchor="ctr" lIns="36000" rIns="36000" tIns="36000" bIns="36000"/>
          <a:lstStyle/>
          <a:p>
            <a:pPr algn="ctr"/>
          </a:p>
        </p:txBody>
      </p:sp>
      <p:cxnSp>
        <p:nvCxnSpPr>
          <p:cNvPr id="33" name="Connector 32"/>
          <p:cNvCxnSpPr/>
          <p:nvPr/>
        </p:nvCxnSpPr>
        <p:spPr>
          <a:xfrm>
            <a:off x="540000" y="4446000"/>
            <a:ext cx="11112120" cy="0"/>
          </a:xfrm>
          <a:prstGeom prst="line">
            <a:avLst/>
          </a:prstGeom>
          <a:ln w="25400">
            <a:solidFill>
              <a:srgbClr val="9AA3B2"/>
            </a:solidFill>
            <a:tailEnd type="triangle" w="med" len="med"/>
          </a:ln>
        </p:spPr>
      </p:cxnSp>
      <p:sp>
        <p:nvSpPr>
          <p:cNvPr id="34" name="Oval 33"/>
          <p:cNvSpPr/>
          <p:nvPr/>
        </p:nvSpPr>
        <p:spPr>
          <a:xfrm>
            <a:off x="2330820" y="4384800"/>
            <a:ext cx="122400" cy="122400"/>
          </a:xfrm>
          <a:prstGeom prst="ellipse">
            <a:avLst/>
          </a:prstGeom>
          <a:solidFill>
            <a:srgbClr val="13294B"/>
          </a:solidFill>
          <a:ln>
            <a:noFill/>
          </a:ln>
        </p:spPr>
        <p:txBody>
          <a:bodyPr rtlCol="0" anchor="ctr" lIns="36000" rIns="36000" tIns="36000" bIns="36000"/>
          <a:lstStyle/>
          <a:p>
            <a:pPr algn="ctr"/>
          </a:p>
        </p:txBody>
      </p:sp>
      <p:sp>
        <p:nvSpPr>
          <p:cNvPr id="35" name="TextBox 34"/>
          <p:cNvSpPr txBox="1"/>
          <p:nvPr/>
        </p:nvSpPr>
        <p:spPr>
          <a:xfrm>
            <a:off x="131202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격동기</a:t>
            </a:r>
          </a:p>
        </p:txBody>
      </p:sp>
      <p:sp>
        <p:nvSpPr>
          <p:cNvPr id="36" name="Oval 35"/>
          <p:cNvSpPr/>
          <p:nvPr/>
        </p:nvSpPr>
        <p:spPr>
          <a:xfrm>
            <a:off x="6034860" y="4384800"/>
            <a:ext cx="122400" cy="122400"/>
          </a:xfrm>
          <a:prstGeom prst="ellipse">
            <a:avLst/>
          </a:prstGeom>
          <a:solidFill>
            <a:srgbClr val="13294B"/>
          </a:solidFill>
          <a:ln>
            <a:noFill/>
          </a:ln>
        </p:spPr>
        <p:txBody>
          <a:bodyPr rtlCol="0" anchor="ctr" lIns="36000" rIns="36000" tIns="36000" bIns="36000"/>
          <a:lstStyle/>
          <a:p>
            <a:pPr algn="ctr"/>
          </a:p>
        </p:txBody>
      </p:sp>
      <p:sp>
        <p:nvSpPr>
          <p:cNvPr id="37" name="TextBox 36"/>
          <p:cNvSpPr txBox="1"/>
          <p:nvPr/>
        </p:nvSpPr>
        <p:spPr>
          <a:xfrm>
            <a:off x="501606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지배적 설계</a:t>
            </a:r>
          </a:p>
        </p:txBody>
      </p:sp>
      <p:sp>
        <p:nvSpPr>
          <p:cNvPr id="38" name="Oval 37"/>
          <p:cNvSpPr/>
          <p:nvPr/>
        </p:nvSpPr>
        <p:spPr>
          <a:xfrm>
            <a:off x="9738900" y="4384800"/>
            <a:ext cx="122400" cy="122400"/>
          </a:xfrm>
          <a:prstGeom prst="ellipse">
            <a:avLst/>
          </a:prstGeom>
          <a:solidFill>
            <a:srgbClr val="13294B"/>
          </a:solidFill>
          <a:ln>
            <a:noFill/>
          </a:ln>
        </p:spPr>
        <p:txBody>
          <a:bodyPr rtlCol="0" anchor="ctr" lIns="36000" rIns="36000" tIns="36000" bIns="36000"/>
          <a:lstStyle/>
          <a:p>
            <a:pPr algn="ctr"/>
          </a:p>
        </p:txBody>
      </p:sp>
      <p:sp>
        <p:nvSpPr>
          <p:cNvPr id="39" name="TextBox 38"/>
          <p:cNvSpPr txBox="1"/>
          <p:nvPr/>
        </p:nvSpPr>
        <p:spPr>
          <a:xfrm>
            <a:off x="872010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점진적 변화</a:t>
            </a:r>
          </a:p>
        </p:txBody>
      </p:sp>
      <p:sp>
        <p:nvSpPr>
          <p:cNvPr id="40" name="TextBox 39"/>
          <p:cNvSpPr txBox="1"/>
          <p:nvPr/>
        </p:nvSpPr>
        <p:spPr>
          <a:xfrm>
            <a:off x="540000" y="4806000"/>
            <a:ext cx="11112120" cy="756000"/>
          </a:xfrm>
          <a:prstGeom prst="rect">
            <a:avLst/>
          </a:prstGeom>
          <a:noFill/>
        </p:spPr>
        <p:txBody>
          <a:bodyPr wrap="square" lIns="0" rIns="0" tIns="0" bIns="0" anchor="ctr">
            <a:noAutofit/>
          </a:bodyPr>
          <a:lstStyle/>
          <a:p>
            <a:pPr algn="ctr" marL="0" indent="0">
              <a:lnSpc>
                <a:spcPts val="1560"/>
              </a:lnSpc>
              <a:spcBef>
                <a:spcPts val="0"/>
              </a:spcBef>
              <a:spcAft>
                <a:spcPts val="300"/>
              </a:spcAft>
              <a:buNone/>
            </a:pPr>
            <a:r>
              <a:rPr sz="1300" b="1" i="0" lang="ko-KR" altLang="en-US">
                <a:solidFill>
                  <a:srgbClr val="13294B"/>
                </a:solidFill>
                <a:latin typeface="맑은 고딕"/>
                <a:ea typeface="맑은 고딕"/>
                <a:cs typeface="맑은 고딕"/>
              </a:rPr>
              <a:t>핵심 요소가 다른 요소와 안정된 인터페이스가 되면, 이후의 변화는 주변 요소에서 일어난다 (Anderson &amp; Tushman, 1990; Murmann &amp; Frenken, 2006)</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해석: 출원 시기는 지배적 설계의 근사이며, 인과를 검정한 것은 아님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허브로 남고, 접합과 제조공정을 잇는 연결은 공정 장치 · 패키징 단계 공정으로 옮겨 갔다</a:t>
            </a:r>
          </a:p>
        </p:txBody>
      </p:sp>
      <p:sp>
        <p:nvSpPr>
          <p:cNvPr id="4" name="Rounded Rectangle 3"/>
          <p:cNvSpPr/>
          <p:nvPr/>
        </p:nvSpPr>
        <p:spPr>
          <a:xfrm>
            <a:off x="54000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8400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형성기</a:t>
            </a:r>
            <a:r>
              <a:rPr sz="1150" b="0" i="0" lang="ko-KR" altLang="en-US">
                <a:solidFill>
                  <a:srgbClr val="5B6475"/>
                </a:solidFill>
                <a:latin typeface="맑은 고딕"/>
                <a:ea typeface="맑은 고딕"/>
                <a:cs typeface="맑은 고딕"/>
              </a:rPr>
              <a:t>  –2014</a:t>
            </a:r>
          </a:p>
        </p:txBody>
      </p:sp>
      <p:cxnSp>
        <p:nvCxnSpPr>
          <p:cNvPr id="6" name="Connector 5"/>
          <p:cNvCxnSpPr/>
          <p:nvPr/>
        </p:nvCxnSpPr>
        <p:spPr>
          <a:xfrm flipH="1" flipV="1">
            <a:off x="1242000" y="2142000"/>
            <a:ext cx="1096020" cy="936000"/>
          </a:xfrm>
          <a:prstGeom prst="line">
            <a:avLst/>
          </a:prstGeom>
          <a:ln w="101041">
            <a:solidFill>
              <a:srgbClr val="2563C9"/>
            </a:solidFill>
          </a:ln>
        </p:spPr>
      </p:cxnSp>
      <p:cxnSp>
        <p:nvCxnSpPr>
          <p:cNvPr id="7" name="Connector 6"/>
          <p:cNvCxnSpPr/>
          <p:nvPr/>
        </p:nvCxnSpPr>
        <p:spPr>
          <a:xfrm flipV="1">
            <a:off x="2338020" y="2142000"/>
            <a:ext cx="1096020" cy="936000"/>
          </a:xfrm>
          <a:prstGeom prst="line">
            <a:avLst/>
          </a:prstGeom>
          <a:ln w="15189">
            <a:solidFill>
              <a:srgbClr val="10A39A"/>
            </a:solidFill>
          </a:ln>
        </p:spPr>
      </p:cxnSp>
      <p:cxnSp>
        <p:nvCxnSpPr>
          <p:cNvPr id="8" name="Connector 7"/>
          <p:cNvCxnSpPr/>
          <p:nvPr/>
        </p:nvCxnSpPr>
        <p:spPr>
          <a:xfrm>
            <a:off x="2338020" y="3078000"/>
            <a:ext cx="0" cy="936000"/>
          </a:xfrm>
          <a:prstGeom prst="line">
            <a:avLst/>
          </a:prstGeom>
          <a:ln w="64058">
            <a:solidFill>
              <a:srgbClr val="E0A100"/>
            </a:solidFill>
          </a:ln>
        </p:spPr>
      </p:cxnSp>
      <p:sp>
        <p:nvSpPr>
          <p:cNvPr id="9" name="Oval 8"/>
          <p:cNvSpPr/>
          <p:nvPr/>
        </p:nvSpPr>
        <p:spPr>
          <a:xfrm>
            <a:off x="726264" y="1626264"/>
            <a:ext cx="1031472" cy="1031472"/>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10" name="TextBox 9"/>
          <p:cNvSpPr txBox="1"/>
          <p:nvPr/>
        </p:nvSpPr>
        <p:spPr>
          <a:xfrm>
            <a:off x="522000" y="13814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53.6%</a:t>
            </a:r>
          </a:p>
        </p:txBody>
      </p:sp>
      <p:sp>
        <p:nvSpPr>
          <p:cNvPr id="11" name="Oval 10"/>
          <p:cNvSpPr/>
          <p:nvPr/>
        </p:nvSpPr>
        <p:spPr>
          <a:xfrm>
            <a:off x="3227040" y="1935000"/>
            <a:ext cx="414000" cy="414000"/>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12" name="TextBox 11"/>
          <p:cNvSpPr txBox="1"/>
          <p:nvPr/>
        </p:nvSpPr>
        <p:spPr>
          <a:xfrm>
            <a:off x="2714040" y="16902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0.0%</a:t>
            </a:r>
          </a:p>
        </p:txBody>
      </p:sp>
      <p:sp>
        <p:nvSpPr>
          <p:cNvPr id="13" name="Oval 12"/>
          <p:cNvSpPr/>
          <p:nvPr/>
        </p:nvSpPr>
        <p:spPr>
          <a:xfrm>
            <a:off x="2129292" y="3805272"/>
            <a:ext cx="417456" cy="41745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14" name="TextBox 13"/>
          <p:cNvSpPr txBox="1"/>
          <p:nvPr/>
        </p:nvSpPr>
        <p:spPr>
          <a:xfrm>
            <a:off x="26007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0.3%</a:t>
            </a:r>
          </a:p>
        </p:txBody>
      </p:sp>
      <p:sp>
        <p:nvSpPr>
          <p:cNvPr id="15" name="Rounded Rectangle 14"/>
          <p:cNvSpPr/>
          <p:nvPr/>
        </p:nvSpPr>
        <p:spPr>
          <a:xfrm>
            <a:off x="148009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0.306</a:t>
            </a:r>
          </a:p>
        </p:txBody>
      </p:sp>
      <p:sp>
        <p:nvSpPr>
          <p:cNvPr id="16" name="Rounded Rectangle 15"/>
          <p:cNvSpPr/>
          <p:nvPr/>
        </p:nvSpPr>
        <p:spPr>
          <a:xfrm>
            <a:off x="261995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0.046</a:t>
            </a:r>
          </a:p>
        </p:txBody>
      </p:sp>
      <p:sp>
        <p:nvSpPr>
          <p:cNvPr id="17" name="Rounded Rectangle 16"/>
          <p:cNvSpPr/>
          <p:nvPr/>
        </p:nvSpPr>
        <p:spPr>
          <a:xfrm>
            <a:off x="205002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0.194</a:t>
            </a:r>
          </a:p>
        </p:txBody>
      </p:sp>
      <p:sp>
        <p:nvSpPr>
          <p:cNvPr id="18" name="Oval 17"/>
          <p:cNvSpPr/>
          <p:nvPr/>
        </p:nvSpPr>
        <p:spPr>
          <a:xfrm>
            <a:off x="196002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19" name="TextBox 18"/>
          <p:cNvSpPr txBox="1"/>
          <p:nvPr/>
        </p:nvSpPr>
        <p:spPr>
          <a:xfrm>
            <a:off x="196002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20" name="Rounded Rectangle 19"/>
          <p:cNvSpPr/>
          <p:nvPr/>
        </p:nvSpPr>
        <p:spPr>
          <a:xfrm>
            <a:off x="429804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TextBox 20"/>
          <p:cNvSpPr txBox="1"/>
          <p:nvPr/>
        </p:nvSpPr>
        <p:spPr>
          <a:xfrm>
            <a:off x="444204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7C3AED"/>
                </a:solidFill>
                <a:latin typeface="맑은 고딕"/>
                <a:ea typeface="맑은 고딕"/>
                <a:cs typeface="맑은 고딕"/>
              </a:rPr>
              <a:t>확산기</a:t>
            </a:r>
            <a:r>
              <a:rPr sz="1150" b="0" i="0" lang="ko-KR" altLang="en-US">
                <a:solidFill>
                  <a:srgbClr val="5B6475"/>
                </a:solidFill>
                <a:latin typeface="맑은 고딕"/>
                <a:ea typeface="맑은 고딕"/>
                <a:cs typeface="맑은 고딕"/>
              </a:rPr>
              <a:t>  2015–2019</a:t>
            </a:r>
          </a:p>
        </p:txBody>
      </p:sp>
      <p:cxnSp>
        <p:nvCxnSpPr>
          <p:cNvPr id="22" name="Connector 21"/>
          <p:cNvCxnSpPr/>
          <p:nvPr/>
        </p:nvCxnSpPr>
        <p:spPr>
          <a:xfrm flipH="1" flipV="1">
            <a:off x="5000040" y="2142000"/>
            <a:ext cx="1096020" cy="936000"/>
          </a:xfrm>
          <a:prstGeom prst="line">
            <a:avLst/>
          </a:prstGeom>
          <a:ln w="197459">
            <a:solidFill>
              <a:srgbClr val="2563C9"/>
            </a:solidFill>
          </a:ln>
        </p:spPr>
      </p:cxnSp>
      <p:cxnSp>
        <p:nvCxnSpPr>
          <p:cNvPr id="23" name="Connector 22"/>
          <p:cNvCxnSpPr/>
          <p:nvPr/>
        </p:nvCxnSpPr>
        <p:spPr>
          <a:xfrm flipV="1">
            <a:off x="6096060" y="2142000"/>
            <a:ext cx="1096020" cy="936000"/>
          </a:xfrm>
          <a:prstGeom prst="line">
            <a:avLst/>
          </a:prstGeom>
          <a:ln w="19481">
            <a:solidFill>
              <a:srgbClr val="10A39A"/>
            </a:solidFill>
          </a:ln>
        </p:spPr>
      </p:cxnSp>
      <p:cxnSp>
        <p:nvCxnSpPr>
          <p:cNvPr id="24" name="Connector 23"/>
          <p:cNvCxnSpPr/>
          <p:nvPr/>
        </p:nvCxnSpPr>
        <p:spPr>
          <a:xfrm>
            <a:off x="6096060" y="3078000"/>
            <a:ext cx="0" cy="936000"/>
          </a:xfrm>
          <a:prstGeom prst="line">
            <a:avLst/>
          </a:prstGeom>
          <a:ln w="77266">
            <a:solidFill>
              <a:srgbClr val="E0A100"/>
            </a:solidFill>
          </a:ln>
        </p:spPr>
      </p:cxnSp>
      <p:sp>
        <p:nvSpPr>
          <p:cNvPr id="25" name="Oval 24"/>
          <p:cNvSpPr/>
          <p:nvPr/>
        </p:nvSpPr>
        <p:spPr>
          <a:xfrm>
            <a:off x="4548240" y="1690200"/>
            <a:ext cx="903600" cy="90360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26" name="TextBox 25"/>
          <p:cNvSpPr txBox="1"/>
          <p:nvPr/>
        </p:nvSpPr>
        <p:spPr>
          <a:xfrm>
            <a:off x="4280040" y="14454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42.5%</a:t>
            </a:r>
          </a:p>
        </p:txBody>
      </p:sp>
      <p:sp>
        <p:nvSpPr>
          <p:cNvPr id="27" name="Oval 26"/>
          <p:cNvSpPr/>
          <p:nvPr/>
        </p:nvSpPr>
        <p:spPr>
          <a:xfrm>
            <a:off x="6974712" y="1924632"/>
            <a:ext cx="434736" cy="434736"/>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28" name="TextBox 27"/>
          <p:cNvSpPr txBox="1"/>
          <p:nvPr/>
        </p:nvSpPr>
        <p:spPr>
          <a:xfrm>
            <a:off x="6472080" y="1679832"/>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1.8%</a:t>
            </a:r>
          </a:p>
        </p:txBody>
      </p:sp>
      <p:sp>
        <p:nvSpPr>
          <p:cNvPr id="29" name="Oval 28"/>
          <p:cNvSpPr/>
          <p:nvPr/>
        </p:nvSpPr>
        <p:spPr>
          <a:xfrm>
            <a:off x="5885604" y="3803544"/>
            <a:ext cx="420912" cy="420912"/>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30" name="TextBox 29"/>
          <p:cNvSpPr txBox="1"/>
          <p:nvPr/>
        </p:nvSpPr>
        <p:spPr>
          <a:xfrm>
            <a:off x="6360516"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0.6%</a:t>
            </a:r>
          </a:p>
        </p:txBody>
      </p:sp>
      <p:sp>
        <p:nvSpPr>
          <p:cNvPr id="31" name="Rounded Rectangle 30"/>
          <p:cNvSpPr/>
          <p:nvPr/>
        </p:nvSpPr>
        <p:spPr>
          <a:xfrm>
            <a:off x="523813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0.598</a:t>
            </a:r>
          </a:p>
        </p:txBody>
      </p:sp>
      <p:sp>
        <p:nvSpPr>
          <p:cNvPr id="32" name="Rounded Rectangle 31"/>
          <p:cNvSpPr/>
          <p:nvPr/>
        </p:nvSpPr>
        <p:spPr>
          <a:xfrm>
            <a:off x="637799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0.059</a:t>
            </a:r>
          </a:p>
        </p:txBody>
      </p:sp>
      <p:sp>
        <p:nvSpPr>
          <p:cNvPr id="33" name="Rounded Rectangle 32"/>
          <p:cNvSpPr/>
          <p:nvPr/>
        </p:nvSpPr>
        <p:spPr>
          <a:xfrm>
            <a:off x="580806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0.234</a:t>
            </a:r>
          </a:p>
        </p:txBody>
      </p:sp>
      <p:sp>
        <p:nvSpPr>
          <p:cNvPr id="34" name="Oval 33"/>
          <p:cNvSpPr/>
          <p:nvPr/>
        </p:nvSpPr>
        <p:spPr>
          <a:xfrm>
            <a:off x="571806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35" name="TextBox 34"/>
          <p:cNvSpPr txBox="1"/>
          <p:nvPr/>
        </p:nvSpPr>
        <p:spPr>
          <a:xfrm>
            <a:off x="571806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36" name="Rounded Rectangle 35"/>
          <p:cNvSpPr/>
          <p:nvPr/>
        </p:nvSpPr>
        <p:spPr>
          <a:xfrm>
            <a:off x="805608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7" name="TextBox 36"/>
          <p:cNvSpPr txBox="1"/>
          <p:nvPr/>
        </p:nvSpPr>
        <p:spPr>
          <a:xfrm>
            <a:off x="820008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재편기</a:t>
            </a:r>
            <a:r>
              <a:rPr sz="1150" b="0" i="0" lang="ko-KR" altLang="en-US">
                <a:solidFill>
                  <a:srgbClr val="5B6475"/>
                </a:solidFill>
                <a:latin typeface="맑은 고딕"/>
                <a:ea typeface="맑은 고딕"/>
                <a:cs typeface="맑은 고딕"/>
              </a:rPr>
              <a:t>  2020–2024</a:t>
            </a:r>
          </a:p>
        </p:txBody>
      </p:sp>
      <p:cxnSp>
        <p:nvCxnSpPr>
          <p:cNvPr id="38" name="Connector 37"/>
          <p:cNvCxnSpPr/>
          <p:nvPr/>
        </p:nvCxnSpPr>
        <p:spPr>
          <a:xfrm flipH="1" flipV="1">
            <a:off x="8758080" y="2142000"/>
            <a:ext cx="1096020" cy="936000"/>
          </a:xfrm>
          <a:prstGeom prst="line">
            <a:avLst/>
          </a:prstGeom>
          <a:ln w="52501">
            <a:solidFill>
              <a:srgbClr val="2563C9"/>
            </a:solidFill>
          </a:ln>
        </p:spPr>
      </p:cxnSp>
      <p:cxnSp>
        <p:nvCxnSpPr>
          <p:cNvPr id="39" name="Connector 38"/>
          <p:cNvCxnSpPr/>
          <p:nvPr/>
        </p:nvCxnSpPr>
        <p:spPr>
          <a:xfrm flipV="1">
            <a:off x="9854100" y="2142000"/>
            <a:ext cx="1096020" cy="936000"/>
          </a:xfrm>
          <a:prstGeom prst="line">
            <a:avLst/>
          </a:prstGeom>
          <a:ln w="58115">
            <a:solidFill>
              <a:srgbClr val="10A39A"/>
            </a:solidFill>
          </a:ln>
        </p:spPr>
      </p:cxnSp>
      <p:cxnSp>
        <p:nvCxnSpPr>
          <p:cNvPr id="40" name="Connector 39"/>
          <p:cNvCxnSpPr/>
          <p:nvPr/>
        </p:nvCxnSpPr>
        <p:spPr>
          <a:xfrm>
            <a:off x="9854100" y="3078000"/>
            <a:ext cx="0" cy="936000"/>
          </a:xfrm>
          <a:prstGeom prst="line">
            <a:avLst/>
          </a:prstGeom>
          <a:ln w="88493">
            <a:solidFill>
              <a:srgbClr val="E0A100"/>
            </a:solidFill>
          </a:ln>
        </p:spPr>
      </p:cxnSp>
      <p:sp>
        <p:nvSpPr>
          <p:cNvPr id="41" name="Oval 40"/>
          <p:cNvSpPr/>
          <p:nvPr/>
        </p:nvSpPr>
        <p:spPr>
          <a:xfrm>
            <a:off x="8499240" y="1883160"/>
            <a:ext cx="517680" cy="51768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42" name="TextBox 41"/>
          <p:cNvSpPr txBox="1"/>
          <p:nvPr/>
        </p:nvSpPr>
        <p:spPr>
          <a:xfrm>
            <a:off x="8038080" y="163836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9.0%</a:t>
            </a:r>
          </a:p>
        </p:txBody>
      </p:sp>
      <p:sp>
        <p:nvSpPr>
          <p:cNvPr id="43" name="Oval 42"/>
          <p:cNvSpPr/>
          <p:nvPr/>
        </p:nvSpPr>
        <p:spPr>
          <a:xfrm>
            <a:off x="10592784" y="1784664"/>
            <a:ext cx="714672" cy="714672"/>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44" name="TextBox 43"/>
          <p:cNvSpPr txBox="1"/>
          <p:nvPr/>
        </p:nvSpPr>
        <p:spPr>
          <a:xfrm>
            <a:off x="10230120" y="15398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26.1%</a:t>
            </a:r>
          </a:p>
        </p:txBody>
      </p:sp>
      <p:sp>
        <p:nvSpPr>
          <p:cNvPr id="45" name="Oval 44"/>
          <p:cNvSpPr/>
          <p:nvPr/>
        </p:nvSpPr>
        <p:spPr>
          <a:xfrm>
            <a:off x="9605052" y="3764952"/>
            <a:ext cx="498096" cy="49809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46" name="TextBox 45"/>
          <p:cNvSpPr txBox="1"/>
          <p:nvPr/>
        </p:nvSpPr>
        <p:spPr>
          <a:xfrm>
            <a:off x="101571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7.3%</a:t>
            </a:r>
          </a:p>
        </p:txBody>
      </p:sp>
      <p:sp>
        <p:nvSpPr>
          <p:cNvPr id="47" name="Rounded Rectangle 46"/>
          <p:cNvSpPr/>
          <p:nvPr/>
        </p:nvSpPr>
        <p:spPr>
          <a:xfrm>
            <a:off x="899617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0.159</a:t>
            </a:r>
          </a:p>
        </p:txBody>
      </p:sp>
      <p:sp>
        <p:nvSpPr>
          <p:cNvPr id="48" name="Rounded Rectangle 47"/>
          <p:cNvSpPr/>
          <p:nvPr/>
        </p:nvSpPr>
        <p:spPr>
          <a:xfrm>
            <a:off x="1013603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0.176</a:t>
            </a:r>
          </a:p>
        </p:txBody>
      </p:sp>
      <p:sp>
        <p:nvSpPr>
          <p:cNvPr id="49" name="Rounded Rectangle 48"/>
          <p:cNvSpPr/>
          <p:nvPr/>
        </p:nvSpPr>
        <p:spPr>
          <a:xfrm>
            <a:off x="956610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0.268</a:t>
            </a:r>
          </a:p>
        </p:txBody>
      </p:sp>
      <p:sp>
        <p:nvSpPr>
          <p:cNvPr id="50" name="Oval 49"/>
          <p:cNvSpPr/>
          <p:nvPr/>
        </p:nvSpPr>
        <p:spPr>
          <a:xfrm>
            <a:off x="947610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51" name="TextBox 50"/>
          <p:cNvSpPr txBox="1"/>
          <p:nvPr/>
        </p:nvSpPr>
        <p:spPr>
          <a:xfrm>
            <a:off x="947610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52" name="TextBox 51"/>
          <p:cNvSpPr txBox="1"/>
          <p:nvPr/>
        </p:nvSpPr>
        <p:spPr>
          <a:xfrm>
            <a:off x="540000" y="4410000"/>
            <a:ext cx="1111212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a:t>
            </a:r>
            <a:r>
              <a:rPr sz="1100" b="1" i="0" lang="ko-KR" altLang="en-US">
                <a:solidFill>
                  <a:srgbClr val="1E2532"/>
                </a:solidFill>
                <a:latin typeface="맑은 고딕"/>
                <a:ea typeface="맑은 고딕"/>
                <a:cs typeface="맑은 고딕"/>
              </a:rPr>
              <a:t> 웨이퍼 제조공정    </a:t>
            </a:r>
            <a:r>
              <a:rPr sz="1300" b="1" i="0" lang="ko-KR" altLang="en-US">
                <a:solidFill>
                  <a:srgbClr val="10A39A"/>
                </a:solidFill>
                <a:latin typeface="맑은 고딕"/>
                <a:ea typeface="맑은 고딕"/>
                <a:cs typeface="맑은 고딕"/>
              </a:rPr>
              <a:t>●</a:t>
            </a:r>
            <a:r>
              <a:rPr sz="1100" b="1" i="0" lang="ko-KR" altLang="en-US">
                <a:solidFill>
                  <a:srgbClr val="1E2532"/>
                </a:solidFill>
                <a:latin typeface="맑은 고딕"/>
                <a:ea typeface="맑은 고딕"/>
                <a:cs typeface="맑은 고딕"/>
              </a:rPr>
              <a:t> 공정 장치    </a:t>
            </a:r>
            <a:r>
              <a:rPr sz="1300" b="1" i="0" lang="ko-KR" altLang="en-US">
                <a:solidFill>
                  <a:srgbClr val="E0A100"/>
                </a:solidFill>
                <a:latin typeface="맑은 고딕"/>
                <a:ea typeface="맑은 고딕"/>
                <a:cs typeface="맑은 고딕"/>
              </a:rPr>
              <a:t>●</a:t>
            </a:r>
            <a:r>
              <a:rPr sz="1100" b="1" i="0" lang="ko-KR" altLang="en-US">
                <a:solidFill>
                  <a:srgbClr val="1E2532"/>
                </a:solidFill>
                <a:latin typeface="맑은 고딕"/>
                <a:ea typeface="맑은 고딕"/>
                <a:cs typeface="맑은 고딕"/>
              </a:rPr>
              <a:t> 패키징 단계 공정    </a:t>
            </a:r>
            <a:r>
              <a:rPr sz="1300" b="1" i="0" lang="ko-KR" altLang="en-US">
                <a:solidFill>
                  <a:srgbClr val="B5441B"/>
                </a:solidFill>
                <a:latin typeface="맑은 고딕"/>
                <a:ea typeface="맑은 고딕"/>
                <a:cs typeface="맑은 고딕"/>
              </a:rPr>
              <a:t>●</a:t>
            </a:r>
            <a:r>
              <a:rPr sz="1100" b="1" i="0" lang="ko-KR" altLang="en-US">
                <a:solidFill>
                  <a:srgbClr val="1E2532"/>
                </a:solidFill>
                <a:latin typeface="맑은 고딕"/>
                <a:ea typeface="맑은 고딕"/>
                <a:cs typeface="맑은 고딕"/>
              </a:rPr>
              <a:t> 핵심 기술(접합 패드 기호 4개)    </a:t>
            </a:r>
            <a:r>
              <a:rPr sz="1050" b="0" i="0" lang="ko-KR" altLang="en-US">
                <a:solidFill>
                  <a:srgbClr val="5B6475"/>
                </a:solidFill>
                <a:latin typeface="맑은 고딕"/>
                <a:ea typeface="맑은 고딕"/>
                <a:cs typeface="맑은 고딕"/>
              </a:rPr>
              <a:t>선 굵기 · 숫자 = Jaccard 계수,  원 크기 = 매개 중심성</a:t>
            </a:r>
          </a:p>
        </p:txBody>
      </p:sp>
      <p:sp>
        <p:nvSpPr>
          <p:cNvPr id="53" name="Rounded Rectangle 52"/>
          <p:cNvSpPr/>
          <p:nvPr/>
        </p:nvSpPr>
        <p:spPr>
          <a:xfrm>
            <a:off x="540000" y="4680000"/>
            <a:ext cx="11112120" cy="1224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54" name="TextBox 53"/>
          <p:cNvSpPr txBox="1"/>
          <p:nvPr/>
        </p:nvSpPr>
        <p:spPr>
          <a:xfrm>
            <a:off x="756000" y="4716000"/>
            <a:ext cx="5040000" cy="36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핵심 기술과 함께 부여된 제조공정 기호</a:t>
            </a:r>
          </a:p>
        </p:txBody>
      </p:sp>
      <p:sp>
        <p:nvSpPr>
          <p:cNvPr id="55" name="Rounded Rectangle 54"/>
          <p:cNvSpPr/>
          <p:nvPr/>
        </p:nvSpPr>
        <p:spPr>
          <a:xfrm>
            <a:off x="756000" y="5148000"/>
            <a:ext cx="864000" cy="378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56" name="TextBox 55"/>
          <p:cNvSpPr txBox="1"/>
          <p:nvPr/>
        </p:nvSpPr>
        <p:spPr>
          <a:xfrm>
            <a:off x="176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21/187</a:t>
            </a:r>
          </a:p>
        </p:txBody>
      </p:sp>
      <p:sp>
        <p:nvSpPr>
          <p:cNvPr id="57" name="TextBox 56"/>
          <p:cNvSpPr txBox="1"/>
          <p:nvPr/>
        </p:nvSpPr>
        <p:spPr>
          <a:xfrm>
            <a:off x="176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58" name="TextBox 57"/>
          <p:cNvSpPr txBox="1"/>
          <p:nvPr/>
        </p:nvSpPr>
        <p:spPr>
          <a:xfrm>
            <a:off x="392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21/76898</a:t>
            </a:r>
          </a:p>
        </p:txBody>
      </p:sp>
      <p:sp>
        <p:nvSpPr>
          <p:cNvPr id="59" name="TextBox 58"/>
          <p:cNvSpPr txBox="1"/>
          <p:nvPr/>
        </p:nvSpPr>
        <p:spPr>
          <a:xfrm>
            <a:off x="392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cxnSp>
        <p:nvCxnSpPr>
          <p:cNvPr id="60" name="Connector 59"/>
          <p:cNvCxnSpPr/>
          <p:nvPr/>
        </p:nvCxnSpPr>
        <p:spPr>
          <a:xfrm>
            <a:off x="6012000" y="5335200"/>
            <a:ext cx="288000" cy="0"/>
          </a:xfrm>
          <a:prstGeom prst="line">
            <a:avLst/>
          </a:prstGeom>
          <a:ln w="31750">
            <a:solidFill>
              <a:srgbClr val="13294B"/>
            </a:solidFill>
            <a:tailEnd type="triangle" w="med" len="med"/>
          </a:ln>
        </p:spPr>
      </p:cxnSp>
      <p:sp>
        <p:nvSpPr>
          <p:cNvPr id="61" name="Rounded Rectangle 60"/>
          <p:cNvSpPr/>
          <p:nvPr/>
        </p:nvSpPr>
        <p:spPr>
          <a:xfrm>
            <a:off x="6372000" y="5148000"/>
            <a:ext cx="864000" cy="378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62" name="TextBox 61"/>
          <p:cNvSpPr txBox="1"/>
          <p:nvPr/>
        </p:nvSpPr>
        <p:spPr>
          <a:xfrm>
            <a:off x="738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21/6835</a:t>
            </a:r>
          </a:p>
        </p:txBody>
      </p:sp>
      <p:sp>
        <p:nvSpPr>
          <p:cNvPr id="63" name="TextBox 62"/>
          <p:cNvSpPr txBox="1"/>
          <p:nvPr/>
        </p:nvSpPr>
        <p:spPr>
          <a:xfrm>
            <a:off x="738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64" name="TextBox 63"/>
          <p:cNvSpPr txBox="1"/>
          <p:nvPr/>
        </p:nvSpPr>
        <p:spPr>
          <a:xfrm>
            <a:off x="954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21/568</a:t>
            </a:r>
          </a:p>
        </p:txBody>
      </p:sp>
      <p:sp>
        <p:nvSpPr>
          <p:cNvPr id="65" name="TextBox 64"/>
          <p:cNvSpPr txBox="1"/>
          <p:nvPr/>
        </p:nvSpPr>
        <p:spPr>
          <a:xfrm>
            <a:off x="954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4.6  </a:t>
            </a:r>
            <a:r>
              <a:rPr sz="2200" b="1" i="0" lang="ko-KR" altLang="en-US">
                <a:solidFill>
                  <a:srgbClr val="13294B"/>
                </a:solidFill>
                <a:latin typeface="맑은 고딕"/>
                <a:ea typeface="맑은 고딕"/>
                <a:cs typeface="맑은 고딕"/>
              </a:rPr>
              <a:t>결과 종합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
        <p:nvSpPr>
          <p:cNvPr id="42" name="TextBox 41"/>
          <p:cNvSpPr txBox="1"/>
          <p:nvPr/>
        </p:nvSpPr>
        <p:spPr>
          <a:xfrm>
            <a:off x="540000" y="5130000"/>
            <a:ext cx="11112120" cy="54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강건성: RQ1 · RQ3 결과는 여섯 가지 재추정에서 모두, RQ2의 시간 추세는 2014년 이전 출원이 30건뿐인 hybrid bonding 표본을 제외하고 모두 유지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시사점과 한계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공정기술과 비교하여 형성–확산–재편의 일반성을 검증하는 것이 다음 과제이다</a:t>
            </a:r>
          </a:p>
        </p:txBody>
      </p:sp>
      <p:sp>
        <p:nvSpPr>
          <p:cNvPr id="4" name="Rounded Rectangle 3"/>
          <p:cNvSpPr/>
          <p:nvPr/>
        </p:nvSpPr>
        <p:spPr>
          <a:xfrm>
            <a:off x="540000" y="972000"/>
            <a:ext cx="541206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756000" y="1134000"/>
            <a:ext cx="720000" cy="720000"/>
          </a:xfrm>
          <a:prstGeom prst="ellipse">
            <a:avLst/>
          </a:prstGeom>
          <a:solidFill>
            <a:srgbClr val="13294B"/>
          </a:solidFill>
          <a:ln>
            <a:noFill/>
          </a:ln>
        </p:spPr>
        <p:txBody>
          <a:bodyPr rtlCol="0" anchor="ctr" lIns="36000" rIns="36000" tIns="36000" bIns="36000"/>
          <a:lstStyle/>
          <a:p>
            <a:pPr algn="ctr"/>
          </a:p>
        </p:txBody>
      </p:sp>
      <p:pic>
        <p:nvPicPr>
          <p:cNvPr id="6" name="Picture 5" descr="FaBuilding_FFFFFF.png"/>
          <p:cNvPicPr>
            <a:picLocks noChangeAspect="1"/>
          </p:cNvPicPr>
          <p:nvPr/>
        </p:nvPicPr>
        <p:blipFill>
          <a:blip r:embed="rId3"/>
          <a:stretch>
            <a:fillRect/>
          </a:stretch>
        </p:blipFill>
        <p:spPr>
          <a:xfrm>
            <a:off x="936000" y="1314000"/>
            <a:ext cx="360000" cy="360000"/>
          </a:xfrm>
          <a:prstGeom prst="rect">
            <a:avLst/>
          </a:prstGeom>
        </p:spPr>
      </p:pic>
      <p:sp>
        <p:nvSpPr>
          <p:cNvPr id="7" name="TextBox 6"/>
          <p:cNvSpPr txBox="1"/>
          <p:nvPr/>
        </p:nvSpPr>
        <p:spPr>
          <a:xfrm>
            <a:off x="1620000" y="1134000"/>
            <a:ext cx="4188060" cy="720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실무적 · 정책적 시사점</a:t>
            </a:r>
          </a:p>
        </p:txBody>
      </p:sp>
      <p:sp>
        <p:nvSpPr>
          <p:cNvPr id="8" name="TextBox 7"/>
          <p:cNvSpPr txBox="1"/>
          <p:nvPr/>
        </p:nvSpPr>
        <p:spPr>
          <a:xfrm>
            <a:off x="792000" y="2124000"/>
            <a:ext cx="4908060" cy="3744000"/>
          </a:xfrm>
          <a:prstGeom prst="rect">
            <a:avLst/>
          </a:prstGeom>
          <a:noFill/>
        </p:spPr>
        <p:txBody>
          <a:bodyPr wrap="square" lIns="0" rIns="0" tIns="0" bIns="0" anchor="t">
            <a:noAutofit/>
          </a:bodyPr>
          <a:lstStyle/>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접합 역량만으로는 부족: 평탄화 · 오염 제어 · 표면 화학 · 정렬을 아우르는 인접 공정 지식</a:t>
            </a:r>
          </a:p>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재편기: 경쟁의 초점이 핵심 원리 → 다이 단위 공정과의 결합(응용)으로 이동 가능성</a:t>
            </a:r>
          </a:p>
          <a:p>
            <a:pPr algn="l" marL="216000" indent="-216000">
              <a:lnSpc>
                <a:spcPts val="2140"/>
              </a:lnSpc>
              <a:spcBef>
                <a:spcPts val="0"/>
              </a:spcBef>
              <a:spcAft>
                <a:spcPts val="2000"/>
              </a:spcAft>
              <a:buClr>
                <a:srgbClr val="EA7A28"/>
              </a:buClr>
              <a:buSzPct val="70000"/>
              <a:buFont typeface="Arial"/>
              <a:buChar char="■"/>
            </a:pPr>
            <a:r>
              <a:rPr sz="1550" b="1" i="0" lang="ko-KR" altLang="en-US">
                <a:solidFill>
                  <a:srgbClr val="13294B"/>
                </a:solidFill>
                <a:latin typeface="맑은 고딕"/>
                <a:ea typeface="맑은 고딕"/>
                <a:cs typeface="맑은 고딕"/>
              </a:rPr>
              <a:t>차세대 HBM: 제조공정 역량 + 얇은 다이를 다루고 적층하는 공정 역량</a:t>
            </a:r>
          </a:p>
        </p:txBody>
      </p:sp>
      <p:sp>
        <p:nvSpPr>
          <p:cNvPr id="9" name="Rounded Rectangle 8"/>
          <p:cNvSpPr/>
          <p:nvPr/>
        </p:nvSpPr>
        <p:spPr>
          <a:xfrm>
            <a:off x="6240060" y="972000"/>
            <a:ext cx="5412060" cy="49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6456060" y="1134000"/>
            <a:ext cx="720000" cy="720000"/>
          </a:xfrm>
          <a:prstGeom prst="ellipse">
            <a:avLst/>
          </a:prstGeom>
          <a:solidFill>
            <a:srgbClr val="13294B"/>
          </a:solidFill>
          <a:ln>
            <a:noFill/>
          </a:ln>
        </p:spPr>
        <p:txBody>
          <a:bodyPr rtlCol="0" anchor="ctr" lIns="36000" rIns="36000" tIns="36000" bIns="36000"/>
          <a:lstStyle/>
          <a:p>
            <a:pPr algn="ctr"/>
          </a:p>
        </p:txBody>
      </p:sp>
      <p:pic>
        <p:nvPicPr>
          <p:cNvPr id="11" name="Picture 10" descr="FaScaleBalanced_FFFFFF.png"/>
          <p:cNvPicPr>
            <a:picLocks noChangeAspect="1"/>
          </p:cNvPicPr>
          <p:nvPr/>
        </p:nvPicPr>
        <p:blipFill>
          <a:blip r:embed="rId4"/>
          <a:stretch>
            <a:fillRect/>
          </a:stretch>
        </p:blipFill>
        <p:spPr>
          <a:xfrm>
            <a:off x="6636060" y="1314000"/>
            <a:ext cx="360000" cy="360000"/>
          </a:xfrm>
          <a:prstGeom prst="rect">
            <a:avLst/>
          </a:prstGeom>
        </p:spPr>
      </p:pic>
      <p:sp>
        <p:nvSpPr>
          <p:cNvPr id="12" name="TextBox 11"/>
          <p:cNvSpPr txBox="1"/>
          <p:nvPr/>
        </p:nvSpPr>
        <p:spPr>
          <a:xfrm>
            <a:off x="7320060" y="1134000"/>
            <a:ext cx="4188060" cy="720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한계와 향후 연구</a:t>
            </a:r>
          </a:p>
        </p:txBody>
      </p:sp>
      <p:sp>
        <p:nvSpPr>
          <p:cNvPr id="13" name="TextBox 12"/>
          <p:cNvSpPr txBox="1"/>
          <p:nvPr/>
        </p:nvSpPr>
        <p:spPr>
          <a:xfrm>
            <a:off x="6492060" y="2124000"/>
            <a:ext cx="4908060" cy="3744000"/>
          </a:xfrm>
          <a:prstGeom prst="rect">
            <a:avLst/>
          </a:prstGeom>
          <a:noFill/>
        </p:spPr>
        <p:txBody>
          <a:bodyPr wrap="square" lIns="0" rIns="0" tIns="0" bIns="0" anchor="t">
            <a:noAutofit/>
          </a:bodyPr>
          <a:lstStyle/>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공동분류는 대리측정치 · CPC 소급 재분류 가능성</a:t>
            </a:r>
          </a:p>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제목 키워드 검색 · 패밀리 식별자 없음 (동일 제목으로 근사)</a:t>
            </a:r>
          </a:p>
          <a:p>
            <a:pPr algn="l" marL="216000" indent="-216000">
              <a:lnSpc>
                <a:spcPts val="2140"/>
              </a:lnSpc>
              <a:spcBef>
                <a:spcPts val="0"/>
              </a:spcBef>
              <a:spcAft>
                <a:spcPts val="2000"/>
              </a:spcAft>
              <a:buClr>
                <a:srgbClr val="13294B"/>
              </a:buClr>
              <a:buSzPct val="70000"/>
              <a:buFont typeface="Arial"/>
              <a:buChar char="■"/>
            </a:pPr>
            <a:r>
              <a:rPr sz="1550" b="0" i="0" lang="ko-KR" altLang="en-US">
                <a:solidFill>
                  <a:srgbClr val="1E2532"/>
                </a:solidFill>
                <a:latin typeface="맑은 고딕"/>
                <a:ea typeface="맑은 고딕"/>
                <a:cs typeface="맑은 고딕"/>
              </a:rPr>
              <a:t>조건부 연관 · 출원인 등 누락변수 · 시기는 지배적 설계의 근사</a:t>
            </a:r>
          </a:p>
          <a:p>
            <a:pPr algn="l" marL="216000" indent="-216000">
              <a:lnSpc>
                <a:spcPts val="2140"/>
              </a:lnSpc>
              <a:spcBef>
                <a:spcPts val="0"/>
              </a:spcBef>
              <a:spcAft>
                <a:spcPts val="2000"/>
              </a:spcAft>
              <a:buClr>
                <a:srgbClr val="EA7A28"/>
              </a:buClr>
              <a:buSzPct val="70000"/>
              <a:buFont typeface="Arial"/>
              <a:buChar char="■"/>
            </a:pPr>
            <a:r>
              <a:rPr sz="1550" b="1" i="0" lang="ko-KR" altLang="en-US">
                <a:solidFill>
                  <a:srgbClr val="13294B"/>
                </a:solidFill>
                <a:latin typeface="맑은 고딕"/>
                <a:ea typeface="맑은 고딕"/>
                <a:cs typeface="맑은 고딕"/>
              </a:rPr>
              <a:t>향후: 출원인 · 패밀리 결합, 디스플레이 · 배터리 등 다른 공정기술과 비교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82000"/>
            </a:srgbClr>
          </a:solidFill>
          <a:ln>
            <a:noFill/>
          </a:ln>
        </p:spPr>
        <p:txBody>
          <a:bodyPr rtlCol="0" anchor="ctr" lIns="36000" rIns="36000" tIns="36000" bIns="36000"/>
          <a:lstStyle/>
          <a:p>
            <a:pPr algn="ctr"/>
          </a:p>
        </p:txBody>
      </p:sp>
      <p:sp>
        <p:nvSpPr>
          <p:cNvPr id="4" name="Rectangle 3"/>
          <p:cNvSpPr/>
          <p:nvPr/>
        </p:nvSpPr>
        <p:spPr>
          <a:xfrm>
            <a:off x="1584000" y="1512000"/>
            <a:ext cx="9024120" cy="2736000"/>
          </a:xfrm>
          <a:prstGeom prst="rect">
            <a:avLst/>
          </a:prstGeom>
          <a:noFill/>
          <a:ln w="19050">
            <a:solidFill>
              <a:srgbClr val="FFFFFF"/>
            </a:solidFill>
          </a:ln>
        </p:spPr>
        <p:txBody>
          <a:bodyPr rtlCol="0" anchor="ctr" lIns="36000" rIns="36000" tIns="36000" bIns="36000"/>
          <a:lstStyle/>
          <a:p>
            <a:pPr algn="ctr"/>
          </a:p>
        </p:txBody>
      </p:sp>
      <p:sp>
        <p:nvSpPr>
          <p:cNvPr id="5" name="TextBox 4"/>
          <p:cNvSpPr txBox="1"/>
          <p:nvPr/>
        </p:nvSpPr>
        <p:spPr>
          <a:xfrm>
            <a:off x="1944000" y="1620000"/>
            <a:ext cx="8304120" cy="2520000"/>
          </a:xfrm>
          <a:prstGeom prst="rect">
            <a:avLst/>
          </a:prstGeom>
          <a:noFill/>
        </p:spPr>
        <p:txBody>
          <a:bodyPr wrap="square" lIns="0" rIns="0" tIns="0" bIns="0" anchor="ctr">
            <a:noAutofit/>
          </a:bodyPr>
          <a:lstStyle/>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“공정 단계 간 기술융합은 한 번 결합하고 멈추는 사건이 아니라,</a:t>
            </a:r>
          </a:p>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핵심 설계의 고착화와 함께 그 중심이</a:t>
            </a:r>
          </a:p>
          <a:p>
            <a:pPr algn="ctr" marL="0" indent="0">
              <a:lnSpc>
                <a:spcPts val="2880"/>
              </a:lnSpc>
              <a:spcBef>
                <a:spcPts val="0"/>
              </a:spcBef>
              <a:spcAft>
                <a:spcPts val="0"/>
              </a:spcAft>
              <a:buNone/>
            </a:pPr>
            <a:r>
              <a:rPr sz="2400" b="1" i="0" lang="ko-KR" altLang="en-US">
                <a:solidFill>
                  <a:srgbClr val="D4A72C"/>
                </a:solidFill>
                <a:latin typeface="맑은 고딕"/>
                <a:ea typeface="맑은 고딕"/>
                <a:cs typeface="맑은 고딕"/>
              </a:rPr>
              <a:t>핵심에서 주변으로 옮겨 가는 과정이다.”</a:t>
            </a:r>
          </a:p>
        </p:txBody>
      </p:sp>
      <p:sp>
        <p:nvSpPr>
          <p:cNvPr id="6" name="TextBox 5"/>
          <p:cNvSpPr txBox="1"/>
          <p:nvPr/>
        </p:nvSpPr>
        <p:spPr>
          <a:xfrm>
            <a:off x="1584000" y="4500000"/>
            <a:ext cx="9024120" cy="720000"/>
          </a:xfrm>
          <a:prstGeom prst="rect">
            <a:avLst/>
          </a:prstGeom>
          <a:noFill/>
        </p:spPr>
        <p:txBody>
          <a:bodyPr wrap="square" lIns="0" rIns="0" tIns="0" bIns="0" anchor="ctr">
            <a:noAutofit/>
          </a:bodyPr>
          <a:lstStyle/>
          <a:p>
            <a:pPr algn="ctr" marL="0" indent="0">
              <a:lnSpc>
                <a:spcPts val="1680"/>
              </a:lnSpc>
              <a:spcBef>
                <a:spcPts val="0"/>
              </a:spcBef>
              <a:spcAft>
                <a:spcPts val="400"/>
              </a:spcAft>
              <a:buNone/>
            </a:pPr>
            <a:r>
              <a:rPr sz="1400" b="0" i="0" lang="ko-KR" altLang="en-US">
                <a:solidFill>
                  <a:srgbClr val="B9C6DD"/>
                </a:solidFill>
                <a:latin typeface="맑은 고딕"/>
                <a:ea typeface="맑은 고딕"/>
                <a:cs typeface="맑은 고딕"/>
              </a:rPr>
              <a:t>하이브리드 본딩 특허 928건(1968–2024)의 종단 분석</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다음 경쟁은 핵심 원리보다 주변 공정과의 결합에서 일어날 수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  </a:t>
            </a:r>
            <a:r>
              <a:rPr sz="2200" b="1" i="0" lang="ko-KR" altLang="en-US">
                <a:solidFill>
                  <a:srgbClr val="13294B"/>
                </a:solidFill>
                <a:latin typeface="맑은 고딕"/>
                <a:ea typeface="맑은 고딕"/>
                <a:cs typeface="맑은 고딕"/>
              </a:rPr>
              <a:t>반도체 분업 구조와 첨단 패키징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684000"/>
          </a:xfrm>
          <a:prstGeom prst="line">
            <a:avLst/>
          </a:prstGeom>
          <a:ln w="25400">
            <a:solidFill>
              <a:srgbClr val="13294B"/>
            </a:solidFill>
            <a:prstDash val="dash"/>
          </a:ln>
        </p:spPr>
      </p:cxnSp>
      <p:cxnSp>
        <p:nvCxnSpPr>
          <p:cNvPr id="13" name="Connector 12"/>
          <p:cNvCxnSpPr/>
          <p:nvPr/>
        </p:nvCxnSpPr>
        <p:spPr>
          <a:xfrm>
            <a:off x="6096060" y="2538000"/>
            <a:ext cx="0" cy="378000"/>
          </a:xfrm>
          <a:prstGeom prst="line">
            <a:avLst/>
          </a:prstGeom>
          <a:ln w="25400">
            <a:solidFill>
              <a:srgbClr val="13294B"/>
            </a:solidFill>
            <a:prstDash val="dash"/>
          </a:ln>
        </p:spPr>
      </p:cxnSp>
      <p:sp>
        <p:nvSpPr>
          <p:cNvPr id="14" name="Rounded Rectangle 13"/>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5" name="TextBox 14"/>
          <p:cNvSpPr txBox="1"/>
          <p:nvPr/>
        </p:nvSpPr>
        <p:spPr>
          <a:xfrm>
            <a:off x="4944060" y="2214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6" name="Rounded Rectangle 15"/>
          <p:cNvSpPr/>
          <p:nvPr/>
        </p:nvSpPr>
        <p:spPr>
          <a:xfrm>
            <a:off x="570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7" name="Picture 16" descr="FaHourglassHalf_13294B.png"/>
          <p:cNvPicPr>
            <a:picLocks noChangeAspect="1"/>
          </p:cNvPicPr>
          <p:nvPr/>
        </p:nvPicPr>
        <p:blipFill>
          <a:blip r:embed="rId3"/>
          <a:stretch>
            <a:fillRect/>
          </a:stretch>
        </p:blipFill>
        <p:spPr>
          <a:xfrm>
            <a:off x="1902060" y="3636000"/>
            <a:ext cx="540000" cy="540000"/>
          </a:xfrm>
          <a:prstGeom prst="rect">
            <a:avLst/>
          </a:prstGeom>
        </p:spPr>
      </p:pic>
      <p:sp>
        <p:nvSpPr>
          <p:cNvPr id="18" name="TextBox 17"/>
          <p:cNvSpPr txBox="1"/>
          <p:nvPr/>
        </p:nvSpPr>
        <p:spPr>
          <a:xfrm>
            <a:off x="678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9" name="TextBox 18"/>
          <p:cNvSpPr txBox="1"/>
          <p:nvPr/>
        </p:nvSpPr>
        <p:spPr>
          <a:xfrm>
            <a:off x="678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20" name="Connector 19"/>
          <p:cNvCxnSpPr/>
          <p:nvPr/>
        </p:nvCxnSpPr>
        <p:spPr>
          <a:xfrm>
            <a:off x="3864060" y="4338000"/>
            <a:ext cx="540000" cy="0"/>
          </a:xfrm>
          <a:prstGeom prst="line">
            <a:avLst/>
          </a:prstGeom>
          <a:ln w="31750">
            <a:solidFill>
              <a:srgbClr val="13294B"/>
            </a:solidFill>
            <a:tailEnd type="triangle" w="med" len="med"/>
          </a:ln>
        </p:spPr>
      </p:cxnSp>
      <p:sp>
        <p:nvSpPr>
          <p:cNvPr id="21" name="Rounded Rectangle 20"/>
          <p:cNvSpPr/>
          <p:nvPr/>
        </p:nvSpPr>
        <p:spPr>
          <a:xfrm>
            <a:off x="4494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2" name="Picture 21" descr="FaLayerGroup_13294B.png"/>
          <p:cNvPicPr>
            <a:picLocks noChangeAspect="1"/>
          </p:cNvPicPr>
          <p:nvPr/>
        </p:nvPicPr>
        <p:blipFill>
          <a:blip r:embed="rId4"/>
          <a:stretch>
            <a:fillRect/>
          </a:stretch>
        </p:blipFill>
        <p:spPr>
          <a:xfrm>
            <a:off x="5826060" y="3636000"/>
            <a:ext cx="540000" cy="540000"/>
          </a:xfrm>
          <a:prstGeom prst="rect">
            <a:avLst/>
          </a:prstGeom>
        </p:spPr>
      </p:pic>
      <p:sp>
        <p:nvSpPr>
          <p:cNvPr id="23" name="TextBox 22"/>
          <p:cNvSpPr txBox="1"/>
          <p:nvPr/>
        </p:nvSpPr>
        <p:spPr>
          <a:xfrm>
            <a:off x="4602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4" name="TextBox 23"/>
          <p:cNvSpPr txBox="1"/>
          <p:nvPr/>
        </p:nvSpPr>
        <p:spPr>
          <a:xfrm>
            <a:off x="4602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5" name="Connector 24"/>
          <p:cNvCxnSpPr/>
          <p:nvPr/>
        </p:nvCxnSpPr>
        <p:spPr>
          <a:xfrm>
            <a:off x="7788060" y="4338000"/>
            <a:ext cx="540000" cy="0"/>
          </a:xfrm>
          <a:prstGeom prst="line">
            <a:avLst/>
          </a:prstGeom>
          <a:ln w="31750">
            <a:solidFill>
              <a:srgbClr val="13294B"/>
            </a:solidFill>
            <a:tailEnd type="triangle" w="med" len="med"/>
          </a:ln>
        </p:spPr>
      </p:cxnSp>
      <p:sp>
        <p:nvSpPr>
          <p:cNvPr id="26" name="Rounded Rectangle 25"/>
          <p:cNvSpPr/>
          <p:nvPr/>
        </p:nvSpPr>
        <p:spPr>
          <a:xfrm>
            <a:off x="8418060" y="3456000"/>
            <a:ext cx="3204000" cy="1764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7" name="Picture 26" descr="FaLink_13294B.png"/>
          <p:cNvPicPr>
            <a:picLocks noChangeAspect="1"/>
          </p:cNvPicPr>
          <p:nvPr/>
        </p:nvPicPr>
        <p:blipFill>
          <a:blip r:embed="rId5"/>
          <a:stretch>
            <a:fillRect/>
          </a:stretch>
        </p:blipFill>
        <p:spPr>
          <a:xfrm>
            <a:off x="9750060" y="3636000"/>
            <a:ext cx="540000" cy="540000"/>
          </a:xfrm>
          <a:prstGeom prst="rect">
            <a:avLst/>
          </a:prstGeom>
        </p:spPr>
      </p:pic>
      <p:sp>
        <p:nvSpPr>
          <p:cNvPr id="28" name="TextBox 27"/>
          <p:cNvSpPr txBox="1"/>
          <p:nvPr/>
        </p:nvSpPr>
        <p:spPr>
          <a:xfrm>
            <a:off x="8526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9" name="TextBox 28"/>
          <p:cNvSpPr txBox="1"/>
          <p:nvPr/>
        </p:nvSpPr>
        <p:spPr>
          <a:xfrm>
            <a:off x="8526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30" name="Source"/>
          <p:cNvSpPr txBox="1"/>
          <p:nvPr/>
        </p:nvSpPr>
        <p:spPr>
          <a:xfrm>
            <a:off x="540000" y="540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427200" y="1728000"/>
            <a:ext cx="201600" cy="0"/>
          </a:xfrm>
          <a:prstGeom prst="line">
            <a:avLst/>
          </a:prstGeom>
          <a:ln w="25400">
            <a:solidFill>
              <a:srgbClr val="13294B"/>
            </a:solidFill>
            <a:tailEnd type="triangle" w="med" len="med"/>
          </a:ln>
        </p:spPr>
      </p:cxnSp>
      <p:sp>
        <p:nvSpPr>
          <p:cNvPr id="6" name="Rounded Rectangle 5"/>
          <p:cNvSpPr/>
          <p:nvPr/>
        </p:nvSpPr>
        <p:spPr>
          <a:xfrm>
            <a:off x="3672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6343200" y="1728000"/>
            <a:ext cx="201600" cy="0"/>
          </a:xfrm>
          <a:prstGeom prst="line">
            <a:avLst/>
          </a:prstGeom>
          <a:ln w="25400">
            <a:solidFill>
              <a:srgbClr val="13294B"/>
            </a:solidFill>
            <a:tailEnd type="triangle" w="med" len="med"/>
          </a:ln>
        </p:spPr>
      </p:cxnSp>
      <p:sp>
        <p:nvSpPr>
          <p:cNvPr id="8" name="Rounded Rectangle 7"/>
          <p:cNvSpPr/>
          <p:nvPr/>
        </p:nvSpPr>
        <p:spPr>
          <a:xfrm>
            <a:off x="6588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3564000" y="1116000"/>
            <a:ext cx="2844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3564000" y="2376000"/>
            <a:ext cx="2844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74000" y="918000"/>
            <a:ext cx="51390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6813000" y="2574000"/>
            <a:ext cx="17280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9540000" y="972000"/>
            <a:ext cx="2112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9684000" y="972000"/>
            <a:ext cx="1824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4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336000" y="936000"/>
            <a:ext cx="5172120" cy="3309176"/>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372000" y="972000"/>
            <a:ext cx="5100120" cy="3237176"/>
          </a:xfrm>
          <a:prstGeom prst="rect">
            <a:avLst/>
          </a:prstGeom>
        </p:spPr>
      </p:pic>
      <p:sp>
        <p:nvSpPr>
          <p:cNvPr id="33" name="TextBox 32"/>
          <p:cNvSpPr txBox="1"/>
          <p:nvPr/>
        </p:nvSpPr>
        <p:spPr>
          <a:xfrm>
            <a:off x="6192000" y="4263176"/>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공정 흐름과 장비: Applied Materials (2025) · 출원인: KnowMade (2024)</a:t>
            </a:r>
          </a:p>
        </p:txBody>
      </p:sp>
      <p:sp>
        <p:nvSpPr>
          <p:cNvPr id="34" name="TextBox 33"/>
          <p:cNvSpPr txBox="1"/>
          <p:nvPr/>
        </p:nvSpPr>
        <p:spPr>
          <a:xfrm>
            <a:off x="6192000" y="4515176"/>
            <a:ext cx="5460120" cy="486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1" i="0" lang="ko-KR" altLang="en-US">
                <a:solidFill>
                  <a:srgbClr val="1E2532"/>
                </a:solidFill>
                <a:latin typeface="맑은 고딕"/>
                <a:ea typeface="맑은 고딕"/>
                <a:cs typeface="맑은 고딕"/>
              </a:rPr>
              <a:t>다이 절단 전까지 절연막 증착 → 다마신 식각 → Cu 배리어·시드 증착 → Cu 도금 → CMP: </a:t>
            </a:r>
            <a:r>
              <a:rPr sz="1200" b="1" i="0" lang="ko-KR" altLang="en-US">
                <a:solidFill>
                  <a:srgbClr val="2563C9"/>
                </a:solidFill>
                <a:latin typeface="맑은 고딕"/>
                <a:ea typeface="맑은 고딕"/>
                <a:cs typeface="맑은 고딕"/>
              </a:rPr>
              <a:t>모두 전공정의 공정과 장비</a:t>
            </a:r>
          </a:p>
        </p:txBody>
      </p:sp>
      <p:sp>
        <p:nvSpPr>
          <p:cNvPr id="35" name="TextBox 34"/>
          <p:cNvSpPr txBox="1"/>
          <p:nvPr/>
        </p:nvSpPr>
        <p:spPr>
          <a:xfrm>
            <a:off x="6192000" y="5055176"/>
            <a:ext cx="1080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a:t>
            </a:r>
          </a:p>
        </p:txBody>
      </p:sp>
      <p:sp>
        <p:nvSpPr>
          <p:cNvPr id="36" name="Rounded Rectangle 35"/>
          <p:cNvSpPr/>
          <p:nvPr/>
        </p:nvSpPr>
        <p:spPr>
          <a:xfrm>
            <a:off x="7272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7" name="Rounded Rectangle 36"/>
          <p:cNvSpPr/>
          <p:nvPr/>
        </p:nvSpPr>
        <p:spPr>
          <a:xfrm>
            <a:off x="7956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8" name="Rounded Rectangle 37"/>
          <p:cNvSpPr/>
          <p:nvPr/>
        </p:nvSpPr>
        <p:spPr>
          <a:xfrm>
            <a:off x="8640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39" name="Rounded Rectangle 38"/>
          <p:cNvSpPr/>
          <p:nvPr/>
        </p:nvSpPr>
        <p:spPr>
          <a:xfrm>
            <a:off x="9324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0" name="Rounded Rectangle 39"/>
          <p:cNvSpPr/>
          <p:nvPr/>
        </p:nvSpPr>
        <p:spPr>
          <a:xfrm>
            <a:off x="10008000" y="5062376"/>
            <a:ext cx="828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5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논문 그림 4)</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404000"/>
                <a:gridCol w="3048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6  </a:t>
            </a:r>
            <a:r>
              <a:rPr sz="2200" b="1" i="0" lang="ko-KR" altLang="en-US">
                <a:solidFill>
                  <a:srgbClr val="13294B"/>
                </a:solidFill>
                <a:latin typeface="맑은 고딕"/>
                <a:ea typeface="맑은 고딕"/>
                <a:cs typeface="맑은 고딕"/>
              </a:rPr>
              <a:t>형성기: 전공정 지식의 축적</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형성기: 핵심 기술을 발명하려면 제조공정 지식을 함께 다루어야 했다</a:t>
            </a:r>
          </a:p>
        </p:txBody>
      </p:sp>
      <p:sp>
        <p:nvSpPr>
          <p:cNvPr id="4" name="Pentagon 3"/>
          <p:cNvSpPr/>
          <p:nvPr/>
        </p:nvSpPr>
        <p:spPr>
          <a:xfrm>
            <a:off x="540000" y="900000"/>
            <a:ext cx="3776040" cy="432000"/>
          </a:xfrm>
          <a:prstGeom prst="homePlate">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1  형성기</a:t>
            </a:r>
            <a:r>
              <a:rPr sz="1200" b="0" i="0" lang="ko-KR" altLang="en-US">
                <a:solidFill>
                  <a:srgbClr val="FFFFFF"/>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179</a:t>
            </a:r>
          </a:p>
        </p:txBody>
      </p:sp>
      <p:sp>
        <p:nvSpPr>
          <p:cNvPr id="8" name="Rectangle 7"/>
          <p:cNvSpPr/>
          <p:nvPr/>
        </p:nvSpPr>
        <p:spPr>
          <a:xfrm>
            <a:off x="540000" y="1800000"/>
            <a:ext cx="2762496"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43.6%</a:t>
            </a:r>
          </a:p>
        </p:txBody>
      </p:sp>
      <p:sp>
        <p:nvSpPr>
          <p:cNvPr id="9" name="Rectangle 8"/>
          <p:cNvSpPr/>
          <p:nvPr/>
        </p:nvSpPr>
        <p:spPr>
          <a:xfrm>
            <a:off x="3302496" y="1800000"/>
            <a:ext cx="1983168"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31.3%</a:t>
            </a:r>
          </a:p>
        </p:txBody>
      </p:sp>
      <p:sp>
        <p:nvSpPr>
          <p:cNvPr id="10" name="Rectangle 9"/>
          <p:cNvSpPr/>
          <p:nvPr/>
        </p:nvSpPr>
        <p:spPr>
          <a:xfrm>
            <a:off x="5285664" y="1800000"/>
            <a:ext cx="1590336"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25.1%</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공정 단독형 43.6%로 최다</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직접 접합을 가능하게 하는 제조공정 발명이 단독으로 출원</a:t>
            </a:r>
          </a:p>
        </p:txBody>
      </p:sp>
      <p:sp>
        <p:nvSpPr>
          <p:cNvPr id="21" name="Rounded Rectangle 20"/>
          <p:cNvSpPr/>
          <p:nvPr/>
        </p:nvSpPr>
        <p:spPr>
          <a:xfrm>
            <a:off x="3798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핵심 기술 보유 접합 출원의 79.6%가 통합형</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핵심 기술이 없는 접합 출원은 27.7%</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53.6%)</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2563C9"/>
                </a:solidFill>
                <a:latin typeface="맑은 고딕"/>
                <a:ea typeface="맑은 고딕"/>
                <a:cs typeface="맑은 고딕"/>
              </a:rPr>
              <a:t>지식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47년간 179건: 이후 5년간 209건보다 적어 하나의 시기로 묶음</a:t>
            </a:r>
          </a:p>
        </p:txBody>
      </p:sp>
      <p:sp>
        <p:nvSpPr>
          <p:cNvPr id="27" name="Rectangle 26"/>
          <p:cNvSpPr/>
          <p:nvPr/>
        </p:nvSpPr>
        <p:spPr>
          <a:xfrm>
            <a:off x="7164000" y="1512000"/>
            <a:ext cx="4488120" cy="4338000"/>
          </a:xfrm>
          <a:prstGeom prst="rect">
            <a:avLst/>
          </a:prstGeom>
          <a:solidFill>
            <a:srgbClr val="FFFFFF"/>
          </a:solidFill>
          <a:ln w="38100">
            <a:solidFill>
              <a:srgbClr val="2563C9"/>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2563C9"/>
                </a:solidFill>
                <a:latin typeface="맑은 고딕"/>
                <a:ea typeface="맑은 고딕"/>
                <a:cs typeface="맑은 고딕"/>
              </a:rPr>
              <a:t>11.07</a:t>
            </a:r>
            <a:r>
              <a:rPr sz="2600" b="1" i="0" lang="ko-KR" altLang="en-US">
                <a:solidFill>
                  <a:srgbClr val="2563C9"/>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4.211–29.107 · p &lt; 0.01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인터페이스가 확정되기 전</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직접 접합 패드를 발명하려면 평탄화 · 웨이퍼 접합 같은 제조공정 지식을 함께 다루어야 했던 시기</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7  </a:t>
            </a:r>
            <a:r>
              <a:rPr sz="2200" b="1" i="0" lang="ko-KR" altLang="en-US">
                <a:solidFill>
                  <a:srgbClr val="13294B"/>
                </a:solidFill>
                <a:latin typeface="맑은 고딕"/>
                <a:ea typeface="맑은 고딕"/>
                <a:cs typeface="맑은 고딕"/>
              </a:rPr>
              <a:t>확산기: 두 지식의 결합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확산기: 두 공정의 지식이 하나의 발명 안에서 가장 활발히 결합되었다</a:t>
            </a:r>
          </a:p>
        </p:txBody>
      </p:sp>
      <p:sp>
        <p:nvSpPr>
          <p:cNvPr id="4" name="Pentagon 3"/>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7C3AED"/>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2  확산기</a:t>
            </a:r>
            <a:r>
              <a:rPr sz="1200" b="0" i="0" lang="ko-KR" altLang="en-US">
                <a:solidFill>
                  <a:srgbClr val="FFFFFF"/>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209</a:t>
            </a:r>
          </a:p>
        </p:txBody>
      </p:sp>
      <p:sp>
        <p:nvSpPr>
          <p:cNvPr id="8" name="Rectangle 7"/>
          <p:cNvSpPr/>
          <p:nvPr/>
        </p:nvSpPr>
        <p:spPr>
          <a:xfrm>
            <a:off x="540000" y="1800000"/>
            <a:ext cx="937728"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14.8%</a:t>
            </a:r>
          </a:p>
        </p:txBody>
      </p:sp>
      <p:sp>
        <p:nvSpPr>
          <p:cNvPr id="9" name="Rectangle 8"/>
          <p:cNvSpPr/>
          <p:nvPr/>
        </p:nvSpPr>
        <p:spPr>
          <a:xfrm>
            <a:off x="1477728" y="1800000"/>
            <a:ext cx="3940992"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62.2%</a:t>
            </a:r>
          </a:p>
        </p:txBody>
      </p:sp>
      <p:sp>
        <p:nvSpPr>
          <p:cNvPr id="10" name="Rectangle 9"/>
          <p:cNvSpPr/>
          <p:nvPr/>
        </p:nvSpPr>
        <p:spPr>
          <a:xfrm>
            <a:off x="5418720" y="1800000"/>
            <a:ext cx="1457280"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23.0%</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통합형 62.2%로 정점</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두 공정의 기술을 하나의 발명에 함께 담은 출원이 가장 많음</a:t>
            </a:r>
          </a:p>
        </p:txBody>
      </p:sp>
      <p:sp>
        <p:nvSpPr>
          <p:cNvPr id="21" name="Rounded Rectangle 20"/>
          <p:cNvSpPr/>
          <p:nvPr/>
        </p:nvSpPr>
        <p:spPr>
          <a:xfrm>
            <a:off x="3798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웨이퍼 제조공정과의 결합 최고</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접합 기호와의 Jaccard 계수 0.598 · 함께 부여: 21/187 반도체 몸체끼리의 접합</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42.5%)</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7C3AED"/>
                </a:solidFill>
                <a:latin typeface="맑은 고딕"/>
                <a:ea typeface="맑은 고딕"/>
                <a:cs typeface="맑은 고딕"/>
              </a:rPr>
              <a:t>기술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확산기의 승산비는 군집 표준오차 · 무관 용법 제외 표본에서 유의성을 잃음</a:t>
            </a:r>
          </a:p>
        </p:txBody>
      </p:sp>
      <p:sp>
        <p:nvSpPr>
          <p:cNvPr id="27" name="Rectangle 26"/>
          <p:cNvSpPr/>
          <p:nvPr/>
        </p:nvSpPr>
        <p:spPr>
          <a:xfrm>
            <a:off x="7164000" y="1512000"/>
            <a:ext cx="4488120" cy="4338000"/>
          </a:xfrm>
          <a:prstGeom prst="rect">
            <a:avLst/>
          </a:prstGeom>
          <a:solidFill>
            <a:srgbClr val="FFFFFF"/>
          </a:solidFill>
          <a:ln w="38100">
            <a:solidFill>
              <a:srgbClr val="7C3AED"/>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7C3AED"/>
                </a:solidFill>
                <a:latin typeface="맑은 고딕"/>
                <a:ea typeface="맑은 고딕"/>
                <a:cs typeface="맑은 고딕"/>
              </a:rPr>
              <a:t>2.45</a:t>
            </a:r>
            <a:r>
              <a:rPr sz="2600" b="1" i="0" lang="ko-KR" altLang="en-US">
                <a:solidFill>
                  <a:srgbClr val="7C3AED"/>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1.158–5.194 · p &lt; 0.05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우위는 줄었지만 유지</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접합 출원 중 핵심 기술 비중 53.5% → 78.7%: 핵심 설계로 수렴하는 중</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8  </a:t>
            </a:r>
            <a:r>
              <a:rPr sz="2200" b="1" i="0" lang="ko-KR" altLang="en-US">
                <a:solidFill>
                  <a:srgbClr val="13294B"/>
                </a:solidFill>
                <a:latin typeface="맑은 고딕"/>
                <a:ea typeface="맑은 고딕"/>
                <a:cs typeface="맑은 고딕"/>
              </a:rPr>
              <a:t>재편기: 융합이 줄어든 역설</a:t>
            </a:r>
          </a:p>
        </p:txBody>
      </p:sp>
      <p:sp>
        <p:nvSpPr>
          <p:cNvPr id="3" name="Pentagon 2"/>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4" name="Chevron 3"/>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5" name="Chevron 4"/>
          <p:cNvSpPr/>
          <p:nvPr/>
        </p:nvSpPr>
        <p:spPr>
          <a:xfrm>
            <a:off x="7984080" y="900000"/>
            <a:ext cx="3776040" cy="432000"/>
          </a:xfrm>
          <a:prstGeom prst="chevron">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3  재편기</a:t>
            </a:r>
            <a:r>
              <a:rPr sz="1200" b="0" i="0" lang="ko-KR" altLang="en-US">
                <a:solidFill>
                  <a:srgbClr val="FFFFFF"/>
                </a:solidFill>
                <a:latin typeface="맑은 고딕"/>
                <a:ea typeface="맑은 고딕"/>
                <a:cs typeface="맑은 고딕"/>
              </a:rPr>
              <a:t>   2020–2024</a:t>
            </a:r>
          </a:p>
        </p:txBody>
      </p:sp>
      <p:graphicFrame>
        <p:nvGraphicFramePr>
          <p:cNvPr id="6" name="Chart 5"/>
          <p:cNvGraphicFramePr>
            <a:graphicFrameLocks noGrp="1"/>
          </p:cNvGraphicFramePr>
          <p:nvPr/>
        </p:nvGraphicFramePr>
        <p:xfrm>
          <a:off x="540000" y="1440000"/>
          <a:ext cx="6336000" cy="3240000"/>
        </p:xfrm>
        <a:graphic>
          <a:graphicData uri="http://schemas.openxmlformats.org/drawingml/2006/chart">
            <c:chart xmlns:c="http://schemas.openxmlformats.org/drawingml/2006/chart" r:id="rId3"/>
          </a:graphicData>
        </a:graphic>
      </p:graphicFrame>
      <p:sp>
        <p:nvSpPr>
          <p:cNvPr id="7" name="Rounded Rectangle 6"/>
          <p:cNvSpPr/>
          <p:nvPr/>
        </p:nvSpPr>
        <p:spPr>
          <a:xfrm>
            <a:off x="7164000" y="1476000"/>
            <a:ext cx="4488120" cy="97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8" name="TextBox 7"/>
          <p:cNvSpPr txBox="1"/>
          <p:nvPr/>
        </p:nvSpPr>
        <p:spPr>
          <a:xfrm>
            <a:off x="7344000" y="153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 45.4% ≈ 통합형 44.3%</a:t>
            </a:r>
          </a:p>
        </p:txBody>
      </p:sp>
      <p:sp>
        <p:nvSpPr>
          <p:cNvPr id="9" name="TextBox 8"/>
          <p:cNvSpPr txBox="1"/>
          <p:nvPr/>
        </p:nvSpPr>
        <p:spPr>
          <a:xfrm>
            <a:off x="7344000" y="192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통합형은 정점에서 내려오고 접합 단독형이 늘어남</a:t>
            </a:r>
          </a:p>
        </p:txBody>
      </p:sp>
      <p:sp>
        <p:nvSpPr>
          <p:cNvPr id="10" name="Rounded Rectangle 9"/>
          <p:cNvSpPr/>
          <p:nvPr/>
        </p:nvSpPr>
        <p:spPr>
          <a:xfrm>
            <a:off x="7164000" y="2556000"/>
            <a:ext cx="4488120" cy="97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344000" y="261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핵심 기술의 승산비 0.66 (비유의)</a:t>
            </a:r>
          </a:p>
        </p:txBody>
      </p:sp>
      <p:sp>
        <p:nvSpPr>
          <p:cNvPr id="12" name="TextBox 11"/>
          <p:cNvSpPr txBox="1"/>
          <p:nvPr/>
        </p:nvSpPr>
        <p:spPr>
          <a:xfrm>
            <a:off x="7344000" y="300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95% CI 0.374–1.160: 핵심 기술의 "경계 넘기" 우위가 확인되지 않음</a:t>
            </a:r>
          </a:p>
        </p:txBody>
      </p:sp>
      <p:sp>
        <p:nvSpPr>
          <p:cNvPr id="13" name="Rounded Rectangle 12"/>
          <p:cNvSpPr/>
          <p:nvPr/>
        </p:nvSpPr>
        <p:spPr>
          <a:xfrm>
            <a:off x="7164000" y="3636000"/>
            <a:ext cx="4488120" cy="972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7344000" y="369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중 핵심 기술 비중 88.0%</a:t>
            </a:r>
          </a:p>
        </p:txBody>
      </p:sp>
      <p:sp>
        <p:nvSpPr>
          <p:cNvPr id="15" name="TextBox 14"/>
          <p:cNvSpPr txBox="1"/>
          <p:nvPr/>
        </p:nvSpPr>
        <p:spPr>
          <a:xfrm>
            <a:off x="7344000" y="408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출원 540건으로 가장 많은 시기 · 발명이 하나의 핵심 설계로 수렴</a:t>
            </a:r>
          </a:p>
        </p:txBody>
      </p:sp>
      <p:sp>
        <p:nvSpPr>
          <p:cNvPr id="16" name="Rounded Rectangle 15"/>
          <p:cNvSpPr/>
          <p:nvPr/>
        </p:nvSpPr>
        <p:spPr>
          <a:xfrm>
            <a:off x="540000" y="4842000"/>
            <a:ext cx="11112120" cy="108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17" name="TextBox 16"/>
          <p:cNvSpPr txBox="1"/>
          <p:nvPr/>
        </p:nvSpPr>
        <p:spPr>
          <a:xfrm>
            <a:off x="900000" y="4842000"/>
            <a:ext cx="10392120" cy="1080000"/>
          </a:xfrm>
          <a:prstGeom prst="rect">
            <a:avLst/>
          </a:prstGeom>
          <a:noFill/>
        </p:spPr>
        <p:txBody>
          <a:bodyPr wrap="square" lIns="0" rIns="0" tIns="0" bIns="0" anchor="ctr">
            <a:noAutofit/>
          </a:bodyPr>
          <a:lstStyle/>
          <a:p>
            <a:pPr algn="ctr" marL="0" indent="0">
              <a:lnSpc>
                <a:spcPts val="2640"/>
              </a:lnSpc>
              <a:spcBef>
                <a:spcPts val="0"/>
              </a:spcBef>
              <a:spcAft>
                <a:spcPts val="0"/>
              </a:spcAft>
              <a:buNone/>
            </a:pPr>
            <a:r>
              <a:rPr sz="2200" b="1" i="0" lang="ko-KR" altLang="en-US">
                <a:solidFill>
                  <a:srgbClr val="FFFFFF"/>
                </a:solidFill>
                <a:latin typeface="맑은 고딕"/>
                <a:ea typeface="맑은 고딕"/>
                <a:cs typeface="맑은 고딕"/>
              </a:rPr>
              <a:t>출원이 가장 많아진 시기에, 왜 경계를 넘는 발명의 비중은 줄고</a:t>
            </a:r>
          </a:p>
          <a:p>
            <a:pPr algn="ctr" marL="0" indent="0">
              <a:lnSpc>
                <a:spcPts val="2640"/>
              </a:lnSpc>
              <a:spcBef>
                <a:spcPts val="0"/>
              </a:spcBef>
              <a:spcAft>
                <a:spcPts val="0"/>
              </a:spcAft>
              <a:buNone/>
            </a:pPr>
            <a:r>
              <a:rPr sz="2200" b="1" i="0" lang="ko-KR" altLang="en-US">
                <a:solidFill>
                  <a:srgbClr val="D4A72C"/>
                </a:solidFill>
                <a:latin typeface="맑은 고딕"/>
                <a:ea typeface="맑은 고딕"/>
                <a:cs typeface="맑은 고딕"/>
              </a:rPr>
              <a:t>접합 발명은 다시 단독으로 출원되기 시작했을까?</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9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56000"/>
            <a:ext cx="5208120" cy="828000"/>
          </a:xfrm>
          <a:prstGeom prst="rect">
            <a:avLst/>
          </a:prstGeom>
          <a:noFill/>
        </p:spPr>
        <p:txBody>
          <a:bodyPr wrap="square" lIns="0" rIns="0" tIns="0" bIns="0" anchor="t">
            <a:noAutofit/>
          </a:bodyPr>
          <a:lstStyle/>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10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2580120"/>
                <a:gridCol w="2304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공정 단독형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통합형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11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3744000"/>
                <a:gridCol w="1296000"/>
                <a:gridCol w="1944000"/>
                <a:gridCol w="2196000"/>
                <a:gridCol w="1933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12  </a:t>
            </a:r>
            <a:r>
              <a:rPr sz="2200" b="1" i="0" lang="ko-KR" altLang="en-US">
                <a:solidFill>
                  <a:srgbClr val="13294B"/>
                </a:solidFill>
                <a:latin typeface="맑은 고딕"/>
                <a:ea typeface="맑은 고딕"/>
                <a:cs typeface="맑은 고딕"/>
              </a:rPr>
              <a:t>산업적 함의: 흔들리는 분업의 인터페이스</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경계와 지식의 경계는 다르다: 인터페이스가 흔들리면 지식 경계가 먼저 넓어진다</a:t>
            </a:r>
          </a:p>
        </p:txBody>
      </p:sp>
      <p:sp>
        <p:nvSpPr>
          <p:cNvPr id="4" name="Rectangle 3"/>
          <p:cNvSpPr/>
          <p:nvPr/>
        </p:nvSpPr>
        <p:spPr>
          <a:xfrm>
            <a:off x="540000" y="1008000"/>
            <a:ext cx="2664000" cy="1872000"/>
          </a:xfrm>
          <a:prstGeom prst="rect">
            <a:avLst/>
          </a:prstGeom>
          <a:solidFill>
            <a:srgbClr val="FFFFFF"/>
          </a:solidFill>
          <a:ln w="22225">
            <a:solidFill>
              <a:srgbClr val="13294B"/>
            </a:solid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sp>
        <p:nvSpPr>
          <p:cNvPr id="5" name="Rectangle 4"/>
          <p:cNvSpPr/>
          <p:nvPr/>
        </p:nvSpPr>
        <p:spPr>
          <a:xfrm>
            <a:off x="3924000" y="1008000"/>
            <a:ext cx="3240000" cy="1872000"/>
          </a:xfrm>
          <a:prstGeom prst="rect">
            <a:avLst/>
          </a:prstGeom>
          <a:solidFill>
            <a:srgbClr val="2563C9"/>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제조 · 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종합반도체기업(IDM) · 파운드리</a:t>
            </a:r>
          </a:p>
        </p:txBody>
      </p:sp>
      <p:sp>
        <p:nvSpPr>
          <p:cNvPr id="6" name="Rectangle 5"/>
          <p:cNvSpPr/>
          <p:nvPr/>
        </p:nvSpPr>
        <p:spPr>
          <a:xfrm>
            <a:off x="8316000" y="1008000"/>
            <a:ext cx="3337200" cy="1872000"/>
          </a:xfrm>
          <a:prstGeom prst="rect">
            <a:avLst/>
          </a:prstGeom>
          <a:solidFill>
            <a:srgbClr val="EA7A28"/>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조립 · 테스트 · 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조립 · 테스트 전문업체(OSAT)</a:t>
            </a:r>
          </a:p>
        </p:txBody>
      </p:sp>
      <p:cxnSp>
        <p:nvCxnSpPr>
          <p:cNvPr id="7" name="Connector 6"/>
          <p:cNvCxnSpPr/>
          <p:nvPr/>
        </p:nvCxnSpPr>
        <p:spPr>
          <a:xfrm>
            <a:off x="3276000" y="1944000"/>
            <a:ext cx="576000" cy="0"/>
          </a:xfrm>
          <a:prstGeom prst="line">
            <a:avLst/>
          </a:prstGeom>
          <a:ln w="31750">
            <a:solidFill>
              <a:srgbClr val="13294B"/>
            </a:solidFill>
            <a:tailEnd type="triangle" w="med" len="med"/>
          </a:ln>
        </p:spPr>
      </p:cxnSp>
      <p:sp>
        <p:nvSpPr>
          <p:cNvPr id="8" name="Rectangle 7"/>
          <p:cNvSpPr/>
          <p:nvPr/>
        </p:nvSpPr>
        <p:spPr>
          <a:xfrm>
            <a:off x="7416000" y="864000"/>
            <a:ext cx="576000" cy="2160000"/>
          </a:xfrm>
          <a:prstGeom prst="rect">
            <a:avLst/>
          </a:prstGeom>
          <a:solidFill>
            <a:srgbClr val="C9CED6"/>
          </a:solidFill>
          <a:ln w="12700">
            <a:solidFill>
              <a:srgbClr val="9AA3B2"/>
            </a:solidFill>
          </a:ln>
        </p:spPr>
        <p:txBody>
          <a:bodyPr rtlCol="0" anchor="ctr" lIns="36000" rIns="36000" tIns="36000" bIns="36000"/>
          <a:lstStyle/>
          <a:p>
            <a:pPr algn="ctr"/>
          </a:p>
        </p:txBody>
      </p:sp>
      <p:cxnSp>
        <p:nvCxnSpPr>
          <p:cNvPr id="9" name="Connector 8"/>
          <p:cNvCxnSpPr/>
          <p:nvPr/>
        </p:nvCxnSpPr>
        <p:spPr>
          <a:xfrm>
            <a:off x="7488000" y="1224000"/>
            <a:ext cx="288000" cy="180000"/>
          </a:xfrm>
          <a:prstGeom prst="line">
            <a:avLst/>
          </a:prstGeom>
          <a:ln w="19050">
            <a:solidFill>
              <a:srgbClr val="7D8594"/>
            </a:solidFill>
          </a:ln>
        </p:spPr>
      </p:cxnSp>
      <p:cxnSp>
        <p:nvCxnSpPr>
          <p:cNvPr id="10" name="Connector 9"/>
          <p:cNvCxnSpPr/>
          <p:nvPr/>
        </p:nvCxnSpPr>
        <p:spPr>
          <a:xfrm flipH="1">
            <a:off x="7596000" y="1404000"/>
            <a:ext cx="180000" cy="180000"/>
          </a:xfrm>
          <a:prstGeom prst="line">
            <a:avLst/>
          </a:prstGeom>
          <a:ln w="19050">
            <a:solidFill>
              <a:srgbClr val="7D8594"/>
            </a:solidFill>
          </a:ln>
        </p:spPr>
      </p:cxnSp>
      <p:cxnSp>
        <p:nvCxnSpPr>
          <p:cNvPr id="11" name="Connector 10"/>
          <p:cNvCxnSpPr/>
          <p:nvPr/>
        </p:nvCxnSpPr>
        <p:spPr>
          <a:xfrm>
            <a:off x="7488000" y="1656000"/>
            <a:ext cx="288000" cy="180000"/>
          </a:xfrm>
          <a:prstGeom prst="line">
            <a:avLst/>
          </a:prstGeom>
          <a:ln w="19050">
            <a:solidFill>
              <a:srgbClr val="7D8594"/>
            </a:solidFill>
          </a:ln>
        </p:spPr>
      </p:cxnSp>
      <p:cxnSp>
        <p:nvCxnSpPr>
          <p:cNvPr id="12" name="Connector 11"/>
          <p:cNvCxnSpPr/>
          <p:nvPr/>
        </p:nvCxnSpPr>
        <p:spPr>
          <a:xfrm flipH="1">
            <a:off x="7596000" y="1836000"/>
            <a:ext cx="180000" cy="180000"/>
          </a:xfrm>
          <a:prstGeom prst="line">
            <a:avLst/>
          </a:prstGeom>
          <a:ln w="19050">
            <a:solidFill>
              <a:srgbClr val="7D8594"/>
            </a:solidFill>
          </a:ln>
        </p:spPr>
      </p:cxnSp>
      <p:cxnSp>
        <p:nvCxnSpPr>
          <p:cNvPr id="13" name="Connector 12"/>
          <p:cNvCxnSpPr/>
          <p:nvPr/>
        </p:nvCxnSpPr>
        <p:spPr>
          <a:xfrm>
            <a:off x="7488000" y="2088000"/>
            <a:ext cx="288000" cy="180000"/>
          </a:xfrm>
          <a:prstGeom prst="line">
            <a:avLst/>
          </a:prstGeom>
          <a:ln w="19050">
            <a:solidFill>
              <a:srgbClr val="7D8594"/>
            </a:solidFill>
          </a:ln>
        </p:spPr>
      </p:cxnSp>
      <p:cxnSp>
        <p:nvCxnSpPr>
          <p:cNvPr id="14" name="Connector 13"/>
          <p:cNvCxnSpPr/>
          <p:nvPr/>
        </p:nvCxnSpPr>
        <p:spPr>
          <a:xfrm flipH="1">
            <a:off x="7596000" y="2268000"/>
            <a:ext cx="180000" cy="180000"/>
          </a:xfrm>
          <a:prstGeom prst="line">
            <a:avLst/>
          </a:prstGeom>
          <a:ln w="19050">
            <a:solidFill>
              <a:srgbClr val="7D8594"/>
            </a:solidFill>
          </a:ln>
        </p:spPr>
      </p:cxnSp>
      <p:cxnSp>
        <p:nvCxnSpPr>
          <p:cNvPr id="15" name="Connector 14"/>
          <p:cNvCxnSpPr/>
          <p:nvPr/>
        </p:nvCxnSpPr>
        <p:spPr>
          <a:xfrm>
            <a:off x="7488000" y="2520000"/>
            <a:ext cx="288000" cy="180000"/>
          </a:xfrm>
          <a:prstGeom prst="line">
            <a:avLst/>
          </a:prstGeom>
          <a:ln w="19050">
            <a:solidFill>
              <a:srgbClr val="7D8594"/>
            </a:solidFill>
          </a:ln>
        </p:spPr>
      </p:cxnSp>
      <p:cxnSp>
        <p:nvCxnSpPr>
          <p:cNvPr id="16" name="Connector 15"/>
          <p:cNvCxnSpPr/>
          <p:nvPr/>
        </p:nvCxnSpPr>
        <p:spPr>
          <a:xfrm flipH="1">
            <a:off x="7596000" y="2700000"/>
            <a:ext cx="180000" cy="180000"/>
          </a:xfrm>
          <a:prstGeom prst="line">
            <a:avLst/>
          </a:prstGeom>
          <a:ln w="19050">
            <a:solidFill>
              <a:srgbClr val="7D8594"/>
            </a:solidFill>
          </a:ln>
        </p:spPr>
      </p:cxnSp>
      <p:cxnSp>
        <p:nvCxnSpPr>
          <p:cNvPr id="17" name="Connector 16"/>
          <p:cNvCxnSpPr/>
          <p:nvPr/>
        </p:nvCxnSpPr>
        <p:spPr>
          <a:xfrm>
            <a:off x="7200000" y="1944000"/>
            <a:ext cx="1080000" cy="0"/>
          </a:xfrm>
          <a:prstGeom prst="line">
            <a:avLst/>
          </a:prstGeom>
          <a:ln w="44450">
            <a:solidFill>
              <a:srgbClr val="7C3AED"/>
            </a:solidFill>
            <a:tailEnd type="triangle" w="med" len="med"/>
          </a:ln>
        </p:spPr>
      </p:cxnSp>
      <p:sp>
        <p:nvSpPr>
          <p:cNvPr id="18" name="TextBox 17"/>
          <p:cNvSpPr txBox="1"/>
          <p:nvPr/>
        </p:nvSpPr>
        <p:spPr>
          <a:xfrm>
            <a:off x="6840000" y="3060000"/>
            <a:ext cx="1728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인터페이스</a:t>
            </a:r>
          </a:p>
        </p:txBody>
      </p:sp>
      <p:sp>
        <p:nvSpPr>
          <p:cNvPr id="19" name="Rounded Rectangle 18"/>
          <p:cNvSpPr/>
          <p:nvPr/>
        </p:nvSpPr>
        <p:spPr>
          <a:xfrm>
            <a:off x="54000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Oval 19"/>
          <p:cNvSpPr/>
          <p:nvPr/>
        </p:nvSpPr>
        <p:spPr>
          <a:xfrm>
            <a:off x="720000" y="3618000"/>
            <a:ext cx="198000" cy="198000"/>
          </a:xfrm>
          <a:prstGeom prst="ellipse">
            <a:avLst/>
          </a:prstGeom>
          <a:solidFill>
            <a:srgbClr val="2563C9"/>
          </a:solidFill>
          <a:ln>
            <a:noFill/>
          </a:ln>
        </p:spPr>
        <p:txBody>
          <a:bodyPr rtlCol="0" anchor="ctr" lIns="36000" rIns="36000" tIns="36000" bIns="36000"/>
          <a:lstStyle/>
          <a:p>
            <a:pPr algn="ctr"/>
          </a:p>
        </p:txBody>
      </p:sp>
      <p:sp>
        <p:nvSpPr>
          <p:cNvPr id="21" name="TextBox 20"/>
          <p:cNvSpPr txBox="1"/>
          <p:nvPr/>
        </p:nvSpPr>
        <p:spPr>
          <a:xfrm>
            <a:off x="100800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흔들리는 인터페이스</a:t>
            </a:r>
          </a:p>
        </p:txBody>
      </p:sp>
      <p:sp>
        <p:nvSpPr>
          <p:cNvPr id="22" name="TextBox 21"/>
          <p:cNvSpPr txBox="1"/>
          <p:nvPr/>
        </p:nvSpPr>
        <p:spPr>
          <a:xfrm>
            <a:off x="72000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반세기의 분업은 두 단계 사이의 안정적 인터페이스를 전제로 했다. 하이브리드 본딩은 후공정 기술의 성패를 전공정 역량에 의존하게 한다.</a:t>
            </a:r>
          </a:p>
        </p:txBody>
      </p:sp>
      <p:sp>
        <p:nvSpPr>
          <p:cNvPr id="23" name="Rounded Rectangle 22"/>
          <p:cNvSpPr/>
          <p:nvPr/>
        </p:nvSpPr>
        <p:spPr>
          <a:xfrm>
            <a:off x="431604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Oval 23"/>
          <p:cNvSpPr/>
          <p:nvPr/>
        </p:nvSpPr>
        <p:spPr>
          <a:xfrm>
            <a:off x="4496040" y="3618000"/>
            <a:ext cx="198000" cy="198000"/>
          </a:xfrm>
          <a:prstGeom prst="ellipse">
            <a:avLst/>
          </a:prstGeom>
          <a:solidFill>
            <a:srgbClr val="7C3AED"/>
          </a:solidFill>
          <a:ln>
            <a:noFill/>
          </a:ln>
        </p:spPr>
        <p:txBody>
          <a:bodyPr rtlCol="0" anchor="ctr" lIns="36000" rIns="36000" tIns="36000" bIns="36000"/>
          <a:lstStyle/>
          <a:p>
            <a:pPr algn="ctr"/>
          </a:p>
        </p:txBody>
      </p:sp>
      <p:sp>
        <p:nvSpPr>
          <p:cNvPr id="25" name="TextBox 24"/>
          <p:cNvSpPr txBox="1"/>
          <p:nvPr/>
        </p:nvSpPr>
        <p:spPr>
          <a:xfrm>
            <a:off x="478404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sp>
        <p:nvSpPr>
          <p:cNvPr id="26" name="TextBox 25"/>
          <p:cNvSpPr txBox="1"/>
          <p:nvPr/>
        </p:nvSpPr>
        <p:spPr>
          <a:xfrm>
            <a:off x="449604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직접 생산하는 범위보다 넓은 지식을 보유한 기업이 기술 전환에서 성과 우위를 얻었다 (Kapoor &amp; Adner, 2012).</a:t>
            </a:r>
          </a:p>
        </p:txBody>
      </p:sp>
      <p:sp>
        <p:nvSpPr>
          <p:cNvPr id="27" name="Rounded Rectangle 26"/>
          <p:cNvSpPr/>
          <p:nvPr/>
        </p:nvSpPr>
        <p:spPr>
          <a:xfrm>
            <a:off x="809208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Oval 27"/>
          <p:cNvSpPr/>
          <p:nvPr/>
        </p:nvSpPr>
        <p:spPr>
          <a:xfrm>
            <a:off x="8272080" y="3618000"/>
            <a:ext cx="198000" cy="198000"/>
          </a:xfrm>
          <a:prstGeom prst="ellipse">
            <a:avLst/>
          </a:prstGeom>
          <a:solidFill>
            <a:srgbClr val="EA7A28"/>
          </a:solidFill>
          <a:ln>
            <a:noFill/>
          </a:ln>
        </p:spPr>
        <p:txBody>
          <a:bodyPr rtlCol="0" anchor="ctr" lIns="36000" rIns="36000" tIns="36000" bIns="36000"/>
          <a:lstStyle/>
          <a:p>
            <a:pPr algn="ctr"/>
          </a:p>
        </p:txBody>
      </p:sp>
      <p:sp>
        <p:nvSpPr>
          <p:cNvPr id="29" name="TextBox 28"/>
          <p:cNvSpPr txBox="1"/>
          <p:nvPr/>
        </p:nvSpPr>
        <p:spPr>
          <a:xfrm>
            <a:off x="856008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발명이 먼저 보여 준 징후</a:t>
            </a:r>
          </a:p>
        </p:txBody>
      </p:sp>
      <p:sp>
        <p:nvSpPr>
          <p:cNvPr id="30" name="TextBox 29"/>
          <p:cNvSpPr txBox="1"/>
          <p:nvPr/>
        </p:nvSpPr>
        <p:spPr>
          <a:xfrm>
            <a:off x="827208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인터페이스가 흔들린 징후는 조직이나 산업 구조보다 먼저, 두 단계의 지식을 함께 담은 발명(통합형 45.8%)으로 나타났다.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13  </a:t>
            </a:r>
            <a:r>
              <a:rPr sz="2200" b="1" i="0" lang="ko-KR" altLang="en-US">
                <a:solidFill>
                  <a:srgbClr val="13294B"/>
                </a:solidFill>
                <a:latin typeface="맑은 고딕"/>
                <a:ea typeface="맑은 고딕"/>
                <a:cs typeface="맑은 고딕"/>
              </a:rPr>
              <a:t>실무적 시사점: 차세대 패키징을 준비하는 기업에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780020" y="1224000"/>
            <a:ext cx="1080000" cy="1080000"/>
          </a:xfrm>
          <a:prstGeom prst="ellipse">
            <a:avLst/>
          </a:prstGeom>
          <a:solidFill>
            <a:srgbClr val="2563C9"/>
          </a:solidFill>
          <a:ln>
            <a:noFill/>
          </a:ln>
        </p:spPr>
        <p:txBody>
          <a:bodyPr rtlCol="0" anchor="ctr" lIns="36000" rIns="36000" tIns="36000" bIns="36000"/>
          <a:lstStyle/>
          <a:p>
            <a:pPr algn="ctr"/>
          </a:p>
        </p:txBody>
      </p:sp>
      <p:pic>
        <p:nvPicPr>
          <p:cNvPr id="6" name="Picture 5" descr="FaLayerGroup_FFFFFF.png"/>
          <p:cNvPicPr>
            <a:picLocks noChangeAspect="1"/>
          </p:cNvPicPr>
          <p:nvPr/>
        </p:nvPicPr>
        <p:blipFill>
          <a:blip r:embed="rId3"/>
          <a:stretch>
            <a:fillRect/>
          </a:stretch>
        </p:blipFill>
        <p:spPr>
          <a:xfrm>
            <a:off x="2050020" y="1494000"/>
            <a:ext cx="540000" cy="540000"/>
          </a:xfrm>
          <a:prstGeom prst="rect">
            <a:avLst/>
          </a:prstGeom>
        </p:spPr>
      </p:pic>
      <p:sp>
        <p:nvSpPr>
          <p:cNvPr id="7" name="TextBox 6"/>
          <p:cNvSpPr txBox="1"/>
          <p:nvPr/>
        </p:nvSpPr>
        <p:spPr>
          <a:xfrm>
            <a:off x="68400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접합 기술만으로는 부족할 수 있다</a:t>
            </a:r>
          </a:p>
        </p:txBody>
      </p:sp>
      <p:sp>
        <p:nvSpPr>
          <p:cNvPr id="8" name="Rounded Rectangle 7"/>
          <p:cNvSpPr/>
          <p:nvPr/>
        </p:nvSpPr>
        <p:spPr>
          <a:xfrm>
            <a:off x="1276020" y="3042000"/>
            <a:ext cx="2088000" cy="306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근거: RQ1 융합의 수준</a:t>
            </a:r>
          </a:p>
        </p:txBody>
      </p:sp>
      <p:sp>
        <p:nvSpPr>
          <p:cNvPr id="9" name="TextBox 8"/>
          <p:cNvSpPr txBox="1"/>
          <p:nvPr/>
        </p:nvSpPr>
        <p:spPr>
          <a:xfrm>
            <a:off x="79200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상당수 출원이 제조공정과 접합 기술을 함께 담음 → 평탄화 · 오염 제어 · 표면 화학 · 정렬을 아우르는 인접 공정 지식이 중요</a:t>
            </a:r>
          </a:p>
        </p:txBody>
      </p:sp>
      <p:sp>
        <p:nvSpPr>
          <p:cNvPr id="10" name="Rounded Rectangle 9"/>
          <p:cNvSpPr/>
          <p:nvPr/>
        </p:nvSpPr>
        <p:spPr>
          <a:xfrm>
            <a:off x="431604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1" name="Oval 10"/>
          <p:cNvSpPr/>
          <p:nvPr/>
        </p:nvSpPr>
        <p:spPr>
          <a:xfrm>
            <a:off x="5556060" y="1224000"/>
            <a:ext cx="1080000" cy="1080000"/>
          </a:xfrm>
          <a:prstGeom prst="ellipse">
            <a:avLst/>
          </a:prstGeom>
          <a:solidFill>
            <a:srgbClr val="EA7A28"/>
          </a:solidFill>
          <a:ln>
            <a:noFill/>
          </a:ln>
        </p:spPr>
        <p:txBody>
          <a:bodyPr rtlCol="0" anchor="ctr" lIns="36000" rIns="36000" tIns="36000" bIns="36000"/>
          <a:lstStyle/>
          <a:p>
            <a:pPr algn="ctr"/>
          </a:p>
        </p:txBody>
      </p:sp>
      <p:pic>
        <p:nvPicPr>
          <p:cNvPr id="12" name="Picture 11" descr="FaMemory_FFFFFF.png"/>
          <p:cNvPicPr>
            <a:picLocks noChangeAspect="1"/>
          </p:cNvPicPr>
          <p:nvPr/>
        </p:nvPicPr>
        <p:blipFill>
          <a:blip r:embed="rId4"/>
          <a:stretch>
            <a:fillRect/>
          </a:stretch>
        </p:blipFill>
        <p:spPr>
          <a:xfrm>
            <a:off x="5826060" y="1494000"/>
            <a:ext cx="540000" cy="540000"/>
          </a:xfrm>
          <a:prstGeom prst="rect">
            <a:avLst/>
          </a:prstGeom>
        </p:spPr>
      </p:pic>
      <p:sp>
        <p:nvSpPr>
          <p:cNvPr id="13" name="TextBox 12"/>
          <p:cNvSpPr txBox="1"/>
          <p:nvPr/>
        </p:nvSpPr>
        <p:spPr>
          <a:xfrm>
            <a:off x="446004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주변 공정에 주목하라</a:t>
            </a:r>
          </a:p>
        </p:txBody>
      </p:sp>
      <p:sp>
        <p:nvSpPr>
          <p:cNvPr id="14" name="Rounded Rectangle 13"/>
          <p:cNvSpPr/>
          <p:nvPr/>
        </p:nvSpPr>
        <p:spPr>
          <a:xfrm>
            <a:off x="5052060" y="3042000"/>
            <a:ext cx="2088000" cy="306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근거: RQ3 결합 중심</a:t>
            </a:r>
          </a:p>
        </p:txBody>
      </p:sp>
      <p:sp>
        <p:nvSpPr>
          <p:cNvPr id="15" name="TextBox 14"/>
          <p:cNvSpPr txBox="1"/>
          <p:nvPr/>
        </p:nvSpPr>
        <p:spPr>
          <a:xfrm>
            <a:off x="456804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재편기의 결합은 다이 지지 · 봉지 공정으로 → 차세대 HBM에는 얇은 다이를 다루고 적층하는 공정 역량까지 필요할 수 있음</a:t>
            </a:r>
          </a:p>
        </p:txBody>
      </p:sp>
      <p:sp>
        <p:nvSpPr>
          <p:cNvPr id="16" name="Rounded Rectangle 15"/>
          <p:cNvSpPr/>
          <p:nvPr/>
        </p:nvSpPr>
        <p:spPr>
          <a:xfrm>
            <a:off x="809208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Oval 16"/>
          <p:cNvSpPr/>
          <p:nvPr/>
        </p:nvSpPr>
        <p:spPr>
          <a:xfrm>
            <a:off x="9332100" y="1224000"/>
            <a:ext cx="1080000" cy="1080000"/>
          </a:xfrm>
          <a:prstGeom prst="ellipse">
            <a:avLst/>
          </a:prstGeom>
          <a:solidFill>
            <a:srgbClr val="10A39A"/>
          </a:solidFill>
          <a:ln>
            <a:noFill/>
          </a:ln>
        </p:spPr>
        <p:txBody>
          <a:bodyPr rtlCol="0" anchor="ctr" lIns="36000" rIns="36000" tIns="36000" bIns="36000"/>
          <a:lstStyle/>
          <a:p>
            <a:pPr algn="ctr"/>
          </a:p>
        </p:txBody>
      </p:sp>
      <p:pic>
        <p:nvPicPr>
          <p:cNvPr id="18" name="Picture 17" descr="FaGears_FFFFFF.png"/>
          <p:cNvPicPr>
            <a:picLocks noChangeAspect="1"/>
          </p:cNvPicPr>
          <p:nvPr/>
        </p:nvPicPr>
        <p:blipFill>
          <a:blip r:embed="rId5"/>
          <a:stretch>
            <a:fillRect/>
          </a:stretch>
        </p:blipFill>
        <p:spPr>
          <a:xfrm>
            <a:off x="9602100" y="1494000"/>
            <a:ext cx="540000" cy="540000"/>
          </a:xfrm>
          <a:prstGeom prst="rect">
            <a:avLst/>
          </a:prstGeom>
        </p:spPr>
      </p:pic>
      <p:sp>
        <p:nvSpPr>
          <p:cNvPr id="19" name="TextBox 18"/>
          <p:cNvSpPr txBox="1"/>
          <p:nvPr/>
        </p:nvSpPr>
        <p:spPr>
          <a:xfrm>
            <a:off x="823608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장비를 통한 지식의 흐름</a:t>
            </a:r>
          </a:p>
        </p:txBody>
      </p:sp>
      <p:sp>
        <p:nvSpPr>
          <p:cNvPr id="20" name="Rounded Rectangle 19"/>
          <p:cNvSpPr/>
          <p:nvPr/>
        </p:nvSpPr>
        <p:spPr>
          <a:xfrm>
            <a:off x="8828100" y="3042000"/>
            <a:ext cx="2088000" cy="306000"/>
          </a:xfrm>
          <a:prstGeom prst="roundRect">
            <a:avLst>
              <a:gd name="adj" fmla="val 5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10A39A"/>
                </a:solidFill>
                <a:latin typeface="맑은 고딕"/>
                <a:ea typeface="맑은 고딕"/>
                <a:cs typeface="맑은 고딕"/>
              </a:rPr>
              <a:t>근거: RQ3 연결 기호</a:t>
            </a:r>
          </a:p>
        </p:txBody>
      </p:sp>
      <p:sp>
        <p:nvSpPr>
          <p:cNvPr id="21" name="TextBox 20"/>
          <p:cNvSpPr txBox="1"/>
          <p:nvPr/>
        </p:nvSpPr>
        <p:spPr>
          <a:xfrm>
            <a:off x="834408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재편기에 접합과 제조공정을 잇는 기호가 공정 장치로 바뀜 → 장비를 매개로 공정 지식이 확산되는 경로(Rosenberg, 1963)에 주목</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부록 14  </a:t>
            </a:r>
            <a:r>
              <a:rPr sz="2200" b="1" i="0" lang="ko-KR" altLang="en-US">
                <a:solidFill>
                  <a:srgbClr val="13294B"/>
                </a:solidFill>
                <a:latin typeface="맑은 고딕"/>
                <a:ea typeface="맑은 고딕"/>
                <a:cs typeface="맑은 고딕"/>
              </a:rPr>
              <a:t>한계점과 향후 연구 방향</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 사례와 비교하여 형성–확산–재편의 일반성을 검증하는 것이 다음 과제이다</a:t>
            </a:r>
          </a:p>
        </p:txBody>
      </p:sp>
      <p:sp>
        <p:nvSpPr>
          <p:cNvPr id="4" name="TextBox 3"/>
          <p:cNvSpPr txBox="1"/>
          <p:nvPr/>
        </p:nvSpPr>
        <p:spPr>
          <a:xfrm>
            <a:off x="540000" y="900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한계</a:t>
            </a:r>
          </a:p>
        </p:txBody>
      </p:sp>
      <p:sp>
        <p:nvSpPr>
          <p:cNvPr id="5" name="Rounded Rectangle 4"/>
          <p:cNvSpPr/>
          <p:nvPr/>
        </p:nvSpPr>
        <p:spPr>
          <a:xfrm>
            <a:off x="5400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6" name="Picture 5" descr="FaTags_13294B.png"/>
          <p:cNvPicPr>
            <a:picLocks noChangeAspect="1"/>
          </p:cNvPicPr>
          <p:nvPr/>
        </p:nvPicPr>
        <p:blipFill>
          <a:blip r:embed="rId3"/>
          <a:stretch>
            <a:fillRect/>
          </a:stretch>
        </p:blipFill>
        <p:spPr>
          <a:xfrm>
            <a:off x="1530000" y="1386000"/>
            <a:ext cx="612000" cy="612000"/>
          </a:xfrm>
          <a:prstGeom prst="rect">
            <a:avLst/>
          </a:prstGeom>
        </p:spPr>
      </p:pic>
      <p:sp>
        <p:nvSpPr>
          <p:cNvPr id="7" name="TextBox 6"/>
          <p:cNvSpPr txBox="1"/>
          <p:nvPr/>
        </p:nvSpPr>
        <p:spPr>
          <a:xfrm>
            <a:off x="5400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Measurement</a:t>
            </a:r>
          </a:p>
        </p:txBody>
      </p:sp>
      <p:sp>
        <p:nvSpPr>
          <p:cNvPr id="8" name="TextBox 7"/>
          <p:cNvSpPr txBox="1"/>
          <p:nvPr/>
        </p:nvSpPr>
        <p:spPr>
          <a:xfrm>
            <a:off x="6480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공동분류는 대리측정치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CPC 소급 재분류 가능성</a:t>
            </a:r>
          </a:p>
        </p:txBody>
      </p:sp>
      <p:sp>
        <p:nvSpPr>
          <p:cNvPr id="9" name="Rounded Rectangle 8"/>
          <p:cNvSpPr/>
          <p:nvPr/>
        </p:nvSpPr>
        <p:spPr>
          <a:xfrm>
            <a:off x="33804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0" name="Picture 9" descr="FaFilter_13294B.png"/>
          <p:cNvPicPr>
            <a:picLocks noChangeAspect="1"/>
          </p:cNvPicPr>
          <p:nvPr/>
        </p:nvPicPr>
        <p:blipFill>
          <a:blip r:embed="rId4"/>
          <a:stretch>
            <a:fillRect/>
          </a:stretch>
        </p:blipFill>
        <p:spPr>
          <a:xfrm>
            <a:off x="4370400" y="1386000"/>
            <a:ext cx="612000" cy="612000"/>
          </a:xfrm>
          <a:prstGeom prst="rect">
            <a:avLst/>
          </a:prstGeom>
        </p:spPr>
      </p:pic>
      <p:sp>
        <p:nvSpPr>
          <p:cNvPr id="11" name="TextBox 10"/>
          <p:cNvSpPr txBox="1"/>
          <p:nvPr/>
        </p:nvSpPr>
        <p:spPr>
          <a:xfrm>
            <a:off x="33804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Sampling</a:t>
            </a:r>
          </a:p>
        </p:txBody>
      </p:sp>
      <p:sp>
        <p:nvSpPr>
          <p:cNvPr id="12" name="TextBox 11"/>
          <p:cNvSpPr txBox="1"/>
          <p:nvPr/>
        </p:nvSpPr>
        <p:spPr>
          <a:xfrm>
            <a:off x="34884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 키워드 검색</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관련어 없는 출원 누락</a:t>
            </a:r>
          </a:p>
        </p:txBody>
      </p:sp>
      <p:sp>
        <p:nvSpPr>
          <p:cNvPr id="13" name="Rounded Rectangle 12"/>
          <p:cNvSpPr/>
          <p:nvPr/>
        </p:nvSpPr>
        <p:spPr>
          <a:xfrm>
            <a:off x="62208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4" name="Picture 13" descr="FaCopy_13294B.png"/>
          <p:cNvPicPr>
            <a:picLocks noChangeAspect="1"/>
          </p:cNvPicPr>
          <p:nvPr/>
        </p:nvPicPr>
        <p:blipFill>
          <a:blip r:embed="rId5"/>
          <a:stretch>
            <a:fillRect/>
          </a:stretch>
        </p:blipFill>
        <p:spPr>
          <a:xfrm>
            <a:off x="7210800" y="1386000"/>
            <a:ext cx="612000" cy="612000"/>
          </a:xfrm>
          <a:prstGeom prst="rect">
            <a:avLst/>
          </a:prstGeom>
        </p:spPr>
      </p:pic>
      <p:sp>
        <p:nvSpPr>
          <p:cNvPr id="15" name="TextBox 14"/>
          <p:cNvSpPr txBox="1"/>
          <p:nvPr/>
        </p:nvSpPr>
        <p:spPr>
          <a:xfrm>
            <a:off x="62208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Patent Family</a:t>
            </a:r>
          </a:p>
        </p:txBody>
      </p:sp>
      <p:sp>
        <p:nvSpPr>
          <p:cNvPr id="16" name="TextBox 15"/>
          <p:cNvSpPr txBox="1"/>
          <p:nvPr/>
        </p:nvSpPr>
        <p:spPr>
          <a:xfrm>
            <a:off x="63288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패밀리 식별자 없음</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동일 제목으로 근사</a:t>
            </a:r>
          </a:p>
        </p:txBody>
      </p:sp>
      <p:sp>
        <p:nvSpPr>
          <p:cNvPr id="17" name="Rounded Rectangle 16"/>
          <p:cNvSpPr/>
          <p:nvPr/>
        </p:nvSpPr>
        <p:spPr>
          <a:xfrm>
            <a:off x="90612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8" name="Picture 17" descr="FaScaleBalanced_13294B.png"/>
          <p:cNvPicPr>
            <a:picLocks noChangeAspect="1"/>
          </p:cNvPicPr>
          <p:nvPr/>
        </p:nvPicPr>
        <p:blipFill>
          <a:blip r:embed="rId6"/>
          <a:stretch>
            <a:fillRect/>
          </a:stretch>
        </p:blipFill>
        <p:spPr>
          <a:xfrm>
            <a:off x="10051200" y="1386000"/>
            <a:ext cx="612000" cy="612000"/>
          </a:xfrm>
          <a:prstGeom prst="rect">
            <a:avLst/>
          </a:prstGeom>
        </p:spPr>
      </p:pic>
      <p:sp>
        <p:nvSpPr>
          <p:cNvPr id="19" name="TextBox 18"/>
          <p:cNvSpPr txBox="1"/>
          <p:nvPr/>
        </p:nvSpPr>
        <p:spPr>
          <a:xfrm>
            <a:off x="90612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Causality</a:t>
            </a:r>
          </a:p>
        </p:txBody>
      </p:sp>
      <p:sp>
        <p:nvSpPr>
          <p:cNvPr id="20" name="TextBox 19"/>
          <p:cNvSpPr txBox="1"/>
          <p:nvPr/>
        </p:nvSpPr>
        <p:spPr>
          <a:xfrm>
            <a:off x="91692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조건부 연관 · 누락변수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시기 = 지배적 설계의 근사</a:t>
            </a:r>
          </a:p>
        </p:txBody>
      </p:sp>
      <p:sp>
        <p:nvSpPr>
          <p:cNvPr id="21" name="TextBox 20"/>
          <p:cNvSpPr txBox="1"/>
          <p:nvPr/>
        </p:nvSpPr>
        <p:spPr>
          <a:xfrm>
            <a:off x="540000" y="3402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향후 연구</a:t>
            </a:r>
          </a:p>
        </p:txBody>
      </p:sp>
      <p:sp>
        <p:nvSpPr>
          <p:cNvPr id="22" name="Rounded Rectangle 21"/>
          <p:cNvSpPr/>
          <p:nvPr/>
        </p:nvSpPr>
        <p:spPr>
          <a:xfrm>
            <a:off x="54000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3" name="Picture 22" descr="FaUsers_13294B.png"/>
          <p:cNvPicPr>
            <a:picLocks noChangeAspect="1"/>
          </p:cNvPicPr>
          <p:nvPr/>
        </p:nvPicPr>
        <p:blipFill>
          <a:blip r:embed="rId7"/>
          <a:stretch>
            <a:fillRect/>
          </a:stretch>
        </p:blipFill>
        <p:spPr>
          <a:xfrm>
            <a:off x="738000" y="3906000"/>
            <a:ext cx="540000" cy="540000"/>
          </a:xfrm>
          <a:prstGeom prst="rect">
            <a:avLst/>
          </a:prstGeom>
        </p:spPr>
      </p:pic>
      <p:sp>
        <p:nvSpPr>
          <p:cNvPr id="24" name="TextBox 23"/>
          <p:cNvSpPr txBox="1"/>
          <p:nvPr/>
        </p:nvSpPr>
        <p:spPr>
          <a:xfrm>
            <a:off x="140400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Applicant &amp; Family</a:t>
            </a:r>
          </a:p>
        </p:txBody>
      </p:sp>
      <p:sp>
        <p:nvSpPr>
          <p:cNvPr id="25" name="TextBox 24"/>
          <p:cNvSpPr txBox="1"/>
          <p:nvPr/>
        </p:nvSpPr>
        <p:spPr>
          <a:xfrm>
            <a:off x="73800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출원인 · 패밀리 정보를 결합한 재분석</a:t>
            </a:r>
          </a:p>
        </p:txBody>
      </p:sp>
      <p:sp>
        <p:nvSpPr>
          <p:cNvPr id="26" name="Rounded Rectangle 25"/>
          <p:cNvSpPr/>
          <p:nvPr/>
        </p:nvSpPr>
        <p:spPr>
          <a:xfrm>
            <a:off x="432684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7" name="Picture 26" descr="FaShuffle_13294B.png"/>
          <p:cNvPicPr>
            <a:picLocks noChangeAspect="1"/>
          </p:cNvPicPr>
          <p:nvPr/>
        </p:nvPicPr>
        <p:blipFill>
          <a:blip r:embed="rId8"/>
          <a:stretch>
            <a:fillRect/>
          </a:stretch>
        </p:blipFill>
        <p:spPr>
          <a:xfrm>
            <a:off x="4524840" y="3906000"/>
            <a:ext cx="540000" cy="540000"/>
          </a:xfrm>
          <a:prstGeom prst="rect">
            <a:avLst/>
          </a:prstGeom>
        </p:spPr>
      </p:pic>
      <p:sp>
        <p:nvSpPr>
          <p:cNvPr id="28" name="TextBox 27"/>
          <p:cNvSpPr txBox="1"/>
          <p:nvPr/>
        </p:nvSpPr>
        <p:spPr>
          <a:xfrm>
            <a:off x="519084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Other Industries</a:t>
            </a:r>
          </a:p>
        </p:txBody>
      </p:sp>
      <p:sp>
        <p:nvSpPr>
          <p:cNvPr id="29" name="TextBox 28"/>
          <p:cNvSpPr txBox="1"/>
          <p:nvPr/>
        </p:nvSpPr>
        <p:spPr>
          <a:xfrm>
            <a:off x="452484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디스플레이 리소그래피 · 배터리 셀-투-팩 · 항공우주 적층제조와 비교</a:t>
            </a:r>
          </a:p>
        </p:txBody>
      </p:sp>
      <p:sp>
        <p:nvSpPr>
          <p:cNvPr id="30" name="Rounded Rectangle 29"/>
          <p:cNvSpPr/>
          <p:nvPr/>
        </p:nvSpPr>
        <p:spPr>
          <a:xfrm>
            <a:off x="811368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1" name="Picture 30" descr="FaCircleNodes_13294B.png"/>
          <p:cNvPicPr>
            <a:picLocks noChangeAspect="1"/>
          </p:cNvPicPr>
          <p:nvPr/>
        </p:nvPicPr>
        <p:blipFill>
          <a:blip r:embed="rId9"/>
          <a:stretch>
            <a:fillRect/>
          </a:stretch>
        </p:blipFill>
        <p:spPr>
          <a:xfrm>
            <a:off x="8311680" y="3906000"/>
            <a:ext cx="540000" cy="540000"/>
          </a:xfrm>
          <a:prstGeom prst="rect">
            <a:avLst/>
          </a:prstGeom>
        </p:spPr>
      </p:pic>
      <p:sp>
        <p:nvSpPr>
          <p:cNvPr id="32" name="TextBox 31"/>
          <p:cNvSpPr txBox="1"/>
          <p:nvPr/>
        </p:nvSpPr>
        <p:spPr>
          <a:xfrm>
            <a:off x="897768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Generality</a:t>
            </a:r>
          </a:p>
        </p:txBody>
      </p:sp>
      <p:sp>
        <p:nvSpPr>
          <p:cNvPr id="33" name="TextBox 32"/>
          <p:cNvSpPr txBox="1"/>
          <p:nvPr/>
        </p:nvSpPr>
        <p:spPr>
          <a:xfrm>
            <a:off x="831168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고차 공출현 · 일반성 지수로 범용기술적 성격 검정 (Petralia, 2020)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15  </a:t>
            </a:r>
            <a:r>
              <a:rPr sz="2000" b="1" i="0" lang="ko-KR" altLang="en-US">
                <a:solidFill>
                  <a:srgbClr val="13294B"/>
                </a:solidFill>
                <a:latin typeface="맑은 고딕"/>
                <a:ea typeface="맑은 고딕"/>
                <a:cs typeface="맑은 고딕"/>
              </a:rPr>
              <a:t>검색 전략과 자료의 특성</a:t>
            </a:r>
          </a:p>
        </p:txBody>
      </p:sp>
      <p:graphicFrame>
        <p:nvGraphicFramePr>
          <p:cNvPr id="3" name="Table 2"/>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4" name="Rounded Rectangle 3"/>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5" name="TextBox 4"/>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6" name="Rounded Rectangle 5"/>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7" name="TextBox 6"/>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6)</a:t>
            </a:r>
          </a:p>
        </p:txBody>
      </p:sp>
      <p:sp>
        <p:nvSpPr>
          <p:cNvPr id="8" name="Rounded Rectangle 7"/>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9" name="TextBox 8"/>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0" name="Rounded Rectangle 9"/>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1" name="TextBox 10"/>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2" name="Rounded Rectangle 11"/>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3" name="TextBox 12"/>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4" name="Rounded Rectangle 13"/>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5" name="TextBox 14"/>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16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404000"/>
                <a:gridCol w="4176000"/>
                <a:gridCol w="1224000"/>
                <a:gridCol w="4308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 H01L24 안의 서로 다른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17  </a:t>
            </a:r>
            <a:r>
              <a:rPr sz="2000" b="1" i="0" lang="ko-KR" altLang="en-US">
                <a:solidFill>
                  <a:srgbClr val="13294B"/>
                </a:solidFill>
                <a:latin typeface="맑은 고딕"/>
                <a:ea typeface="맑은 고딕"/>
                <a:cs typeface="맑은 고딕"/>
              </a:rPr>
              <a:t>기술 클러스터와 기술 네트워크</a:t>
            </a:r>
          </a:p>
        </p:txBody>
      </p:sp>
      <p:graphicFrame>
        <p:nvGraphicFramePr>
          <p:cNvPr id="3" name="Table 2"/>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4" name="Table 3"/>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6" name="TextBox 5"/>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18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224000"/>
        </p:xfrm>
        <a:graphic>
          <a:graphicData uri="http://schemas.openxmlformats.org/drawingml/2006/table">
            <a:tbl>
              <a:tblPr firstRow="1">
                <a:tableStyleId>{2D5ABB26-0587-4C30-8999-92F81FD0307C}</a:tableStyleId>
              </a:tblPr>
              <a:tblGrid>
                <a:gridCol w="1296000"/>
                <a:gridCol w="1044000"/>
                <a:gridCol w="864000"/>
                <a:gridCol w="1188000"/>
                <a:gridCol w="984060"/>
              </a:tblGrid>
              <a:tr h="46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19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20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3960000"/>
                <a:gridCol w="864000"/>
                <a:gridCol w="1584000"/>
                <a:gridCol w="1944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21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