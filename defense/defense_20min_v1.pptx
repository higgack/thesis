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x="1219212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출원 건수</c:v>
                </c:pt>
              </c:strCache>
            </c:strRef>
          </c:tx>
          <c:spPr>
            <a:solidFill>
              <a:srgbClr val="13294B"/>
            </a:solidFill>
          </c:spPr>
          <c:dPt>
            <c:idx val="55"/>
            <c:spPr>
              <a:solidFill>
                <a:srgbClr val="9AA6B8"/>
              </a:solidFill>
            </c:spPr>
          </c:dPt>
          <c:dPt>
            <c:idx val="56"/>
            <c:spPr>
              <a:solidFill>
                <a:srgbClr val="9AA6B8"/>
              </a:solidFill>
            </c:spPr>
          </c:dPt>
          <c:dLbls>
            <c:dLbl>
              <c:idx val="54"/>
              <c:tx>
                <c:rich>
                  <a:bodyPr/>
                  <a:lstStyle/>
                  <a:p>
                    <a:r>
                      <a:rPr sz="1200" b="1" i="0" lang="ko-KR" altLang="en-US">
                        <a:solidFill>
                          <a:srgbClr val="13294B"/>
                        </a:solidFill>
                        <a:latin typeface="맑은 고딕"/>
                        <a:ea typeface="맑은 고딕"/>
                        <a:cs typeface="맑은 고딕"/>
                      </a:rPr>
                      <a:t>176 (2022)</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Sheet1!$A$2:$A$58</c:f>
              <c:strCache>
                <c:ptCount val="57"/>
                <c:pt idx="0">
                  <c:v/>
                </c:pt>
                <c:pt idx="1">
                  <c:v/>
                </c:pt>
                <c:pt idx="2">
                  <c:v>1970</c:v>
                </c:pt>
                <c:pt idx="3">
                  <c:v/>
                </c:pt>
                <c:pt idx="4">
                  <c:v/>
                </c:pt>
                <c:pt idx="5">
                  <c:v/>
                </c:pt>
                <c:pt idx="6">
                  <c:v/>
                </c:pt>
                <c:pt idx="7">
                  <c:v/>
                </c:pt>
                <c:pt idx="8">
                  <c:v/>
                </c:pt>
                <c:pt idx="9">
                  <c:v/>
                </c:pt>
                <c:pt idx="10">
                  <c:v/>
                </c:pt>
                <c:pt idx="11">
                  <c:v/>
                </c:pt>
                <c:pt idx="12">
                  <c:v>1980</c:v>
                </c:pt>
                <c:pt idx="13">
                  <c:v/>
                </c:pt>
                <c:pt idx="14">
                  <c:v/>
                </c:pt>
                <c:pt idx="15">
                  <c:v/>
                </c:pt>
                <c:pt idx="16">
                  <c:v/>
                </c:pt>
                <c:pt idx="17">
                  <c:v/>
                </c:pt>
                <c:pt idx="18">
                  <c:v/>
                </c:pt>
                <c:pt idx="19">
                  <c:v/>
                </c:pt>
                <c:pt idx="20">
                  <c:v/>
                </c:pt>
                <c:pt idx="21">
                  <c:v/>
                </c:pt>
                <c:pt idx="22">
                  <c:v>1990</c:v>
                </c:pt>
                <c:pt idx="23">
                  <c:v/>
                </c:pt>
                <c:pt idx="24">
                  <c:v/>
                </c:pt>
                <c:pt idx="25">
                  <c:v/>
                </c:pt>
                <c:pt idx="26">
                  <c:v/>
                </c:pt>
                <c:pt idx="27">
                  <c:v/>
                </c:pt>
                <c:pt idx="28">
                  <c:v/>
                </c:pt>
                <c:pt idx="29">
                  <c:v/>
                </c:pt>
                <c:pt idx="30">
                  <c:v/>
                </c:pt>
                <c:pt idx="31">
                  <c:v/>
                </c:pt>
                <c:pt idx="32">
                  <c:v>2000</c:v>
                </c:pt>
                <c:pt idx="33">
                  <c:v/>
                </c:pt>
                <c:pt idx="34">
                  <c:v/>
                </c:pt>
                <c:pt idx="35">
                  <c:v/>
                </c:pt>
                <c:pt idx="36">
                  <c:v/>
                </c:pt>
                <c:pt idx="37">
                  <c:v/>
                </c:pt>
                <c:pt idx="38">
                  <c:v/>
                </c:pt>
                <c:pt idx="39">
                  <c:v/>
                </c:pt>
                <c:pt idx="40">
                  <c:v/>
                </c:pt>
                <c:pt idx="41">
                  <c:v/>
                </c:pt>
                <c:pt idx="42">
                  <c:v>2010</c:v>
                </c:pt>
                <c:pt idx="43">
                  <c:v/>
                </c:pt>
                <c:pt idx="44">
                  <c:v/>
                </c:pt>
                <c:pt idx="45">
                  <c:v/>
                </c:pt>
                <c:pt idx="46">
                  <c:v/>
                </c:pt>
                <c:pt idx="47">
                  <c:v/>
                </c:pt>
                <c:pt idx="48">
                  <c:v/>
                </c:pt>
                <c:pt idx="49">
                  <c:v/>
                </c:pt>
                <c:pt idx="50">
                  <c:v/>
                </c:pt>
                <c:pt idx="51">
                  <c:v/>
                </c:pt>
                <c:pt idx="52">
                  <c:v>2020</c:v>
                </c:pt>
                <c:pt idx="53">
                  <c:v/>
                </c:pt>
                <c:pt idx="54">
                  <c:v/>
                </c:pt>
                <c:pt idx="55">
                  <c:v/>
                </c:pt>
                <c:pt idx="56">
                  <c:v/>
                </c:pt>
              </c:strCache>
            </c:strRef>
          </c:cat>
          <c:val>
            <c:numRef>
              <c:f>Sheet1!$B$2:$B$58</c:f>
              <c:numCache>
                <c:formatCode>General</c:formatCode>
                <c:ptCount val="57"/>
                <c:pt idx="0">
                  <c:v>1</c:v>
                </c:pt>
                <c:pt idx="1">
                  <c:v>0</c:v>
                </c:pt>
                <c:pt idx="2">
                  <c:v>0</c:v>
                </c:pt>
                <c:pt idx="3">
                  <c:v>0</c:v>
                </c:pt>
                <c:pt idx="4">
                  <c:v>0</c:v>
                </c:pt>
                <c:pt idx="5">
                  <c:v>0</c:v>
                </c:pt>
                <c:pt idx="6">
                  <c:v>0</c:v>
                </c:pt>
                <c:pt idx="7">
                  <c:v>1</c:v>
                </c:pt>
                <c:pt idx="8">
                  <c:v>0</c:v>
                </c:pt>
                <c:pt idx="9">
                  <c:v>0</c:v>
                </c:pt>
                <c:pt idx="10">
                  <c:v>0</c:v>
                </c:pt>
                <c:pt idx="11">
                  <c:v>0</c:v>
                </c:pt>
                <c:pt idx="12">
                  <c:v>1</c:v>
                </c:pt>
                <c:pt idx="13">
                  <c:v>2</c:v>
                </c:pt>
                <c:pt idx="14">
                  <c:v>0</c:v>
                </c:pt>
                <c:pt idx="15">
                  <c:v>1</c:v>
                </c:pt>
                <c:pt idx="16">
                  <c:v>0</c:v>
                </c:pt>
                <c:pt idx="17">
                  <c:v>0</c:v>
                </c:pt>
                <c:pt idx="18">
                  <c:v>0</c:v>
                </c:pt>
                <c:pt idx="19">
                  <c:v>0</c:v>
                </c:pt>
                <c:pt idx="20">
                  <c:v>10</c:v>
                </c:pt>
                <c:pt idx="21">
                  <c:v>0</c:v>
                </c:pt>
                <c:pt idx="22">
                  <c:v>3</c:v>
                </c:pt>
                <c:pt idx="23">
                  <c:v>1</c:v>
                </c:pt>
                <c:pt idx="24">
                  <c:v>0</c:v>
                </c:pt>
                <c:pt idx="25">
                  <c:v>0</c:v>
                </c:pt>
                <c:pt idx="26">
                  <c:v>2</c:v>
                </c:pt>
                <c:pt idx="27">
                  <c:v>2</c:v>
                </c:pt>
                <c:pt idx="28">
                  <c:v>4</c:v>
                </c:pt>
                <c:pt idx="29">
                  <c:v>0</c:v>
                </c:pt>
                <c:pt idx="30">
                  <c:v>5</c:v>
                </c:pt>
                <c:pt idx="31">
                  <c:v>4</c:v>
                </c:pt>
                <c:pt idx="32">
                  <c:v>5</c:v>
                </c:pt>
                <c:pt idx="33">
                  <c:v>2</c:v>
                </c:pt>
                <c:pt idx="34">
                  <c:v>8</c:v>
                </c:pt>
                <c:pt idx="35">
                  <c:v>4</c:v>
                </c:pt>
                <c:pt idx="36">
                  <c:v>13</c:v>
                </c:pt>
                <c:pt idx="37">
                  <c:v>8</c:v>
                </c:pt>
                <c:pt idx="38">
                  <c:v>6</c:v>
                </c:pt>
                <c:pt idx="39">
                  <c:v>6</c:v>
                </c:pt>
                <c:pt idx="40">
                  <c:v>2</c:v>
                </c:pt>
                <c:pt idx="41">
                  <c:v>7</c:v>
                </c:pt>
                <c:pt idx="42">
                  <c:v>4</c:v>
                </c:pt>
                <c:pt idx="43">
                  <c:v>19</c:v>
                </c:pt>
                <c:pt idx="44">
                  <c:v>17</c:v>
                </c:pt>
                <c:pt idx="45">
                  <c:v>22</c:v>
                </c:pt>
                <c:pt idx="46">
                  <c:v>19</c:v>
                </c:pt>
                <c:pt idx="47">
                  <c:v>27</c:v>
                </c:pt>
                <c:pt idx="48">
                  <c:v>50</c:v>
                </c:pt>
                <c:pt idx="49">
                  <c:v>26</c:v>
                </c:pt>
                <c:pt idx="50">
                  <c:v>50</c:v>
                </c:pt>
                <c:pt idx="51">
                  <c:v>56</c:v>
                </c:pt>
                <c:pt idx="52">
                  <c:v>71</c:v>
                </c:pt>
                <c:pt idx="53">
                  <c:v>118</c:v>
                </c:pt>
                <c:pt idx="54">
                  <c:v>176</c:v>
                </c:pt>
                <c:pt idx="55">
                  <c:v>130</c:v>
                </c:pt>
                <c:pt idx="56">
                  <c:v>45</c:v>
                </c:pt>
              </c:numCache>
            </c:numRef>
          </c:val>
        </c:ser>
        <c:gapWidth val="35"/>
        <c:axId val="-2068027336"/>
        <c:axId val="-2113994440"/>
      </c:barChart>
      <c:catAx>
        <c:axId val="-2068027336"/>
        <c:scaling>
          <c:orientation val="minMax"/>
        </c:scaling>
        <c:delete val="0"/>
        <c:axPos val="b"/>
        <c:title>
          <c:tx>
            <c:rich>
              <a:bodyPr/>
              <a:lstStyle/>
              <a:p>
                <a:r>
                  <a:rPr sz="1200" b="0" i="0" lang="ko-KR" altLang="en-US">
                    <a:solidFill>
                      <a:srgbClr val="5B6475"/>
                    </a:solidFill>
                    <a:latin typeface="맑은 고딕"/>
                    <a:ea typeface="맑은 고딕"/>
                    <a:cs typeface="맑은 고딕"/>
                  </a:rPr>
                  <a:t>출원연도</a:t>
                </a:r>
              </a:p>
            </c:rich>
          </c:tx>
          <c:layout/>
          <c:overlay val="0"/>
        </c:title>
        <c:majorTickMark val="out"/>
        <c:minorTickMark val="none"/>
        <c:tickLblPos val="low"/>
        <c:spPr>
          <a:ln>
            <a:solidFill>
              <a:srgbClr val="9AA3B2"/>
            </a:solidFill>
          </a:ln>
        </c:spPr>
        <c:txPr>
          <a:bodyPr/>
          <a:lstStyle/>
          <a:p>
            <a:pPr>
              <a:defRPr sz="1200">
                <a:solidFill>
                  <a:srgbClr val="1E2532"/>
                </a:solidFill>
                <a:latin typeface="맑은 고딕"/>
                <a:ea typeface="맑은 고딕"/>
              </a:defRPr>
            </a:pPr>
          </a:p>
        </c:txPr>
        <c:crossAx val="-2113994440"/>
        <c:crosses val="autoZero"/>
        <c:auto val="1"/>
        <c:lblAlgn val="ctr"/>
        <c:lblOffset val="100"/>
        <c:noMultiLvlLbl val="0"/>
        <c:tickLblSkip val="1"/>
        <c:tickMarkSkip val="10"/>
      </c:catAx>
      <c:valAx>
        <c:axId val="-2113994440"/>
        <c:scaling>
          <c:max val="200.0"/>
        </c:scaling>
        <c:delete val="0"/>
        <c:axPos val="l"/>
        <c:majorGridlines>
          <c:spPr>
            <a:ln>
              <a:solidFill>
                <a:srgbClr val="DDE2EA"/>
              </a:solidFill>
            </a:ln>
          </c:spPr>
        </c:majorGridlines>
        <c:title>
          <c:tx>
            <c:rich>
              <a:bodyPr/>
              <a:lstStyle/>
              <a:p>
                <a:r>
                  <a:rPr sz="1200" b="0" i="0" lang="ko-KR" altLang="en-US">
                    <a:solidFill>
                      <a:srgbClr val="5B6475"/>
                    </a:solidFill>
                    <a:latin typeface="맑은 고딕"/>
                    <a:ea typeface="맑은 고딕"/>
                    <a:cs typeface="맑은 고딕"/>
                  </a:rPr>
                  <a:t>출원 건수</a:t>
                </a:r>
              </a:p>
            </c:rich>
          </c:tx>
          <c:layout/>
          <c:overlay val="0"/>
        </c:title>
        <c:majorTickMark val="out"/>
        <c:minorTickMark val="none"/>
        <c:tickLblPos val="nextTo"/>
        <c:spPr>
          <a:ln>
            <a:noFill/>
          </a:ln>
        </c:spPr>
        <c:txPr>
          <a:bodyPr/>
          <a:lstStyle/>
          <a:p>
            <a:pPr>
              <a:defRPr sz="1200">
                <a:solidFill>
                  <a:srgbClr val="1E2532"/>
                </a:solidFill>
                <a:latin typeface="맑은 고딕"/>
                <a:ea typeface="맑은 고딕"/>
              </a:defRPr>
            </a:pPr>
          </a:p>
        </c:txPr>
        <c:crossAx val="-2068027336"/>
        <c:crosses val="autoZero"/>
        <c:majorUnit val="50.0"/>
      </c:valAx>
      <c:spPr>
        <a:noFill/>
        <a:ln>
          <a:noFill/>
        </a:ln>
      </c:spPr>
    </c:plotArea>
    <c:dispBlanksAs val="gap"/>
  </c:chart>
  <c:spPr>
    <a:noFill/>
    <a:ln>
      <a:noFill/>
    </a:ln>
  </c:spPr>
  <c:txPr>
    <a:bodyPr/>
    <a:lstStyle/>
    <a:p>
      <a:pPr>
        <a:defRPr sz="1200">
          <a:solidFill>
            <a:srgbClr val="1E2532"/>
          </a:solidFill>
          <a:latin typeface="맑은 고딕"/>
          <a:ea typeface="맑은 고딕"/>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유형</c:v>
                </c:pt>
              </c:strCache>
            </c:strRef>
          </c:tx>
          <c:dPt>
            <c:idx val="0"/>
            <c:spPr>
              <a:solidFill>
                <a:srgbClr val="7C3AED"/>
              </a:solidFill>
              <a:ln w="25400">
                <a:solidFill>
                  <a:srgbClr val="FFFFFF"/>
                </a:solidFill>
              </a:ln>
            </c:spPr>
          </c:dPt>
          <c:dPt>
            <c:idx val="1"/>
            <c:spPr>
              <a:solidFill>
                <a:srgbClr val="EA7A28"/>
              </a:solidFill>
              <a:ln w="25400">
                <a:solidFill>
                  <a:srgbClr val="FFFFFF"/>
                </a:solidFill>
              </a:ln>
            </c:spPr>
          </c:dPt>
          <c:dPt>
            <c:idx val="2"/>
            <c:spPr>
              <a:solidFill>
                <a:srgbClr val="2563C9"/>
              </a:solidFill>
              <a:ln w="25400">
                <a:solidFill>
                  <a:srgbClr val="FFFFFF"/>
                </a:solidFill>
              </a:ln>
            </c:spPr>
          </c:dPt>
          <c:cat>
            <c:strRef>
              <c:f>Sheet1!$A$2:$A$4</c:f>
              <c:strCache>
                <c:ptCount val="3"/>
                <c:pt idx="0">
                  <c:v>통합형</c:v>
                </c:pt>
                <c:pt idx="1">
                  <c:v>접합 단독형</c:v>
                </c:pt>
                <c:pt idx="2">
                  <c:v>공정 단독형</c:v>
                </c:pt>
              </c:strCache>
            </c:strRef>
          </c:cat>
          <c:val>
            <c:numRef>
              <c:f>Sheet1!$B$2:$B$4</c:f>
              <c:numCache>
                <c:formatCode>General</c:formatCode>
                <c:ptCount val="3"/>
                <c:pt idx="0">
                  <c:v>425</c:v>
                </c:pt>
                <c:pt idx="1">
                  <c:v>338</c:v>
                </c:pt>
                <c:pt idx="2">
                  <c:v>165</c:v>
                </c:pt>
              </c:numCache>
            </c:numRef>
          </c:val>
        </c:ser>
        <c:dLbls>
          <c:showLegendKey val="0"/>
          <c:showVal val="0"/>
          <c:showCatName val="0"/>
          <c:showSerName val="0"/>
          <c:showPercent val="0"/>
          <c:showBubbleSize val="0"/>
          <c:showLeaderLines val="1"/>
        </c:dLbls>
        <c:firstSliceAng val="0"/>
        <c:holeSize val="56"/>
      </c:doughnutChart>
      <c:spPr>
        <a:noFill/>
        <a:ln>
          <a:noFill/>
        </a:ln>
      </c:spPr>
    </c:plotArea>
    <c:plotVisOnly val="1"/>
    <c:dispBlanksAs val="gap"/>
    <c:showDLblsOverMax val="0"/>
  </c:chart>
  <c:spPr>
    <a:noFill/>
    <a:ln>
      <a:noFill/>
    </a:ln>
  </c:spPr>
  <c:txPr>
    <a:bodyPr/>
    <a:lstStyle/>
    <a:p>
      <a:pPr>
        <a:defRPr sz="1200">
          <a:solidFill>
            <a:srgbClr val="1E2532"/>
          </a:solidFill>
          <a:latin typeface="맑은 고딕"/>
          <a:ea typeface="맑은 고딕"/>
        </a:defRPr>
      </a:pPr>
      <a:endParaR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통합형</c:v>
                </c:pt>
              </c:strCache>
            </c:strRef>
          </c:tx>
          <c:spPr>
            <a:ln w="41275">
              <a:solidFill>
                <a:srgbClr val="7C3AED"/>
              </a:solidFill>
            </a:ln>
          </c:spPr>
          <c:marker>
            <c:symbol val="none"/>
          </c:marker>
          <c:dPt>
            <c:idx val="2"/>
            <c:marker>
              <c:symbol val="circle"/>
              <c:size val="9"/>
              <c:spPr>
                <a:solidFill>
                  <a:srgbClr val="7C3AED"/>
                </a:solidFill>
                <a:ln>
                  <a:solidFill>
                    <a:srgbClr val="7C3AED"/>
                  </a:solidFill>
                </a:ln>
              </c:spPr>
            </c:marker>
          </c:dPt>
          <c:dPt>
            <c:idx val="7"/>
            <c:marker>
              <c:symbol val="circle"/>
              <c:size val="9"/>
              <c:spPr>
                <a:solidFill>
                  <a:srgbClr val="7C3AED"/>
                </a:solidFill>
                <a:ln>
                  <a:solidFill>
                    <a:srgbClr val="7C3AED"/>
                  </a:solidFill>
                </a:ln>
              </c:spPr>
            </c:marker>
          </c:dPt>
          <c:dLbls>
            <c:dLbl>
              <c:idx val="2"/>
              <c:tx>
                <c:rich>
                  <a:bodyPr/>
                  <a:lstStyle/>
                  <a:p>
                    <a:r>
                      <a:rPr sz="1300" b="1" i="0" lang="ko-KR" altLang="en-US">
                        <a:solidFill>
                          <a:srgbClr val="7C3AED"/>
                        </a:solidFill>
                        <a:latin typeface="맑은 고딕"/>
                        <a:ea typeface="맑은 고딕"/>
                        <a:cs typeface="맑은 고딕"/>
                      </a:rPr>
                      <a:t>0.26</a:t>
                    </a:r>
                  </a:p>
                </c:rich>
              </c:tx>
              <c:dLblPos val="b"/>
              <c:showLegendKey val="0"/>
              <c:showVal val="1"/>
              <c:showCatName val="0"/>
              <c:showSerName val="0"/>
              <c:showPercent val="0"/>
              <c:showBubbleSize val="0"/>
            </c:dLbl>
            <c:dLbl>
              <c:idx val="7"/>
              <c:tx>
                <c:rich>
                  <a:bodyPr/>
                  <a:lstStyle/>
                  <a:p>
                    <a:r>
                      <a:rPr sz="1300" b="1" i="0" lang="ko-KR" altLang="en-US">
                        <a:solidFill>
                          <a:srgbClr val="7C3AED"/>
                        </a:solidFill>
                        <a:latin typeface="맑은 고딕"/>
                        <a:ea typeface="맑은 고딕"/>
                        <a:cs typeface="맑은 고딕"/>
                      </a:rPr>
                      <a:t>0.68</a:t>
                    </a:r>
                  </a:p>
                </c:rich>
              </c:tx>
              <c:dLblPos val="t"/>
              <c:showLegendKey val="0"/>
              <c:showVal val="1"/>
              <c:showCatName val="0"/>
              <c:showSerName val="0"/>
              <c:showPercent val="0"/>
              <c:showBubbleSize val="0"/>
            </c:dLbl>
            <c:showLegendKey val="0"/>
            <c:showVal val="0"/>
            <c:showCatName val="0"/>
            <c:showSerName val="0"/>
            <c:showPercent val="0"/>
            <c:showBubbleSize val="0"/>
            <c:showLeaderLines val="1"/>
          </c:dLbls>
          <c:cat>
            <c:strRef>
              <c:f>Sheet1!$A$2:$A$16</c:f>
              <c:strCach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strCache>
            </c:strRef>
          </c:cat>
          <c:val>
            <c:numRef>
              <c:f>Sheet1!$B$2:$B$16</c:f>
              <c:numCache>
                <c:formatCode>General</c:formatCode>
                <c:ptCount val="15"/>
                <c:pt idx="0">
                  <c:v>0.143</c:v>
                </c:pt>
                <c:pt idx="1">
                  <c:v>0.195</c:v>
                </c:pt>
                <c:pt idx="2">
                  <c:v>0.258</c:v>
                </c:pt>
                <c:pt idx="3">
                  <c:v>0.334</c:v>
                </c:pt>
                <c:pt idx="4">
                  <c:v>0.418</c:v>
                </c:pt>
                <c:pt idx="5">
                  <c:v>0.508</c:v>
                </c:pt>
                <c:pt idx="6">
                  <c:v>0.596</c:v>
                </c:pt>
                <c:pt idx="7">
                  <c:v>0.679</c:v>
                </c:pt>
                <c:pt idx="8">
                  <c:v>0.751</c:v>
                </c:pt>
                <c:pt idx="9">
                  <c:v>0.812</c:v>
                </c:pt>
                <c:pt idx="10">
                  <c:v>0.86</c:v>
                </c:pt>
                <c:pt idx="11">
                  <c:v>0.898</c:v>
                </c:pt>
                <c:pt idx="12">
                  <c:v>0.926</c:v>
                </c:pt>
                <c:pt idx="13">
                  <c:v>0.947</c:v>
                </c:pt>
                <c:pt idx="14">
                  <c:v>0.962</c:v>
                </c:pt>
              </c:numCache>
            </c:numRef>
          </c:val>
          <c:smooth val="0"/>
        </c:ser>
        <c:ser>
          <c:idx val="1"/>
          <c:order val="1"/>
          <c:tx>
            <c:strRef>
              <c:f>Sheet1!$C$1</c:f>
              <c:strCache>
                <c:ptCount val="1"/>
                <c:pt idx="0">
                  <c:v>접합 단독형</c:v>
                </c:pt>
              </c:strCache>
            </c:strRef>
          </c:tx>
          <c:spPr>
            <a:ln w="41275">
              <a:solidFill>
                <a:srgbClr val="EA7A28"/>
              </a:solidFill>
            </a:ln>
          </c:spPr>
          <c:marker>
            <c:symbol val="none"/>
          </c:marker>
          <c:cat>
            <c:strRef>
              <c:f>Sheet1!$A$2:$A$16</c:f>
              <c:strCach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strCache>
            </c:strRef>
          </c:cat>
          <c:val>
            <c:numRef>
              <c:f>Sheet1!$C$2:$C$16</c:f>
              <c:numCache>
                <c:formatCode>General</c:formatCode>
                <c:ptCount val="15"/>
                <c:pt idx="0">
                  <c:v>0.546</c:v>
                </c:pt>
                <c:pt idx="1">
                  <c:v>0.528</c:v>
                </c:pt>
                <c:pt idx="2">
                  <c:v>0.5</c:v>
                </c:pt>
                <c:pt idx="3">
                  <c:v>0.461</c:v>
                </c:pt>
                <c:pt idx="4">
                  <c:v>0.412</c:v>
                </c:pt>
                <c:pt idx="5">
                  <c:v>0.356</c:v>
                </c:pt>
                <c:pt idx="6">
                  <c:v>0.298</c:v>
                </c:pt>
                <c:pt idx="7">
                  <c:v>0.242</c:v>
                </c:pt>
                <c:pt idx="8">
                  <c:v>0.191</c:v>
                </c:pt>
                <c:pt idx="9">
                  <c:v>0.147</c:v>
                </c:pt>
                <c:pt idx="10">
                  <c:v>0.111</c:v>
                </c:pt>
                <c:pt idx="11">
                  <c:v>0.083</c:v>
                </c:pt>
                <c:pt idx="12">
                  <c:v>0.061</c:v>
                </c:pt>
                <c:pt idx="13">
                  <c:v>0.044</c:v>
                </c:pt>
                <c:pt idx="14">
                  <c:v>0.032</c:v>
                </c:pt>
              </c:numCache>
            </c:numRef>
          </c:val>
          <c:smooth val="0"/>
        </c:ser>
        <c:ser>
          <c:idx val="2"/>
          <c:order val="2"/>
          <c:tx>
            <c:strRef>
              <c:f>Sheet1!$D$1</c:f>
              <c:strCache>
                <c:ptCount val="1"/>
                <c:pt idx="0">
                  <c:v>공정 단독형</c:v>
                </c:pt>
              </c:strCache>
            </c:strRef>
          </c:tx>
          <c:spPr>
            <a:ln w="41275">
              <a:solidFill>
                <a:srgbClr val="2563C9"/>
              </a:solidFill>
            </a:ln>
          </c:spPr>
          <c:marker>
            <c:symbol val="none"/>
          </c:marker>
          <c:cat>
            <c:strRef>
              <c:f>Sheet1!$A$2:$A$16</c:f>
              <c:strCach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strCache>
            </c:strRef>
          </c:cat>
          <c:val>
            <c:numRef>
              <c:f>Sheet1!$D$2:$D$16</c:f>
              <c:numCache>
                <c:formatCode>General</c:formatCode>
                <c:ptCount val="15"/>
                <c:pt idx="0">
                  <c:v>0.311</c:v>
                </c:pt>
                <c:pt idx="1">
                  <c:v>0.277</c:v>
                </c:pt>
                <c:pt idx="2">
                  <c:v>0.242</c:v>
                </c:pt>
                <c:pt idx="3">
                  <c:v>0.206</c:v>
                </c:pt>
                <c:pt idx="4">
                  <c:v>0.17</c:v>
                </c:pt>
                <c:pt idx="5">
                  <c:v>0.136</c:v>
                </c:pt>
                <c:pt idx="6">
                  <c:v>0.105</c:v>
                </c:pt>
                <c:pt idx="7">
                  <c:v>0.079</c:v>
                </c:pt>
                <c:pt idx="8">
                  <c:v>0.058</c:v>
                </c:pt>
                <c:pt idx="9">
                  <c:v>0.041</c:v>
                </c:pt>
                <c:pt idx="10">
                  <c:v>0.028</c:v>
                </c:pt>
                <c:pt idx="11">
                  <c:v>0.019</c:v>
                </c:pt>
                <c:pt idx="12">
                  <c:v>0.013</c:v>
                </c:pt>
                <c:pt idx="13">
                  <c:v>0.009</c:v>
                </c:pt>
                <c:pt idx="14">
                  <c:v>0.006</c:v>
                </c:pt>
              </c:numCache>
            </c:numRef>
          </c:val>
          <c:smooth val="0"/>
        </c:ser>
        <c:marker val="1"/>
        <c:smooth val="0"/>
        <c:axId val="2118791784"/>
        <c:axId val="2140495176"/>
      </c:lineChart>
      <c:catAx>
        <c:axId val="2118791784"/>
        <c:scaling>
          <c:orientation val="minMax"/>
        </c:scaling>
        <c:delete val="0"/>
        <c:axPos val="b"/>
        <c:title>
          <c:tx>
            <c:rich>
              <a:bodyPr/>
              <a:lstStyle/>
              <a:p>
                <a:r>
                  <a:rPr sz="1100" b="0" i="0" lang="ko-KR" altLang="en-US">
                    <a:solidFill>
                      <a:srgbClr val="5B6475"/>
                    </a:solidFill>
                    <a:latin typeface="맑은 고딕"/>
                    <a:ea typeface="맑은 고딕"/>
                    <a:cs typeface="맑은 고딕"/>
                  </a:rPr>
                  <a:t>기술범위 (CPC 서브그룹 수)</a:t>
                </a:r>
              </a:p>
            </c:rich>
          </c:tx>
          <c:layout/>
          <c:overlay val="0"/>
        </c:title>
        <c:majorTickMark val="out"/>
        <c:minorTickMark val="none"/>
        <c:tickLblPos val="nextTo"/>
        <c:spPr>
          <a:ln>
            <a:solidFill>
              <a:srgbClr val="9AA3B2"/>
            </a:solidFill>
          </a:ln>
        </c:spPr>
        <c:txPr>
          <a:bodyPr/>
          <a:lstStyle/>
          <a:p>
            <a:pPr>
              <a:defRPr sz="1150">
                <a:solidFill>
                  <a:srgbClr val="1E2532"/>
                </a:solidFill>
                <a:latin typeface="맑은 고딕"/>
                <a:ea typeface="맑은 고딕"/>
              </a:defRPr>
            </a:pPr>
          </a:p>
        </c:txPr>
        <c:crossAx val="2140495176"/>
        <c:crosses val="autoZero"/>
        <c:auto val="1"/>
        <c:lblAlgn val="ctr"/>
        <c:lblOffset val="100"/>
        <c:noMultiLvlLbl val="0"/>
      </c:catAx>
      <c:valAx>
        <c:axId val="2140495176"/>
        <c:scaling>
          <c:max val="1.0"/>
          <c:min val="0.0"/>
        </c:scaling>
        <c:delete val="0"/>
        <c:axPos val="l"/>
        <c:majorGridlines>
          <c:spPr>
            <a:ln>
              <a:solidFill>
                <a:srgbClr val="DDE2EA"/>
              </a:solidFill>
            </a:ln>
          </c:spPr>
        </c:majorGridlines>
        <c:title>
          <c:tx>
            <c:rich>
              <a:bodyPr/>
              <a:lstStyle/>
              <a:p>
                <a:r>
                  <a:rPr sz="1100" b="0" i="0" lang="ko-KR" altLang="en-US">
                    <a:solidFill>
                      <a:srgbClr val="5B6475"/>
                    </a:solidFill>
                    <a:latin typeface="맑은 고딕"/>
                    <a:ea typeface="맑은 고딕"/>
                    <a:cs typeface="맑은 고딕"/>
                  </a:rPr>
                  <a:t>예측확률</a:t>
                </a:r>
              </a:p>
            </c:rich>
          </c:tx>
          <c:layout/>
          <c:overlay val="0"/>
        </c:title>
        <c:numFmt formatCode="0.0" sourceLinked="0"/>
        <c:majorTickMark val="out"/>
        <c:minorTickMark val="none"/>
        <c:tickLblPos val="nextTo"/>
        <c:spPr>
          <a:ln>
            <a:noFill/>
          </a:ln>
        </c:spPr>
        <c:txPr>
          <a:bodyPr/>
          <a:lstStyle/>
          <a:p>
            <a:pPr>
              <a:defRPr sz="1150">
                <a:solidFill>
                  <a:srgbClr val="1E2532"/>
                </a:solidFill>
                <a:latin typeface="맑은 고딕"/>
                <a:ea typeface="맑은 고딕"/>
              </a:defRPr>
            </a:pPr>
          </a:p>
        </c:txPr>
        <c:crossAx val="2118791784"/>
        <c:crosses val="autoZero"/>
        <c:majorUnit val="0.2"/>
      </c:valAx>
      <c:spPr>
        <a:noFill/>
        <a:ln>
          <a:noFill/>
        </a:ln>
      </c:spPr>
    </c:plotArea>
    <c:legend>
      <c:legendPos val="t"/>
      <c:layout/>
      <c:overlay val="0"/>
      <c:txPr>
        <a:bodyPr/>
        <a:lstStyle/>
        <a:p>
          <a:pPr>
            <a:defRPr sz="1150">
              <a:solidFill>
                <a:srgbClr val="1E2532"/>
              </a:solidFill>
              <a:latin typeface="맑은 고딕"/>
              <a:ea typeface="맑은 고딕"/>
            </a:defRPr>
          </a:pPr>
        </a:p>
      </c:txPr>
    </c:legend>
    <c:plotVisOnly val="1"/>
    <c:dispBlanksAs val="gap"/>
    <c:showDLblsOverMax val="0"/>
  </c:chart>
  <c:spPr>
    <a:noFill/>
    <a:ln>
      <a:noFill/>
    </a:ln>
  </c:spPr>
  <c:txPr>
    <a:bodyPr/>
    <a:lstStyle/>
    <a:p>
      <a:pPr>
        <a:defRPr sz="1150">
          <a:solidFill>
            <a:srgbClr val="1E2532"/>
          </a:solidFill>
          <a:latin typeface="맑은 고딕"/>
          <a:ea typeface="맑은 고딕"/>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공정 단독형</c:v>
                </c:pt>
              </c:strCache>
            </c:strRef>
          </c:tx>
          <c:spPr>
            <a:solidFill>
              <a:srgbClr val="2563C9"/>
            </a:solidFill>
          </c:spPr>
          <c:dLbls>
            <c:numFmt formatCode="0.0&quot;%&quot;" sourceLinked="0"/>
            <c:txPr>
              <a:bodyPr/>
              <a:lstStyle/>
              <a:p>
                <a:pPr>
                  <a:defRPr sz="1400" b="1">
                    <a:solidFill>
                      <a:srgbClr val="FFFFFF"/>
                    </a:solidFill>
                    <a:latin typeface="맑은 고딕"/>
                  </a:defRPr>
                </a:pPr>
              </a:p>
            </c:txPr>
            <c:dLblPos val="ctr"/>
            <c:showLegendKey val="0"/>
            <c:showVal val="1"/>
            <c:showCatName val="0"/>
            <c:showSerName val="0"/>
            <c:showPercent val="0"/>
            <c:showBubbleSize val="0"/>
            <c:showLeaderLines val="1"/>
          </c:dLbls>
          <c:cat>
            <c:strRef>
              <c:f>Sheet1!$A$2:$A$4</c:f>
              <c:strCache>
                <c:ptCount val="3"/>
                <c:pt idx="0">
                  <c:v>형성기
–2014
(N = 179)</c:v>
                </c:pt>
                <c:pt idx="1">
                  <c:v>확산기
2015–2019
(N = 209)</c:v>
                </c:pt>
                <c:pt idx="2">
                  <c:v>재편기
2020–2024
(N = 540)</c:v>
                </c:pt>
              </c:strCache>
            </c:strRef>
          </c:cat>
          <c:val>
            <c:numRef>
              <c:f>Sheet1!$B$2:$B$4</c:f>
              <c:numCache>
                <c:formatCode>General</c:formatCode>
                <c:ptCount val="3"/>
                <c:pt idx="0">
                  <c:v>43.6</c:v>
                </c:pt>
                <c:pt idx="1">
                  <c:v>14.8</c:v>
                </c:pt>
                <c:pt idx="2">
                  <c:v>10.4</c:v>
                </c:pt>
              </c:numCache>
            </c:numRef>
          </c:val>
        </c:ser>
        <c:ser>
          <c:idx val="1"/>
          <c:order val="1"/>
          <c:tx>
            <c:strRef>
              <c:f>Sheet1!$C$1</c:f>
              <c:strCache>
                <c:ptCount val="1"/>
                <c:pt idx="0">
                  <c:v>통합형</c:v>
                </c:pt>
              </c:strCache>
            </c:strRef>
          </c:tx>
          <c:spPr>
            <a:solidFill>
              <a:srgbClr val="7C3AED"/>
            </a:solidFill>
          </c:spPr>
          <c:dLbls>
            <c:numFmt formatCode="0.0&quot;%&quot;" sourceLinked="0"/>
            <c:txPr>
              <a:bodyPr/>
              <a:lstStyle/>
              <a:p>
                <a:pPr>
                  <a:defRPr sz="1400" b="1">
                    <a:solidFill>
                      <a:srgbClr val="FFFFFF"/>
                    </a:solidFill>
                    <a:latin typeface="맑은 고딕"/>
                  </a:defRPr>
                </a:pPr>
              </a:p>
            </c:txPr>
            <c:dLblPos val="ctr"/>
            <c:showLegendKey val="0"/>
            <c:showVal val="1"/>
            <c:showCatName val="0"/>
            <c:showSerName val="0"/>
            <c:showPercent val="0"/>
            <c:showBubbleSize val="0"/>
            <c:showLeaderLines val="1"/>
          </c:dLbls>
          <c:cat>
            <c:strRef>
              <c:f>Sheet1!$A$2:$A$4</c:f>
              <c:strCache>
                <c:ptCount val="3"/>
                <c:pt idx="0">
                  <c:v>형성기
–2014
(N = 179)</c:v>
                </c:pt>
                <c:pt idx="1">
                  <c:v>확산기
2015–2019
(N = 209)</c:v>
                </c:pt>
                <c:pt idx="2">
                  <c:v>재편기
2020–2024
(N = 540)</c:v>
                </c:pt>
              </c:strCache>
            </c:strRef>
          </c:cat>
          <c:val>
            <c:numRef>
              <c:f>Sheet1!$C$2:$C$4</c:f>
              <c:numCache>
                <c:formatCode>General</c:formatCode>
                <c:ptCount val="3"/>
                <c:pt idx="0">
                  <c:v>31.3</c:v>
                </c:pt>
                <c:pt idx="1">
                  <c:v>62.2</c:v>
                </c:pt>
                <c:pt idx="2">
                  <c:v>44.3</c:v>
                </c:pt>
              </c:numCache>
            </c:numRef>
          </c:val>
        </c:ser>
        <c:ser>
          <c:idx val="2"/>
          <c:order val="2"/>
          <c:tx>
            <c:strRef>
              <c:f>Sheet1!$D$1</c:f>
              <c:strCache>
                <c:ptCount val="1"/>
                <c:pt idx="0">
                  <c:v>접합 단독형</c:v>
                </c:pt>
              </c:strCache>
            </c:strRef>
          </c:tx>
          <c:spPr>
            <a:solidFill>
              <a:srgbClr val="EA7A28"/>
            </a:solidFill>
          </c:spPr>
          <c:dLbls>
            <c:numFmt formatCode="0.0&quot;%&quot;" sourceLinked="0"/>
            <c:txPr>
              <a:bodyPr/>
              <a:lstStyle/>
              <a:p>
                <a:pPr>
                  <a:defRPr sz="1400" b="1">
                    <a:solidFill>
                      <a:srgbClr val="FFFFFF"/>
                    </a:solidFill>
                    <a:latin typeface="맑은 고딕"/>
                  </a:defRPr>
                </a:pPr>
              </a:p>
            </c:txPr>
            <c:dLblPos val="ctr"/>
            <c:showLegendKey val="0"/>
            <c:showVal val="1"/>
            <c:showCatName val="0"/>
            <c:showSerName val="0"/>
            <c:showPercent val="0"/>
            <c:showBubbleSize val="0"/>
            <c:showLeaderLines val="1"/>
          </c:dLbls>
          <c:cat>
            <c:strRef>
              <c:f>Sheet1!$A$2:$A$4</c:f>
              <c:strCache>
                <c:ptCount val="3"/>
                <c:pt idx="0">
                  <c:v>형성기
–2014
(N = 179)</c:v>
                </c:pt>
                <c:pt idx="1">
                  <c:v>확산기
2015–2019
(N = 209)</c:v>
                </c:pt>
                <c:pt idx="2">
                  <c:v>재편기
2020–2024
(N = 540)</c:v>
                </c:pt>
              </c:strCache>
            </c:strRef>
          </c:cat>
          <c:val>
            <c:numRef>
              <c:f>Sheet1!$D$2:$D$4</c:f>
              <c:numCache>
                <c:formatCode>General</c:formatCode>
                <c:ptCount val="3"/>
                <c:pt idx="0">
                  <c:v>25.1</c:v>
                </c:pt>
                <c:pt idx="1">
                  <c:v>23.0</c:v>
                </c:pt>
                <c:pt idx="2">
                  <c:v>45.4</c:v>
                </c:pt>
              </c:numCache>
            </c:numRef>
          </c:val>
        </c:ser>
        <c:gapWidth val="45"/>
        <c:overlap val="100"/>
        <c:axId val="-2068027336"/>
        <c:axId val="-2113994440"/>
      </c:barChart>
      <c:catAx>
        <c:axId val="-2068027336"/>
        <c:scaling>
          <c:orientation val="minMax"/>
        </c:scaling>
        <c:delete val="0"/>
        <c:axPos val="b"/>
        <c:majorTickMark val="out"/>
        <c:minorTickMark val="none"/>
        <c:tickLblPos val="nextTo"/>
        <c:spPr>
          <a:ln>
            <a:solidFill>
              <a:srgbClr val="9AA3B2"/>
            </a:solidFill>
          </a:ln>
        </c:spPr>
        <c:txPr>
          <a:bodyPr/>
          <a:lstStyle/>
          <a:p>
            <a:pPr>
              <a:defRPr sz="1250">
                <a:solidFill>
                  <a:srgbClr val="1E2532"/>
                </a:solidFill>
                <a:latin typeface="맑은 고딕"/>
                <a:ea typeface="맑은 고딕"/>
              </a:defRPr>
            </a:pPr>
          </a:p>
        </c:txPr>
        <c:crossAx val="-2113994440"/>
        <c:crosses val="autoZero"/>
        <c:auto val="1"/>
        <c:lblAlgn val="ctr"/>
        <c:lblOffset val="100"/>
        <c:noMultiLvlLbl val="0"/>
      </c:catAx>
      <c:valAx>
        <c:axId val="-2113994440"/>
        <c:scaling>
          <c:max val="100.0"/>
        </c:scaling>
        <c:delete/>
        <c:axPos val="l"/>
        <c:majorTickMark val="out"/>
        <c:minorTickMark val="none"/>
        <c:tickLblPos val="nextTo"/>
        <c:spPr>
          <a:ln>
            <a:noFill/>
          </a:ln>
        </c:spPr>
        <c:txPr>
          <a:bodyPr/>
          <a:lstStyle/>
          <a:p>
            <a:pPr>
              <a:defRPr sz="1250">
                <a:solidFill>
                  <a:srgbClr val="1E2532"/>
                </a:solidFill>
                <a:latin typeface="맑은 고딕"/>
                <a:ea typeface="맑은 고딕"/>
              </a:defRPr>
            </a:pPr>
          </a:p>
        </c:txPr>
        <c:crossAx val="-2068027336"/>
        <c:crosses val="autoZero"/>
      </c:valAx>
      <c:spPr>
        <a:noFill/>
        <a:ln>
          <a:noFill/>
        </a:ln>
      </c:spPr>
    </c:plotArea>
    <c:legend>
      <c:legendPos val="t"/>
      <c:overlay val="0"/>
      <c:txPr>
        <a:bodyPr/>
        <a:lstStyle/>
        <a:p>
          <a:pPr>
            <a:defRPr sz="1250">
              <a:solidFill>
                <a:srgbClr val="1E2532"/>
              </a:solidFill>
              <a:latin typeface="맑은 고딕"/>
              <a:ea typeface="맑은 고딕"/>
            </a:defRPr>
          </a:pPr>
        </a:p>
      </c:txPr>
    </c:legend>
    <c:dispBlanksAs val="gap"/>
  </c:chart>
  <c:spPr>
    <a:noFill/>
    <a:ln>
      <a:noFill/>
    </a:ln>
  </c:spPr>
  <c:txPr>
    <a:bodyPr/>
    <a:lstStyle/>
    <a:p>
      <a:pPr>
        <a:defRPr sz="1250">
          <a:solidFill>
            <a:srgbClr val="1E2532"/>
          </a:solidFill>
          <a:latin typeface="맑은 고딕"/>
          <a:ea typeface="맑은 고딕"/>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통합형</c:v>
                </c:pt>
              </c:strCache>
            </c:strRef>
          </c:tx>
          <c:spPr>
            <a:ln w="44450">
              <a:solidFill>
                <a:srgbClr val="7C3AED"/>
              </a:solidFill>
            </a:ln>
          </c:spPr>
          <c:marker>
            <c:symbol val="none"/>
          </c:marker>
          <c:cat>
            <c:strRef>
              <c:f>Sheet1!$A$2:$A$21</c:f>
              <c:strCache>
                <c:ptCount val="20"/>
                <c:pt idx="0">
                  <c:v>2005</c:v>
                </c:pt>
                <c:pt idx="1">
                  <c:v/>
                </c:pt>
                <c:pt idx="2">
                  <c:v/>
                </c:pt>
                <c:pt idx="3">
                  <c:v/>
                </c:pt>
                <c:pt idx="4">
                  <c:v/>
                </c:pt>
                <c:pt idx="5">
                  <c:v>2010</c:v>
                </c:pt>
                <c:pt idx="6">
                  <c:v/>
                </c:pt>
                <c:pt idx="7">
                  <c:v/>
                </c:pt>
                <c:pt idx="8">
                  <c:v/>
                </c:pt>
                <c:pt idx="9">
                  <c:v/>
                </c:pt>
                <c:pt idx="10">
                  <c:v>2015</c:v>
                </c:pt>
                <c:pt idx="11">
                  <c:v/>
                </c:pt>
                <c:pt idx="12">
                  <c:v/>
                </c:pt>
                <c:pt idx="13">
                  <c:v/>
                </c:pt>
                <c:pt idx="14">
                  <c:v/>
                </c:pt>
                <c:pt idx="15">
                  <c:v>2020</c:v>
                </c:pt>
                <c:pt idx="16">
                  <c:v/>
                </c:pt>
                <c:pt idx="17">
                  <c:v/>
                </c:pt>
                <c:pt idx="18">
                  <c:v/>
                </c:pt>
                <c:pt idx="19">
                  <c:v>2024</c:v>
                </c:pt>
              </c:strCache>
            </c:strRef>
          </c:cat>
          <c:val>
            <c:numRef>
              <c:f>Sheet1!$B$2:$B$21</c:f>
              <c:numCache>
                <c:formatCode>General</c:formatCode>
                <c:ptCount val="20"/>
                <c:pt idx="0">
                  <c:v>0.396</c:v>
                </c:pt>
                <c:pt idx="1">
                  <c:v>0.403</c:v>
                </c:pt>
                <c:pt idx="2">
                  <c:v>0.409</c:v>
                </c:pt>
                <c:pt idx="3">
                  <c:v>0.415</c:v>
                </c:pt>
                <c:pt idx="4">
                  <c:v>0.421</c:v>
                </c:pt>
                <c:pt idx="5">
                  <c:v>0.426</c:v>
                </c:pt>
                <c:pt idx="6">
                  <c:v>0.431</c:v>
                </c:pt>
                <c:pt idx="7">
                  <c:v>0.436</c:v>
                </c:pt>
                <c:pt idx="8">
                  <c:v>0.441</c:v>
                </c:pt>
                <c:pt idx="9">
                  <c:v>0.445</c:v>
                </c:pt>
                <c:pt idx="10">
                  <c:v>0.45</c:v>
                </c:pt>
                <c:pt idx="11">
                  <c:v>0.454</c:v>
                </c:pt>
                <c:pt idx="12">
                  <c:v>0.457</c:v>
                </c:pt>
                <c:pt idx="13">
                  <c:v>0.461</c:v>
                </c:pt>
                <c:pt idx="14">
                  <c:v>0.464</c:v>
                </c:pt>
                <c:pt idx="15">
                  <c:v>0.467</c:v>
                </c:pt>
                <c:pt idx="16">
                  <c:v>0.469</c:v>
                </c:pt>
                <c:pt idx="17">
                  <c:v>0.472</c:v>
                </c:pt>
                <c:pt idx="18">
                  <c:v>0.474</c:v>
                </c:pt>
                <c:pt idx="19">
                  <c:v>0.476</c:v>
                </c:pt>
              </c:numCache>
            </c:numRef>
          </c:val>
          <c:smooth val="0"/>
        </c:ser>
        <c:ser>
          <c:idx val="1"/>
          <c:order val="1"/>
          <c:tx>
            <c:strRef>
              <c:f>Sheet1!$C$1</c:f>
              <c:strCache>
                <c:ptCount val="1"/>
                <c:pt idx="0">
                  <c:v>접합 단독형</c:v>
                </c:pt>
              </c:strCache>
            </c:strRef>
          </c:tx>
          <c:spPr>
            <a:ln w="44450">
              <a:solidFill>
                <a:srgbClr val="EA7A28"/>
              </a:solidFill>
            </a:ln>
          </c:spPr>
          <c:marker>
            <c:symbol val="none"/>
          </c:marker>
          <c:dPt>
            <c:idx val="5"/>
            <c:marker>
              <c:symbol val="circle"/>
              <c:size val="9"/>
              <c:spPr>
                <a:solidFill>
                  <a:srgbClr val="EA7A28"/>
                </a:solidFill>
                <a:ln>
                  <a:solidFill>
                    <a:srgbClr val="EA7A28"/>
                  </a:solidFill>
                </a:ln>
              </c:spPr>
            </c:marker>
          </c:dPt>
          <c:dPt>
            <c:idx val="17"/>
            <c:marker>
              <c:symbol val="circle"/>
              <c:size val="9"/>
              <c:spPr>
                <a:solidFill>
                  <a:srgbClr val="EA7A28"/>
                </a:solidFill>
                <a:ln>
                  <a:solidFill>
                    <a:srgbClr val="EA7A28"/>
                  </a:solidFill>
                </a:ln>
              </c:spPr>
            </c:marker>
          </c:dPt>
          <c:dLbls>
            <c:dLbl>
              <c:idx val="5"/>
              <c:tx>
                <c:rich>
                  <a:bodyPr/>
                  <a:lstStyle/>
                  <a:p>
                    <a:r>
                      <a:rPr sz="1300" b="1" i="0" lang="ko-KR" altLang="en-US">
                        <a:solidFill>
                          <a:srgbClr val="EA7A28"/>
                        </a:solidFill>
                        <a:latin typeface="맑은 고딕"/>
                        <a:ea typeface="맑은 고딕"/>
                        <a:cs typeface="맑은 고딕"/>
                      </a:rPr>
                      <a:t>0.31</a:t>
                    </a:r>
                  </a:p>
                </c:rich>
              </c:tx>
              <c:dLblPos val="t"/>
              <c:showLegendKey val="0"/>
              <c:showVal val="1"/>
              <c:showCatName val="0"/>
              <c:showSerName val="0"/>
              <c:showPercent val="0"/>
              <c:showBubbleSize val="0"/>
            </c:dLbl>
            <c:dLbl>
              <c:idx val="17"/>
              <c:tx>
                <c:rich>
                  <a:bodyPr/>
                  <a:lstStyle/>
                  <a:p>
                    <a:r>
                      <a:rPr sz="1300" b="1" i="0" lang="ko-KR" altLang="en-US">
                        <a:solidFill>
                          <a:srgbClr val="EA7A28"/>
                        </a:solidFill>
                        <a:latin typeface="맑은 고딕"/>
                        <a:ea typeface="맑은 고딕"/>
                        <a:cs typeface="맑은 고딕"/>
                      </a:rPr>
                      <a:t>0.40</a:t>
                    </a:r>
                  </a:p>
                </c:rich>
              </c:tx>
              <c:dLblPos val="b"/>
              <c:showLegendKey val="0"/>
              <c:showVal val="1"/>
              <c:showCatName val="0"/>
              <c:showSerName val="0"/>
              <c:showPercent val="0"/>
              <c:showBubbleSize val="0"/>
            </c:dLbl>
            <c:showLegendKey val="0"/>
            <c:showVal val="0"/>
            <c:showCatName val="0"/>
            <c:showSerName val="0"/>
            <c:showPercent val="0"/>
            <c:showBubbleSize val="0"/>
            <c:showLeaderLines val="1"/>
          </c:dLbls>
          <c:cat>
            <c:strRef>
              <c:f>Sheet1!$A$2:$A$21</c:f>
              <c:strCache>
                <c:ptCount val="20"/>
                <c:pt idx="0">
                  <c:v>2005</c:v>
                </c:pt>
                <c:pt idx="1">
                  <c:v/>
                </c:pt>
                <c:pt idx="2">
                  <c:v/>
                </c:pt>
                <c:pt idx="3">
                  <c:v/>
                </c:pt>
                <c:pt idx="4">
                  <c:v/>
                </c:pt>
                <c:pt idx="5">
                  <c:v>2010</c:v>
                </c:pt>
                <c:pt idx="6">
                  <c:v/>
                </c:pt>
                <c:pt idx="7">
                  <c:v/>
                </c:pt>
                <c:pt idx="8">
                  <c:v/>
                </c:pt>
                <c:pt idx="9">
                  <c:v/>
                </c:pt>
                <c:pt idx="10">
                  <c:v>2015</c:v>
                </c:pt>
                <c:pt idx="11">
                  <c:v/>
                </c:pt>
                <c:pt idx="12">
                  <c:v/>
                </c:pt>
                <c:pt idx="13">
                  <c:v/>
                </c:pt>
                <c:pt idx="14">
                  <c:v/>
                </c:pt>
                <c:pt idx="15">
                  <c:v>2020</c:v>
                </c:pt>
                <c:pt idx="16">
                  <c:v/>
                </c:pt>
                <c:pt idx="17">
                  <c:v/>
                </c:pt>
                <c:pt idx="18">
                  <c:v/>
                </c:pt>
                <c:pt idx="19">
                  <c:v>2024</c:v>
                </c:pt>
              </c:strCache>
            </c:strRef>
          </c:cat>
          <c:val>
            <c:numRef>
              <c:f>Sheet1!$C$2:$C$21</c:f>
              <c:numCache>
                <c:formatCode>General</c:formatCode>
                <c:ptCount val="20"/>
                <c:pt idx="0">
                  <c:v>0.262</c:v>
                </c:pt>
                <c:pt idx="1">
                  <c:v>0.271</c:v>
                </c:pt>
                <c:pt idx="2">
                  <c:v>0.281</c:v>
                </c:pt>
                <c:pt idx="3">
                  <c:v>0.29</c:v>
                </c:pt>
                <c:pt idx="4">
                  <c:v>0.3</c:v>
                </c:pt>
                <c:pt idx="5">
                  <c:v>0.309</c:v>
                </c:pt>
                <c:pt idx="6">
                  <c:v>0.318</c:v>
                </c:pt>
                <c:pt idx="7">
                  <c:v>0.327</c:v>
                </c:pt>
                <c:pt idx="8">
                  <c:v>0.335</c:v>
                </c:pt>
                <c:pt idx="9">
                  <c:v>0.344</c:v>
                </c:pt>
                <c:pt idx="10">
                  <c:v>0.352</c:v>
                </c:pt>
                <c:pt idx="11">
                  <c:v>0.36</c:v>
                </c:pt>
                <c:pt idx="12">
                  <c:v>0.368</c:v>
                </c:pt>
                <c:pt idx="13">
                  <c:v>0.376</c:v>
                </c:pt>
                <c:pt idx="14">
                  <c:v>0.383</c:v>
                </c:pt>
                <c:pt idx="15">
                  <c:v>0.391</c:v>
                </c:pt>
                <c:pt idx="16">
                  <c:v>0.397</c:v>
                </c:pt>
                <c:pt idx="17">
                  <c:v>0.404</c:v>
                </c:pt>
                <c:pt idx="18">
                  <c:v>0.411</c:v>
                </c:pt>
                <c:pt idx="19">
                  <c:v>0.417</c:v>
                </c:pt>
              </c:numCache>
            </c:numRef>
          </c:val>
          <c:smooth val="0"/>
        </c:ser>
        <c:ser>
          <c:idx val="2"/>
          <c:order val="2"/>
          <c:tx>
            <c:strRef>
              <c:f>Sheet1!$D$1</c:f>
              <c:strCache>
                <c:ptCount val="1"/>
                <c:pt idx="0">
                  <c:v>공정 단독형</c:v>
                </c:pt>
              </c:strCache>
            </c:strRef>
          </c:tx>
          <c:spPr>
            <a:ln w="44450">
              <a:solidFill>
                <a:srgbClr val="2563C9"/>
              </a:solidFill>
            </a:ln>
          </c:spPr>
          <c:marker>
            <c:symbol val="none"/>
          </c:marker>
          <c:dPt>
            <c:idx val="5"/>
            <c:marker>
              <c:symbol val="circle"/>
              <c:size val="9"/>
              <c:spPr>
                <a:solidFill>
                  <a:srgbClr val="2563C9"/>
                </a:solidFill>
                <a:ln>
                  <a:solidFill>
                    <a:srgbClr val="2563C9"/>
                  </a:solidFill>
                </a:ln>
              </c:spPr>
            </c:marker>
          </c:dPt>
          <c:dPt>
            <c:idx val="17"/>
            <c:marker>
              <c:symbol val="circle"/>
              <c:size val="9"/>
              <c:spPr>
                <a:solidFill>
                  <a:srgbClr val="2563C9"/>
                </a:solidFill>
                <a:ln>
                  <a:solidFill>
                    <a:srgbClr val="2563C9"/>
                  </a:solidFill>
                </a:ln>
              </c:spPr>
            </c:marker>
          </c:dPt>
          <c:dLbls>
            <c:dLbl>
              <c:idx val="5"/>
              <c:tx>
                <c:rich>
                  <a:bodyPr/>
                  <a:lstStyle/>
                  <a:p>
                    <a:r>
                      <a:rPr sz="1300" b="1" i="0" lang="ko-KR" altLang="en-US">
                        <a:solidFill>
                          <a:srgbClr val="2563C9"/>
                        </a:solidFill>
                        <a:latin typeface="맑은 고딕"/>
                        <a:ea typeface="맑은 고딕"/>
                        <a:cs typeface="맑은 고딕"/>
                      </a:rPr>
                      <a:t>0.27</a:t>
                    </a:r>
                  </a:p>
                </c:rich>
              </c:tx>
              <c:dLblPos val="b"/>
              <c:showLegendKey val="0"/>
              <c:showVal val="1"/>
              <c:showCatName val="0"/>
              <c:showSerName val="0"/>
              <c:showPercent val="0"/>
              <c:showBubbleSize val="0"/>
            </c:dLbl>
            <c:dLbl>
              <c:idx val="17"/>
              <c:tx>
                <c:rich>
                  <a:bodyPr/>
                  <a:lstStyle/>
                  <a:p>
                    <a:r>
                      <a:rPr sz="1300" b="1" i="0" lang="ko-KR" altLang="en-US">
                        <a:solidFill>
                          <a:srgbClr val="2563C9"/>
                        </a:solidFill>
                        <a:latin typeface="맑은 고딕"/>
                        <a:ea typeface="맑은 고딕"/>
                        <a:cs typeface="맑은 고딕"/>
                      </a:rPr>
                      <a:t>0.12</a:t>
                    </a:r>
                  </a:p>
                </c:rich>
              </c:tx>
              <c:dLblPos val="b"/>
              <c:showLegendKey val="0"/>
              <c:showVal val="1"/>
              <c:showCatName val="0"/>
              <c:showSerName val="0"/>
              <c:showPercent val="0"/>
              <c:showBubbleSize val="0"/>
            </c:dLbl>
            <c:showLegendKey val="0"/>
            <c:showVal val="0"/>
            <c:showCatName val="0"/>
            <c:showSerName val="0"/>
            <c:showPercent val="0"/>
            <c:showBubbleSize val="0"/>
            <c:showLeaderLines val="1"/>
          </c:dLbls>
          <c:cat>
            <c:strRef>
              <c:f>Sheet1!$A$2:$A$21</c:f>
              <c:strCache>
                <c:ptCount val="20"/>
                <c:pt idx="0">
                  <c:v>2005</c:v>
                </c:pt>
                <c:pt idx="1">
                  <c:v/>
                </c:pt>
                <c:pt idx="2">
                  <c:v/>
                </c:pt>
                <c:pt idx="3">
                  <c:v/>
                </c:pt>
                <c:pt idx="4">
                  <c:v/>
                </c:pt>
                <c:pt idx="5">
                  <c:v>2010</c:v>
                </c:pt>
                <c:pt idx="6">
                  <c:v/>
                </c:pt>
                <c:pt idx="7">
                  <c:v/>
                </c:pt>
                <c:pt idx="8">
                  <c:v/>
                </c:pt>
                <c:pt idx="9">
                  <c:v/>
                </c:pt>
                <c:pt idx="10">
                  <c:v>2015</c:v>
                </c:pt>
                <c:pt idx="11">
                  <c:v/>
                </c:pt>
                <c:pt idx="12">
                  <c:v/>
                </c:pt>
                <c:pt idx="13">
                  <c:v/>
                </c:pt>
                <c:pt idx="14">
                  <c:v/>
                </c:pt>
                <c:pt idx="15">
                  <c:v>2020</c:v>
                </c:pt>
                <c:pt idx="16">
                  <c:v/>
                </c:pt>
                <c:pt idx="17">
                  <c:v/>
                </c:pt>
                <c:pt idx="18">
                  <c:v/>
                </c:pt>
                <c:pt idx="19">
                  <c:v>2024</c:v>
                </c:pt>
              </c:strCache>
            </c:strRef>
          </c:cat>
          <c:val>
            <c:numRef>
              <c:f>Sheet1!$D$2:$D$21</c:f>
              <c:numCache>
                <c:formatCode>General</c:formatCode>
                <c:ptCount val="20"/>
                <c:pt idx="0">
                  <c:v>0.342</c:v>
                </c:pt>
                <c:pt idx="1">
                  <c:v>0.326</c:v>
                </c:pt>
                <c:pt idx="2">
                  <c:v>0.31</c:v>
                </c:pt>
                <c:pt idx="3">
                  <c:v>0.295</c:v>
                </c:pt>
                <c:pt idx="4">
                  <c:v>0.28</c:v>
                </c:pt>
                <c:pt idx="5">
                  <c:v>0.265</c:v>
                </c:pt>
                <c:pt idx="6">
                  <c:v>0.251</c:v>
                </c:pt>
                <c:pt idx="7">
                  <c:v>0.237</c:v>
                </c:pt>
                <c:pt idx="8">
                  <c:v>0.224</c:v>
                </c:pt>
                <c:pt idx="9">
                  <c:v>0.211</c:v>
                </c:pt>
                <c:pt idx="10">
                  <c:v>0.198</c:v>
                </c:pt>
                <c:pt idx="11">
                  <c:v>0.186</c:v>
                </c:pt>
                <c:pt idx="12">
                  <c:v>0.175</c:v>
                </c:pt>
                <c:pt idx="13">
                  <c:v>0.163</c:v>
                </c:pt>
                <c:pt idx="14">
                  <c:v>0.153</c:v>
                </c:pt>
                <c:pt idx="15">
                  <c:v>0.143</c:v>
                </c:pt>
                <c:pt idx="16">
                  <c:v>0.133</c:v>
                </c:pt>
                <c:pt idx="17">
                  <c:v>0.124</c:v>
                </c:pt>
                <c:pt idx="18">
                  <c:v>0.116</c:v>
                </c:pt>
                <c:pt idx="19">
                  <c:v>0.108</c:v>
                </c:pt>
              </c:numCache>
            </c:numRef>
          </c:val>
          <c:smooth val="0"/>
        </c:ser>
        <c:marker val="1"/>
        <c:smooth val="0"/>
        <c:axId val="2118791784"/>
        <c:axId val="2140495176"/>
      </c:lineChart>
      <c:catAx>
        <c:axId val="2118791784"/>
        <c:scaling>
          <c:orientation val="minMax"/>
        </c:scaling>
        <c:delete val="0"/>
        <c:axPos val="b"/>
        <c:title>
          <c:tx>
            <c:rich>
              <a:bodyPr/>
              <a:lstStyle/>
              <a:p>
                <a:r>
                  <a:rPr sz="1200" b="0" i="0" lang="ko-KR" altLang="en-US">
                    <a:solidFill>
                      <a:srgbClr val="5B6475"/>
                    </a:solidFill>
                    <a:latin typeface="맑은 고딕"/>
                    <a:ea typeface="맑은 고딕"/>
                    <a:cs typeface="맑은 고딕"/>
                  </a:rPr>
                  <a:t>출원연도</a:t>
                </a:r>
              </a:p>
            </c:rich>
          </c:tx>
          <c:layout/>
          <c:overlay val="0"/>
        </c:title>
        <c:majorTickMark val="out"/>
        <c:minorTickMark val="none"/>
        <c:tickLblPos val="nextTo"/>
        <c:spPr>
          <a:ln>
            <a:solidFill>
              <a:srgbClr val="9AA3B2"/>
            </a:solidFill>
          </a:ln>
        </c:spPr>
        <c:txPr>
          <a:bodyPr/>
          <a:lstStyle/>
          <a:p>
            <a:pPr>
              <a:defRPr sz="1200">
                <a:solidFill>
                  <a:srgbClr val="1E2532"/>
                </a:solidFill>
                <a:latin typeface="맑은 고딕"/>
                <a:ea typeface="맑은 고딕"/>
              </a:defRPr>
            </a:pPr>
          </a:p>
        </c:txPr>
        <c:crossAx val="2140495176"/>
        <c:crosses val="autoZero"/>
        <c:auto val="1"/>
        <c:lblAlgn val="ctr"/>
        <c:lblOffset val="100"/>
        <c:noMultiLvlLbl val="0"/>
        <c:tickLblSkip val="1"/>
      </c:catAx>
      <c:valAx>
        <c:axId val="2140495176"/>
        <c:scaling>
          <c:max val="1.0"/>
          <c:min val="0.0"/>
        </c:scaling>
        <c:delete val="0"/>
        <c:axPos val="l"/>
        <c:majorGridlines>
          <c:spPr>
            <a:ln>
              <a:solidFill>
                <a:srgbClr val="DDE2EA"/>
              </a:solidFill>
            </a:ln>
          </c:spPr>
        </c:majorGridlines>
        <c:title>
          <c:tx>
            <c:rich>
              <a:bodyPr/>
              <a:lstStyle/>
              <a:p>
                <a:r>
                  <a:rPr sz="1200" b="0" i="0" lang="ko-KR" altLang="en-US">
                    <a:solidFill>
                      <a:srgbClr val="5B6475"/>
                    </a:solidFill>
                    <a:latin typeface="맑은 고딕"/>
                    <a:ea typeface="맑은 고딕"/>
                    <a:cs typeface="맑은 고딕"/>
                  </a:rPr>
                  <a:t>예측확률</a:t>
                </a:r>
              </a:p>
            </c:rich>
          </c:tx>
          <c:layout/>
          <c:overlay val="0"/>
        </c:title>
        <c:numFmt formatCode="0.0" sourceLinked="0"/>
        <c:majorTickMark val="out"/>
        <c:minorTickMark val="none"/>
        <c:tickLblPos val="nextTo"/>
        <c:spPr>
          <a:ln>
            <a:noFill/>
          </a:ln>
        </c:spPr>
        <c:txPr>
          <a:bodyPr/>
          <a:lstStyle/>
          <a:p>
            <a:pPr>
              <a:defRPr sz="1200">
                <a:solidFill>
                  <a:srgbClr val="1E2532"/>
                </a:solidFill>
                <a:latin typeface="맑은 고딕"/>
                <a:ea typeface="맑은 고딕"/>
              </a:defRPr>
            </a:pPr>
          </a:p>
        </c:txPr>
        <c:crossAx val="2118791784"/>
        <c:crosses val="autoZero"/>
        <c:majorUnit val="0.2"/>
      </c:valAx>
      <c:spPr>
        <a:noFill/>
        <a:ln>
          <a:noFill/>
        </a:ln>
      </c:spPr>
    </c:plotArea>
    <c:legend>
      <c:legendPos val="t"/>
      <c:layout/>
      <c:overlay val="0"/>
      <c:txPr>
        <a:bodyPr/>
        <a:lstStyle/>
        <a:p>
          <a:pPr>
            <a:defRPr sz="1200">
              <a:solidFill>
                <a:srgbClr val="1E2532"/>
              </a:solidFill>
              <a:latin typeface="맑은 고딕"/>
              <a:ea typeface="맑은 고딕"/>
            </a:defRPr>
          </a:pPr>
        </a:p>
      </c:txPr>
    </c:legend>
    <c:plotVisOnly val="1"/>
    <c:dispBlanksAs val="gap"/>
    <c:showDLblsOverMax val="0"/>
  </c:chart>
  <c:spPr>
    <a:noFill/>
    <a:ln>
      <a:noFill/>
    </a:ln>
  </c:spPr>
  <c:txPr>
    <a:bodyPr/>
    <a:lstStyle/>
    <a:p>
      <a:pPr>
        <a:defRPr sz="1200">
          <a:solidFill>
            <a:srgbClr val="1E2532"/>
          </a:solidFill>
          <a:latin typeface="맑은 고딕"/>
          <a:ea typeface="맑은 고딕"/>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웨이퍼 제조공정</c:v>
                </c:pt>
              </c:strCache>
            </c:strRef>
          </c:tx>
          <c:spPr>
            <a:ln w="44450">
              <a:solidFill>
                <a:srgbClr val="2563C9"/>
              </a:solidFill>
            </a:ln>
          </c:spPr>
          <c:marker>
            <c:symbol val="circle"/>
            <c:size val="9"/>
            <c:spPr>
              <a:solidFill>
                <a:srgbClr val="2563C9"/>
              </a:solidFill>
              <a:ln>
                <a:solidFill>
                  <a:srgbClr val="2563C9"/>
                </a:solidFill>
              </a:ln>
            </c:spPr>
          </c:marker>
          <c:dLbls>
            <c:dLbl>
              <c:idx val="2"/>
              <c:tx>
                <c:rich>
                  <a:bodyPr/>
                  <a:lstStyle/>
                  <a:p>
                    <a:r>
                      <a:rPr sz="1100" b="1" i="0" lang="ko-KR" altLang="en-US">
                        <a:solidFill>
                          <a:srgbClr val="2563C9"/>
                        </a:solidFill>
                        <a:latin typeface="맑은 고딕"/>
                        <a:ea typeface="맑은 고딕"/>
                        <a:cs typeface="맑은 고딕"/>
                      </a:rPr>
                      <a:t>0.159</a:t>
                    </a:r>
                  </a:p>
                </c:rich>
              </c:tx>
              <c:dLblPos val="b"/>
              <c:showLegendKey val="0"/>
              <c:showVal val="1"/>
              <c:showCatName val="0"/>
              <c:showSerName val="0"/>
              <c:showPercent val="0"/>
              <c:showBubbleSize val="0"/>
            </c:dLbl>
            <c:numFmt formatCode="0.000" sourceLinked="0"/>
            <c:txPr>
              <a:bodyPr/>
              <a:lstStyle/>
              <a:p>
                <a:pPr>
                  <a:defRPr sz="1100" b="1">
                    <a:solidFill>
                      <a:srgbClr val="2563C9"/>
                    </a:solidFill>
                    <a:latin typeface="맑은 고딕"/>
                  </a:defRPr>
                </a:pPr>
              </a:p>
            </c:txPr>
            <c:dLblPos val="t"/>
            <c:showLegendKey val="0"/>
            <c:showVal val="1"/>
            <c:showCatName val="0"/>
            <c:showSerName val="0"/>
            <c:showPercent val="0"/>
            <c:showBubbleSize val="0"/>
            <c:showLeaderLines val="1"/>
          </c:dLbls>
          <c:cat>
            <c:strRef>
              <c:f>Sheet1!$A$2:$A$4</c:f>
              <c:strCache>
                <c:ptCount val="3"/>
                <c:pt idx="0">
                  <c:v>형성기</c:v>
                </c:pt>
                <c:pt idx="1">
                  <c:v>확산기</c:v>
                </c:pt>
                <c:pt idx="2">
                  <c:v>재편기</c:v>
                </c:pt>
              </c:strCache>
            </c:strRef>
          </c:cat>
          <c:val>
            <c:numRef>
              <c:f>Sheet1!$B$2:$B$4</c:f>
              <c:numCache>
                <c:formatCode>General</c:formatCode>
                <c:ptCount val="3"/>
                <c:pt idx="0">
                  <c:v>0.306</c:v>
                </c:pt>
                <c:pt idx="1">
                  <c:v>0.598</c:v>
                </c:pt>
                <c:pt idx="2">
                  <c:v>0.159</c:v>
                </c:pt>
              </c:numCache>
            </c:numRef>
          </c:val>
          <c:smooth val="0"/>
        </c:ser>
        <c:ser>
          <c:idx val="1"/>
          <c:order val="1"/>
          <c:tx>
            <c:strRef>
              <c:f>Sheet1!$C$1</c:f>
              <c:strCache>
                <c:ptCount val="1"/>
                <c:pt idx="0">
                  <c:v>공정 장치</c:v>
                </c:pt>
              </c:strCache>
            </c:strRef>
          </c:tx>
          <c:spPr>
            <a:ln w="44450">
              <a:solidFill>
                <a:srgbClr val="10A39A"/>
              </a:solidFill>
            </a:ln>
          </c:spPr>
          <c:marker>
            <c:symbol val="circle"/>
            <c:size val="9"/>
            <c:spPr>
              <a:solidFill>
                <a:srgbClr val="10A39A"/>
              </a:solidFill>
              <a:ln>
                <a:solidFill>
                  <a:srgbClr val="10A39A"/>
                </a:solidFill>
              </a:ln>
            </c:spPr>
          </c:marker>
          <c:dLbls>
            <c:dLbl>
              <c:idx val="2"/>
              <c:tx>
                <c:rich>
                  <a:bodyPr/>
                  <a:lstStyle/>
                  <a:p>
                    <a:r>
                      <a:rPr sz="1100" b="1" i="0" lang="ko-KR" altLang="en-US">
                        <a:solidFill>
                          <a:srgbClr val="10A39A"/>
                        </a:solidFill>
                        <a:latin typeface="맑은 고딕"/>
                        <a:ea typeface="맑은 고딕"/>
                        <a:cs typeface="맑은 고딕"/>
                      </a:rPr>
                      <a:t>0.176</a:t>
                    </a:r>
                  </a:p>
                </c:rich>
              </c:tx>
              <c:dLblPos val="t"/>
              <c:showLegendKey val="0"/>
              <c:showVal val="1"/>
              <c:showCatName val="0"/>
              <c:showSerName val="0"/>
              <c:showPercent val="0"/>
              <c:showBubbleSize val="0"/>
            </c:dLbl>
            <c:numFmt formatCode="0.000" sourceLinked="0"/>
            <c:txPr>
              <a:bodyPr/>
              <a:lstStyle/>
              <a:p>
                <a:pPr>
                  <a:defRPr sz="1100" b="1">
                    <a:solidFill>
                      <a:srgbClr val="10A39A"/>
                    </a:solidFill>
                    <a:latin typeface="맑은 고딕"/>
                  </a:defRPr>
                </a:pPr>
              </a:p>
            </c:txPr>
            <c:dLblPos val="b"/>
            <c:showLegendKey val="0"/>
            <c:showVal val="1"/>
            <c:showCatName val="0"/>
            <c:showSerName val="0"/>
            <c:showPercent val="0"/>
            <c:showBubbleSize val="0"/>
            <c:showLeaderLines val="1"/>
          </c:dLbls>
          <c:cat>
            <c:strRef>
              <c:f>Sheet1!$A$2:$A$4</c:f>
              <c:strCache>
                <c:ptCount val="3"/>
                <c:pt idx="0">
                  <c:v>형성기</c:v>
                </c:pt>
                <c:pt idx="1">
                  <c:v>확산기</c:v>
                </c:pt>
                <c:pt idx="2">
                  <c:v>재편기</c:v>
                </c:pt>
              </c:strCache>
            </c:strRef>
          </c:cat>
          <c:val>
            <c:numRef>
              <c:f>Sheet1!$C$2:$C$4</c:f>
              <c:numCache>
                <c:formatCode>General</c:formatCode>
                <c:ptCount val="3"/>
                <c:pt idx="0">
                  <c:v>0.046</c:v>
                </c:pt>
                <c:pt idx="1">
                  <c:v>0.059</c:v>
                </c:pt>
                <c:pt idx="2">
                  <c:v>0.176</c:v>
                </c:pt>
              </c:numCache>
            </c:numRef>
          </c:val>
          <c:smooth val="0"/>
        </c:ser>
        <c:ser>
          <c:idx val="2"/>
          <c:order val="2"/>
          <c:tx>
            <c:strRef>
              <c:f>Sheet1!$D$1</c:f>
              <c:strCache>
                <c:ptCount val="1"/>
                <c:pt idx="0">
                  <c:v>패키징 단계 공정</c:v>
                </c:pt>
              </c:strCache>
            </c:strRef>
          </c:tx>
          <c:spPr>
            <a:ln w="44450">
              <a:solidFill>
                <a:srgbClr val="E0A100"/>
              </a:solidFill>
            </a:ln>
          </c:spPr>
          <c:marker>
            <c:symbol val="circle"/>
            <c:size val="9"/>
            <c:spPr>
              <a:solidFill>
                <a:srgbClr val="E0A100"/>
              </a:solidFill>
              <a:ln>
                <a:solidFill>
                  <a:srgbClr val="E0A100"/>
                </a:solidFill>
              </a:ln>
            </c:spPr>
          </c:marker>
          <c:dLbls>
            <c:numFmt formatCode="0.000" sourceLinked="0"/>
            <c:txPr>
              <a:bodyPr/>
              <a:lstStyle/>
              <a:p>
                <a:pPr>
                  <a:defRPr sz="1100" b="1">
                    <a:solidFill>
                      <a:srgbClr val="E0A100"/>
                    </a:solidFill>
                    <a:latin typeface="맑은 고딕"/>
                  </a:defRPr>
                </a:pPr>
              </a:p>
            </c:txPr>
            <c:dLblPos val="t"/>
            <c:showLegendKey val="0"/>
            <c:showVal val="1"/>
            <c:showCatName val="0"/>
            <c:showSerName val="0"/>
            <c:showPercent val="0"/>
            <c:showBubbleSize val="0"/>
            <c:showLeaderLines val="1"/>
          </c:dLbls>
          <c:cat>
            <c:strRef>
              <c:f>Sheet1!$A$2:$A$4</c:f>
              <c:strCache>
                <c:ptCount val="3"/>
                <c:pt idx="0">
                  <c:v>형성기</c:v>
                </c:pt>
                <c:pt idx="1">
                  <c:v>확산기</c:v>
                </c:pt>
                <c:pt idx="2">
                  <c:v>재편기</c:v>
                </c:pt>
              </c:strCache>
            </c:strRef>
          </c:cat>
          <c:val>
            <c:numRef>
              <c:f>Sheet1!$D$2:$D$4</c:f>
              <c:numCache>
                <c:formatCode>General</c:formatCode>
                <c:ptCount val="3"/>
                <c:pt idx="0">
                  <c:v>0.194</c:v>
                </c:pt>
                <c:pt idx="1">
                  <c:v>0.234</c:v>
                </c:pt>
                <c:pt idx="2">
                  <c:v>0.268</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9AA3B2"/>
            </a:solidFill>
          </a:ln>
        </c:spPr>
        <c:txPr>
          <a:bodyPr/>
          <a:lstStyle/>
          <a:p>
            <a:pPr>
              <a:defRPr sz="1200">
                <a:solidFill>
                  <a:srgbClr val="1E2532"/>
                </a:solidFill>
                <a:latin typeface="맑은 고딕"/>
                <a:ea typeface="맑은 고딕"/>
              </a:defRPr>
            </a:pPr>
          </a:p>
        </c:txPr>
        <c:crossAx val="2140495176"/>
        <c:crosses val="autoZero"/>
        <c:auto val="1"/>
        <c:lblAlgn val="ctr"/>
        <c:lblOffset val="100"/>
        <c:noMultiLvlLbl val="0"/>
      </c:catAx>
      <c:valAx>
        <c:axId val="2140495176"/>
        <c:scaling>
          <c:max val="0.7"/>
          <c:min val="0.0"/>
        </c:scaling>
        <c:delete val="0"/>
        <c:axPos val="l"/>
        <c:majorGridlines>
          <c:spPr>
            <a:ln>
              <a:solidFill>
                <a:srgbClr val="DDE2EA"/>
              </a:solidFill>
            </a:ln>
          </c:spPr>
        </c:majorGridlines>
        <c:title>
          <c:tx>
            <c:rich>
              <a:bodyPr/>
              <a:lstStyle/>
              <a:p>
                <a:r>
                  <a:rPr sz="1200" b="0" i="0" lang="ko-KR" altLang="en-US">
                    <a:solidFill>
                      <a:srgbClr val="5B6475"/>
                    </a:solidFill>
                    <a:latin typeface="맑은 고딕"/>
                    <a:ea typeface="맑은 고딕"/>
                    <a:cs typeface="맑은 고딕"/>
                  </a:rPr>
                  <a:t>접합 기호와의 Jaccard 계수</a:t>
                </a:r>
              </a:p>
            </c:rich>
          </c:tx>
          <c:layout/>
          <c:overlay val="0"/>
        </c:title>
        <c:numFmt formatCode="0.0" sourceLinked="0"/>
        <c:majorTickMark val="out"/>
        <c:minorTickMark val="none"/>
        <c:tickLblPos val="nextTo"/>
        <c:spPr>
          <a:ln>
            <a:noFill/>
          </a:ln>
        </c:spPr>
        <c:txPr>
          <a:bodyPr/>
          <a:lstStyle/>
          <a:p>
            <a:pPr>
              <a:defRPr sz="1200">
                <a:solidFill>
                  <a:srgbClr val="1E2532"/>
                </a:solidFill>
                <a:latin typeface="맑은 고딕"/>
                <a:ea typeface="맑은 고딕"/>
              </a:defRPr>
            </a:pPr>
          </a:p>
        </c:txPr>
        <c:crossAx val="2118791784"/>
        <c:crosses val="autoZero"/>
        <c:majorUnit val="0.2"/>
      </c:valAx>
      <c:spPr>
        <a:noFill/>
        <a:ln>
          <a:noFill/>
        </a:ln>
      </c:spPr>
    </c:plotArea>
    <c:legend>
      <c:legendPos val="t"/>
      <c:layout/>
      <c:overlay val="0"/>
      <c:txPr>
        <a:bodyPr/>
        <a:lstStyle/>
        <a:p>
          <a:pPr>
            <a:defRPr sz="1200">
              <a:solidFill>
                <a:srgbClr val="1E2532"/>
              </a:solidFill>
              <a:latin typeface="맑은 고딕"/>
              <a:ea typeface="맑은 고딕"/>
            </a:defRPr>
          </a:pPr>
        </a:p>
      </c:txPr>
    </c:legend>
    <c:plotVisOnly val="1"/>
    <c:dispBlanksAs val="gap"/>
    <c:showDLblsOverMax val="0"/>
  </c:chart>
  <c:spPr>
    <a:noFill/>
    <a:ln>
      <a:noFill/>
    </a:ln>
  </c:spPr>
  <c:txPr>
    <a:bodyPr/>
    <a:lstStyle/>
    <a:p>
      <a:pPr>
        <a:defRPr sz="1200">
          <a:solidFill>
            <a:srgbClr val="1E2532"/>
          </a:solidFill>
          <a:latin typeface="맑은 고딕"/>
          <a:ea typeface="맑은 고딕"/>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안녕하십니까. 기술경영학과 이형규입니다. 지금부터 "반도체 하이브리드 본딩의 공정 단계 간 기술융합: 특허 기반 종단 분석"이라는 주제로 석사학위논문 심사 발표를 진행하겠습니다. 잘 전달되었으면 좋겠습니다.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발표는 다섯 부분으로 구성되어 있습니다. 왜 이 연구를 시작했는지부터, 어떤 이론을 바탕으로 연구 질문을 세웠고 어떤 자료와 방법으로 분석했는지, 그리고 최종적으로 어떤 결과가 나왔으며 그것이 무엇을 의미하는지를 담았습니다.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생성형 AI, AI 가속기, 그리고 HBM. 요즘 반도체 이야기에서 빠지지 않는 이 세 단어를 이어 주는 공통의 과제는 무엇일까요? 생성형 AI는 막대한 데이터를 처리하는 AI 가속기를 필요로 하고, AI 가속기는 D램 다이를 여러 층 쌓은 HBM을 필요로 합니다. 결국 메모리를 더 높이, 더 촘촘하게 쌓아 연결하는 것이 관건입니다. 그 연결을 위한 차세대 접합 기술로 주목받는 것이 오늘 말씀드릴 하이브리드 본딩입니다.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반도체 제조는 웨이퍼 위에 트랜지스터를 만드는 전공정과, 웨이퍼를 잘라 조립하고 패키징하는 후공정으로 나뉩니다. 전공정은 종합반도체기업과 파운드리가, 후공정은 조립·테스트 전문업체가 맡는 분업이 반세기 넘게 이어졌고, 이는 두 단계 사이의 인터페이스가 안정적이었기에 가능했습니다. 그런데 미세화가 한계에 부딪히자 산업은 다이를 나누고 쌓아 연결하는 첨단 패키징에서 성능 향상의 기회를 찾았고, 한 단계의 성능이 다른 단계의 공정 역량에 더 직접적으로 의존하게 되었습니다.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하이브리드 본딩은 솔더 범프 없이 구리 패드와 주변 산화막을 직접 맞붙이는 기술입니다. 범프 접합이 두 판을 납이라는 접착제로 붙이는 방식이라면, 하이브리드 본딩은 두 표면을 거울처럼 평평하게 갈아 그대로 맞붙이는 방식입니다. 덕분에 10마이크로미터 이하의 연결 간격을 구현합니다. 그런데 이 기술의 성패를 좌우하는 평탄화, 표면 활성화, 파티클 제어, 정밀 정렬은 후공정이 쌓아 온 역량이 아니라 전공정의 제조공정 역량입니다.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현상을 기술융합 연구에서 찾아보았지만 아쉬운 점이 세 가지 있었습니다. 첫째, 대부분 서로 다른 산업 사이의 융합을 다루었고, 한 산업 안에서 공정 단계를 가로지르는 융합은 드물었습니다. 둘째, 융합을 분야 수준의 지수로 측정해 어떤 발명이 융합을 담는지는 설명하기 어려웠습니다. 셋째, 이론은 융합을 단계적 과정으로 보지만 실증 연구는 융합이 늘었는지를 확인하는 데 머물렀습니다. 그래서 저는 공정 단계 사이의 융합을 개별 특허 수준에서, 시간의 흐름에 따라 분석했습니다.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기술융합의 개념입니다. Rosenberg는 총기와 재봉틀을 위해 개발된 가공 기술이 공통의 생산공정을 통해 다른 산업으로 퍼지고 공작기계 산업이 등장한 과정을 기술적 수렴이라 불렀고, Kodama는 분리된 기술 분야가 결합해 새로운 역량을 만드는 과정을 기술융합으로 정의했습니다. Hacklin 등은 융합이 지식, 기술, 응용, 산업의 네 단계로 진행된다고 보았습니다. 하이브리드 본딩에 대입하면, 제조공정 지식이 칩 연결 문제에 쓰이기 시작하는 것이 지식 융합, 그 지식이 접합 구조와 하나의 발명 안에서 결합되는 것이 기술 융합, HBM 같은 제품으로 구현되는 것이 응용 융합, 분업 구조가 바뀌는 것이 산업 융합입니다. 이 가운데 특허 공동분류로 직접 관찰할 수 있는 것은 기술 융합 단계입니다.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이론은 수직 전문화와 지식 경계입니다. 반도체 산업은 설계, 제조, 조립이 분리되며 팹리스, 파운드리, 조립·테스트 전문업체가 등장한 대표적인 산업입니다. 그런데 Kapoor와 Adner는 DRAM 산업의 12개 제품 세대를 분석해, 외주화한 부품의 지식까지 보유한 기업이 기술 전환에서 성과 우위를 얻었음을 보였습니다. 즉, 생산의 경계와 지식의 경계는 다릅니다. 인터페이스가 불안정해지면, 그 징후는 조직이나 산업 구조보다 먼저 두 단계의 지식을 함께 담은 발명으로 나타날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번째는 기술 순환 모형과 핵심–주변 구조입니다. 새로운 기술은 여러 설계가 경쟁하는 격동기를 거쳐 지배적 설계로 수렴하고, 그 뒤에는 점진적 변화가 이어집니다. Murmann과 Frenken은 지배적 설계를 다른 요소와 안정된 인터페이스 역할을 하는 핵심 요소의 설계로 보았고, 핵심이 안정되면 이후의 변화는 주변 요소에서 일어납니다. 도로에 비유하면, 규격이 정해지기 전에는 설계와 시공이 한 몸처럼 움직이지만, 규격이 정해진 뒤에는 각자 그 규격을 전제로 일하는 것과 같습니다.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이론을 요약해 보면, 첫째, 공정 단계 간 융합은 기술융합의 개념을 한 산업 내부에 적용한 것이며, 특허로는 기술 융합 단계를 관찰할 수 있습니다. 둘째, 생산의 경계와 지식의 경계는 다르기 때문에, 인터페이스가 불안정해지면 경계를 넘는 발명이 나타납니다. 셋째, 지배적 설계가 고착화되면 융합의 중심은 핵심에서 주변으로 이동할 수 있습니다. 이 세 가지를 기억해 주시면 감사하겠습니다.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연구 질문입니다. 첫 번째 연구 질문은 융합의 수준과 유형에 관한 것입니다. 앞에서 말씀드린 지식 경계의 논리에 따르면, 하이브리드 본딩으로 전공정과 후공정 사이의 인터페이스가 불안정해졌다면 두 영역의 기술을 함께 담은 발명이 예외적이지 않은 비중으로 나타나야 합니다. 그리고 발명을 기술 요소의 새로운 조합으로 보는 Fleming의 관점에 따르면, 두 영역에 걸친 발명은 한 영역에 머무는 발명보다 더 다양한 세부 기술을 포함하고 있을 것입니다. 그래서 첫 번째 연구 질문은 "하이브리드 본딩 기술에서 제조공정과 접합 기술 간의 융합이 어느 정도로, 어떠한 형태로 나타나는가"입니다.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번째는 시간적 변화입니다. 단계 모형과 기술 순환 모형을 결합하면, 기술이 형성될 때는 직접 접합을 가능하게 하는 공정 발명이 주를 이루고, 확산될 때는 공정 지식과 접합 발명의 결합이 늘며, 지배적 설계가 자리 잡은 뒤에는 결합이 응용에 필요한 주변 공정으로 옮겨 갈 것으로 기대됩니다. 실제로 하이브리드 본딩은 웨이퍼 단위 접합에서 HBM과 로직의 다이 단위 접합으로 확대되었고, 발명의 중심도 공정에서 접합 구조와 적층으로 옮겨 갔습니다. 그래서 두 번째 연구 질문은 "공정 단계 간 기술융합은 시간에 따라 어떻게 변화해 왔는가"입니다.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번째는 융합의 중심 변화입니다. 하이브리드 본딩의 핵심은 범프 없이 접합 패드끼리 직접 연결하는 방식입니다. 이 인터페이스가 확정되기 전에는 핵심 기술을 발명하려면 평탄화나 웨이퍼 접합 같은 제조공정 지식을 함께 다루어야 합니다. 그러나 설계가 고착화되면 그 지식은 주어진 조건이 되고, 새로운 결합은 다이를 다루고 패키지로 완성하는 주변 공정에서 일어날 것입니다. 그래서 세 번째 연구 질문은 "공정 단계 간 기술융합의 중심이 핵심 기술과 주변 기술 사이에서 시기에 따라 어떻게 재편되는가"입니다.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분석 대상인 하이브리드 본딩은 기반 공정, 접합 형태, 소자 구조, 적용 제품의 네 층위로 정리할 수 있습니다. 기반 공정은 CPC의 제조공정 클래스인 H01L21에, 접합 형태는 접합·인터커넥트 클래스인 H01L24에 주로 대응합니다. 오른쪽의 실제 공정 흐름을 보면, 다이를 자르기 전까지 증착, 식각, 도금, 연마가 이어지는데 모두 전공정의 공정과 장비입니다. 주요 출원인에도 TSMC, Intel, Samsung처럼 파운드리와 메모리 기업이 함께 들어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분석 자료는 유럽특허청의 PATSTAT에서 추출했습니다. 먼저 제조공정 분류인 H01L21이나 접합 분류인 H01L24를 가진 출원을 찾고, 그중 제목에 hybrid bonding, direct bonding, Cu–Cu 같은 키워드가 들어간 출원을 골랐습니다. 그 결과 1968년부터 2024년까지 출원된 928건이 선정되었습니다. 오른쪽 그래프처럼 출원은 2010년 이전에는 드물다가 2010년대 후반에 급증하여 2022년에 176건으로 정점에 이르렀습니다. 2023년 이후의 감소는 출원 후 공개까지의 시차 때문일 가능성이 큽니다.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그렇다면 융합은 어떻게 측정했을까요? 특허에는 기술 내용에 따라 CPC 분류 기호가 부여됩니다. 한 특허에 서로 다른 영역의 기호가 함께 붙어 있다면 두 영역의 지식이 하나의 발명 안에서 결합되었다는 흔적으로 볼 수 있습니다. 실제 출원 세 건을 보시면, 왼쪽은 제조공정 기호만 가진 공정 단독형, 가운데는 제조공정 기호와 접합 기호를 함께 가진 통합형, 오른쪽은 접합 기호만 가진 접합 단독형입니다. 가운데의 통합형이 공정 단계의 경계를 넘는 특허입니다. 다만 이것은 대리측정치이며, 법적 청구범위를 측정한 것은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연구 질문을 분석하려면 무엇이 핵심 기술인지 먼저 정해야 합니다. 기술 클러스터 분석으로 200건 이상의 출원에 공통으로 부여된 기호를 찾고, 기술 네트워크 분석으로 기호 사이의 연결 구조를 확인했습니다. 그 결과 접합 패드에 관한 네 기호, 즉 24/03, 24/05, 24/08, 24/80이 가장 많이 부여되면서 서로 가장 강하게 연결된 기호로 나타났습니다. 이 네 기호를 핵심 기술로 정의했고, 접합 기호를 가진 출원 763건 가운데 81.3%가 핵심 기술을 포함하고 있었습니다.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분석 방법은 세 가지 회귀모형입니다. 주모형은 다항 로짓으로, 출원이 세 유형 중 어디에 속하는지를 기술범위와 출원연도로 설명합니다. 기술범위는 두 클래스 안에서 출원이 가진 세부 분류 기호의 수입니다. 보완분석으로 제조공정 분류 보유 여부의 이항 로짓을, 세 번째 질문을 위해 접합 출원 763건에서 핵심 기술과 출원 시기의 상호작용을 보는 이항 로짓을 사용했습니다. 여기에 Jaccard 계수와 매개 중심성을 보조 지표로 썼습니다.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연구 결과입니다. 첫 번째 연구 질문의 결과, 928건 가운데 가장 많은 유형은 통합형으로 45.8%였고, 패키징 단계 공정을 뺀 좁은 정의에서도 37.2%였습니다. 공정 단계 간 융합은 예외가 아니었습니다. 그렇다면 어떤 특허가 경계를 넘었을까요? 세부 분류가 하나 늘 때마다 통합형일 상대위험이 40% 높아져, 기술범위 3에서 0.26이던 예측확률이 8에서는 0.68이 되었습니다. 통합형은 정의상 기호가 두 개 이상이라는 기계적 측면이 있어 이를 조정한 지표로도 확인했는데, 방향은 유지되었습니다.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연구 질문의 결과입니다. 출원을 세 시기로 나누어 보았습니다. 2014년 이전 47년간의 출원이 179건으로 이후 5년간의 209건보다 적을 만큼 드물었기 때문에 하나의 시기로 묶었습니다. 2014년 이전에는 공정 단독형이 43.6%로 가장 많았고, 2015년부터 2019년까지는 통합형이 62.2%로 정점에 이르렀으며, 2020년 이후에는 통합형이 44.3%로 낮아지고 접합 단독형이 45.4%까지 늘었습니다. 저는 이 세 국면을 형성기, 확산기, 재편기라고 이름 붙였습니다. 융합은 계속 늘어난 것이 아니라 오르내렸습니다.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회귀분석에서도 같은 흐름이 확인되었습니다. 출원연도가 1년 늦어질 때마다 접합 단독형 대비 공정 단독형의 상대위험은 약 8.7%씩 감소했습니다. 2010년 출원과 2022년 출원을 비교하면 공정 단독형 예측확률은 0.27에서 0.12로 줄고, 접합 단독형은 0.31에서 0.40으로 늘었습니다. 출원의 무게중심이 제조공정에서 접합 쪽으로 이동한 것입니다. 한편 기술범위가 넓을수록 통합형이 되는 경향은 세 국면 모두에서 유지되었습니다.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연구 질문의 결과입니다. 핵심 기술을 포함한 접합 출원은 형성기에 79.6%가 통합형이었지만, 핵심 기술이 없는 출원은 27.7%에 그쳤습니다. 출원청을 통제한 승산비는 11.1이었습니다. 그런데 이 우위는 확산기에 2.5로 줄었고, 재편기에는 0.66으로 유의한 차이가 확인되지 않았습니다. 그사이 접합 출원 가운데 핵심 기술을 포함한 비중은 53.5%에서 88.0%로 높아졌습니다. 발명이 하나의 핵심 설계로 수렴하면서, 그 핵심을 다루는 발명이 다른 접합 발명보다 제조공정 지식을 더 자주 담지는 않게 된 것으로 해석됩니다.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그렇다면 융합은 어디로 옮겨 갔을까요? 접합 기호와 함께 부여되는 정도를 제조공정 영역별로 보면, 웨이퍼 제조공정은 확산기 0.598에서 재편기 0.159로 크게 낮아진 반면, 공정 장치와 패키징 단계 공정은 꾸준히 높아졌습니다. 기술 네트워크에서도 핵심 기호는 세 시기 내내 허브의 자리를 지켰지만, 접합과 제조공정을 잇는 연결 기호는 웨이퍼 제조공정에서 공정 장치로 바뀌었습니다. 핵심 기술과 함께 부여된 공정도 반도체 몸체끼리의 접합에서 임시 기판을 이용한 다이 지지와 봉지 공정으로 바뀌었습니다.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결과가 표본이나 정의에 따라 달라지는지도 확인했습니다. 같은 제목의 출원을 군집으로 본 표준오차, 같은 제목의 중복을 제거한 표본, 패키징 단계 공정을 제외한 좁은 정의, 검색어가 다른 뜻으로 쓰인 68건을 제외한 표본, 제목에 hybrid bonding이 들어간 467건 표본 등으로 다시 추정했습니다. 첫 번째와 세 번째 연구 질문의 핵심 결과는 모든 재추정에서 유지되었고, 두 번째 질문의 시간 추세는 2014년 이전 출원이 30건뿐인 hybrid bonding 표본을 제외하고 모두 유지되었습니다.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결과를 하나의 그림으로 정리하면 이렇습니다. 형성기에는 제조공정 발명이 단독으로 많이 출원되며 접합에 필요한 지식이 쌓였고, 확산기에는 두 영역의 지식이 하나의 발명 안에서 결합되며 통합형이 정점에 이르렀으며, 재편기에는 핵심 설계가 고착화되면서 결합의 중심이 다이 지지와 봉지 같은 주변 공정으로 옮겨 갔습니다. 이론에서 말씀드린 지식 융합, 기술 융합, 응용 융합의 흐름과 맞닿아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연구 결과를 종합해 보면, 첫째, 기술융합은 서로 다른 산업 사이뿐 아니라 한 산업의 공정 단계 사이에서도 개별 발명으로 나타났습니다. 둘째, 그 융합은 한 방향으로 쌓이지 않고 형성, 확산, 재편의 국면을 거쳤습니다. 셋째, 핵심 설계가 고착화되면서 융합의 중심이 핵심 기술에서 주변 공정으로 이동했습니다. 특히 재편기에 연결 역할을 한 기호가 공정 장치로 바뀐 것은, 공정 지식의 수렴이 공작기계라는 장비를 매개로 확산되었다는 Rosenberg의 관찰과도 맥을 같이합니다. 이것이 이 연구에서 가장 핵심이 되는 발견이라고 생각합니다.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실무적으로는 두 가지 시사점이 있습니다. 첫째, 상당수의 출원이 제조공정과 접합 기술을 함께 담고 있다는 것은 접합 기술 역량만으로는 충분하지 않고 평탄화, 오염 제어, 표면 화학, 정렬을 아우르는 인접 공정 지식이 중요해질 수 있음을 뜻합니다. 둘째, 재편기에는 경쟁의 초점이 핵심 원리에서 다이 단위 공정과의 결합으로 옮겨 가고 있을 가능성이 있습니다. 차세대 HBM에는 얇은 다이를 다루고 적층하는 공정 역량까지 필요할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한계도 있습니다. 첫째, 공동분류는 대리측정치이고 CPC가 소급 재분류될 수 있어 시간적 변화의 일부는 분류 체계의 변화를 반영했을 수 있습니다. 둘째, 제목 키워드 검색이라 관련어가 없는 출원은 빠졌습니다. 셋째, 패밀리 정보가 없어 같은 제목으로 중복을 근사했습니다. 넷째, 결과는 인과가 아닌 조건부 연관입니다. 향후에는 출원인과 패밀리 정보를 결합하고, 다른 공정기술과 비교하여 세 국면의 일반성을 검증하고자 합니다.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이상으로 발표를 마치겠습니다. 경청해 주셔서 감사합니다. 질문 주시면 성실히 답변드리겠습니다.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검색 전략과 표본의 특성을 묻는 질문에 쓰는 슬라이드입니다. 1차로 CPC 두 클래스, 2차로 제목 키워드를 적용했고, hybrid bonding 표본 467건, 무관 용법 68건, 동일 제목 473개를 강건성 검증에 사용했습니다.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변수 정의를 묻는 질문에 쓰는 슬라이드입니다. 기술범위는 평균 5.69개이며, 통합형 7.89개, 접합 단독형 4.16개, 공정 단독형 3.15개입니다. 유형 최소치 조정 범위는 탐색적 강건성 지표로만 사용했습니다.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기술의 근거를 묻는 질문에 쓰는 슬라이드입니다. 클러스터 상위 기호와 네트워크의 가장 강한 기호 쌍이 모두 접합 패드와 직접 접합 기호로 이루어져 있습니다. 인덱싱 코드는 회귀 자료에 없으므로 핵심 기술은 회귀 자료의 H01L24 기호 네 개로 정의했습니다.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회귀 결과의 세부를 묻는 질문에 쓰는 슬라이드입니다. 이항 로짓의 AUC는 0.707로 수용 가능한 수준의 하단이며, 다항 로짓의 McFadden 의사 R²는 0.192입니다.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기술 모형의 세부입니다. 두 상호작용의 결합 Wald 검정은 χ²(2) 26.43으로 유의합니다. 변화는 핵심 기술을 포함한 출원에서 비롯되었고, 핵심 기술이 없는 접합 출원의 통합형 비중은 오히려 높아졌습니다.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다항 로짓 재추정의 세부입니다. 군집 표준오차에서 유의성을 잃은 계수는 기술범위가 공정 단독형에 미치는 효과 하나뿐이며, 유형 최소치 조정 범위를 쓰면 통합형의 상대위험비는 1.262로 줄지만 방향은 유지됩니다.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기술 모형 재추정의 세부입니다. 2014년 이전 승산비가 1보다 크고, 2020–2024년 승산비가 1과 유의하게 다르지 않으며, 그 차이가 유의하게 1보다 작다는 결과는 일곱 가지 추정에서 모두 유지되었습니다. 가장 약한 경우는 무관 용법 제외 표본입니다.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본문(머리글)">
    <p:spTree>
      <p:nvGrpSpPr>
        <p:cNvPr id="1" name=""/>
        <p:cNvGrpSpPr/>
        <p:nvPr/>
      </p:nvGrpSpPr>
      <p:grpSpPr>
        <a:xfrm>
          <a:off x="0" y="0"/>
          <a:ext cx="0" cy="0"/>
          <a:chOff x="0" y="0"/>
          <a:chExt cx="0" cy="0"/>
        </a:xfrm>
      </p:grpSpPr>
      <p:sp>
        <p:nvSpPr>
          <p:cNvPr id="2" name="Title 1"/>
          <p:cNvSpPr>
            <a:spLocks noGrp="1"/>
          </p:cNvSpPr>
          <p:nvPr>
            <p:ph type="title"/>
          </p:nvPr>
        </p:nvSpPr>
        <p:spPr>
          <a:xfrm>
            <a:off x="576000" y="144000"/>
            <a:ext cx="9216000" cy="450000"/>
          </a:xfrm>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
        <p:nvSpPr>
          <p:cNvPr id="200" name="Header bar"/>
          <p:cNvSpPr/>
          <p:nvPr/>
        </p:nvSpPr>
        <p:spPr>
          <a:xfrm>
            <a:off x="432000" y="223200"/>
            <a:ext cx="46800" cy="295200"/>
          </a:xfrm>
          <a:prstGeom prst="rect">
            <a:avLst/>
          </a:prstGeom>
          <a:solidFill>
            <a:srgbClr val="13294B"/>
          </a:solidFill>
          <a:ln>
            <a:noFill/>
          </a:ln>
        </p:spPr>
        <p:txBody>
          <a:bodyPr rtlCol="0" anchor="ctr" lIns="36000" rIns="36000" tIns="36000" bIns="36000"/>
          <a:lstStyle/>
          <a:p>
            <a:pPr algn="ctr"/>
          </a:p>
        </p:txBody>
      </p:sp>
      <p:cxnSp>
        <p:nvCxnSpPr>
          <p:cNvPr id="201" name="Connector 2"/>
          <p:cNvCxnSpPr/>
          <p:nvPr/>
        </p:nvCxnSpPr>
        <p:spPr>
          <a:xfrm>
            <a:off x="0" y="691200"/>
            <a:ext cx="12192120" cy="0"/>
          </a:xfrm>
          <a:prstGeom prst="line">
            <a:avLst/>
          </a:prstGeom>
          <a:ln w="9525">
            <a:solidFill>
              <a:srgbClr val="D5DBE3"/>
            </a:solidFill>
          </a:ln>
        </p:spPr>
      </p:cxnSp>
      <p:sp>
        <p:nvSpPr>
          <p:cNvPr id="202" name="Footer"/>
          <p:cNvSpPr txBox="1"/>
          <p:nvPr/>
        </p:nvSpPr>
        <p:spPr>
          <a:xfrm>
            <a:off x="540000" y="6570000"/>
            <a:ext cx="4320000" cy="216000"/>
          </a:xfrm>
          <a:prstGeom prst="rect">
            <a:avLst/>
          </a:prstGeom>
          <a:noFill/>
        </p:spPr>
        <p:txBody>
          <a:bodyPr wrap="square" lIns="0" rIns="0" tIns="0" bIns="0" anchor="ctr">
            <a:noAutofit/>
          </a:bodyPr>
          <a:lstStyle/>
          <a:p>
            <a:pPr algn="l"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이형규 · 석사학위논문 심사</a:t>
            </a:r>
          </a:p>
        </p:txBody>
      </p:sp>
      <p:sp>
        <p:nvSpPr>
          <p:cNvPr id="203" name="Page number"/>
          <p:cNvSpPr txBox="1"/>
          <p:nvPr/>
        </p:nvSpPr>
        <p:spPr>
          <a:xfrm>
            <a:off x="11016000" y="6570000"/>
            <a:ext cx="936000" cy="216000"/>
          </a:xfrm>
          <a:prstGeom prst="rect">
            <a:avLst/>
          </a:prstGeom>
          <a:noFill/>
        </p:spPr>
        <p:txBody>
          <a:bodyPr wrap="square" lIns="0" rIns="0" tIns="0" bIns="0" anchor="ctr">
            <a:noAutofit/>
          </a:bodyPr>
          <a:lstStyle/>
          <a:p>
            <a:pPr algn="r" marL="0" indent="0">
              <a:lnSpc>
                <a:spcPts val="1200"/>
              </a:lnSpc>
              <a:spcBef>
                <a:spcPts val="0"/>
              </a:spcBef>
              <a:spcAft>
                <a:spcPts val="0"/>
              </a:spcAft>
              <a:buNone/>
            </a:pPr>
            <a:fld id="{B6F15528-21DE-4FAA-801E-634DDDAF4B2B}" type="slidenum">
              <a:rPr sz="1000" b="0" i="0" lang="ko-KR" altLang="en-US">
                <a:solidFill>
                  <a:srgbClr val="5B6475"/>
                </a:solidFill>
                <a:latin typeface="맑은 고딕"/>
                <a:ea typeface="맑은 고딕"/>
                <a:cs typeface="맑은 고딕"/>
              </a:rPr>
              <a:t>‹#›</a:t>
            </a:fld>
          </a:p>
        </p:txBody>
      </p:sp>
      <p:pic>
        <p:nvPicPr>
          <p:cNvPr id="204" name="Emblem" descr="emblem.png"/>
          <p:cNvPicPr>
            <a:picLocks noChangeAspect="1"/>
          </p:cNvPicPr>
          <p:nvPr/>
        </p:nvPicPr>
        <p:blipFill>
          <a:blip r:embed="rId2"/>
          <a:stretch>
            <a:fillRect/>
          </a:stretch>
        </p:blipFill>
        <p:spPr>
          <a:xfrm>
            <a:off x="11310120" y="115200"/>
            <a:ext cx="450000" cy="450000"/>
          </a:xfrm>
          <a:prstGeom prst="rect">
            <a:avLst/>
          </a:prstGeom>
        </p:spPr>
      </p:pic>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전체 이미지">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slideLayout" Target="../slideLayouts/slideLayout6.xml"/><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6000" y="144000"/>
            <a:ext cx="9216000" cy="450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540000" y="936000"/>
            <a:ext cx="11112120" cy="50400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540000" y="6570000"/>
            <a:ext cx="2160000" cy="216000"/>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960000" y="6570000"/>
            <a:ext cx="4320000" cy="21600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1016000" y="6570000"/>
            <a:ext cx="936000" cy="216000"/>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54" r:id="rId6"/>
    <p:sldLayoutId id="2147483655" r:id="rId7"/>
  </p:sldLayoutIdLst>
  <p:txStyles>
    <p:titleStyle>
      <a:lvl1pPr algn="l" defTabSz="457200" rtl="0" eaLnBrk="1" latinLnBrk="0" hangingPunct="1">
        <a:spcBef>
          <a:spcPct val="0"/>
        </a:spcBef>
        <a:buNone/>
        <a:defRPr sz="2200" kern="1200" b="1">
          <a:solidFill>
            <a:schemeClr val="tx2"/>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8.png"/><Relationship Id="rId8"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chart" Target="../charts/char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2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chart" Target="../charts/chart2.xml"/><Relationship Id="rId4" Type="http://schemas.openxmlformats.org/officeDocument/2006/relationships/chart" Target="../charts/char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chart" Target="../charts/char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chart" Target="../charts/char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chart" Target="../charts/char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 Id="rId3" Type="http://schemas.openxmlformats.org/officeDocument/2006/relationships/image" Target="../media/image23.png"/><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7.png"/><Relationship Id="rId7" Type="http://schemas.openxmlformats.org/officeDocument/2006/relationships/image" Target="../media/image28.png"/><Relationship Id="rId8" Type="http://schemas.openxmlformats.org/officeDocument/2006/relationships/image" Target="../media/image29.png"/><Relationship Id="rId9" Type="http://schemas.openxmlformats.org/officeDocument/2006/relationships/image" Target="../media/image3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image" descr="wafer.png"/>
          <p:cNvPicPr>
            <a:picLocks noChangeAspect="1"/>
          </p:cNvPicPr>
          <p:nvPr/>
        </p:nvPicPr>
        <p:blipFill>
          <a:blip r:embed="rId2"/>
          <a:stretch>
            <a:fillRect/>
          </a:stretch>
        </p:blipFill>
        <p:spPr>
          <a:xfrm>
            <a:off x="0" y="0"/>
            <a:ext cx="12192120" cy="6858000"/>
          </a:xfrm>
          <a:prstGeom prst="rect">
            <a:avLst/>
          </a:prstGeom>
        </p:spPr>
      </p:pic>
      <p:sp>
        <p:nvSpPr>
          <p:cNvPr id="3" name="Rectangle 2"/>
          <p:cNvSpPr/>
          <p:nvPr/>
        </p:nvSpPr>
        <p:spPr>
          <a:xfrm>
            <a:off x="4752000" y="0"/>
            <a:ext cx="7440120" cy="6858000"/>
          </a:xfrm>
          <a:prstGeom prst="rect">
            <a:avLst/>
          </a:prstGeom>
          <a:solidFill>
            <a:srgbClr val="060810">
              <a:alpha val="80000"/>
            </a:srgbClr>
          </a:solidFill>
          <a:ln>
            <a:noFill/>
          </a:ln>
        </p:spPr>
        <p:txBody>
          <a:bodyPr rtlCol="0" anchor="ctr" lIns="36000" rIns="36000" tIns="36000" bIns="36000"/>
          <a:lstStyle/>
          <a:p>
            <a:pPr algn="ctr"/>
          </a:p>
        </p:txBody>
      </p:sp>
      <p:sp>
        <p:nvSpPr>
          <p:cNvPr id="4" name="Rounded Rectangle 3"/>
          <p:cNvSpPr/>
          <p:nvPr/>
        </p:nvSpPr>
        <p:spPr>
          <a:xfrm>
            <a:off x="5400000" y="792000"/>
            <a:ext cx="2016000" cy="342000"/>
          </a:xfrm>
          <a:prstGeom prst="roundRect">
            <a:avLst>
              <a:gd name="adj" fmla="val 50000"/>
            </a:avLst>
          </a:prstGeom>
          <a:noFill/>
          <a:ln w="12700">
            <a:solidFill>
              <a:srgbClr val="C9A227"/>
            </a:solidFill>
          </a:ln>
        </p:spPr>
        <p:txBody>
          <a:bodyPr rtlCol="0" anchor="ctr" lIns="28800" rIns="28800" tIns="18000" bIns="18000" wrap="square">
            <a:noAutofit/>
          </a:bodyPr>
          <a:lstStyle/>
          <a:p>
            <a:pPr algn="ctr" marL="0" indent="0">
              <a:lnSpc>
                <a:spcPts val="1560"/>
              </a:lnSpc>
              <a:spcBef>
                <a:spcPts val="0"/>
              </a:spcBef>
              <a:spcAft>
                <a:spcPts val="0"/>
              </a:spcAft>
              <a:buNone/>
            </a:pPr>
            <a:r>
              <a:rPr sz="1300" b="1" i="0" lang="ko-KR" altLang="en-US">
                <a:solidFill>
                  <a:srgbClr val="C9A227"/>
                </a:solidFill>
                <a:latin typeface="맑은 고딕"/>
                <a:ea typeface="맑은 고딕"/>
                <a:cs typeface="맑은 고딕"/>
              </a:rPr>
              <a:t>석사학위논문 심사 발표</a:t>
            </a:r>
          </a:p>
        </p:txBody>
      </p:sp>
      <p:sp>
        <p:nvSpPr>
          <p:cNvPr id="5" name="TextBox 4"/>
          <p:cNvSpPr txBox="1"/>
          <p:nvPr/>
        </p:nvSpPr>
        <p:spPr>
          <a:xfrm>
            <a:off x="5400000" y="1332000"/>
            <a:ext cx="6336000" cy="1944000"/>
          </a:xfrm>
          <a:prstGeom prst="rect">
            <a:avLst/>
          </a:prstGeom>
          <a:noFill/>
        </p:spPr>
        <p:txBody>
          <a:bodyPr wrap="square" lIns="0" rIns="0" tIns="0" bIns="0" anchor="t">
            <a:noAutofit/>
          </a:bodyPr>
          <a:lstStyle/>
          <a:p>
            <a:pPr algn="l" marL="0" indent="0">
              <a:lnSpc>
                <a:spcPts val="4029"/>
              </a:lnSpc>
              <a:spcBef>
                <a:spcPts val="0"/>
              </a:spcBef>
              <a:spcAft>
                <a:spcPts val="0"/>
              </a:spcAft>
              <a:buNone/>
            </a:pPr>
            <a:r>
              <a:rPr sz="3200" b="1" i="0" lang="ko-KR" altLang="en-US">
                <a:solidFill>
                  <a:srgbClr val="FFFFFF"/>
                </a:solidFill>
                <a:latin typeface="맑은 고딕"/>
                <a:ea typeface="맑은 고딕"/>
                <a:cs typeface="맑은 고딕"/>
              </a:rPr>
              <a:t>반도체 하이브리드 본딩의</a:t>
            </a:r>
          </a:p>
          <a:p>
            <a:pPr algn="l" marL="0" indent="0">
              <a:lnSpc>
                <a:spcPts val="4029"/>
              </a:lnSpc>
              <a:spcBef>
                <a:spcPts val="0"/>
              </a:spcBef>
              <a:spcAft>
                <a:spcPts val="0"/>
              </a:spcAft>
              <a:buNone/>
            </a:pPr>
            <a:r>
              <a:rPr sz="3200" b="1" i="0" lang="ko-KR" altLang="en-US">
                <a:solidFill>
                  <a:srgbClr val="C5B5FF"/>
                </a:solidFill>
                <a:latin typeface="맑은 고딕"/>
                <a:ea typeface="맑은 고딕"/>
                <a:cs typeface="맑은 고딕"/>
              </a:rPr>
              <a:t>공정 단계 간 기술융합</a:t>
            </a:r>
          </a:p>
          <a:p>
            <a:pPr algn="l" marL="0" indent="0">
              <a:lnSpc>
                <a:spcPts val="4029"/>
              </a:lnSpc>
              <a:spcBef>
                <a:spcPts val="0"/>
              </a:spcBef>
              <a:spcAft>
                <a:spcPts val="0"/>
              </a:spcAft>
              <a:buNone/>
            </a:pPr>
            <a:r>
              <a:rPr sz="3200" b="1" i="0" lang="ko-KR" altLang="en-US">
                <a:solidFill>
                  <a:srgbClr val="FFFFFF"/>
                </a:solidFill>
                <a:latin typeface="맑은 고딕"/>
                <a:ea typeface="맑은 고딕"/>
                <a:cs typeface="맑은 고딕"/>
              </a:rPr>
              <a:t>: 특허 기반 종단 분석</a:t>
            </a:r>
          </a:p>
        </p:txBody>
      </p:sp>
      <p:sp>
        <p:nvSpPr>
          <p:cNvPr id="6" name="TextBox 5"/>
          <p:cNvSpPr txBox="1"/>
          <p:nvPr/>
        </p:nvSpPr>
        <p:spPr>
          <a:xfrm>
            <a:off x="5400000" y="3330000"/>
            <a:ext cx="6264000" cy="576000"/>
          </a:xfrm>
          <a:prstGeom prst="rect">
            <a:avLst/>
          </a:prstGeom>
          <a:noFill/>
        </p:spPr>
        <p:txBody>
          <a:bodyPr wrap="square" lIns="0" rIns="0" tIns="0" bIns="0" anchor="t">
            <a:noAutofit/>
          </a:bodyPr>
          <a:lstStyle/>
          <a:p>
            <a:pPr algn="l" marL="0" indent="0">
              <a:lnSpc>
                <a:spcPts val="1720"/>
              </a:lnSpc>
              <a:spcBef>
                <a:spcPts val="0"/>
              </a:spcBef>
              <a:spcAft>
                <a:spcPts val="0"/>
              </a:spcAft>
              <a:buNone/>
            </a:pPr>
            <a:r>
              <a:rPr sz="1300" b="0" i="1" lang="ko-KR" altLang="en-US">
                <a:solidFill>
                  <a:srgbClr val="B9C6DD"/>
                </a:solidFill>
                <a:latin typeface="맑은 고딕"/>
                <a:ea typeface="맑은 고딕"/>
                <a:cs typeface="맑은 고딕"/>
              </a:rPr>
              <a:t>Cross-Stage Technology Convergence in Semiconductor Hybrid Bonding: A Patent-Based Longitudinal Analysis</a:t>
            </a:r>
          </a:p>
        </p:txBody>
      </p:sp>
      <p:cxnSp>
        <p:nvCxnSpPr>
          <p:cNvPr id="7" name="Connector 6"/>
          <p:cNvCxnSpPr/>
          <p:nvPr/>
        </p:nvCxnSpPr>
        <p:spPr>
          <a:xfrm>
            <a:off x="5400000" y="4104000"/>
            <a:ext cx="6048000" cy="0"/>
          </a:xfrm>
          <a:prstGeom prst="line">
            <a:avLst/>
          </a:prstGeom>
          <a:ln w="12700">
            <a:solidFill>
              <a:srgbClr val="4A5670"/>
            </a:solidFill>
          </a:ln>
        </p:spPr>
      </p:cxnSp>
      <p:sp>
        <p:nvSpPr>
          <p:cNvPr id="8" name="TextBox 7"/>
          <p:cNvSpPr txBox="1"/>
          <p:nvPr/>
        </p:nvSpPr>
        <p:spPr>
          <a:xfrm>
            <a:off x="5400000" y="4248000"/>
            <a:ext cx="6264000" cy="1656000"/>
          </a:xfrm>
          <a:prstGeom prst="rect">
            <a:avLst/>
          </a:prstGeom>
          <a:noFill/>
        </p:spPr>
        <p:txBody>
          <a:bodyPr wrap="square" lIns="0" rIns="0" tIns="0" bIns="0" anchor="t">
            <a:noAutofit/>
          </a:bodyPr>
          <a:lstStyle/>
          <a:p>
            <a:pPr algn="l" marL="0" indent="0">
              <a:lnSpc>
                <a:spcPts val="2640"/>
              </a:lnSpc>
              <a:spcBef>
                <a:spcPts val="0"/>
              </a:spcBef>
              <a:spcAft>
                <a:spcPts val="600"/>
              </a:spcAft>
              <a:buNone/>
            </a:pPr>
            <a:r>
              <a:rPr sz="2200" b="1" i="0" lang="ko-KR" altLang="en-US">
                <a:solidFill>
                  <a:srgbClr val="FFFFFF"/>
                </a:solidFill>
                <a:latin typeface="맑은 고딕"/>
                <a:ea typeface="맑은 고딕"/>
                <a:cs typeface="맑은 고딕"/>
              </a:rPr>
              <a:t>이형규</a:t>
            </a:r>
          </a:p>
          <a:p>
            <a:pPr algn="l" marL="0" indent="0">
              <a:lnSpc>
                <a:spcPts val="1680"/>
              </a:lnSpc>
              <a:spcBef>
                <a:spcPts val="0"/>
              </a:spcBef>
              <a:spcAft>
                <a:spcPts val="300"/>
              </a:spcAft>
              <a:buNone/>
            </a:pPr>
            <a:r>
              <a:rPr sz="1400" b="0" i="0" lang="ko-KR" altLang="en-US">
                <a:solidFill>
                  <a:srgbClr val="DCE3EE"/>
                </a:solidFill>
                <a:latin typeface="맑은 고딕"/>
                <a:ea typeface="맑은 고딕"/>
                <a:cs typeface="맑은 고딕"/>
              </a:rPr>
              <a:t>한양대학교 기술경영전문대학원 기술경영학과</a:t>
            </a:r>
          </a:p>
          <a:p>
            <a:pPr algn="l" marL="0" indent="0">
              <a:lnSpc>
                <a:spcPts val="1680"/>
              </a:lnSpc>
              <a:spcBef>
                <a:spcPts val="0"/>
              </a:spcBef>
              <a:spcAft>
                <a:spcPts val="300"/>
              </a:spcAft>
              <a:buNone/>
            </a:pPr>
            <a:r>
              <a:rPr sz="1400" b="0" i="0" lang="ko-KR" altLang="en-US">
                <a:solidFill>
                  <a:srgbClr val="DCE3EE"/>
                </a:solidFill>
                <a:latin typeface="맑은 고딕"/>
                <a:ea typeface="맑은 고딕"/>
                <a:cs typeface="맑은 고딕"/>
              </a:rPr>
              <a:t>지도교수  강민구</a:t>
            </a:r>
          </a:p>
          <a:p>
            <a:pPr algn="l" marL="0" indent="0">
              <a:lnSpc>
                <a:spcPts val="1680"/>
              </a:lnSpc>
              <a:spcBef>
                <a:spcPts val="0"/>
              </a:spcBef>
              <a:spcAft>
                <a:spcPts val="0"/>
              </a:spcAft>
              <a:buNone/>
            </a:pPr>
            <a:r>
              <a:rPr sz="1400" b="0" i="0" lang="ko-KR" altLang="en-US">
                <a:solidFill>
                  <a:srgbClr val="DCE3EE"/>
                </a:solidFill>
                <a:latin typeface="맑은 고딕"/>
                <a:ea typeface="맑은 고딕"/>
                <a:cs typeface="맑은 고딕"/>
              </a:rPr>
              <a:t>2026년 11월</a:t>
            </a:r>
          </a:p>
        </p:txBody>
      </p:sp>
      <p:pic>
        <p:nvPicPr>
          <p:cNvPr id="9" name="Picture 8" descr="emblem.png"/>
          <p:cNvPicPr>
            <a:picLocks noChangeAspect="1"/>
          </p:cNvPicPr>
          <p:nvPr/>
        </p:nvPicPr>
        <p:blipFill>
          <a:blip r:embed="rId4"/>
          <a:stretch>
            <a:fillRect/>
          </a:stretch>
        </p:blipFill>
        <p:spPr>
          <a:xfrm>
            <a:off x="11148120" y="5814000"/>
            <a:ext cx="576000" cy="576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2200" b="1" i="0" lang="ko-KR" altLang="en-US">
                <a:solidFill>
                  <a:srgbClr val="13294B"/>
                </a:solidFill>
                <a:latin typeface="맑은 고딕"/>
                <a:ea typeface="맑은 고딕"/>
                <a:cs typeface="맑은 고딕"/>
              </a:rPr>
              <a:t>Contents</a:t>
            </a:r>
          </a:p>
        </p:txBody>
      </p:sp>
      <p:sp>
        <p:nvSpPr>
          <p:cNvPr id="3" name="Rounded Rectangle 2"/>
          <p:cNvSpPr/>
          <p:nvPr/>
        </p:nvSpPr>
        <p:spPr>
          <a:xfrm>
            <a:off x="537660" y="1404000"/>
            <a:ext cx="2016000" cy="4104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4" name="TextBox 3"/>
          <p:cNvSpPr txBox="1"/>
          <p:nvPr/>
        </p:nvSpPr>
        <p:spPr>
          <a:xfrm>
            <a:off x="537660" y="1656000"/>
            <a:ext cx="2016000" cy="576000"/>
          </a:xfrm>
          <a:prstGeom prst="rect">
            <a:avLst/>
          </a:prstGeom>
          <a:noFill/>
        </p:spPr>
        <p:txBody>
          <a:bodyPr wrap="square" lIns="0" rIns="0" tIns="0" bIns="0" anchor="ctr">
            <a:noAutofit/>
          </a:bodyPr>
          <a:lstStyle/>
          <a:p>
            <a:pPr algn="ctr" marL="0" indent="0">
              <a:lnSpc>
                <a:spcPts val="4320"/>
              </a:lnSpc>
              <a:spcBef>
                <a:spcPts val="0"/>
              </a:spcBef>
              <a:spcAft>
                <a:spcPts val="0"/>
              </a:spcAft>
              <a:buNone/>
            </a:pPr>
            <a:r>
              <a:rPr sz="3600" b="1" i="0" lang="ko-KR" altLang="en-US">
                <a:solidFill>
                  <a:srgbClr val="13294B"/>
                </a:solidFill>
                <a:latin typeface="맑은 고딕"/>
                <a:ea typeface="맑은 고딕"/>
                <a:cs typeface="맑은 고딕"/>
              </a:rPr>
              <a:t>01</a:t>
            </a:r>
          </a:p>
        </p:txBody>
      </p:sp>
      <p:sp>
        <p:nvSpPr>
          <p:cNvPr id="5" name="Oval 4"/>
          <p:cNvSpPr/>
          <p:nvPr/>
        </p:nvSpPr>
        <p:spPr>
          <a:xfrm>
            <a:off x="1113660" y="2484000"/>
            <a:ext cx="864000" cy="864000"/>
          </a:xfrm>
          <a:prstGeom prst="ellipse">
            <a:avLst/>
          </a:prstGeom>
          <a:solidFill>
            <a:srgbClr val="13294B"/>
          </a:solidFill>
          <a:ln>
            <a:noFill/>
          </a:ln>
        </p:spPr>
        <p:txBody>
          <a:bodyPr rtlCol="0" anchor="ctr" lIns="36000" rIns="36000" tIns="36000" bIns="36000"/>
          <a:lstStyle/>
          <a:p>
            <a:pPr algn="ctr"/>
          </a:p>
        </p:txBody>
      </p:sp>
      <p:pic>
        <p:nvPicPr>
          <p:cNvPr id="6" name="Picture 5" descr="FaLightbulb_FFFFFF.png"/>
          <p:cNvPicPr>
            <a:picLocks noChangeAspect="1"/>
          </p:cNvPicPr>
          <p:nvPr/>
        </p:nvPicPr>
        <p:blipFill>
          <a:blip r:embed="rId3"/>
          <a:stretch>
            <a:fillRect/>
          </a:stretch>
        </p:blipFill>
        <p:spPr>
          <a:xfrm>
            <a:off x="1329660" y="2700000"/>
            <a:ext cx="432000" cy="432000"/>
          </a:xfrm>
          <a:prstGeom prst="rect">
            <a:avLst/>
          </a:prstGeom>
        </p:spPr>
      </p:pic>
      <p:sp>
        <p:nvSpPr>
          <p:cNvPr id="7" name="TextBox 6"/>
          <p:cNvSpPr txBox="1"/>
          <p:nvPr/>
        </p:nvSpPr>
        <p:spPr>
          <a:xfrm>
            <a:off x="645660" y="3600000"/>
            <a:ext cx="1800000" cy="864000"/>
          </a:xfrm>
          <a:prstGeom prst="rect">
            <a:avLst/>
          </a:prstGeom>
          <a:noFill/>
        </p:spPr>
        <p:txBody>
          <a:bodyPr wrap="square" lIns="0" rIns="0" tIns="0" bIns="0" anchor="ctr">
            <a:noAutofit/>
          </a:bodyPr>
          <a:lstStyle/>
          <a:p>
            <a:pPr algn="ctr" marL="0" indent="0">
              <a:lnSpc>
                <a:spcPts val="2140"/>
              </a:lnSpc>
              <a:spcBef>
                <a:spcPts val="0"/>
              </a:spcBef>
              <a:spcAft>
                <a:spcPts val="0"/>
              </a:spcAft>
              <a:buNone/>
            </a:pPr>
            <a:r>
              <a:rPr sz="1700" b="1" i="0" lang="ko-KR" altLang="en-US">
                <a:solidFill>
                  <a:srgbClr val="13294B"/>
                </a:solidFill>
                <a:latin typeface="맑은 고딕"/>
                <a:ea typeface="맑은 고딕"/>
                <a:cs typeface="맑은 고딕"/>
              </a:rPr>
              <a:t>서론</a:t>
            </a:r>
          </a:p>
        </p:txBody>
      </p:sp>
      <p:sp>
        <p:nvSpPr>
          <p:cNvPr id="8" name="TextBox 7"/>
          <p:cNvSpPr txBox="1"/>
          <p:nvPr/>
        </p:nvSpPr>
        <p:spPr>
          <a:xfrm>
            <a:off x="645660" y="4536000"/>
            <a:ext cx="1800000" cy="576000"/>
          </a:xfrm>
          <a:prstGeom prst="rect">
            <a:avLst/>
          </a:prstGeom>
          <a:noFill/>
        </p:spPr>
        <p:txBody>
          <a:bodyPr wrap="square" lIns="0" rIns="0" tIns="0" bIns="0" anchor="t">
            <a:noAutofit/>
          </a:bodyPr>
          <a:lstStyle/>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Introduction</a:t>
            </a:r>
          </a:p>
        </p:txBody>
      </p:sp>
      <p:sp>
        <p:nvSpPr>
          <p:cNvPr id="9" name="Rounded Rectangle 8"/>
          <p:cNvSpPr/>
          <p:nvPr/>
        </p:nvSpPr>
        <p:spPr>
          <a:xfrm>
            <a:off x="2812860" y="1404000"/>
            <a:ext cx="2016000" cy="4104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0" name="TextBox 9"/>
          <p:cNvSpPr txBox="1"/>
          <p:nvPr/>
        </p:nvSpPr>
        <p:spPr>
          <a:xfrm>
            <a:off x="2812860" y="1656000"/>
            <a:ext cx="2016000" cy="576000"/>
          </a:xfrm>
          <a:prstGeom prst="rect">
            <a:avLst/>
          </a:prstGeom>
          <a:noFill/>
        </p:spPr>
        <p:txBody>
          <a:bodyPr wrap="square" lIns="0" rIns="0" tIns="0" bIns="0" anchor="ctr">
            <a:noAutofit/>
          </a:bodyPr>
          <a:lstStyle/>
          <a:p>
            <a:pPr algn="ctr" marL="0" indent="0">
              <a:lnSpc>
                <a:spcPts val="4320"/>
              </a:lnSpc>
              <a:spcBef>
                <a:spcPts val="0"/>
              </a:spcBef>
              <a:spcAft>
                <a:spcPts val="0"/>
              </a:spcAft>
              <a:buNone/>
            </a:pPr>
            <a:r>
              <a:rPr sz="3600" b="1" i="0" lang="ko-KR" altLang="en-US">
                <a:solidFill>
                  <a:srgbClr val="13294B"/>
                </a:solidFill>
                <a:latin typeface="맑은 고딕"/>
                <a:ea typeface="맑은 고딕"/>
                <a:cs typeface="맑은 고딕"/>
              </a:rPr>
              <a:t>02</a:t>
            </a:r>
          </a:p>
        </p:txBody>
      </p:sp>
      <p:sp>
        <p:nvSpPr>
          <p:cNvPr id="11" name="Oval 10"/>
          <p:cNvSpPr/>
          <p:nvPr/>
        </p:nvSpPr>
        <p:spPr>
          <a:xfrm>
            <a:off x="3388860" y="2484000"/>
            <a:ext cx="864000" cy="864000"/>
          </a:xfrm>
          <a:prstGeom prst="ellipse">
            <a:avLst/>
          </a:prstGeom>
          <a:solidFill>
            <a:srgbClr val="13294B"/>
          </a:solidFill>
          <a:ln>
            <a:noFill/>
          </a:ln>
        </p:spPr>
        <p:txBody>
          <a:bodyPr rtlCol="0" anchor="ctr" lIns="36000" rIns="36000" tIns="36000" bIns="36000"/>
          <a:lstStyle/>
          <a:p>
            <a:pPr algn="ctr"/>
          </a:p>
        </p:txBody>
      </p:sp>
      <p:pic>
        <p:nvPicPr>
          <p:cNvPr id="12" name="Picture 11" descr="FaBookOpen_FFFFFF.png"/>
          <p:cNvPicPr>
            <a:picLocks noChangeAspect="1"/>
          </p:cNvPicPr>
          <p:nvPr/>
        </p:nvPicPr>
        <p:blipFill>
          <a:blip r:embed="rId4"/>
          <a:stretch>
            <a:fillRect/>
          </a:stretch>
        </p:blipFill>
        <p:spPr>
          <a:xfrm>
            <a:off x="3604860" y="2700000"/>
            <a:ext cx="432000" cy="432000"/>
          </a:xfrm>
          <a:prstGeom prst="rect">
            <a:avLst/>
          </a:prstGeom>
        </p:spPr>
      </p:pic>
      <p:sp>
        <p:nvSpPr>
          <p:cNvPr id="13" name="TextBox 12"/>
          <p:cNvSpPr txBox="1"/>
          <p:nvPr/>
        </p:nvSpPr>
        <p:spPr>
          <a:xfrm>
            <a:off x="2920860" y="3600000"/>
            <a:ext cx="1800000" cy="864000"/>
          </a:xfrm>
          <a:prstGeom prst="rect">
            <a:avLst/>
          </a:prstGeom>
          <a:noFill/>
        </p:spPr>
        <p:txBody>
          <a:bodyPr wrap="square" lIns="0" rIns="0" tIns="0" bIns="0" anchor="ctr">
            <a:noAutofit/>
          </a:bodyPr>
          <a:lstStyle/>
          <a:p>
            <a:pPr algn="ctr" marL="0" indent="0">
              <a:lnSpc>
                <a:spcPts val="2140"/>
              </a:lnSpc>
              <a:spcBef>
                <a:spcPts val="0"/>
              </a:spcBef>
              <a:spcAft>
                <a:spcPts val="0"/>
              </a:spcAft>
              <a:buNone/>
            </a:pPr>
            <a:r>
              <a:rPr sz="1700" b="1" i="0" lang="ko-KR" altLang="en-US">
                <a:solidFill>
                  <a:srgbClr val="13294B"/>
                </a:solidFill>
                <a:latin typeface="맑은 고딕"/>
                <a:ea typeface="맑은 고딕"/>
                <a:cs typeface="맑은 고딕"/>
              </a:rPr>
              <a:t>이론적 배경</a:t>
            </a:r>
          </a:p>
        </p:txBody>
      </p:sp>
      <p:sp>
        <p:nvSpPr>
          <p:cNvPr id="14" name="TextBox 13"/>
          <p:cNvSpPr txBox="1"/>
          <p:nvPr/>
        </p:nvSpPr>
        <p:spPr>
          <a:xfrm>
            <a:off x="2920860" y="4536000"/>
            <a:ext cx="1800000" cy="576000"/>
          </a:xfrm>
          <a:prstGeom prst="rect">
            <a:avLst/>
          </a:prstGeom>
          <a:noFill/>
        </p:spPr>
        <p:txBody>
          <a:bodyPr wrap="square" lIns="0" rIns="0" tIns="0" bIns="0" anchor="t">
            <a:noAutofit/>
          </a:bodyPr>
          <a:lstStyle/>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Theoretical Background</a:t>
            </a:r>
          </a:p>
        </p:txBody>
      </p:sp>
      <p:sp>
        <p:nvSpPr>
          <p:cNvPr id="15" name="Rounded Rectangle 14"/>
          <p:cNvSpPr/>
          <p:nvPr/>
        </p:nvSpPr>
        <p:spPr>
          <a:xfrm>
            <a:off x="5088060" y="1404000"/>
            <a:ext cx="2016000" cy="4104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6" name="TextBox 15"/>
          <p:cNvSpPr txBox="1"/>
          <p:nvPr/>
        </p:nvSpPr>
        <p:spPr>
          <a:xfrm>
            <a:off x="5088060" y="1656000"/>
            <a:ext cx="2016000" cy="576000"/>
          </a:xfrm>
          <a:prstGeom prst="rect">
            <a:avLst/>
          </a:prstGeom>
          <a:noFill/>
        </p:spPr>
        <p:txBody>
          <a:bodyPr wrap="square" lIns="0" rIns="0" tIns="0" bIns="0" anchor="ctr">
            <a:noAutofit/>
          </a:bodyPr>
          <a:lstStyle/>
          <a:p>
            <a:pPr algn="ctr" marL="0" indent="0">
              <a:lnSpc>
                <a:spcPts val="4320"/>
              </a:lnSpc>
              <a:spcBef>
                <a:spcPts val="0"/>
              </a:spcBef>
              <a:spcAft>
                <a:spcPts val="0"/>
              </a:spcAft>
              <a:buNone/>
            </a:pPr>
            <a:r>
              <a:rPr sz="3600" b="1" i="0" lang="ko-KR" altLang="en-US">
                <a:solidFill>
                  <a:srgbClr val="13294B"/>
                </a:solidFill>
                <a:latin typeface="맑은 고딕"/>
                <a:ea typeface="맑은 고딕"/>
                <a:cs typeface="맑은 고딕"/>
              </a:rPr>
              <a:t>03</a:t>
            </a:r>
          </a:p>
        </p:txBody>
      </p:sp>
      <p:sp>
        <p:nvSpPr>
          <p:cNvPr id="17" name="Oval 16"/>
          <p:cNvSpPr/>
          <p:nvPr/>
        </p:nvSpPr>
        <p:spPr>
          <a:xfrm>
            <a:off x="5664060" y="2484000"/>
            <a:ext cx="864000" cy="864000"/>
          </a:xfrm>
          <a:prstGeom prst="ellipse">
            <a:avLst/>
          </a:prstGeom>
          <a:solidFill>
            <a:srgbClr val="13294B"/>
          </a:solidFill>
          <a:ln>
            <a:noFill/>
          </a:ln>
        </p:spPr>
        <p:txBody>
          <a:bodyPr rtlCol="0" anchor="ctr" lIns="36000" rIns="36000" tIns="36000" bIns="36000"/>
          <a:lstStyle/>
          <a:p>
            <a:pPr algn="ctr"/>
          </a:p>
        </p:txBody>
      </p:sp>
      <p:pic>
        <p:nvPicPr>
          <p:cNvPr id="18" name="Picture 17" descr="FaMagnifyingGlass_FFFFFF.png"/>
          <p:cNvPicPr>
            <a:picLocks noChangeAspect="1"/>
          </p:cNvPicPr>
          <p:nvPr/>
        </p:nvPicPr>
        <p:blipFill>
          <a:blip r:embed="rId5"/>
          <a:stretch>
            <a:fillRect/>
          </a:stretch>
        </p:blipFill>
        <p:spPr>
          <a:xfrm>
            <a:off x="5880060" y="2700000"/>
            <a:ext cx="432000" cy="432000"/>
          </a:xfrm>
          <a:prstGeom prst="rect">
            <a:avLst/>
          </a:prstGeom>
        </p:spPr>
      </p:pic>
      <p:sp>
        <p:nvSpPr>
          <p:cNvPr id="19" name="TextBox 18"/>
          <p:cNvSpPr txBox="1"/>
          <p:nvPr/>
        </p:nvSpPr>
        <p:spPr>
          <a:xfrm>
            <a:off x="5196060" y="3600000"/>
            <a:ext cx="1800000" cy="864000"/>
          </a:xfrm>
          <a:prstGeom prst="rect">
            <a:avLst/>
          </a:prstGeom>
          <a:noFill/>
        </p:spPr>
        <p:txBody>
          <a:bodyPr wrap="square" lIns="0" rIns="0" tIns="0" bIns="0" anchor="ctr">
            <a:noAutofit/>
          </a:bodyPr>
          <a:lstStyle/>
          <a:p>
            <a:pPr algn="ctr" marL="0" indent="0">
              <a:lnSpc>
                <a:spcPts val="2140"/>
              </a:lnSpc>
              <a:spcBef>
                <a:spcPts val="0"/>
              </a:spcBef>
              <a:spcAft>
                <a:spcPts val="0"/>
              </a:spcAft>
              <a:buNone/>
            </a:pPr>
            <a:r>
              <a:rPr sz="1700" b="1" i="0" lang="ko-KR" altLang="en-US">
                <a:solidFill>
                  <a:srgbClr val="13294B"/>
                </a:solidFill>
                <a:latin typeface="맑은 고딕"/>
                <a:ea typeface="맑은 고딕"/>
                <a:cs typeface="맑은 고딕"/>
              </a:rPr>
              <a:t>연구 질문 및</a:t>
            </a:r>
          </a:p>
          <a:p>
            <a:pPr algn="ctr" marL="0" indent="0">
              <a:lnSpc>
                <a:spcPts val="2140"/>
              </a:lnSpc>
              <a:spcBef>
                <a:spcPts val="0"/>
              </a:spcBef>
              <a:spcAft>
                <a:spcPts val="0"/>
              </a:spcAft>
              <a:buNone/>
            </a:pPr>
            <a:r>
              <a:rPr sz="1700" b="1" i="0" lang="ko-KR" altLang="en-US">
                <a:solidFill>
                  <a:srgbClr val="13294B"/>
                </a:solidFill>
                <a:latin typeface="맑은 고딕"/>
                <a:ea typeface="맑은 고딕"/>
                <a:cs typeface="맑은 고딕"/>
              </a:rPr>
              <a:t>연구 방법</a:t>
            </a:r>
          </a:p>
        </p:txBody>
      </p:sp>
      <p:sp>
        <p:nvSpPr>
          <p:cNvPr id="20" name="TextBox 19"/>
          <p:cNvSpPr txBox="1"/>
          <p:nvPr/>
        </p:nvSpPr>
        <p:spPr>
          <a:xfrm>
            <a:off x="5196060" y="4536000"/>
            <a:ext cx="1800000" cy="576000"/>
          </a:xfrm>
          <a:prstGeom prst="rect">
            <a:avLst/>
          </a:prstGeom>
          <a:noFill/>
        </p:spPr>
        <p:txBody>
          <a:bodyPr wrap="square" lIns="0" rIns="0" tIns="0" bIns="0" anchor="t">
            <a:noAutofit/>
          </a:bodyPr>
          <a:lstStyle/>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Research Questions &amp; Methods</a:t>
            </a:r>
          </a:p>
        </p:txBody>
      </p:sp>
      <p:sp>
        <p:nvSpPr>
          <p:cNvPr id="21" name="Rounded Rectangle 20"/>
          <p:cNvSpPr/>
          <p:nvPr/>
        </p:nvSpPr>
        <p:spPr>
          <a:xfrm>
            <a:off x="7363260" y="1404000"/>
            <a:ext cx="2016000" cy="4104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2" name="TextBox 21"/>
          <p:cNvSpPr txBox="1"/>
          <p:nvPr/>
        </p:nvSpPr>
        <p:spPr>
          <a:xfrm>
            <a:off x="7363260" y="1656000"/>
            <a:ext cx="2016000" cy="576000"/>
          </a:xfrm>
          <a:prstGeom prst="rect">
            <a:avLst/>
          </a:prstGeom>
          <a:noFill/>
        </p:spPr>
        <p:txBody>
          <a:bodyPr wrap="square" lIns="0" rIns="0" tIns="0" bIns="0" anchor="ctr">
            <a:noAutofit/>
          </a:bodyPr>
          <a:lstStyle/>
          <a:p>
            <a:pPr algn="ctr" marL="0" indent="0">
              <a:lnSpc>
                <a:spcPts val="4320"/>
              </a:lnSpc>
              <a:spcBef>
                <a:spcPts val="0"/>
              </a:spcBef>
              <a:spcAft>
                <a:spcPts val="0"/>
              </a:spcAft>
              <a:buNone/>
            </a:pPr>
            <a:r>
              <a:rPr sz="3600" b="1" i="0" lang="ko-KR" altLang="en-US">
                <a:solidFill>
                  <a:srgbClr val="13294B"/>
                </a:solidFill>
                <a:latin typeface="맑은 고딕"/>
                <a:ea typeface="맑은 고딕"/>
                <a:cs typeface="맑은 고딕"/>
              </a:rPr>
              <a:t>04</a:t>
            </a:r>
          </a:p>
        </p:txBody>
      </p:sp>
      <p:sp>
        <p:nvSpPr>
          <p:cNvPr id="23" name="Oval 22"/>
          <p:cNvSpPr/>
          <p:nvPr/>
        </p:nvSpPr>
        <p:spPr>
          <a:xfrm>
            <a:off x="7939260" y="2484000"/>
            <a:ext cx="864000" cy="864000"/>
          </a:xfrm>
          <a:prstGeom prst="ellipse">
            <a:avLst/>
          </a:prstGeom>
          <a:solidFill>
            <a:srgbClr val="13294B"/>
          </a:solidFill>
          <a:ln>
            <a:noFill/>
          </a:ln>
        </p:spPr>
        <p:txBody>
          <a:bodyPr rtlCol="0" anchor="ctr" lIns="36000" rIns="36000" tIns="36000" bIns="36000"/>
          <a:lstStyle/>
          <a:p>
            <a:pPr algn="ctr"/>
          </a:p>
        </p:txBody>
      </p:sp>
      <p:pic>
        <p:nvPicPr>
          <p:cNvPr id="24" name="Picture 23" descr="FaChartLine_FFFFFF.png"/>
          <p:cNvPicPr>
            <a:picLocks noChangeAspect="1"/>
          </p:cNvPicPr>
          <p:nvPr/>
        </p:nvPicPr>
        <p:blipFill>
          <a:blip r:embed="rId6"/>
          <a:stretch>
            <a:fillRect/>
          </a:stretch>
        </p:blipFill>
        <p:spPr>
          <a:xfrm>
            <a:off x="8155260" y="2700000"/>
            <a:ext cx="432000" cy="432000"/>
          </a:xfrm>
          <a:prstGeom prst="rect">
            <a:avLst/>
          </a:prstGeom>
        </p:spPr>
      </p:pic>
      <p:sp>
        <p:nvSpPr>
          <p:cNvPr id="25" name="TextBox 24"/>
          <p:cNvSpPr txBox="1"/>
          <p:nvPr/>
        </p:nvSpPr>
        <p:spPr>
          <a:xfrm>
            <a:off x="7471260" y="3600000"/>
            <a:ext cx="1800000" cy="864000"/>
          </a:xfrm>
          <a:prstGeom prst="rect">
            <a:avLst/>
          </a:prstGeom>
          <a:noFill/>
        </p:spPr>
        <p:txBody>
          <a:bodyPr wrap="square" lIns="0" rIns="0" tIns="0" bIns="0" anchor="ctr">
            <a:noAutofit/>
          </a:bodyPr>
          <a:lstStyle/>
          <a:p>
            <a:pPr algn="ctr" marL="0" indent="0">
              <a:lnSpc>
                <a:spcPts val="2140"/>
              </a:lnSpc>
              <a:spcBef>
                <a:spcPts val="0"/>
              </a:spcBef>
              <a:spcAft>
                <a:spcPts val="0"/>
              </a:spcAft>
              <a:buNone/>
            </a:pPr>
            <a:r>
              <a:rPr sz="1700" b="1" i="0" lang="ko-KR" altLang="en-US">
                <a:solidFill>
                  <a:srgbClr val="13294B"/>
                </a:solidFill>
                <a:latin typeface="맑은 고딕"/>
                <a:ea typeface="맑은 고딕"/>
                <a:cs typeface="맑은 고딕"/>
              </a:rPr>
              <a:t>연구 결과</a:t>
            </a:r>
          </a:p>
        </p:txBody>
      </p:sp>
      <p:sp>
        <p:nvSpPr>
          <p:cNvPr id="26" name="TextBox 25"/>
          <p:cNvSpPr txBox="1"/>
          <p:nvPr/>
        </p:nvSpPr>
        <p:spPr>
          <a:xfrm>
            <a:off x="7471260" y="4536000"/>
            <a:ext cx="1800000" cy="576000"/>
          </a:xfrm>
          <a:prstGeom prst="rect">
            <a:avLst/>
          </a:prstGeom>
          <a:noFill/>
        </p:spPr>
        <p:txBody>
          <a:bodyPr wrap="square" lIns="0" rIns="0" tIns="0" bIns="0" anchor="t">
            <a:noAutofit/>
          </a:bodyPr>
          <a:lstStyle/>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Results</a:t>
            </a:r>
          </a:p>
        </p:txBody>
      </p:sp>
      <p:sp>
        <p:nvSpPr>
          <p:cNvPr id="27" name="Rounded Rectangle 26"/>
          <p:cNvSpPr/>
          <p:nvPr/>
        </p:nvSpPr>
        <p:spPr>
          <a:xfrm>
            <a:off x="9638460" y="1404000"/>
            <a:ext cx="2016000" cy="4104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8" name="TextBox 27"/>
          <p:cNvSpPr txBox="1"/>
          <p:nvPr/>
        </p:nvSpPr>
        <p:spPr>
          <a:xfrm>
            <a:off x="9638460" y="1656000"/>
            <a:ext cx="2016000" cy="576000"/>
          </a:xfrm>
          <a:prstGeom prst="rect">
            <a:avLst/>
          </a:prstGeom>
          <a:noFill/>
        </p:spPr>
        <p:txBody>
          <a:bodyPr wrap="square" lIns="0" rIns="0" tIns="0" bIns="0" anchor="ctr">
            <a:noAutofit/>
          </a:bodyPr>
          <a:lstStyle/>
          <a:p>
            <a:pPr algn="ctr" marL="0" indent="0">
              <a:lnSpc>
                <a:spcPts val="4320"/>
              </a:lnSpc>
              <a:spcBef>
                <a:spcPts val="0"/>
              </a:spcBef>
              <a:spcAft>
                <a:spcPts val="0"/>
              </a:spcAft>
              <a:buNone/>
            </a:pPr>
            <a:r>
              <a:rPr sz="3600" b="1" i="0" lang="ko-KR" altLang="en-US">
                <a:solidFill>
                  <a:srgbClr val="13294B"/>
                </a:solidFill>
                <a:latin typeface="맑은 고딕"/>
                <a:ea typeface="맑은 고딕"/>
                <a:cs typeface="맑은 고딕"/>
              </a:rPr>
              <a:t>05</a:t>
            </a:r>
          </a:p>
        </p:txBody>
      </p:sp>
      <p:sp>
        <p:nvSpPr>
          <p:cNvPr id="29" name="Oval 28"/>
          <p:cNvSpPr/>
          <p:nvPr/>
        </p:nvSpPr>
        <p:spPr>
          <a:xfrm>
            <a:off x="10214460" y="2484000"/>
            <a:ext cx="864000" cy="864000"/>
          </a:xfrm>
          <a:prstGeom prst="ellipse">
            <a:avLst/>
          </a:prstGeom>
          <a:solidFill>
            <a:srgbClr val="13294B"/>
          </a:solidFill>
          <a:ln>
            <a:noFill/>
          </a:ln>
        </p:spPr>
        <p:txBody>
          <a:bodyPr rtlCol="0" anchor="ctr" lIns="36000" rIns="36000" tIns="36000" bIns="36000"/>
          <a:lstStyle/>
          <a:p>
            <a:pPr algn="ctr"/>
          </a:p>
        </p:txBody>
      </p:sp>
      <p:pic>
        <p:nvPicPr>
          <p:cNvPr id="30" name="Picture 29" descr="FaBullseye_FFFFFF.png"/>
          <p:cNvPicPr>
            <a:picLocks noChangeAspect="1"/>
          </p:cNvPicPr>
          <p:nvPr/>
        </p:nvPicPr>
        <p:blipFill>
          <a:blip r:embed="rId7"/>
          <a:stretch>
            <a:fillRect/>
          </a:stretch>
        </p:blipFill>
        <p:spPr>
          <a:xfrm>
            <a:off x="10430460" y="2700000"/>
            <a:ext cx="432000" cy="432000"/>
          </a:xfrm>
          <a:prstGeom prst="rect">
            <a:avLst/>
          </a:prstGeom>
        </p:spPr>
      </p:pic>
      <p:sp>
        <p:nvSpPr>
          <p:cNvPr id="31" name="TextBox 30"/>
          <p:cNvSpPr txBox="1"/>
          <p:nvPr/>
        </p:nvSpPr>
        <p:spPr>
          <a:xfrm>
            <a:off x="9746460" y="3600000"/>
            <a:ext cx="1800000" cy="864000"/>
          </a:xfrm>
          <a:prstGeom prst="rect">
            <a:avLst/>
          </a:prstGeom>
          <a:noFill/>
        </p:spPr>
        <p:txBody>
          <a:bodyPr wrap="square" lIns="0" rIns="0" tIns="0" bIns="0" anchor="ctr">
            <a:noAutofit/>
          </a:bodyPr>
          <a:lstStyle/>
          <a:p>
            <a:pPr algn="ctr" marL="0" indent="0">
              <a:lnSpc>
                <a:spcPts val="2140"/>
              </a:lnSpc>
              <a:spcBef>
                <a:spcPts val="0"/>
              </a:spcBef>
              <a:spcAft>
                <a:spcPts val="0"/>
              </a:spcAft>
              <a:buNone/>
            </a:pPr>
            <a:r>
              <a:rPr sz="1700" b="1" i="0" lang="ko-KR" altLang="en-US">
                <a:solidFill>
                  <a:srgbClr val="13294B"/>
                </a:solidFill>
                <a:latin typeface="맑은 고딕"/>
                <a:ea typeface="맑은 고딕"/>
                <a:cs typeface="맑은 고딕"/>
              </a:rPr>
              <a:t>결론</a:t>
            </a:r>
          </a:p>
        </p:txBody>
      </p:sp>
      <p:sp>
        <p:nvSpPr>
          <p:cNvPr id="32" name="TextBox 31"/>
          <p:cNvSpPr txBox="1"/>
          <p:nvPr/>
        </p:nvSpPr>
        <p:spPr>
          <a:xfrm>
            <a:off x="9746460" y="4536000"/>
            <a:ext cx="1800000" cy="576000"/>
          </a:xfrm>
          <a:prstGeom prst="rect">
            <a:avLst/>
          </a:prstGeom>
          <a:noFill/>
        </p:spPr>
        <p:txBody>
          <a:bodyPr wrap="square" lIns="0" rIns="0" tIns="0" bIns="0" anchor="t">
            <a:noAutofit/>
          </a:bodyPr>
          <a:lstStyle/>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Conclusion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1  </a:t>
            </a:r>
            <a:r>
              <a:rPr sz="2200" b="1" i="0" lang="ko-KR" altLang="en-US">
                <a:solidFill>
                  <a:srgbClr val="13294B"/>
                </a:solidFill>
                <a:latin typeface="맑은 고딕"/>
                <a:ea typeface="맑은 고딕"/>
                <a:cs typeface="맑은 고딕"/>
              </a:rPr>
              <a:t>서론</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더 높이, 더 촘촘히 쌓기 위한 연결 기술: 하이브리드 본딩</a:t>
            </a:r>
          </a:p>
        </p:txBody>
      </p:sp>
      <p:sp>
        <p:nvSpPr>
          <p:cNvPr id="4" name="Rounded Rectangle 3"/>
          <p:cNvSpPr/>
          <p:nvPr/>
        </p:nvSpPr>
        <p:spPr>
          <a:xfrm>
            <a:off x="900000" y="972000"/>
            <a:ext cx="3744000" cy="147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5" name="Oval 4"/>
          <p:cNvSpPr/>
          <p:nvPr/>
        </p:nvSpPr>
        <p:spPr>
          <a:xfrm>
            <a:off x="1116000" y="1242000"/>
            <a:ext cx="936000" cy="936000"/>
          </a:xfrm>
          <a:prstGeom prst="ellipse">
            <a:avLst/>
          </a:prstGeom>
          <a:solidFill>
            <a:srgbClr val="13294B"/>
          </a:solidFill>
          <a:ln>
            <a:noFill/>
          </a:ln>
        </p:spPr>
        <p:txBody>
          <a:bodyPr rtlCol="0" anchor="ctr" lIns="36000" rIns="36000" tIns="36000" bIns="36000"/>
          <a:lstStyle/>
          <a:p>
            <a:pPr algn="ctr"/>
          </a:p>
        </p:txBody>
      </p:sp>
      <p:pic>
        <p:nvPicPr>
          <p:cNvPr id="6" name="Picture 5" descr="FaRobot_FFFFFF.png"/>
          <p:cNvPicPr>
            <a:picLocks noChangeAspect="1"/>
          </p:cNvPicPr>
          <p:nvPr/>
        </p:nvPicPr>
        <p:blipFill>
          <a:blip r:embed="rId3"/>
          <a:stretch>
            <a:fillRect/>
          </a:stretch>
        </p:blipFill>
        <p:spPr>
          <a:xfrm>
            <a:off x="1350000" y="1476000"/>
            <a:ext cx="468000" cy="468000"/>
          </a:xfrm>
          <a:prstGeom prst="rect">
            <a:avLst/>
          </a:prstGeom>
        </p:spPr>
      </p:pic>
      <p:sp>
        <p:nvSpPr>
          <p:cNvPr id="7" name="TextBox 6"/>
          <p:cNvSpPr txBox="1"/>
          <p:nvPr/>
        </p:nvSpPr>
        <p:spPr>
          <a:xfrm>
            <a:off x="2232000" y="1296000"/>
            <a:ext cx="2340000" cy="468000"/>
          </a:xfrm>
          <a:prstGeom prst="rect">
            <a:avLst/>
          </a:prstGeom>
          <a:noFill/>
        </p:spPr>
        <p:txBody>
          <a:bodyPr wrap="square" lIns="0" rIns="0" tIns="0" bIns="0" anchor="ctr">
            <a:noAutofit/>
          </a:bodyPr>
          <a:lstStyle/>
          <a:p>
            <a:pPr algn="l" marL="0" indent="0">
              <a:lnSpc>
                <a:spcPts val="2640"/>
              </a:lnSpc>
              <a:spcBef>
                <a:spcPts val="0"/>
              </a:spcBef>
              <a:spcAft>
                <a:spcPts val="0"/>
              </a:spcAft>
              <a:buNone/>
            </a:pPr>
            <a:r>
              <a:rPr sz="2200" b="1" i="0" lang="ko-KR" altLang="en-US">
                <a:solidFill>
                  <a:srgbClr val="13294B"/>
                </a:solidFill>
                <a:latin typeface="맑은 고딕"/>
                <a:ea typeface="맑은 고딕"/>
                <a:cs typeface="맑은 고딕"/>
              </a:rPr>
              <a:t>생성형 AI</a:t>
            </a:r>
          </a:p>
        </p:txBody>
      </p:sp>
      <p:sp>
        <p:nvSpPr>
          <p:cNvPr id="8" name="TextBox 7"/>
          <p:cNvSpPr txBox="1"/>
          <p:nvPr/>
        </p:nvSpPr>
        <p:spPr>
          <a:xfrm>
            <a:off x="2232000" y="1746000"/>
            <a:ext cx="2340000" cy="324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Generative AI</a:t>
            </a:r>
          </a:p>
        </p:txBody>
      </p:sp>
      <p:sp>
        <p:nvSpPr>
          <p:cNvPr id="9" name="Rounded Rectangle 8"/>
          <p:cNvSpPr/>
          <p:nvPr/>
        </p:nvSpPr>
        <p:spPr>
          <a:xfrm>
            <a:off x="900000" y="2646000"/>
            <a:ext cx="3744000" cy="147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0" name="Oval 9"/>
          <p:cNvSpPr/>
          <p:nvPr/>
        </p:nvSpPr>
        <p:spPr>
          <a:xfrm>
            <a:off x="1116000" y="2916000"/>
            <a:ext cx="936000" cy="936000"/>
          </a:xfrm>
          <a:prstGeom prst="ellipse">
            <a:avLst/>
          </a:prstGeom>
          <a:solidFill>
            <a:srgbClr val="13294B"/>
          </a:solidFill>
          <a:ln>
            <a:noFill/>
          </a:ln>
        </p:spPr>
        <p:txBody>
          <a:bodyPr rtlCol="0" anchor="ctr" lIns="36000" rIns="36000" tIns="36000" bIns="36000"/>
          <a:lstStyle/>
          <a:p>
            <a:pPr algn="ctr"/>
          </a:p>
        </p:txBody>
      </p:sp>
      <p:pic>
        <p:nvPicPr>
          <p:cNvPr id="11" name="Picture 10" descr="FaMicrochip_FFFFFF.png"/>
          <p:cNvPicPr>
            <a:picLocks noChangeAspect="1"/>
          </p:cNvPicPr>
          <p:nvPr/>
        </p:nvPicPr>
        <p:blipFill>
          <a:blip r:embed="rId4"/>
          <a:stretch>
            <a:fillRect/>
          </a:stretch>
        </p:blipFill>
        <p:spPr>
          <a:xfrm>
            <a:off x="1350000" y="3150000"/>
            <a:ext cx="468000" cy="468000"/>
          </a:xfrm>
          <a:prstGeom prst="rect">
            <a:avLst/>
          </a:prstGeom>
        </p:spPr>
      </p:pic>
      <p:sp>
        <p:nvSpPr>
          <p:cNvPr id="12" name="TextBox 11"/>
          <p:cNvSpPr txBox="1"/>
          <p:nvPr/>
        </p:nvSpPr>
        <p:spPr>
          <a:xfrm>
            <a:off x="2232000" y="2970000"/>
            <a:ext cx="2340000" cy="468000"/>
          </a:xfrm>
          <a:prstGeom prst="rect">
            <a:avLst/>
          </a:prstGeom>
          <a:noFill/>
        </p:spPr>
        <p:txBody>
          <a:bodyPr wrap="square" lIns="0" rIns="0" tIns="0" bIns="0" anchor="ctr">
            <a:noAutofit/>
          </a:bodyPr>
          <a:lstStyle/>
          <a:p>
            <a:pPr algn="l" marL="0" indent="0">
              <a:lnSpc>
                <a:spcPts val="2640"/>
              </a:lnSpc>
              <a:spcBef>
                <a:spcPts val="0"/>
              </a:spcBef>
              <a:spcAft>
                <a:spcPts val="0"/>
              </a:spcAft>
              <a:buNone/>
            </a:pPr>
            <a:r>
              <a:rPr sz="2200" b="1" i="0" lang="ko-KR" altLang="en-US">
                <a:solidFill>
                  <a:srgbClr val="13294B"/>
                </a:solidFill>
                <a:latin typeface="맑은 고딕"/>
                <a:ea typeface="맑은 고딕"/>
                <a:cs typeface="맑은 고딕"/>
              </a:rPr>
              <a:t>AI 가속기</a:t>
            </a:r>
          </a:p>
        </p:txBody>
      </p:sp>
      <p:sp>
        <p:nvSpPr>
          <p:cNvPr id="13" name="TextBox 12"/>
          <p:cNvSpPr txBox="1"/>
          <p:nvPr/>
        </p:nvSpPr>
        <p:spPr>
          <a:xfrm>
            <a:off x="2232000" y="3420000"/>
            <a:ext cx="2340000" cy="324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AI Accelerator</a:t>
            </a:r>
          </a:p>
        </p:txBody>
      </p:sp>
      <p:sp>
        <p:nvSpPr>
          <p:cNvPr id="14" name="Rounded Rectangle 13"/>
          <p:cNvSpPr/>
          <p:nvPr/>
        </p:nvSpPr>
        <p:spPr>
          <a:xfrm>
            <a:off x="900000" y="4320000"/>
            <a:ext cx="3744000" cy="147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5" name="Oval 14"/>
          <p:cNvSpPr/>
          <p:nvPr/>
        </p:nvSpPr>
        <p:spPr>
          <a:xfrm>
            <a:off x="1116000" y="4590000"/>
            <a:ext cx="936000" cy="936000"/>
          </a:xfrm>
          <a:prstGeom prst="ellipse">
            <a:avLst/>
          </a:prstGeom>
          <a:solidFill>
            <a:srgbClr val="13294B"/>
          </a:solidFill>
          <a:ln>
            <a:noFill/>
          </a:ln>
        </p:spPr>
        <p:txBody>
          <a:bodyPr rtlCol="0" anchor="ctr" lIns="36000" rIns="36000" tIns="36000" bIns="36000"/>
          <a:lstStyle/>
          <a:p>
            <a:pPr algn="ctr"/>
          </a:p>
        </p:txBody>
      </p:sp>
      <p:pic>
        <p:nvPicPr>
          <p:cNvPr id="16" name="Picture 15" descr="FaMemory_FFFFFF.png"/>
          <p:cNvPicPr>
            <a:picLocks noChangeAspect="1"/>
          </p:cNvPicPr>
          <p:nvPr/>
        </p:nvPicPr>
        <p:blipFill>
          <a:blip r:embed="rId5"/>
          <a:stretch>
            <a:fillRect/>
          </a:stretch>
        </p:blipFill>
        <p:spPr>
          <a:xfrm>
            <a:off x="1350000" y="4824000"/>
            <a:ext cx="468000" cy="468000"/>
          </a:xfrm>
          <a:prstGeom prst="rect">
            <a:avLst/>
          </a:prstGeom>
        </p:spPr>
      </p:pic>
      <p:sp>
        <p:nvSpPr>
          <p:cNvPr id="17" name="TextBox 16"/>
          <p:cNvSpPr txBox="1"/>
          <p:nvPr/>
        </p:nvSpPr>
        <p:spPr>
          <a:xfrm>
            <a:off x="2232000" y="4644000"/>
            <a:ext cx="2340000" cy="468000"/>
          </a:xfrm>
          <a:prstGeom prst="rect">
            <a:avLst/>
          </a:prstGeom>
          <a:noFill/>
        </p:spPr>
        <p:txBody>
          <a:bodyPr wrap="square" lIns="0" rIns="0" tIns="0" bIns="0" anchor="ctr">
            <a:noAutofit/>
          </a:bodyPr>
          <a:lstStyle/>
          <a:p>
            <a:pPr algn="l" marL="0" indent="0">
              <a:lnSpc>
                <a:spcPts val="2640"/>
              </a:lnSpc>
              <a:spcBef>
                <a:spcPts val="0"/>
              </a:spcBef>
              <a:spcAft>
                <a:spcPts val="0"/>
              </a:spcAft>
              <a:buNone/>
            </a:pPr>
            <a:r>
              <a:rPr sz="2200" b="1" i="0" lang="ko-KR" altLang="en-US">
                <a:solidFill>
                  <a:srgbClr val="13294B"/>
                </a:solidFill>
                <a:latin typeface="맑은 고딕"/>
                <a:ea typeface="맑은 고딕"/>
                <a:cs typeface="맑은 고딕"/>
              </a:rPr>
              <a:t>HBM</a:t>
            </a:r>
          </a:p>
        </p:txBody>
      </p:sp>
      <p:sp>
        <p:nvSpPr>
          <p:cNvPr id="18" name="TextBox 17"/>
          <p:cNvSpPr txBox="1"/>
          <p:nvPr/>
        </p:nvSpPr>
        <p:spPr>
          <a:xfrm>
            <a:off x="2232000" y="5094000"/>
            <a:ext cx="2340000" cy="324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High Bandwidth Memory</a:t>
            </a:r>
          </a:p>
        </p:txBody>
      </p:sp>
      <p:sp>
        <p:nvSpPr>
          <p:cNvPr id="19" name="Right Arrow 18"/>
          <p:cNvSpPr/>
          <p:nvPr/>
        </p:nvSpPr>
        <p:spPr>
          <a:xfrm>
            <a:off x="4896000" y="2736000"/>
            <a:ext cx="936000" cy="1152000"/>
          </a:xfrm>
          <a:prstGeom prst="rightArrow">
            <a:avLst/>
          </a:prstGeom>
          <a:solidFill>
            <a:srgbClr val="C9D2E0"/>
          </a:solidFill>
          <a:ln>
            <a:noFill/>
          </a:ln>
        </p:spPr>
        <p:txBody>
          <a:bodyPr rtlCol="0" anchor="ctr" lIns="36000" rIns="36000" tIns="36000" bIns="36000"/>
          <a:lstStyle/>
          <a:p>
            <a:pPr algn="ctr"/>
          </a:p>
        </p:txBody>
      </p:sp>
      <p:sp>
        <p:nvSpPr>
          <p:cNvPr id="20" name="Rounded Rectangle 19"/>
          <p:cNvSpPr/>
          <p:nvPr/>
        </p:nvSpPr>
        <p:spPr>
          <a:xfrm>
            <a:off x="6120000" y="972000"/>
            <a:ext cx="5544000" cy="502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1" name="Rectangle 20"/>
          <p:cNvSpPr/>
          <p:nvPr/>
        </p:nvSpPr>
        <p:spPr>
          <a:xfrm>
            <a:off x="6696000" y="1296000"/>
            <a:ext cx="3096000" cy="360000"/>
          </a:xfrm>
          <a:prstGeom prst="rect">
            <a:avLst/>
          </a:prstGeom>
          <a:solidFill>
            <a:srgbClr val="8FA6CC"/>
          </a:solidFill>
          <a:ln>
            <a:noFill/>
          </a:ln>
        </p:spPr>
        <p:txBody>
          <a:bodyPr rtlCol="0" anchor="ctr" lIns="36000" rIns="36000" tIns="36000" bIns="36000"/>
          <a:lstStyle/>
          <a:p>
            <a:pPr algn="ctr"/>
          </a:p>
        </p:txBody>
      </p:sp>
      <p:sp>
        <p:nvSpPr>
          <p:cNvPr id="22" name="TextBox 21"/>
          <p:cNvSpPr txBox="1"/>
          <p:nvPr/>
        </p:nvSpPr>
        <p:spPr>
          <a:xfrm>
            <a:off x="6696000" y="1296000"/>
            <a:ext cx="3096000" cy="360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13294B"/>
                </a:solidFill>
                <a:latin typeface="맑은 고딕"/>
                <a:ea typeface="맑은 고딕"/>
                <a:cs typeface="맑은 고딕"/>
              </a:rPr>
              <a:t>DRAM 다이</a:t>
            </a:r>
          </a:p>
        </p:txBody>
      </p:sp>
      <p:sp>
        <p:nvSpPr>
          <p:cNvPr id="23" name="Rectangle 22"/>
          <p:cNvSpPr/>
          <p:nvPr/>
        </p:nvSpPr>
        <p:spPr>
          <a:xfrm>
            <a:off x="6696000" y="1656000"/>
            <a:ext cx="3096000" cy="122400"/>
          </a:xfrm>
          <a:prstGeom prst="rect">
            <a:avLst/>
          </a:prstGeom>
          <a:solidFill>
            <a:srgbClr val="BFE3E6"/>
          </a:solidFill>
          <a:ln>
            <a:noFill/>
          </a:ln>
        </p:spPr>
        <p:txBody>
          <a:bodyPr rtlCol="0" anchor="ctr" lIns="36000" rIns="36000" tIns="36000" bIns="36000"/>
          <a:lstStyle/>
          <a:p>
            <a:pPr algn="ctr"/>
          </a:p>
        </p:txBody>
      </p:sp>
      <p:sp>
        <p:nvSpPr>
          <p:cNvPr id="24" name="Rectangle 23"/>
          <p:cNvSpPr/>
          <p:nvPr/>
        </p:nvSpPr>
        <p:spPr>
          <a:xfrm>
            <a:off x="6822000" y="1656000"/>
            <a:ext cx="180000" cy="122400"/>
          </a:xfrm>
          <a:prstGeom prst="rect">
            <a:avLst/>
          </a:prstGeom>
          <a:solidFill>
            <a:srgbClr val="EA7A28"/>
          </a:solidFill>
          <a:ln>
            <a:noFill/>
          </a:ln>
        </p:spPr>
        <p:txBody>
          <a:bodyPr rtlCol="0" anchor="ctr" lIns="36000" rIns="36000" tIns="36000" bIns="36000"/>
          <a:lstStyle/>
          <a:p>
            <a:pPr algn="ctr"/>
          </a:p>
        </p:txBody>
      </p:sp>
      <p:sp>
        <p:nvSpPr>
          <p:cNvPr id="25" name="Rectangle 24"/>
          <p:cNvSpPr/>
          <p:nvPr/>
        </p:nvSpPr>
        <p:spPr>
          <a:xfrm>
            <a:off x="7202571" y="1656000"/>
            <a:ext cx="180000" cy="122400"/>
          </a:xfrm>
          <a:prstGeom prst="rect">
            <a:avLst/>
          </a:prstGeom>
          <a:solidFill>
            <a:srgbClr val="EA7A28"/>
          </a:solidFill>
          <a:ln>
            <a:noFill/>
          </a:ln>
        </p:spPr>
        <p:txBody>
          <a:bodyPr rtlCol="0" anchor="ctr" lIns="36000" rIns="36000" tIns="36000" bIns="36000"/>
          <a:lstStyle/>
          <a:p>
            <a:pPr algn="ctr"/>
          </a:p>
        </p:txBody>
      </p:sp>
      <p:sp>
        <p:nvSpPr>
          <p:cNvPr id="26" name="Rectangle 25"/>
          <p:cNvSpPr/>
          <p:nvPr/>
        </p:nvSpPr>
        <p:spPr>
          <a:xfrm>
            <a:off x="7583143" y="1656000"/>
            <a:ext cx="180000" cy="122400"/>
          </a:xfrm>
          <a:prstGeom prst="rect">
            <a:avLst/>
          </a:prstGeom>
          <a:solidFill>
            <a:srgbClr val="EA7A28"/>
          </a:solidFill>
          <a:ln>
            <a:noFill/>
          </a:ln>
        </p:spPr>
        <p:txBody>
          <a:bodyPr rtlCol="0" anchor="ctr" lIns="36000" rIns="36000" tIns="36000" bIns="36000"/>
          <a:lstStyle/>
          <a:p>
            <a:pPr algn="ctr"/>
          </a:p>
        </p:txBody>
      </p:sp>
      <p:sp>
        <p:nvSpPr>
          <p:cNvPr id="27" name="Rectangle 26"/>
          <p:cNvSpPr/>
          <p:nvPr/>
        </p:nvSpPr>
        <p:spPr>
          <a:xfrm>
            <a:off x="7963714" y="1656000"/>
            <a:ext cx="180000" cy="122400"/>
          </a:xfrm>
          <a:prstGeom prst="rect">
            <a:avLst/>
          </a:prstGeom>
          <a:solidFill>
            <a:srgbClr val="EA7A28"/>
          </a:solidFill>
          <a:ln>
            <a:noFill/>
          </a:ln>
        </p:spPr>
        <p:txBody>
          <a:bodyPr rtlCol="0" anchor="ctr" lIns="36000" rIns="36000" tIns="36000" bIns="36000"/>
          <a:lstStyle/>
          <a:p>
            <a:pPr algn="ctr"/>
          </a:p>
        </p:txBody>
      </p:sp>
      <p:sp>
        <p:nvSpPr>
          <p:cNvPr id="28" name="Rectangle 27"/>
          <p:cNvSpPr/>
          <p:nvPr/>
        </p:nvSpPr>
        <p:spPr>
          <a:xfrm>
            <a:off x="8344286" y="1656000"/>
            <a:ext cx="180000" cy="122400"/>
          </a:xfrm>
          <a:prstGeom prst="rect">
            <a:avLst/>
          </a:prstGeom>
          <a:solidFill>
            <a:srgbClr val="EA7A28"/>
          </a:solidFill>
          <a:ln>
            <a:noFill/>
          </a:ln>
        </p:spPr>
        <p:txBody>
          <a:bodyPr rtlCol="0" anchor="ctr" lIns="36000" rIns="36000" tIns="36000" bIns="36000"/>
          <a:lstStyle/>
          <a:p>
            <a:pPr algn="ctr"/>
          </a:p>
        </p:txBody>
      </p:sp>
      <p:sp>
        <p:nvSpPr>
          <p:cNvPr id="29" name="Rectangle 28"/>
          <p:cNvSpPr/>
          <p:nvPr/>
        </p:nvSpPr>
        <p:spPr>
          <a:xfrm>
            <a:off x="8724857" y="1656000"/>
            <a:ext cx="180000" cy="122400"/>
          </a:xfrm>
          <a:prstGeom prst="rect">
            <a:avLst/>
          </a:prstGeom>
          <a:solidFill>
            <a:srgbClr val="EA7A28"/>
          </a:solidFill>
          <a:ln>
            <a:noFill/>
          </a:ln>
        </p:spPr>
        <p:txBody>
          <a:bodyPr rtlCol="0" anchor="ctr" lIns="36000" rIns="36000" tIns="36000" bIns="36000"/>
          <a:lstStyle/>
          <a:p>
            <a:pPr algn="ctr"/>
          </a:p>
        </p:txBody>
      </p:sp>
      <p:sp>
        <p:nvSpPr>
          <p:cNvPr id="30" name="Rectangle 29"/>
          <p:cNvSpPr/>
          <p:nvPr/>
        </p:nvSpPr>
        <p:spPr>
          <a:xfrm>
            <a:off x="9105429" y="1656000"/>
            <a:ext cx="180000" cy="122400"/>
          </a:xfrm>
          <a:prstGeom prst="rect">
            <a:avLst/>
          </a:prstGeom>
          <a:solidFill>
            <a:srgbClr val="EA7A28"/>
          </a:solidFill>
          <a:ln>
            <a:noFill/>
          </a:ln>
        </p:spPr>
        <p:txBody>
          <a:bodyPr rtlCol="0" anchor="ctr" lIns="36000" rIns="36000" tIns="36000" bIns="36000"/>
          <a:lstStyle/>
          <a:p>
            <a:pPr algn="ctr"/>
          </a:p>
        </p:txBody>
      </p:sp>
      <p:sp>
        <p:nvSpPr>
          <p:cNvPr id="31" name="Rectangle 30"/>
          <p:cNvSpPr/>
          <p:nvPr/>
        </p:nvSpPr>
        <p:spPr>
          <a:xfrm>
            <a:off x="9486000" y="1656000"/>
            <a:ext cx="180000" cy="122400"/>
          </a:xfrm>
          <a:prstGeom prst="rect">
            <a:avLst/>
          </a:prstGeom>
          <a:solidFill>
            <a:srgbClr val="EA7A28"/>
          </a:solidFill>
          <a:ln>
            <a:noFill/>
          </a:ln>
        </p:spPr>
        <p:txBody>
          <a:bodyPr rtlCol="0" anchor="ctr" lIns="36000" rIns="36000" tIns="36000" bIns="36000"/>
          <a:lstStyle/>
          <a:p>
            <a:pPr algn="ctr"/>
          </a:p>
        </p:txBody>
      </p:sp>
      <p:sp>
        <p:nvSpPr>
          <p:cNvPr id="32" name="Rectangle 31"/>
          <p:cNvSpPr/>
          <p:nvPr/>
        </p:nvSpPr>
        <p:spPr>
          <a:xfrm>
            <a:off x="6696000" y="1778400"/>
            <a:ext cx="3096000" cy="360000"/>
          </a:xfrm>
          <a:prstGeom prst="rect">
            <a:avLst/>
          </a:prstGeom>
          <a:solidFill>
            <a:srgbClr val="7F98C2"/>
          </a:solidFill>
          <a:ln>
            <a:noFill/>
          </a:ln>
        </p:spPr>
        <p:txBody>
          <a:bodyPr rtlCol="0" anchor="ctr" lIns="36000" rIns="36000" tIns="36000" bIns="36000"/>
          <a:lstStyle/>
          <a:p>
            <a:pPr algn="ctr"/>
          </a:p>
        </p:txBody>
      </p:sp>
      <p:sp>
        <p:nvSpPr>
          <p:cNvPr id="33" name="Rectangle 32"/>
          <p:cNvSpPr/>
          <p:nvPr/>
        </p:nvSpPr>
        <p:spPr>
          <a:xfrm>
            <a:off x="6696000" y="2138400"/>
            <a:ext cx="3096000" cy="122400"/>
          </a:xfrm>
          <a:prstGeom prst="rect">
            <a:avLst/>
          </a:prstGeom>
          <a:solidFill>
            <a:srgbClr val="BFE3E6"/>
          </a:solidFill>
          <a:ln>
            <a:noFill/>
          </a:ln>
        </p:spPr>
        <p:txBody>
          <a:bodyPr rtlCol="0" anchor="ctr" lIns="36000" rIns="36000" tIns="36000" bIns="36000"/>
          <a:lstStyle/>
          <a:p>
            <a:pPr algn="ctr"/>
          </a:p>
        </p:txBody>
      </p:sp>
      <p:sp>
        <p:nvSpPr>
          <p:cNvPr id="34" name="Rectangle 33"/>
          <p:cNvSpPr/>
          <p:nvPr/>
        </p:nvSpPr>
        <p:spPr>
          <a:xfrm>
            <a:off x="6822000" y="2138400"/>
            <a:ext cx="180000" cy="122400"/>
          </a:xfrm>
          <a:prstGeom prst="rect">
            <a:avLst/>
          </a:prstGeom>
          <a:solidFill>
            <a:srgbClr val="EA7A28"/>
          </a:solidFill>
          <a:ln>
            <a:noFill/>
          </a:ln>
        </p:spPr>
        <p:txBody>
          <a:bodyPr rtlCol="0" anchor="ctr" lIns="36000" rIns="36000" tIns="36000" bIns="36000"/>
          <a:lstStyle/>
          <a:p>
            <a:pPr algn="ctr"/>
          </a:p>
        </p:txBody>
      </p:sp>
      <p:sp>
        <p:nvSpPr>
          <p:cNvPr id="35" name="Rectangle 34"/>
          <p:cNvSpPr/>
          <p:nvPr/>
        </p:nvSpPr>
        <p:spPr>
          <a:xfrm>
            <a:off x="7202571" y="2138400"/>
            <a:ext cx="180000" cy="122400"/>
          </a:xfrm>
          <a:prstGeom prst="rect">
            <a:avLst/>
          </a:prstGeom>
          <a:solidFill>
            <a:srgbClr val="EA7A28"/>
          </a:solidFill>
          <a:ln>
            <a:noFill/>
          </a:ln>
        </p:spPr>
        <p:txBody>
          <a:bodyPr rtlCol="0" anchor="ctr" lIns="36000" rIns="36000" tIns="36000" bIns="36000"/>
          <a:lstStyle/>
          <a:p>
            <a:pPr algn="ctr"/>
          </a:p>
        </p:txBody>
      </p:sp>
      <p:sp>
        <p:nvSpPr>
          <p:cNvPr id="36" name="Rectangle 35"/>
          <p:cNvSpPr/>
          <p:nvPr/>
        </p:nvSpPr>
        <p:spPr>
          <a:xfrm>
            <a:off x="7583143" y="2138400"/>
            <a:ext cx="180000" cy="122400"/>
          </a:xfrm>
          <a:prstGeom prst="rect">
            <a:avLst/>
          </a:prstGeom>
          <a:solidFill>
            <a:srgbClr val="EA7A28"/>
          </a:solidFill>
          <a:ln>
            <a:noFill/>
          </a:ln>
        </p:spPr>
        <p:txBody>
          <a:bodyPr rtlCol="0" anchor="ctr" lIns="36000" rIns="36000" tIns="36000" bIns="36000"/>
          <a:lstStyle/>
          <a:p>
            <a:pPr algn="ctr"/>
          </a:p>
        </p:txBody>
      </p:sp>
      <p:sp>
        <p:nvSpPr>
          <p:cNvPr id="37" name="Rectangle 36"/>
          <p:cNvSpPr/>
          <p:nvPr/>
        </p:nvSpPr>
        <p:spPr>
          <a:xfrm>
            <a:off x="7963714" y="2138400"/>
            <a:ext cx="180000" cy="122400"/>
          </a:xfrm>
          <a:prstGeom prst="rect">
            <a:avLst/>
          </a:prstGeom>
          <a:solidFill>
            <a:srgbClr val="EA7A28"/>
          </a:solidFill>
          <a:ln>
            <a:noFill/>
          </a:ln>
        </p:spPr>
        <p:txBody>
          <a:bodyPr rtlCol="0" anchor="ctr" lIns="36000" rIns="36000" tIns="36000" bIns="36000"/>
          <a:lstStyle/>
          <a:p>
            <a:pPr algn="ctr"/>
          </a:p>
        </p:txBody>
      </p:sp>
      <p:sp>
        <p:nvSpPr>
          <p:cNvPr id="38" name="Rectangle 37"/>
          <p:cNvSpPr/>
          <p:nvPr/>
        </p:nvSpPr>
        <p:spPr>
          <a:xfrm>
            <a:off x="8344286" y="2138400"/>
            <a:ext cx="180000" cy="122400"/>
          </a:xfrm>
          <a:prstGeom prst="rect">
            <a:avLst/>
          </a:prstGeom>
          <a:solidFill>
            <a:srgbClr val="EA7A28"/>
          </a:solidFill>
          <a:ln>
            <a:noFill/>
          </a:ln>
        </p:spPr>
        <p:txBody>
          <a:bodyPr rtlCol="0" anchor="ctr" lIns="36000" rIns="36000" tIns="36000" bIns="36000"/>
          <a:lstStyle/>
          <a:p>
            <a:pPr algn="ctr"/>
          </a:p>
        </p:txBody>
      </p:sp>
      <p:sp>
        <p:nvSpPr>
          <p:cNvPr id="39" name="Rectangle 38"/>
          <p:cNvSpPr/>
          <p:nvPr/>
        </p:nvSpPr>
        <p:spPr>
          <a:xfrm>
            <a:off x="8724857" y="2138400"/>
            <a:ext cx="180000" cy="122400"/>
          </a:xfrm>
          <a:prstGeom prst="rect">
            <a:avLst/>
          </a:prstGeom>
          <a:solidFill>
            <a:srgbClr val="EA7A28"/>
          </a:solidFill>
          <a:ln>
            <a:noFill/>
          </a:ln>
        </p:spPr>
        <p:txBody>
          <a:bodyPr rtlCol="0" anchor="ctr" lIns="36000" rIns="36000" tIns="36000" bIns="36000"/>
          <a:lstStyle/>
          <a:p>
            <a:pPr algn="ctr"/>
          </a:p>
        </p:txBody>
      </p:sp>
      <p:sp>
        <p:nvSpPr>
          <p:cNvPr id="40" name="Rectangle 39"/>
          <p:cNvSpPr/>
          <p:nvPr/>
        </p:nvSpPr>
        <p:spPr>
          <a:xfrm>
            <a:off x="9105429" y="2138400"/>
            <a:ext cx="180000" cy="122400"/>
          </a:xfrm>
          <a:prstGeom prst="rect">
            <a:avLst/>
          </a:prstGeom>
          <a:solidFill>
            <a:srgbClr val="EA7A28"/>
          </a:solidFill>
          <a:ln>
            <a:noFill/>
          </a:ln>
        </p:spPr>
        <p:txBody>
          <a:bodyPr rtlCol="0" anchor="ctr" lIns="36000" rIns="36000" tIns="36000" bIns="36000"/>
          <a:lstStyle/>
          <a:p>
            <a:pPr algn="ctr"/>
          </a:p>
        </p:txBody>
      </p:sp>
      <p:sp>
        <p:nvSpPr>
          <p:cNvPr id="41" name="Rectangle 40"/>
          <p:cNvSpPr/>
          <p:nvPr/>
        </p:nvSpPr>
        <p:spPr>
          <a:xfrm>
            <a:off x="9486000" y="2138400"/>
            <a:ext cx="180000" cy="122400"/>
          </a:xfrm>
          <a:prstGeom prst="rect">
            <a:avLst/>
          </a:prstGeom>
          <a:solidFill>
            <a:srgbClr val="EA7A28"/>
          </a:solidFill>
          <a:ln>
            <a:noFill/>
          </a:ln>
        </p:spPr>
        <p:txBody>
          <a:bodyPr rtlCol="0" anchor="ctr" lIns="36000" rIns="36000" tIns="36000" bIns="36000"/>
          <a:lstStyle/>
          <a:p>
            <a:pPr algn="ctr"/>
          </a:p>
        </p:txBody>
      </p:sp>
      <p:sp>
        <p:nvSpPr>
          <p:cNvPr id="42" name="Rectangle 41"/>
          <p:cNvSpPr/>
          <p:nvPr/>
        </p:nvSpPr>
        <p:spPr>
          <a:xfrm>
            <a:off x="6696000" y="2260800"/>
            <a:ext cx="3096000" cy="360000"/>
          </a:xfrm>
          <a:prstGeom prst="rect">
            <a:avLst/>
          </a:prstGeom>
          <a:solidFill>
            <a:srgbClr val="6F8AB7"/>
          </a:solidFill>
          <a:ln>
            <a:noFill/>
          </a:ln>
        </p:spPr>
        <p:txBody>
          <a:bodyPr rtlCol="0" anchor="ctr" lIns="36000" rIns="36000" tIns="36000" bIns="36000"/>
          <a:lstStyle/>
          <a:p>
            <a:pPr algn="ctr"/>
          </a:p>
        </p:txBody>
      </p:sp>
      <p:sp>
        <p:nvSpPr>
          <p:cNvPr id="43" name="Rectangle 42"/>
          <p:cNvSpPr/>
          <p:nvPr/>
        </p:nvSpPr>
        <p:spPr>
          <a:xfrm>
            <a:off x="6696000" y="2620800"/>
            <a:ext cx="3096000" cy="122400"/>
          </a:xfrm>
          <a:prstGeom prst="rect">
            <a:avLst/>
          </a:prstGeom>
          <a:solidFill>
            <a:srgbClr val="BFE3E6"/>
          </a:solidFill>
          <a:ln>
            <a:noFill/>
          </a:ln>
        </p:spPr>
        <p:txBody>
          <a:bodyPr rtlCol="0" anchor="ctr" lIns="36000" rIns="36000" tIns="36000" bIns="36000"/>
          <a:lstStyle/>
          <a:p>
            <a:pPr algn="ctr"/>
          </a:p>
        </p:txBody>
      </p:sp>
      <p:sp>
        <p:nvSpPr>
          <p:cNvPr id="44" name="Rectangle 43"/>
          <p:cNvSpPr/>
          <p:nvPr/>
        </p:nvSpPr>
        <p:spPr>
          <a:xfrm>
            <a:off x="6822000" y="2620800"/>
            <a:ext cx="180000" cy="122400"/>
          </a:xfrm>
          <a:prstGeom prst="rect">
            <a:avLst/>
          </a:prstGeom>
          <a:solidFill>
            <a:srgbClr val="EA7A28"/>
          </a:solidFill>
          <a:ln>
            <a:noFill/>
          </a:ln>
        </p:spPr>
        <p:txBody>
          <a:bodyPr rtlCol="0" anchor="ctr" lIns="36000" rIns="36000" tIns="36000" bIns="36000"/>
          <a:lstStyle/>
          <a:p>
            <a:pPr algn="ctr"/>
          </a:p>
        </p:txBody>
      </p:sp>
      <p:sp>
        <p:nvSpPr>
          <p:cNvPr id="45" name="Rectangle 44"/>
          <p:cNvSpPr/>
          <p:nvPr/>
        </p:nvSpPr>
        <p:spPr>
          <a:xfrm>
            <a:off x="7202571" y="2620800"/>
            <a:ext cx="180000" cy="122400"/>
          </a:xfrm>
          <a:prstGeom prst="rect">
            <a:avLst/>
          </a:prstGeom>
          <a:solidFill>
            <a:srgbClr val="EA7A28"/>
          </a:solidFill>
          <a:ln>
            <a:noFill/>
          </a:ln>
        </p:spPr>
        <p:txBody>
          <a:bodyPr rtlCol="0" anchor="ctr" lIns="36000" rIns="36000" tIns="36000" bIns="36000"/>
          <a:lstStyle/>
          <a:p>
            <a:pPr algn="ctr"/>
          </a:p>
        </p:txBody>
      </p:sp>
      <p:sp>
        <p:nvSpPr>
          <p:cNvPr id="46" name="Rectangle 45"/>
          <p:cNvSpPr/>
          <p:nvPr/>
        </p:nvSpPr>
        <p:spPr>
          <a:xfrm>
            <a:off x="7583143" y="2620800"/>
            <a:ext cx="180000" cy="122400"/>
          </a:xfrm>
          <a:prstGeom prst="rect">
            <a:avLst/>
          </a:prstGeom>
          <a:solidFill>
            <a:srgbClr val="EA7A28"/>
          </a:solidFill>
          <a:ln>
            <a:noFill/>
          </a:ln>
        </p:spPr>
        <p:txBody>
          <a:bodyPr rtlCol="0" anchor="ctr" lIns="36000" rIns="36000" tIns="36000" bIns="36000"/>
          <a:lstStyle/>
          <a:p>
            <a:pPr algn="ctr"/>
          </a:p>
        </p:txBody>
      </p:sp>
      <p:sp>
        <p:nvSpPr>
          <p:cNvPr id="47" name="Rectangle 46"/>
          <p:cNvSpPr/>
          <p:nvPr/>
        </p:nvSpPr>
        <p:spPr>
          <a:xfrm>
            <a:off x="7963714" y="2620800"/>
            <a:ext cx="180000" cy="122400"/>
          </a:xfrm>
          <a:prstGeom prst="rect">
            <a:avLst/>
          </a:prstGeom>
          <a:solidFill>
            <a:srgbClr val="EA7A28"/>
          </a:solidFill>
          <a:ln>
            <a:noFill/>
          </a:ln>
        </p:spPr>
        <p:txBody>
          <a:bodyPr rtlCol="0" anchor="ctr" lIns="36000" rIns="36000" tIns="36000" bIns="36000"/>
          <a:lstStyle/>
          <a:p>
            <a:pPr algn="ctr"/>
          </a:p>
        </p:txBody>
      </p:sp>
      <p:sp>
        <p:nvSpPr>
          <p:cNvPr id="48" name="Rectangle 47"/>
          <p:cNvSpPr/>
          <p:nvPr/>
        </p:nvSpPr>
        <p:spPr>
          <a:xfrm>
            <a:off x="8344286" y="2620800"/>
            <a:ext cx="180000" cy="122400"/>
          </a:xfrm>
          <a:prstGeom prst="rect">
            <a:avLst/>
          </a:prstGeom>
          <a:solidFill>
            <a:srgbClr val="EA7A28"/>
          </a:solidFill>
          <a:ln>
            <a:noFill/>
          </a:ln>
        </p:spPr>
        <p:txBody>
          <a:bodyPr rtlCol="0" anchor="ctr" lIns="36000" rIns="36000" tIns="36000" bIns="36000"/>
          <a:lstStyle/>
          <a:p>
            <a:pPr algn="ctr"/>
          </a:p>
        </p:txBody>
      </p:sp>
      <p:sp>
        <p:nvSpPr>
          <p:cNvPr id="49" name="Rectangle 48"/>
          <p:cNvSpPr/>
          <p:nvPr/>
        </p:nvSpPr>
        <p:spPr>
          <a:xfrm>
            <a:off x="8724857" y="2620800"/>
            <a:ext cx="180000" cy="122400"/>
          </a:xfrm>
          <a:prstGeom prst="rect">
            <a:avLst/>
          </a:prstGeom>
          <a:solidFill>
            <a:srgbClr val="EA7A28"/>
          </a:solidFill>
          <a:ln>
            <a:noFill/>
          </a:ln>
        </p:spPr>
        <p:txBody>
          <a:bodyPr rtlCol="0" anchor="ctr" lIns="36000" rIns="36000" tIns="36000" bIns="36000"/>
          <a:lstStyle/>
          <a:p>
            <a:pPr algn="ctr"/>
          </a:p>
        </p:txBody>
      </p:sp>
      <p:sp>
        <p:nvSpPr>
          <p:cNvPr id="50" name="Rectangle 49"/>
          <p:cNvSpPr/>
          <p:nvPr/>
        </p:nvSpPr>
        <p:spPr>
          <a:xfrm>
            <a:off x="9105429" y="2620800"/>
            <a:ext cx="180000" cy="122400"/>
          </a:xfrm>
          <a:prstGeom prst="rect">
            <a:avLst/>
          </a:prstGeom>
          <a:solidFill>
            <a:srgbClr val="EA7A28"/>
          </a:solidFill>
          <a:ln>
            <a:noFill/>
          </a:ln>
        </p:spPr>
        <p:txBody>
          <a:bodyPr rtlCol="0" anchor="ctr" lIns="36000" rIns="36000" tIns="36000" bIns="36000"/>
          <a:lstStyle/>
          <a:p>
            <a:pPr algn="ctr"/>
          </a:p>
        </p:txBody>
      </p:sp>
      <p:sp>
        <p:nvSpPr>
          <p:cNvPr id="51" name="Rectangle 50"/>
          <p:cNvSpPr/>
          <p:nvPr/>
        </p:nvSpPr>
        <p:spPr>
          <a:xfrm>
            <a:off x="9486000" y="2620800"/>
            <a:ext cx="180000" cy="122400"/>
          </a:xfrm>
          <a:prstGeom prst="rect">
            <a:avLst/>
          </a:prstGeom>
          <a:solidFill>
            <a:srgbClr val="EA7A28"/>
          </a:solidFill>
          <a:ln>
            <a:noFill/>
          </a:ln>
        </p:spPr>
        <p:txBody>
          <a:bodyPr rtlCol="0" anchor="ctr" lIns="36000" rIns="36000" tIns="36000" bIns="36000"/>
          <a:lstStyle/>
          <a:p>
            <a:pPr algn="ctr"/>
          </a:p>
        </p:txBody>
      </p:sp>
      <p:sp>
        <p:nvSpPr>
          <p:cNvPr id="52" name="Rectangle 51"/>
          <p:cNvSpPr/>
          <p:nvPr/>
        </p:nvSpPr>
        <p:spPr>
          <a:xfrm>
            <a:off x="6696000" y="2743200"/>
            <a:ext cx="3096000" cy="360000"/>
          </a:xfrm>
          <a:prstGeom prst="rect">
            <a:avLst/>
          </a:prstGeom>
          <a:solidFill>
            <a:srgbClr val="607DAD"/>
          </a:solidFill>
          <a:ln>
            <a:noFill/>
          </a:ln>
        </p:spPr>
        <p:txBody>
          <a:bodyPr rtlCol="0" anchor="ctr" lIns="36000" rIns="36000" tIns="36000" bIns="36000"/>
          <a:lstStyle/>
          <a:p>
            <a:pPr algn="ctr"/>
          </a:p>
        </p:txBody>
      </p:sp>
      <p:sp>
        <p:nvSpPr>
          <p:cNvPr id="53" name="Rectangle 52"/>
          <p:cNvSpPr/>
          <p:nvPr/>
        </p:nvSpPr>
        <p:spPr>
          <a:xfrm>
            <a:off x="6696000" y="3103200"/>
            <a:ext cx="3096000" cy="122400"/>
          </a:xfrm>
          <a:prstGeom prst="rect">
            <a:avLst/>
          </a:prstGeom>
          <a:solidFill>
            <a:srgbClr val="BFE3E6"/>
          </a:solidFill>
          <a:ln>
            <a:noFill/>
          </a:ln>
        </p:spPr>
        <p:txBody>
          <a:bodyPr rtlCol="0" anchor="ctr" lIns="36000" rIns="36000" tIns="36000" bIns="36000"/>
          <a:lstStyle/>
          <a:p>
            <a:pPr algn="ctr"/>
          </a:p>
        </p:txBody>
      </p:sp>
      <p:sp>
        <p:nvSpPr>
          <p:cNvPr id="54" name="Rectangle 53"/>
          <p:cNvSpPr/>
          <p:nvPr/>
        </p:nvSpPr>
        <p:spPr>
          <a:xfrm>
            <a:off x="6822000" y="3103200"/>
            <a:ext cx="180000" cy="122400"/>
          </a:xfrm>
          <a:prstGeom prst="rect">
            <a:avLst/>
          </a:prstGeom>
          <a:solidFill>
            <a:srgbClr val="EA7A28"/>
          </a:solidFill>
          <a:ln>
            <a:noFill/>
          </a:ln>
        </p:spPr>
        <p:txBody>
          <a:bodyPr rtlCol="0" anchor="ctr" lIns="36000" rIns="36000" tIns="36000" bIns="36000"/>
          <a:lstStyle/>
          <a:p>
            <a:pPr algn="ctr"/>
          </a:p>
        </p:txBody>
      </p:sp>
      <p:sp>
        <p:nvSpPr>
          <p:cNvPr id="55" name="Rectangle 54"/>
          <p:cNvSpPr/>
          <p:nvPr/>
        </p:nvSpPr>
        <p:spPr>
          <a:xfrm>
            <a:off x="7202571" y="3103200"/>
            <a:ext cx="180000" cy="122400"/>
          </a:xfrm>
          <a:prstGeom prst="rect">
            <a:avLst/>
          </a:prstGeom>
          <a:solidFill>
            <a:srgbClr val="EA7A28"/>
          </a:solidFill>
          <a:ln>
            <a:noFill/>
          </a:ln>
        </p:spPr>
        <p:txBody>
          <a:bodyPr rtlCol="0" anchor="ctr" lIns="36000" rIns="36000" tIns="36000" bIns="36000"/>
          <a:lstStyle/>
          <a:p>
            <a:pPr algn="ctr"/>
          </a:p>
        </p:txBody>
      </p:sp>
      <p:sp>
        <p:nvSpPr>
          <p:cNvPr id="56" name="Rectangle 55"/>
          <p:cNvSpPr/>
          <p:nvPr/>
        </p:nvSpPr>
        <p:spPr>
          <a:xfrm>
            <a:off x="7583143" y="3103200"/>
            <a:ext cx="180000" cy="122400"/>
          </a:xfrm>
          <a:prstGeom prst="rect">
            <a:avLst/>
          </a:prstGeom>
          <a:solidFill>
            <a:srgbClr val="EA7A28"/>
          </a:solidFill>
          <a:ln>
            <a:noFill/>
          </a:ln>
        </p:spPr>
        <p:txBody>
          <a:bodyPr rtlCol="0" anchor="ctr" lIns="36000" rIns="36000" tIns="36000" bIns="36000"/>
          <a:lstStyle/>
          <a:p>
            <a:pPr algn="ctr"/>
          </a:p>
        </p:txBody>
      </p:sp>
      <p:sp>
        <p:nvSpPr>
          <p:cNvPr id="57" name="Rectangle 56"/>
          <p:cNvSpPr/>
          <p:nvPr/>
        </p:nvSpPr>
        <p:spPr>
          <a:xfrm>
            <a:off x="7963714" y="3103200"/>
            <a:ext cx="180000" cy="122400"/>
          </a:xfrm>
          <a:prstGeom prst="rect">
            <a:avLst/>
          </a:prstGeom>
          <a:solidFill>
            <a:srgbClr val="EA7A28"/>
          </a:solidFill>
          <a:ln>
            <a:noFill/>
          </a:ln>
        </p:spPr>
        <p:txBody>
          <a:bodyPr rtlCol="0" anchor="ctr" lIns="36000" rIns="36000" tIns="36000" bIns="36000"/>
          <a:lstStyle/>
          <a:p>
            <a:pPr algn="ctr"/>
          </a:p>
        </p:txBody>
      </p:sp>
      <p:sp>
        <p:nvSpPr>
          <p:cNvPr id="58" name="Rectangle 57"/>
          <p:cNvSpPr/>
          <p:nvPr/>
        </p:nvSpPr>
        <p:spPr>
          <a:xfrm>
            <a:off x="8344286" y="3103200"/>
            <a:ext cx="180000" cy="122400"/>
          </a:xfrm>
          <a:prstGeom prst="rect">
            <a:avLst/>
          </a:prstGeom>
          <a:solidFill>
            <a:srgbClr val="EA7A28"/>
          </a:solidFill>
          <a:ln>
            <a:noFill/>
          </a:ln>
        </p:spPr>
        <p:txBody>
          <a:bodyPr rtlCol="0" anchor="ctr" lIns="36000" rIns="36000" tIns="36000" bIns="36000"/>
          <a:lstStyle/>
          <a:p>
            <a:pPr algn="ctr"/>
          </a:p>
        </p:txBody>
      </p:sp>
      <p:sp>
        <p:nvSpPr>
          <p:cNvPr id="59" name="Rectangle 58"/>
          <p:cNvSpPr/>
          <p:nvPr/>
        </p:nvSpPr>
        <p:spPr>
          <a:xfrm>
            <a:off x="8724857" y="3103200"/>
            <a:ext cx="180000" cy="122400"/>
          </a:xfrm>
          <a:prstGeom prst="rect">
            <a:avLst/>
          </a:prstGeom>
          <a:solidFill>
            <a:srgbClr val="EA7A28"/>
          </a:solidFill>
          <a:ln>
            <a:noFill/>
          </a:ln>
        </p:spPr>
        <p:txBody>
          <a:bodyPr rtlCol="0" anchor="ctr" lIns="36000" rIns="36000" tIns="36000" bIns="36000"/>
          <a:lstStyle/>
          <a:p>
            <a:pPr algn="ctr"/>
          </a:p>
        </p:txBody>
      </p:sp>
      <p:sp>
        <p:nvSpPr>
          <p:cNvPr id="60" name="Rectangle 59"/>
          <p:cNvSpPr/>
          <p:nvPr/>
        </p:nvSpPr>
        <p:spPr>
          <a:xfrm>
            <a:off x="9105429" y="3103200"/>
            <a:ext cx="180000" cy="122400"/>
          </a:xfrm>
          <a:prstGeom prst="rect">
            <a:avLst/>
          </a:prstGeom>
          <a:solidFill>
            <a:srgbClr val="EA7A28"/>
          </a:solidFill>
          <a:ln>
            <a:noFill/>
          </a:ln>
        </p:spPr>
        <p:txBody>
          <a:bodyPr rtlCol="0" anchor="ctr" lIns="36000" rIns="36000" tIns="36000" bIns="36000"/>
          <a:lstStyle/>
          <a:p>
            <a:pPr algn="ctr"/>
          </a:p>
        </p:txBody>
      </p:sp>
      <p:sp>
        <p:nvSpPr>
          <p:cNvPr id="61" name="Rectangle 60"/>
          <p:cNvSpPr/>
          <p:nvPr/>
        </p:nvSpPr>
        <p:spPr>
          <a:xfrm>
            <a:off x="9486000" y="3103200"/>
            <a:ext cx="180000" cy="122400"/>
          </a:xfrm>
          <a:prstGeom prst="rect">
            <a:avLst/>
          </a:prstGeom>
          <a:solidFill>
            <a:srgbClr val="EA7A28"/>
          </a:solidFill>
          <a:ln>
            <a:noFill/>
          </a:ln>
        </p:spPr>
        <p:txBody>
          <a:bodyPr rtlCol="0" anchor="ctr" lIns="36000" rIns="36000" tIns="36000" bIns="36000"/>
          <a:lstStyle/>
          <a:p>
            <a:pPr algn="ctr"/>
          </a:p>
        </p:txBody>
      </p:sp>
      <p:sp>
        <p:nvSpPr>
          <p:cNvPr id="62" name="Rectangle 61"/>
          <p:cNvSpPr/>
          <p:nvPr/>
        </p:nvSpPr>
        <p:spPr>
          <a:xfrm>
            <a:off x="6516000" y="3225600"/>
            <a:ext cx="3456000" cy="432000"/>
          </a:xfrm>
          <a:prstGeom prst="rect">
            <a:avLst/>
          </a:prstGeom>
          <a:solidFill>
            <a:srgbClr val="3E5A8A"/>
          </a:solidFill>
          <a:ln>
            <a:noFill/>
          </a:ln>
        </p:spPr>
        <p:txBody>
          <a:bodyPr rtlCol="0" anchor="ctr" lIns="36000" rIns="36000" tIns="36000" bIns="36000"/>
          <a:lstStyle/>
          <a:p>
            <a:pPr algn="ctr"/>
          </a:p>
        </p:txBody>
      </p:sp>
      <p:sp>
        <p:nvSpPr>
          <p:cNvPr id="63" name="TextBox 62"/>
          <p:cNvSpPr txBox="1"/>
          <p:nvPr/>
        </p:nvSpPr>
        <p:spPr>
          <a:xfrm>
            <a:off x="6516000" y="3225600"/>
            <a:ext cx="3456000" cy="432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베이스(로직) 다이</a:t>
            </a:r>
          </a:p>
        </p:txBody>
      </p:sp>
      <p:cxnSp>
        <p:nvCxnSpPr>
          <p:cNvPr id="64" name="Connector 63"/>
          <p:cNvCxnSpPr/>
          <p:nvPr/>
        </p:nvCxnSpPr>
        <p:spPr>
          <a:xfrm>
            <a:off x="9810000" y="2199600"/>
            <a:ext cx="270000" cy="0"/>
          </a:xfrm>
          <a:prstGeom prst="line">
            <a:avLst/>
          </a:prstGeom>
          <a:ln w="15875">
            <a:solidFill>
              <a:srgbClr val="13294B"/>
            </a:solidFill>
          </a:ln>
        </p:spPr>
      </p:cxnSp>
      <p:sp>
        <p:nvSpPr>
          <p:cNvPr id="65" name="TextBox 64"/>
          <p:cNvSpPr txBox="1"/>
          <p:nvPr/>
        </p:nvSpPr>
        <p:spPr>
          <a:xfrm>
            <a:off x="10116000" y="1929600"/>
            <a:ext cx="1224000" cy="864000"/>
          </a:xfrm>
          <a:prstGeom prst="rect">
            <a:avLst/>
          </a:prstGeom>
          <a:noFill/>
        </p:spPr>
        <p:txBody>
          <a:bodyPr wrap="square" lIns="0" rIns="0" tIns="0" bIns="0" anchor="t">
            <a:noAutofit/>
          </a:bodyPr>
          <a:lstStyle/>
          <a:p>
            <a:pPr algn="l" marL="0" indent="0">
              <a:lnSpc>
                <a:spcPts val="1560"/>
              </a:lnSpc>
              <a:spcBef>
                <a:spcPts val="0"/>
              </a:spcBef>
              <a:spcAft>
                <a:spcPts val="0"/>
              </a:spcAft>
              <a:buNone/>
            </a:pPr>
            <a:r>
              <a:rPr sz="1300" b="1" i="0" lang="ko-KR" altLang="en-US">
                <a:solidFill>
                  <a:srgbClr val="7C3AED"/>
                </a:solidFill>
                <a:latin typeface="맑은 고딕"/>
                <a:ea typeface="맑은 고딕"/>
                <a:cs typeface="맑은 고딕"/>
              </a:rPr>
              <a:t>하이브리드</a:t>
            </a:r>
          </a:p>
          <a:p>
            <a:pPr algn="l" marL="0" indent="0">
              <a:lnSpc>
                <a:spcPts val="1560"/>
              </a:lnSpc>
              <a:spcBef>
                <a:spcPts val="0"/>
              </a:spcBef>
              <a:spcAft>
                <a:spcPts val="300"/>
              </a:spcAft>
              <a:buNone/>
            </a:pPr>
            <a:r>
              <a:rPr sz="1300" b="1" i="0" lang="ko-KR" altLang="en-US">
                <a:solidFill>
                  <a:srgbClr val="7C3AED"/>
                </a:solidFill>
                <a:latin typeface="맑은 고딕"/>
                <a:ea typeface="맑은 고딕"/>
                <a:cs typeface="맑은 고딕"/>
              </a:rPr>
              <a:t>본딩 계면</a:t>
            </a:r>
          </a:p>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Cu 패드 +</a:t>
            </a:r>
          </a:p>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산화막 직접 접합</a:t>
            </a:r>
          </a:p>
        </p:txBody>
      </p:sp>
      <p:sp>
        <p:nvSpPr>
          <p:cNvPr id="66" name="TextBox 65"/>
          <p:cNvSpPr txBox="1"/>
          <p:nvPr/>
        </p:nvSpPr>
        <p:spPr>
          <a:xfrm>
            <a:off x="6120000" y="4176000"/>
            <a:ext cx="5544000" cy="684000"/>
          </a:xfrm>
          <a:prstGeom prst="rect">
            <a:avLst/>
          </a:prstGeom>
          <a:noFill/>
        </p:spPr>
        <p:txBody>
          <a:bodyPr wrap="square" lIns="0" rIns="0" tIns="0" bIns="0" anchor="ctr">
            <a:noAutofit/>
          </a:bodyPr>
          <a:lstStyle/>
          <a:p>
            <a:pPr algn="ctr" marL="0" indent="0">
              <a:lnSpc>
                <a:spcPts val="3600"/>
              </a:lnSpc>
              <a:spcBef>
                <a:spcPts val="0"/>
              </a:spcBef>
              <a:spcAft>
                <a:spcPts val="0"/>
              </a:spcAft>
              <a:buNone/>
            </a:pPr>
            <a:r>
              <a:rPr sz="3000" b="1" i="0" lang="ko-KR" altLang="en-US">
                <a:solidFill>
                  <a:srgbClr val="13294B"/>
                </a:solidFill>
                <a:latin typeface="맑은 고딕"/>
                <a:ea typeface="맑은 고딕"/>
                <a:cs typeface="맑은 고딕"/>
              </a:rPr>
              <a:t>Hybrid Bonding</a:t>
            </a:r>
          </a:p>
        </p:txBody>
      </p:sp>
      <p:sp>
        <p:nvSpPr>
          <p:cNvPr id="67" name="TextBox 66"/>
          <p:cNvSpPr txBox="1"/>
          <p:nvPr/>
        </p:nvSpPr>
        <p:spPr>
          <a:xfrm>
            <a:off x="6120000" y="4860000"/>
            <a:ext cx="5544000" cy="360000"/>
          </a:xfrm>
          <a:prstGeom prst="rect">
            <a:avLst/>
          </a:prstGeom>
          <a:noFill/>
        </p:spPr>
        <p:txBody>
          <a:bodyPr wrap="square" lIns="0" rIns="0" tIns="0" bIns="0" anchor="ctr">
            <a:noAutofit/>
          </a:bodyPr>
          <a:lstStyle/>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차세대 HBM 적층의 접합 기술 (개념도)</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1  </a:t>
            </a:r>
            <a:r>
              <a:rPr sz="2200" b="1" i="0" lang="ko-KR" altLang="en-US">
                <a:solidFill>
                  <a:srgbClr val="13294B"/>
                </a:solidFill>
                <a:latin typeface="맑은 고딕"/>
                <a:ea typeface="맑은 고딕"/>
                <a:cs typeface="맑은 고딕"/>
              </a:rPr>
              <a:t>서론</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미세화의 한계 이후, 전공정과 후공정 사이의 인터페이스가 변하고 있다</a:t>
            </a:r>
          </a:p>
        </p:txBody>
      </p:sp>
      <p:sp>
        <p:nvSpPr>
          <p:cNvPr id="4" name="Rounded Rectangle 3"/>
          <p:cNvSpPr/>
          <p:nvPr/>
        </p:nvSpPr>
        <p:spPr>
          <a:xfrm>
            <a:off x="900000" y="972000"/>
            <a:ext cx="4176000" cy="2016000"/>
          </a:xfrm>
          <a:prstGeom prst="roundRect">
            <a:avLst>
              <a:gd name="adj" fmla="val 8000"/>
            </a:avLst>
          </a:prstGeom>
          <a:solidFill>
            <a:srgbClr val="E3ECFB"/>
          </a:solidFill>
          <a:ln>
            <a:noFill/>
          </a:ln>
        </p:spPr>
        <p:txBody>
          <a:bodyPr rtlCol="0" anchor="ctr" lIns="36000" rIns="36000" tIns="36000" bIns="36000"/>
          <a:lstStyle/>
          <a:p>
            <a:pPr algn="ctr"/>
          </a:p>
        </p:txBody>
      </p:sp>
      <p:sp>
        <p:nvSpPr>
          <p:cNvPr id="5" name="TextBox 4"/>
          <p:cNvSpPr txBox="1"/>
          <p:nvPr/>
        </p:nvSpPr>
        <p:spPr>
          <a:xfrm>
            <a:off x="1116000" y="1134000"/>
            <a:ext cx="3744000" cy="432000"/>
          </a:xfrm>
          <a:prstGeom prst="rect">
            <a:avLst/>
          </a:prstGeom>
          <a:noFill/>
        </p:spPr>
        <p:txBody>
          <a:bodyPr wrap="square" lIns="0" rIns="0" tIns="0" bIns="0" anchor="ctr">
            <a:noAutofit/>
          </a:bodyPr>
          <a:lstStyle/>
          <a:p>
            <a:pPr algn="l" marL="0" indent="0">
              <a:lnSpc>
                <a:spcPts val="2880"/>
              </a:lnSpc>
              <a:spcBef>
                <a:spcPts val="0"/>
              </a:spcBef>
              <a:spcAft>
                <a:spcPts val="0"/>
              </a:spcAft>
              <a:buNone/>
            </a:pPr>
            <a:r>
              <a:rPr sz="2400" b="1" i="0" lang="ko-KR" altLang="en-US">
                <a:solidFill>
                  <a:srgbClr val="2563C9"/>
                </a:solidFill>
                <a:latin typeface="맑은 고딕"/>
                <a:ea typeface="맑은 고딕"/>
                <a:cs typeface="맑은 고딕"/>
              </a:rPr>
              <a:t>전공정</a:t>
            </a:r>
            <a:r>
              <a:rPr sz="1400" b="0" i="0" lang="ko-KR" altLang="en-US">
                <a:solidFill>
                  <a:srgbClr val="2563C9"/>
                </a:solidFill>
                <a:latin typeface="맑은 고딕"/>
                <a:ea typeface="맑은 고딕"/>
                <a:cs typeface="맑은 고딕"/>
              </a:rPr>
              <a:t>  Front End</a:t>
            </a:r>
          </a:p>
        </p:txBody>
      </p:sp>
      <p:sp>
        <p:nvSpPr>
          <p:cNvPr id="6" name="TextBox 5"/>
          <p:cNvSpPr txBox="1"/>
          <p:nvPr/>
        </p:nvSpPr>
        <p:spPr>
          <a:xfrm>
            <a:off x="1116000" y="1638000"/>
            <a:ext cx="3744000" cy="360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E2532"/>
                </a:solidFill>
                <a:latin typeface="맑은 고딕"/>
                <a:ea typeface="맑은 고딕"/>
                <a:cs typeface="맑은 고딕"/>
              </a:rPr>
              <a:t>웨이퍼 위 트랜지스터 형성</a:t>
            </a:r>
          </a:p>
        </p:txBody>
      </p:sp>
      <p:sp>
        <p:nvSpPr>
          <p:cNvPr id="7" name="Rounded Rectangle 6"/>
          <p:cNvSpPr/>
          <p:nvPr/>
        </p:nvSpPr>
        <p:spPr>
          <a:xfrm>
            <a:off x="1116000" y="2196000"/>
            <a:ext cx="3744000" cy="432000"/>
          </a:xfrm>
          <a:prstGeom prst="roundRect">
            <a:avLst>
              <a:gd name="adj" fmla="val 50000"/>
            </a:avLst>
          </a:prstGeom>
          <a:solidFill>
            <a:srgbClr val="FFFFFF"/>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2563C9"/>
                </a:solidFill>
                <a:latin typeface="맑은 고딕"/>
                <a:ea typeface="맑은 고딕"/>
                <a:cs typeface="맑은 고딕"/>
              </a:rPr>
              <a:t>종합반도체기업(IDM) · 파운드리</a:t>
            </a:r>
          </a:p>
        </p:txBody>
      </p:sp>
      <p:sp>
        <p:nvSpPr>
          <p:cNvPr id="8" name="Rounded Rectangle 7"/>
          <p:cNvSpPr/>
          <p:nvPr/>
        </p:nvSpPr>
        <p:spPr>
          <a:xfrm>
            <a:off x="7116120" y="972000"/>
            <a:ext cx="4176000" cy="2016000"/>
          </a:xfrm>
          <a:prstGeom prst="roundRect">
            <a:avLst>
              <a:gd name="adj" fmla="val 8000"/>
            </a:avLst>
          </a:prstGeom>
          <a:solidFill>
            <a:srgbClr val="FDEBDD"/>
          </a:solidFill>
          <a:ln>
            <a:noFill/>
          </a:ln>
        </p:spPr>
        <p:txBody>
          <a:bodyPr rtlCol="0" anchor="ctr" lIns="36000" rIns="36000" tIns="36000" bIns="36000"/>
          <a:lstStyle/>
          <a:p>
            <a:pPr algn="ctr"/>
          </a:p>
        </p:txBody>
      </p:sp>
      <p:sp>
        <p:nvSpPr>
          <p:cNvPr id="9" name="TextBox 8"/>
          <p:cNvSpPr txBox="1"/>
          <p:nvPr/>
        </p:nvSpPr>
        <p:spPr>
          <a:xfrm>
            <a:off x="7332120" y="1134000"/>
            <a:ext cx="3744000" cy="432000"/>
          </a:xfrm>
          <a:prstGeom prst="rect">
            <a:avLst/>
          </a:prstGeom>
          <a:noFill/>
        </p:spPr>
        <p:txBody>
          <a:bodyPr wrap="square" lIns="0" rIns="0" tIns="0" bIns="0" anchor="ctr">
            <a:noAutofit/>
          </a:bodyPr>
          <a:lstStyle/>
          <a:p>
            <a:pPr algn="l" marL="0" indent="0">
              <a:lnSpc>
                <a:spcPts val="2880"/>
              </a:lnSpc>
              <a:spcBef>
                <a:spcPts val="0"/>
              </a:spcBef>
              <a:spcAft>
                <a:spcPts val="0"/>
              </a:spcAft>
              <a:buNone/>
            </a:pPr>
            <a:r>
              <a:rPr sz="2400" b="1" i="0" lang="ko-KR" altLang="en-US">
                <a:solidFill>
                  <a:srgbClr val="EA7A28"/>
                </a:solidFill>
                <a:latin typeface="맑은 고딕"/>
                <a:ea typeface="맑은 고딕"/>
                <a:cs typeface="맑은 고딕"/>
              </a:rPr>
              <a:t>후공정</a:t>
            </a:r>
            <a:r>
              <a:rPr sz="1400" b="0" i="0" lang="ko-KR" altLang="en-US">
                <a:solidFill>
                  <a:srgbClr val="EA7A28"/>
                </a:solidFill>
                <a:latin typeface="맑은 고딕"/>
                <a:ea typeface="맑은 고딕"/>
                <a:cs typeface="맑은 고딕"/>
              </a:rPr>
              <a:t>  Back End</a:t>
            </a:r>
          </a:p>
        </p:txBody>
      </p:sp>
      <p:sp>
        <p:nvSpPr>
          <p:cNvPr id="10" name="TextBox 9"/>
          <p:cNvSpPr txBox="1"/>
          <p:nvPr/>
        </p:nvSpPr>
        <p:spPr>
          <a:xfrm>
            <a:off x="7332120" y="1638000"/>
            <a:ext cx="3744000" cy="360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E2532"/>
                </a:solidFill>
                <a:latin typeface="맑은 고딕"/>
                <a:ea typeface="맑은 고딕"/>
                <a:cs typeface="맑은 고딕"/>
              </a:rPr>
              <a:t>절단 · 조립 · 패키징 · 테스트</a:t>
            </a:r>
          </a:p>
        </p:txBody>
      </p:sp>
      <p:sp>
        <p:nvSpPr>
          <p:cNvPr id="11" name="Rounded Rectangle 10"/>
          <p:cNvSpPr/>
          <p:nvPr/>
        </p:nvSpPr>
        <p:spPr>
          <a:xfrm>
            <a:off x="7332120" y="2196000"/>
            <a:ext cx="3744000" cy="432000"/>
          </a:xfrm>
          <a:prstGeom prst="roundRect">
            <a:avLst>
              <a:gd name="adj" fmla="val 50000"/>
            </a:avLst>
          </a:prstGeom>
          <a:solidFill>
            <a:srgbClr val="FFFFFF"/>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EA7A28"/>
                </a:solidFill>
                <a:latin typeface="맑은 고딕"/>
                <a:ea typeface="맑은 고딕"/>
                <a:cs typeface="맑은 고딕"/>
              </a:rPr>
              <a:t>조립·테스트 전문업체(OSAT)</a:t>
            </a:r>
          </a:p>
        </p:txBody>
      </p:sp>
      <p:cxnSp>
        <p:nvCxnSpPr>
          <p:cNvPr id="12" name="Connector 11"/>
          <p:cNvCxnSpPr/>
          <p:nvPr/>
        </p:nvCxnSpPr>
        <p:spPr>
          <a:xfrm>
            <a:off x="6096060" y="1044000"/>
            <a:ext cx="0" cy="684000"/>
          </a:xfrm>
          <a:prstGeom prst="line">
            <a:avLst/>
          </a:prstGeom>
          <a:ln w="25400">
            <a:solidFill>
              <a:srgbClr val="13294B"/>
            </a:solidFill>
            <a:prstDash val="dash"/>
          </a:ln>
        </p:spPr>
      </p:cxnSp>
      <p:cxnSp>
        <p:nvCxnSpPr>
          <p:cNvPr id="13" name="Connector 12"/>
          <p:cNvCxnSpPr/>
          <p:nvPr/>
        </p:nvCxnSpPr>
        <p:spPr>
          <a:xfrm>
            <a:off x="6096060" y="2538000"/>
            <a:ext cx="0" cy="378000"/>
          </a:xfrm>
          <a:prstGeom prst="line">
            <a:avLst/>
          </a:prstGeom>
          <a:ln w="25400">
            <a:solidFill>
              <a:srgbClr val="13294B"/>
            </a:solidFill>
            <a:prstDash val="dash"/>
          </a:ln>
        </p:spPr>
      </p:cxnSp>
      <p:sp>
        <p:nvSpPr>
          <p:cNvPr id="14" name="Rounded Rectangle 13"/>
          <p:cNvSpPr/>
          <p:nvPr/>
        </p:nvSpPr>
        <p:spPr>
          <a:xfrm>
            <a:off x="5160060" y="1782000"/>
            <a:ext cx="1872000" cy="396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FFFFFF"/>
                </a:solidFill>
                <a:latin typeface="맑은 고딕"/>
                <a:ea typeface="맑은 고딕"/>
                <a:cs typeface="맑은 고딕"/>
              </a:rPr>
              <a:t>인터페이스</a:t>
            </a:r>
          </a:p>
        </p:txBody>
      </p:sp>
      <p:sp>
        <p:nvSpPr>
          <p:cNvPr id="15" name="TextBox 14"/>
          <p:cNvSpPr txBox="1"/>
          <p:nvPr/>
        </p:nvSpPr>
        <p:spPr>
          <a:xfrm>
            <a:off x="4944060" y="2214000"/>
            <a:ext cx="2304000" cy="288000"/>
          </a:xfrm>
          <a:prstGeom prst="rect">
            <a:avLst/>
          </a:prstGeom>
          <a:noFill/>
        </p:spPr>
        <p:txBody>
          <a:bodyPr wrap="square" lIns="0" rIns="0" tIns="0" bIns="0" anchor="ctr">
            <a:noAutofit/>
          </a:bodyPr>
          <a:lstStyle/>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반세기 이상의 분업</a:t>
            </a:r>
          </a:p>
        </p:txBody>
      </p:sp>
      <p:sp>
        <p:nvSpPr>
          <p:cNvPr id="16" name="Rounded Rectangle 15"/>
          <p:cNvSpPr/>
          <p:nvPr/>
        </p:nvSpPr>
        <p:spPr>
          <a:xfrm>
            <a:off x="570060" y="3456000"/>
            <a:ext cx="3204000" cy="1764000"/>
          </a:xfrm>
          <a:prstGeom prst="roundRect">
            <a:avLst>
              <a:gd name="adj" fmla="val 6000"/>
            </a:avLst>
          </a:prstGeom>
          <a:solidFill>
            <a:srgbClr val="FFFFFF"/>
          </a:solidFill>
          <a:ln w="12700">
            <a:solidFill>
              <a:srgbClr val="C9D2E0"/>
            </a:solidFill>
          </a:ln>
        </p:spPr>
        <p:txBody>
          <a:bodyPr rtlCol="0" anchor="ctr" lIns="36000" rIns="36000" tIns="36000" bIns="36000"/>
          <a:lstStyle/>
          <a:p>
            <a:pPr algn="ctr"/>
          </a:p>
        </p:txBody>
      </p:sp>
      <p:pic>
        <p:nvPicPr>
          <p:cNvPr id="17" name="Picture 16" descr="FaHourglassHalf_13294B.png"/>
          <p:cNvPicPr>
            <a:picLocks noChangeAspect="1"/>
          </p:cNvPicPr>
          <p:nvPr/>
        </p:nvPicPr>
        <p:blipFill>
          <a:blip r:embed="rId3"/>
          <a:stretch>
            <a:fillRect/>
          </a:stretch>
        </p:blipFill>
        <p:spPr>
          <a:xfrm>
            <a:off x="1902060" y="3636000"/>
            <a:ext cx="540000" cy="540000"/>
          </a:xfrm>
          <a:prstGeom prst="rect">
            <a:avLst/>
          </a:prstGeom>
        </p:spPr>
      </p:pic>
      <p:sp>
        <p:nvSpPr>
          <p:cNvPr id="18" name="TextBox 17"/>
          <p:cNvSpPr txBox="1"/>
          <p:nvPr/>
        </p:nvSpPr>
        <p:spPr>
          <a:xfrm>
            <a:off x="678060" y="4248000"/>
            <a:ext cx="2988000" cy="360000"/>
          </a:xfrm>
          <a:prstGeom prst="rect">
            <a:avLst/>
          </a:prstGeom>
          <a:noFill/>
        </p:spPr>
        <p:txBody>
          <a:bodyPr wrap="square" lIns="0" rIns="0" tIns="0" bIns="0" anchor="ctr">
            <a:noAutofit/>
          </a:bodyPr>
          <a:lstStyle/>
          <a:p>
            <a:pPr algn="ctr"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미세화의 한계</a:t>
            </a:r>
          </a:p>
        </p:txBody>
      </p:sp>
      <p:sp>
        <p:nvSpPr>
          <p:cNvPr id="19" name="TextBox 18"/>
          <p:cNvSpPr txBox="1"/>
          <p:nvPr/>
        </p:nvSpPr>
        <p:spPr>
          <a:xfrm>
            <a:off x="678060" y="4626000"/>
            <a:ext cx="2988000" cy="684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ltLang="en-US">
                <a:solidFill>
                  <a:srgbClr val="5B6475"/>
                </a:solidFill>
                <a:latin typeface="맑은 고딕"/>
                <a:ea typeface="맑은 고딕"/>
                <a:cs typeface="맑은 고딕"/>
              </a:rPr>
              <a:t>집적도 향상 둔화 · 비용 급증</a:t>
            </a:r>
          </a:p>
        </p:txBody>
      </p:sp>
      <p:cxnSp>
        <p:nvCxnSpPr>
          <p:cNvPr id="20" name="Connector 19"/>
          <p:cNvCxnSpPr/>
          <p:nvPr/>
        </p:nvCxnSpPr>
        <p:spPr>
          <a:xfrm>
            <a:off x="3864060" y="4338000"/>
            <a:ext cx="540000" cy="0"/>
          </a:xfrm>
          <a:prstGeom prst="line">
            <a:avLst/>
          </a:prstGeom>
          <a:ln w="31750">
            <a:solidFill>
              <a:srgbClr val="13294B"/>
            </a:solidFill>
            <a:tailEnd type="triangle" w="med" len="med"/>
          </a:ln>
        </p:spPr>
      </p:cxnSp>
      <p:sp>
        <p:nvSpPr>
          <p:cNvPr id="21" name="Rounded Rectangle 20"/>
          <p:cNvSpPr/>
          <p:nvPr/>
        </p:nvSpPr>
        <p:spPr>
          <a:xfrm>
            <a:off x="4494060" y="3456000"/>
            <a:ext cx="3204000" cy="1764000"/>
          </a:xfrm>
          <a:prstGeom prst="roundRect">
            <a:avLst>
              <a:gd name="adj" fmla="val 6000"/>
            </a:avLst>
          </a:prstGeom>
          <a:solidFill>
            <a:srgbClr val="FFFFFF"/>
          </a:solidFill>
          <a:ln w="12700">
            <a:solidFill>
              <a:srgbClr val="C9D2E0"/>
            </a:solidFill>
          </a:ln>
        </p:spPr>
        <p:txBody>
          <a:bodyPr rtlCol="0" anchor="ctr" lIns="36000" rIns="36000" tIns="36000" bIns="36000"/>
          <a:lstStyle/>
          <a:p>
            <a:pPr algn="ctr"/>
          </a:p>
        </p:txBody>
      </p:sp>
      <p:pic>
        <p:nvPicPr>
          <p:cNvPr id="22" name="Picture 21" descr="FaLayerGroup_13294B.png"/>
          <p:cNvPicPr>
            <a:picLocks noChangeAspect="1"/>
          </p:cNvPicPr>
          <p:nvPr/>
        </p:nvPicPr>
        <p:blipFill>
          <a:blip r:embed="rId4"/>
          <a:stretch>
            <a:fillRect/>
          </a:stretch>
        </p:blipFill>
        <p:spPr>
          <a:xfrm>
            <a:off x="5826060" y="3636000"/>
            <a:ext cx="540000" cy="540000"/>
          </a:xfrm>
          <a:prstGeom prst="rect">
            <a:avLst/>
          </a:prstGeom>
        </p:spPr>
      </p:pic>
      <p:sp>
        <p:nvSpPr>
          <p:cNvPr id="23" name="TextBox 22"/>
          <p:cNvSpPr txBox="1"/>
          <p:nvPr/>
        </p:nvSpPr>
        <p:spPr>
          <a:xfrm>
            <a:off x="4602060" y="4248000"/>
            <a:ext cx="2988000" cy="360000"/>
          </a:xfrm>
          <a:prstGeom prst="rect">
            <a:avLst/>
          </a:prstGeom>
          <a:noFill/>
        </p:spPr>
        <p:txBody>
          <a:bodyPr wrap="square" lIns="0" rIns="0" tIns="0" bIns="0" anchor="ctr">
            <a:noAutofit/>
          </a:bodyPr>
          <a:lstStyle/>
          <a:p>
            <a:pPr algn="ctr"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첨단 패키징</a:t>
            </a:r>
          </a:p>
        </p:txBody>
      </p:sp>
      <p:sp>
        <p:nvSpPr>
          <p:cNvPr id="24" name="TextBox 23"/>
          <p:cNvSpPr txBox="1"/>
          <p:nvPr/>
        </p:nvSpPr>
        <p:spPr>
          <a:xfrm>
            <a:off x="4602060" y="4626000"/>
            <a:ext cx="2988000" cy="684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ltLang="en-US">
                <a:solidFill>
                  <a:srgbClr val="5B6475"/>
                </a:solidFill>
                <a:latin typeface="맑은 고딕"/>
                <a:ea typeface="맑은 고딕"/>
                <a:cs typeface="맑은 고딕"/>
              </a:rPr>
              <a:t>다이 분할 · 적층 · 연결</a:t>
            </a:r>
          </a:p>
        </p:txBody>
      </p:sp>
      <p:cxnSp>
        <p:nvCxnSpPr>
          <p:cNvPr id="25" name="Connector 24"/>
          <p:cNvCxnSpPr/>
          <p:nvPr/>
        </p:nvCxnSpPr>
        <p:spPr>
          <a:xfrm>
            <a:off x="7788060" y="4338000"/>
            <a:ext cx="540000" cy="0"/>
          </a:xfrm>
          <a:prstGeom prst="line">
            <a:avLst/>
          </a:prstGeom>
          <a:ln w="31750">
            <a:solidFill>
              <a:srgbClr val="13294B"/>
            </a:solidFill>
            <a:tailEnd type="triangle" w="med" len="med"/>
          </a:ln>
        </p:spPr>
      </p:cxnSp>
      <p:sp>
        <p:nvSpPr>
          <p:cNvPr id="26" name="Rounded Rectangle 25"/>
          <p:cNvSpPr/>
          <p:nvPr/>
        </p:nvSpPr>
        <p:spPr>
          <a:xfrm>
            <a:off x="8418060" y="3456000"/>
            <a:ext cx="3204000" cy="1764000"/>
          </a:xfrm>
          <a:prstGeom prst="roundRect">
            <a:avLst>
              <a:gd name="adj" fmla="val 6000"/>
            </a:avLst>
          </a:prstGeom>
          <a:solidFill>
            <a:srgbClr val="FFFFFF"/>
          </a:solidFill>
          <a:ln w="12700">
            <a:solidFill>
              <a:srgbClr val="13294B"/>
            </a:solidFill>
          </a:ln>
        </p:spPr>
        <p:txBody>
          <a:bodyPr rtlCol="0" anchor="ctr" lIns="36000" rIns="36000" tIns="36000" bIns="36000"/>
          <a:lstStyle/>
          <a:p>
            <a:pPr algn="ctr"/>
          </a:p>
        </p:txBody>
      </p:sp>
      <p:pic>
        <p:nvPicPr>
          <p:cNvPr id="27" name="Picture 26" descr="FaLink_13294B.png"/>
          <p:cNvPicPr>
            <a:picLocks noChangeAspect="1"/>
          </p:cNvPicPr>
          <p:nvPr/>
        </p:nvPicPr>
        <p:blipFill>
          <a:blip r:embed="rId5"/>
          <a:stretch>
            <a:fillRect/>
          </a:stretch>
        </p:blipFill>
        <p:spPr>
          <a:xfrm>
            <a:off x="9750060" y="3636000"/>
            <a:ext cx="540000" cy="540000"/>
          </a:xfrm>
          <a:prstGeom prst="rect">
            <a:avLst/>
          </a:prstGeom>
        </p:spPr>
      </p:pic>
      <p:sp>
        <p:nvSpPr>
          <p:cNvPr id="28" name="TextBox 27"/>
          <p:cNvSpPr txBox="1"/>
          <p:nvPr/>
        </p:nvSpPr>
        <p:spPr>
          <a:xfrm>
            <a:off x="8526060" y="4248000"/>
            <a:ext cx="2988000" cy="360000"/>
          </a:xfrm>
          <a:prstGeom prst="rect">
            <a:avLst/>
          </a:prstGeom>
          <a:noFill/>
        </p:spPr>
        <p:txBody>
          <a:bodyPr wrap="square" lIns="0" rIns="0" tIns="0" bIns="0" anchor="ctr">
            <a:noAutofit/>
          </a:bodyPr>
          <a:lstStyle/>
          <a:p>
            <a:pPr algn="ctr"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공정 단계 간 상호의존</a:t>
            </a:r>
          </a:p>
        </p:txBody>
      </p:sp>
      <p:sp>
        <p:nvSpPr>
          <p:cNvPr id="29" name="TextBox 28"/>
          <p:cNvSpPr txBox="1"/>
          <p:nvPr/>
        </p:nvSpPr>
        <p:spPr>
          <a:xfrm>
            <a:off x="8526060" y="4626000"/>
            <a:ext cx="2988000" cy="684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ltLang="en-US">
                <a:solidFill>
                  <a:srgbClr val="5B6475"/>
                </a:solidFill>
                <a:latin typeface="맑은 고딕"/>
                <a:ea typeface="맑은 고딕"/>
                <a:cs typeface="맑은 고딕"/>
              </a:rPr>
              <a:t>한 단계의 성능이</a:t>
            </a:r>
          </a:p>
          <a:p>
            <a:pPr algn="ctr" marL="0" indent="0">
              <a:lnSpc>
                <a:spcPts val="1560"/>
              </a:lnSpc>
              <a:spcBef>
                <a:spcPts val="0"/>
              </a:spcBef>
              <a:spcAft>
                <a:spcPts val="0"/>
              </a:spcAft>
              <a:buNone/>
            </a:pPr>
            <a:r>
              <a:rPr sz="1300" b="0" i="0" lang="ko-KR" altLang="en-US">
                <a:solidFill>
                  <a:srgbClr val="5B6475"/>
                </a:solidFill>
                <a:latin typeface="맑은 고딕"/>
                <a:ea typeface="맑은 고딕"/>
                <a:cs typeface="맑은 고딕"/>
              </a:rPr>
              <a:t>다른 단계의 공정 역량에 의존</a:t>
            </a:r>
          </a:p>
        </p:txBody>
      </p:sp>
      <p:sp>
        <p:nvSpPr>
          <p:cNvPr id="30" name="Source"/>
          <p:cNvSpPr txBox="1"/>
          <p:nvPr/>
        </p:nvSpPr>
        <p:spPr>
          <a:xfrm>
            <a:off x="540000" y="5400000"/>
            <a:ext cx="11112120" cy="180000"/>
          </a:xfrm>
          <a:prstGeom prst="rect">
            <a:avLst/>
          </a:prstGeom>
          <a:noFill/>
        </p:spPr>
        <p:txBody>
          <a:bodyPr wrap="square" lIns="0" rIns="0" tIns="0" bIns="0" anchor="ctr">
            <a:noAutofit/>
          </a:bodyPr>
          <a:lstStyle/>
          <a:p>
            <a:pPr algn="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Kapoor (2013); Macher &amp; Mowery (2004); Arden et al. (2010); Khan et al. (2018)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1  </a:t>
            </a:r>
            <a:r>
              <a:rPr sz="2200" b="1" i="0" lang="ko-KR" altLang="en-US">
                <a:solidFill>
                  <a:srgbClr val="13294B"/>
                </a:solidFill>
                <a:latin typeface="맑은 고딕"/>
                <a:ea typeface="맑은 고딕"/>
                <a:cs typeface="맑은 고딕"/>
              </a:rPr>
              <a:t>서론</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후공정의 접합 기술이지만, 그 성패는 전공정의 제조공정 역량이 좌우한다</a:t>
            </a:r>
          </a:p>
        </p:txBody>
      </p:sp>
      <p:sp>
        <p:nvSpPr>
          <p:cNvPr id="4" name="Rounded Rectangle 3"/>
          <p:cNvSpPr/>
          <p:nvPr/>
        </p:nvSpPr>
        <p:spPr>
          <a:xfrm>
            <a:off x="540000" y="990000"/>
            <a:ext cx="2952000" cy="345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5" name="TextBox 4"/>
          <p:cNvSpPr txBox="1"/>
          <p:nvPr/>
        </p:nvSpPr>
        <p:spPr>
          <a:xfrm>
            <a:off x="648000" y="1098000"/>
            <a:ext cx="2736000" cy="324000"/>
          </a:xfrm>
          <a:prstGeom prst="rect">
            <a:avLst/>
          </a:prstGeom>
          <a:noFill/>
        </p:spPr>
        <p:txBody>
          <a:bodyPr wrap="square" lIns="0" rIns="0" tIns="0" bIns="0" anchor="ctr">
            <a:noAutofit/>
          </a:bodyPr>
          <a:lstStyle/>
          <a:p>
            <a:pPr algn="ctr" marL="0" indent="0">
              <a:lnSpc>
                <a:spcPts val="2039"/>
              </a:lnSpc>
              <a:spcBef>
                <a:spcPts val="0"/>
              </a:spcBef>
              <a:spcAft>
                <a:spcPts val="0"/>
              </a:spcAft>
              <a:buNone/>
            </a:pPr>
            <a:r>
              <a:rPr sz="1700" b="1" i="0" lang="ko-KR" altLang="en-US">
                <a:solidFill>
                  <a:srgbClr val="5B6475"/>
                </a:solidFill>
                <a:latin typeface="맑은 고딕"/>
                <a:ea typeface="맑은 고딕"/>
                <a:cs typeface="맑은 고딕"/>
              </a:rPr>
              <a:t>기존: 솔더 범프 접합</a:t>
            </a:r>
          </a:p>
        </p:txBody>
      </p:sp>
      <p:sp>
        <p:nvSpPr>
          <p:cNvPr id="6" name="Rectangle 5"/>
          <p:cNvSpPr/>
          <p:nvPr/>
        </p:nvSpPr>
        <p:spPr>
          <a:xfrm>
            <a:off x="864000" y="1548000"/>
            <a:ext cx="2304000" cy="324000"/>
          </a:xfrm>
          <a:prstGeom prst="rect">
            <a:avLst/>
          </a:prstGeom>
          <a:solidFill>
            <a:srgbClr val="8A97AD"/>
          </a:solidFill>
          <a:ln>
            <a:noFill/>
          </a:ln>
        </p:spPr>
        <p:txBody>
          <a:bodyPr rtlCol="0" anchor="ctr" lIns="36000" rIns="36000" tIns="36000" bIns="36000"/>
          <a:lstStyle/>
          <a:p>
            <a:pPr algn="ctr"/>
          </a:p>
        </p:txBody>
      </p:sp>
      <p:sp>
        <p:nvSpPr>
          <p:cNvPr id="7" name="Oval 6"/>
          <p:cNvSpPr/>
          <p:nvPr/>
        </p:nvSpPr>
        <p:spPr>
          <a:xfrm>
            <a:off x="1062000" y="1864800"/>
            <a:ext cx="306000" cy="302400"/>
          </a:xfrm>
          <a:prstGeom prst="ellipse">
            <a:avLst/>
          </a:prstGeom>
          <a:solidFill>
            <a:srgbClr val="A9AFBA"/>
          </a:solidFill>
          <a:ln w="9525">
            <a:solidFill>
              <a:srgbClr val="7D8594"/>
            </a:solidFill>
          </a:ln>
        </p:spPr>
        <p:txBody>
          <a:bodyPr rtlCol="0" anchor="ctr" lIns="36000" rIns="36000" tIns="36000" bIns="36000"/>
          <a:lstStyle/>
          <a:p>
            <a:pPr algn="ctr"/>
          </a:p>
        </p:txBody>
      </p:sp>
      <p:sp>
        <p:nvSpPr>
          <p:cNvPr id="8" name="Oval 7"/>
          <p:cNvSpPr/>
          <p:nvPr/>
        </p:nvSpPr>
        <p:spPr>
          <a:xfrm>
            <a:off x="1462500" y="1864800"/>
            <a:ext cx="306000" cy="302400"/>
          </a:xfrm>
          <a:prstGeom prst="ellipse">
            <a:avLst/>
          </a:prstGeom>
          <a:solidFill>
            <a:srgbClr val="A9AFBA"/>
          </a:solidFill>
          <a:ln w="9525">
            <a:solidFill>
              <a:srgbClr val="7D8594"/>
            </a:solidFill>
          </a:ln>
        </p:spPr>
        <p:txBody>
          <a:bodyPr rtlCol="0" anchor="ctr" lIns="36000" rIns="36000" tIns="36000" bIns="36000"/>
          <a:lstStyle/>
          <a:p>
            <a:pPr algn="ctr"/>
          </a:p>
        </p:txBody>
      </p:sp>
      <p:sp>
        <p:nvSpPr>
          <p:cNvPr id="9" name="Oval 8"/>
          <p:cNvSpPr/>
          <p:nvPr/>
        </p:nvSpPr>
        <p:spPr>
          <a:xfrm>
            <a:off x="1863000" y="1864800"/>
            <a:ext cx="306000" cy="302400"/>
          </a:xfrm>
          <a:prstGeom prst="ellipse">
            <a:avLst/>
          </a:prstGeom>
          <a:solidFill>
            <a:srgbClr val="A9AFBA"/>
          </a:solidFill>
          <a:ln w="9525">
            <a:solidFill>
              <a:srgbClr val="7D8594"/>
            </a:solidFill>
          </a:ln>
        </p:spPr>
        <p:txBody>
          <a:bodyPr rtlCol="0" anchor="ctr" lIns="36000" rIns="36000" tIns="36000" bIns="36000"/>
          <a:lstStyle/>
          <a:p>
            <a:pPr algn="ctr"/>
          </a:p>
        </p:txBody>
      </p:sp>
      <p:sp>
        <p:nvSpPr>
          <p:cNvPr id="10" name="Oval 9"/>
          <p:cNvSpPr/>
          <p:nvPr/>
        </p:nvSpPr>
        <p:spPr>
          <a:xfrm>
            <a:off x="2263500" y="1864800"/>
            <a:ext cx="306000" cy="302400"/>
          </a:xfrm>
          <a:prstGeom prst="ellipse">
            <a:avLst/>
          </a:prstGeom>
          <a:solidFill>
            <a:srgbClr val="A9AFBA"/>
          </a:solidFill>
          <a:ln w="9525">
            <a:solidFill>
              <a:srgbClr val="7D8594"/>
            </a:solidFill>
          </a:ln>
        </p:spPr>
        <p:txBody>
          <a:bodyPr rtlCol="0" anchor="ctr" lIns="36000" rIns="36000" tIns="36000" bIns="36000"/>
          <a:lstStyle/>
          <a:p>
            <a:pPr algn="ctr"/>
          </a:p>
        </p:txBody>
      </p:sp>
      <p:sp>
        <p:nvSpPr>
          <p:cNvPr id="11" name="Oval 10"/>
          <p:cNvSpPr/>
          <p:nvPr/>
        </p:nvSpPr>
        <p:spPr>
          <a:xfrm>
            <a:off x="2664000" y="1864800"/>
            <a:ext cx="306000" cy="302400"/>
          </a:xfrm>
          <a:prstGeom prst="ellipse">
            <a:avLst/>
          </a:prstGeom>
          <a:solidFill>
            <a:srgbClr val="A9AFBA"/>
          </a:solidFill>
          <a:ln w="9525">
            <a:solidFill>
              <a:srgbClr val="7D8594"/>
            </a:solidFill>
          </a:ln>
        </p:spPr>
        <p:txBody>
          <a:bodyPr rtlCol="0" anchor="ctr" lIns="36000" rIns="36000" tIns="36000" bIns="36000"/>
          <a:lstStyle/>
          <a:p>
            <a:pPr algn="ctr"/>
          </a:p>
        </p:txBody>
      </p:sp>
      <p:sp>
        <p:nvSpPr>
          <p:cNvPr id="12" name="Rectangle 11"/>
          <p:cNvSpPr/>
          <p:nvPr/>
        </p:nvSpPr>
        <p:spPr>
          <a:xfrm>
            <a:off x="864000" y="2160000"/>
            <a:ext cx="2304000" cy="324000"/>
          </a:xfrm>
          <a:prstGeom prst="rect">
            <a:avLst/>
          </a:prstGeom>
          <a:solidFill>
            <a:srgbClr val="5E6C85"/>
          </a:solidFill>
          <a:ln>
            <a:noFill/>
          </a:ln>
        </p:spPr>
        <p:txBody>
          <a:bodyPr rtlCol="0" anchor="ctr" lIns="36000" rIns="36000" tIns="36000" bIns="36000"/>
          <a:lstStyle/>
          <a:p>
            <a:pPr algn="ctr"/>
          </a:p>
        </p:txBody>
      </p:sp>
      <p:sp>
        <p:nvSpPr>
          <p:cNvPr id="13" name="Rectangle 12"/>
          <p:cNvSpPr/>
          <p:nvPr/>
        </p:nvSpPr>
        <p:spPr>
          <a:xfrm>
            <a:off x="756000" y="2790000"/>
            <a:ext cx="151200" cy="151200"/>
          </a:xfrm>
          <a:prstGeom prst="rect">
            <a:avLst/>
          </a:prstGeom>
          <a:solidFill>
            <a:srgbClr val="A9AFBA"/>
          </a:solidFill>
          <a:ln>
            <a:noFill/>
          </a:ln>
        </p:spPr>
        <p:txBody>
          <a:bodyPr rtlCol="0" anchor="ctr" lIns="36000" rIns="36000" tIns="36000" bIns="36000"/>
          <a:lstStyle/>
          <a:p>
            <a:pPr algn="ctr"/>
          </a:p>
        </p:txBody>
      </p:sp>
      <p:sp>
        <p:nvSpPr>
          <p:cNvPr id="14" name="TextBox 13"/>
          <p:cNvSpPr txBox="1"/>
          <p:nvPr/>
        </p:nvSpPr>
        <p:spPr>
          <a:xfrm>
            <a:off x="954000" y="2739600"/>
            <a:ext cx="720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솔더 범프</a:t>
            </a:r>
          </a:p>
        </p:txBody>
      </p:sp>
      <p:sp>
        <p:nvSpPr>
          <p:cNvPr id="15" name="Rectangle 14"/>
          <p:cNvSpPr/>
          <p:nvPr/>
        </p:nvSpPr>
        <p:spPr>
          <a:xfrm>
            <a:off x="1620000" y="2790000"/>
            <a:ext cx="151200" cy="151200"/>
          </a:xfrm>
          <a:prstGeom prst="rect">
            <a:avLst/>
          </a:prstGeom>
          <a:solidFill>
            <a:srgbClr val="8A97AD"/>
          </a:solidFill>
          <a:ln>
            <a:noFill/>
          </a:ln>
        </p:spPr>
        <p:txBody>
          <a:bodyPr rtlCol="0" anchor="ctr" lIns="36000" rIns="36000" tIns="36000" bIns="36000"/>
          <a:lstStyle/>
          <a:p>
            <a:pPr algn="ctr"/>
          </a:p>
        </p:txBody>
      </p:sp>
      <p:sp>
        <p:nvSpPr>
          <p:cNvPr id="16" name="TextBox 15"/>
          <p:cNvSpPr txBox="1"/>
          <p:nvPr/>
        </p:nvSpPr>
        <p:spPr>
          <a:xfrm>
            <a:off x="1818000" y="2739600"/>
            <a:ext cx="720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다이</a:t>
            </a:r>
          </a:p>
        </p:txBody>
      </p:sp>
      <p:sp>
        <p:nvSpPr>
          <p:cNvPr id="17" name="TextBox 16"/>
          <p:cNvSpPr txBox="1"/>
          <p:nvPr/>
        </p:nvSpPr>
        <p:spPr>
          <a:xfrm>
            <a:off x="684000" y="3114000"/>
            <a:ext cx="2664000" cy="1116000"/>
          </a:xfrm>
          <a:prstGeom prst="rect">
            <a:avLst/>
          </a:prstGeom>
          <a:noFill/>
        </p:spPr>
        <p:txBody>
          <a:bodyPr wrap="square" lIns="0" rIns="0" tIns="0" bIns="0" anchor="t">
            <a:noAutofit/>
          </a:bodyPr>
          <a:lstStyle/>
          <a:p>
            <a:pPr algn="ctr" marL="0" indent="0">
              <a:lnSpc>
                <a:spcPts val="1680"/>
              </a:lnSpc>
              <a:spcBef>
                <a:spcPts val="0"/>
              </a:spcBef>
              <a:spcAft>
                <a:spcPts val="400"/>
              </a:spcAft>
              <a:buNone/>
            </a:pPr>
            <a:r>
              <a:rPr sz="1400" b="1" i="0" lang="ko-KR" altLang="en-US">
                <a:solidFill>
                  <a:srgbClr val="1E2532"/>
                </a:solidFill>
                <a:latin typeface="맑은 고딕"/>
                <a:ea typeface="맑은 고딕"/>
                <a:cs typeface="맑은 고딕"/>
              </a:rPr>
              <a:t>다이 사이를 솔더 범프로 연결</a:t>
            </a:r>
          </a:p>
          <a:p>
            <a:pPr algn="ctr" marL="0" indent="0">
              <a:lnSpc>
                <a:spcPts val="1680"/>
              </a:lnSpc>
              <a:spcBef>
                <a:spcPts val="0"/>
              </a:spcBef>
              <a:spcAft>
                <a:spcPts val="600"/>
              </a:spcAft>
              <a:buNone/>
            </a:pPr>
            <a:r>
              <a:rPr sz="1400" b="1" i="0" lang="ko-KR" altLang="en-US">
                <a:solidFill>
                  <a:srgbClr val="1E2532"/>
                </a:solidFill>
                <a:latin typeface="맑은 고딕"/>
                <a:ea typeface="맑은 고딕"/>
                <a:cs typeface="맑은 고딕"/>
              </a:rPr>
              <a:t>연결 간격을 좁히는 데 한계</a:t>
            </a:r>
          </a:p>
          <a:p>
            <a:pPr algn="ctr" marL="0" indent="0">
              <a:lnSpc>
                <a:spcPts val="1560"/>
              </a:lnSpc>
              <a:spcBef>
                <a:spcPts val="0"/>
              </a:spcBef>
              <a:spcAft>
                <a:spcPts val="200"/>
              </a:spcAft>
              <a:buNone/>
            </a:pPr>
            <a:r>
              <a:rPr sz="1300" b="0" i="0" lang="ko-KR" altLang="en-US">
                <a:solidFill>
                  <a:srgbClr val="5B6475"/>
                </a:solidFill>
                <a:latin typeface="맑은 고딕"/>
                <a:ea typeface="맑은 고딕"/>
                <a:cs typeface="맑은 고딕"/>
              </a:rPr>
              <a:t>비유: 접착제(솔더)로 붙이기</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
            </a:r>
          </a:p>
        </p:txBody>
      </p:sp>
      <p:sp>
        <p:nvSpPr>
          <p:cNvPr id="18" name="Rounded Rectangle 17"/>
          <p:cNvSpPr/>
          <p:nvPr/>
        </p:nvSpPr>
        <p:spPr>
          <a:xfrm>
            <a:off x="4068000" y="990000"/>
            <a:ext cx="2952000" cy="345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9" name="TextBox 18"/>
          <p:cNvSpPr txBox="1"/>
          <p:nvPr/>
        </p:nvSpPr>
        <p:spPr>
          <a:xfrm>
            <a:off x="4176000" y="1098000"/>
            <a:ext cx="2736000" cy="324000"/>
          </a:xfrm>
          <a:prstGeom prst="rect">
            <a:avLst/>
          </a:prstGeom>
          <a:noFill/>
        </p:spPr>
        <p:txBody>
          <a:bodyPr wrap="square" lIns="0" rIns="0" tIns="0" bIns="0" anchor="ctr">
            <a:noAutofit/>
          </a:bodyPr>
          <a:lstStyle/>
          <a:p>
            <a:pPr algn="ctr" marL="0" indent="0">
              <a:lnSpc>
                <a:spcPts val="2039"/>
              </a:lnSpc>
              <a:spcBef>
                <a:spcPts val="0"/>
              </a:spcBef>
              <a:spcAft>
                <a:spcPts val="0"/>
              </a:spcAft>
              <a:buNone/>
            </a:pPr>
            <a:r>
              <a:rPr sz="1700" b="1" i="0" lang="ko-KR" altLang="en-US">
                <a:solidFill>
                  <a:srgbClr val="7C3AED"/>
                </a:solidFill>
                <a:latin typeface="맑은 고딕"/>
                <a:ea typeface="맑은 고딕"/>
                <a:cs typeface="맑은 고딕"/>
              </a:rPr>
              <a:t>하이브리드 본딩</a:t>
            </a:r>
          </a:p>
        </p:txBody>
      </p:sp>
      <p:sp>
        <p:nvSpPr>
          <p:cNvPr id="20" name="Rectangle 19"/>
          <p:cNvSpPr/>
          <p:nvPr/>
        </p:nvSpPr>
        <p:spPr>
          <a:xfrm>
            <a:off x="4392000" y="1548000"/>
            <a:ext cx="2304000" cy="324000"/>
          </a:xfrm>
          <a:prstGeom prst="rect">
            <a:avLst/>
          </a:prstGeom>
          <a:solidFill>
            <a:srgbClr val="8A97AD"/>
          </a:solidFill>
          <a:ln>
            <a:noFill/>
          </a:ln>
        </p:spPr>
        <p:txBody>
          <a:bodyPr rtlCol="0" anchor="ctr" lIns="36000" rIns="36000" tIns="36000" bIns="36000"/>
          <a:lstStyle/>
          <a:p>
            <a:pPr algn="ctr"/>
          </a:p>
        </p:txBody>
      </p:sp>
      <p:sp>
        <p:nvSpPr>
          <p:cNvPr id="21" name="Rectangle 20"/>
          <p:cNvSpPr/>
          <p:nvPr/>
        </p:nvSpPr>
        <p:spPr>
          <a:xfrm>
            <a:off x="4392000" y="1735200"/>
            <a:ext cx="2304000" cy="136800"/>
          </a:xfrm>
          <a:prstGeom prst="rect">
            <a:avLst/>
          </a:prstGeom>
          <a:solidFill>
            <a:srgbClr val="BFE3E6"/>
          </a:solidFill>
          <a:ln>
            <a:noFill/>
          </a:ln>
        </p:spPr>
        <p:txBody>
          <a:bodyPr rtlCol="0" anchor="ctr" lIns="36000" rIns="36000" tIns="36000" bIns="36000"/>
          <a:lstStyle/>
          <a:p>
            <a:pPr algn="ctr"/>
          </a:p>
        </p:txBody>
      </p:sp>
      <p:sp>
        <p:nvSpPr>
          <p:cNvPr id="22" name="Rectangle 21"/>
          <p:cNvSpPr/>
          <p:nvPr/>
        </p:nvSpPr>
        <p:spPr>
          <a:xfrm>
            <a:off x="4392000" y="1908000"/>
            <a:ext cx="2304000" cy="136800"/>
          </a:xfrm>
          <a:prstGeom prst="rect">
            <a:avLst/>
          </a:prstGeom>
          <a:solidFill>
            <a:srgbClr val="BFE3E6"/>
          </a:solidFill>
          <a:ln>
            <a:noFill/>
          </a:ln>
        </p:spPr>
        <p:txBody>
          <a:bodyPr rtlCol="0" anchor="ctr" lIns="36000" rIns="36000" tIns="36000" bIns="36000"/>
          <a:lstStyle/>
          <a:p>
            <a:pPr algn="ctr"/>
          </a:p>
        </p:txBody>
      </p:sp>
      <p:sp>
        <p:nvSpPr>
          <p:cNvPr id="23" name="Rectangle 22"/>
          <p:cNvSpPr/>
          <p:nvPr/>
        </p:nvSpPr>
        <p:spPr>
          <a:xfrm>
            <a:off x="4554000" y="1735200"/>
            <a:ext cx="252000" cy="136800"/>
          </a:xfrm>
          <a:prstGeom prst="rect">
            <a:avLst/>
          </a:prstGeom>
          <a:solidFill>
            <a:srgbClr val="EA7A28"/>
          </a:solidFill>
          <a:ln>
            <a:noFill/>
          </a:ln>
        </p:spPr>
        <p:txBody>
          <a:bodyPr rtlCol="0" anchor="ctr" lIns="36000" rIns="36000" tIns="36000" bIns="36000"/>
          <a:lstStyle/>
          <a:p>
            <a:pPr algn="ctr"/>
          </a:p>
        </p:txBody>
      </p:sp>
      <p:sp>
        <p:nvSpPr>
          <p:cNvPr id="24" name="Rectangle 23"/>
          <p:cNvSpPr/>
          <p:nvPr/>
        </p:nvSpPr>
        <p:spPr>
          <a:xfrm>
            <a:off x="4554000" y="1908000"/>
            <a:ext cx="252000" cy="136800"/>
          </a:xfrm>
          <a:prstGeom prst="rect">
            <a:avLst/>
          </a:prstGeom>
          <a:solidFill>
            <a:srgbClr val="EA7A28"/>
          </a:solidFill>
          <a:ln>
            <a:noFill/>
          </a:ln>
        </p:spPr>
        <p:txBody>
          <a:bodyPr rtlCol="0" anchor="ctr" lIns="36000" rIns="36000" tIns="36000" bIns="36000"/>
          <a:lstStyle/>
          <a:p>
            <a:pPr algn="ctr"/>
          </a:p>
        </p:txBody>
      </p:sp>
      <p:sp>
        <p:nvSpPr>
          <p:cNvPr id="25" name="Rectangle 24"/>
          <p:cNvSpPr/>
          <p:nvPr/>
        </p:nvSpPr>
        <p:spPr>
          <a:xfrm>
            <a:off x="4899600" y="1735200"/>
            <a:ext cx="252000" cy="136800"/>
          </a:xfrm>
          <a:prstGeom prst="rect">
            <a:avLst/>
          </a:prstGeom>
          <a:solidFill>
            <a:srgbClr val="EA7A28"/>
          </a:solidFill>
          <a:ln>
            <a:noFill/>
          </a:ln>
        </p:spPr>
        <p:txBody>
          <a:bodyPr rtlCol="0" anchor="ctr" lIns="36000" rIns="36000" tIns="36000" bIns="36000"/>
          <a:lstStyle/>
          <a:p>
            <a:pPr algn="ctr"/>
          </a:p>
        </p:txBody>
      </p:sp>
      <p:sp>
        <p:nvSpPr>
          <p:cNvPr id="26" name="Rectangle 25"/>
          <p:cNvSpPr/>
          <p:nvPr/>
        </p:nvSpPr>
        <p:spPr>
          <a:xfrm>
            <a:off x="4899600" y="1908000"/>
            <a:ext cx="252000" cy="136800"/>
          </a:xfrm>
          <a:prstGeom prst="rect">
            <a:avLst/>
          </a:prstGeom>
          <a:solidFill>
            <a:srgbClr val="EA7A28"/>
          </a:solidFill>
          <a:ln>
            <a:noFill/>
          </a:ln>
        </p:spPr>
        <p:txBody>
          <a:bodyPr rtlCol="0" anchor="ctr" lIns="36000" rIns="36000" tIns="36000" bIns="36000"/>
          <a:lstStyle/>
          <a:p>
            <a:pPr algn="ctr"/>
          </a:p>
        </p:txBody>
      </p:sp>
      <p:sp>
        <p:nvSpPr>
          <p:cNvPr id="27" name="Rectangle 26"/>
          <p:cNvSpPr/>
          <p:nvPr/>
        </p:nvSpPr>
        <p:spPr>
          <a:xfrm>
            <a:off x="5245200" y="1735200"/>
            <a:ext cx="252000" cy="136800"/>
          </a:xfrm>
          <a:prstGeom prst="rect">
            <a:avLst/>
          </a:prstGeom>
          <a:solidFill>
            <a:srgbClr val="EA7A28"/>
          </a:solidFill>
          <a:ln>
            <a:noFill/>
          </a:ln>
        </p:spPr>
        <p:txBody>
          <a:bodyPr rtlCol="0" anchor="ctr" lIns="36000" rIns="36000" tIns="36000" bIns="36000"/>
          <a:lstStyle/>
          <a:p>
            <a:pPr algn="ctr"/>
          </a:p>
        </p:txBody>
      </p:sp>
      <p:sp>
        <p:nvSpPr>
          <p:cNvPr id="28" name="Rectangle 27"/>
          <p:cNvSpPr/>
          <p:nvPr/>
        </p:nvSpPr>
        <p:spPr>
          <a:xfrm>
            <a:off x="5245200" y="1908000"/>
            <a:ext cx="252000" cy="136800"/>
          </a:xfrm>
          <a:prstGeom prst="rect">
            <a:avLst/>
          </a:prstGeom>
          <a:solidFill>
            <a:srgbClr val="EA7A28"/>
          </a:solidFill>
          <a:ln>
            <a:noFill/>
          </a:ln>
        </p:spPr>
        <p:txBody>
          <a:bodyPr rtlCol="0" anchor="ctr" lIns="36000" rIns="36000" tIns="36000" bIns="36000"/>
          <a:lstStyle/>
          <a:p>
            <a:pPr algn="ctr"/>
          </a:p>
        </p:txBody>
      </p:sp>
      <p:sp>
        <p:nvSpPr>
          <p:cNvPr id="29" name="Rectangle 28"/>
          <p:cNvSpPr/>
          <p:nvPr/>
        </p:nvSpPr>
        <p:spPr>
          <a:xfrm>
            <a:off x="5590800" y="1735200"/>
            <a:ext cx="252000" cy="136800"/>
          </a:xfrm>
          <a:prstGeom prst="rect">
            <a:avLst/>
          </a:prstGeom>
          <a:solidFill>
            <a:srgbClr val="EA7A28"/>
          </a:solidFill>
          <a:ln>
            <a:noFill/>
          </a:ln>
        </p:spPr>
        <p:txBody>
          <a:bodyPr rtlCol="0" anchor="ctr" lIns="36000" rIns="36000" tIns="36000" bIns="36000"/>
          <a:lstStyle/>
          <a:p>
            <a:pPr algn="ctr"/>
          </a:p>
        </p:txBody>
      </p:sp>
      <p:sp>
        <p:nvSpPr>
          <p:cNvPr id="30" name="Rectangle 29"/>
          <p:cNvSpPr/>
          <p:nvPr/>
        </p:nvSpPr>
        <p:spPr>
          <a:xfrm>
            <a:off x="5590800" y="1908000"/>
            <a:ext cx="252000" cy="136800"/>
          </a:xfrm>
          <a:prstGeom prst="rect">
            <a:avLst/>
          </a:prstGeom>
          <a:solidFill>
            <a:srgbClr val="EA7A28"/>
          </a:solidFill>
          <a:ln>
            <a:noFill/>
          </a:ln>
        </p:spPr>
        <p:txBody>
          <a:bodyPr rtlCol="0" anchor="ctr" lIns="36000" rIns="36000" tIns="36000" bIns="36000"/>
          <a:lstStyle/>
          <a:p>
            <a:pPr algn="ctr"/>
          </a:p>
        </p:txBody>
      </p:sp>
      <p:sp>
        <p:nvSpPr>
          <p:cNvPr id="31" name="Rectangle 30"/>
          <p:cNvSpPr/>
          <p:nvPr/>
        </p:nvSpPr>
        <p:spPr>
          <a:xfrm>
            <a:off x="5936400" y="1735200"/>
            <a:ext cx="252000" cy="136800"/>
          </a:xfrm>
          <a:prstGeom prst="rect">
            <a:avLst/>
          </a:prstGeom>
          <a:solidFill>
            <a:srgbClr val="EA7A28"/>
          </a:solidFill>
          <a:ln>
            <a:noFill/>
          </a:ln>
        </p:spPr>
        <p:txBody>
          <a:bodyPr rtlCol="0" anchor="ctr" lIns="36000" rIns="36000" tIns="36000" bIns="36000"/>
          <a:lstStyle/>
          <a:p>
            <a:pPr algn="ctr"/>
          </a:p>
        </p:txBody>
      </p:sp>
      <p:sp>
        <p:nvSpPr>
          <p:cNvPr id="32" name="Rectangle 31"/>
          <p:cNvSpPr/>
          <p:nvPr/>
        </p:nvSpPr>
        <p:spPr>
          <a:xfrm>
            <a:off x="5936400" y="1908000"/>
            <a:ext cx="252000" cy="136800"/>
          </a:xfrm>
          <a:prstGeom prst="rect">
            <a:avLst/>
          </a:prstGeom>
          <a:solidFill>
            <a:srgbClr val="EA7A28"/>
          </a:solidFill>
          <a:ln>
            <a:noFill/>
          </a:ln>
        </p:spPr>
        <p:txBody>
          <a:bodyPr rtlCol="0" anchor="ctr" lIns="36000" rIns="36000" tIns="36000" bIns="36000"/>
          <a:lstStyle/>
          <a:p>
            <a:pPr algn="ctr"/>
          </a:p>
        </p:txBody>
      </p:sp>
      <p:sp>
        <p:nvSpPr>
          <p:cNvPr id="33" name="Rectangle 32"/>
          <p:cNvSpPr/>
          <p:nvPr/>
        </p:nvSpPr>
        <p:spPr>
          <a:xfrm>
            <a:off x="6282000" y="1735200"/>
            <a:ext cx="252000" cy="136800"/>
          </a:xfrm>
          <a:prstGeom prst="rect">
            <a:avLst/>
          </a:prstGeom>
          <a:solidFill>
            <a:srgbClr val="EA7A28"/>
          </a:solidFill>
          <a:ln>
            <a:noFill/>
          </a:ln>
        </p:spPr>
        <p:txBody>
          <a:bodyPr rtlCol="0" anchor="ctr" lIns="36000" rIns="36000" tIns="36000" bIns="36000"/>
          <a:lstStyle/>
          <a:p>
            <a:pPr algn="ctr"/>
          </a:p>
        </p:txBody>
      </p:sp>
      <p:sp>
        <p:nvSpPr>
          <p:cNvPr id="34" name="Rectangle 33"/>
          <p:cNvSpPr/>
          <p:nvPr/>
        </p:nvSpPr>
        <p:spPr>
          <a:xfrm>
            <a:off x="6282000" y="1908000"/>
            <a:ext cx="252000" cy="136800"/>
          </a:xfrm>
          <a:prstGeom prst="rect">
            <a:avLst/>
          </a:prstGeom>
          <a:solidFill>
            <a:srgbClr val="EA7A28"/>
          </a:solidFill>
          <a:ln>
            <a:noFill/>
          </a:ln>
        </p:spPr>
        <p:txBody>
          <a:bodyPr rtlCol="0" anchor="ctr" lIns="36000" rIns="36000" tIns="36000" bIns="36000"/>
          <a:lstStyle/>
          <a:p>
            <a:pPr algn="ctr"/>
          </a:p>
        </p:txBody>
      </p:sp>
      <p:sp>
        <p:nvSpPr>
          <p:cNvPr id="35" name="Rectangle 34"/>
          <p:cNvSpPr/>
          <p:nvPr/>
        </p:nvSpPr>
        <p:spPr>
          <a:xfrm>
            <a:off x="4392000" y="1872000"/>
            <a:ext cx="2304000" cy="36000"/>
          </a:xfrm>
          <a:prstGeom prst="rect">
            <a:avLst/>
          </a:prstGeom>
          <a:solidFill>
            <a:srgbClr val="7C3AED"/>
          </a:solidFill>
          <a:ln>
            <a:noFill/>
          </a:ln>
        </p:spPr>
        <p:txBody>
          <a:bodyPr rtlCol="0" anchor="ctr" lIns="36000" rIns="36000" tIns="36000" bIns="36000"/>
          <a:lstStyle/>
          <a:p>
            <a:pPr algn="ctr"/>
          </a:p>
        </p:txBody>
      </p:sp>
      <p:sp>
        <p:nvSpPr>
          <p:cNvPr id="36" name="Rectangle 35"/>
          <p:cNvSpPr/>
          <p:nvPr/>
        </p:nvSpPr>
        <p:spPr>
          <a:xfrm>
            <a:off x="4392000" y="2044800"/>
            <a:ext cx="2304000" cy="324000"/>
          </a:xfrm>
          <a:prstGeom prst="rect">
            <a:avLst/>
          </a:prstGeom>
          <a:solidFill>
            <a:srgbClr val="5E6C85"/>
          </a:solidFill>
          <a:ln>
            <a:noFill/>
          </a:ln>
        </p:spPr>
        <p:txBody>
          <a:bodyPr rtlCol="0" anchor="ctr" lIns="36000" rIns="36000" tIns="36000" bIns="36000"/>
          <a:lstStyle/>
          <a:p>
            <a:pPr algn="ctr"/>
          </a:p>
        </p:txBody>
      </p:sp>
      <p:sp>
        <p:nvSpPr>
          <p:cNvPr id="37" name="Rectangle 36"/>
          <p:cNvSpPr/>
          <p:nvPr/>
        </p:nvSpPr>
        <p:spPr>
          <a:xfrm>
            <a:off x="4284000" y="2790000"/>
            <a:ext cx="151200" cy="151200"/>
          </a:xfrm>
          <a:prstGeom prst="rect">
            <a:avLst/>
          </a:prstGeom>
          <a:solidFill>
            <a:srgbClr val="BFE3E6"/>
          </a:solidFill>
          <a:ln>
            <a:noFill/>
          </a:ln>
        </p:spPr>
        <p:txBody>
          <a:bodyPr rtlCol="0" anchor="ctr" lIns="36000" rIns="36000" tIns="36000" bIns="36000"/>
          <a:lstStyle/>
          <a:p>
            <a:pPr algn="ctr"/>
          </a:p>
        </p:txBody>
      </p:sp>
      <p:sp>
        <p:nvSpPr>
          <p:cNvPr id="38" name="TextBox 37"/>
          <p:cNvSpPr txBox="1"/>
          <p:nvPr/>
        </p:nvSpPr>
        <p:spPr>
          <a:xfrm>
            <a:off x="4482000" y="2739600"/>
            <a:ext cx="720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산화막</a:t>
            </a:r>
          </a:p>
        </p:txBody>
      </p:sp>
      <p:sp>
        <p:nvSpPr>
          <p:cNvPr id="39" name="Rectangle 38"/>
          <p:cNvSpPr/>
          <p:nvPr/>
        </p:nvSpPr>
        <p:spPr>
          <a:xfrm>
            <a:off x="5148000" y="2790000"/>
            <a:ext cx="151200" cy="151200"/>
          </a:xfrm>
          <a:prstGeom prst="rect">
            <a:avLst/>
          </a:prstGeom>
          <a:solidFill>
            <a:srgbClr val="EA7A28"/>
          </a:solidFill>
          <a:ln>
            <a:noFill/>
          </a:ln>
        </p:spPr>
        <p:txBody>
          <a:bodyPr rtlCol="0" anchor="ctr" lIns="36000" rIns="36000" tIns="36000" bIns="36000"/>
          <a:lstStyle/>
          <a:p>
            <a:pPr algn="ctr"/>
          </a:p>
        </p:txBody>
      </p:sp>
      <p:sp>
        <p:nvSpPr>
          <p:cNvPr id="40" name="TextBox 39"/>
          <p:cNvSpPr txBox="1"/>
          <p:nvPr/>
        </p:nvSpPr>
        <p:spPr>
          <a:xfrm>
            <a:off x="5346000" y="2739600"/>
            <a:ext cx="720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구리 패드</a:t>
            </a:r>
          </a:p>
        </p:txBody>
      </p:sp>
      <p:sp>
        <p:nvSpPr>
          <p:cNvPr id="41" name="Rectangle 40"/>
          <p:cNvSpPr/>
          <p:nvPr/>
        </p:nvSpPr>
        <p:spPr>
          <a:xfrm>
            <a:off x="6012000" y="2790000"/>
            <a:ext cx="151200" cy="151200"/>
          </a:xfrm>
          <a:prstGeom prst="rect">
            <a:avLst/>
          </a:prstGeom>
          <a:solidFill>
            <a:srgbClr val="7C3AED"/>
          </a:solidFill>
          <a:ln>
            <a:noFill/>
          </a:ln>
        </p:spPr>
        <p:txBody>
          <a:bodyPr rtlCol="0" anchor="ctr" lIns="36000" rIns="36000" tIns="36000" bIns="36000"/>
          <a:lstStyle/>
          <a:p>
            <a:pPr algn="ctr"/>
          </a:p>
        </p:txBody>
      </p:sp>
      <p:sp>
        <p:nvSpPr>
          <p:cNvPr id="42" name="TextBox 41"/>
          <p:cNvSpPr txBox="1"/>
          <p:nvPr/>
        </p:nvSpPr>
        <p:spPr>
          <a:xfrm>
            <a:off x="6210000" y="2739600"/>
            <a:ext cx="720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접합 계면</a:t>
            </a:r>
          </a:p>
        </p:txBody>
      </p:sp>
      <p:sp>
        <p:nvSpPr>
          <p:cNvPr id="43" name="TextBox 42"/>
          <p:cNvSpPr txBox="1"/>
          <p:nvPr/>
        </p:nvSpPr>
        <p:spPr>
          <a:xfrm>
            <a:off x="4212000" y="3114000"/>
            <a:ext cx="2664000" cy="1116000"/>
          </a:xfrm>
          <a:prstGeom prst="rect">
            <a:avLst/>
          </a:prstGeom>
          <a:noFill/>
        </p:spPr>
        <p:txBody>
          <a:bodyPr wrap="square" lIns="0" rIns="0" tIns="0" bIns="0" anchor="t">
            <a:noAutofit/>
          </a:bodyPr>
          <a:lstStyle/>
          <a:p>
            <a:pPr algn="ctr" marL="0" indent="0">
              <a:lnSpc>
                <a:spcPts val="1680"/>
              </a:lnSpc>
              <a:spcBef>
                <a:spcPts val="0"/>
              </a:spcBef>
              <a:spcAft>
                <a:spcPts val="400"/>
              </a:spcAft>
              <a:buNone/>
            </a:pPr>
            <a:r>
              <a:rPr sz="1400" b="1" i="0" lang="ko-KR" altLang="en-US">
                <a:solidFill>
                  <a:srgbClr val="1E2532"/>
                </a:solidFill>
                <a:latin typeface="맑은 고딕"/>
                <a:ea typeface="맑은 고딕"/>
                <a:cs typeface="맑은 고딕"/>
              </a:rPr>
              <a:t>구리–구리 + 산화막–산화막</a:t>
            </a:r>
          </a:p>
          <a:p>
            <a:pPr algn="ctr" marL="0" indent="0">
              <a:lnSpc>
                <a:spcPts val="1680"/>
              </a:lnSpc>
              <a:spcBef>
                <a:spcPts val="0"/>
              </a:spcBef>
              <a:spcAft>
                <a:spcPts val="600"/>
              </a:spcAft>
              <a:buNone/>
            </a:pPr>
            <a:r>
              <a:rPr sz="1400" b="1" i="0" lang="ko-KR" altLang="en-US">
                <a:solidFill>
                  <a:srgbClr val="1E2532"/>
                </a:solidFill>
                <a:latin typeface="맑은 고딕"/>
                <a:ea typeface="맑은 고딕"/>
                <a:cs typeface="맑은 고딕"/>
              </a:rPr>
              <a:t>직접 접합</a:t>
            </a:r>
          </a:p>
          <a:p>
            <a:pPr algn="ctr" marL="0" indent="0">
              <a:lnSpc>
                <a:spcPts val="1560"/>
              </a:lnSpc>
              <a:spcBef>
                <a:spcPts val="0"/>
              </a:spcBef>
              <a:spcAft>
                <a:spcPts val="200"/>
              </a:spcAft>
              <a:buNone/>
            </a:pPr>
            <a:r>
              <a:rPr sz="1300" b="1" i="0" lang="ko-KR" altLang="en-US">
                <a:solidFill>
                  <a:srgbClr val="7C3AED"/>
                </a:solidFill>
                <a:latin typeface="맑은 고딕"/>
                <a:ea typeface="맑은 고딕"/>
                <a:cs typeface="맑은 고딕"/>
              </a:rPr>
              <a:t>10 µm 이하 연결 간격</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비유: 거울처럼 평평한 두 면을 그대로 맞붙이기</a:t>
            </a:r>
          </a:p>
        </p:txBody>
      </p:sp>
      <p:cxnSp>
        <p:nvCxnSpPr>
          <p:cNvPr id="44" name="Connector 43"/>
          <p:cNvCxnSpPr/>
          <p:nvPr/>
        </p:nvCxnSpPr>
        <p:spPr>
          <a:xfrm>
            <a:off x="3564000" y="2430000"/>
            <a:ext cx="432000" cy="0"/>
          </a:xfrm>
          <a:prstGeom prst="line">
            <a:avLst/>
          </a:prstGeom>
          <a:ln w="38100">
            <a:solidFill>
              <a:srgbClr val="7C3AED"/>
            </a:solidFill>
            <a:tailEnd type="triangle" w="med" len="med"/>
          </a:ln>
        </p:spPr>
      </p:cxnSp>
      <p:sp>
        <p:nvSpPr>
          <p:cNvPr id="45" name="TextBox 44"/>
          <p:cNvSpPr txBox="1"/>
          <p:nvPr/>
        </p:nvSpPr>
        <p:spPr>
          <a:xfrm>
            <a:off x="7596000" y="990000"/>
            <a:ext cx="4056120" cy="324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성패를 좌우하는 공정</a:t>
            </a:r>
          </a:p>
        </p:txBody>
      </p:sp>
      <p:sp>
        <p:nvSpPr>
          <p:cNvPr id="46" name="Rounded Rectangle 45"/>
          <p:cNvSpPr/>
          <p:nvPr/>
        </p:nvSpPr>
        <p:spPr>
          <a:xfrm>
            <a:off x="7596000" y="1440000"/>
            <a:ext cx="2832120" cy="612000"/>
          </a:xfrm>
          <a:prstGeom prst="roundRect">
            <a:avLst>
              <a:gd name="adj" fmla="val 18000"/>
            </a:avLst>
          </a:prstGeom>
          <a:solidFill>
            <a:srgbClr val="E3ECFB"/>
          </a:solidFill>
          <a:ln w="22225">
            <a:solidFill>
              <a:srgbClr val="2563C9"/>
            </a:solid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2563C9"/>
                </a:solidFill>
                <a:latin typeface="맑은 고딕"/>
                <a:ea typeface="맑은 고딕"/>
                <a:cs typeface="맑은 고딕"/>
              </a:rPr>
              <a:t>CMP 평탄화</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나노미터 이하의 표면 거칠기</a:t>
            </a:r>
          </a:p>
        </p:txBody>
      </p:sp>
      <p:sp>
        <p:nvSpPr>
          <p:cNvPr id="47" name="Rounded Rectangle 46"/>
          <p:cNvSpPr/>
          <p:nvPr/>
        </p:nvSpPr>
        <p:spPr>
          <a:xfrm>
            <a:off x="7596000" y="2178000"/>
            <a:ext cx="2832120" cy="612000"/>
          </a:xfrm>
          <a:prstGeom prst="roundRect">
            <a:avLst>
              <a:gd name="adj" fmla="val 18000"/>
            </a:avLst>
          </a:prstGeom>
          <a:solidFill>
            <a:srgbClr val="E3ECFB"/>
          </a:solidFill>
          <a:ln w="22225">
            <a:solidFill>
              <a:srgbClr val="2563C9"/>
            </a:solid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2563C9"/>
                </a:solidFill>
                <a:latin typeface="맑은 고딕"/>
                <a:ea typeface="맑은 고딕"/>
                <a:cs typeface="맑은 고딕"/>
              </a:rPr>
              <a:t>표면 활성화</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플라즈마 처리</a:t>
            </a:r>
          </a:p>
        </p:txBody>
      </p:sp>
      <p:sp>
        <p:nvSpPr>
          <p:cNvPr id="48" name="Rounded Rectangle 47"/>
          <p:cNvSpPr/>
          <p:nvPr/>
        </p:nvSpPr>
        <p:spPr>
          <a:xfrm>
            <a:off x="7596000" y="2916000"/>
            <a:ext cx="2832120" cy="612000"/>
          </a:xfrm>
          <a:prstGeom prst="roundRect">
            <a:avLst>
              <a:gd name="adj" fmla="val 18000"/>
            </a:avLst>
          </a:prstGeom>
          <a:solidFill>
            <a:srgbClr val="E3ECFB"/>
          </a:solidFill>
          <a:ln w="22225">
            <a:solidFill>
              <a:srgbClr val="2563C9"/>
            </a:solid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2563C9"/>
                </a:solidFill>
                <a:latin typeface="맑은 고딕"/>
                <a:ea typeface="맑은 고딕"/>
                <a:cs typeface="맑은 고딕"/>
              </a:rPr>
              <a:t>파티클 제어</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세정 · 오염 관리</a:t>
            </a:r>
          </a:p>
        </p:txBody>
      </p:sp>
      <p:sp>
        <p:nvSpPr>
          <p:cNvPr id="49" name="Rounded Rectangle 48"/>
          <p:cNvSpPr/>
          <p:nvPr/>
        </p:nvSpPr>
        <p:spPr>
          <a:xfrm>
            <a:off x="7596000" y="3654000"/>
            <a:ext cx="2832120" cy="612000"/>
          </a:xfrm>
          <a:prstGeom prst="roundRect">
            <a:avLst>
              <a:gd name="adj" fmla="val 18000"/>
            </a:avLst>
          </a:prstGeom>
          <a:solidFill>
            <a:srgbClr val="E3ECFB"/>
          </a:solidFill>
          <a:ln w="22225">
            <a:solidFill>
              <a:srgbClr val="2563C9"/>
            </a:solid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2563C9"/>
                </a:solidFill>
                <a:latin typeface="맑은 고딕"/>
                <a:ea typeface="맑은 고딕"/>
                <a:cs typeface="맑은 고딕"/>
              </a:rPr>
              <a:t>정밀 정렬</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패드 간 위치 정합</a:t>
            </a:r>
          </a:p>
        </p:txBody>
      </p:sp>
      <p:cxnSp>
        <p:nvCxnSpPr>
          <p:cNvPr id="50" name="Connector 49"/>
          <p:cNvCxnSpPr/>
          <p:nvPr/>
        </p:nvCxnSpPr>
        <p:spPr>
          <a:xfrm>
            <a:off x="10554120" y="1476000"/>
            <a:ext cx="162000" cy="0"/>
          </a:xfrm>
          <a:prstGeom prst="line">
            <a:avLst/>
          </a:prstGeom>
          <a:ln w="25400">
            <a:solidFill>
              <a:srgbClr val="2563C9"/>
            </a:solidFill>
          </a:ln>
        </p:spPr>
      </p:cxnSp>
      <p:cxnSp>
        <p:nvCxnSpPr>
          <p:cNvPr id="51" name="Connector 50"/>
          <p:cNvCxnSpPr/>
          <p:nvPr/>
        </p:nvCxnSpPr>
        <p:spPr>
          <a:xfrm>
            <a:off x="10716120" y="1476000"/>
            <a:ext cx="0" cy="2880000"/>
          </a:xfrm>
          <a:prstGeom prst="line">
            <a:avLst/>
          </a:prstGeom>
          <a:ln w="25400">
            <a:solidFill>
              <a:srgbClr val="2563C9"/>
            </a:solidFill>
          </a:ln>
        </p:spPr>
      </p:cxnSp>
      <p:cxnSp>
        <p:nvCxnSpPr>
          <p:cNvPr id="52" name="Connector 51"/>
          <p:cNvCxnSpPr/>
          <p:nvPr/>
        </p:nvCxnSpPr>
        <p:spPr>
          <a:xfrm>
            <a:off x="10554120" y="4356000"/>
            <a:ext cx="162000" cy="0"/>
          </a:xfrm>
          <a:prstGeom prst="line">
            <a:avLst/>
          </a:prstGeom>
          <a:ln w="25400">
            <a:solidFill>
              <a:srgbClr val="2563C9"/>
            </a:solidFill>
          </a:ln>
        </p:spPr>
      </p:cxnSp>
      <p:sp>
        <p:nvSpPr>
          <p:cNvPr id="53" name="TextBox 52"/>
          <p:cNvSpPr txBox="1"/>
          <p:nvPr/>
        </p:nvSpPr>
        <p:spPr>
          <a:xfrm>
            <a:off x="10770120" y="2178000"/>
            <a:ext cx="828000" cy="1512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2563C9"/>
                </a:solidFill>
                <a:latin typeface="맑은 고딕"/>
                <a:ea typeface="맑은 고딕"/>
                <a:cs typeface="맑은 고딕"/>
              </a:rPr>
              <a:t>전공정의</a:t>
            </a:r>
          </a:p>
          <a:p>
            <a:pPr algn="ctr" marL="0" indent="0">
              <a:lnSpc>
                <a:spcPts val="1560"/>
              </a:lnSpc>
              <a:spcBef>
                <a:spcPts val="0"/>
              </a:spcBef>
              <a:spcAft>
                <a:spcPts val="0"/>
              </a:spcAft>
              <a:buNone/>
            </a:pPr>
            <a:r>
              <a:rPr sz="1300" b="1" i="0" lang="ko-KR" altLang="en-US">
                <a:solidFill>
                  <a:srgbClr val="2563C9"/>
                </a:solidFill>
                <a:latin typeface="맑은 고딕"/>
                <a:ea typeface="맑은 고딕"/>
                <a:cs typeface="맑은 고딕"/>
              </a:rPr>
              <a:t>제조공정</a:t>
            </a:r>
          </a:p>
          <a:p>
            <a:pPr algn="ctr" marL="0" indent="0">
              <a:lnSpc>
                <a:spcPts val="1560"/>
              </a:lnSpc>
              <a:spcBef>
                <a:spcPts val="0"/>
              </a:spcBef>
              <a:spcAft>
                <a:spcPts val="400"/>
              </a:spcAft>
              <a:buNone/>
            </a:pPr>
            <a:r>
              <a:rPr sz="1300" b="1" i="0" lang="ko-KR" altLang="en-US">
                <a:solidFill>
                  <a:srgbClr val="2563C9"/>
                </a:solidFill>
                <a:latin typeface="맑은 고딕"/>
                <a:ea typeface="맑은 고딕"/>
                <a:cs typeface="맑은 고딕"/>
              </a:rPr>
              <a:t>역량</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CPC</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H01L21</a:t>
            </a:r>
          </a:p>
        </p:txBody>
      </p:sp>
      <p:sp>
        <p:nvSpPr>
          <p:cNvPr id="54" name="TextBox 53"/>
          <p:cNvSpPr txBox="1"/>
          <p:nvPr/>
        </p:nvSpPr>
        <p:spPr>
          <a:xfrm>
            <a:off x="540000" y="4626000"/>
            <a:ext cx="11112120" cy="3240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하이브리드 본딩: 솔더 범프 없이 구리 패드와 주변 산화막을 직접 접합하여 10 µm 이하의 연결 간격을 구현 (연구 단계에서는 1 µm 이하)</a:t>
            </a:r>
          </a:p>
        </p:txBody>
      </p:sp>
      <p:sp>
        <p:nvSpPr>
          <p:cNvPr id="55" name="TextBox 54"/>
          <p:cNvSpPr txBox="1"/>
          <p:nvPr/>
        </p:nvSpPr>
        <p:spPr>
          <a:xfrm>
            <a:off x="540000" y="4950000"/>
            <a:ext cx="11112120" cy="3240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W2W(웨이퍼-투-웨이퍼): CMOS 이미지센서·3D NAND에서 먼저 상용화  ·  D2W(다이-투-웨이퍼): 칩렛·HBM·3D 로직에 필요</a:t>
            </a:r>
          </a:p>
        </p:txBody>
      </p:sp>
      <p:sp>
        <p:nvSpPr>
          <p:cNvPr id="56" name="Source"/>
          <p:cNvSpPr txBox="1"/>
          <p:nvPr/>
        </p:nvSpPr>
        <p:spPr>
          <a:xfrm>
            <a:off x="540000" y="5364000"/>
            <a:ext cx="11112120" cy="180000"/>
          </a:xfrm>
          <a:prstGeom prst="rect">
            <a:avLst/>
          </a:prstGeom>
          <a:noFill/>
        </p:spPr>
        <p:txBody>
          <a:bodyPr wrap="square" lIns="0" rIns="0" tIns="0" bIns="0" anchor="ctr">
            <a:noAutofit/>
          </a:bodyPr>
          <a:lstStyle/>
          <a:p>
            <a:pPr algn="l"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Lau (2021, 2022); KnowMade (2024)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1  </a:t>
            </a:r>
            <a:r>
              <a:rPr sz="2200" b="1" i="0" lang="ko-KR" altLang="en-US">
                <a:solidFill>
                  <a:srgbClr val="13294B"/>
                </a:solidFill>
                <a:latin typeface="맑은 고딕"/>
                <a:ea typeface="맑은 고딕"/>
                <a:cs typeface="맑은 고딕"/>
              </a:rPr>
              <a:t>서론</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한 산업의 공정 단계 사이에서 일어나는 융합을, 개별 특허 수준에서, 시간에 따라 분석한다</a:t>
            </a:r>
          </a:p>
        </p:txBody>
      </p:sp>
      <p:sp>
        <p:nvSpPr>
          <p:cNvPr id="4" name="Rectangle 3"/>
          <p:cNvSpPr/>
          <p:nvPr/>
        </p:nvSpPr>
        <p:spPr>
          <a:xfrm>
            <a:off x="684000" y="1116000"/>
            <a:ext cx="4788000" cy="4680000"/>
          </a:xfrm>
          <a:prstGeom prst="rect">
            <a:avLst/>
          </a:prstGeom>
          <a:noFill/>
          <a:ln w="12700">
            <a:solidFill>
              <a:srgbClr val="5B6475"/>
            </a:solidFill>
            <a:prstDash val="dash"/>
          </a:ln>
        </p:spPr>
        <p:txBody>
          <a:bodyPr rtlCol="0" anchor="ctr" lIns="36000" rIns="36000" tIns="36000" bIns="36000"/>
          <a:lstStyle/>
          <a:p>
            <a:pPr algn="ctr"/>
          </a:p>
        </p:txBody>
      </p:sp>
      <p:sp>
        <p:nvSpPr>
          <p:cNvPr id="5" name="Rectangle 4"/>
          <p:cNvSpPr/>
          <p:nvPr/>
        </p:nvSpPr>
        <p:spPr>
          <a:xfrm>
            <a:off x="1782000" y="936000"/>
            <a:ext cx="2592000" cy="360000"/>
          </a:xfrm>
          <a:prstGeom prst="rect">
            <a:avLst/>
          </a:prstGeom>
          <a:solidFill>
            <a:srgbClr val="5B6475"/>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FFFFFF"/>
                </a:solidFill>
                <a:latin typeface="맑은 고딕"/>
                <a:ea typeface="맑은 고딕"/>
                <a:cs typeface="맑은 고딕"/>
              </a:rPr>
              <a:t>기존 기술융합 연구</a:t>
            </a:r>
          </a:p>
        </p:txBody>
      </p:sp>
      <p:sp>
        <p:nvSpPr>
          <p:cNvPr id="6" name="Rounded Rectangle 5"/>
          <p:cNvSpPr/>
          <p:nvPr/>
        </p:nvSpPr>
        <p:spPr>
          <a:xfrm>
            <a:off x="864000" y="1476000"/>
            <a:ext cx="4428000" cy="1224000"/>
          </a:xfrm>
          <a:prstGeom prst="roundRect">
            <a:avLst>
              <a:gd name="adj" fmla="val 6000"/>
            </a:avLst>
          </a:prstGeom>
          <a:solidFill>
            <a:srgbClr val="F2F5FA"/>
          </a:solidFill>
          <a:ln>
            <a:noFill/>
          </a:ln>
        </p:spPr>
        <p:txBody>
          <a:bodyPr rtlCol="0" anchor="ctr" lIns="36000" rIns="36000" tIns="36000" bIns="36000"/>
          <a:lstStyle/>
          <a:p>
            <a:pPr algn="ctr"/>
          </a:p>
        </p:txBody>
      </p:sp>
      <p:pic>
        <p:nvPicPr>
          <p:cNvPr id="7" name="Picture 6" descr="FaSitemap_5B6475.png"/>
          <p:cNvPicPr>
            <a:picLocks noChangeAspect="1"/>
          </p:cNvPicPr>
          <p:nvPr/>
        </p:nvPicPr>
        <p:blipFill>
          <a:blip r:embed="rId3"/>
          <a:stretch>
            <a:fillRect/>
          </a:stretch>
        </p:blipFill>
        <p:spPr>
          <a:xfrm>
            <a:off x="1026000" y="1602000"/>
            <a:ext cx="324000" cy="324000"/>
          </a:xfrm>
          <a:prstGeom prst="rect">
            <a:avLst/>
          </a:prstGeom>
        </p:spPr>
      </p:pic>
      <p:sp>
        <p:nvSpPr>
          <p:cNvPr id="8" name="TextBox 7"/>
          <p:cNvSpPr txBox="1"/>
          <p:nvPr/>
        </p:nvSpPr>
        <p:spPr>
          <a:xfrm>
            <a:off x="1440000" y="1584000"/>
            <a:ext cx="3708000" cy="34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1" i="0" lang="ko-KR" altLang="en-US">
                <a:solidFill>
                  <a:srgbClr val="5B6475"/>
                </a:solidFill>
                <a:latin typeface="맑은 고딕"/>
                <a:ea typeface="맑은 고딕"/>
                <a:cs typeface="맑은 고딕"/>
              </a:rPr>
              <a:t>분석 범위</a:t>
            </a:r>
          </a:p>
        </p:txBody>
      </p:sp>
      <p:sp>
        <p:nvSpPr>
          <p:cNvPr id="9" name="TextBox 8"/>
          <p:cNvSpPr txBox="1"/>
          <p:nvPr/>
        </p:nvSpPr>
        <p:spPr>
          <a:xfrm>
            <a:off x="1026000" y="1962000"/>
            <a:ext cx="4104000" cy="360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E2532"/>
                </a:solidFill>
                <a:latin typeface="맑은 고딕"/>
                <a:ea typeface="맑은 고딕"/>
                <a:cs typeface="맑은 고딕"/>
              </a:rPr>
              <a:t>서로 다른 산업 · 기술 분야 사이</a:t>
            </a:r>
          </a:p>
        </p:txBody>
      </p:sp>
      <p:sp>
        <p:nvSpPr>
          <p:cNvPr id="10" name="TextBox 9"/>
          <p:cNvSpPr txBox="1"/>
          <p:nvPr/>
        </p:nvSpPr>
        <p:spPr>
          <a:xfrm>
            <a:off x="1026000" y="2322000"/>
            <a:ext cx="4104000" cy="288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ICT–가전, 식품–제약, 나노–바이오</a:t>
            </a:r>
          </a:p>
        </p:txBody>
      </p:sp>
      <p:sp>
        <p:nvSpPr>
          <p:cNvPr id="11" name="Rounded Rectangle 10"/>
          <p:cNvSpPr/>
          <p:nvPr/>
        </p:nvSpPr>
        <p:spPr>
          <a:xfrm>
            <a:off x="864000" y="2880000"/>
            <a:ext cx="4428000" cy="1224000"/>
          </a:xfrm>
          <a:prstGeom prst="roundRect">
            <a:avLst>
              <a:gd name="adj" fmla="val 6000"/>
            </a:avLst>
          </a:prstGeom>
          <a:solidFill>
            <a:srgbClr val="F2F5FA"/>
          </a:solidFill>
          <a:ln>
            <a:noFill/>
          </a:ln>
        </p:spPr>
        <p:txBody>
          <a:bodyPr rtlCol="0" anchor="ctr" lIns="36000" rIns="36000" tIns="36000" bIns="36000"/>
          <a:lstStyle/>
          <a:p>
            <a:pPr algn="ctr"/>
          </a:p>
        </p:txBody>
      </p:sp>
      <p:pic>
        <p:nvPicPr>
          <p:cNvPr id="12" name="Picture 11" descr="FaFileLines_5B6475.png"/>
          <p:cNvPicPr>
            <a:picLocks noChangeAspect="1"/>
          </p:cNvPicPr>
          <p:nvPr/>
        </p:nvPicPr>
        <p:blipFill>
          <a:blip r:embed="rId4"/>
          <a:stretch>
            <a:fillRect/>
          </a:stretch>
        </p:blipFill>
        <p:spPr>
          <a:xfrm>
            <a:off x="1026000" y="3006000"/>
            <a:ext cx="324000" cy="324000"/>
          </a:xfrm>
          <a:prstGeom prst="rect">
            <a:avLst/>
          </a:prstGeom>
        </p:spPr>
      </p:pic>
      <p:sp>
        <p:nvSpPr>
          <p:cNvPr id="13" name="TextBox 12"/>
          <p:cNvSpPr txBox="1"/>
          <p:nvPr/>
        </p:nvSpPr>
        <p:spPr>
          <a:xfrm>
            <a:off x="1440000" y="2988000"/>
            <a:ext cx="3708000" cy="34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1" i="0" lang="ko-KR" altLang="en-US">
                <a:solidFill>
                  <a:srgbClr val="5B6475"/>
                </a:solidFill>
                <a:latin typeface="맑은 고딕"/>
                <a:ea typeface="맑은 고딕"/>
                <a:cs typeface="맑은 고딕"/>
              </a:rPr>
              <a:t>측정 단위</a:t>
            </a:r>
          </a:p>
        </p:txBody>
      </p:sp>
      <p:sp>
        <p:nvSpPr>
          <p:cNvPr id="14" name="TextBox 13"/>
          <p:cNvSpPr txBox="1"/>
          <p:nvPr/>
        </p:nvSpPr>
        <p:spPr>
          <a:xfrm>
            <a:off x="1026000" y="3366000"/>
            <a:ext cx="4104000" cy="360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E2532"/>
                </a:solidFill>
                <a:latin typeface="맑은 고딕"/>
                <a:ea typeface="맑은 고딕"/>
                <a:cs typeface="맑은 고딕"/>
              </a:rPr>
              <a:t>분야 수준의 공동분류 · 인용 지수</a:t>
            </a:r>
          </a:p>
        </p:txBody>
      </p:sp>
      <p:sp>
        <p:nvSpPr>
          <p:cNvPr id="15" name="TextBox 14"/>
          <p:cNvSpPr txBox="1"/>
          <p:nvPr/>
        </p:nvSpPr>
        <p:spPr>
          <a:xfrm>
            <a:off x="1026000" y="3726000"/>
            <a:ext cx="4104000" cy="288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어떤 발명이 융합을 담는지 설명 어려움</a:t>
            </a:r>
          </a:p>
        </p:txBody>
      </p:sp>
      <p:sp>
        <p:nvSpPr>
          <p:cNvPr id="16" name="Rounded Rectangle 15"/>
          <p:cNvSpPr/>
          <p:nvPr/>
        </p:nvSpPr>
        <p:spPr>
          <a:xfrm>
            <a:off x="864000" y="4284000"/>
            <a:ext cx="4428000" cy="1224000"/>
          </a:xfrm>
          <a:prstGeom prst="roundRect">
            <a:avLst>
              <a:gd name="adj" fmla="val 6000"/>
            </a:avLst>
          </a:prstGeom>
          <a:solidFill>
            <a:srgbClr val="F2F5FA"/>
          </a:solidFill>
          <a:ln>
            <a:noFill/>
          </a:ln>
        </p:spPr>
        <p:txBody>
          <a:bodyPr rtlCol="0" anchor="ctr" lIns="36000" rIns="36000" tIns="36000" bIns="36000"/>
          <a:lstStyle/>
          <a:p>
            <a:pPr algn="ctr"/>
          </a:p>
        </p:txBody>
      </p:sp>
      <p:pic>
        <p:nvPicPr>
          <p:cNvPr id="17" name="Picture 16" descr="FaClockRotateLeft_5B6475.png"/>
          <p:cNvPicPr>
            <a:picLocks noChangeAspect="1"/>
          </p:cNvPicPr>
          <p:nvPr/>
        </p:nvPicPr>
        <p:blipFill>
          <a:blip r:embed="rId5"/>
          <a:stretch>
            <a:fillRect/>
          </a:stretch>
        </p:blipFill>
        <p:spPr>
          <a:xfrm>
            <a:off x="1026000" y="4410000"/>
            <a:ext cx="324000" cy="324000"/>
          </a:xfrm>
          <a:prstGeom prst="rect">
            <a:avLst/>
          </a:prstGeom>
        </p:spPr>
      </p:pic>
      <p:sp>
        <p:nvSpPr>
          <p:cNvPr id="18" name="TextBox 17"/>
          <p:cNvSpPr txBox="1"/>
          <p:nvPr/>
        </p:nvSpPr>
        <p:spPr>
          <a:xfrm>
            <a:off x="1440000" y="4392000"/>
            <a:ext cx="3708000" cy="34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1" i="0" lang="ko-KR" altLang="en-US">
                <a:solidFill>
                  <a:srgbClr val="5B6475"/>
                </a:solidFill>
                <a:latin typeface="맑은 고딕"/>
                <a:ea typeface="맑은 고딕"/>
                <a:cs typeface="맑은 고딕"/>
              </a:rPr>
              <a:t>시간 관점</a:t>
            </a:r>
          </a:p>
        </p:txBody>
      </p:sp>
      <p:sp>
        <p:nvSpPr>
          <p:cNvPr id="19" name="TextBox 18"/>
          <p:cNvSpPr txBox="1"/>
          <p:nvPr/>
        </p:nvSpPr>
        <p:spPr>
          <a:xfrm>
            <a:off x="1026000" y="4770000"/>
            <a:ext cx="4104000" cy="360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E2532"/>
                </a:solidFill>
                <a:latin typeface="맑은 고딕"/>
                <a:ea typeface="맑은 고딕"/>
                <a:cs typeface="맑은 고딕"/>
              </a:rPr>
              <a:t>융합 정도의 증가 추세 확인</a:t>
            </a:r>
          </a:p>
        </p:txBody>
      </p:sp>
      <p:sp>
        <p:nvSpPr>
          <p:cNvPr id="20" name="TextBox 19"/>
          <p:cNvSpPr txBox="1"/>
          <p:nvPr/>
        </p:nvSpPr>
        <p:spPr>
          <a:xfrm>
            <a:off x="1026000" y="5130000"/>
            <a:ext cx="4104000" cy="288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이론(단계적 과정)과의 간극</a:t>
            </a:r>
          </a:p>
        </p:txBody>
      </p:sp>
      <p:sp>
        <p:nvSpPr>
          <p:cNvPr id="21" name="Rectangle 20"/>
          <p:cNvSpPr/>
          <p:nvPr/>
        </p:nvSpPr>
        <p:spPr>
          <a:xfrm>
            <a:off x="6720120" y="1116000"/>
            <a:ext cx="4788000" cy="4680000"/>
          </a:xfrm>
          <a:prstGeom prst="rect">
            <a:avLst/>
          </a:prstGeom>
          <a:noFill/>
          <a:ln w="12700">
            <a:solidFill>
              <a:srgbClr val="13294B"/>
            </a:solidFill>
            <a:prstDash val="dash"/>
          </a:ln>
        </p:spPr>
        <p:txBody>
          <a:bodyPr rtlCol="0" anchor="ctr" lIns="36000" rIns="36000" tIns="36000" bIns="36000"/>
          <a:lstStyle/>
          <a:p>
            <a:pPr algn="ctr"/>
          </a:p>
        </p:txBody>
      </p:sp>
      <p:sp>
        <p:nvSpPr>
          <p:cNvPr id="22" name="Rectangle 21"/>
          <p:cNvSpPr/>
          <p:nvPr/>
        </p:nvSpPr>
        <p:spPr>
          <a:xfrm>
            <a:off x="7818120" y="936000"/>
            <a:ext cx="2592000" cy="360000"/>
          </a:xfrm>
          <a:prstGeom prst="rect">
            <a:avLst/>
          </a:prstGeom>
          <a:solidFill>
            <a:srgbClr val="13294B"/>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FFFFFF"/>
                </a:solidFill>
                <a:latin typeface="맑은 고딕"/>
                <a:ea typeface="맑은 고딕"/>
                <a:cs typeface="맑은 고딕"/>
              </a:rPr>
              <a:t>본 연구</a:t>
            </a:r>
          </a:p>
        </p:txBody>
      </p:sp>
      <p:sp>
        <p:nvSpPr>
          <p:cNvPr id="23" name="Rounded Rectangle 22"/>
          <p:cNvSpPr/>
          <p:nvPr/>
        </p:nvSpPr>
        <p:spPr>
          <a:xfrm>
            <a:off x="6900120" y="1476000"/>
            <a:ext cx="4428000" cy="1224000"/>
          </a:xfrm>
          <a:prstGeom prst="roundRect">
            <a:avLst>
              <a:gd name="adj" fmla="val 6000"/>
            </a:avLst>
          </a:prstGeom>
          <a:solidFill>
            <a:srgbClr val="E8EEF7"/>
          </a:solidFill>
          <a:ln>
            <a:noFill/>
          </a:ln>
        </p:spPr>
        <p:txBody>
          <a:bodyPr rtlCol="0" anchor="ctr" lIns="36000" rIns="36000" tIns="36000" bIns="36000"/>
          <a:lstStyle/>
          <a:p>
            <a:pPr algn="ctr"/>
          </a:p>
        </p:txBody>
      </p:sp>
      <p:pic>
        <p:nvPicPr>
          <p:cNvPr id="24" name="Picture 23" descr="FaSitemap_13294B.png"/>
          <p:cNvPicPr>
            <a:picLocks noChangeAspect="1"/>
          </p:cNvPicPr>
          <p:nvPr/>
        </p:nvPicPr>
        <p:blipFill>
          <a:blip r:embed="rId6"/>
          <a:stretch>
            <a:fillRect/>
          </a:stretch>
        </p:blipFill>
        <p:spPr>
          <a:xfrm>
            <a:off x="7062120" y="1602000"/>
            <a:ext cx="324000" cy="324000"/>
          </a:xfrm>
          <a:prstGeom prst="rect">
            <a:avLst/>
          </a:prstGeom>
        </p:spPr>
      </p:pic>
      <p:sp>
        <p:nvSpPr>
          <p:cNvPr id="25" name="TextBox 24"/>
          <p:cNvSpPr txBox="1"/>
          <p:nvPr/>
        </p:nvSpPr>
        <p:spPr>
          <a:xfrm>
            <a:off x="7476120" y="1584000"/>
            <a:ext cx="3708000" cy="34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분석 범위</a:t>
            </a:r>
          </a:p>
        </p:txBody>
      </p:sp>
      <p:sp>
        <p:nvSpPr>
          <p:cNvPr id="26" name="TextBox 25"/>
          <p:cNvSpPr txBox="1"/>
          <p:nvPr/>
        </p:nvSpPr>
        <p:spPr>
          <a:xfrm>
            <a:off x="7062120" y="1962000"/>
            <a:ext cx="4104000" cy="360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한 산업 안, 공정 단계 사이</a:t>
            </a:r>
          </a:p>
        </p:txBody>
      </p:sp>
      <p:sp>
        <p:nvSpPr>
          <p:cNvPr id="27" name="TextBox 26"/>
          <p:cNvSpPr txBox="1"/>
          <p:nvPr/>
        </p:nvSpPr>
        <p:spPr>
          <a:xfrm>
            <a:off x="7062120" y="2322000"/>
            <a:ext cx="4104000" cy="288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전공정 제조공정 ↔ 후공정 접합</a:t>
            </a:r>
          </a:p>
        </p:txBody>
      </p:sp>
      <p:sp>
        <p:nvSpPr>
          <p:cNvPr id="28" name="Rounded Rectangle 27"/>
          <p:cNvSpPr/>
          <p:nvPr/>
        </p:nvSpPr>
        <p:spPr>
          <a:xfrm>
            <a:off x="6900120" y="2880000"/>
            <a:ext cx="4428000" cy="1224000"/>
          </a:xfrm>
          <a:prstGeom prst="roundRect">
            <a:avLst>
              <a:gd name="adj" fmla="val 6000"/>
            </a:avLst>
          </a:prstGeom>
          <a:solidFill>
            <a:srgbClr val="E8EEF7"/>
          </a:solidFill>
          <a:ln>
            <a:noFill/>
          </a:ln>
        </p:spPr>
        <p:txBody>
          <a:bodyPr rtlCol="0" anchor="ctr" lIns="36000" rIns="36000" tIns="36000" bIns="36000"/>
          <a:lstStyle/>
          <a:p>
            <a:pPr algn="ctr"/>
          </a:p>
        </p:txBody>
      </p:sp>
      <p:pic>
        <p:nvPicPr>
          <p:cNvPr id="29" name="Picture 28" descr="FaFileLines_13294B.png"/>
          <p:cNvPicPr>
            <a:picLocks noChangeAspect="1"/>
          </p:cNvPicPr>
          <p:nvPr/>
        </p:nvPicPr>
        <p:blipFill>
          <a:blip r:embed="rId7"/>
          <a:stretch>
            <a:fillRect/>
          </a:stretch>
        </p:blipFill>
        <p:spPr>
          <a:xfrm>
            <a:off x="7062120" y="3006000"/>
            <a:ext cx="324000" cy="324000"/>
          </a:xfrm>
          <a:prstGeom prst="rect">
            <a:avLst/>
          </a:prstGeom>
        </p:spPr>
      </p:pic>
      <p:sp>
        <p:nvSpPr>
          <p:cNvPr id="30" name="TextBox 29"/>
          <p:cNvSpPr txBox="1"/>
          <p:nvPr/>
        </p:nvSpPr>
        <p:spPr>
          <a:xfrm>
            <a:off x="7476120" y="2988000"/>
            <a:ext cx="3708000" cy="34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측정 단위</a:t>
            </a:r>
          </a:p>
        </p:txBody>
      </p:sp>
      <p:sp>
        <p:nvSpPr>
          <p:cNvPr id="31" name="TextBox 30"/>
          <p:cNvSpPr txBox="1"/>
          <p:nvPr/>
        </p:nvSpPr>
        <p:spPr>
          <a:xfrm>
            <a:off x="7062120" y="3366000"/>
            <a:ext cx="4104000" cy="360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개별 특허의 공동분류 유형</a:t>
            </a:r>
          </a:p>
        </p:txBody>
      </p:sp>
      <p:sp>
        <p:nvSpPr>
          <p:cNvPr id="32" name="TextBox 31"/>
          <p:cNvSpPr txBox="1"/>
          <p:nvPr/>
        </p:nvSpPr>
        <p:spPr>
          <a:xfrm>
            <a:off x="7062120" y="3726000"/>
            <a:ext cx="4104000" cy="288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어떤 발명이 경계를 넘는지 추정</a:t>
            </a:r>
          </a:p>
        </p:txBody>
      </p:sp>
      <p:sp>
        <p:nvSpPr>
          <p:cNvPr id="33" name="Rounded Rectangle 32"/>
          <p:cNvSpPr/>
          <p:nvPr/>
        </p:nvSpPr>
        <p:spPr>
          <a:xfrm>
            <a:off x="6900120" y="4284000"/>
            <a:ext cx="4428000" cy="1224000"/>
          </a:xfrm>
          <a:prstGeom prst="roundRect">
            <a:avLst>
              <a:gd name="adj" fmla="val 6000"/>
            </a:avLst>
          </a:prstGeom>
          <a:solidFill>
            <a:srgbClr val="E8EEF7"/>
          </a:solidFill>
          <a:ln>
            <a:noFill/>
          </a:ln>
        </p:spPr>
        <p:txBody>
          <a:bodyPr rtlCol="0" anchor="ctr" lIns="36000" rIns="36000" tIns="36000" bIns="36000"/>
          <a:lstStyle/>
          <a:p>
            <a:pPr algn="ctr"/>
          </a:p>
        </p:txBody>
      </p:sp>
      <p:pic>
        <p:nvPicPr>
          <p:cNvPr id="34" name="Picture 33" descr="FaClockRotateLeft_13294B.png"/>
          <p:cNvPicPr>
            <a:picLocks noChangeAspect="1"/>
          </p:cNvPicPr>
          <p:nvPr/>
        </p:nvPicPr>
        <p:blipFill>
          <a:blip r:embed="rId8"/>
          <a:stretch>
            <a:fillRect/>
          </a:stretch>
        </p:blipFill>
        <p:spPr>
          <a:xfrm>
            <a:off x="7062120" y="4410000"/>
            <a:ext cx="324000" cy="324000"/>
          </a:xfrm>
          <a:prstGeom prst="rect">
            <a:avLst/>
          </a:prstGeom>
        </p:spPr>
      </p:pic>
      <p:sp>
        <p:nvSpPr>
          <p:cNvPr id="35" name="TextBox 34"/>
          <p:cNvSpPr txBox="1"/>
          <p:nvPr/>
        </p:nvSpPr>
        <p:spPr>
          <a:xfrm>
            <a:off x="7476120" y="4392000"/>
            <a:ext cx="3708000" cy="34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시간 관점</a:t>
            </a:r>
          </a:p>
        </p:txBody>
      </p:sp>
      <p:sp>
        <p:nvSpPr>
          <p:cNvPr id="36" name="TextBox 35"/>
          <p:cNvSpPr txBox="1"/>
          <p:nvPr/>
        </p:nvSpPr>
        <p:spPr>
          <a:xfrm>
            <a:off x="7062120" y="4770000"/>
            <a:ext cx="4104000" cy="360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융합의 내용과 중심의 변화</a:t>
            </a:r>
          </a:p>
        </p:txBody>
      </p:sp>
      <p:sp>
        <p:nvSpPr>
          <p:cNvPr id="37" name="TextBox 36"/>
          <p:cNvSpPr txBox="1"/>
          <p:nvPr/>
        </p:nvSpPr>
        <p:spPr>
          <a:xfrm>
            <a:off x="7062120" y="5130000"/>
            <a:ext cx="4104000" cy="288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형성 · 확산 · 재편의 추적</a:t>
            </a:r>
          </a:p>
        </p:txBody>
      </p:sp>
      <p:sp>
        <p:nvSpPr>
          <p:cNvPr id="38" name="Right Arrow 37"/>
          <p:cNvSpPr/>
          <p:nvPr/>
        </p:nvSpPr>
        <p:spPr>
          <a:xfrm>
            <a:off x="5670000" y="3024000"/>
            <a:ext cx="852120" cy="864000"/>
          </a:xfrm>
          <a:prstGeom prst="rightArrow">
            <a:avLst/>
          </a:prstGeom>
          <a:solidFill>
            <a:srgbClr val="13294B"/>
          </a:solidFill>
          <a:ln>
            <a:noFill/>
          </a:ln>
        </p:spPr>
        <p:txBody>
          <a:bodyPr rtlCol="0" anchor="ctr" lIns="36000" rIns="36000" tIns="36000" bIns="36000"/>
          <a:lstStyle/>
          <a:p>
            <a:pPr algn="ctr"/>
          </a:p>
        </p:txBody>
      </p:sp>
      <p:sp>
        <p:nvSpPr>
          <p:cNvPr id="39" name="Source"/>
          <p:cNvSpPr txBox="1"/>
          <p:nvPr/>
        </p:nvSpPr>
        <p:spPr>
          <a:xfrm>
            <a:off x="540000" y="5868000"/>
            <a:ext cx="11112120" cy="180000"/>
          </a:xfrm>
          <a:prstGeom prst="rect">
            <a:avLst/>
          </a:prstGeom>
          <a:noFill/>
        </p:spPr>
        <p:txBody>
          <a:bodyPr wrap="square" lIns="0" rIns="0" tIns="0" bIns="0" anchor="ctr">
            <a:noAutofit/>
          </a:bodyPr>
          <a:lstStyle/>
          <a:p>
            <a:pPr algn="l"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Hacklin et al. (2009, 2010); Curran &amp; Leker (2011); Bröring et al. (2006); No &amp; Park (2010); Karvonen &amp; Kässi (2012)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2.1  </a:t>
            </a:r>
            <a:r>
              <a:rPr sz="2200" b="1" i="0" lang="ko-KR" altLang="en-US">
                <a:solidFill>
                  <a:srgbClr val="13294B"/>
                </a:solidFill>
                <a:latin typeface="맑은 고딕"/>
                <a:ea typeface="맑은 고딕"/>
                <a:cs typeface="맑은 고딕"/>
              </a:rPr>
              <a:t>기술융합과 융합의 단계 모형</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본 연구가 특허 공동분류로 측정하는 것은 "기술 융합" 단계이다</a:t>
            </a:r>
          </a:p>
        </p:txBody>
      </p:sp>
      <p:sp>
        <p:nvSpPr>
          <p:cNvPr id="4" name="Rounded Rectangle 3"/>
          <p:cNvSpPr/>
          <p:nvPr/>
        </p:nvSpPr>
        <p:spPr>
          <a:xfrm>
            <a:off x="552060" y="936000"/>
            <a:ext cx="3456000" cy="684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기술적 수렴</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Rosenberg (1963)</a:t>
            </a:r>
          </a:p>
        </p:txBody>
      </p:sp>
      <p:sp>
        <p:nvSpPr>
          <p:cNvPr id="5" name="TextBox 4"/>
          <p:cNvSpPr txBox="1"/>
          <p:nvPr/>
        </p:nvSpPr>
        <p:spPr>
          <a:xfrm>
            <a:off x="552060" y="1656000"/>
            <a:ext cx="3456000" cy="378000"/>
          </a:xfrm>
          <a:prstGeom prst="rect">
            <a:avLst/>
          </a:prstGeom>
          <a:noFill/>
        </p:spPr>
        <p:txBody>
          <a:bodyPr wrap="square" lIns="0" rIns="0" tIns="0" bIns="0" anchor="ctr">
            <a:noAutofit/>
          </a:bodyPr>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공통의 생산공정을 통한 기술 확산 → 공작기계 산업의 등장</a:t>
            </a:r>
          </a:p>
        </p:txBody>
      </p:sp>
      <p:cxnSp>
        <p:nvCxnSpPr>
          <p:cNvPr id="6" name="Connector 5"/>
          <p:cNvCxnSpPr/>
          <p:nvPr/>
        </p:nvCxnSpPr>
        <p:spPr>
          <a:xfrm>
            <a:off x="4062060" y="1278000"/>
            <a:ext cx="252000" cy="0"/>
          </a:xfrm>
          <a:prstGeom prst="line">
            <a:avLst/>
          </a:prstGeom>
          <a:ln w="25400">
            <a:solidFill>
              <a:srgbClr val="13294B"/>
            </a:solidFill>
            <a:tailEnd type="triangle" w="med" len="med"/>
          </a:ln>
        </p:spPr>
      </p:cxnSp>
      <p:sp>
        <p:nvSpPr>
          <p:cNvPr id="7" name="Rounded Rectangle 6"/>
          <p:cNvSpPr/>
          <p:nvPr/>
        </p:nvSpPr>
        <p:spPr>
          <a:xfrm>
            <a:off x="4368060" y="936000"/>
            <a:ext cx="3456000" cy="684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기술융합</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Kodama (1992)</a:t>
            </a:r>
          </a:p>
        </p:txBody>
      </p:sp>
      <p:sp>
        <p:nvSpPr>
          <p:cNvPr id="8" name="TextBox 7"/>
          <p:cNvSpPr txBox="1"/>
          <p:nvPr/>
        </p:nvSpPr>
        <p:spPr>
          <a:xfrm>
            <a:off x="4368060" y="1656000"/>
            <a:ext cx="3456000" cy="378000"/>
          </a:xfrm>
          <a:prstGeom prst="rect">
            <a:avLst/>
          </a:prstGeom>
          <a:noFill/>
        </p:spPr>
        <p:txBody>
          <a:bodyPr wrap="square" lIns="0" rIns="0" tIns="0" bIns="0" anchor="ctr">
            <a:noAutofit/>
          </a:bodyPr>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분리된 기술의 결합으로 어느 한쪽도 갖지 못한 역량 창출</a:t>
            </a:r>
          </a:p>
        </p:txBody>
      </p:sp>
      <p:cxnSp>
        <p:nvCxnSpPr>
          <p:cNvPr id="9" name="Connector 8"/>
          <p:cNvCxnSpPr/>
          <p:nvPr/>
        </p:nvCxnSpPr>
        <p:spPr>
          <a:xfrm>
            <a:off x="7878060" y="1278000"/>
            <a:ext cx="252000" cy="0"/>
          </a:xfrm>
          <a:prstGeom prst="line">
            <a:avLst/>
          </a:prstGeom>
          <a:ln w="25400">
            <a:solidFill>
              <a:srgbClr val="13294B"/>
            </a:solidFill>
            <a:tailEnd type="triangle" w="med" len="med"/>
          </a:ln>
        </p:spPr>
      </p:cxnSp>
      <p:sp>
        <p:nvSpPr>
          <p:cNvPr id="10" name="Rounded Rectangle 9"/>
          <p:cNvSpPr/>
          <p:nvPr/>
        </p:nvSpPr>
        <p:spPr>
          <a:xfrm>
            <a:off x="8184060" y="936000"/>
            <a:ext cx="3456000" cy="684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단계 모형</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Hacklin et al. (2009, 2010)</a:t>
            </a:r>
          </a:p>
        </p:txBody>
      </p:sp>
      <p:sp>
        <p:nvSpPr>
          <p:cNvPr id="11" name="TextBox 10"/>
          <p:cNvSpPr txBox="1"/>
          <p:nvPr/>
        </p:nvSpPr>
        <p:spPr>
          <a:xfrm>
            <a:off x="8184060" y="1656000"/>
            <a:ext cx="3456000" cy="378000"/>
          </a:xfrm>
          <a:prstGeom prst="rect">
            <a:avLst/>
          </a:prstGeom>
          <a:noFill/>
        </p:spPr>
        <p:txBody>
          <a:bodyPr wrap="square" lIns="0" rIns="0" tIns="0" bIns="0" anchor="ctr">
            <a:noAutofit/>
          </a:bodyPr>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지식 → 기술 → 응용 → 산업 융합, 공진화적 순환</a:t>
            </a:r>
          </a:p>
        </p:txBody>
      </p:sp>
      <p:cxnSp>
        <p:nvCxnSpPr>
          <p:cNvPr id="12" name="Connector 11"/>
          <p:cNvCxnSpPr/>
          <p:nvPr/>
        </p:nvCxnSpPr>
        <p:spPr>
          <a:xfrm>
            <a:off x="540000" y="2178000"/>
            <a:ext cx="11112120" cy="0"/>
          </a:xfrm>
          <a:prstGeom prst="line">
            <a:avLst/>
          </a:prstGeom>
          <a:ln w="12700">
            <a:solidFill>
              <a:srgbClr val="D5DBE3"/>
            </a:solidFill>
          </a:ln>
        </p:spPr>
      </p:cxnSp>
      <p:sp>
        <p:nvSpPr>
          <p:cNvPr id="13" name="TextBox 12"/>
          <p:cNvSpPr txBox="1"/>
          <p:nvPr/>
        </p:nvSpPr>
        <p:spPr>
          <a:xfrm>
            <a:off x="540000" y="2232000"/>
            <a:ext cx="11112120" cy="270000"/>
          </a:xfrm>
          <a:prstGeom prst="rect">
            <a:avLst/>
          </a:prstGeom>
          <a:noFill/>
        </p:spPr>
        <p:txBody>
          <a:bodyPr wrap="square" lIns="0" rIns="0" tIns="0" bIns="0" anchor="ctr">
            <a:noAutofit/>
          </a:bodyPr>
          <a:lstStyle/>
          <a:p>
            <a:pPr algn="ctr" marL="0" indent="0">
              <a:lnSpc>
                <a:spcPts val="1620"/>
              </a:lnSpc>
              <a:spcBef>
                <a:spcPts val="0"/>
              </a:spcBef>
              <a:spcAft>
                <a:spcPts val="0"/>
              </a:spcAft>
              <a:buNone/>
            </a:pPr>
            <a:r>
              <a:rPr sz="1350" b="1" i="0" lang="ko-KR" altLang="en-US">
                <a:solidFill>
                  <a:srgbClr val="13294B"/>
                </a:solidFill>
                <a:latin typeface="맑은 고딕"/>
                <a:ea typeface="맑은 고딕"/>
                <a:cs typeface="맑은 고딕"/>
              </a:rPr>
              <a:t>단계 모형을 하이브리드 본딩에 적용하면</a:t>
            </a:r>
          </a:p>
        </p:txBody>
      </p:sp>
      <p:sp>
        <p:nvSpPr>
          <p:cNvPr id="14" name="Pentagon 13"/>
          <p:cNvSpPr/>
          <p:nvPr/>
        </p:nvSpPr>
        <p:spPr>
          <a:xfrm>
            <a:off x="577260" y="2574000"/>
            <a:ext cx="2772000" cy="666000"/>
          </a:xfrm>
          <a:prstGeom prst="homePlate">
            <a:avLst>
              <a:gd name="adj" fmla="val 28000"/>
            </a:avLst>
          </a:prstGeom>
          <a:solidFill>
            <a:srgbClr val="E8EEF7"/>
          </a:solidFill>
          <a:ln>
            <a:no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지식 융합</a:t>
            </a:r>
          </a:p>
          <a:p>
            <a:pPr algn="ctr" marL="0" indent="0">
              <a:lnSpc>
                <a:spcPts val="1260"/>
              </a:lnSpc>
              <a:spcBef>
                <a:spcPts val="0"/>
              </a:spcBef>
              <a:spcAft>
                <a:spcPts val="0"/>
              </a:spcAft>
              <a:buNone/>
            </a:pPr>
            <a:r>
              <a:rPr sz="1050" b="0" i="0" lang="ko-KR" altLang="en-US">
                <a:solidFill>
                  <a:srgbClr val="5B6475"/>
                </a:solidFill>
                <a:latin typeface="맑은 고딕"/>
                <a:ea typeface="맑은 고딕"/>
                <a:cs typeface="맑은 고딕"/>
              </a:rPr>
              <a:t>Knowledge</a:t>
            </a:r>
          </a:p>
        </p:txBody>
      </p:sp>
      <p:sp>
        <p:nvSpPr>
          <p:cNvPr id="15" name="Rounded Rectangle 14"/>
          <p:cNvSpPr/>
          <p:nvPr/>
        </p:nvSpPr>
        <p:spPr>
          <a:xfrm>
            <a:off x="613260" y="3330000"/>
            <a:ext cx="2574000" cy="156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6" name="TextBox 15"/>
          <p:cNvSpPr txBox="1"/>
          <p:nvPr/>
        </p:nvSpPr>
        <p:spPr>
          <a:xfrm>
            <a:off x="721260" y="3384000"/>
            <a:ext cx="2358000" cy="720000"/>
          </a:xfrm>
          <a:prstGeom prst="rect">
            <a:avLst/>
          </a:prstGeom>
          <a:noFill/>
        </p:spPr>
        <p:txBody>
          <a:bodyPr wrap="square" lIns="0" rIns="0" tIns="0" bIns="0" anchor="ctr">
            <a:noAutofit/>
          </a:bodyPr>
          <a:lstStyle/>
          <a:p>
            <a:pPr algn="ctr" marL="0" indent="0">
              <a:lnSpc>
                <a:spcPts val="1680"/>
              </a:lnSpc>
              <a:spcBef>
                <a:spcPts val="0"/>
              </a:spcBef>
              <a:spcAft>
                <a:spcPts val="0"/>
              </a:spcAft>
              <a:buNone/>
            </a:pPr>
            <a:r>
              <a:rPr sz="1400" b="1" i="0" lang="ko-KR" altLang="en-US">
                <a:solidFill>
                  <a:srgbClr val="1E2532"/>
                </a:solidFill>
                <a:latin typeface="맑은 고딕"/>
                <a:ea typeface="맑은 고딕"/>
                <a:cs typeface="맑은 고딕"/>
              </a:rPr>
              <a:t>제조공정 지식이 칩 연결 문제에 적용</a:t>
            </a:r>
          </a:p>
        </p:txBody>
      </p:sp>
      <p:cxnSp>
        <p:nvCxnSpPr>
          <p:cNvPr id="17" name="Connector 16"/>
          <p:cNvCxnSpPr/>
          <p:nvPr/>
        </p:nvCxnSpPr>
        <p:spPr>
          <a:xfrm>
            <a:off x="1009260" y="4140000"/>
            <a:ext cx="1782000" cy="0"/>
          </a:xfrm>
          <a:prstGeom prst="line">
            <a:avLst/>
          </a:prstGeom>
          <a:ln w="12700">
            <a:solidFill>
              <a:srgbClr val="D5DBE3"/>
            </a:solidFill>
          </a:ln>
        </p:spPr>
      </p:cxnSp>
      <p:sp>
        <p:nvSpPr>
          <p:cNvPr id="18" name="TextBox 17"/>
          <p:cNvSpPr txBox="1"/>
          <p:nvPr/>
        </p:nvSpPr>
        <p:spPr>
          <a:xfrm>
            <a:off x="721260" y="4176000"/>
            <a:ext cx="2358000" cy="666000"/>
          </a:xfrm>
          <a:prstGeom prst="rect">
            <a:avLst/>
          </a:prstGeom>
          <a:noFill/>
        </p:spPr>
        <p:txBody>
          <a:bodyPr wrap="square" lIns="0" rIns="0" tIns="0" bIns="0" anchor="ctr">
            <a:noAutofit/>
          </a:bodyPr>
          <a:lstStyle/>
          <a:p>
            <a:pPr algn="ctr"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평탄화 · 표면 활성화 · 웨이퍼 직접 접합</a:t>
            </a:r>
          </a:p>
        </p:txBody>
      </p:sp>
      <p:sp>
        <p:nvSpPr>
          <p:cNvPr id="19" name="Rounded Rectangle 18"/>
          <p:cNvSpPr/>
          <p:nvPr/>
        </p:nvSpPr>
        <p:spPr>
          <a:xfrm>
            <a:off x="721260" y="4986000"/>
            <a:ext cx="2358000" cy="414000"/>
          </a:xfrm>
          <a:prstGeom prst="roundRect">
            <a:avLst>
              <a:gd name="adj" fmla="val 5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560"/>
              </a:lnSpc>
              <a:spcBef>
                <a:spcPts val="0"/>
              </a:spcBef>
              <a:spcAft>
                <a:spcPts val="0"/>
              </a:spcAft>
              <a:buNone/>
            </a:pPr>
            <a:r>
              <a:rPr sz="1300" b="1" i="0" lang="ko-KR" altLang="en-US">
                <a:solidFill>
                  <a:srgbClr val="13294B"/>
                </a:solidFill>
                <a:latin typeface="맑은 고딕"/>
                <a:ea typeface="맑은 고딕"/>
                <a:cs typeface="맑은 고딕"/>
              </a:rPr>
              <a:t>형성의 출발점</a:t>
            </a:r>
          </a:p>
        </p:txBody>
      </p:sp>
      <p:sp>
        <p:nvSpPr>
          <p:cNvPr id="20" name="Chevron 19"/>
          <p:cNvSpPr/>
          <p:nvPr/>
        </p:nvSpPr>
        <p:spPr>
          <a:xfrm>
            <a:off x="3374460" y="2574000"/>
            <a:ext cx="2772000" cy="666000"/>
          </a:xfrm>
          <a:prstGeom prst="chevron">
            <a:avLst>
              <a:gd name="adj" fmla="val 28000"/>
            </a:avLst>
          </a:prstGeom>
          <a:solidFill>
            <a:srgbClr val="13294B"/>
          </a:solidFill>
          <a:ln>
            <a:no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FFFFFF"/>
                </a:solidFill>
                <a:latin typeface="맑은 고딕"/>
                <a:ea typeface="맑은 고딕"/>
                <a:cs typeface="맑은 고딕"/>
              </a:rPr>
              <a:t>기술 융합</a:t>
            </a:r>
          </a:p>
          <a:p>
            <a:pPr algn="ctr" marL="0" indent="0">
              <a:lnSpc>
                <a:spcPts val="1260"/>
              </a:lnSpc>
              <a:spcBef>
                <a:spcPts val="0"/>
              </a:spcBef>
              <a:spcAft>
                <a:spcPts val="0"/>
              </a:spcAft>
              <a:buNone/>
            </a:pPr>
            <a:r>
              <a:rPr sz="1050" b="0" i="0" lang="ko-KR" altLang="en-US">
                <a:solidFill>
                  <a:srgbClr val="C8D3E6"/>
                </a:solidFill>
                <a:latin typeface="맑은 고딕"/>
                <a:ea typeface="맑은 고딕"/>
                <a:cs typeface="맑은 고딕"/>
              </a:rPr>
              <a:t>Technological</a:t>
            </a:r>
          </a:p>
        </p:txBody>
      </p:sp>
      <p:sp>
        <p:nvSpPr>
          <p:cNvPr id="21" name="Rounded Rectangle 20"/>
          <p:cNvSpPr/>
          <p:nvPr/>
        </p:nvSpPr>
        <p:spPr>
          <a:xfrm>
            <a:off x="3410460" y="3330000"/>
            <a:ext cx="2574000" cy="1566000"/>
          </a:xfrm>
          <a:prstGeom prst="roundRect">
            <a:avLst>
              <a:gd name="adj" fmla="val 6000"/>
            </a:avLst>
          </a:prstGeom>
          <a:solidFill>
            <a:srgbClr val="EAF0FA"/>
          </a:solidFill>
          <a:ln w="12700">
            <a:solidFill>
              <a:srgbClr val="13294B"/>
            </a:solidFill>
          </a:ln>
        </p:spPr>
        <p:txBody>
          <a:bodyPr rtlCol="0" anchor="ctr" lIns="36000" rIns="36000" tIns="36000" bIns="36000"/>
          <a:lstStyle/>
          <a:p>
            <a:pPr algn="ctr"/>
          </a:p>
        </p:txBody>
      </p:sp>
      <p:sp>
        <p:nvSpPr>
          <p:cNvPr id="22" name="TextBox 21"/>
          <p:cNvSpPr txBox="1"/>
          <p:nvPr/>
        </p:nvSpPr>
        <p:spPr>
          <a:xfrm>
            <a:off x="3518460" y="3384000"/>
            <a:ext cx="2358000" cy="720000"/>
          </a:xfrm>
          <a:prstGeom prst="rect">
            <a:avLst/>
          </a:prstGeom>
          <a:noFill/>
        </p:spPr>
        <p:txBody>
          <a:bodyPr wrap="square" lIns="0" rIns="0" tIns="0" bIns="0" anchor="ctr">
            <a:noAutofit/>
          </a:bodyPr>
          <a:lstStyle/>
          <a:p>
            <a:pPr algn="ctr" marL="0" indent="0">
              <a:lnSpc>
                <a:spcPts val="1680"/>
              </a:lnSpc>
              <a:spcBef>
                <a:spcPts val="0"/>
              </a:spcBef>
              <a:spcAft>
                <a:spcPts val="0"/>
              </a:spcAft>
              <a:buNone/>
            </a:pPr>
            <a:r>
              <a:rPr sz="1400" b="1" i="0" lang="ko-KR" altLang="en-US">
                <a:solidFill>
                  <a:srgbClr val="1E2532"/>
                </a:solidFill>
                <a:latin typeface="맑은 고딕"/>
                <a:ea typeface="맑은 고딕"/>
                <a:cs typeface="맑은 고딕"/>
              </a:rPr>
              <a:t>그 지식이 접합 구조와 하나의 발명 안에서 결합</a:t>
            </a:r>
          </a:p>
        </p:txBody>
      </p:sp>
      <p:cxnSp>
        <p:nvCxnSpPr>
          <p:cNvPr id="23" name="Connector 22"/>
          <p:cNvCxnSpPr/>
          <p:nvPr/>
        </p:nvCxnSpPr>
        <p:spPr>
          <a:xfrm>
            <a:off x="3806460" y="4140000"/>
            <a:ext cx="1782000" cy="0"/>
          </a:xfrm>
          <a:prstGeom prst="line">
            <a:avLst/>
          </a:prstGeom>
          <a:ln w="12700">
            <a:solidFill>
              <a:srgbClr val="D5DBE3"/>
            </a:solidFill>
          </a:ln>
        </p:spPr>
      </p:cxnSp>
      <p:sp>
        <p:nvSpPr>
          <p:cNvPr id="24" name="TextBox 23"/>
          <p:cNvSpPr txBox="1"/>
          <p:nvPr/>
        </p:nvSpPr>
        <p:spPr>
          <a:xfrm>
            <a:off x="3518460" y="4176000"/>
            <a:ext cx="2358000" cy="666000"/>
          </a:xfrm>
          <a:prstGeom prst="rect">
            <a:avLst/>
          </a:prstGeom>
          <a:noFill/>
        </p:spPr>
        <p:txBody>
          <a:bodyPr wrap="square" lIns="0" rIns="0" tIns="0" bIns="0" anchor="ctr">
            <a:noAutofit/>
          </a:bodyPr>
          <a:lstStyle/>
          <a:p>
            <a:pPr algn="ctr"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H01L21 + H01L24 공동분류</a:t>
            </a:r>
          </a:p>
        </p:txBody>
      </p:sp>
      <p:sp>
        <p:nvSpPr>
          <p:cNvPr id="25" name="Rounded Rectangle 24"/>
          <p:cNvSpPr/>
          <p:nvPr/>
        </p:nvSpPr>
        <p:spPr>
          <a:xfrm>
            <a:off x="3518460" y="4986000"/>
            <a:ext cx="2358000" cy="414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560"/>
              </a:lnSpc>
              <a:spcBef>
                <a:spcPts val="0"/>
              </a:spcBef>
              <a:spcAft>
                <a:spcPts val="0"/>
              </a:spcAft>
              <a:buNone/>
            </a:pPr>
            <a:r>
              <a:rPr sz="1300" b="1" i="0" lang="ko-KR" altLang="en-US">
                <a:solidFill>
                  <a:srgbClr val="13294B"/>
                </a:solidFill>
                <a:latin typeface="맑은 고딕"/>
                <a:ea typeface="맑은 고딕"/>
                <a:cs typeface="맑은 고딕"/>
              </a:rPr>
              <a:t>특허 공동분류로 직접 관찰</a:t>
            </a:r>
          </a:p>
        </p:txBody>
      </p:sp>
      <p:sp>
        <p:nvSpPr>
          <p:cNvPr id="26" name="Chevron 25"/>
          <p:cNvSpPr/>
          <p:nvPr/>
        </p:nvSpPr>
        <p:spPr>
          <a:xfrm>
            <a:off x="6171660" y="2574000"/>
            <a:ext cx="2772000" cy="666000"/>
          </a:xfrm>
          <a:prstGeom prst="chevron">
            <a:avLst>
              <a:gd name="adj" fmla="val 28000"/>
            </a:avLst>
          </a:prstGeom>
          <a:solidFill>
            <a:srgbClr val="E8EEF7"/>
          </a:solidFill>
          <a:ln>
            <a:no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응용 융합</a:t>
            </a:r>
          </a:p>
          <a:p>
            <a:pPr algn="ctr" marL="0" indent="0">
              <a:lnSpc>
                <a:spcPts val="1260"/>
              </a:lnSpc>
              <a:spcBef>
                <a:spcPts val="0"/>
              </a:spcBef>
              <a:spcAft>
                <a:spcPts val="0"/>
              </a:spcAft>
              <a:buNone/>
            </a:pPr>
            <a:r>
              <a:rPr sz="1050" b="0" i="0" lang="ko-KR" altLang="en-US">
                <a:solidFill>
                  <a:srgbClr val="5B6475"/>
                </a:solidFill>
                <a:latin typeface="맑은 고딕"/>
                <a:ea typeface="맑은 고딕"/>
                <a:cs typeface="맑은 고딕"/>
              </a:rPr>
              <a:t>Applicational</a:t>
            </a:r>
          </a:p>
        </p:txBody>
      </p:sp>
      <p:sp>
        <p:nvSpPr>
          <p:cNvPr id="27" name="Rounded Rectangle 26"/>
          <p:cNvSpPr/>
          <p:nvPr/>
        </p:nvSpPr>
        <p:spPr>
          <a:xfrm>
            <a:off x="6207660" y="3330000"/>
            <a:ext cx="2574000" cy="156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8" name="TextBox 27"/>
          <p:cNvSpPr txBox="1"/>
          <p:nvPr/>
        </p:nvSpPr>
        <p:spPr>
          <a:xfrm>
            <a:off x="6315660" y="3384000"/>
            <a:ext cx="2358000" cy="720000"/>
          </a:xfrm>
          <a:prstGeom prst="rect">
            <a:avLst/>
          </a:prstGeom>
          <a:noFill/>
        </p:spPr>
        <p:txBody>
          <a:bodyPr wrap="square" lIns="0" rIns="0" tIns="0" bIns="0" anchor="ctr">
            <a:noAutofit/>
          </a:bodyPr>
          <a:lstStyle/>
          <a:p>
            <a:pPr algn="ctr" marL="0" indent="0">
              <a:lnSpc>
                <a:spcPts val="1680"/>
              </a:lnSpc>
              <a:spcBef>
                <a:spcPts val="0"/>
              </a:spcBef>
              <a:spcAft>
                <a:spcPts val="0"/>
              </a:spcAft>
              <a:buNone/>
            </a:pPr>
            <a:r>
              <a:rPr sz="1400" b="1" i="0" lang="ko-KR" altLang="en-US">
                <a:solidFill>
                  <a:srgbClr val="1E2532"/>
                </a:solidFill>
                <a:latin typeface="맑은 고딕"/>
                <a:ea typeface="맑은 고딕"/>
                <a:cs typeface="맑은 고딕"/>
              </a:rPr>
              <a:t>결합된 기술이 제품으로 구현</a:t>
            </a:r>
          </a:p>
        </p:txBody>
      </p:sp>
      <p:cxnSp>
        <p:nvCxnSpPr>
          <p:cNvPr id="29" name="Connector 28"/>
          <p:cNvCxnSpPr/>
          <p:nvPr/>
        </p:nvCxnSpPr>
        <p:spPr>
          <a:xfrm>
            <a:off x="6603660" y="4140000"/>
            <a:ext cx="1782000" cy="0"/>
          </a:xfrm>
          <a:prstGeom prst="line">
            <a:avLst/>
          </a:prstGeom>
          <a:ln w="12700">
            <a:solidFill>
              <a:srgbClr val="D5DBE3"/>
            </a:solidFill>
          </a:ln>
        </p:spPr>
      </p:cxnSp>
      <p:sp>
        <p:nvSpPr>
          <p:cNvPr id="30" name="TextBox 29"/>
          <p:cNvSpPr txBox="1"/>
          <p:nvPr/>
        </p:nvSpPr>
        <p:spPr>
          <a:xfrm>
            <a:off x="6315660" y="4176000"/>
            <a:ext cx="2358000" cy="666000"/>
          </a:xfrm>
          <a:prstGeom prst="rect">
            <a:avLst/>
          </a:prstGeom>
          <a:noFill/>
        </p:spPr>
        <p:txBody>
          <a:bodyPr wrap="square" lIns="0" rIns="0" tIns="0" bIns="0" anchor="ctr">
            <a:noAutofit/>
          </a:bodyPr>
          <a:lstStyle/>
          <a:p>
            <a:pPr algn="ctr"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이미지센서 · 3D NAND · HBM · 칩렛</a:t>
            </a:r>
          </a:p>
        </p:txBody>
      </p:sp>
      <p:sp>
        <p:nvSpPr>
          <p:cNvPr id="31" name="Rounded Rectangle 30"/>
          <p:cNvSpPr/>
          <p:nvPr/>
        </p:nvSpPr>
        <p:spPr>
          <a:xfrm>
            <a:off x="6315660" y="4986000"/>
            <a:ext cx="2358000" cy="414000"/>
          </a:xfrm>
          <a:prstGeom prst="roundRect">
            <a:avLst>
              <a:gd name="adj" fmla="val 5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560"/>
              </a:lnSpc>
              <a:spcBef>
                <a:spcPts val="0"/>
              </a:spcBef>
              <a:spcAft>
                <a:spcPts val="0"/>
              </a:spcAft>
              <a:buNone/>
            </a:pPr>
            <a:r>
              <a:rPr sz="1300" b="1" i="0" lang="ko-KR" altLang="en-US">
                <a:solidFill>
                  <a:srgbClr val="13294B"/>
                </a:solidFill>
                <a:latin typeface="맑은 고딕"/>
                <a:ea typeface="맑은 고딕"/>
                <a:cs typeface="맑은 고딕"/>
              </a:rPr>
              <a:t>RQ3에서 간접적으로</a:t>
            </a:r>
          </a:p>
        </p:txBody>
      </p:sp>
      <p:sp>
        <p:nvSpPr>
          <p:cNvPr id="32" name="Chevron 31"/>
          <p:cNvSpPr/>
          <p:nvPr/>
        </p:nvSpPr>
        <p:spPr>
          <a:xfrm>
            <a:off x="8968860" y="2574000"/>
            <a:ext cx="2772000" cy="666000"/>
          </a:xfrm>
          <a:prstGeom prst="chevron">
            <a:avLst>
              <a:gd name="adj" fmla="val 28000"/>
            </a:avLst>
          </a:prstGeom>
          <a:solidFill>
            <a:srgbClr val="E8EEF7"/>
          </a:solidFill>
          <a:ln>
            <a:no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산업 융합</a:t>
            </a:r>
          </a:p>
          <a:p>
            <a:pPr algn="ctr" marL="0" indent="0">
              <a:lnSpc>
                <a:spcPts val="1260"/>
              </a:lnSpc>
              <a:spcBef>
                <a:spcPts val="0"/>
              </a:spcBef>
              <a:spcAft>
                <a:spcPts val="0"/>
              </a:spcAft>
              <a:buNone/>
            </a:pPr>
            <a:r>
              <a:rPr sz="1050" b="0" i="0" lang="ko-KR" altLang="en-US">
                <a:solidFill>
                  <a:srgbClr val="5B6475"/>
                </a:solidFill>
                <a:latin typeface="맑은 고딕"/>
                <a:ea typeface="맑은 고딕"/>
                <a:cs typeface="맑은 고딕"/>
              </a:rPr>
              <a:t>Industrial</a:t>
            </a:r>
          </a:p>
        </p:txBody>
      </p:sp>
      <p:sp>
        <p:nvSpPr>
          <p:cNvPr id="33" name="Rounded Rectangle 32"/>
          <p:cNvSpPr/>
          <p:nvPr/>
        </p:nvSpPr>
        <p:spPr>
          <a:xfrm>
            <a:off x="9004860" y="3330000"/>
            <a:ext cx="2574000" cy="156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34" name="TextBox 33"/>
          <p:cNvSpPr txBox="1"/>
          <p:nvPr/>
        </p:nvSpPr>
        <p:spPr>
          <a:xfrm>
            <a:off x="9112860" y="3384000"/>
            <a:ext cx="2358000" cy="720000"/>
          </a:xfrm>
          <a:prstGeom prst="rect">
            <a:avLst/>
          </a:prstGeom>
          <a:noFill/>
        </p:spPr>
        <p:txBody>
          <a:bodyPr wrap="square" lIns="0" rIns="0" tIns="0" bIns="0" anchor="ctr">
            <a:noAutofit/>
          </a:bodyPr>
          <a:lstStyle/>
          <a:p>
            <a:pPr algn="ctr" marL="0" indent="0">
              <a:lnSpc>
                <a:spcPts val="1680"/>
              </a:lnSpc>
              <a:spcBef>
                <a:spcPts val="0"/>
              </a:spcBef>
              <a:spcAft>
                <a:spcPts val="0"/>
              </a:spcAft>
              <a:buNone/>
            </a:pPr>
            <a:r>
              <a:rPr sz="1400" b="1" i="0" lang="ko-KR" altLang="en-US">
                <a:solidFill>
                  <a:srgbClr val="1E2532"/>
                </a:solidFill>
                <a:latin typeface="맑은 고딕"/>
                <a:ea typeface="맑은 고딕"/>
                <a:cs typeface="맑은 고딕"/>
              </a:rPr>
              <a:t>공정 단계 간 분업 구조의 재편</a:t>
            </a:r>
          </a:p>
        </p:txBody>
      </p:sp>
      <p:cxnSp>
        <p:nvCxnSpPr>
          <p:cNvPr id="35" name="Connector 34"/>
          <p:cNvCxnSpPr/>
          <p:nvPr/>
        </p:nvCxnSpPr>
        <p:spPr>
          <a:xfrm>
            <a:off x="9400860" y="4140000"/>
            <a:ext cx="1782000" cy="0"/>
          </a:xfrm>
          <a:prstGeom prst="line">
            <a:avLst/>
          </a:prstGeom>
          <a:ln w="12700">
            <a:solidFill>
              <a:srgbClr val="D5DBE3"/>
            </a:solidFill>
          </a:ln>
        </p:spPr>
      </p:cxnSp>
      <p:sp>
        <p:nvSpPr>
          <p:cNvPr id="36" name="TextBox 35"/>
          <p:cNvSpPr txBox="1"/>
          <p:nvPr/>
        </p:nvSpPr>
        <p:spPr>
          <a:xfrm>
            <a:off x="9112860" y="4176000"/>
            <a:ext cx="2358000" cy="666000"/>
          </a:xfrm>
          <a:prstGeom prst="rect">
            <a:avLst/>
          </a:prstGeom>
          <a:noFill/>
        </p:spPr>
        <p:txBody>
          <a:bodyPr wrap="square" lIns="0" rIns="0" tIns="0" bIns="0" anchor="ctr">
            <a:noAutofit/>
          </a:bodyPr>
          <a:lstStyle/>
          <a:p>
            <a:pPr algn="ctr"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파운드리의 첨단 패키징 내재화</a:t>
            </a:r>
          </a:p>
        </p:txBody>
      </p:sp>
      <p:sp>
        <p:nvSpPr>
          <p:cNvPr id="37" name="Rounded Rectangle 36"/>
          <p:cNvSpPr/>
          <p:nvPr/>
        </p:nvSpPr>
        <p:spPr>
          <a:xfrm>
            <a:off x="9112860" y="4986000"/>
            <a:ext cx="2358000" cy="414000"/>
          </a:xfrm>
          <a:prstGeom prst="roundRect">
            <a:avLst>
              <a:gd name="adj" fmla="val 50000"/>
            </a:avLst>
          </a:prstGeom>
          <a:solidFill>
            <a:srgbClr val="EEF0F3"/>
          </a:solidFill>
          <a:ln>
            <a:noFill/>
          </a:ln>
        </p:spPr>
        <p:txBody>
          <a:bodyPr rtlCol="0" anchor="ctr" lIns="28800" rIns="28800" tIns="18000" bIns="18000" wrap="square">
            <a:noAutofit/>
          </a:bodyPr>
          <a:lstStyle/>
          <a:p>
            <a:pPr algn="ctr" marL="0" indent="0">
              <a:lnSpc>
                <a:spcPts val="1560"/>
              </a:lnSpc>
              <a:spcBef>
                <a:spcPts val="0"/>
              </a:spcBef>
              <a:spcAft>
                <a:spcPts val="0"/>
              </a:spcAft>
              <a:buNone/>
            </a:pPr>
            <a:r>
              <a:rPr sz="1300" b="1" i="0" lang="ko-KR" altLang="en-US">
                <a:solidFill>
                  <a:srgbClr val="5B6475"/>
                </a:solidFill>
                <a:latin typeface="맑은 고딕"/>
                <a:ea typeface="맑은 고딕"/>
                <a:cs typeface="맑은 고딕"/>
              </a:rPr>
              <a:t>분석 범위 밖</a:t>
            </a:r>
          </a:p>
        </p:txBody>
      </p:sp>
      <p:sp>
        <p:nvSpPr>
          <p:cNvPr id="38" name="Source"/>
          <p:cNvSpPr txBox="1"/>
          <p:nvPr/>
        </p:nvSpPr>
        <p:spPr>
          <a:xfrm>
            <a:off x="540000" y="5598000"/>
            <a:ext cx="11112120" cy="180000"/>
          </a:xfrm>
          <a:prstGeom prst="rect">
            <a:avLst/>
          </a:prstGeom>
          <a:noFill/>
        </p:spPr>
        <p:txBody>
          <a:bodyPr wrap="square" lIns="0" rIns="0" tIns="0" bIns="0" anchor="ctr">
            <a:noAutofit/>
          </a:bodyPr>
          <a:lstStyle/>
          <a:p>
            <a:pPr algn="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Curran &amp; Leker (2011); Lau (2022); KnowMade (2024)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2.2  </a:t>
            </a:r>
            <a:r>
              <a:rPr sz="2200" b="1" i="0" lang="ko-KR" altLang="en-US">
                <a:solidFill>
                  <a:srgbClr val="13294B"/>
                </a:solidFill>
                <a:latin typeface="맑은 고딕"/>
                <a:ea typeface="맑은 고딕"/>
                <a:cs typeface="맑은 고딕"/>
              </a:rPr>
              <a:t>수직 전문화와 지식 경계</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인터페이스가 불안정해지면, 지식의 결합은 조직보다 먼저 발명에서 나타난다</a:t>
            </a:r>
          </a:p>
        </p:txBody>
      </p:sp>
      <p:sp>
        <p:nvSpPr>
          <p:cNvPr id="4" name="Rounded Rectangle 3"/>
          <p:cNvSpPr/>
          <p:nvPr/>
        </p:nvSpPr>
        <p:spPr>
          <a:xfrm>
            <a:off x="756000" y="1260000"/>
            <a:ext cx="2628000" cy="936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2280"/>
              </a:lnSpc>
              <a:spcBef>
                <a:spcPts val="0"/>
              </a:spcBef>
              <a:spcAft>
                <a:spcPts val="0"/>
              </a:spcAft>
              <a:buNone/>
            </a:pPr>
            <a:r>
              <a:rPr sz="1900" b="1" i="0" lang="ko-KR" altLang="en-US">
                <a:solidFill>
                  <a:srgbClr val="13294B"/>
                </a:solidFill>
                <a:latin typeface="맑은 고딕"/>
                <a:ea typeface="맑은 고딕"/>
                <a:cs typeface="맑은 고딕"/>
              </a:rPr>
              <a:t>설계</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팹리스</a:t>
            </a:r>
          </a:p>
        </p:txBody>
      </p:sp>
      <p:cxnSp>
        <p:nvCxnSpPr>
          <p:cNvPr id="5" name="Connector 4"/>
          <p:cNvCxnSpPr/>
          <p:nvPr/>
        </p:nvCxnSpPr>
        <p:spPr>
          <a:xfrm>
            <a:off x="3427200" y="1728000"/>
            <a:ext cx="201600" cy="0"/>
          </a:xfrm>
          <a:prstGeom prst="line">
            <a:avLst/>
          </a:prstGeom>
          <a:ln w="25400">
            <a:solidFill>
              <a:srgbClr val="13294B"/>
            </a:solidFill>
            <a:tailEnd type="triangle" w="med" len="med"/>
          </a:ln>
        </p:spPr>
      </p:cxnSp>
      <p:sp>
        <p:nvSpPr>
          <p:cNvPr id="6" name="Rounded Rectangle 5"/>
          <p:cNvSpPr/>
          <p:nvPr/>
        </p:nvSpPr>
        <p:spPr>
          <a:xfrm>
            <a:off x="3672000" y="1260000"/>
            <a:ext cx="2628000" cy="936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2280"/>
              </a:lnSpc>
              <a:spcBef>
                <a:spcPts val="0"/>
              </a:spcBef>
              <a:spcAft>
                <a:spcPts val="0"/>
              </a:spcAft>
              <a:buNone/>
            </a:pPr>
            <a:r>
              <a:rPr sz="1900" b="1" i="0" lang="ko-KR" altLang="en-US">
                <a:solidFill>
                  <a:srgbClr val="13294B"/>
                </a:solidFill>
                <a:latin typeface="맑은 고딕"/>
                <a:ea typeface="맑은 고딕"/>
                <a:cs typeface="맑은 고딕"/>
              </a:rPr>
              <a:t>제조</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종합반도체기업 · 파운드리</a:t>
            </a:r>
          </a:p>
        </p:txBody>
      </p:sp>
      <p:cxnSp>
        <p:nvCxnSpPr>
          <p:cNvPr id="7" name="Connector 6"/>
          <p:cNvCxnSpPr/>
          <p:nvPr/>
        </p:nvCxnSpPr>
        <p:spPr>
          <a:xfrm>
            <a:off x="6343200" y="1728000"/>
            <a:ext cx="201600" cy="0"/>
          </a:xfrm>
          <a:prstGeom prst="line">
            <a:avLst/>
          </a:prstGeom>
          <a:ln w="25400">
            <a:solidFill>
              <a:srgbClr val="13294B"/>
            </a:solidFill>
            <a:tailEnd type="triangle" w="med" len="med"/>
          </a:ln>
        </p:spPr>
      </p:cxnSp>
      <p:sp>
        <p:nvSpPr>
          <p:cNvPr id="8" name="Rounded Rectangle 7"/>
          <p:cNvSpPr/>
          <p:nvPr/>
        </p:nvSpPr>
        <p:spPr>
          <a:xfrm>
            <a:off x="6588000" y="1260000"/>
            <a:ext cx="2628000" cy="936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2280"/>
              </a:lnSpc>
              <a:spcBef>
                <a:spcPts val="0"/>
              </a:spcBef>
              <a:spcAft>
                <a:spcPts val="0"/>
              </a:spcAft>
              <a:buNone/>
            </a:pPr>
            <a:r>
              <a:rPr sz="1900" b="1" i="0" lang="ko-KR" altLang="en-US">
                <a:solidFill>
                  <a:srgbClr val="13294B"/>
                </a:solidFill>
                <a:latin typeface="맑은 고딕"/>
                <a:ea typeface="맑은 고딕"/>
                <a:cs typeface="맑은 고딕"/>
              </a:rPr>
              <a:t>조립 · 테스트</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조립·테스트 전문업체</a:t>
            </a:r>
          </a:p>
        </p:txBody>
      </p:sp>
      <p:sp>
        <p:nvSpPr>
          <p:cNvPr id="9" name="Rounded Rectangle 8"/>
          <p:cNvSpPr/>
          <p:nvPr/>
        </p:nvSpPr>
        <p:spPr>
          <a:xfrm>
            <a:off x="3564000" y="1116000"/>
            <a:ext cx="2844000" cy="1224000"/>
          </a:xfrm>
          <a:prstGeom prst="roundRect">
            <a:avLst>
              <a:gd name="adj" fmla="val 8000"/>
            </a:avLst>
          </a:prstGeom>
          <a:noFill/>
          <a:ln w="31750">
            <a:solidFill>
              <a:srgbClr val="2563C9"/>
            </a:solidFill>
          </a:ln>
        </p:spPr>
        <p:txBody>
          <a:bodyPr rtlCol="0" anchor="ctr" lIns="36000" rIns="36000" tIns="36000" bIns="36000"/>
          <a:lstStyle/>
          <a:p>
            <a:pPr algn="ctr"/>
          </a:p>
        </p:txBody>
      </p:sp>
      <p:sp>
        <p:nvSpPr>
          <p:cNvPr id="10" name="TextBox 9"/>
          <p:cNvSpPr txBox="1"/>
          <p:nvPr/>
        </p:nvSpPr>
        <p:spPr>
          <a:xfrm>
            <a:off x="3564000" y="2376000"/>
            <a:ext cx="2844000" cy="252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2563C9"/>
                </a:solidFill>
                <a:latin typeface="맑은 고딕"/>
                <a:ea typeface="맑은 고딕"/>
                <a:cs typeface="맑은 고딕"/>
              </a:rPr>
              <a:t>생산의 경계</a:t>
            </a:r>
          </a:p>
        </p:txBody>
      </p:sp>
      <p:sp>
        <p:nvSpPr>
          <p:cNvPr id="11" name="Rounded Rectangle 10"/>
          <p:cNvSpPr/>
          <p:nvPr/>
        </p:nvSpPr>
        <p:spPr>
          <a:xfrm>
            <a:off x="3474000" y="918000"/>
            <a:ext cx="5139000" cy="1908000"/>
          </a:xfrm>
          <a:prstGeom prst="roundRect">
            <a:avLst>
              <a:gd name="adj" fmla="val 6000"/>
            </a:avLst>
          </a:prstGeom>
          <a:noFill/>
          <a:ln w="31750">
            <a:solidFill>
              <a:srgbClr val="7C3AED"/>
            </a:solidFill>
            <a:prstDash val="dash"/>
          </a:ln>
        </p:spPr>
        <p:txBody>
          <a:bodyPr rtlCol="0" anchor="ctr" lIns="36000" rIns="36000" tIns="36000" bIns="36000"/>
          <a:lstStyle/>
          <a:p>
            <a:pPr algn="ctr"/>
          </a:p>
        </p:txBody>
      </p:sp>
      <p:sp>
        <p:nvSpPr>
          <p:cNvPr id="12" name="TextBox 11"/>
          <p:cNvSpPr txBox="1"/>
          <p:nvPr/>
        </p:nvSpPr>
        <p:spPr>
          <a:xfrm>
            <a:off x="6813000" y="2574000"/>
            <a:ext cx="1728000" cy="252000"/>
          </a:xfrm>
          <a:prstGeom prst="rect">
            <a:avLst/>
          </a:prstGeom>
          <a:noFill/>
        </p:spPr>
        <p:txBody>
          <a:bodyPr wrap="square" lIns="0" rIns="0" tIns="0" bIns="0" anchor="ctr">
            <a:noAutofit/>
          </a:bodyPr>
          <a:lstStyle/>
          <a:p>
            <a:pPr algn="r" marL="0" indent="0">
              <a:lnSpc>
                <a:spcPts val="1560"/>
              </a:lnSpc>
              <a:spcBef>
                <a:spcPts val="0"/>
              </a:spcBef>
              <a:spcAft>
                <a:spcPts val="0"/>
              </a:spcAft>
              <a:buNone/>
            </a:pPr>
            <a:r>
              <a:rPr sz="1300" b="1" i="0" lang="ko-KR" altLang="en-US">
                <a:solidFill>
                  <a:srgbClr val="7C3AED"/>
                </a:solidFill>
                <a:latin typeface="맑은 고딕"/>
                <a:ea typeface="맑은 고딕"/>
                <a:cs typeface="맑은 고딕"/>
              </a:rPr>
              <a:t>지식의 경계</a:t>
            </a:r>
          </a:p>
        </p:txBody>
      </p:sp>
      <p:sp>
        <p:nvSpPr>
          <p:cNvPr id="13" name="Rounded Rectangle 12"/>
          <p:cNvSpPr/>
          <p:nvPr/>
        </p:nvSpPr>
        <p:spPr>
          <a:xfrm>
            <a:off x="9540000" y="972000"/>
            <a:ext cx="2112120" cy="2124000"/>
          </a:xfrm>
          <a:prstGeom prst="roundRect">
            <a:avLst>
              <a:gd name="adj" fmla="val 6000"/>
            </a:avLst>
          </a:prstGeom>
          <a:solidFill>
            <a:srgbClr val="E8EEF7"/>
          </a:solidFill>
          <a:ln>
            <a:noFill/>
          </a:ln>
        </p:spPr>
        <p:txBody>
          <a:bodyPr rtlCol="0" anchor="ctr" lIns="36000" rIns="36000" tIns="36000" bIns="36000"/>
          <a:lstStyle/>
          <a:p>
            <a:pPr algn="ctr"/>
          </a:p>
        </p:txBody>
      </p:sp>
      <p:sp>
        <p:nvSpPr>
          <p:cNvPr id="14" name="TextBox 13"/>
          <p:cNvSpPr txBox="1"/>
          <p:nvPr/>
        </p:nvSpPr>
        <p:spPr>
          <a:xfrm>
            <a:off x="9684000" y="972000"/>
            <a:ext cx="1824120" cy="2124000"/>
          </a:xfrm>
          <a:prstGeom prst="rect">
            <a:avLst/>
          </a:prstGeom>
          <a:noFill/>
        </p:spPr>
        <p:txBody>
          <a:bodyPr wrap="square" lIns="0" rIns="0" tIns="0" bIns="0" anchor="ctr">
            <a:noAutofit/>
          </a:bodyPr>
          <a:lstStyle/>
          <a:p>
            <a:pPr algn="ctr"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생산의 경계</a:t>
            </a:r>
          </a:p>
          <a:p>
            <a:pPr algn="ctr" marL="0" indent="0">
              <a:lnSpc>
                <a:spcPts val="2640"/>
              </a:lnSpc>
              <a:spcBef>
                <a:spcPts val="0"/>
              </a:spcBef>
              <a:spcAft>
                <a:spcPts val="0"/>
              </a:spcAft>
              <a:buNone/>
            </a:pPr>
            <a:r>
              <a:rPr sz="2200" b="1" i="0" lang="ko-KR" altLang="en-US">
                <a:solidFill>
                  <a:srgbClr val="13294B"/>
                </a:solidFill>
                <a:latin typeface="맑은 고딕"/>
                <a:ea typeface="맑은 고딕"/>
                <a:cs typeface="맑은 고딕"/>
              </a:rPr>
              <a:t>≠</a:t>
            </a:r>
          </a:p>
          <a:p>
            <a:pPr algn="ctr" marL="0" indent="0">
              <a:lnSpc>
                <a:spcPts val="2160"/>
              </a:lnSpc>
              <a:spcBef>
                <a:spcPts val="0"/>
              </a:spcBef>
              <a:spcAft>
                <a:spcPts val="0"/>
              </a:spcAft>
              <a:buNone/>
            </a:pPr>
            <a:r>
              <a:rPr sz="1800" b="1" i="0" lang="ko-KR" altLang="en-US">
                <a:solidFill>
                  <a:srgbClr val="7C3AED"/>
                </a:solidFill>
                <a:latin typeface="맑은 고딕"/>
                <a:ea typeface="맑은 고딕"/>
                <a:cs typeface="맑은 고딕"/>
              </a:rPr>
              <a:t>지식의 경계</a:t>
            </a:r>
          </a:p>
        </p:txBody>
      </p:sp>
      <p:sp>
        <p:nvSpPr>
          <p:cNvPr id="15" name="Rounded Rectangle 14"/>
          <p:cNvSpPr/>
          <p:nvPr/>
        </p:nvSpPr>
        <p:spPr>
          <a:xfrm>
            <a:off x="540000" y="3456000"/>
            <a:ext cx="3560040" cy="180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6" name="TextBox 15"/>
          <p:cNvSpPr txBox="1"/>
          <p:nvPr/>
        </p:nvSpPr>
        <p:spPr>
          <a:xfrm>
            <a:off x="702000" y="3546000"/>
            <a:ext cx="3236040" cy="306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Kapoor &amp; Adner (2012)</a:t>
            </a:r>
          </a:p>
        </p:txBody>
      </p:sp>
      <p:sp>
        <p:nvSpPr>
          <p:cNvPr id="17" name="TextBox 16"/>
          <p:cNvSpPr txBox="1"/>
          <p:nvPr/>
        </p:nvSpPr>
        <p:spPr>
          <a:xfrm>
            <a:off x="702000" y="3870000"/>
            <a:ext cx="3236040" cy="1332000"/>
          </a:xfrm>
          <a:prstGeom prst="rect">
            <a:avLst/>
          </a:prstGeom>
          <a:noFill/>
        </p:spPr>
        <p:txBody>
          <a:bodyPr wrap="square" lIns="0" rIns="0" tIns="0" bIns="0" anchor="t">
            <a:noAutofit/>
          </a:bodyPr>
          <a:lstStyle/>
          <a:p>
            <a:pPr algn="l" marL="0" indent="0">
              <a:lnSpc>
                <a:spcPts val="1780"/>
              </a:lnSpc>
              <a:spcBef>
                <a:spcPts val="0"/>
              </a:spcBef>
              <a:spcAft>
                <a:spcPts val="0"/>
              </a:spcAft>
              <a:buNone/>
            </a:pPr>
            <a:r>
              <a:rPr sz="1350" b="0" i="0" lang="ko-KR" altLang="en-US">
                <a:solidFill>
                  <a:srgbClr val="1E2532"/>
                </a:solidFill>
                <a:latin typeface="맑은 고딕"/>
                <a:ea typeface="맑은 고딕"/>
                <a:cs typeface="맑은 고딕"/>
              </a:rPr>
              <a:t>DRAM 산업 12개 제품 세대(1974–2005): 외주화한 부품의 지식까지 보유한 비통합 기업이 기술 전환에서 성과 우위</a:t>
            </a:r>
          </a:p>
        </p:txBody>
      </p:sp>
      <p:sp>
        <p:nvSpPr>
          <p:cNvPr id="18" name="Rounded Rectangle 17"/>
          <p:cNvSpPr/>
          <p:nvPr/>
        </p:nvSpPr>
        <p:spPr>
          <a:xfrm>
            <a:off x="4316040" y="3456000"/>
            <a:ext cx="3560040" cy="180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9" name="TextBox 18"/>
          <p:cNvSpPr txBox="1"/>
          <p:nvPr/>
        </p:nvSpPr>
        <p:spPr>
          <a:xfrm>
            <a:off x="4478040" y="3546000"/>
            <a:ext cx="3236040" cy="306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Brusoni et al. (2001)</a:t>
            </a:r>
          </a:p>
        </p:txBody>
      </p:sp>
      <p:sp>
        <p:nvSpPr>
          <p:cNvPr id="20" name="TextBox 19"/>
          <p:cNvSpPr txBox="1"/>
          <p:nvPr/>
        </p:nvSpPr>
        <p:spPr>
          <a:xfrm>
            <a:off x="4478040" y="3870000"/>
            <a:ext cx="3236040" cy="1332000"/>
          </a:xfrm>
          <a:prstGeom prst="rect">
            <a:avLst/>
          </a:prstGeom>
          <a:noFill/>
        </p:spPr>
        <p:txBody>
          <a:bodyPr wrap="square" lIns="0" rIns="0" tIns="0" bIns="0" anchor="t">
            <a:noAutofit/>
          </a:bodyPr>
          <a:lstStyle/>
          <a:p>
            <a:pPr algn="l" marL="0" indent="0">
              <a:lnSpc>
                <a:spcPts val="1780"/>
              </a:lnSpc>
              <a:spcBef>
                <a:spcPts val="0"/>
              </a:spcBef>
              <a:spcAft>
                <a:spcPts val="0"/>
              </a:spcAft>
              <a:buNone/>
            </a:pPr>
            <a:r>
              <a:rPr sz="1350" b="0" i="0" lang="ko-KR" altLang="en-US">
                <a:solidFill>
                  <a:srgbClr val="1E2532"/>
                </a:solidFill>
                <a:latin typeface="맑은 고딕"/>
                <a:ea typeface="맑은 고딕"/>
                <a:cs typeface="맑은 고딕"/>
              </a:rPr>
              <a:t>구성요소 사이의 상호의존을 예측하기 어려울수록 직접 생산하는 범위보다 넓은 지식이 필요</a:t>
            </a:r>
          </a:p>
        </p:txBody>
      </p:sp>
      <p:sp>
        <p:nvSpPr>
          <p:cNvPr id="21" name="Rounded Rectangle 20"/>
          <p:cNvSpPr/>
          <p:nvPr/>
        </p:nvSpPr>
        <p:spPr>
          <a:xfrm>
            <a:off x="8092080" y="3456000"/>
            <a:ext cx="3560040" cy="180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2" name="TextBox 21"/>
          <p:cNvSpPr txBox="1"/>
          <p:nvPr/>
        </p:nvSpPr>
        <p:spPr>
          <a:xfrm>
            <a:off x="8254080" y="3546000"/>
            <a:ext cx="3236040" cy="306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Jacobides et al. (2006)</a:t>
            </a:r>
          </a:p>
        </p:txBody>
      </p:sp>
      <p:sp>
        <p:nvSpPr>
          <p:cNvPr id="23" name="TextBox 22"/>
          <p:cNvSpPr txBox="1"/>
          <p:nvPr/>
        </p:nvSpPr>
        <p:spPr>
          <a:xfrm>
            <a:off x="8254080" y="3870000"/>
            <a:ext cx="3236040" cy="1332000"/>
          </a:xfrm>
          <a:prstGeom prst="rect">
            <a:avLst/>
          </a:prstGeom>
          <a:noFill/>
        </p:spPr>
        <p:txBody>
          <a:bodyPr wrap="square" lIns="0" rIns="0" tIns="0" bIns="0" anchor="t">
            <a:noAutofit/>
          </a:bodyPr>
          <a:lstStyle/>
          <a:p>
            <a:pPr algn="l" marL="0" indent="0">
              <a:lnSpc>
                <a:spcPts val="1780"/>
              </a:lnSpc>
              <a:spcBef>
                <a:spcPts val="0"/>
              </a:spcBef>
              <a:spcAft>
                <a:spcPts val="0"/>
              </a:spcAft>
              <a:buNone/>
            </a:pPr>
            <a:r>
              <a:rPr sz="1350" b="0" i="0" lang="ko-KR" altLang="en-US">
                <a:solidFill>
                  <a:srgbClr val="1E2532"/>
                </a:solidFill>
                <a:latin typeface="맑은 고딕"/>
                <a:ea typeface="맑은 고딕"/>
                <a:cs typeface="맑은 고딕"/>
              </a:rPr>
              <a:t>산업 아키텍처(누가 무엇을 하고 가치를 어떻게 나누는가)는 기술 변화에 따라 재편될 수 있음</a:t>
            </a:r>
          </a:p>
        </p:txBody>
      </p:sp>
      <p:sp>
        <p:nvSpPr>
          <p:cNvPr id="24" name="Source"/>
          <p:cNvSpPr txBox="1"/>
          <p:nvPr/>
        </p:nvSpPr>
        <p:spPr>
          <a:xfrm>
            <a:off x="540000" y="5490000"/>
            <a:ext cx="11112120" cy="180000"/>
          </a:xfrm>
          <a:prstGeom prst="rect">
            <a:avLst/>
          </a:prstGeom>
          <a:noFill/>
        </p:spPr>
        <p:txBody>
          <a:bodyPr wrap="square" lIns="0" rIns="0" tIns="0" bIns="0" anchor="ctr">
            <a:noAutofit/>
          </a:bodyPr>
          <a:lstStyle/>
          <a:p>
            <a:pPr algn="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Macher &amp; Mowery (2004); Brown &amp; Linden (2009); Kapoor (2013)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2.3  </a:t>
            </a:r>
            <a:r>
              <a:rPr sz="2200" b="1" i="0" lang="ko-KR" altLang="en-US">
                <a:solidFill>
                  <a:srgbClr val="13294B"/>
                </a:solidFill>
                <a:latin typeface="맑은 고딕"/>
                <a:ea typeface="맑은 고딕"/>
                <a:cs typeface="맑은 고딕"/>
              </a:rPr>
              <a:t>기술 순환 모형과 핵심–주변 구조</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지배적 설계가 자리 잡으면, 새로운 결합은 핵심이 아닌 주변에서 일어난다</a:t>
            </a:r>
          </a:p>
        </p:txBody>
      </p:sp>
      <p:sp>
        <p:nvSpPr>
          <p:cNvPr id="4" name="Rounded Rectangle 3"/>
          <p:cNvSpPr/>
          <p:nvPr/>
        </p:nvSpPr>
        <p:spPr>
          <a:xfrm>
            <a:off x="642060" y="1008000"/>
            <a:ext cx="2376000" cy="792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기술적 불연속</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새로운 기술 원리</a:t>
            </a:r>
          </a:p>
        </p:txBody>
      </p:sp>
      <p:cxnSp>
        <p:nvCxnSpPr>
          <p:cNvPr id="5" name="Connector 4"/>
          <p:cNvCxnSpPr/>
          <p:nvPr/>
        </p:nvCxnSpPr>
        <p:spPr>
          <a:xfrm>
            <a:off x="3072060" y="1404000"/>
            <a:ext cx="360000" cy="0"/>
          </a:xfrm>
          <a:prstGeom prst="line">
            <a:avLst/>
          </a:prstGeom>
          <a:ln w="25400">
            <a:solidFill>
              <a:srgbClr val="13294B"/>
            </a:solidFill>
            <a:tailEnd type="triangle" w="med" len="med"/>
          </a:ln>
        </p:spPr>
      </p:cxnSp>
      <p:sp>
        <p:nvSpPr>
          <p:cNvPr id="6" name="Rounded Rectangle 5"/>
          <p:cNvSpPr/>
          <p:nvPr/>
        </p:nvSpPr>
        <p:spPr>
          <a:xfrm>
            <a:off x="3486060" y="1008000"/>
            <a:ext cx="2376000" cy="792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격동기</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여러 설계의 경쟁</a:t>
            </a:r>
          </a:p>
        </p:txBody>
      </p:sp>
      <p:cxnSp>
        <p:nvCxnSpPr>
          <p:cNvPr id="7" name="Connector 6"/>
          <p:cNvCxnSpPr/>
          <p:nvPr/>
        </p:nvCxnSpPr>
        <p:spPr>
          <a:xfrm>
            <a:off x="5916060" y="1404000"/>
            <a:ext cx="360000" cy="0"/>
          </a:xfrm>
          <a:prstGeom prst="line">
            <a:avLst/>
          </a:prstGeom>
          <a:ln w="25400">
            <a:solidFill>
              <a:srgbClr val="13294B"/>
            </a:solidFill>
            <a:tailEnd type="triangle" w="med" len="med"/>
          </a:ln>
        </p:spPr>
      </p:cxnSp>
      <p:sp>
        <p:nvSpPr>
          <p:cNvPr id="8" name="Rounded Rectangle 7"/>
          <p:cNvSpPr/>
          <p:nvPr/>
        </p:nvSpPr>
        <p:spPr>
          <a:xfrm>
            <a:off x="6330060" y="1008000"/>
            <a:ext cx="2376000" cy="792000"/>
          </a:xfrm>
          <a:prstGeom prst="roundRect">
            <a:avLst>
              <a:gd name="adj" fmla="val 18000"/>
            </a:avLst>
          </a:prstGeom>
          <a:solidFill>
            <a:srgbClr val="13294B"/>
          </a:solidFill>
          <a:ln w="22225">
            <a:solidFill>
              <a:srgbClr val="13294B"/>
            </a:solid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FFFFFF"/>
                </a:solidFill>
                <a:latin typeface="맑은 고딕"/>
                <a:ea typeface="맑은 고딕"/>
                <a:cs typeface="맑은 고딕"/>
              </a:rPr>
              <a:t>지배적 설계</a:t>
            </a:r>
          </a:p>
          <a:p>
            <a:pPr algn="ctr" marL="0" indent="0">
              <a:lnSpc>
                <a:spcPts val="1440"/>
              </a:lnSpc>
              <a:spcBef>
                <a:spcPts val="0"/>
              </a:spcBef>
              <a:spcAft>
                <a:spcPts val="0"/>
              </a:spcAft>
              <a:buNone/>
            </a:pPr>
            <a:r>
              <a:rPr sz="1200" b="0" i="0" lang="ko-KR" altLang="en-US">
                <a:solidFill>
                  <a:srgbClr val="C8D3E6"/>
                </a:solidFill>
                <a:latin typeface="맑은 고딕"/>
                <a:ea typeface="맑은 고딕"/>
                <a:cs typeface="맑은 고딕"/>
              </a:rPr>
              <a:t>핵심 요소의 설계 안정</a:t>
            </a:r>
          </a:p>
        </p:txBody>
      </p:sp>
      <p:cxnSp>
        <p:nvCxnSpPr>
          <p:cNvPr id="9" name="Connector 8"/>
          <p:cNvCxnSpPr/>
          <p:nvPr/>
        </p:nvCxnSpPr>
        <p:spPr>
          <a:xfrm>
            <a:off x="8760060" y="1404000"/>
            <a:ext cx="360000" cy="0"/>
          </a:xfrm>
          <a:prstGeom prst="line">
            <a:avLst/>
          </a:prstGeom>
          <a:ln w="25400">
            <a:solidFill>
              <a:srgbClr val="13294B"/>
            </a:solidFill>
            <a:tailEnd type="triangle" w="med" len="med"/>
          </a:ln>
        </p:spPr>
      </p:cxnSp>
      <p:sp>
        <p:nvSpPr>
          <p:cNvPr id="10" name="Rounded Rectangle 9"/>
          <p:cNvSpPr/>
          <p:nvPr/>
        </p:nvSpPr>
        <p:spPr>
          <a:xfrm>
            <a:off x="9174060" y="1008000"/>
            <a:ext cx="2376000" cy="792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점진적 변화</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정해진 설계의 정교화</a:t>
            </a:r>
          </a:p>
        </p:txBody>
      </p:sp>
      <p:sp>
        <p:nvSpPr>
          <p:cNvPr id="11" name="TextBox 10"/>
          <p:cNvSpPr txBox="1"/>
          <p:nvPr/>
        </p:nvSpPr>
        <p:spPr>
          <a:xfrm>
            <a:off x="642060" y="1836000"/>
            <a:ext cx="10908000" cy="252000"/>
          </a:xfrm>
          <a:prstGeom prst="rect">
            <a:avLst/>
          </a:prstGeom>
          <a:noFill/>
        </p:spPr>
        <p:txBody>
          <a:bodyPr wrap="square" lIns="0" rIns="0" tIns="0" bIns="0" anchor="ctr">
            <a:noAutofit/>
          </a:bodyPr>
          <a:lstStyle/>
          <a:p>
            <a:pPr algn="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기술 순환 모형 (Anderson &amp; Tushman, 1990)</a:t>
            </a:r>
          </a:p>
        </p:txBody>
      </p:sp>
      <p:sp>
        <p:nvSpPr>
          <p:cNvPr id="12" name="Rounded Rectangle 11"/>
          <p:cNvSpPr/>
          <p:nvPr/>
        </p:nvSpPr>
        <p:spPr>
          <a:xfrm>
            <a:off x="540000" y="2232000"/>
            <a:ext cx="5760000" cy="3204000"/>
          </a:xfrm>
          <a:prstGeom prst="roundRect">
            <a:avLst>
              <a:gd name="adj" fmla="val 6000"/>
            </a:avLst>
          </a:prstGeom>
          <a:solidFill>
            <a:srgbClr val="F2F5FA"/>
          </a:solidFill>
          <a:ln>
            <a:noFill/>
          </a:ln>
        </p:spPr>
        <p:txBody>
          <a:bodyPr rtlCol="0" anchor="ctr" lIns="36000" rIns="36000" tIns="36000" bIns="36000"/>
          <a:lstStyle/>
          <a:p>
            <a:pPr algn="ctr"/>
          </a:p>
        </p:txBody>
      </p:sp>
      <p:cxnSp>
        <p:nvCxnSpPr>
          <p:cNvPr id="13" name="Connector 12"/>
          <p:cNvCxnSpPr/>
          <p:nvPr/>
        </p:nvCxnSpPr>
        <p:spPr>
          <a:xfrm flipV="1">
            <a:off x="3384000" y="2844000"/>
            <a:ext cx="0" cy="1080000"/>
          </a:xfrm>
          <a:prstGeom prst="line">
            <a:avLst/>
          </a:prstGeom>
          <a:ln w="19050">
            <a:solidFill>
              <a:srgbClr val="9AA6B8"/>
            </a:solidFill>
          </a:ln>
        </p:spPr>
      </p:cxnSp>
      <p:sp>
        <p:nvSpPr>
          <p:cNvPr id="14" name="Oval 13"/>
          <p:cNvSpPr/>
          <p:nvPr/>
        </p:nvSpPr>
        <p:spPr>
          <a:xfrm>
            <a:off x="3024000" y="2620800"/>
            <a:ext cx="720000" cy="446400"/>
          </a:xfrm>
          <a:prstGeom prst="ellipse">
            <a:avLst/>
          </a:prstGeom>
          <a:solidFill>
            <a:srgbClr val="FFFFFF"/>
          </a:solidFill>
          <a:ln w="15875">
            <a:solidFill>
              <a:srgbClr val="9AA6B8"/>
            </a:solidFill>
          </a:ln>
        </p:spPr>
        <p:txBody>
          <a:bodyPr rtlCol="0" anchor="ctr" lIns="7200" rIns="7200" tIns="18000" bIns="18000" wrap="square">
            <a:noAutofit/>
          </a:bodyPr>
          <a:lstStyle/>
          <a:p>
            <a:pPr algn="ctr" marL="0" indent="0">
              <a:lnSpc>
                <a:spcPts val="1320"/>
              </a:lnSpc>
              <a:spcBef>
                <a:spcPts val="0"/>
              </a:spcBef>
              <a:spcAft>
                <a:spcPts val="0"/>
              </a:spcAft>
              <a:buNone/>
            </a:pPr>
            <a:r>
              <a:rPr sz="1100" b="1" i="0" lang="ko-KR" altLang="en-US">
                <a:solidFill>
                  <a:srgbClr val="5B6475"/>
                </a:solidFill>
                <a:latin typeface="맑은 고딕"/>
                <a:ea typeface="맑은 고딕"/>
                <a:cs typeface="맑은 고딕"/>
              </a:rPr>
              <a:t>주변</a:t>
            </a:r>
          </a:p>
        </p:txBody>
      </p:sp>
      <p:cxnSp>
        <p:nvCxnSpPr>
          <p:cNvPr id="15" name="Connector 14"/>
          <p:cNvCxnSpPr/>
          <p:nvPr/>
        </p:nvCxnSpPr>
        <p:spPr>
          <a:xfrm flipH="1" flipV="1">
            <a:off x="1949862" y="3384000"/>
            <a:ext cx="1434138" cy="540000"/>
          </a:xfrm>
          <a:prstGeom prst="line">
            <a:avLst/>
          </a:prstGeom>
          <a:ln w="19050">
            <a:solidFill>
              <a:srgbClr val="9AA6B8"/>
            </a:solidFill>
          </a:ln>
        </p:spPr>
      </p:cxnSp>
      <p:sp>
        <p:nvSpPr>
          <p:cNvPr id="16" name="Oval 15"/>
          <p:cNvSpPr/>
          <p:nvPr/>
        </p:nvSpPr>
        <p:spPr>
          <a:xfrm>
            <a:off x="1589862" y="3160800"/>
            <a:ext cx="720000" cy="446400"/>
          </a:xfrm>
          <a:prstGeom prst="ellipse">
            <a:avLst/>
          </a:prstGeom>
          <a:solidFill>
            <a:srgbClr val="FFFFFF"/>
          </a:solidFill>
          <a:ln w="15875">
            <a:solidFill>
              <a:srgbClr val="9AA6B8"/>
            </a:solidFill>
          </a:ln>
        </p:spPr>
        <p:txBody>
          <a:bodyPr rtlCol="0" anchor="ctr" lIns="7200" rIns="7200" tIns="18000" bIns="18000" wrap="square">
            <a:noAutofit/>
          </a:bodyPr>
          <a:lstStyle/>
          <a:p>
            <a:pPr algn="ctr" marL="0" indent="0">
              <a:lnSpc>
                <a:spcPts val="1320"/>
              </a:lnSpc>
              <a:spcBef>
                <a:spcPts val="0"/>
              </a:spcBef>
              <a:spcAft>
                <a:spcPts val="0"/>
              </a:spcAft>
              <a:buNone/>
            </a:pPr>
            <a:r>
              <a:rPr sz="1100" b="1" i="0" lang="ko-KR" altLang="en-US">
                <a:solidFill>
                  <a:srgbClr val="5B6475"/>
                </a:solidFill>
                <a:latin typeface="맑은 고딕"/>
                <a:ea typeface="맑은 고딕"/>
                <a:cs typeface="맑은 고딕"/>
              </a:rPr>
              <a:t>주변</a:t>
            </a:r>
          </a:p>
        </p:txBody>
      </p:sp>
      <p:cxnSp>
        <p:nvCxnSpPr>
          <p:cNvPr id="17" name="Connector 16"/>
          <p:cNvCxnSpPr/>
          <p:nvPr/>
        </p:nvCxnSpPr>
        <p:spPr>
          <a:xfrm flipH="1">
            <a:off x="1949862" y="3924000"/>
            <a:ext cx="1434138" cy="540000"/>
          </a:xfrm>
          <a:prstGeom prst="line">
            <a:avLst/>
          </a:prstGeom>
          <a:ln w="19050">
            <a:solidFill>
              <a:srgbClr val="9AA6B8"/>
            </a:solidFill>
          </a:ln>
        </p:spPr>
      </p:cxnSp>
      <p:sp>
        <p:nvSpPr>
          <p:cNvPr id="18" name="Oval 17"/>
          <p:cNvSpPr/>
          <p:nvPr/>
        </p:nvSpPr>
        <p:spPr>
          <a:xfrm>
            <a:off x="1589862" y="4240800"/>
            <a:ext cx="720000" cy="446400"/>
          </a:xfrm>
          <a:prstGeom prst="ellipse">
            <a:avLst/>
          </a:prstGeom>
          <a:solidFill>
            <a:srgbClr val="FFFFFF"/>
          </a:solidFill>
          <a:ln w="15875">
            <a:solidFill>
              <a:srgbClr val="9AA6B8"/>
            </a:solidFill>
          </a:ln>
        </p:spPr>
        <p:txBody>
          <a:bodyPr rtlCol="0" anchor="ctr" lIns="7200" rIns="7200" tIns="18000" bIns="18000" wrap="square">
            <a:noAutofit/>
          </a:bodyPr>
          <a:lstStyle/>
          <a:p>
            <a:pPr algn="ctr" marL="0" indent="0">
              <a:lnSpc>
                <a:spcPts val="1320"/>
              </a:lnSpc>
              <a:spcBef>
                <a:spcPts val="0"/>
              </a:spcBef>
              <a:spcAft>
                <a:spcPts val="0"/>
              </a:spcAft>
              <a:buNone/>
            </a:pPr>
            <a:r>
              <a:rPr sz="1100" b="1" i="0" lang="ko-KR" altLang="en-US">
                <a:solidFill>
                  <a:srgbClr val="5B6475"/>
                </a:solidFill>
                <a:latin typeface="맑은 고딕"/>
                <a:ea typeface="맑은 고딕"/>
                <a:cs typeface="맑은 고딕"/>
              </a:rPr>
              <a:t>주변</a:t>
            </a:r>
          </a:p>
        </p:txBody>
      </p:sp>
      <p:cxnSp>
        <p:nvCxnSpPr>
          <p:cNvPr id="19" name="Connector 18"/>
          <p:cNvCxnSpPr/>
          <p:nvPr/>
        </p:nvCxnSpPr>
        <p:spPr>
          <a:xfrm>
            <a:off x="3384000" y="3924000"/>
            <a:ext cx="0" cy="1080000"/>
          </a:xfrm>
          <a:prstGeom prst="line">
            <a:avLst/>
          </a:prstGeom>
          <a:ln w="19050">
            <a:solidFill>
              <a:srgbClr val="9AA6B8"/>
            </a:solidFill>
          </a:ln>
        </p:spPr>
      </p:cxnSp>
      <p:sp>
        <p:nvSpPr>
          <p:cNvPr id="20" name="Oval 19"/>
          <p:cNvSpPr/>
          <p:nvPr/>
        </p:nvSpPr>
        <p:spPr>
          <a:xfrm>
            <a:off x="3024000" y="4780800"/>
            <a:ext cx="720000" cy="446400"/>
          </a:xfrm>
          <a:prstGeom prst="ellipse">
            <a:avLst/>
          </a:prstGeom>
          <a:solidFill>
            <a:srgbClr val="FFFFFF"/>
          </a:solidFill>
          <a:ln w="15875">
            <a:solidFill>
              <a:srgbClr val="9AA6B8"/>
            </a:solidFill>
          </a:ln>
        </p:spPr>
        <p:txBody>
          <a:bodyPr rtlCol="0" anchor="ctr" lIns="7200" rIns="7200" tIns="18000" bIns="18000" wrap="square">
            <a:noAutofit/>
          </a:bodyPr>
          <a:lstStyle/>
          <a:p>
            <a:pPr algn="ctr" marL="0" indent="0">
              <a:lnSpc>
                <a:spcPts val="1320"/>
              </a:lnSpc>
              <a:spcBef>
                <a:spcPts val="0"/>
              </a:spcBef>
              <a:spcAft>
                <a:spcPts val="0"/>
              </a:spcAft>
              <a:buNone/>
            </a:pPr>
            <a:r>
              <a:rPr sz="1100" b="1" i="0" lang="ko-KR" altLang="en-US">
                <a:solidFill>
                  <a:srgbClr val="5B6475"/>
                </a:solidFill>
                <a:latin typeface="맑은 고딕"/>
                <a:ea typeface="맑은 고딕"/>
                <a:cs typeface="맑은 고딕"/>
              </a:rPr>
              <a:t>주변</a:t>
            </a:r>
          </a:p>
        </p:txBody>
      </p:sp>
      <p:cxnSp>
        <p:nvCxnSpPr>
          <p:cNvPr id="21" name="Connector 20"/>
          <p:cNvCxnSpPr/>
          <p:nvPr/>
        </p:nvCxnSpPr>
        <p:spPr>
          <a:xfrm>
            <a:off x="3384000" y="3924000"/>
            <a:ext cx="1434138" cy="540000"/>
          </a:xfrm>
          <a:prstGeom prst="line">
            <a:avLst/>
          </a:prstGeom>
          <a:ln w="19050">
            <a:solidFill>
              <a:srgbClr val="9AA6B8"/>
            </a:solidFill>
          </a:ln>
        </p:spPr>
      </p:cxnSp>
      <p:sp>
        <p:nvSpPr>
          <p:cNvPr id="22" name="Oval 21"/>
          <p:cNvSpPr/>
          <p:nvPr/>
        </p:nvSpPr>
        <p:spPr>
          <a:xfrm>
            <a:off x="4458138" y="4240800"/>
            <a:ext cx="720000" cy="446400"/>
          </a:xfrm>
          <a:prstGeom prst="ellipse">
            <a:avLst/>
          </a:prstGeom>
          <a:solidFill>
            <a:srgbClr val="FFFFFF"/>
          </a:solidFill>
          <a:ln w="15875">
            <a:solidFill>
              <a:srgbClr val="9AA6B8"/>
            </a:solidFill>
          </a:ln>
        </p:spPr>
        <p:txBody>
          <a:bodyPr rtlCol="0" anchor="ctr" lIns="7200" rIns="7200" tIns="18000" bIns="18000" wrap="square">
            <a:noAutofit/>
          </a:bodyPr>
          <a:lstStyle/>
          <a:p>
            <a:pPr algn="ctr" marL="0" indent="0">
              <a:lnSpc>
                <a:spcPts val="1320"/>
              </a:lnSpc>
              <a:spcBef>
                <a:spcPts val="0"/>
              </a:spcBef>
              <a:spcAft>
                <a:spcPts val="0"/>
              </a:spcAft>
              <a:buNone/>
            </a:pPr>
            <a:r>
              <a:rPr sz="1100" b="1" i="0" lang="ko-KR" altLang="en-US">
                <a:solidFill>
                  <a:srgbClr val="5B6475"/>
                </a:solidFill>
                <a:latin typeface="맑은 고딕"/>
                <a:ea typeface="맑은 고딕"/>
                <a:cs typeface="맑은 고딕"/>
              </a:rPr>
              <a:t>주변</a:t>
            </a:r>
          </a:p>
        </p:txBody>
      </p:sp>
      <p:cxnSp>
        <p:nvCxnSpPr>
          <p:cNvPr id="23" name="Connector 22"/>
          <p:cNvCxnSpPr/>
          <p:nvPr/>
        </p:nvCxnSpPr>
        <p:spPr>
          <a:xfrm flipV="1">
            <a:off x="3384000" y="3384000"/>
            <a:ext cx="1434138" cy="540000"/>
          </a:xfrm>
          <a:prstGeom prst="line">
            <a:avLst/>
          </a:prstGeom>
          <a:ln w="19050">
            <a:solidFill>
              <a:srgbClr val="9AA6B8"/>
            </a:solidFill>
          </a:ln>
        </p:spPr>
      </p:cxnSp>
      <p:sp>
        <p:nvSpPr>
          <p:cNvPr id="24" name="Oval 23"/>
          <p:cNvSpPr/>
          <p:nvPr/>
        </p:nvSpPr>
        <p:spPr>
          <a:xfrm>
            <a:off x="4458138" y="3160800"/>
            <a:ext cx="720000" cy="446400"/>
          </a:xfrm>
          <a:prstGeom prst="ellipse">
            <a:avLst/>
          </a:prstGeom>
          <a:solidFill>
            <a:srgbClr val="FFFFFF"/>
          </a:solidFill>
          <a:ln w="15875">
            <a:solidFill>
              <a:srgbClr val="9AA6B8"/>
            </a:solidFill>
          </a:ln>
        </p:spPr>
        <p:txBody>
          <a:bodyPr rtlCol="0" anchor="ctr" lIns="7200" rIns="7200" tIns="18000" bIns="18000" wrap="square">
            <a:noAutofit/>
          </a:bodyPr>
          <a:lstStyle/>
          <a:p>
            <a:pPr algn="ctr" marL="0" indent="0">
              <a:lnSpc>
                <a:spcPts val="1320"/>
              </a:lnSpc>
              <a:spcBef>
                <a:spcPts val="0"/>
              </a:spcBef>
              <a:spcAft>
                <a:spcPts val="0"/>
              </a:spcAft>
              <a:buNone/>
            </a:pPr>
            <a:r>
              <a:rPr sz="1100" b="1" i="0" lang="ko-KR" altLang="en-US">
                <a:solidFill>
                  <a:srgbClr val="5B6475"/>
                </a:solidFill>
                <a:latin typeface="맑은 고딕"/>
                <a:ea typeface="맑은 고딕"/>
                <a:cs typeface="맑은 고딕"/>
              </a:rPr>
              <a:t>주변</a:t>
            </a:r>
          </a:p>
        </p:txBody>
      </p:sp>
      <p:sp>
        <p:nvSpPr>
          <p:cNvPr id="25" name="Oval 24"/>
          <p:cNvSpPr/>
          <p:nvPr/>
        </p:nvSpPr>
        <p:spPr>
          <a:xfrm>
            <a:off x="2772000" y="3546000"/>
            <a:ext cx="1224000" cy="756000"/>
          </a:xfrm>
          <a:prstGeom prst="ellipse">
            <a:avLst/>
          </a:prstGeom>
          <a:solidFill>
            <a:srgbClr val="13294B"/>
          </a:solidFill>
          <a:ln>
            <a:noFill/>
          </a:ln>
        </p:spPr>
        <p:txBody>
          <a:bodyPr rtlCol="0" anchor="ctr" lIns="7200" rIns="7200" tIns="18000" bIns="18000" wrap="square">
            <a:noAutofit/>
          </a:bodyPr>
          <a:lstStyle/>
          <a:p>
            <a:pPr algn="ctr" marL="0" indent="0">
              <a:lnSpc>
                <a:spcPts val="1680"/>
              </a:lnSpc>
              <a:spcBef>
                <a:spcPts val="0"/>
              </a:spcBef>
              <a:spcAft>
                <a:spcPts val="0"/>
              </a:spcAft>
              <a:buNone/>
            </a:pPr>
            <a:r>
              <a:rPr sz="1400" b="1" i="0" lang="ko-KR" altLang="en-US">
                <a:solidFill>
                  <a:srgbClr val="FFFFFF"/>
                </a:solidFill>
                <a:latin typeface="맑은 고딕"/>
                <a:ea typeface="맑은 고딕"/>
                <a:cs typeface="맑은 고딕"/>
              </a:rPr>
              <a:t>핵심 요소</a:t>
            </a:r>
          </a:p>
        </p:txBody>
      </p:sp>
      <p:sp>
        <p:nvSpPr>
          <p:cNvPr id="26" name="TextBox 25"/>
          <p:cNvSpPr txBox="1"/>
          <p:nvPr/>
        </p:nvSpPr>
        <p:spPr>
          <a:xfrm>
            <a:off x="684000" y="2286000"/>
            <a:ext cx="252000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핵심–주변 구조</a:t>
            </a:r>
          </a:p>
        </p:txBody>
      </p:sp>
      <p:sp>
        <p:nvSpPr>
          <p:cNvPr id="27" name="Rounded Rectangle 26"/>
          <p:cNvSpPr/>
          <p:nvPr/>
        </p:nvSpPr>
        <p:spPr>
          <a:xfrm>
            <a:off x="6516000" y="2232000"/>
            <a:ext cx="5136120" cy="990000"/>
          </a:xfrm>
          <a:prstGeom prst="roundRect">
            <a:avLst>
              <a:gd name="adj" fmla="val 6000"/>
            </a:avLst>
          </a:prstGeom>
          <a:solidFill>
            <a:srgbClr val="FFFFFF"/>
          </a:solidFill>
          <a:ln w="12700">
            <a:solidFill>
              <a:srgbClr val="C9D2E0"/>
            </a:solidFill>
          </a:ln>
        </p:spPr>
        <p:txBody>
          <a:bodyPr rtlCol="0" anchor="ctr" lIns="36000" rIns="36000" tIns="36000" bIns="36000"/>
          <a:lstStyle/>
          <a:p>
            <a:pPr algn="ctr"/>
          </a:p>
        </p:txBody>
      </p:sp>
      <p:sp>
        <p:nvSpPr>
          <p:cNvPr id="28" name="TextBox 27"/>
          <p:cNvSpPr txBox="1"/>
          <p:nvPr/>
        </p:nvSpPr>
        <p:spPr>
          <a:xfrm>
            <a:off x="6678000" y="2304000"/>
            <a:ext cx="4812120" cy="270000"/>
          </a:xfrm>
          <a:prstGeom prst="rect">
            <a:avLst/>
          </a:prstGeom>
          <a:noFill/>
        </p:spPr>
        <p:txBody>
          <a:bodyPr wrap="square" lIns="0" rIns="0" tIns="0" bIns="0" anchor="ctr">
            <a:noAutofit/>
          </a:bodyPr>
          <a:lstStyle/>
          <a:p>
            <a:pPr algn="l" marL="0" indent="0">
              <a:lnSpc>
                <a:spcPts val="1620"/>
              </a:lnSpc>
              <a:spcBef>
                <a:spcPts val="0"/>
              </a:spcBef>
              <a:spcAft>
                <a:spcPts val="0"/>
              </a:spcAft>
              <a:buNone/>
            </a:pPr>
            <a:r>
              <a:rPr sz="1350" b="1" i="0" lang="ko-KR" altLang="en-US">
                <a:solidFill>
                  <a:srgbClr val="13294B"/>
                </a:solidFill>
                <a:latin typeface="맑은 고딕"/>
                <a:ea typeface="맑은 고딕"/>
                <a:cs typeface="맑은 고딕"/>
              </a:rPr>
              <a:t>Murmann &amp; Frenken (2006)</a:t>
            </a:r>
          </a:p>
        </p:txBody>
      </p:sp>
      <p:sp>
        <p:nvSpPr>
          <p:cNvPr id="29" name="TextBox 28"/>
          <p:cNvSpPr txBox="1"/>
          <p:nvPr/>
        </p:nvSpPr>
        <p:spPr>
          <a:xfrm>
            <a:off x="6678000" y="2574000"/>
            <a:ext cx="4812120" cy="630000"/>
          </a:xfrm>
          <a:prstGeom prst="rect">
            <a:avLst/>
          </a:prstGeom>
          <a:noFill/>
        </p:spPr>
        <p:txBody>
          <a:bodyPr wrap="square" lIns="0" rIns="0" tIns="0" bIns="0" anchor="t">
            <a:noAutofit/>
          </a:bodyPr>
          <a:lstStyle/>
          <a:p>
            <a:pPr algn="l" marL="0" indent="0">
              <a:lnSpc>
                <a:spcPts val="1720"/>
              </a:lnSpc>
              <a:spcBef>
                <a:spcPts val="0"/>
              </a:spcBef>
              <a:spcAft>
                <a:spcPts val="0"/>
              </a:spcAft>
              <a:buNone/>
            </a:pPr>
            <a:r>
              <a:rPr sz="1300" b="0" i="0" lang="ko-KR" altLang="en-US">
                <a:solidFill>
                  <a:srgbClr val="1E2532"/>
                </a:solidFill>
                <a:latin typeface="맑은 고딕"/>
                <a:ea typeface="맑은 고딕"/>
                <a:cs typeface="맑은 고딕"/>
              </a:rPr>
              <a:t>지배적 설계 = 다른 요소와 안정된 인터페이스 역할을 하는 핵심 요소의 안정된 설계 → 이후의 변화는 주변 요소에서</a:t>
            </a:r>
          </a:p>
        </p:txBody>
      </p:sp>
      <p:sp>
        <p:nvSpPr>
          <p:cNvPr id="30" name="Rounded Rectangle 29"/>
          <p:cNvSpPr/>
          <p:nvPr/>
        </p:nvSpPr>
        <p:spPr>
          <a:xfrm>
            <a:off x="6516000" y="3312000"/>
            <a:ext cx="5136120" cy="990000"/>
          </a:xfrm>
          <a:prstGeom prst="roundRect">
            <a:avLst>
              <a:gd name="adj" fmla="val 6000"/>
            </a:avLst>
          </a:prstGeom>
          <a:solidFill>
            <a:srgbClr val="FFFFFF"/>
          </a:solidFill>
          <a:ln w="12700">
            <a:solidFill>
              <a:srgbClr val="C9D2E0"/>
            </a:solidFill>
          </a:ln>
        </p:spPr>
        <p:txBody>
          <a:bodyPr rtlCol="0" anchor="ctr" lIns="36000" rIns="36000" tIns="36000" bIns="36000"/>
          <a:lstStyle/>
          <a:p>
            <a:pPr algn="ctr"/>
          </a:p>
        </p:txBody>
      </p:sp>
      <p:sp>
        <p:nvSpPr>
          <p:cNvPr id="31" name="TextBox 30"/>
          <p:cNvSpPr txBox="1"/>
          <p:nvPr/>
        </p:nvSpPr>
        <p:spPr>
          <a:xfrm>
            <a:off x="6678000" y="3384000"/>
            <a:ext cx="4812120" cy="270000"/>
          </a:xfrm>
          <a:prstGeom prst="rect">
            <a:avLst/>
          </a:prstGeom>
          <a:noFill/>
        </p:spPr>
        <p:txBody>
          <a:bodyPr wrap="square" lIns="0" rIns="0" tIns="0" bIns="0" anchor="ctr">
            <a:noAutofit/>
          </a:bodyPr>
          <a:lstStyle/>
          <a:p>
            <a:pPr algn="l" marL="0" indent="0">
              <a:lnSpc>
                <a:spcPts val="1620"/>
              </a:lnSpc>
              <a:spcBef>
                <a:spcPts val="0"/>
              </a:spcBef>
              <a:spcAft>
                <a:spcPts val="0"/>
              </a:spcAft>
              <a:buNone/>
            </a:pPr>
            <a:r>
              <a:rPr sz="1350" b="1" i="0" lang="ko-KR" altLang="en-US">
                <a:solidFill>
                  <a:srgbClr val="13294B"/>
                </a:solidFill>
                <a:latin typeface="맑은 고딕"/>
                <a:ea typeface="맑은 고딕"/>
                <a:cs typeface="맑은 고딕"/>
              </a:rPr>
              <a:t>Henderson &amp; Clark (1990)</a:t>
            </a:r>
          </a:p>
        </p:txBody>
      </p:sp>
      <p:sp>
        <p:nvSpPr>
          <p:cNvPr id="32" name="TextBox 31"/>
          <p:cNvSpPr txBox="1"/>
          <p:nvPr/>
        </p:nvSpPr>
        <p:spPr>
          <a:xfrm>
            <a:off x="6678000" y="3654000"/>
            <a:ext cx="4812120" cy="630000"/>
          </a:xfrm>
          <a:prstGeom prst="rect">
            <a:avLst/>
          </a:prstGeom>
          <a:noFill/>
        </p:spPr>
        <p:txBody>
          <a:bodyPr wrap="square" lIns="0" rIns="0" tIns="0" bIns="0" anchor="t">
            <a:noAutofit/>
          </a:bodyPr>
          <a:lstStyle/>
          <a:p>
            <a:pPr algn="l" marL="0" indent="0">
              <a:lnSpc>
                <a:spcPts val="1720"/>
              </a:lnSpc>
              <a:spcBef>
                <a:spcPts val="0"/>
              </a:spcBef>
              <a:spcAft>
                <a:spcPts val="0"/>
              </a:spcAft>
              <a:buNone/>
            </a:pPr>
            <a:r>
              <a:rPr sz="1300" b="0" i="0" lang="ko-KR" altLang="en-US">
                <a:solidFill>
                  <a:srgbClr val="1E2532"/>
                </a:solidFill>
                <a:latin typeface="맑은 고딕"/>
                <a:ea typeface="맑은 고딕"/>
                <a:cs typeface="맑은 고딕"/>
              </a:rPr>
              <a:t>확립된 아키텍처 지식은 조직의 의사소통 경로와 문제 해결 방식에 내재되어 당연한 전제가 됨</a:t>
            </a:r>
          </a:p>
        </p:txBody>
      </p:sp>
      <p:sp>
        <p:nvSpPr>
          <p:cNvPr id="33" name="Rounded Rectangle 32"/>
          <p:cNvSpPr/>
          <p:nvPr/>
        </p:nvSpPr>
        <p:spPr>
          <a:xfrm>
            <a:off x="6516000" y="4428000"/>
            <a:ext cx="5136120" cy="1008000"/>
          </a:xfrm>
          <a:prstGeom prst="roundRect">
            <a:avLst>
              <a:gd name="adj" fmla="val 6000"/>
            </a:avLst>
          </a:prstGeom>
          <a:solidFill>
            <a:srgbClr val="E8EEF7"/>
          </a:solidFill>
          <a:ln>
            <a:noFill/>
          </a:ln>
        </p:spPr>
        <p:txBody>
          <a:bodyPr rtlCol="0" anchor="ctr" lIns="36000" rIns="36000" tIns="36000" bIns="36000"/>
          <a:lstStyle/>
          <a:p>
            <a:pPr algn="ctr"/>
          </a:p>
        </p:txBody>
      </p:sp>
      <p:pic>
        <p:nvPicPr>
          <p:cNvPr id="34" name="Picture 33" descr="FaRoad_13294B.png"/>
          <p:cNvPicPr>
            <a:picLocks noChangeAspect="1"/>
          </p:cNvPicPr>
          <p:nvPr/>
        </p:nvPicPr>
        <p:blipFill>
          <a:blip r:embed="rId3"/>
          <a:stretch>
            <a:fillRect/>
          </a:stretch>
        </p:blipFill>
        <p:spPr>
          <a:xfrm>
            <a:off x="6696000" y="4590000"/>
            <a:ext cx="468000" cy="468000"/>
          </a:xfrm>
          <a:prstGeom prst="rect">
            <a:avLst/>
          </a:prstGeom>
        </p:spPr>
      </p:pic>
      <p:sp>
        <p:nvSpPr>
          <p:cNvPr id="35" name="TextBox 34"/>
          <p:cNvSpPr txBox="1"/>
          <p:nvPr/>
        </p:nvSpPr>
        <p:spPr>
          <a:xfrm>
            <a:off x="7308000" y="4464000"/>
            <a:ext cx="4200120" cy="936000"/>
          </a:xfrm>
          <a:prstGeom prst="rect">
            <a:avLst/>
          </a:prstGeom>
          <a:noFill/>
        </p:spPr>
        <p:txBody>
          <a:bodyPr wrap="square" lIns="0" rIns="0" tIns="0" bIns="0" anchor="ctr">
            <a:noAutofit/>
          </a:bodyPr>
          <a:lstStyle/>
          <a:p>
            <a:pPr algn="l" marL="0" indent="0">
              <a:lnSpc>
                <a:spcPts val="1620"/>
              </a:lnSpc>
              <a:spcBef>
                <a:spcPts val="0"/>
              </a:spcBef>
              <a:spcAft>
                <a:spcPts val="300"/>
              </a:spcAft>
              <a:buNone/>
            </a:pPr>
            <a:r>
              <a:rPr sz="1350" b="1" i="0" lang="ko-KR" altLang="en-US">
                <a:solidFill>
                  <a:srgbClr val="13294B"/>
                </a:solidFill>
                <a:latin typeface="맑은 고딕"/>
                <a:ea typeface="맑은 고딕"/>
                <a:cs typeface="맑은 고딕"/>
              </a:rPr>
              <a:t>비유: 도로의 규격</a:t>
            </a:r>
          </a:p>
          <a:p>
            <a:pPr algn="l" marL="0" indent="0">
              <a:lnSpc>
                <a:spcPts val="1650"/>
              </a:lnSpc>
              <a:spcBef>
                <a:spcPts val="0"/>
              </a:spcBef>
              <a:spcAft>
                <a:spcPts val="0"/>
              </a:spcAft>
              <a:buNone/>
            </a:pPr>
            <a:r>
              <a:rPr sz="1250" b="0" i="0" lang="ko-KR" altLang="en-US">
                <a:solidFill>
                  <a:srgbClr val="1E2532"/>
                </a:solidFill>
                <a:latin typeface="맑은 고딕"/>
                <a:ea typeface="맑은 고딕"/>
                <a:cs typeface="맑은 고딕"/>
              </a:rPr>
              <a:t>규격이 정해지기 전에는 설계와 시공이 한 몸처럼 움직이지만, 정해진 뒤에는 각자 규격을 전제로 일한다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2200" b="1" i="0" lang="ko-KR" altLang="en-US">
                <a:solidFill>
                  <a:srgbClr val="13294B"/>
                </a:solidFill>
                <a:latin typeface="맑은 고딕"/>
                <a:ea typeface="맑은 고딕"/>
                <a:cs typeface="맑은 고딕"/>
              </a:rPr>
              <a:t>Chapter 2  Summary</a:t>
            </a:r>
          </a:p>
        </p:txBody>
      </p:sp>
      <p:sp>
        <p:nvSpPr>
          <p:cNvPr id="3" name="Rectangle 2"/>
          <p:cNvSpPr/>
          <p:nvPr/>
        </p:nvSpPr>
        <p:spPr>
          <a:xfrm>
            <a:off x="588060" y="918000"/>
            <a:ext cx="3456000" cy="5220000"/>
          </a:xfrm>
          <a:prstGeom prst="rect">
            <a:avLst/>
          </a:prstGeom>
          <a:noFill/>
          <a:ln w="12700">
            <a:solidFill>
              <a:srgbClr val="9AA6B8"/>
            </a:solidFill>
            <a:prstDash val="dash"/>
          </a:ln>
        </p:spPr>
        <p:txBody>
          <a:bodyPr rtlCol="0" anchor="ctr" lIns="36000" rIns="36000" tIns="36000" bIns="36000"/>
          <a:lstStyle/>
          <a:p>
            <a:pPr algn="ctr"/>
          </a:p>
        </p:txBody>
      </p:sp>
      <p:sp>
        <p:nvSpPr>
          <p:cNvPr id="4" name="Rounded Rectangle 3"/>
          <p:cNvSpPr/>
          <p:nvPr/>
        </p:nvSpPr>
        <p:spPr>
          <a:xfrm>
            <a:off x="804060" y="1116000"/>
            <a:ext cx="3024000" cy="828000"/>
          </a:xfrm>
          <a:prstGeom prst="roundRect">
            <a:avLst>
              <a:gd name="adj" fmla="val 18000"/>
            </a:avLst>
          </a:prstGeom>
          <a:solidFill>
            <a:srgbClr val="13294B"/>
          </a:solidFill>
          <a:ln w="22225">
            <a:solidFill>
              <a:srgbClr val="13294B"/>
            </a:solid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FFFFFF"/>
                </a:solidFill>
                <a:latin typeface="맑은 고딕"/>
                <a:ea typeface="맑은 고딕"/>
                <a:cs typeface="맑은 고딕"/>
              </a:rPr>
              <a:t>기술융합 · 단계 모형</a:t>
            </a:r>
          </a:p>
          <a:p>
            <a:pPr algn="ctr" marL="0" indent="0">
              <a:lnSpc>
                <a:spcPts val="1260"/>
              </a:lnSpc>
              <a:spcBef>
                <a:spcPts val="0"/>
              </a:spcBef>
              <a:spcAft>
                <a:spcPts val="0"/>
              </a:spcAft>
              <a:buNone/>
            </a:pPr>
            <a:r>
              <a:rPr sz="1050" b="0" i="0" lang="ko-KR" altLang="en-US">
                <a:solidFill>
                  <a:srgbClr val="C8D3E6"/>
                </a:solidFill>
                <a:latin typeface="맑은 고딕"/>
                <a:ea typeface="맑은 고딕"/>
                <a:cs typeface="맑은 고딕"/>
              </a:rPr>
              <a:t>Rosenberg · Kodama · Hacklin</a:t>
            </a:r>
          </a:p>
        </p:txBody>
      </p:sp>
      <p:cxnSp>
        <p:nvCxnSpPr>
          <p:cNvPr id="5" name="Connector 4"/>
          <p:cNvCxnSpPr/>
          <p:nvPr/>
        </p:nvCxnSpPr>
        <p:spPr>
          <a:xfrm>
            <a:off x="2316060" y="1980000"/>
            <a:ext cx="0" cy="306000"/>
          </a:xfrm>
          <a:prstGeom prst="line">
            <a:avLst/>
          </a:prstGeom>
          <a:ln w="25400">
            <a:solidFill>
              <a:srgbClr val="13294B"/>
            </a:solidFill>
            <a:tailEnd type="triangle" w="med" len="med"/>
          </a:ln>
        </p:spPr>
      </p:cxnSp>
      <p:sp>
        <p:nvSpPr>
          <p:cNvPr id="6" name="Rounded Rectangle 5"/>
          <p:cNvSpPr/>
          <p:nvPr/>
        </p:nvSpPr>
        <p:spPr>
          <a:xfrm>
            <a:off x="948060" y="2322000"/>
            <a:ext cx="2736000" cy="828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공정 단계 간 융합</a:t>
            </a:r>
          </a:p>
        </p:txBody>
      </p:sp>
      <p:cxnSp>
        <p:nvCxnSpPr>
          <p:cNvPr id="7" name="Connector 6"/>
          <p:cNvCxnSpPr/>
          <p:nvPr/>
        </p:nvCxnSpPr>
        <p:spPr>
          <a:xfrm>
            <a:off x="2316060" y="3186000"/>
            <a:ext cx="0" cy="216000"/>
          </a:xfrm>
          <a:prstGeom prst="line">
            <a:avLst/>
          </a:prstGeom>
          <a:ln w="25400">
            <a:solidFill>
              <a:srgbClr val="13294B"/>
            </a:solidFill>
          </a:ln>
        </p:spPr>
      </p:cxnSp>
      <p:cxnSp>
        <p:nvCxnSpPr>
          <p:cNvPr id="8" name="Connector 7"/>
          <p:cNvCxnSpPr/>
          <p:nvPr/>
        </p:nvCxnSpPr>
        <p:spPr>
          <a:xfrm>
            <a:off x="1434060" y="3402000"/>
            <a:ext cx="1764000" cy="0"/>
          </a:xfrm>
          <a:prstGeom prst="line">
            <a:avLst/>
          </a:prstGeom>
          <a:ln w="25400">
            <a:solidFill>
              <a:srgbClr val="13294B"/>
            </a:solidFill>
          </a:ln>
        </p:spPr>
      </p:cxnSp>
      <p:cxnSp>
        <p:nvCxnSpPr>
          <p:cNvPr id="9" name="Connector 8"/>
          <p:cNvCxnSpPr/>
          <p:nvPr/>
        </p:nvCxnSpPr>
        <p:spPr>
          <a:xfrm>
            <a:off x="1488060" y="3402000"/>
            <a:ext cx="0" cy="288000"/>
          </a:xfrm>
          <a:prstGeom prst="line">
            <a:avLst/>
          </a:prstGeom>
          <a:ln w="25400">
            <a:solidFill>
              <a:srgbClr val="13294B"/>
            </a:solidFill>
            <a:tailEnd type="triangle" w="med" len="med"/>
          </a:ln>
        </p:spPr>
      </p:cxnSp>
      <p:sp>
        <p:nvSpPr>
          <p:cNvPr id="10" name="Rounded Rectangle 9"/>
          <p:cNvSpPr/>
          <p:nvPr/>
        </p:nvSpPr>
        <p:spPr>
          <a:xfrm>
            <a:off x="750060" y="3726000"/>
            <a:ext cx="1476000" cy="1080000"/>
          </a:xfrm>
          <a:prstGeom prst="roundRect">
            <a:avLst>
              <a:gd name="adj" fmla="val 18000"/>
            </a:avLst>
          </a:prstGeom>
          <a:solidFill>
            <a:srgbClr val="E8EEF7"/>
          </a:solidFill>
          <a:ln w="15875">
            <a:solidFill>
              <a:srgbClr val="13294B"/>
            </a:solidFill>
          </a:ln>
        </p:spPr>
        <p:txBody>
          <a:bodyPr rtlCol="0" anchor="ctr" lIns="54000" rIns="54000" tIns="18000" bIns="18000" wrap="square">
            <a:noAutofit/>
          </a:bodyPr>
          <a:lstStyle/>
          <a:p>
            <a:pPr algn="ctr"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특허로 관찰하는</a:t>
            </a:r>
          </a:p>
        </p:txBody>
      </p:sp>
      <p:cxnSp>
        <p:nvCxnSpPr>
          <p:cNvPr id="11" name="Connector 10"/>
          <p:cNvCxnSpPr/>
          <p:nvPr/>
        </p:nvCxnSpPr>
        <p:spPr>
          <a:xfrm>
            <a:off x="3144060" y="3402000"/>
            <a:ext cx="0" cy="288000"/>
          </a:xfrm>
          <a:prstGeom prst="line">
            <a:avLst/>
          </a:prstGeom>
          <a:ln w="25400">
            <a:solidFill>
              <a:srgbClr val="13294B"/>
            </a:solidFill>
            <a:tailEnd type="triangle" w="med" len="med"/>
          </a:ln>
        </p:spPr>
      </p:cxnSp>
      <p:sp>
        <p:nvSpPr>
          <p:cNvPr id="12" name="Rounded Rectangle 11"/>
          <p:cNvSpPr/>
          <p:nvPr/>
        </p:nvSpPr>
        <p:spPr>
          <a:xfrm>
            <a:off x="2406060" y="3726000"/>
            <a:ext cx="1476000" cy="1080000"/>
          </a:xfrm>
          <a:prstGeom prst="roundRect">
            <a:avLst>
              <a:gd name="adj" fmla="val 18000"/>
            </a:avLst>
          </a:prstGeom>
          <a:solidFill>
            <a:srgbClr val="E8EEF7"/>
          </a:solidFill>
          <a:ln w="15875">
            <a:solidFill>
              <a:srgbClr val="13294B"/>
            </a:solidFill>
          </a:ln>
        </p:spPr>
        <p:txBody>
          <a:bodyPr rtlCol="0" anchor="ctr" lIns="54000" rIns="54000" tIns="18000" bIns="18000" wrap="square">
            <a:noAutofit/>
          </a:bodyPr>
          <a:lstStyle/>
          <a:p>
            <a:pPr algn="ctr"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"기술 융합" 단계</a:t>
            </a:r>
          </a:p>
        </p:txBody>
      </p:sp>
      <p:sp>
        <p:nvSpPr>
          <p:cNvPr id="13" name="Rounded Rectangle 12"/>
          <p:cNvSpPr/>
          <p:nvPr/>
        </p:nvSpPr>
        <p:spPr>
          <a:xfrm>
            <a:off x="1524060" y="5238000"/>
            <a:ext cx="1584000" cy="414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연구의 관점</a:t>
            </a:r>
          </a:p>
        </p:txBody>
      </p:sp>
      <p:sp>
        <p:nvSpPr>
          <p:cNvPr id="14" name="Rectangle 13"/>
          <p:cNvSpPr/>
          <p:nvPr/>
        </p:nvSpPr>
        <p:spPr>
          <a:xfrm>
            <a:off x="4368060" y="918000"/>
            <a:ext cx="3456000" cy="5220000"/>
          </a:xfrm>
          <a:prstGeom prst="rect">
            <a:avLst/>
          </a:prstGeom>
          <a:noFill/>
          <a:ln w="12700">
            <a:solidFill>
              <a:srgbClr val="9AA6B8"/>
            </a:solidFill>
            <a:prstDash val="dash"/>
          </a:ln>
        </p:spPr>
        <p:txBody>
          <a:bodyPr rtlCol="0" anchor="ctr" lIns="36000" rIns="36000" tIns="36000" bIns="36000"/>
          <a:lstStyle/>
          <a:p>
            <a:pPr algn="ctr"/>
          </a:p>
        </p:txBody>
      </p:sp>
      <p:sp>
        <p:nvSpPr>
          <p:cNvPr id="15" name="Rounded Rectangle 14"/>
          <p:cNvSpPr/>
          <p:nvPr/>
        </p:nvSpPr>
        <p:spPr>
          <a:xfrm>
            <a:off x="4584060" y="1116000"/>
            <a:ext cx="3024000" cy="828000"/>
          </a:xfrm>
          <a:prstGeom prst="roundRect">
            <a:avLst>
              <a:gd name="adj" fmla="val 18000"/>
            </a:avLst>
          </a:prstGeom>
          <a:solidFill>
            <a:srgbClr val="13294B"/>
          </a:solidFill>
          <a:ln w="22225">
            <a:solidFill>
              <a:srgbClr val="13294B"/>
            </a:solid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FFFFFF"/>
                </a:solidFill>
                <a:latin typeface="맑은 고딕"/>
                <a:ea typeface="맑은 고딕"/>
                <a:cs typeface="맑은 고딕"/>
              </a:rPr>
              <a:t>수직 전문화 · 지식 경계</a:t>
            </a:r>
          </a:p>
          <a:p>
            <a:pPr algn="ctr" marL="0" indent="0">
              <a:lnSpc>
                <a:spcPts val="1260"/>
              </a:lnSpc>
              <a:spcBef>
                <a:spcPts val="0"/>
              </a:spcBef>
              <a:spcAft>
                <a:spcPts val="0"/>
              </a:spcAft>
              <a:buNone/>
            </a:pPr>
            <a:r>
              <a:rPr sz="1050" b="0" i="0" lang="ko-KR" altLang="en-US">
                <a:solidFill>
                  <a:srgbClr val="C8D3E6"/>
                </a:solidFill>
                <a:latin typeface="맑은 고딕"/>
                <a:ea typeface="맑은 고딕"/>
                <a:cs typeface="맑은 고딕"/>
              </a:rPr>
              <a:t>Kapoor &amp; Adner · Brusoni</a:t>
            </a:r>
          </a:p>
        </p:txBody>
      </p:sp>
      <p:cxnSp>
        <p:nvCxnSpPr>
          <p:cNvPr id="16" name="Connector 15"/>
          <p:cNvCxnSpPr/>
          <p:nvPr/>
        </p:nvCxnSpPr>
        <p:spPr>
          <a:xfrm>
            <a:off x="6096060" y="1980000"/>
            <a:ext cx="0" cy="306000"/>
          </a:xfrm>
          <a:prstGeom prst="line">
            <a:avLst/>
          </a:prstGeom>
          <a:ln w="25400">
            <a:solidFill>
              <a:srgbClr val="13294B"/>
            </a:solidFill>
            <a:tailEnd type="triangle" w="med" len="med"/>
          </a:ln>
        </p:spPr>
      </p:cxnSp>
      <p:sp>
        <p:nvSpPr>
          <p:cNvPr id="17" name="Rounded Rectangle 16"/>
          <p:cNvSpPr/>
          <p:nvPr/>
        </p:nvSpPr>
        <p:spPr>
          <a:xfrm>
            <a:off x="4728060" y="2322000"/>
            <a:ext cx="2736000" cy="828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생산의 경계 ≠ 지식의 경계</a:t>
            </a:r>
          </a:p>
        </p:txBody>
      </p:sp>
      <p:cxnSp>
        <p:nvCxnSpPr>
          <p:cNvPr id="18" name="Connector 17"/>
          <p:cNvCxnSpPr/>
          <p:nvPr/>
        </p:nvCxnSpPr>
        <p:spPr>
          <a:xfrm>
            <a:off x="6096060" y="3186000"/>
            <a:ext cx="0" cy="216000"/>
          </a:xfrm>
          <a:prstGeom prst="line">
            <a:avLst/>
          </a:prstGeom>
          <a:ln w="25400">
            <a:solidFill>
              <a:srgbClr val="13294B"/>
            </a:solidFill>
          </a:ln>
        </p:spPr>
      </p:cxnSp>
      <p:cxnSp>
        <p:nvCxnSpPr>
          <p:cNvPr id="19" name="Connector 18"/>
          <p:cNvCxnSpPr/>
          <p:nvPr/>
        </p:nvCxnSpPr>
        <p:spPr>
          <a:xfrm>
            <a:off x="5214060" y="3402000"/>
            <a:ext cx="1764000" cy="0"/>
          </a:xfrm>
          <a:prstGeom prst="line">
            <a:avLst/>
          </a:prstGeom>
          <a:ln w="25400">
            <a:solidFill>
              <a:srgbClr val="13294B"/>
            </a:solidFill>
          </a:ln>
        </p:spPr>
      </p:cxnSp>
      <p:cxnSp>
        <p:nvCxnSpPr>
          <p:cNvPr id="20" name="Connector 19"/>
          <p:cNvCxnSpPr/>
          <p:nvPr/>
        </p:nvCxnSpPr>
        <p:spPr>
          <a:xfrm>
            <a:off x="5268060" y="3402000"/>
            <a:ext cx="0" cy="288000"/>
          </a:xfrm>
          <a:prstGeom prst="line">
            <a:avLst/>
          </a:prstGeom>
          <a:ln w="25400">
            <a:solidFill>
              <a:srgbClr val="13294B"/>
            </a:solidFill>
            <a:tailEnd type="triangle" w="med" len="med"/>
          </a:ln>
        </p:spPr>
      </p:cxnSp>
      <p:sp>
        <p:nvSpPr>
          <p:cNvPr id="21" name="Rounded Rectangle 20"/>
          <p:cNvSpPr/>
          <p:nvPr/>
        </p:nvSpPr>
        <p:spPr>
          <a:xfrm>
            <a:off x="4530060" y="3726000"/>
            <a:ext cx="1476000" cy="1080000"/>
          </a:xfrm>
          <a:prstGeom prst="roundRect">
            <a:avLst>
              <a:gd name="adj" fmla="val 18000"/>
            </a:avLst>
          </a:prstGeom>
          <a:solidFill>
            <a:srgbClr val="E8EEF7"/>
          </a:solidFill>
          <a:ln w="15875">
            <a:solidFill>
              <a:srgbClr val="13294B"/>
            </a:solidFill>
          </a:ln>
        </p:spPr>
        <p:txBody>
          <a:bodyPr rtlCol="0" anchor="ctr" lIns="54000" rIns="54000" tIns="18000" bIns="18000" wrap="square">
            <a:noAutofit/>
          </a:bodyPr>
          <a:lstStyle/>
          <a:p>
            <a:pPr algn="ctr"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불안정한 인터페이스</a:t>
            </a:r>
          </a:p>
        </p:txBody>
      </p:sp>
      <p:cxnSp>
        <p:nvCxnSpPr>
          <p:cNvPr id="22" name="Connector 21"/>
          <p:cNvCxnSpPr/>
          <p:nvPr/>
        </p:nvCxnSpPr>
        <p:spPr>
          <a:xfrm>
            <a:off x="6924060" y="3402000"/>
            <a:ext cx="0" cy="288000"/>
          </a:xfrm>
          <a:prstGeom prst="line">
            <a:avLst/>
          </a:prstGeom>
          <a:ln w="25400">
            <a:solidFill>
              <a:srgbClr val="13294B"/>
            </a:solidFill>
            <a:tailEnd type="triangle" w="med" len="med"/>
          </a:ln>
        </p:spPr>
      </p:cxnSp>
      <p:sp>
        <p:nvSpPr>
          <p:cNvPr id="23" name="Rounded Rectangle 22"/>
          <p:cNvSpPr/>
          <p:nvPr/>
        </p:nvSpPr>
        <p:spPr>
          <a:xfrm>
            <a:off x="6186060" y="3726000"/>
            <a:ext cx="1476000" cy="1080000"/>
          </a:xfrm>
          <a:prstGeom prst="roundRect">
            <a:avLst>
              <a:gd name="adj" fmla="val 18000"/>
            </a:avLst>
          </a:prstGeom>
          <a:solidFill>
            <a:srgbClr val="E8EEF7"/>
          </a:solidFill>
          <a:ln w="15875">
            <a:solidFill>
              <a:srgbClr val="13294B"/>
            </a:solidFill>
          </a:ln>
        </p:spPr>
        <p:txBody>
          <a:bodyPr rtlCol="0" anchor="ctr" lIns="54000" rIns="54000" tIns="18000" bIns="18000" wrap="square">
            <a:noAutofit/>
          </a:bodyPr>
          <a:lstStyle/>
          <a:p>
            <a:pPr algn="ctr"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경계를 넘는 발명</a:t>
            </a:r>
          </a:p>
        </p:txBody>
      </p:sp>
      <p:sp>
        <p:nvSpPr>
          <p:cNvPr id="24" name="Rounded Rectangle 23"/>
          <p:cNvSpPr/>
          <p:nvPr/>
        </p:nvSpPr>
        <p:spPr>
          <a:xfrm>
            <a:off x="5304060" y="5238000"/>
            <a:ext cx="1584000" cy="414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RQ1</a:t>
            </a:r>
          </a:p>
        </p:txBody>
      </p:sp>
      <p:sp>
        <p:nvSpPr>
          <p:cNvPr id="25" name="Rectangle 24"/>
          <p:cNvSpPr/>
          <p:nvPr/>
        </p:nvSpPr>
        <p:spPr>
          <a:xfrm>
            <a:off x="8148060" y="918000"/>
            <a:ext cx="3456000" cy="5220000"/>
          </a:xfrm>
          <a:prstGeom prst="rect">
            <a:avLst/>
          </a:prstGeom>
          <a:noFill/>
          <a:ln w="12700">
            <a:solidFill>
              <a:srgbClr val="9AA6B8"/>
            </a:solidFill>
            <a:prstDash val="dash"/>
          </a:ln>
        </p:spPr>
        <p:txBody>
          <a:bodyPr rtlCol="0" anchor="ctr" lIns="36000" rIns="36000" tIns="36000" bIns="36000"/>
          <a:lstStyle/>
          <a:p>
            <a:pPr algn="ctr"/>
          </a:p>
        </p:txBody>
      </p:sp>
      <p:sp>
        <p:nvSpPr>
          <p:cNvPr id="26" name="Rounded Rectangle 25"/>
          <p:cNvSpPr/>
          <p:nvPr/>
        </p:nvSpPr>
        <p:spPr>
          <a:xfrm>
            <a:off x="8364060" y="1116000"/>
            <a:ext cx="3024000" cy="828000"/>
          </a:xfrm>
          <a:prstGeom prst="roundRect">
            <a:avLst>
              <a:gd name="adj" fmla="val 18000"/>
            </a:avLst>
          </a:prstGeom>
          <a:solidFill>
            <a:srgbClr val="13294B"/>
          </a:solidFill>
          <a:ln w="22225">
            <a:solidFill>
              <a:srgbClr val="13294B"/>
            </a:solid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FFFFFF"/>
                </a:solidFill>
                <a:latin typeface="맑은 고딕"/>
                <a:ea typeface="맑은 고딕"/>
                <a:cs typeface="맑은 고딕"/>
              </a:rPr>
              <a:t>기술 순환 · 핵심–주변</a:t>
            </a:r>
          </a:p>
          <a:p>
            <a:pPr algn="ctr" marL="0" indent="0">
              <a:lnSpc>
                <a:spcPts val="1260"/>
              </a:lnSpc>
              <a:spcBef>
                <a:spcPts val="0"/>
              </a:spcBef>
              <a:spcAft>
                <a:spcPts val="0"/>
              </a:spcAft>
              <a:buNone/>
            </a:pPr>
            <a:r>
              <a:rPr sz="1050" b="0" i="0" lang="ko-KR" altLang="en-US">
                <a:solidFill>
                  <a:srgbClr val="C8D3E6"/>
                </a:solidFill>
                <a:latin typeface="맑은 고딕"/>
                <a:ea typeface="맑은 고딕"/>
                <a:cs typeface="맑은 고딕"/>
              </a:rPr>
              <a:t>Anderson &amp; Tushman · Murmann &amp; Frenken</a:t>
            </a:r>
          </a:p>
        </p:txBody>
      </p:sp>
      <p:cxnSp>
        <p:nvCxnSpPr>
          <p:cNvPr id="27" name="Connector 26"/>
          <p:cNvCxnSpPr/>
          <p:nvPr/>
        </p:nvCxnSpPr>
        <p:spPr>
          <a:xfrm>
            <a:off x="9876060" y="1980000"/>
            <a:ext cx="0" cy="306000"/>
          </a:xfrm>
          <a:prstGeom prst="line">
            <a:avLst/>
          </a:prstGeom>
          <a:ln w="25400">
            <a:solidFill>
              <a:srgbClr val="13294B"/>
            </a:solidFill>
            <a:tailEnd type="triangle" w="med" len="med"/>
          </a:ln>
        </p:spPr>
      </p:cxnSp>
      <p:sp>
        <p:nvSpPr>
          <p:cNvPr id="28" name="Rounded Rectangle 27"/>
          <p:cNvSpPr/>
          <p:nvPr/>
        </p:nvSpPr>
        <p:spPr>
          <a:xfrm>
            <a:off x="8508060" y="2322000"/>
            <a:ext cx="2736000" cy="828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지배적 설계의 고착화</a:t>
            </a:r>
          </a:p>
        </p:txBody>
      </p:sp>
      <p:cxnSp>
        <p:nvCxnSpPr>
          <p:cNvPr id="29" name="Connector 28"/>
          <p:cNvCxnSpPr/>
          <p:nvPr/>
        </p:nvCxnSpPr>
        <p:spPr>
          <a:xfrm>
            <a:off x="9876060" y="3186000"/>
            <a:ext cx="0" cy="216000"/>
          </a:xfrm>
          <a:prstGeom prst="line">
            <a:avLst/>
          </a:prstGeom>
          <a:ln w="25400">
            <a:solidFill>
              <a:srgbClr val="13294B"/>
            </a:solidFill>
          </a:ln>
        </p:spPr>
      </p:cxnSp>
      <p:cxnSp>
        <p:nvCxnSpPr>
          <p:cNvPr id="30" name="Connector 29"/>
          <p:cNvCxnSpPr/>
          <p:nvPr/>
        </p:nvCxnSpPr>
        <p:spPr>
          <a:xfrm>
            <a:off x="8994060" y="3402000"/>
            <a:ext cx="1764000" cy="0"/>
          </a:xfrm>
          <a:prstGeom prst="line">
            <a:avLst/>
          </a:prstGeom>
          <a:ln w="25400">
            <a:solidFill>
              <a:srgbClr val="13294B"/>
            </a:solidFill>
          </a:ln>
        </p:spPr>
      </p:cxnSp>
      <p:cxnSp>
        <p:nvCxnSpPr>
          <p:cNvPr id="31" name="Connector 30"/>
          <p:cNvCxnSpPr/>
          <p:nvPr/>
        </p:nvCxnSpPr>
        <p:spPr>
          <a:xfrm>
            <a:off x="9048060" y="3402000"/>
            <a:ext cx="0" cy="288000"/>
          </a:xfrm>
          <a:prstGeom prst="line">
            <a:avLst/>
          </a:prstGeom>
          <a:ln w="25400">
            <a:solidFill>
              <a:srgbClr val="13294B"/>
            </a:solidFill>
            <a:tailEnd type="triangle" w="med" len="med"/>
          </a:ln>
        </p:spPr>
      </p:cxnSp>
      <p:sp>
        <p:nvSpPr>
          <p:cNvPr id="32" name="Rounded Rectangle 31"/>
          <p:cNvSpPr/>
          <p:nvPr/>
        </p:nvSpPr>
        <p:spPr>
          <a:xfrm>
            <a:off x="8310060" y="3726000"/>
            <a:ext cx="1476000" cy="1080000"/>
          </a:xfrm>
          <a:prstGeom prst="roundRect">
            <a:avLst>
              <a:gd name="adj" fmla="val 18000"/>
            </a:avLst>
          </a:prstGeom>
          <a:solidFill>
            <a:srgbClr val="E8EEF7"/>
          </a:solidFill>
          <a:ln w="15875">
            <a:solidFill>
              <a:srgbClr val="13294B"/>
            </a:solidFill>
          </a:ln>
        </p:spPr>
        <p:txBody>
          <a:bodyPr rtlCol="0" anchor="ctr" lIns="54000" rIns="54000" tIns="18000" bIns="18000" wrap="square">
            <a:noAutofit/>
          </a:bodyPr>
          <a:lstStyle/>
          <a:p>
            <a:pPr algn="ctr"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핵심 기술</a:t>
            </a:r>
          </a:p>
        </p:txBody>
      </p:sp>
      <p:cxnSp>
        <p:nvCxnSpPr>
          <p:cNvPr id="33" name="Connector 32"/>
          <p:cNvCxnSpPr/>
          <p:nvPr/>
        </p:nvCxnSpPr>
        <p:spPr>
          <a:xfrm>
            <a:off x="10704060" y="3402000"/>
            <a:ext cx="0" cy="288000"/>
          </a:xfrm>
          <a:prstGeom prst="line">
            <a:avLst/>
          </a:prstGeom>
          <a:ln w="25400">
            <a:solidFill>
              <a:srgbClr val="13294B"/>
            </a:solidFill>
            <a:tailEnd type="triangle" w="med" len="med"/>
          </a:ln>
        </p:spPr>
      </p:cxnSp>
      <p:sp>
        <p:nvSpPr>
          <p:cNvPr id="34" name="Rounded Rectangle 33"/>
          <p:cNvSpPr/>
          <p:nvPr/>
        </p:nvSpPr>
        <p:spPr>
          <a:xfrm>
            <a:off x="9966060" y="3726000"/>
            <a:ext cx="1476000" cy="1080000"/>
          </a:xfrm>
          <a:prstGeom prst="roundRect">
            <a:avLst>
              <a:gd name="adj" fmla="val 18000"/>
            </a:avLst>
          </a:prstGeom>
          <a:solidFill>
            <a:srgbClr val="E8EEF7"/>
          </a:solidFill>
          <a:ln w="15875">
            <a:solidFill>
              <a:srgbClr val="13294B"/>
            </a:solidFill>
          </a:ln>
        </p:spPr>
        <p:txBody>
          <a:bodyPr rtlCol="0" anchor="ctr" lIns="54000" rIns="54000" tIns="18000" bIns="18000" wrap="square">
            <a:noAutofit/>
          </a:bodyPr>
          <a:lstStyle/>
          <a:p>
            <a:pPr algn="ctr"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주변 공정</a:t>
            </a:r>
          </a:p>
        </p:txBody>
      </p:sp>
      <p:cxnSp>
        <p:nvCxnSpPr>
          <p:cNvPr id="35" name="Connector 34"/>
          <p:cNvCxnSpPr/>
          <p:nvPr/>
        </p:nvCxnSpPr>
        <p:spPr>
          <a:xfrm>
            <a:off x="9804060" y="4266000"/>
            <a:ext cx="144000" cy="0"/>
          </a:xfrm>
          <a:prstGeom prst="line">
            <a:avLst/>
          </a:prstGeom>
          <a:ln w="31750">
            <a:solidFill>
              <a:srgbClr val="7C3AED"/>
            </a:solidFill>
            <a:tailEnd type="triangle" w="med" len="med"/>
          </a:ln>
        </p:spPr>
      </p:cxnSp>
      <p:sp>
        <p:nvSpPr>
          <p:cNvPr id="36" name="Rounded Rectangle 35"/>
          <p:cNvSpPr/>
          <p:nvPr/>
        </p:nvSpPr>
        <p:spPr>
          <a:xfrm>
            <a:off x="9084060" y="5238000"/>
            <a:ext cx="1584000" cy="414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RQ2 · RQ3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3.1  </a:t>
            </a:r>
            <a:r>
              <a:rPr sz="2200" b="1" i="0" lang="ko-KR" altLang="en-US">
                <a:solidFill>
                  <a:srgbClr val="13294B"/>
                </a:solidFill>
                <a:latin typeface="맑은 고딕"/>
                <a:ea typeface="맑은 고딕"/>
                <a:cs typeface="맑은 고딕"/>
              </a:rPr>
              <a:t>RQ1) 공정 단계 간 융합의 수준과 유형</a:t>
            </a:r>
          </a:p>
        </p:txBody>
      </p:sp>
      <p:sp>
        <p:nvSpPr>
          <p:cNvPr id="3" name="Rounded Rectangle 2"/>
          <p:cNvSpPr/>
          <p:nvPr/>
        </p:nvSpPr>
        <p:spPr>
          <a:xfrm>
            <a:off x="684000" y="1080000"/>
            <a:ext cx="2808000" cy="1080000"/>
          </a:xfrm>
          <a:prstGeom prst="roundRect">
            <a:avLst>
              <a:gd name="adj" fmla="val 18000"/>
            </a:avLst>
          </a:prstGeom>
          <a:solidFill>
            <a:srgbClr val="E3ECFB"/>
          </a:solidFill>
          <a:ln w="22225">
            <a:solidFill>
              <a:srgbClr val="2563C9"/>
            </a:solidFill>
          </a:ln>
        </p:spPr>
        <p:txBody>
          <a:bodyPr rtlCol="0" anchor="ctr" lIns="54000" rIns="54000" tIns="18000" bIns="18000" wrap="square">
            <a:noAutofit/>
          </a:bodyPr>
          <a:lstStyle/>
          <a:p>
            <a:pPr algn="ctr" marL="0" indent="0">
              <a:lnSpc>
                <a:spcPts val="2280"/>
              </a:lnSpc>
              <a:spcBef>
                <a:spcPts val="0"/>
              </a:spcBef>
              <a:spcAft>
                <a:spcPts val="0"/>
              </a:spcAft>
              <a:buNone/>
            </a:pPr>
            <a:r>
              <a:rPr sz="1900" b="1" i="0" lang="ko-KR" altLang="en-US">
                <a:solidFill>
                  <a:srgbClr val="2563C9"/>
                </a:solidFill>
                <a:latin typeface="맑은 고딕"/>
                <a:ea typeface="맑은 고딕"/>
                <a:cs typeface="맑은 고딕"/>
              </a:rPr>
              <a:t>제조공정 기술</a:t>
            </a:r>
          </a:p>
          <a:p>
            <a:pPr algn="ctr" marL="0" indent="0">
              <a:lnSpc>
                <a:spcPts val="1560"/>
              </a:lnSpc>
              <a:spcBef>
                <a:spcPts val="0"/>
              </a:spcBef>
              <a:spcAft>
                <a:spcPts val="0"/>
              </a:spcAft>
              <a:buNone/>
            </a:pPr>
            <a:r>
              <a:rPr sz="1300" b="0" i="0" lang="ko-KR" altLang="en-US">
                <a:solidFill>
                  <a:srgbClr val="5B6475"/>
                </a:solidFill>
                <a:latin typeface="맑은 고딕"/>
                <a:ea typeface="맑은 고딕"/>
                <a:cs typeface="맑은 고딕"/>
              </a:rPr>
              <a:t>CPC H01L21</a:t>
            </a:r>
          </a:p>
        </p:txBody>
      </p:sp>
      <p:sp>
        <p:nvSpPr>
          <p:cNvPr id="4" name="Rounded Rectangle 3"/>
          <p:cNvSpPr/>
          <p:nvPr/>
        </p:nvSpPr>
        <p:spPr>
          <a:xfrm>
            <a:off x="4356000" y="1080000"/>
            <a:ext cx="2808000" cy="1080000"/>
          </a:xfrm>
          <a:prstGeom prst="roundRect">
            <a:avLst>
              <a:gd name="adj" fmla="val 18000"/>
            </a:avLst>
          </a:prstGeom>
          <a:solidFill>
            <a:srgbClr val="FDEBDD"/>
          </a:solidFill>
          <a:ln w="22225">
            <a:solidFill>
              <a:srgbClr val="EA7A28"/>
            </a:solidFill>
          </a:ln>
        </p:spPr>
        <p:txBody>
          <a:bodyPr rtlCol="0" anchor="ctr" lIns="54000" rIns="54000" tIns="18000" bIns="18000" wrap="square">
            <a:noAutofit/>
          </a:bodyPr>
          <a:lstStyle/>
          <a:p>
            <a:pPr algn="ctr" marL="0" indent="0">
              <a:lnSpc>
                <a:spcPts val="2280"/>
              </a:lnSpc>
              <a:spcBef>
                <a:spcPts val="0"/>
              </a:spcBef>
              <a:spcAft>
                <a:spcPts val="0"/>
              </a:spcAft>
              <a:buNone/>
            </a:pPr>
            <a:r>
              <a:rPr sz="1900" b="1" i="0" lang="ko-KR" altLang="en-US">
                <a:solidFill>
                  <a:srgbClr val="EA7A28"/>
                </a:solidFill>
                <a:latin typeface="맑은 고딕"/>
                <a:ea typeface="맑은 고딕"/>
                <a:cs typeface="맑은 고딕"/>
              </a:rPr>
              <a:t>접합·인터커넥트 기술</a:t>
            </a:r>
          </a:p>
          <a:p>
            <a:pPr algn="ctr" marL="0" indent="0">
              <a:lnSpc>
                <a:spcPts val="1560"/>
              </a:lnSpc>
              <a:spcBef>
                <a:spcPts val="0"/>
              </a:spcBef>
              <a:spcAft>
                <a:spcPts val="0"/>
              </a:spcAft>
              <a:buNone/>
            </a:pPr>
            <a:r>
              <a:rPr sz="1300" b="0" i="0" lang="ko-KR" altLang="en-US">
                <a:solidFill>
                  <a:srgbClr val="5B6475"/>
                </a:solidFill>
                <a:latin typeface="맑은 고딕"/>
                <a:ea typeface="맑은 고딕"/>
                <a:cs typeface="맑은 고딕"/>
              </a:rPr>
              <a:t>CPC H01L24</a:t>
            </a:r>
          </a:p>
        </p:txBody>
      </p:sp>
      <p:cxnSp>
        <p:nvCxnSpPr>
          <p:cNvPr id="5" name="Connector 4"/>
          <p:cNvCxnSpPr/>
          <p:nvPr/>
        </p:nvCxnSpPr>
        <p:spPr>
          <a:xfrm flipH="1">
            <a:off x="3762000" y="1008000"/>
            <a:ext cx="162000" cy="324000"/>
          </a:xfrm>
          <a:prstGeom prst="line">
            <a:avLst/>
          </a:prstGeom>
          <a:ln w="31750">
            <a:solidFill>
              <a:srgbClr val="C0392B"/>
            </a:solidFill>
          </a:ln>
        </p:spPr>
      </p:cxnSp>
      <p:cxnSp>
        <p:nvCxnSpPr>
          <p:cNvPr id="6" name="Connector 5"/>
          <p:cNvCxnSpPr/>
          <p:nvPr/>
        </p:nvCxnSpPr>
        <p:spPr>
          <a:xfrm>
            <a:off x="3762000" y="1332000"/>
            <a:ext cx="324000" cy="288000"/>
          </a:xfrm>
          <a:prstGeom prst="line">
            <a:avLst/>
          </a:prstGeom>
          <a:ln w="31750">
            <a:solidFill>
              <a:srgbClr val="C0392B"/>
            </a:solidFill>
          </a:ln>
        </p:spPr>
      </p:cxnSp>
      <p:cxnSp>
        <p:nvCxnSpPr>
          <p:cNvPr id="7" name="Connector 6"/>
          <p:cNvCxnSpPr/>
          <p:nvPr/>
        </p:nvCxnSpPr>
        <p:spPr>
          <a:xfrm flipH="1">
            <a:off x="3762000" y="1620000"/>
            <a:ext cx="324000" cy="288000"/>
          </a:xfrm>
          <a:prstGeom prst="line">
            <a:avLst/>
          </a:prstGeom>
          <a:ln w="31750">
            <a:solidFill>
              <a:srgbClr val="C0392B"/>
            </a:solidFill>
          </a:ln>
        </p:spPr>
      </p:cxnSp>
      <p:cxnSp>
        <p:nvCxnSpPr>
          <p:cNvPr id="8" name="Connector 7"/>
          <p:cNvCxnSpPr/>
          <p:nvPr/>
        </p:nvCxnSpPr>
        <p:spPr>
          <a:xfrm>
            <a:off x="3762000" y="1908000"/>
            <a:ext cx="162000" cy="324000"/>
          </a:xfrm>
          <a:prstGeom prst="line">
            <a:avLst/>
          </a:prstGeom>
          <a:ln w="31750">
            <a:solidFill>
              <a:srgbClr val="C0392B"/>
            </a:solidFill>
          </a:ln>
        </p:spPr>
      </p:cxnSp>
      <p:sp>
        <p:nvSpPr>
          <p:cNvPr id="9" name="TextBox 8"/>
          <p:cNvSpPr txBox="1"/>
          <p:nvPr/>
        </p:nvSpPr>
        <p:spPr>
          <a:xfrm>
            <a:off x="2844000" y="2268000"/>
            <a:ext cx="2160000" cy="288000"/>
          </a:xfrm>
          <a:prstGeom prst="rect">
            <a:avLst/>
          </a:prstGeom>
          <a:noFill/>
        </p:spPr>
        <p:txBody>
          <a:bodyPr wrap="square" lIns="0" rIns="0" tIns="0" bIns="0" anchor="ctr">
            <a:noAutofit/>
          </a:bodyPr>
          <a:lstStyle/>
          <a:p>
            <a:pPr algn="ctr" marL="0" indent="0">
              <a:lnSpc>
                <a:spcPts val="1500"/>
              </a:lnSpc>
              <a:spcBef>
                <a:spcPts val="0"/>
              </a:spcBef>
              <a:spcAft>
                <a:spcPts val="0"/>
              </a:spcAft>
              <a:buNone/>
            </a:pPr>
            <a:r>
              <a:rPr sz="1250" b="1" i="0" lang="ko-KR" altLang="en-US">
                <a:solidFill>
                  <a:srgbClr val="C0392B"/>
                </a:solidFill>
                <a:latin typeface="맑은 고딕"/>
                <a:ea typeface="맑은 고딕"/>
                <a:cs typeface="맑은 고딕"/>
              </a:rPr>
              <a:t>불안정해진 인터페이스</a:t>
            </a:r>
          </a:p>
        </p:txBody>
      </p:sp>
      <p:cxnSp>
        <p:nvCxnSpPr>
          <p:cNvPr id="10" name="Connector 9"/>
          <p:cNvCxnSpPr/>
          <p:nvPr/>
        </p:nvCxnSpPr>
        <p:spPr>
          <a:xfrm>
            <a:off x="2088000" y="2214000"/>
            <a:ext cx="972000" cy="810000"/>
          </a:xfrm>
          <a:prstGeom prst="line">
            <a:avLst/>
          </a:prstGeom>
          <a:ln w="31750">
            <a:solidFill>
              <a:srgbClr val="2563C9"/>
            </a:solidFill>
            <a:tailEnd type="triangle" w="med" len="med"/>
          </a:ln>
        </p:spPr>
      </p:cxnSp>
      <p:cxnSp>
        <p:nvCxnSpPr>
          <p:cNvPr id="11" name="Connector 10"/>
          <p:cNvCxnSpPr/>
          <p:nvPr/>
        </p:nvCxnSpPr>
        <p:spPr>
          <a:xfrm flipH="1">
            <a:off x="4788000" y="2214000"/>
            <a:ext cx="972000" cy="810000"/>
          </a:xfrm>
          <a:prstGeom prst="line">
            <a:avLst/>
          </a:prstGeom>
          <a:ln w="31750">
            <a:solidFill>
              <a:srgbClr val="EA7A28"/>
            </a:solidFill>
            <a:tailEnd type="triangle" w="med" len="med"/>
          </a:ln>
        </p:spPr>
      </p:cxnSp>
      <p:sp>
        <p:nvSpPr>
          <p:cNvPr id="12" name="Rounded Rectangle 11"/>
          <p:cNvSpPr/>
          <p:nvPr/>
        </p:nvSpPr>
        <p:spPr>
          <a:xfrm>
            <a:off x="2052000" y="3096000"/>
            <a:ext cx="3600000" cy="1080000"/>
          </a:xfrm>
          <a:prstGeom prst="roundRect">
            <a:avLst>
              <a:gd name="adj" fmla="val 18000"/>
            </a:avLst>
          </a:prstGeom>
          <a:solidFill>
            <a:srgbClr val="EEE6FD"/>
          </a:solidFill>
          <a:ln w="22225">
            <a:solidFill>
              <a:srgbClr val="7C3AED"/>
            </a:solidFill>
          </a:ln>
        </p:spPr>
        <p:txBody>
          <a:bodyPr rtlCol="0" anchor="ctr" lIns="54000" rIns="54000" tIns="18000" bIns="18000" wrap="square">
            <a:noAutofit/>
          </a:bodyPr>
          <a:lstStyle/>
          <a:p>
            <a:pPr algn="ctr" marL="0" indent="0">
              <a:lnSpc>
                <a:spcPts val="2280"/>
              </a:lnSpc>
              <a:spcBef>
                <a:spcPts val="0"/>
              </a:spcBef>
              <a:spcAft>
                <a:spcPts val="0"/>
              </a:spcAft>
              <a:buNone/>
            </a:pPr>
            <a:r>
              <a:rPr sz="1900" b="1" i="0" lang="ko-KR" altLang="en-US">
                <a:solidFill>
                  <a:srgbClr val="7C3AED"/>
                </a:solidFill>
                <a:latin typeface="맑은 고딕"/>
                <a:ea typeface="맑은 고딕"/>
                <a:cs typeface="맑은 고딕"/>
              </a:rPr>
              <a:t>두 영역을 함께 담은 발명</a:t>
            </a:r>
          </a:p>
          <a:p>
            <a:pPr algn="ctr" marL="0" indent="0">
              <a:lnSpc>
                <a:spcPts val="1560"/>
              </a:lnSpc>
              <a:spcBef>
                <a:spcPts val="0"/>
              </a:spcBef>
              <a:spcAft>
                <a:spcPts val="0"/>
              </a:spcAft>
              <a:buNone/>
            </a:pPr>
            <a:r>
              <a:rPr sz="1300" b="0" i="0" lang="ko-KR" altLang="en-US">
                <a:solidFill>
                  <a:srgbClr val="5B6475"/>
                </a:solidFill>
                <a:latin typeface="맑은 고딕"/>
                <a:ea typeface="맑은 고딕"/>
                <a:cs typeface="맑은 고딕"/>
              </a:rPr>
              <a:t>경계를 넘는 발명 (통합형)</a:t>
            </a:r>
          </a:p>
        </p:txBody>
      </p:sp>
      <p:sp>
        <p:nvSpPr>
          <p:cNvPr id="13" name="TextBox 12"/>
          <p:cNvSpPr txBox="1"/>
          <p:nvPr/>
        </p:nvSpPr>
        <p:spPr>
          <a:xfrm>
            <a:off x="540000" y="4320000"/>
            <a:ext cx="6768000" cy="972000"/>
          </a:xfrm>
          <a:prstGeom prst="rect">
            <a:avLst/>
          </a:prstGeom>
          <a:noFill/>
        </p:spPr>
        <p:txBody>
          <a:bodyPr wrap="square" lIns="0" rIns="0" tIns="0" bIns="0" anchor="t">
            <a:noAutofit/>
          </a:bodyPr>
          <a:lstStyle/>
          <a:p>
            <a:pPr algn="ctr" marL="0" indent="0">
              <a:lnSpc>
                <a:spcPts val="1560"/>
              </a:lnSpc>
              <a:spcBef>
                <a:spcPts val="0"/>
              </a:spcBef>
              <a:spcAft>
                <a:spcPts val="300"/>
              </a:spcAft>
              <a:buNone/>
            </a:pPr>
            <a:r>
              <a:rPr sz="1300" b="0" i="0" lang="ko-KR" altLang="en-US">
                <a:solidFill>
                  <a:srgbClr val="5B6475"/>
                </a:solidFill>
                <a:latin typeface="맑은 고딕"/>
                <a:ea typeface="맑은 고딕"/>
                <a:cs typeface="맑은 고딕"/>
              </a:rPr>
              <a:t>발명 = 기존 지식 요소의 새로운 조합 (Fleming, 2001)</a:t>
            </a:r>
          </a:p>
          <a:p>
            <a:pPr algn="ctr" marL="0" indent="0">
              <a:lnSpc>
                <a:spcPts val="1560"/>
              </a:lnSpc>
              <a:spcBef>
                <a:spcPts val="0"/>
              </a:spcBef>
              <a:spcAft>
                <a:spcPts val="0"/>
              </a:spcAft>
              <a:buNone/>
            </a:pPr>
            <a:r>
              <a:rPr sz="1300" b="0" i="0" lang="ko-KR" altLang="en-US">
                <a:solidFill>
                  <a:srgbClr val="5B6475"/>
                </a:solidFill>
                <a:latin typeface="맑은 고딕"/>
                <a:ea typeface="맑은 고딕"/>
                <a:cs typeface="맑은 고딕"/>
              </a:rPr>
              <a:t>특허 범위 = 포괄하는 분류의 수 (Lerner, 1994)</a:t>
            </a:r>
          </a:p>
        </p:txBody>
      </p:sp>
      <p:sp>
        <p:nvSpPr>
          <p:cNvPr id="14" name="TextBox 13"/>
          <p:cNvSpPr txBox="1"/>
          <p:nvPr/>
        </p:nvSpPr>
        <p:spPr>
          <a:xfrm>
            <a:off x="7740000" y="1008000"/>
            <a:ext cx="3912120" cy="324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이론적 기대</a:t>
            </a:r>
          </a:p>
        </p:txBody>
      </p:sp>
      <p:sp>
        <p:nvSpPr>
          <p:cNvPr id="15" name="Rounded Rectangle 14"/>
          <p:cNvSpPr/>
          <p:nvPr/>
        </p:nvSpPr>
        <p:spPr>
          <a:xfrm>
            <a:off x="7740000" y="1440000"/>
            <a:ext cx="3912120" cy="1584000"/>
          </a:xfrm>
          <a:prstGeom prst="roundRect">
            <a:avLst>
              <a:gd name="adj" fmla="val 6000"/>
            </a:avLst>
          </a:prstGeom>
          <a:solidFill>
            <a:srgbClr val="E8EEF7"/>
          </a:solidFill>
          <a:ln>
            <a:noFill/>
          </a:ln>
        </p:spPr>
        <p:txBody>
          <a:bodyPr rtlCol="0" anchor="ctr" lIns="36000" rIns="36000" tIns="36000" bIns="36000"/>
          <a:lstStyle/>
          <a:p>
            <a:pPr algn="ctr"/>
          </a:p>
        </p:txBody>
      </p:sp>
      <p:sp>
        <p:nvSpPr>
          <p:cNvPr id="16" name="Rounded Rectangle 15"/>
          <p:cNvSpPr/>
          <p:nvPr/>
        </p:nvSpPr>
        <p:spPr>
          <a:xfrm>
            <a:off x="7920000" y="1602000"/>
            <a:ext cx="936000" cy="342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기대 ①</a:t>
            </a:r>
          </a:p>
        </p:txBody>
      </p:sp>
      <p:sp>
        <p:nvSpPr>
          <p:cNvPr id="17" name="TextBox 16"/>
          <p:cNvSpPr txBox="1"/>
          <p:nvPr/>
        </p:nvSpPr>
        <p:spPr>
          <a:xfrm>
            <a:off x="7920000" y="2016000"/>
            <a:ext cx="3552120" cy="936000"/>
          </a:xfrm>
          <a:prstGeom prst="rect">
            <a:avLst/>
          </a:prstGeom>
          <a:noFill/>
        </p:spPr>
        <p:txBody>
          <a:bodyPr wrap="square" lIns="0" rIns="0" tIns="0" bIns="0" anchor="t">
            <a:noAutofit/>
          </a:bodyPr>
          <a:lstStyle/>
          <a:p>
            <a:pPr algn="l" marL="0" indent="0">
              <a:lnSpc>
                <a:spcPts val="2080"/>
              </a:lnSpc>
              <a:spcBef>
                <a:spcPts val="0"/>
              </a:spcBef>
              <a:spcAft>
                <a:spcPts val="0"/>
              </a:spcAft>
              <a:buNone/>
            </a:pPr>
            <a:r>
              <a:rPr sz="1550" b="1" i="0" lang="ko-KR" altLang="en-US">
                <a:solidFill>
                  <a:srgbClr val="13294B"/>
                </a:solidFill>
                <a:latin typeface="맑은 고딕"/>
                <a:ea typeface="맑은 고딕"/>
                <a:cs typeface="맑은 고딕"/>
              </a:rPr>
              <a:t>두 영역의 기술을 함께 포함하는 발명이 예외적이지 않은 비중으로 나타난다</a:t>
            </a:r>
          </a:p>
        </p:txBody>
      </p:sp>
      <p:sp>
        <p:nvSpPr>
          <p:cNvPr id="18" name="Rounded Rectangle 17"/>
          <p:cNvSpPr/>
          <p:nvPr/>
        </p:nvSpPr>
        <p:spPr>
          <a:xfrm>
            <a:off x="7740000" y="3240000"/>
            <a:ext cx="3912120" cy="1584000"/>
          </a:xfrm>
          <a:prstGeom prst="roundRect">
            <a:avLst>
              <a:gd name="adj" fmla="val 6000"/>
            </a:avLst>
          </a:prstGeom>
          <a:solidFill>
            <a:srgbClr val="E8EEF7"/>
          </a:solidFill>
          <a:ln>
            <a:noFill/>
          </a:ln>
        </p:spPr>
        <p:txBody>
          <a:bodyPr rtlCol="0" anchor="ctr" lIns="36000" rIns="36000" tIns="36000" bIns="36000"/>
          <a:lstStyle/>
          <a:p>
            <a:pPr algn="ctr"/>
          </a:p>
        </p:txBody>
      </p:sp>
      <p:sp>
        <p:nvSpPr>
          <p:cNvPr id="19" name="Rounded Rectangle 18"/>
          <p:cNvSpPr/>
          <p:nvPr/>
        </p:nvSpPr>
        <p:spPr>
          <a:xfrm>
            <a:off x="7920000" y="3402000"/>
            <a:ext cx="936000" cy="342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기대 ②</a:t>
            </a:r>
          </a:p>
        </p:txBody>
      </p:sp>
      <p:sp>
        <p:nvSpPr>
          <p:cNvPr id="20" name="TextBox 19"/>
          <p:cNvSpPr txBox="1"/>
          <p:nvPr/>
        </p:nvSpPr>
        <p:spPr>
          <a:xfrm>
            <a:off x="7920000" y="3816000"/>
            <a:ext cx="3552120" cy="936000"/>
          </a:xfrm>
          <a:prstGeom prst="rect">
            <a:avLst/>
          </a:prstGeom>
          <a:noFill/>
        </p:spPr>
        <p:txBody>
          <a:bodyPr wrap="square" lIns="0" rIns="0" tIns="0" bIns="0" anchor="t">
            <a:noAutofit/>
          </a:bodyPr>
          <a:lstStyle/>
          <a:p>
            <a:pPr algn="l" marL="0" indent="0">
              <a:lnSpc>
                <a:spcPts val="2080"/>
              </a:lnSpc>
              <a:spcBef>
                <a:spcPts val="0"/>
              </a:spcBef>
              <a:spcAft>
                <a:spcPts val="0"/>
              </a:spcAft>
              <a:buNone/>
            </a:pPr>
            <a:r>
              <a:rPr sz="1550" b="1" i="0" lang="ko-KR" altLang="en-US">
                <a:solidFill>
                  <a:srgbClr val="13294B"/>
                </a:solidFill>
                <a:latin typeface="맑은 고딕"/>
                <a:ea typeface="맑은 고딕"/>
                <a:cs typeface="맑은 고딕"/>
              </a:rPr>
              <a:t>그러한 발명은 한 영역에 머무는 발명보다 더 다양한 세부 기술을 포함한다</a:t>
            </a:r>
          </a:p>
        </p:txBody>
      </p:sp>
      <p:sp>
        <p:nvSpPr>
          <p:cNvPr id="21" name="Source"/>
          <p:cNvSpPr txBox="1"/>
          <p:nvPr/>
        </p:nvSpPr>
        <p:spPr>
          <a:xfrm>
            <a:off x="540000" y="5418000"/>
            <a:ext cx="11112120" cy="180000"/>
          </a:xfrm>
          <a:prstGeom prst="rect">
            <a:avLst/>
          </a:prstGeom>
          <a:noFill/>
        </p:spPr>
        <p:txBody>
          <a:bodyPr wrap="square" lIns="0" rIns="0" tIns="0" bIns="0" anchor="ctr">
            <a:noAutofit/>
          </a:bodyPr>
          <a:lstStyle/>
          <a:p>
            <a:pPr algn="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Kapoor &amp; Adner (2012); Brusoni et al. (2001); Jacobides et al. (2006)</a:t>
            </a:r>
          </a:p>
        </p:txBody>
      </p:sp>
      <p:sp>
        <p:nvSpPr>
          <p:cNvPr id="22" name="Research question"/>
          <p:cNvSpPr/>
          <p:nvPr/>
        </p:nvSpPr>
        <p:spPr>
          <a:xfrm>
            <a:off x="540000" y="5706000"/>
            <a:ext cx="11112120" cy="738000"/>
          </a:xfrm>
          <a:prstGeom prst="roundRect">
            <a:avLst>
              <a:gd name="adj" fmla="val 18000"/>
            </a:avLst>
          </a:prstGeom>
          <a:solidFill>
            <a:srgbClr val="13294B"/>
          </a:solidFill>
          <a:ln>
            <a:noFill/>
          </a:ln>
        </p:spPr>
        <p:txBody>
          <a:bodyPr rtlCol="0" anchor="ctr" lIns="36000" rIns="36000" tIns="36000" bIns="36000"/>
          <a:lstStyle/>
          <a:p>
            <a:pPr algn="ctr"/>
          </a:p>
        </p:txBody>
      </p:sp>
      <p:sp>
        <p:nvSpPr>
          <p:cNvPr id="23" name="Rounded Rectangle 22"/>
          <p:cNvSpPr/>
          <p:nvPr/>
        </p:nvSpPr>
        <p:spPr>
          <a:xfrm>
            <a:off x="702000" y="5914800"/>
            <a:ext cx="864000" cy="324000"/>
          </a:xfrm>
          <a:prstGeom prst="roundRect">
            <a:avLst>
              <a:gd name="adj" fmla="val 50000"/>
            </a:avLst>
          </a:prstGeom>
          <a:solidFill>
            <a:srgbClr val="D4A72C"/>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RQ1</a:t>
            </a:r>
          </a:p>
        </p:txBody>
      </p:sp>
      <p:sp>
        <p:nvSpPr>
          <p:cNvPr id="24" name="TextBox 23"/>
          <p:cNvSpPr txBox="1"/>
          <p:nvPr/>
        </p:nvSpPr>
        <p:spPr>
          <a:xfrm>
            <a:off x="1692000" y="5706000"/>
            <a:ext cx="9816120" cy="738000"/>
          </a:xfrm>
          <a:prstGeom prst="rect">
            <a:avLst/>
          </a:prstGeom>
          <a:noFill/>
        </p:spPr>
        <p:txBody>
          <a:bodyPr wrap="square" lIns="0" rIns="0" tIns="0" bIns="0" anchor="ctr">
            <a:noAutofit/>
          </a:bodyPr>
          <a:lstStyle/>
          <a:p>
            <a:pPr algn="l" marL="0" indent="0">
              <a:lnSpc>
                <a:spcPts val="2110"/>
              </a:lnSpc>
              <a:spcBef>
                <a:spcPts val="0"/>
              </a:spcBef>
              <a:spcAft>
                <a:spcPts val="0"/>
              </a:spcAft>
              <a:buNone/>
            </a:pPr>
            <a:r>
              <a:rPr sz="1600" b="1" i="0" lang="ko-KR" altLang="en-US">
                <a:solidFill>
                  <a:srgbClr val="FFFFFF"/>
                </a:solidFill>
                <a:latin typeface="맑은 고딕"/>
                <a:ea typeface="맑은 고딕"/>
                <a:cs typeface="맑은 고딕"/>
              </a:rPr>
              <a:t>하이브리드 본딩 기술에서 제조공정과 접합 기술 간의 융합이 어느 정도로, 어떠한 형태로 나타나는가?</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3.1  </a:t>
            </a:r>
            <a:r>
              <a:rPr sz="2200" b="1" i="0" lang="ko-KR" altLang="en-US">
                <a:solidFill>
                  <a:srgbClr val="13294B"/>
                </a:solidFill>
                <a:latin typeface="맑은 고딕"/>
                <a:ea typeface="맑은 고딕"/>
                <a:cs typeface="맑은 고딕"/>
              </a:rPr>
              <a:t>RQ2) 공정 단계 간 융합의 시간적 변화</a:t>
            </a:r>
          </a:p>
        </p:txBody>
      </p:sp>
      <p:sp>
        <p:nvSpPr>
          <p:cNvPr id="3" name="Right Arrow 2"/>
          <p:cNvSpPr/>
          <p:nvPr/>
        </p:nvSpPr>
        <p:spPr>
          <a:xfrm>
            <a:off x="678060" y="1080000"/>
            <a:ext cx="10836000" cy="576000"/>
          </a:xfrm>
          <a:prstGeom prst="rightArrow">
            <a:avLst/>
          </a:prstGeom>
          <a:solidFill>
            <a:srgbClr val="E8EEF7"/>
          </a:solidFill>
          <a:ln>
            <a:noFill/>
          </a:ln>
        </p:spPr>
        <p:txBody>
          <a:bodyPr rtlCol="0" anchor="ctr" lIns="36000" rIns="36000" tIns="36000" bIns="36000"/>
          <a:lstStyle/>
          <a:p>
            <a:pPr algn="ctr"/>
          </a:p>
        </p:txBody>
      </p:sp>
      <p:sp>
        <p:nvSpPr>
          <p:cNvPr id="4" name="TextBox 3"/>
          <p:cNvSpPr txBox="1"/>
          <p:nvPr/>
        </p:nvSpPr>
        <p:spPr>
          <a:xfrm>
            <a:off x="750060" y="1080000"/>
            <a:ext cx="3348000" cy="576000"/>
          </a:xfrm>
          <a:prstGeom prst="rect">
            <a:avLst/>
          </a:prstGeom>
          <a:noFill/>
        </p:spPr>
        <p:txBody>
          <a:bodyPr wrap="square" lIns="0" rIns="0" tIns="0" bIns="0" anchor="ctr">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기술 형성</a:t>
            </a:r>
            <a:r>
              <a:rPr sz="1250" b="0" i="0" lang="ko-KR" altLang="en-US">
                <a:solidFill>
                  <a:srgbClr val="5B6475"/>
                </a:solidFill>
                <a:latin typeface="맑은 고딕"/>
                <a:ea typeface="맑은 고딕"/>
                <a:cs typeface="맑은 고딕"/>
              </a:rPr>
              <a:t>  (격동기)</a:t>
            </a:r>
          </a:p>
        </p:txBody>
      </p:sp>
      <p:sp>
        <p:nvSpPr>
          <p:cNvPr id="5" name="Rounded Rectangle 4"/>
          <p:cNvSpPr/>
          <p:nvPr/>
        </p:nvSpPr>
        <p:spPr>
          <a:xfrm>
            <a:off x="750060" y="1800000"/>
            <a:ext cx="3348000" cy="1656000"/>
          </a:xfrm>
          <a:prstGeom prst="roundRect">
            <a:avLst>
              <a:gd name="adj" fmla="val 6000"/>
            </a:avLst>
          </a:prstGeom>
          <a:solidFill>
            <a:srgbClr val="E3ECFB"/>
          </a:solidFill>
          <a:ln>
            <a:noFill/>
          </a:ln>
        </p:spPr>
        <p:txBody>
          <a:bodyPr rtlCol="0" anchor="ctr" lIns="36000" rIns="36000" tIns="36000" bIns="36000"/>
          <a:lstStyle/>
          <a:p>
            <a:pPr algn="ctr"/>
          </a:p>
        </p:txBody>
      </p:sp>
      <p:sp>
        <p:nvSpPr>
          <p:cNvPr id="6" name="TextBox 5"/>
          <p:cNvSpPr txBox="1"/>
          <p:nvPr/>
        </p:nvSpPr>
        <p:spPr>
          <a:xfrm>
            <a:off x="858060" y="1854000"/>
            <a:ext cx="3132000" cy="288000"/>
          </a:xfrm>
          <a:prstGeom prst="rect">
            <a:avLst/>
          </a:prstGeom>
          <a:noFill/>
        </p:spPr>
        <p:txBody>
          <a:bodyPr wrap="square" lIns="0" rIns="0" tIns="0" bIns="0" anchor="ctr">
            <a:noAutofit/>
          </a:bodyPr>
          <a:lstStyle/>
          <a:p>
            <a:pPr algn="ctr" marL="0" indent="0">
              <a:lnSpc>
                <a:spcPts val="1440"/>
              </a:lnSpc>
              <a:spcBef>
                <a:spcPts val="0"/>
              </a:spcBef>
              <a:spcAft>
                <a:spcPts val="0"/>
              </a:spcAft>
              <a:buNone/>
            </a:pPr>
            <a:r>
              <a:rPr sz="1200" b="1" i="0" lang="ko-KR" altLang="en-US">
                <a:solidFill>
                  <a:srgbClr val="2563C9"/>
                </a:solidFill>
                <a:latin typeface="맑은 고딕"/>
                <a:ea typeface="맑은 고딕"/>
                <a:cs typeface="맑은 고딕"/>
              </a:rPr>
              <a:t>예상되는 발명</a:t>
            </a:r>
          </a:p>
        </p:txBody>
      </p:sp>
      <p:sp>
        <p:nvSpPr>
          <p:cNvPr id="7" name="TextBox 6"/>
          <p:cNvSpPr txBox="1"/>
          <p:nvPr/>
        </p:nvSpPr>
        <p:spPr>
          <a:xfrm>
            <a:off x="858060" y="2124000"/>
            <a:ext cx="3132000" cy="864000"/>
          </a:xfrm>
          <a:prstGeom prst="rect">
            <a:avLst/>
          </a:prstGeom>
          <a:noFill/>
        </p:spPr>
        <p:txBody>
          <a:bodyPr wrap="square" lIns="0" rIns="0" tIns="0" bIns="0" anchor="ctr">
            <a:noAutofit/>
          </a:bodyPr>
          <a:lstStyle/>
          <a:p>
            <a:pPr algn="ctr" marL="0" indent="0">
              <a:lnSpc>
                <a:spcPts val="1860"/>
              </a:lnSpc>
              <a:spcBef>
                <a:spcPts val="0"/>
              </a:spcBef>
              <a:spcAft>
                <a:spcPts val="0"/>
              </a:spcAft>
              <a:buNone/>
            </a:pPr>
            <a:r>
              <a:rPr sz="1550" b="1" i="0" lang="ko-KR" altLang="en-US">
                <a:solidFill>
                  <a:srgbClr val="1E2532"/>
                </a:solidFill>
                <a:latin typeface="맑은 고딕"/>
                <a:ea typeface="맑은 고딕"/>
                <a:cs typeface="맑은 고딕"/>
              </a:rPr>
              <a:t>직접 접합을 가능하게 하는</a:t>
            </a:r>
          </a:p>
          <a:p>
            <a:pPr algn="ctr" marL="0" indent="0">
              <a:lnSpc>
                <a:spcPts val="1860"/>
              </a:lnSpc>
              <a:spcBef>
                <a:spcPts val="0"/>
              </a:spcBef>
              <a:spcAft>
                <a:spcPts val="0"/>
              </a:spcAft>
              <a:buNone/>
            </a:pPr>
            <a:r>
              <a:rPr sz="1550" b="1" i="0" lang="ko-KR" altLang="en-US">
                <a:solidFill>
                  <a:srgbClr val="1E2532"/>
                </a:solidFill>
                <a:latin typeface="맑은 고딕"/>
                <a:ea typeface="맑은 고딕"/>
                <a:cs typeface="맑은 고딕"/>
              </a:rPr>
              <a:t>공정 발명이 주를 이룸</a:t>
            </a:r>
          </a:p>
        </p:txBody>
      </p:sp>
      <p:sp>
        <p:nvSpPr>
          <p:cNvPr id="8" name="Rounded Rectangle 7"/>
          <p:cNvSpPr/>
          <p:nvPr/>
        </p:nvSpPr>
        <p:spPr>
          <a:xfrm>
            <a:off x="1560060" y="3042000"/>
            <a:ext cx="1728000" cy="342000"/>
          </a:xfrm>
          <a:prstGeom prst="roundRect">
            <a:avLst>
              <a:gd name="adj" fmla="val 50000"/>
            </a:avLst>
          </a:prstGeom>
          <a:solidFill>
            <a:srgbClr val="FFFFFF"/>
          </a:solidFill>
          <a:ln>
            <a:noFill/>
          </a:ln>
        </p:spPr>
        <p:txBody>
          <a:bodyPr rtlCol="0" anchor="ctr" lIns="28800" rIns="28800" tIns="18000" bIns="18000" wrap="square">
            <a:noAutofit/>
          </a:bodyPr>
          <a:lstStyle/>
          <a:p>
            <a:pPr algn="ctr" marL="0" indent="0">
              <a:lnSpc>
                <a:spcPts val="1500"/>
              </a:lnSpc>
              <a:spcBef>
                <a:spcPts val="0"/>
              </a:spcBef>
              <a:spcAft>
                <a:spcPts val="0"/>
              </a:spcAft>
              <a:buNone/>
            </a:pPr>
            <a:r>
              <a:rPr sz="1250" b="1" i="0" lang="ko-KR" altLang="en-US">
                <a:solidFill>
                  <a:srgbClr val="2563C9"/>
                </a:solidFill>
                <a:latin typeface="맑은 고딕"/>
                <a:ea typeface="맑은 고딕"/>
                <a:cs typeface="맑은 고딕"/>
              </a:rPr>
              <a:t>단계 모형: 지식 융합</a:t>
            </a:r>
          </a:p>
        </p:txBody>
      </p:sp>
      <p:sp>
        <p:nvSpPr>
          <p:cNvPr id="9" name="TextBox 8"/>
          <p:cNvSpPr txBox="1"/>
          <p:nvPr/>
        </p:nvSpPr>
        <p:spPr>
          <a:xfrm>
            <a:off x="4422060" y="1080000"/>
            <a:ext cx="3348000" cy="576000"/>
          </a:xfrm>
          <a:prstGeom prst="rect">
            <a:avLst/>
          </a:prstGeom>
          <a:noFill/>
        </p:spPr>
        <p:txBody>
          <a:bodyPr wrap="square" lIns="0" rIns="0" tIns="0" bIns="0" anchor="ctr">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기술 확산</a:t>
            </a:r>
            <a:r>
              <a:rPr sz="1250" b="0" i="0" lang="ko-KR" altLang="en-US">
                <a:solidFill>
                  <a:srgbClr val="5B6475"/>
                </a:solidFill>
                <a:latin typeface="맑은 고딕"/>
                <a:ea typeface="맑은 고딕"/>
                <a:cs typeface="맑은 고딕"/>
              </a:rPr>
              <a:t>  (설계의 수렴)</a:t>
            </a:r>
          </a:p>
        </p:txBody>
      </p:sp>
      <p:sp>
        <p:nvSpPr>
          <p:cNvPr id="10" name="Rounded Rectangle 9"/>
          <p:cNvSpPr/>
          <p:nvPr/>
        </p:nvSpPr>
        <p:spPr>
          <a:xfrm>
            <a:off x="4422060" y="1800000"/>
            <a:ext cx="3348000" cy="1656000"/>
          </a:xfrm>
          <a:prstGeom prst="roundRect">
            <a:avLst>
              <a:gd name="adj" fmla="val 6000"/>
            </a:avLst>
          </a:prstGeom>
          <a:solidFill>
            <a:srgbClr val="EEE6FD"/>
          </a:solidFill>
          <a:ln>
            <a:noFill/>
          </a:ln>
        </p:spPr>
        <p:txBody>
          <a:bodyPr rtlCol="0" anchor="ctr" lIns="36000" rIns="36000" tIns="36000" bIns="36000"/>
          <a:lstStyle/>
          <a:p>
            <a:pPr algn="ctr"/>
          </a:p>
        </p:txBody>
      </p:sp>
      <p:sp>
        <p:nvSpPr>
          <p:cNvPr id="11" name="TextBox 10"/>
          <p:cNvSpPr txBox="1"/>
          <p:nvPr/>
        </p:nvSpPr>
        <p:spPr>
          <a:xfrm>
            <a:off x="4530060" y="1854000"/>
            <a:ext cx="3132000" cy="288000"/>
          </a:xfrm>
          <a:prstGeom prst="rect">
            <a:avLst/>
          </a:prstGeom>
          <a:noFill/>
        </p:spPr>
        <p:txBody>
          <a:bodyPr wrap="square" lIns="0" rIns="0" tIns="0" bIns="0" anchor="ctr">
            <a:noAutofit/>
          </a:bodyPr>
          <a:lstStyle/>
          <a:p>
            <a:pPr algn="ctr" marL="0" indent="0">
              <a:lnSpc>
                <a:spcPts val="1440"/>
              </a:lnSpc>
              <a:spcBef>
                <a:spcPts val="0"/>
              </a:spcBef>
              <a:spcAft>
                <a:spcPts val="0"/>
              </a:spcAft>
              <a:buNone/>
            </a:pPr>
            <a:r>
              <a:rPr sz="1200" b="1" i="0" lang="ko-KR" altLang="en-US">
                <a:solidFill>
                  <a:srgbClr val="7C3AED"/>
                </a:solidFill>
                <a:latin typeface="맑은 고딕"/>
                <a:ea typeface="맑은 고딕"/>
                <a:cs typeface="맑은 고딕"/>
              </a:rPr>
              <a:t>예상되는 발명</a:t>
            </a:r>
          </a:p>
        </p:txBody>
      </p:sp>
      <p:sp>
        <p:nvSpPr>
          <p:cNvPr id="12" name="TextBox 11"/>
          <p:cNvSpPr txBox="1"/>
          <p:nvPr/>
        </p:nvSpPr>
        <p:spPr>
          <a:xfrm>
            <a:off x="4530060" y="2124000"/>
            <a:ext cx="3132000" cy="864000"/>
          </a:xfrm>
          <a:prstGeom prst="rect">
            <a:avLst/>
          </a:prstGeom>
          <a:noFill/>
        </p:spPr>
        <p:txBody>
          <a:bodyPr wrap="square" lIns="0" rIns="0" tIns="0" bIns="0" anchor="ctr">
            <a:noAutofit/>
          </a:bodyPr>
          <a:lstStyle/>
          <a:p>
            <a:pPr algn="ctr" marL="0" indent="0">
              <a:lnSpc>
                <a:spcPts val="1860"/>
              </a:lnSpc>
              <a:spcBef>
                <a:spcPts val="0"/>
              </a:spcBef>
              <a:spcAft>
                <a:spcPts val="0"/>
              </a:spcAft>
              <a:buNone/>
            </a:pPr>
            <a:r>
              <a:rPr sz="1550" b="1" i="0" lang="ko-KR" altLang="en-US">
                <a:solidFill>
                  <a:srgbClr val="1E2532"/>
                </a:solidFill>
                <a:latin typeface="맑은 고딕"/>
                <a:ea typeface="맑은 고딕"/>
                <a:cs typeface="맑은 고딕"/>
              </a:rPr>
              <a:t>공정 지식이 접합 발명과</a:t>
            </a:r>
          </a:p>
          <a:p>
            <a:pPr algn="ctr" marL="0" indent="0">
              <a:lnSpc>
                <a:spcPts val="1860"/>
              </a:lnSpc>
              <a:spcBef>
                <a:spcPts val="0"/>
              </a:spcBef>
              <a:spcAft>
                <a:spcPts val="0"/>
              </a:spcAft>
              <a:buNone/>
            </a:pPr>
            <a:r>
              <a:rPr sz="1550" b="1" i="0" lang="ko-KR" altLang="en-US">
                <a:solidFill>
                  <a:srgbClr val="1E2532"/>
                </a:solidFill>
                <a:latin typeface="맑은 고딕"/>
                <a:ea typeface="맑은 고딕"/>
                <a:cs typeface="맑은 고딕"/>
              </a:rPr>
              <a:t>결합하는 사례가 증가</a:t>
            </a:r>
          </a:p>
        </p:txBody>
      </p:sp>
      <p:sp>
        <p:nvSpPr>
          <p:cNvPr id="13" name="Rounded Rectangle 12"/>
          <p:cNvSpPr/>
          <p:nvPr/>
        </p:nvSpPr>
        <p:spPr>
          <a:xfrm>
            <a:off x="5232060" y="3042000"/>
            <a:ext cx="1728000" cy="342000"/>
          </a:xfrm>
          <a:prstGeom prst="roundRect">
            <a:avLst>
              <a:gd name="adj" fmla="val 50000"/>
            </a:avLst>
          </a:prstGeom>
          <a:solidFill>
            <a:srgbClr val="FFFFFF"/>
          </a:solidFill>
          <a:ln>
            <a:noFill/>
          </a:ln>
        </p:spPr>
        <p:txBody>
          <a:bodyPr rtlCol="0" anchor="ctr" lIns="28800" rIns="28800" tIns="18000" bIns="18000" wrap="square">
            <a:noAutofit/>
          </a:bodyPr>
          <a:lstStyle/>
          <a:p>
            <a:pPr algn="ctr" marL="0" indent="0">
              <a:lnSpc>
                <a:spcPts val="1500"/>
              </a:lnSpc>
              <a:spcBef>
                <a:spcPts val="0"/>
              </a:spcBef>
              <a:spcAft>
                <a:spcPts val="0"/>
              </a:spcAft>
              <a:buNone/>
            </a:pPr>
            <a:r>
              <a:rPr sz="1250" b="1" i="0" lang="ko-KR" altLang="en-US">
                <a:solidFill>
                  <a:srgbClr val="7C3AED"/>
                </a:solidFill>
                <a:latin typeface="맑은 고딕"/>
                <a:ea typeface="맑은 고딕"/>
                <a:cs typeface="맑은 고딕"/>
              </a:rPr>
              <a:t>단계 모형: 기술 융합</a:t>
            </a:r>
          </a:p>
        </p:txBody>
      </p:sp>
      <p:sp>
        <p:nvSpPr>
          <p:cNvPr id="14" name="TextBox 13"/>
          <p:cNvSpPr txBox="1"/>
          <p:nvPr/>
        </p:nvSpPr>
        <p:spPr>
          <a:xfrm>
            <a:off x="8094060" y="1080000"/>
            <a:ext cx="3348000" cy="576000"/>
          </a:xfrm>
          <a:prstGeom prst="rect">
            <a:avLst/>
          </a:prstGeom>
          <a:noFill/>
        </p:spPr>
        <p:txBody>
          <a:bodyPr wrap="square" lIns="0" rIns="0" tIns="0" bIns="0" anchor="ctr">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지배적 설계 이후</a:t>
            </a:r>
            <a:r>
              <a:rPr sz="1250" b="0" i="0" lang="ko-KR" altLang="en-US">
                <a:solidFill>
                  <a:srgbClr val="5B6475"/>
                </a:solidFill>
                <a:latin typeface="맑은 고딕"/>
                <a:ea typeface="맑은 고딕"/>
                <a:cs typeface="맑은 고딕"/>
              </a:rPr>
              <a:t>  (점진적 변화)</a:t>
            </a:r>
          </a:p>
        </p:txBody>
      </p:sp>
      <p:sp>
        <p:nvSpPr>
          <p:cNvPr id="15" name="Rounded Rectangle 14"/>
          <p:cNvSpPr/>
          <p:nvPr/>
        </p:nvSpPr>
        <p:spPr>
          <a:xfrm>
            <a:off x="8094060" y="1800000"/>
            <a:ext cx="3348000" cy="1656000"/>
          </a:xfrm>
          <a:prstGeom prst="roundRect">
            <a:avLst>
              <a:gd name="adj" fmla="val 6000"/>
            </a:avLst>
          </a:prstGeom>
          <a:solidFill>
            <a:srgbClr val="FDEBDD"/>
          </a:solidFill>
          <a:ln>
            <a:noFill/>
          </a:ln>
        </p:spPr>
        <p:txBody>
          <a:bodyPr rtlCol="0" anchor="ctr" lIns="36000" rIns="36000" tIns="36000" bIns="36000"/>
          <a:lstStyle/>
          <a:p>
            <a:pPr algn="ctr"/>
          </a:p>
        </p:txBody>
      </p:sp>
      <p:sp>
        <p:nvSpPr>
          <p:cNvPr id="16" name="TextBox 15"/>
          <p:cNvSpPr txBox="1"/>
          <p:nvPr/>
        </p:nvSpPr>
        <p:spPr>
          <a:xfrm>
            <a:off x="8202060" y="1854000"/>
            <a:ext cx="3132000" cy="288000"/>
          </a:xfrm>
          <a:prstGeom prst="rect">
            <a:avLst/>
          </a:prstGeom>
          <a:noFill/>
        </p:spPr>
        <p:txBody>
          <a:bodyPr wrap="square" lIns="0" rIns="0" tIns="0" bIns="0" anchor="ctr">
            <a:noAutofit/>
          </a:bodyPr>
          <a:lstStyle/>
          <a:p>
            <a:pPr algn="ctr" marL="0" indent="0">
              <a:lnSpc>
                <a:spcPts val="1440"/>
              </a:lnSpc>
              <a:spcBef>
                <a:spcPts val="0"/>
              </a:spcBef>
              <a:spcAft>
                <a:spcPts val="0"/>
              </a:spcAft>
              <a:buNone/>
            </a:pPr>
            <a:r>
              <a:rPr sz="1200" b="1" i="0" lang="ko-KR" altLang="en-US">
                <a:solidFill>
                  <a:srgbClr val="EA7A28"/>
                </a:solidFill>
                <a:latin typeface="맑은 고딕"/>
                <a:ea typeface="맑은 고딕"/>
                <a:cs typeface="맑은 고딕"/>
              </a:rPr>
              <a:t>예상되는 발명</a:t>
            </a:r>
          </a:p>
        </p:txBody>
      </p:sp>
      <p:sp>
        <p:nvSpPr>
          <p:cNvPr id="17" name="TextBox 16"/>
          <p:cNvSpPr txBox="1"/>
          <p:nvPr/>
        </p:nvSpPr>
        <p:spPr>
          <a:xfrm>
            <a:off x="8202060" y="2124000"/>
            <a:ext cx="3132000" cy="864000"/>
          </a:xfrm>
          <a:prstGeom prst="rect">
            <a:avLst/>
          </a:prstGeom>
          <a:noFill/>
        </p:spPr>
        <p:txBody>
          <a:bodyPr wrap="square" lIns="0" rIns="0" tIns="0" bIns="0" anchor="ctr">
            <a:noAutofit/>
          </a:bodyPr>
          <a:lstStyle/>
          <a:p>
            <a:pPr algn="ctr" marL="0" indent="0">
              <a:lnSpc>
                <a:spcPts val="1860"/>
              </a:lnSpc>
              <a:spcBef>
                <a:spcPts val="0"/>
              </a:spcBef>
              <a:spcAft>
                <a:spcPts val="0"/>
              </a:spcAft>
              <a:buNone/>
            </a:pPr>
            <a:r>
              <a:rPr sz="1550" b="1" i="0" lang="ko-KR" altLang="en-US">
                <a:solidFill>
                  <a:srgbClr val="1E2532"/>
                </a:solidFill>
                <a:latin typeface="맑은 고딕"/>
                <a:ea typeface="맑은 고딕"/>
                <a:cs typeface="맑은 고딕"/>
              </a:rPr>
              <a:t>두 기술의 결합이 응용에</a:t>
            </a:r>
          </a:p>
          <a:p>
            <a:pPr algn="ctr" marL="0" indent="0">
              <a:lnSpc>
                <a:spcPts val="1860"/>
              </a:lnSpc>
              <a:spcBef>
                <a:spcPts val="0"/>
              </a:spcBef>
              <a:spcAft>
                <a:spcPts val="0"/>
              </a:spcAft>
              <a:buNone/>
            </a:pPr>
            <a:r>
              <a:rPr sz="1550" b="1" i="0" lang="ko-KR" altLang="en-US">
                <a:solidFill>
                  <a:srgbClr val="1E2532"/>
                </a:solidFill>
                <a:latin typeface="맑은 고딕"/>
                <a:ea typeface="맑은 고딕"/>
                <a:cs typeface="맑은 고딕"/>
              </a:rPr>
              <a:t>필요한 주변 공정으로 이동</a:t>
            </a:r>
          </a:p>
        </p:txBody>
      </p:sp>
      <p:sp>
        <p:nvSpPr>
          <p:cNvPr id="18" name="Rounded Rectangle 17"/>
          <p:cNvSpPr/>
          <p:nvPr/>
        </p:nvSpPr>
        <p:spPr>
          <a:xfrm>
            <a:off x="8904060" y="3042000"/>
            <a:ext cx="1728000" cy="342000"/>
          </a:xfrm>
          <a:prstGeom prst="roundRect">
            <a:avLst>
              <a:gd name="adj" fmla="val 50000"/>
            </a:avLst>
          </a:prstGeom>
          <a:solidFill>
            <a:srgbClr val="FFFFFF"/>
          </a:solidFill>
          <a:ln>
            <a:noFill/>
          </a:ln>
        </p:spPr>
        <p:txBody>
          <a:bodyPr rtlCol="0" anchor="ctr" lIns="28800" rIns="28800" tIns="18000" bIns="18000" wrap="square">
            <a:noAutofit/>
          </a:bodyPr>
          <a:lstStyle/>
          <a:p>
            <a:pPr algn="ctr" marL="0" indent="0">
              <a:lnSpc>
                <a:spcPts val="1500"/>
              </a:lnSpc>
              <a:spcBef>
                <a:spcPts val="0"/>
              </a:spcBef>
              <a:spcAft>
                <a:spcPts val="0"/>
              </a:spcAft>
              <a:buNone/>
            </a:pPr>
            <a:r>
              <a:rPr sz="1250" b="1" i="0" lang="ko-KR" altLang="en-US">
                <a:solidFill>
                  <a:srgbClr val="EA7A28"/>
                </a:solidFill>
                <a:latin typeface="맑은 고딕"/>
                <a:ea typeface="맑은 고딕"/>
                <a:cs typeface="맑은 고딕"/>
              </a:rPr>
              <a:t>단계 모형: 응용 융합</a:t>
            </a:r>
          </a:p>
        </p:txBody>
      </p:sp>
      <p:sp>
        <p:nvSpPr>
          <p:cNvPr id="19" name="Rounded Rectangle 18"/>
          <p:cNvSpPr/>
          <p:nvPr/>
        </p:nvSpPr>
        <p:spPr>
          <a:xfrm>
            <a:off x="540000" y="3636000"/>
            <a:ext cx="11112120" cy="165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0" name="TextBox 19"/>
          <p:cNvSpPr txBox="1"/>
          <p:nvPr/>
        </p:nvSpPr>
        <p:spPr>
          <a:xfrm>
            <a:off x="756000" y="3726000"/>
            <a:ext cx="360000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하이브리드 본딩의 실제 전개</a:t>
            </a:r>
          </a:p>
        </p:txBody>
      </p:sp>
      <p:sp>
        <p:nvSpPr>
          <p:cNvPr id="21" name="Rounded Rectangle 20"/>
          <p:cNvSpPr/>
          <p:nvPr/>
        </p:nvSpPr>
        <p:spPr>
          <a:xfrm>
            <a:off x="756000" y="4086000"/>
            <a:ext cx="1188000" cy="378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500"/>
              </a:lnSpc>
              <a:spcBef>
                <a:spcPts val="0"/>
              </a:spcBef>
              <a:spcAft>
                <a:spcPts val="0"/>
              </a:spcAft>
              <a:buNone/>
            </a:pPr>
            <a:r>
              <a:rPr sz="1250" b="1" i="0" lang="ko-KR" altLang="en-US">
                <a:solidFill>
                  <a:srgbClr val="FFFFFF"/>
                </a:solidFill>
                <a:latin typeface="맑은 고딕"/>
                <a:ea typeface="맑은 고딕"/>
                <a:cs typeface="맑은 고딕"/>
              </a:rPr>
              <a:t>적용 범위</a:t>
            </a:r>
          </a:p>
        </p:txBody>
      </p:sp>
      <p:sp>
        <p:nvSpPr>
          <p:cNvPr id="22" name="TextBox 21"/>
          <p:cNvSpPr txBox="1"/>
          <p:nvPr/>
        </p:nvSpPr>
        <p:spPr>
          <a:xfrm>
            <a:off x="2088000" y="4086000"/>
            <a:ext cx="4176000" cy="378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웨이퍼 단위(W2W): CMOS 이미지센서 · 3D NAND</a:t>
            </a:r>
          </a:p>
        </p:txBody>
      </p:sp>
      <p:cxnSp>
        <p:nvCxnSpPr>
          <p:cNvPr id="23" name="Connector 22"/>
          <p:cNvCxnSpPr/>
          <p:nvPr/>
        </p:nvCxnSpPr>
        <p:spPr>
          <a:xfrm>
            <a:off x="6336000" y="4273200"/>
            <a:ext cx="540000" cy="0"/>
          </a:xfrm>
          <a:prstGeom prst="line">
            <a:avLst/>
          </a:prstGeom>
          <a:ln w="25400">
            <a:solidFill>
              <a:srgbClr val="13294B"/>
            </a:solidFill>
            <a:tailEnd type="triangle" w="med" len="med"/>
          </a:ln>
        </p:spPr>
      </p:cxnSp>
      <p:sp>
        <p:nvSpPr>
          <p:cNvPr id="24" name="TextBox 23"/>
          <p:cNvSpPr txBox="1"/>
          <p:nvPr/>
        </p:nvSpPr>
        <p:spPr>
          <a:xfrm>
            <a:off x="7020000" y="4086000"/>
            <a:ext cx="4536000" cy="378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1" i="0" lang="ko-KR" altLang="en-US">
                <a:solidFill>
                  <a:srgbClr val="1E2532"/>
                </a:solidFill>
                <a:latin typeface="맑은 고딕"/>
                <a:ea typeface="맑은 고딕"/>
                <a:cs typeface="맑은 고딕"/>
              </a:rPr>
              <a:t>다이 단위(D2W): HBM · 칩렛 · 3D 로직</a:t>
            </a:r>
          </a:p>
        </p:txBody>
      </p:sp>
      <p:sp>
        <p:nvSpPr>
          <p:cNvPr id="25" name="Rounded Rectangle 24"/>
          <p:cNvSpPr/>
          <p:nvPr/>
        </p:nvSpPr>
        <p:spPr>
          <a:xfrm>
            <a:off x="756000" y="4644000"/>
            <a:ext cx="1188000" cy="378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500"/>
              </a:lnSpc>
              <a:spcBef>
                <a:spcPts val="0"/>
              </a:spcBef>
              <a:spcAft>
                <a:spcPts val="0"/>
              </a:spcAft>
              <a:buNone/>
            </a:pPr>
            <a:r>
              <a:rPr sz="1250" b="1" i="0" lang="ko-KR" altLang="en-US">
                <a:solidFill>
                  <a:srgbClr val="FFFFFF"/>
                </a:solidFill>
                <a:latin typeface="맑은 고딕"/>
                <a:ea typeface="맑은 고딕"/>
                <a:cs typeface="맑은 고딕"/>
              </a:rPr>
              <a:t>발명의 중심</a:t>
            </a:r>
          </a:p>
        </p:txBody>
      </p:sp>
      <p:sp>
        <p:nvSpPr>
          <p:cNvPr id="26" name="TextBox 25"/>
          <p:cNvSpPr txBox="1"/>
          <p:nvPr/>
        </p:nvSpPr>
        <p:spPr>
          <a:xfrm>
            <a:off x="2088000" y="4644000"/>
            <a:ext cx="4176000" cy="378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표면 준비 · 저온 어닐링 · 평탄화 (공정)</a:t>
            </a:r>
          </a:p>
        </p:txBody>
      </p:sp>
      <p:cxnSp>
        <p:nvCxnSpPr>
          <p:cNvPr id="27" name="Connector 26"/>
          <p:cNvCxnSpPr/>
          <p:nvPr/>
        </p:nvCxnSpPr>
        <p:spPr>
          <a:xfrm>
            <a:off x="6336000" y="4831200"/>
            <a:ext cx="540000" cy="0"/>
          </a:xfrm>
          <a:prstGeom prst="line">
            <a:avLst/>
          </a:prstGeom>
          <a:ln w="25400">
            <a:solidFill>
              <a:srgbClr val="13294B"/>
            </a:solidFill>
            <a:tailEnd type="triangle" w="med" len="med"/>
          </a:ln>
        </p:spPr>
      </p:cxnSp>
      <p:sp>
        <p:nvSpPr>
          <p:cNvPr id="28" name="TextBox 27"/>
          <p:cNvSpPr txBox="1"/>
          <p:nvPr/>
        </p:nvSpPr>
        <p:spPr>
          <a:xfrm>
            <a:off x="7020000" y="4644000"/>
            <a:ext cx="4536000" cy="378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1" i="0" lang="ko-KR" altLang="en-US">
                <a:solidFill>
                  <a:srgbClr val="1E2532"/>
                </a:solidFill>
                <a:latin typeface="맑은 고딕"/>
                <a:ea typeface="맑은 고딕"/>
                <a:cs typeface="맑은 고딕"/>
              </a:rPr>
              <a:t>접합 구조 · 적층</a:t>
            </a:r>
          </a:p>
        </p:txBody>
      </p:sp>
      <p:sp>
        <p:nvSpPr>
          <p:cNvPr id="29" name="Source"/>
          <p:cNvSpPr txBox="1"/>
          <p:nvPr/>
        </p:nvSpPr>
        <p:spPr>
          <a:xfrm>
            <a:off x="540000" y="5418000"/>
            <a:ext cx="11112120" cy="180000"/>
          </a:xfrm>
          <a:prstGeom prst="rect">
            <a:avLst/>
          </a:prstGeom>
          <a:noFill/>
        </p:spPr>
        <p:txBody>
          <a:bodyPr wrap="square" lIns="0" rIns="0" tIns="0" bIns="0" anchor="ctr">
            <a:noAutofit/>
          </a:bodyPr>
          <a:lstStyle/>
          <a:p>
            <a:pPr algn="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Hacklin et al. (2009, 2010); Anderson &amp; Tushman (1990); Jeong et al. (2015); Yun &amp; Geum (2019); Lau (2021, 2022)</a:t>
            </a:r>
          </a:p>
        </p:txBody>
      </p:sp>
      <p:sp>
        <p:nvSpPr>
          <p:cNvPr id="30" name="Research question"/>
          <p:cNvSpPr/>
          <p:nvPr/>
        </p:nvSpPr>
        <p:spPr>
          <a:xfrm>
            <a:off x="540000" y="5706000"/>
            <a:ext cx="11112120" cy="738000"/>
          </a:xfrm>
          <a:prstGeom prst="roundRect">
            <a:avLst>
              <a:gd name="adj" fmla="val 18000"/>
            </a:avLst>
          </a:prstGeom>
          <a:solidFill>
            <a:srgbClr val="13294B"/>
          </a:solidFill>
          <a:ln>
            <a:noFill/>
          </a:ln>
        </p:spPr>
        <p:txBody>
          <a:bodyPr rtlCol="0" anchor="ctr" lIns="36000" rIns="36000" tIns="36000" bIns="36000"/>
          <a:lstStyle/>
          <a:p>
            <a:pPr algn="ctr"/>
          </a:p>
        </p:txBody>
      </p:sp>
      <p:sp>
        <p:nvSpPr>
          <p:cNvPr id="31" name="Rounded Rectangle 30"/>
          <p:cNvSpPr/>
          <p:nvPr/>
        </p:nvSpPr>
        <p:spPr>
          <a:xfrm>
            <a:off x="702000" y="5914800"/>
            <a:ext cx="864000" cy="324000"/>
          </a:xfrm>
          <a:prstGeom prst="roundRect">
            <a:avLst>
              <a:gd name="adj" fmla="val 50000"/>
            </a:avLst>
          </a:prstGeom>
          <a:solidFill>
            <a:srgbClr val="D4A72C"/>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RQ2</a:t>
            </a:r>
          </a:p>
        </p:txBody>
      </p:sp>
      <p:sp>
        <p:nvSpPr>
          <p:cNvPr id="32" name="TextBox 31"/>
          <p:cNvSpPr txBox="1"/>
          <p:nvPr/>
        </p:nvSpPr>
        <p:spPr>
          <a:xfrm>
            <a:off x="1692000" y="5706000"/>
            <a:ext cx="9816120" cy="738000"/>
          </a:xfrm>
          <a:prstGeom prst="rect">
            <a:avLst/>
          </a:prstGeom>
          <a:noFill/>
        </p:spPr>
        <p:txBody>
          <a:bodyPr wrap="square" lIns="0" rIns="0" tIns="0" bIns="0" anchor="ctr">
            <a:noAutofit/>
          </a:bodyPr>
          <a:lstStyle/>
          <a:p>
            <a:pPr algn="l" marL="0" indent="0">
              <a:lnSpc>
                <a:spcPts val="2110"/>
              </a:lnSpc>
              <a:spcBef>
                <a:spcPts val="0"/>
              </a:spcBef>
              <a:spcAft>
                <a:spcPts val="0"/>
              </a:spcAft>
              <a:buNone/>
            </a:pPr>
            <a:r>
              <a:rPr sz="1600" b="1" i="0" lang="ko-KR" altLang="en-US">
                <a:solidFill>
                  <a:srgbClr val="FFFFFF"/>
                </a:solidFill>
                <a:latin typeface="맑은 고딕"/>
                <a:ea typeface="맑은 고딕"/>
                <a:cs typeface="맑은 고딕"/>
              </a:rPr>
              <a:t>공정 단계 간 기술융합은 시간에 따라 어떻게 변화해 왔는가?</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3.1  </a:t>
            </a:r>
            <a:r>
              <a:rPr sz="2200" b="1" i="0" lang="ko-KR" altLang="en-US">
                <a:solidFill>
                  <a:srgbClr val="13294B"/>
                </a:solidFill>
                <a:latin typeface="맑은 고딕"/>
                <a:ea typeface="맑은 고딕"/>
                <a:cs typeface="맑은 고딕"/>
              </a:rPr>
              <a:t>RQ3) 공정 단계 간 융합의 구조적 중심 변화</a:t>
            </a:r>
          </a:p>
        </p:txBody>
      </p:sp>
      <p:sp>
        <p:nvSpPr>
          <p:cNvPr id="3" name="Rounded Rectangle 2"/>
          <p:cNvSpPr/>
          <p:nvPr/>
        </p:nvSpPr>
        <p:spPr>
          <a:xfrm>
            <a:off x="540000" y="990000"/>
            <a:ext cx="5256000" cy="385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4" name="TextBox 3"/>
          <p:cNvSpPr txBox="1"/>
          <p:nvPr/>
        </p:nvSpPr>
        <p:spPr>
          <a:xfrm>
            <a:off x="720000" y="1098000"/>
            <a:ext cx="4896000" cy="324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인터페이스가 확정되기 전</a:t>
            </a:r>
            <a:r>
              <a:rPr sz="1250" b="0" i="0" lang="ko-KR" altLang="en-US">
                <a:solidFill>
                  <a:srgbClr val="5B6475"/>
                </a:solidFill>
                <a:latin typeface="맑은 고딕"/>
                <a:ea typeface="맑은 고딕"/>
                <a:cs typeface="맑은 고딕"/>
              </a:rPr>
              <a:t>  (격동기)</a:t>
            </a:r>
          </a:p>
        </p:txBody>
      </p:sp>
      <p:cxnSp>
        <p:nvCxnSpPr>
          <p:cNvPr id="5" name="Connector 4"/>
          <p:cNvCxnSpPr/>
          <p:nvPr/>
        </p:nvCxnSpPr>
        <p:spPr>
          <a:xfrm flipH="1" flipV="1">
            <a:off x="1620000" y="2178000"/>
            <a:ext cx="1368000" cy="828000"/>
          </a:xfrm>
          <a:prstGeom prst="line">
            <a:avLst/>
          </a:prstGeom>
          <a:ln w="76200">
            <a:solidFill>
              <a:srgbClr val="2563C9"/>
            </a:solidFill>
          </a:ln>
        </p:spPr>
      </p:cxnSp>
      <p:sp>
        <p:nvSpPr>
          <p:cNvPr id="6" name="Rounded Rectangle 5"/>
          <p:cNvSpPr/>
          <p:nvPr/>
        </p:nvSpPr>
        <p:spPr>
          <a:xfrm>
            <a:off x="648000" y="1674000"/>
            <a:ext cx="1872000" cy="720000"/>
          </a:xfrm>
          <a:prstGeom prst="roundRect">
            <a:avLst>
              <a:gd name="adj" fmla="val 18000"/>
            </a:avLst>
          </a:prstGeom>
          <a:solidFill>
            <a:srgbClr val="E3ECFB"/>
          </a:solidFill>
          <a:ln w="22225">
            <a:solidFill>
              <a:srgbClr val="2563C9"/>
            </a:solidFill>
          </a:ln>
        </p:spPr>
        <p:txBody>
          <a:bodyPr rtlCol="0" anchor="ctr" lIns="54000" rIns="54000" tIns="18000" bIns="18000" wrap="square">
            <a:noAutofit/>
          </a:bodyPr>
          <a:lstStyle/>
          <a:p>
            <a:pPr algn="ctr" marL="0" indent="0">
              <a:lnSpc>
                <a:spcPts val="1680"/>
              </a:lnSpc>
              <a:spcBef>
                <a:spcPts val="0"/>
              </a:spcBef>
              <a:spcAft>
                <a:spcPts val="0"/>
              </a:spcAft>
              <a:buNone/>
            </a:pPr>
            <a:r>
              <a:rPr sz="1400" b="1" i="0" lang="ko-KR" altLang="en-US">
                <a:solidFill>
                  <a:srgbClr val="2563C9"/>
                </a:solidFill>
                <a:latin typeface="맑은 고딕"/>
                <a:ea typeface="맑은 고딕"/>
                <a:cs typeface="맑은 고딕"/>
              </a:rPr>
              <a:t>제조공정 지식</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평탄화 · 웨이퍼 접합</a:t>
            </a:r>
          </a:p>
        </p:txBody>
      </p:sp>
      <p:sp>
        <p:nvSpPr>
          <p:cNvPr id="7" name="TextBox 6"/>
          <p:cNvSpPr txBox="1"/>
          <p:nvPr/>
        </p:nvSpPr>
        <p:spPr>
          <a:xfrm>
            <a:off x="720000" y="4086000"/>
            <a:ext cx="4896000" cy="648000"/>
          </a:xfrm>
          <a:prstGeom prst="rect">
            <a:avLst/>
          </a:prstGeom>
          <a:noFill/>
        </p:spPr>
        <p:txBody>
          <a:bodyPr wrap="square" lIns="0" rIns="0" tIns="0" bIns="0" anchor="ctr">
            <a:noAutofit/>
          </a:bodyPr>
          <a:lstStyle/>
          <a:p>
            <a:pPr algn="ctr" marL="0" indent="0">
              <a:lnSpc>
                <a:spcPts val="1620"/>
              </a:lnSpc>
              <a:spcBef>
                <a:spcPts val="0"/>
              </a:spcBef>
              <a:spcAft>
                <a:spcPts val="0"/>
              </a:spcAft>
              <a:buNone/>
            </a:pPr>
            <a:r>
              <a:rPr sz="1350" b="0" i="0" lang="ko-KR" altLang="en-US">
                <a:solidFill>
                  <a:srgbClr val="1E2532"/>
                </a:solidFill>
                <a:latin typeface="맑은 고딕"/>
                <a:ea typeface="맑은 고딕"/>
                <a:cs typeface="맑은 고딕"/>
              </a:rPr>
              <a:t>핵심 기술의 발명이 경계 반대편의 지식을</a:t>
            </a:r>
          </a:p>
          <a:p>
            <a:pPr algn="ctr" marL="0" indent="0">
              <a:lnSpc>
                <a:spcPts val="1620"/>
              </a:lnSpc>
              <a:spcBef>
                <a:spcPts val="0"/>
              </a:spcBef>
              <a:spcAft>
                <a:spcPts val="0"/>
              </a:spcAft>
              <a:buNone/>
            </a:pPr>
            <a:r>
              <a:rPr sz="1350" b="1" i="0" lang="ko-KR" altLang="en-US">
                <a:solidFill>
                  <a:srgbClr val="1E2532"/>
                </a:solidFill>
                <a:latin typeface="맑은 고딕"/>
                <a:ea typeface="맑은 고딕"/>
                <a:cs typeface="맑은 고딕"/>
              </a:rPr>
              <a:t>함께 다루어야 함</a:t>
            </a:r>
          </a:p>
        </p:txBody>
      </p:sp>
      <p:sp>
        <p:nvSpPr>
          <p:cNvPr id="8" name="Oval 7"/>
          <p:cNvSpPr/>
          <p:nvPr/>
        </p:nvSpPr>
        <p:spPr>
          <a:xfrm>
            <a:off x="2484000" y="2574000"/>
            <a:ext cx="1368000" cy="864000"/>
          </a:xfrm>
          <a:prstGeom prst="ellipse">
            <a:avLst/>
          </a:prstGeom>
          <a:solidFill>
            <a:srgbClr val="EA7A28"/>
          </a:solidFill>
          <a:ln>
            <a:noFill/>
          </a:ln>
        </p:spPr>
        <p:txBody>
          <a:bodyPr rtlCol="0" anchor="ctr" lIns="7200" rIns="7200" tIns="18000" bIns="18000" wrap="square">
            <a:noAutofit/>
          </a:bodyPr>
          <a:lstStyle/>
          <a:p>
            <a:pPr algn="ctr" marL="0" indent="0">
              <a:lnSpc>
                <a:spcPts val="1680"/>
              </a:lnSpc>
              <a:spcBef>
                <a:spcPts val="0"/>
              </a:spcBef>
              <a:spcAft>
                <a:spcPts val="0"/>
              </a:spcAft>
              <a:buNone/>
            </a:pPr>
            <a:r>
              <a:rPr sz="1400" b="1" i="0" lang="ko-KR" altLang="en-US">
                <a:solidFill>
                  <a:srgbClr val="FFFFFF"/>
                </a:solidFill>
                <a:latin typeface="맑은 고딕"/>
                <a:ea typeface="맑은 고딕"/>
                <a:cs typeface="맑은 고딕"/>
              </a:rPr>
              <a:t>핵심 기술</a:t>
            </a:r>
          </a:p>
          <a:p>
            <a:pPr algn="ctr" marL="0" indent="0">
              <a:lnSpc>
                <a:spcPts val="1200"/>
              </a:lnSpc>
              <a:spcBef>
                <a:spcPts val="0"/>
              </a:spcBef>
              <a:spcAft>
                <a:spcPts val="0"/>
              </a:spcAft>
              <a:buNone/>
            </a:pPr>
            <a:r>
              <a:rPr sz="1000" b="0" i="0" lang="ko-KR" altLang="en-US">
                <a:solidFill>
                  <a:srgbClr val="FFFFFF"/>
                </a:solidFill>
                <a:latin typeface="맑은 고딕"/>
                <a:ea typeface="맑은 고딕"/>
                <a:cs typeface="맑은 고딕"/>
              </a:rPr>
              <a:t>접합 패드 직접 연결</a:t>
            </a:r>
          </a:p>
        </p:txBody>
      </p:sp>
      <p:sp>
        <p:nvSpPr>
          <p:cNvPr id="9" name="Rounded Rectangle 8"/>
          <p:cNvSpPr/>
          <p:nvPr/>
        </p:nvSpPr>
        <p:spPr>
          <a:xfrm>
            <a:off x="6396120" y="990000"/>
            <a:ext cx="5256000" cy="385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0" name="TextBox 9"/>
          <p:cNvSpPr txBox="1"/>
          <p:nvPr/>
        </p:nvSpPr>
        <p:spPr>
          <a:xfrm>
            <a:off x="6576120" y="1098000"/>
            <a:ext cx="4896000" cy="324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핵심 설계가 고착화된 후</a:t>
            </a:r>
            <a:r>
              <a:rPr sz="1250" b="0" i="0" lang="ko-KR" altLang="en-US">
                <a:solidFill>
                  <a:srgbClr val="5B6475"/>
                </a:solidFill>
                <a:latin typeface="맑은 고딕"/>
                <a:ea typeface="맑은 고딕"/>
                <a:cs typeface="맑은 고딕"/>
              </a:rPr>
              <a:t>  (지배적 설계 이후)</a:t>
            </a:r>
          </a:p>
        </p:txBody>
      </p:sp>
      <p:cxnSp>
        <p:nvCxnSpPr>
          <p:cNvPr id="11" name="Connector 10"/>
          <p:cNvCxnSpPr/>
          <p:nvPr/>
        </p:nvCxnSpPr>
        <p:spPr>
          <a:xfrm flipH="1" flipV="1">
            <a:off x="7476120" y="2178000"/>
            <a:ext cx="1368000" cy="828000"/>
          </a:xfrm>
          <a:prstGeom prst="line">
            <a:avLst/>
          </a:prstGeom>
          <a:ln w="15875">
            <a:solidFill>
              <a:srgbClr val="9AA6B8"/>
            </a:solidFill>
            <a:prstDash val="dash"/>
          </a:ln>
        </p:spPr>
      </p:cxnSp>
      <p:sp>
        <p:nvSpPr>
          <p:cNvPr id="12" name="Rounded Rectangle 11"/>
          <p:cNvSpPr/>
          <p:nvPr/>
        </p:nvSpPr>
        <p:spPr>
          <a:xfrm>
            <a:off x="6504120" y="1674000"/>
            <a:ext cx="1872000" cy="720000"/>
          </a:xfrm>
          <a:prstGeom prst="roundRect">
            <a:avLst>
              <a:gd name="adj" fmla="val 18000"/>
            </a:avLst>
          </a:prstGeom>
          <a:solidFill>
            <a:srgbClr val="FFFFFF"/>
          </a:solidFill>
          <a:ln w="22225">
            <a:solidFill>
              <a:srgbClr val="9AA6B8"/>
            </a:solidFill>
          </a:ln>
        </p:spPr>
        <p:txBody>
          <a:bodyPr rtlCol="0" anchor="ctr" lIns="54000" rIns="54000" tIns="18000" bIns="18000" wrap="square">
            <a:noAutofit/>
          </a:bodyPr>
          <a:lstStyle/>
          <a:p>
            <a:pPr algn="ctr" marL="0" indent="0">
              <a:lnSpc>
                <a:spcPts val="1680"/>
              </a:lnSpc>
              <a:spcBef>
                <a:spcPts val="0"/>
              </a:spcBef>
              <a:spcAft>
                <a:spcPts val="0"/>
              </a:spcAft>
              <a:buNone/>
            </a:pPr>
            <a:r>
              <a:rPr sz="1400" b="1" i="0" lang="ko-KR" altLang="en-US">
                <a:solidFill>
                  <a:srgbClr val="5B6475"/>
                </a:solidFill>
                <a:latin typeface="맑은 고딕"/>
                <a:ea typeface="맑은 고딕"/>
                <a:cs typeface="맑은 고딕"/>
              </a:rPr>
              <a:t>제조공정 지식</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주어진 조건으로 전제</a:t>
            </a:r>
          </a:p>
        </p:txBody>
      </p:sp>
      <p:cxnSp>
        <p:nvCxnSpPr>
          <p:cNvPr id="13" name="Connector 12"/>
          <p:cNvCxnSpPr/>
          <p:nvPr/>
        </p:nvCxnSpPr>
        <p:spPr>
          <a:xfrm flipV="1">
            <a:off x="9600120" y="2070000"/>
            <a:ext cx="360000" cy="828000"/>
          </a:xfrm>
          <a:prstGeom prst="line">
            <a:avLst/>
          </a:prstGeom>
          <a:ln w="63500">
            <a:solidFill>
              <a:srgbClr val="10A39A"/>
            </a:solidFill>
          </a:ln>
        </p:spPr>
      </p:cxnSp>
      <p:sp>
        <p:nvSpPr>
          <p:cNvPr id="14" name="Rounded Rectangle 13"/>
          <p:cNvSpPr/>
          <p:nvPr/>
        </p:nvSpPr>
        <p:spPr>
          <a:xfrm>
            <a:off x="9960120" y="1728000"/>
            <a:ext cx="1764000" cy="684000"/>
          </a:xfrm>
          <a:prstGeom prst="roundRect">
            <a:avLst>
              <a:gd name="adj" fmla="val 18000"/>
            </a:avLst>
          </a:prstGeom>
          <a:solidFill>
            <a:srgbClr val="E2F5F3"/>
          </a:solidFill>
          <a:ln w="22225">
            <a:solidFill>
              <a:srgbClr val="10A39A"/>
            </a:solidFill>
          </a:ln>
        </p:spPr>
        <p:txBody>
          <a:bodyPr rtlCol="0" anchor="ctr" lIns="54000" rIns="54000" tIns="18000" bIns="18000" wrap="square">
            <a:noAutofit/>
          </a:bodyPr>
          <a:lstStyle/>
          <a:p>
            <a:pPr algn="ctr" marL="0" indent="0">
              <a:lnSpc>
                <a:spcPts val="1620"/>
              </a:lnSpc>
              <a:spcBef>
                <a:spcPts val="0"/>
              </a:spcBef>
              <a:spcAft>
                <a:spcPts val="0"/>
              </a:spcAft>
              <a:buNone/>
            </a:pPr>
            <a:r>
              <a:rPr sz="1350" b="1" i="0" lang="ko-KR" altLang="en-US">
                <a:solidFill>
                  <a:srgbClr val="10A39A"/>
                </a:solidFill>
                <a:latin typeface="맑은 고딕"/>
                <a:ea typeface="맑은 고딕"/>
                <a:cs typeface="맑은 고딕"/>
              </a:rPr>
              <a:t>다이 지지 · 적층</a:t>
            </a:r>
          </a:p>
          <a:p>
            <a:pPr algn="ctr" marL="0" indent="0">
              <a:lnSpc>
                <a:spcPts val="1260"/>
              </a:lnSpc>
              <a:spcBef>
                <a:spcPts val="0"/>
              </a:spcBef>
              <a:spcAft>
                <a:spcPts val="0"/>
              </a:spcAft>
              <a:buNone/>
            </a:pPr>
            <a:r>
              <a:rPr sz="1050" b="0" i="0" lang="ko-KR" altLang="en-US">
                <a:solidFill>
                  <a:srgbClr val="5B6475"/>
                </a:solidFill>
                <a:latin typeface="맑은 고딕"/>
                <a:ea typeface="맑은 고딕"/>
                <a:cs typeface="맑은 고딕"/>
              </a:rPr>
              <a:t>주변 공정</a:t>
            </a:r>
          </a:p>
        </p:txBody>
      </p:sp>
      <p:cxnSp>
        <p:nvCxnSpPr>
          <p:cNvPr id="15" name="Connector 14"/>
          <p:cNvCxnSpPr/>
          <p:nvPr/>
        </p:nvCxnSpPr>
        <p:spPr>
          <a:xfrm>
            <a:off x="9600120" y="3114000"/>
            <a:ext cx="360000" cy="756000"/>
          </a:xfrm>
          <a:prstGeom prst="line">
            <a:avLst/>
          </a:prstGeom>
          <a:ln w="63500">
            <a:solidFill>
              <a:srgbClr val="10A39A"/>
            </a:solidFill>
          </a:ln>
        </p:spPr>
      </p:cxnSp>
      <p:sp>
        <p:nvSpPr>
          <p:cNvPr id="16" name="Rounded Rectangle 15"/>
          <p:cNvSpPr/>
          <p:nvPr/>
        </p:nvSpPr>
        <p:spPr>
          <a:xfrm>
            <a:off x="9960120" y="3528000"/>
            <a:ext cx="1764000" cy="684000"/>
          </a:xfrm>
          <a:prstGeom prst="roundRect">
            <a:avLst>
              <a:gd name="adj" fmla="val 18000"/>
            </a:avLst>
          </a:prstGeom>
          <a:solidFill>
            <a:srgbClr val="E2F5F3"/>
          </a:solidFill>
          <a:ln w="22225">
            <a:solidFill>
              <a:srgbClr val="10A39A"/>
            </a:solidFill>
          </a:ln>
        </p:spPr>
        <p:txBody>
          <a:bodyPr rtlCol="0" anchor="ctr" lIns="54000" rIns="54000" tIns="18000" bIns="18000" wrap="square">
            <a:noAutofit/>
          </a:bodyPr>
          <a:lstStyle/>
          <a:p>
            <a:pPr algn="ctr" marL="0" indent="0">
              <a:lnSpc>
                <a:spcPts val="1620"/>
              </a:lnSpc>
              <a:spcBef>
                <a:spcPts val="0"/>
              </a:spcBef>
              <a:spcAft>
                <a:spcPts val="0"/>
              </a:spcAft>
              <a:buNone/>
            </a:pPr>
            <a:r>
              <a:rPr sz="1350" b="1" i="0" lang="ko-KR" altLang="en-US">
                <a:solidFill>
                  <a:srgbClr val="10A39A"/>
                </a:solidFill>
                <a:latin typeface="맑은 고딕"/>
                <a:ea typeface="맑은 고딕"/>
                <a:cs typeface="맑은 고딕"/>
              </a:rPr>
              <a:t>봉지 · 패키지 완성</a:t>
            </a:r>
          </a:p>
          <a:p>
            <a:pPr algn="ctr" marL="0" indent="0">
              <a:lnSpc>
                <a:spcPts val="1260"/>
              </a:lnSpc>
              <a:spcBef>
                <a:spcPts val="0"/>
              </a:spcBef>
              <a:spcAft>
                <a:spcPts val="0"/>
              </a:spcAft>
              <a:buNone/>
            </a:pPr>
            <a:r>
              <a:rPr sz="1050" b="0" i="0" lang="ko-KR" altLang="en-US">
                <a:solidFill>
                  <a:srgbClr val="5B6475"/>
                </a:solidFill>
                <a:latin typeface="맑은 고딕"/>
                <a:ea typeface="맑은 고딕"/>
                <a:cs typeface="맑은 고딕"/>
              </a:rPr>
              <a:t>주변 공정</a:t>
            </a:r>
          </a:p>
        </p:txBody>
      </p:sp>
      <p:sp>
        <p:nvSpPr>
          <p:cNvPr id="17" name="TextBox 16"/>
          <p:cNvSpPr txBox="1"/>
          <p:nvPr/>
        </p:nvSpPr>
        <p:spPr>
          <a:xfrm>
            <a:off x="6576120" y="4086000"/>
            <a:ext cx="4896000" cy="648000"/>
          </a:xfrm>
          <a:prstGeom prst="rect">
            <a:avLst/>
          </a:prstGeom>
          <a:noFill/>
        </p:spPr>
        <p:txBody>
          <a:bodyPr wrap="square" lIns="0" rIns="0" tIns="0" bIns="0" anchor="ctr">
            <a:noAutofit/>
          </a:bodyPr>
          <a:lstStyle/>
          <a:p>
            <a:pPr algn="ctr" marL="0" indent="0">
              <a:lnSpc>
                <a:spcPts val="1620"/>
              </a:lnSpc>
              <a:spcBef>
                <a:spcPts val="0"/>
              </a:spcBef>
              <a:spcAft>
                <a:spcPts val="0"/>
              </a:spcAft>
              <a:buNone/>
            </a:pPr>
            <a:r>
              <a:rPr sz="1350" b="0" i="0" lang="ko-KR" altLang="en-US">
                <a:solidFill>
                  <a:srgbClr val="1E2532"/>
                </a:solidFill>
                <a:latin typeface="맑은 고딕"/>
                <a:ea typeface="맑은 고딕"/>
                <a:cs typeface="맑은 고딕"/>
              </a:rPr>
              <a:t>새로운 결합은 핵심의 인터페이스를 전제로</a:t>
            </a:r>
          </a:p>
          <a:p>
            <a:pPr algn="ctr" marL="0" indent="0">
              <a:lnSpc>
                <a:spcPts val="1620"/>
              </a:lnSpc>
              <a:spcBef>
                <a:spcPts val="0"/>
              </a:spcBef>
              <a:spcAft>
                <a:spcPts val="0"/>
              </a:spcAft>
              <a:buNone/>
            </a:pPr>
            <a:r>
              <a:rPr sz="1350" b="1" i="0" lang="ko-KR" altLang="en-US">
                <a:solidFill>
                  <a:srgbClr val="1E2532"/>
                </a:solidFill>
                <a:latin typeface="맑은 고딕"/>
                <a:ea typeface="맑은 고딕"/>
                <a:cs typeface="맑은 고딕"/>
              </a:rPr>
              <a:t>주변 공정에서 일어남</a:t>
            </a:r>
          </a:p>
        </p:txBody>
      </p:sp>
      <p:sp>
        <p:nvSpPr>
          <p:cNvPr id="18" name="Oval 17"/>
          <p:cNvSpPr/>
          <p:nvPr/>
        </p:nvSpPr>
        <p:spPr>
          <a:xfrm>
            <a:off x="8340120" y="2574000"/>
            <a:ext cx="1368000" cy="864000"/>
          </a:xfrm>
          <a:prstGeom prst="ellipse">
            <a:avLst/>
          </a:prstGeom>
          <a:solidFill>
            <a:srgbClr val="EA7A28"/>
          </a:solidFill>
          <a:ln>
            <a:noFill/>
          </a:ln>
        </p:spPr>
        <p:txBody>
          <a:bodyPr rtlCol="0" anchor="ctr" lIns="7200" rIns="7200" tIns="18000" bIns="18000" wrap="square">
            <a:noAutofit/>
          </a:bodyPr>
          <a:lstStyle/>
          <a:p>
            <a:pPr algn="ctr" marL="0" indent="0">
              <a:lnSpc>
                <a:spcPts val="1680"/>
              </a:lnSpc>
              <a:spcBef>
                <a:spcPts val="0"/>
              </a:spcBef>
              <a:spcAft>
                <a:spcPts val="0"/>
              </a:spcAft>
              <a:buNone/>
            </a:pPr>
            <a:r>
              <a:rPr sz="1400" b="1" i="0" lang="ko-KR" altLang="en-US">
                <a:solidFill>
                  <a:srgbClr val="FFFFFF"/>
                </a:solidFill>
                <a:latin typeface="맑은 고딕"/>
                <a:ea typeface="맑은 고딕"/>
                <a:cs typeface="맑은 고딕"/>
              </a:rPr>
              <a:t>핵심 기술</a:t>
            </a:r>
          </a:p>
          <a:p>
            <a:pPr algn="ctr" marL="0" indent="0">
              <a:lnSpc>
                <a:spcPts val="1200"/>
              </a:lnSpc>
              <a:spcBef>
                <a:spcPts val="0"/>
              </a:spcBef>
              <a:spcAft>
                <a:spcPts val="0"/>
              </a:spcAft>
              <a:buNone/>
            </a:pPr>
            <a:r>
              <a:rPr sz="1000" b="0" i="0" lang="ko-KR" altLang="en-US">
                <a:solidFill>
                  <a:srgbClr val="FFFFFF"/>
                </a:solidFill>
                <a:latin typeface="맑은 고딕"/>
                <a:ea typeface="맑은 고딕"/>
                <a:cs typeface="맑은 고딕"/>
              </a:rPr>
              <a:t>접합 패드 직접 연결</a:t>
            </a:r>
          </a:p>
        </p:txBody>
      </p:sp>
      <p:sp>
        <p:nvSpPr>
          <p:cNvPr id="19" name="Right Arrow 18"/>
          <p:cNvSpPr/>
          <p:nvPr/>
        </p:nvSpPr>
        <p:spPr>
          <a:xfrm>
            <a:off x="5922000" y="2592000"/>
            <a:ext cx="348120" cy="648000"/>
          </a:xfrm>
          <a:prstGeom prst="rightArrow">
            <a:avLst/>
          </a:prstGeom>
          <a:solidFill>
            <a:srgbClr val="13294B"/>
          </a:solidFill>
          <a:ln>
            <a:noFill/>
          </a:ln>
        </p:spPr>
        <p:txBody>
          <a:bodyPr rtlCol="0" anchor="ctr" lIns="36000" rIns="36000" tIns="36000" bIns="36000"/>
          <a:lstStyle/>
          <a:p>
            <a:pPr algn="ctr"/>
          </a:p>
        </p:txBody>
      </p:sp>
      <p:sp>
        <p:nvSpPr>
          <p:cNvPr id="20" name="Source"/>
          <p:cNvSpPr txBox="1"/>
          <p:nvPr/>
        </p:nvSpPr>
        <p:spPr>
          <a:xfrm>
            <a:off x="540000" y="4950000"/>
            <a:ext cx="11112120" cy="180000"/>
          </a:xfrm>
          <a:prstGeom prst="rect">
            <a:avLst/>
          </a:prstGeom>
          <a:noFill/>
        </p:spPr>
        <p:txBody>
          <a:bodyPr wrap="square" lIns="0" rIns="0" tIns="0" bIns="0" anchor="ctr">
            <a:noAutofit/>
          </a:bodyPr>
          <a:lstStyle/>
          <a:p>
            <a:pPr algn="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Murmann &amp; Frenken (2006); Henderson &amp; Clark (1990); Brusoni et al. (2001); Anderson &amp; Tushman (1990)</a:t>
            </a:r>
          </a:p>
        </p:txBody>
      </p:sp>
      <p:sp>
        <p:nvSpPr>
          <p:cNvPr id="21" name="TextBox 20"/>
          <p:cNvSpPr txBox="1"/>
          <p:nvPr/>
        </p:nvSpPr>
        <p:spPr>
          <a:xfrm>
            <a:off x="540000" y="5148000"/>
            <a:ext cx="11112120" cy="468000"/>
          </a:xfrm>
          <a:prstGeom prst="rect">
            <a:avLst/>
          </a:prstGeom>
          <a:noFill/>
        </p:spPr>
        <p:txBody>
          <a:bodyPr wrap="square" lIns="0" rIns="0" tIns="0" bIns="0" anchor="ctr">
            <a:noAutofit/>
          </a:bodyPr>
          <a:lstStyle/>
          <a:p>
            <a:pPr algn="ctr" marL="0" indent="0">
              <a:lnSpc>
                <a:spcPts val="1720"/>
              </a:lnSpc>
              <a:spcBef>
                <a:spcPts val="0"/>
              </a:spcBef>
              <a:spcAft>
                <a:spcPts val="0"/>
              </a:spcAft>
              <a:buNone/>
            </a:pPr>
            <a:r>
              <a:rPr sz="1300" b="1" i="0" lang="ko-KR" altLang="en-US">
                <a:solidFill>
                  <a:srgbClr val="13294B"/>
                </a:solidFill>
                <a:latin typeface="맑은 고딕"/>
                <a:ea typeface="맑은 고딕"/>
                <a:cs typeface="맑은 고딕"/>
              </a:rPr>
              <a:t>기대: 핵심 기술을 포함한 발명이 제조공정 지식을 함께 포함하는 정도는 시기에 따라 줄고, 접합과 결합하는 제조공정의 중심은 웨이퍼 제조공정에서 주변 공정으로 이동할 것이다</a:t>
            </a:r>
          </a:p>
        </p:txBody>
      </p:sp>
      <p:sp>
        <p:nvSpPr>
          <p:cNvPr id="22" name="Research question"/>
          <p:cNvSpPr/>
          <p:nvPr/>
        </p:nvSpPr>
        <p:spPr>
          <a:xfrm>
            <a:off x="540000" y="5706000"/>
            <a:ext cx="11112120" cy="738000"/>
          </a:xfrm>
          <a:prstGeom prst="roundRect">
            <a:avLst>
              <a:gd name="adj" fmla="val 18000"/>
            </a:avLst>
          </a:prstGeom>
          <a:solidFill>
            <a:srgbClr val="13294B"/>
          </a:solidFill>
          <a:ln>
            <a:noFill/>
          </a:ln>
        </p:spPr>
        <p:txBody>
          <a:bodyPr rtlCol="0" anchor="ctr" lIns="36000" rIns="36000" tIns="36000" bIns="36000"/>
          <a:lstStyle/>
          <a:p>
            <a:pPr algn="ctr"/>
          </a:p>
        </p:txBody>
      </p:sp>
      <p:sp>
        <p:nvSpPr>
          <p:cNvPr id="23" name="Rounded Rectangle 22"/>
          <p:cNvSpPr/>
          <p:nvPr/>
        </p:nvSpPr>
        <p:spPr>
          <a:xfrm>
            <a:off x="702000" y="5914800"/>
            <a:ext cx="864000" cy="324000"/>
          </a:xfrm>
          <a:prstGeom prst="roundRect">
            <a:avLst>
              <a:gd name="adj" fmla="val 50000"/>
            </a:avLst>
          </a:prstGeom>
          <a:solidFill>
            <a:srgbClr val="D4A72C"/>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RQ3</a:t>
            </a:r>
          </a:p>
        </p:txBody>
      </p:sp>
      <p:sp>
        <p:nvSpPr>
          <p:cNvPr id="24" name="TextBox 23"/>
          <p:cNvSpPr txBox="1"/>
          <p:nvPr/>
        </p:nvSpPr>
        <p:spPr>
          <a:xfrm>
            <a:off x="1692000" y="5706000"/>
            <a:ext cx="9816120" cy="738000"/>
          </a:xfrm>
          <a:prstGeom prst="rect">
            <a:avLst/>
          </a:prstGeom>
          <a:noFill/>
        </p:spPr>
        <p:txBody>
          <a:bodyPr wrap="square" lIns="0" rIns="0" tIns="0" bIns="0" anchor="ctr">
            <a:noAutofit/>
          </a:bodyPr>
          <a:lstStyle/>
          <a:p>
            <a:pPr algn="l" marL="0" indent="0">
              <a:lnSpc>
                <a:spcPts val="2110"/>
              </a:lnSpc>
              <a:spcBef>
                <a:spcPts val="0"/>
              </a:spcBef>
              <a:spcAft>
                <a:spcPts val="0"/>
              </a:spcAft>
              <a:buNone/>
            </a:pPr>
            <a:r>
              <a:rPr sz="1600" b="1" i="0" lang="ko-KR" altLang="en-US">
                <a:solidFill>
                  <a:srgbClr val="FFFFFF"/>
                </a:solidFill>
                <a:latin typeface="맑은 고딕"/>
                <a:ea typeface="맑은 고딕"/>
                <a:cs typeface="맑은 고딕"/>
              </a:rPr>
              <a:t>공정 단계 간 기술융합의 중심이 핵심 기술과 주변 기술 사이에서 시기에 따라 어떻게 재편되는가?</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3.2  </a:t>
            </a:r>
            <a:r>
              <a:rPr sz="2200" b="1" i="0" lang="ko-KR" altLang="en-US">
                <a:solidFill>
                  <a:srgbClr val="13294B"/>
                </a:solidFill>
                <a:latin typeface="맑은 고딕"/>
                <a:ea typeface="맑은 고딕"/>
                <a:cs typeface="맑은 고딕"/>
              </a:rPr>
              <a:t>분석 대상: 하이브리드 본딩 기술과 산업</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하이브리드 본딩은 기술적 · 산업적으로 두 공정 단계에 걸쳐 있다</a:t>
            </a:r>
          </a:p>
        </p:txBody>
      </p:sp>
      <p:sp>
        <p:nvSpPr>
          <p:cNvPr id="4" name="Rounded Rectangle 3"/>
          <p:cNvSpPr/>
          <p:nvPr/>
        </p:nvSpPr>
        <p:spPr>
          <a:xfrm>
            <a:off x="540000" y="936000"/>
            <a:ext cx="5364000" cy="990000"/>
          </a:xfrm>
          <a:prstGeom prst="roundRect">
            <a:avLst>
              <a:gd name="adj" fmla="val 6000"/>
            </a:avLst>
          </a:prstGeom>
          <a:solidFill>
            <a:srgbClr val="E3ECFB"/>
          </a:solidFill>
          <a:ln>
            <a:noFill/>
          </a:ln>
        </p:spPr>
        <p:txBody>
          <a:bodyPr rtlCol="0" anchor="ctr" lIns="36000" rIns="36000" tIns="36000" bIns="36000"/>
          <a:lstStyle/>
          <a:p>
            <a:pPr algn="ctr"/>
          </a:p>
        </p:txBody>
      </p:sp>
      <p:sp>
        <p:nvSpPr>
          <p:cNvPr id="5" name="TextBox 4"/>
          <p:cNvSpPr txBox="1"/>
          <p:nvPr/>
        </p:nvSpPr>
        <p:spPr>
          <a:xfrm>
            <a:off x="666000" y="979200"/>
            <a:ext cx="2160000" cy="288000"/>
          </a:xfrm>
          <a:prstGeom prst="rect">
            <a:avLst/>
          </a:prstGeom>
          <a:noFill/>
        </p:spPr>
        <p:txBody>
          <a:bodyPr wrap="square" lIns="0" rIns="0" tIns="0" bIns="0" anchor="ctr">
            <a:noAutofit/>
          </a:bodyPr>
          <a:lstStyle/>
          <a:p>
            <a:pPr algn="l" marL="0" indent="0">
              <a:lnSpc>
                <a:spcPts val="1739"/>
              </a:lnSpc>
              <a:spcBef>
                <a:spcPts val="0"/>
              </a:spcBef>
              <a:spcAft>
                <a:spcPts val="0"/>
              </a:spcAft>
              <a:buNone/>
            </a:pPr>
            <a:r>
              <a:rPr sz="1450" b="1" i="0" lang="ko-KR" altLang="en-US">
                <a:solidFill>
                  <a:srgbClr val="2563C9"/>
                </a:solidFill>
                <a:latin typeface="맑은 고딕"/>
                <a:ea typeface="맑은 고딕"/>
                <a:cs typeface="맑은 고딕"/>
              </a:rPr>
              <a:t>기반 공정</a:t>
            </a:r>
            <a:r>
              <a:rPr sz="1100" b="0" i="0" lang="ko-KR" altLang="en-US">
                <a:solidFill>
                  <a:srgbClr val="5B6475"/>
                </a:solidFill>
                <a:latin typeface="맑은 고딕"/>
                <a:ea typeface="맑은 고딕"/>
                <a:cs typeface="맑은 고딕"/>
              </a:rPr>
              <a:t>  CPC H01L21</a:t>
            </a:r>
          </a:p>
        </p:txBody>
      </p:sp>
      <p:sp>
        <p:nvSpPr>
          <p:cNvPr id="6" name="Rounded Rectangle 5"/>
          <p:cNvSpPr/>
          <p:nvPr/>
        </p:nvSpPr>
        <p:spPr>
          <a:xfrm>
            <a:off x="666000" y="1314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CMP 평탄화</a:t>
            </a:r>
          </a:p>
        </p:txBody>
      </p:sp>
      <p:sp>
        <p:nvSpPr>
          <p:cNvPr id="7" name="Rounded Rectangle 6"/>
          <p:cNvSpPr/>
          <p:nvPr/>
        </p:nvSpPr>
        <p:spPr>
          <a:xfrm>
            <a:off x="1702800" y="1314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세정·오염 제어</a:t>
            </a:r>
          </a:p>
        </p:txBody>
      </p:sp>
      <p:sp>
        <p:nvSpPr>
          <p:cNvPr id="8" name="Rounded Rectangle 7"/>
          <p:cNvSpPr/>
          <p:nvPr/>
        </p:nvSpPr>
        <p:spPr>
          <a:xfrm>
            <a:off x="2739600" y="1314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표면 활성화</a:t>
            </a:r>
          </a:p>
        </p:txBody>
      </p:sp>
      <p:sp>
        <p:nvSpPr>
          <p:cNvPr id="9" name="Rounded Rectangle 8"/>
          <p:cNvSpPr/>
          <p:nvPr/>
        </p:nvSpPr>
        <p:spPr>
          <a:xfrm>
            <a:off x="3776400" y="1314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정렬</a:t>
            </a:r>
          </a:p>
        </p:txBody>
      </p:sp>
      <p:sp>
        <p:nvSpPr>
          <p:cNvPr id="10" name="Rounded Rectangle 9"/>
          <p:cNvSpPr/>
          <p:nvPr/>
        </p:nvSpPr>
        <p:spPr>
          <a:xfrm>
            <a:off x="4813200" y="1314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저온 어닐링</a:t>
            </a:r>
          </a:p>
        </p:txBody>
      </p:sp>
      <p:sp>
        <p:nvSpPr>
          <p:cNvPr id="11" name="TextBox 10"/>
          <p:cNvSpPr txBox="1"/>
          <p:nvPr/>
        </p:nvSpPr>
        <p:spPr>
          <a:xfrm>
            <a:off x="540000" y="1915200"/>
            <a:ext cx="5364000" cy="234000"/>
          </a:xfrm>
          <a:prstGeom prst="rect">
            <a:avLst/>
          </a:prstGeom>
          <a:noFill/>
        </p:spPr>
        <p:txBody>
          <a:bodyPr wrap="square" lIns="0" rIns="0" tIns="0" bIns="0" anchor="ctr">
            <a:noAutofit/>
          </a:bodyPr>
          <a:lstStyle/>
          <a:p>
            <a:pPr algn="ct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a:t>
            </a:r>
          </a:p>
        </p:txBody>
      </p:sp>
      <p:sp>
        <p:nvSpPr>
          <p:cNvPr id="12" name="Rounded Rectangle 11"/>
          <p:cNvSpPr/>
          <p:nvPr/>
        </p:nvSpPr>
        <p:spPr>
          <a:xfrm>
            <a:off x="540000" y="2142000"/>
            <a:ext cx="5364000" cy="990000"/>
          </a:xfrm>
          <a:prstGeom prst="roundRect">
            <a:avLst>
              <a:gd name="adj" fmla="val 6000"/>
            </a:avLst>
          </a:prstGeom>
          <a:solidFill>
            <a:srgbClr val="FDEBDD"/>
          </a:solidFill>
          <a:ln>
            <a:noFill/>
          </a:ln>
        </p:spPr>
        <p:txBody>
          <a:bodyPr rtlCol="0" anchor="ctr" lIns="36000" rIns="36000" tIns="36000" bIns="36000"/>
          <a:lstStyle/>
          <a:p>
            <a:pPr algn="ctr"/>
          </a:p>
        </p:txBody>
      </p:sp>
      <p:sp>
        <p:nvSpPr>
          <p:cNvPr id="13" name="TextBox 12"/>
          <p:cNvSpPr txBox="1"/>
          <p:nvPr/>
        </p:nvSpPr>
        <p:spPr>
          <a:xfrm>
            <a:off x="666000" y="2185200"/>
            <a:ext cx="2160000" cy="288000"/>
          </a:xfrm>
          <a:prstGeom prst="rect">
            <a:avLst/>
          </a:prstGeom>
          <a:noFill/>
        </p:spPr>
        <p:txBody>
          <a:bodyPr wrap="square" lIns="0" rIns="0" tIns="0" bIns="0" anchor="ctr">
            <a:noAutofit/>
          </a:bodyPr>
          <a:lstStyle/>
          <a:p>
            <a:pPr algn="l" marL="0" indent="0">
              <a:lnSpc>
                <a:spcPts val="1739"/>
              </a:lnSpc>
              <a:spcBef>
                <a:spcPts val="0"/>
              </a:spcBef>
              <a:spcAft>
                <a:spcPts val="0"/>
              </a:spcAft>
              <a:buNone/>
            </a:pPr>
            <a:r>
              <a:rPr sz="1450" b="1" i="0" lang="ko-KR" altLang="en-US">
                <a:solidFill>
                  <a:srgbClr val="EA7A28"/>
                </a:solidFill>
                <a:latin typeface="맑은 고딕"/>
                <a:ea typeface="맑은 고딕"/>
                <a:cs typeface="맑은 고딕"/>
              </a:rPr>
              <a:t>접합 형태</a:t>
            </a:r>
            <a:r>
              <a:rPr sz="1100" b="0" i="0" lang="ko-KR" altLang="en-US">
                <a:solidFill>
                  <a:srgbClr val="5B6475"/>
                </a:solidFill>
                <a:latin typeface="맑은 고딕"/>
                <a:ea typeface="맑은 고딕"/>
                <a:cs typeface="맑은 고딕"/>
              </a:rPr>
              <a:t>  CPC H01L24</a:t>
            </a:r>
          </a:p>
        </p:txBody>
      </p:sp>
      <p:sp>
        <p:nvSpPr>
          <p:cNvPr id="14" name="Rounded Rectangle 13"/>
          <p:cNvSpPr/>
          <p:nvPr/>
        </p:nvSpPr>
        <p:spPr>
          <a:xfrm>
            <a:off x="666000" y="2520000"/>
            <a:ext cx="16560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W2W</a:t>
            </a:r>
          </a:p>
        </p:txBody>
      </p:sp>
      <p:sp>
        <p:nvSpPr>
          <p:cNvPr id="15" name="Rounded Rectangle 14"/>
          <p:cNvSpPr/>
          <p:nvPr/>
        </p:nvSpPr>
        <p:spPr>
          <a:xfrm>
            <a:off x="2394000" y="2520000"/>
            <a:ext cx="16560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D2W</a:t>
            </a:r>
          </a:p>
        </p:txBody>
      </p:sp>
      <p:sp>
        <p:nvSpPr>
          <p:cNvPr id="16" name="Rounded Rectangle 15"/>
          <p:cNvSpPr/>
          <p:nvPr/>
        </p:nvSpPr>
        <p:spPr>
          <a:xfrm>
            <a:off x="4122000" y="2520000"/>
            <a:ext cx="16560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D2D</a:t>
            </a:r>
          </a:p>
        </p:txBody>
      </p:sp>
      <p:sp>
        <p:nvSpPr>
          <p:cNvPr id="17" name="TextBox 16"/>
          <p:cNvSpPr txBox="1"/>
          <p:nvPr/>
        </p:nvSpPr>
        <p:spPr>
          <a:xfrm>
            <a:off x="540000" y="3121200"/>
            <a:ext cx="5364000" cy="234000"/>
          </a:xfrm>
          <a:prstGeom prst="rect">
            <a:avLst/>
          </a:prstGeom>
          <a:noFill/>
        </p:spPr>
        <p:txBody>
          <a:bodyPr wrap="square" lIns="0" rIns="0" tIns="0" bIns="0" anchor="ctr">
            <a:noAutofit/>
          </a:bodyPr>
          <a:lstStyle/>
          <a:p>
            <a:pPr algn="ct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a:t>
            </a:r>
          </a:p>
        </p:txBody>
      </p:sp>
      <p:sp>
        <p:nvSpPr>
          <p:cNvPr id="18" name="Rounded Rectangle 17"/>
          <p:cNvSpPr/>
          <p:nvPr/>
        </p:nvSpPr>
        <p:spPr>
          <a:xfrm>
            <a:off x="540000" y="3348000"/>
            <a:ext cx="5364000" cy="990000"/>
          </a:xfrm>
          <a:prstGeom prst="roundRect">
            <a:avLst>
              <a:gd name="adj" fmla="val 6000"/>
            </a:avLst>
          </a:prstGeom>
          <a:solidFill>
            <a:srgbClr val="E8EEF7"/>
          </a:solidFill>
          <a:ln>
            <a:noFill/>
          </a:ln>
        </p:spPr>
        <p:txBody>
          <a:bodyPr rtlCol="0" anchor="ctr" lIns="36000" rIns="36000" tIns="36000" bIns="36000"/>
          <a:lstStyle/>
          <a:p>
            <a:pPr algn="ctr"/>
          </a:p>
        </p:txBody>
      </p:sp>
      <p:sp>
        <p:nvSpPr>
          <p:cNvPr id="19" name="TextBox 18"/>
          <p:cNvSpPr txBox="1"/>
          <p:nvPr/>
        </p:nvSpPr>
        <p:spPr>
          <a:xfrm>
            <a:off x="666000" y="3391200"/>
            <a:ext cx="2160000" cy="288000"/>
          </a:xfrm>
          <a:prstGeom prst="rect">
            <a:avLst/>
          </a:prstGeom>
          <a:noFill/>
        </p:spPr>
        <p:txBody>
          <a:bodyPr wrap="square" lIns="0" rIns="0" tIns="0" bIns="0" anchor="ctr">
            <a:noAutofit/>
          </a:bodyPr>
          <a:lstStyle/>
          <a:p>
            <a:pPr algn="l"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소자 구조</a:t>
            </a:r>
            <a:r>
              <a:rPr sz="1100" b="0" i="0" lang="ko-KR" altLang="en-US">
                <a:solidFill>
                  <a:srgbClr val="5B6475"/>
                </a:solidFill>
                <a:latin typeface="맑은 고딕"/>
                <a:ea typeface="맑은 고딕"/>
                <a:cs typeface="맑은 고딕"/>
              </a:rPr>
              <a:t/>
            </a:r>
          </a:p>
        </p:txBody>
      </p:sp>
      <p:sp>
        <p:nvSpPr>
          <p:cNvPr id="20" name="Rounded Rectangle 19"/>
          <p:cNvSpPr/>
          <p:nvPr/>
        </p:nvSpPr>
        <p:spPr>
          <a:xfrm>
            <a:off x="666000" y="3726000"/>
            <a:ext cx="16560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적층 다이</a:t>
            </a:r>
          </a:p>
        </p:txBody>
      </p:sp>
      <p:sp>
        <p:nvSpPr>
          <p:cNvPr id="21" name="Rounded Rectangle 20"/>
          <p:cNvSpPr/>
          <p:nvPr/>
        </p:nvSpPr>
        <p:spPr>
          <a:xfrm>
            <a:off x="2394000" y="3726000"/>
            <a:ext cx="16560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칩렛 집적</a:t>
            </a:r>
          </a:p>
        </p:txBody>
      </p:sp>
      <p:sp>
        <p:nvSpPr>
          <p:cNvPr id="22" name="Rounded Rectangle 21"/>
          <p:cNvSpPr/>
          <p:nvPr/>
        </p:nvSpPr>
        <p:spPr>
          <a:xfrm>
            <a:off x="4122000" y="3726000"/>
            <a:ext cx="16560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메모리-온-로직</a:t>
            </a:r>
          </a:p>
        </p:txBody>
      </p:sp>
      <p:sp>
        <p:nvSpPr>
          <p:cNvPr id="23" name="TextBox 22"/>
          <p:cNvSpPr txBox="1"/>
          <p:nvPr/>
        </p:nvSpPr>
        <p:spPr>
          <a:xfrm>
            <a:off x="540000" y="4327200"/>
            <a:ext cx="5364000" cy="234000"/>
          </a:xfrm>
          <a:prstGeom prst="rect">
            <a:avLst/>
          </a:prstGeom>
          <a:noFill/>
        </p:spPr>
        <p:txBody>
          <a:bodyPr wrap="square" lIns="0" rIns="0" tIns="0" bIns="0" anchor="ctr">
            <a:noAutofit/>
          </a:bodyPr>
          <a:lstStyle/>
          <a:p>
            <a:pPr algn="ct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a:t>
            </a:r>
          </a:p>
        </p:txBody>
      </p:sp>
      <p:sp>
        <p:nvSpPr>
          <p:cNvPr id="24" name="Rounded Rectangle 23"/>
          <p:cNvSpPr/>
          <p:nvPr/>
        </p:nvSpPr>
        <p:spPr>
          <a:xfrm>
            <a:off x="540000" y="4554000"/>
            <a:ext cx="5364000" cy="990000"/>
          </a:xfrm>
          <a:prstGeom prst="roundRect">
            <a:avLst>
              <a:gd name="adj" fmla="val 6000"/>
            </a:avLst>
          </a:prstGeom>
          <a:solidFill>
            <a:srgbClr val="E8EEF7"/>
          </a:solidFill>
          <a:ln>
            <a:noFill/>
          </a:ln>
        </p:spPr>
        <p:txBody>
          <a:bodyPr rtlCol="0" anchor="ctr" lIns="36000" rIns="36000" tIns="36000" bIns="36000"/>
          <a:lstStyle/>
          <a:p>
            <a:pPr algn="ctr"/>
          </a:p>
        </p:txBody>
      </p:sp>
      <p:sp>
        <p:nvSpPr>
          <p:cNvPr id="25" name="TextBox 24"/>
          <p:cNvSpPr txBox="1"/>
          <p:nvPr/>
        </p:nvSpPr>
        <p:spPr>
          <a:xfrm>
            <a:off x="666000" y="4597200"/>
            <a:ext cx="2160000" cy="288000"/>
          </a:xfrm>
          <a:prstGeom prst="rect">
            <a:avLst/>
          </a:prstGeom>
          <a:noFill/>
        </p:spPr>
        <p:txBody>
          <a:bodyPr wrap="square" lIns="0" rIns="0" tIns="0" bIns="0" anchor="ctr">
            <a:noAutofit/>
          </a:bodyPr>
          <a:lstStyle/>
          <a:p>
            <a:pPr algn="l"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적용 제품</a:t>
            </a:r>
            <a:r>
              <a:rPr sz="1100" b="0" i="0" lang="ko-KR" altLang="en-US">
                <a:solidFill>
                  <a:srgbClr val="5B6475"/>
                </a:solidFill>
                <a:latin typeface="맑은 고딕"/>
                <a:ea typeface="맑은 고딕"/>
                <a:cs typeface="맑은 고딕"/>
              </a:rPr>
              <a:t/>
            </a:r>
          </a:p>
        </p:txBody>
      </p:sp>
      <p:sp>
        <p:nvSpPr>
          <p:cNvPr id="26" name="Rounded Rectangle 25"/>
          <p:cNvSpPr/>
          <p:nvPr/>
        </p:nvSpPr>
        <p:spPr>
          <a:xfrm>
            <a:off x="666000" y="4932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CIS</a:t>
            </a:r>
          </a:p>
        </p:txBody>
      </p:sp>
      <p:sp>
        <p:nvSpPr>
          <p:cNvPr id="27" name="Rounded Rectangle 26"/>
          <p:cNvSpPr/>
          <p:nvPr/>
        </p:nvSpPr>
        <p:spPr>
          <a:xfrm>
            <a:off x="1702800" y="4932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3D NAND</a:t>
            </a:r>
          </a:p>
        </p:txBody>
      </p:sp>
      <p:sp>
        <p:nvSpPr>
          <p:cNvPr id="28" name="Rounded Rectangle 27"/>
          <p:cNvSpPr/>
          <p:nvPr/>
        </p:nvSpPr>
        <p:spPr>
          <a:xfrm>
            <a:off x="2739600" y="4932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HBM</a:t>
            </a:r>
          </a:p>
        </p:txBody>
      </p:sp>
      <p:sp>
        <p:nvSpPr>
          <p:cNvPr id="29" name="Rounded Rectangle 28"/>
          <p:cNvSpPr/>
          <p:nvPr/>
        </p:nvSpPr>
        <p:spPr>
          <a:xfrm>
            <a:off x="3776400" y="4932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로직 적층</a:t>
            </a:r>
          </a:p>
        </p:txBody>
      </p:sp>
      <p:sp>
        <p:nvSpPr>
          <p:cNvPr id="30" name="Rounded Rectangle 29"/>
          <p:cNvSpPr/>
          <p:nvPr/>
        </p:nvSpPr>
        <p:spPr>
          <a:xfrm>
            <a:off x="4813200" y="4932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MicroLED</a:t>
            </a:r>
          </a:p>
        </p:txBody>
      </p:sp>
      <p:sp>
        <p:nvSpPr>
          <p:cNvPr id="31" name="Rectangle 30"/>
          <p:cNvSpPr/>
          <p:nvPr/>
        </p:nvSpPr>
        <p:spPr>
          <a:xfrm>
            <a:off x="6336000" y="936000"/>
            <a:ext cx="5172120" cy="3309176"/>
          </a:xfrm>
          <a:prstGeom prst="rect">
            <a:avLst/>
          </a:prstGeom>
          <a:solidFill>
            <a:srgbClr val="FFFFFF"/>
          </a:solidFill>
          <a:ln w="12700">
            <a:solidFill>
              <a:srgbClr val="C9D2E0"/>
            </a:solidFill>
          </a:ln>
        </p:spPr>
        <p:txBody>
          <a:bodyPr rtlCol="0" anchor="ctr" lIns="36000" rIns="36000" tIns="36000" bIns="36000"/>
          <a:lstStyle/>
          <a:p>
            <a:pPr algn="ctr"/>
          </a:p>
        </p:txBody>
      </p:sp>
      <p:pic>
        <p:nvPicPr>
          <p:cNvPr id="32" name="Picture 31" descr="d2w_flow_amat.png"/>
          <p:cNvPicPr>
            <a:picLocks noChangeAspect="1"/>
          </p:cNvPicPr>
          <p:nvPr/>
        </p:nvPicPr>
        <p:blipFill>
          <a:blip r:embed="rId3"/>
          <a:stretch>
            <a:fillRect/>
          </a:stretch>
        </p:blipFill>
        <p:spPr>
          <a:xfrm>
            <a:off x="6372000" y="972000"/>
            <a:ext cx="5100120" cy="3237176"/>
          </a:xfrm>
          <a:prstGeom prst="rect">
            <a:avLst/>
          </a:prstGeom>
        </p:spPr>
      </p:pic>
      <p:sp>
        <p:nvSpPr>
          <p:cNvPr id="33" name="TextBox 32"/>
          <p:cNvSpPr txBox="1"/>
          <p:nvPr/>
        </p:nvSpPr>
        <p:spPr>
          <a:xfrm>
            <a:off x="6192000" y="4263176"/>
            <a:ext cx="5460120" cy="198000"/>
          </a:xfrm>
          <a:prstGeom prst="rect">
            <a:avLst/>
          </a:prstGeom>
          <a:noFill/>
        </p:spPr>
        <p:txBody>
          <a:bodyPr wrap="square" lIns="0" rIns="0" tIns="0" bIns="0" anchor="ctr">
            <a:noAutofit/>
          </a:bodyPr>
          <a:lstStyle/>
          <a:p>
            <a:pPr algn="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D2W 공정 흐름과 장비: Applied Materials (2025) · 출원인: KnowMade (2024)</a:t>
            </a:r>
          </a:p>
        </p:txBody>
      </p:sp>
      <p:sp>
        <p:nvSpPr>
          <p:cNvPr id="34" name="TextBox 33"/>
          <p:cNvSpPr txBox="1"/>
          <p:nvPr/>
        </p:nvSpPr>
        <p:spPr>
          <a:xfrm>
            <a:off x="6192000" y="4515176"/>
            <a:ext cx="5460120" cy="486000"/>
          </a:xfrm>
          <a:prstGeom prst="rect">
            <a:avLst/>
          </a:prstGeom>
          <a:noFill/>
        </p:spPr>
        <p:txBody>
          <a:bodyPr wrap="square" lIns="0" rIns="0" tIns="0" bIns="0" anchor="ctr">
            <a:noAutofit/>
          </a:bodyPr>
          <a:lstStyle/>
          <a:p>
            <a:pPr algn="l" marL="0" indent="0">
              <a:lnSpc>
                <a:spcPts val="1510"/>
              </a:lnSpc>
              <a:spcBef>
                <a:spcPts val="0"/>
              </a:spcBef>
              <a:spcAft>
                <a:spcPts val="0"/>
              </a:spcAft>
              <a:buNone/>
            </a:pPr>
            <a:r>
              <a:rPr sz="1200" b="1" i="0" lang="ko-KR" altLang="en-US">
                <a:solidFill>
                  <a:srgbClr val="1E2532"/>
                </a:solidFill>
                <a:latin typeface="맑은 고딕"/>
                <a:ea typeface="맑은 고딕"/>
                <a:cs typeface="맑은 고딕"/>
              </a:rPr>
              <a:t>다이 절단 전까지 절연막 증착 → 다마신 식각 → Cu 배리어·시드 증착 → Cu 도금 → CMP: </a:t>
            </a:r>
            <a:r>
              <a:rPr sz="1200" b="1" i="0" lang="ko-KR" altLang="en-US">
                <a:solidFill>
                  <a:srgbClr val="2563C9"/>
                </a:solidFill>
                <a:latin typeface="맑은 고딕"/>
                <a:ea typeface="맑은 고딕"/>
                <a:cs typeface="맑은 고딕"/>
              </a:rPr>
              <a:t>모두 전공정의 공정과 장비</a:t>
            </a:r>
          </a:p>
        </p:txBody>
      </p:sp>
      <p:sp>
        <p:nvSpPr>
          <p:cNvPr id="35" name="TextBox 34"/>
          <p:cNvSpPr txBox="1"/>
          <p:nvPr/>
        </p:nvSpPr>
        <p:spPr>
          <a:xfrm>
            <a:off x="6192000" y="5055176"/>
            <a:ext cx="1080000" cy="288000"/>
          </a:xfrm>
          <a:prstGeom prst="rect">
            <a:avLst/>
          </a:prstGeom>
          <a:noFill/>
        </p:spPr>
        <p:txBody>
          <a:bodyPr wrap="square" lIns="0" rIns="0" tIns="0" bIns="0" anchor="ctr">
            <a:noAutofit/>
          </a:bodyPr>
          <a:lstStyle/>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주요 출원인</a:t>
            </a:r>
          </a:p>
        </p:txBody>
      </p:sp>
      <p:sp>
        <p:nvSpPr>
          <p:cNvPr id="36" name="Rounded Rectangle 35"/>
          <p:cNvSpPr/>
          <p:nvPr/>
        </p:nvSpPr>
        <p:spPr>
          <a:xfrm>
            <a:off x="7272000" y="5062376"/>
            <a:ext cx="630000" cy="270000"/>
          </a:xfrm>
          <a:prstGeom prst="roundRect">
            <a:avLst>
              <a:gd name="adj" fmla="val 50000"/>
            </a:avLst>
          </a:prstGeom>
          <a:solidFill>
            <a:srgbClr val="E8EEF7"/>
          </a:solidFill>
          <a:ln>
            <a:no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13294B"/>
                </a:solidFill>
                <a:latin typeface="맑은 고딕"/>
                <a:ea typeface="맑은 고딕"/>
                <a:cs typeface="맑은 고딕"/>
              </a:rPr>
              <a:t>TSMC</a:t>
            </a:r>
          </a:p>
        </p:txBody>
      </p:sp>
      <p:sp>
        <p:nvSpPr>
          <p:cNvPr id="37" name="Rounded Rectangle 36"/>
          <p:cNvSpPr/>
          <p:nvPr/>
        </p:nvSpPr>
        <p:spPr>
          <a:xfrm>
            <a:off x="7956000" y="5062376"/>
            <a:ext cx="630000" cy="270000"/>
          </a:xfrm>
          <a:prstGeom prst="roundRect">
            <a:avLst>
              <a:gd name="adj" fmla="val 50000"/>
            </a:avLst>
          </a:prstGeom>
          <a:solidFill>
            <a:srgbClr val="E8EEF7"/>
          </a:solidFill>
          <a:ln>
            <a:no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13294B"/>
                </a:solidFill>
                <a:latin typeface="맑은 고딕"/>
                <a:ea typeface="맑은 고딕"/>
                <a:cs typeface="맑은 고딕"/>
              </a:rPr>
              <a:t>Adeia</a:t>
            </a:r>
          </a:p>
        </p:txBody>
      </p:sp>
      <p:sp>
        <p:nvSpPr>
          <p:cNvPr id="38" name="Rounded Rectangle 37"/>
          <p:cNvSpPr/>
          <p:nvPr/>
        </p:nvSpPr>
        <p:spPr>
          <a:xfrm>
            <a:off x="8640000" y="5062376"/>
            <a:ext cx="630000" cy="270000"/>
          </a:xfrm>
          <a:prstGeom prst="roundRect">
            <a:avLst>
              <a:gd name="adj" fmla="val 50000"/>
            </a:avLst>
          </a:prstGeom>
          <a:solidFill>
            <a:srgbClr val="E8EEF7"/>
          </a:solidFill>
          <a:ln>
            <a:no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13294B"/>
                </a:solidFill>
                <a:latin typeface="맑은 고딕"/>
                <a:ea typeface="맑은 고딕"/>
                <a:cs typeface="맑은 고딕"/>
              </a:rPr>
              <a:t>YMTC</a:t>
            </a:r>
          </a:p>
        </p:txBody>
      </p:sp>
      <p:sp>
        <p:nvSpPr>
          <p:cNvPr id="39" name="Rounded Rectangle 38"/>
          <p:cNvSpPr/>
          <p:nvPr/>
        </p:nvSpPr>
        <p:spPr>
          <a:xfrm>
            <a:off x="9324000" y="5062376"/>
            <a:ext cx="630000" cy="270000"/>
          </a:xfrm>
          <a:prstGeom prst="roundRect">
            <a:avLst>
              <a:gd name="adj" fmla="val 50000"/>
            </a:avLst>
          </a:prstGeom>
          <a:solidFill>
            <a:srgbClr val="E8EEF7"/>
          </a:solidFill>
          <a:ln>
            <a:no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13294B"/>
                </a:solidFill>
                <a:latin typeface="맑은 고딕"/>
                <a:ea typeface="맑은 고딕"/>
                <a:cs typeface="맑은 고딕"/>
              </a:rPr>
              <a:t>Intel</a:t>
            </a:r>
          </a:p>
        </p:txBody>
      </p:sp>
      <p:sp>
        <p:nvSpPr>
          <p:cNvPr id="40" name="Rounded Rectangle 39"/>
          <p:cNvSpPr/>
          <p:nvPr/>
        </p:nvSpPr>
        <p:spPr>
          <a:xfrm>
            <a:off x="10008000" y="5062376"/>
            <a:ext cx="828000" cy="270000"/>
          </a:xfrm>
          <a:prstGeom prst="roundRect">
            <a:avLst>
              <a:gd name="adj" fmla="val 50000"/>
            </a:avLst>
          </a:prstGeom>
          <a:solidFill>
            <a:srgbClr val="E8EEF7"/>
          </a:solidFill>
          <a:ln>
            <a:no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13294B"/>
                </a:solidFill>
                <a:latin typeface="맑은 고딕"/>
                <a:ea typeface="맑은 고딕"/>
                <a:cs typeface="맑은 고딕"/>
              </a:rPr>
              <a:t>Samsung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3.2  </a:t>
            </a:r>
            <a:r>
              <a:rPr sz="2200" b="1" i="0" lang="ko-KR" altLang="en-US">
                <a:solidFill>
                  <a:srgbClr val="13294B"/>
                </a:solidFill>
                <a:latin typeface="맑은 고딕"/>
                <a:ea typeface="맑은 고딕"/>
                <a:cs typeface="맑은 고딕"/>
              </a:rPr>
              <a:t>분석 데이터: PATSTAT 하이브리드 본딩 관련 출원</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1968–2024년에 출원된 하이브리드 본딩 관련 특허출원 928건을 분석</a:t>
            </a:r>
          </a:p>
        </p:txBody>
      </p:sp>
      <p:sp>
        <p:nvSpPr>
          <p:cNvPr id="4" name="Rounded Rectangle 3"/>
          <p:cNvSpPr/>
          <p:nvPr/>
        </p:nvSpPr>
        <p:spPr>
          <a:xfrm>
            <a:off x="540000" y="990000"/>
            <a:ext cx="4392000" cy="882000"/>
          </a:xfrm>
          <a:prstGeom prst="roundRect">
            <a:avLst>
              <a:gd name="adj" fmla="val 10000"/>
            </a:avLst>
          </a:prstGeom>
          <a:solidFill>
            <a:srgbClr val="E8EEF7"/>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EPO PATSTAT Global</a:t>
            </a:r>
          </a:p>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유럽특허청 특허 데이터베이스</a:t>
            </a:r>
          </a:p>
        </p:txBody>
      </p:sp>
      <p:sp>
        <p:nvSpPr>
          <p:cNvPr id="5" name="TextBox 4"/>
          <p:cNvSpPr txBox="1"/>
          <p:nvPr/>
        </p:nvSpPr>
        <p:spPr>
          <a:xfrm>
            <a:off x="540000" y="1872000"/>
            <a:ext cx="4392000" cy="216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13294B"/>
                </a:solidFill>
                <a:latin typeface="맑은 고딕"/>
                <a:ea typeface="맑은 고딕"/>
                <a:cs typeface="맑은 고딕"/>
              </a:rPr>
              <a:t>▼</a:t>
            </a:r>
          </a:p>
        </p:txBody>
      </p:sp>
      <p:sp>
        <p:nvSpPr>
          <p:cNvPr id="6" name="Rounded Rectangle 5"/>
          <p:cNvSpPr/>
          <p:nvPr/>
        </p:nvSpPr>
        <p:spPr>
          <a:xfrm>
            <a:off x="756000" y="2088000"/>
            <a:ext cx="3960000" cy="882000"/>
          </a:xfrm>
          <a:prstGeom prst="roundRect">
            <a:avLst>
              <a:gd name="adj" fmla="val 10000"/>
            </a:avLst>
          </a:prstGeom>
          <a:solidFill>
            <a:srgbClr val="E8EEF7"/>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1차: CPC 분류</a:t>
            </a:r>
          </a:p>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H01L21(제조공정) 또는 H01L24(접합)</a:t>
            </a:r>
          </a:p>
        </p:txBody>
      </p:sp>
      <p:sp>
        <p:nvSpPr>
          <p:cNvPr id="7" name="TextBox 6"/>
          <p:cNvSpPr txBox="1"/>
          <p:nvPr/>
        </p:nvSpPr>
        <p:spPr>
          <a:xfrm>
            <a:off x="540000" y="2970000"/>
            <a:ext cx="4392000" cy="216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13294B"/>
                </a:solidFill>
                <a:latin typeface="맑은 고딕"/>
                <a:ea typeface="맑은 고딕"/>
                <a:cs typeface="맑은 고딕"/>
              </a:rPr>
              <a:t>▼</a:t>
            </a:r>
          </a:p>
        </p:txBody>
      </p:sp>
      <p:sp>
        <p:nvSpPr>
          <p:cNvPr id="8" name="Rounded Rectangle 7"/>
          <p:cNvSpPr/>
          <p:nvPr/>
        </p:nvSpPr>
        <p:spPr>
          <a:xfrm>
            <a:off x="972000" y="3186000"/>
            <a:ext cx="3528000" cy="882000"/>
          </a:xfrm>
          <a:prstGeom prst="roundRect">
            <a:avLst>
              <a:gd name="adj" fmla="val 10000"/>
            </a:avLst>
          </a:prstGeom>
          <a:solidFill>
            <a:srgbClr val="E8EEF7"/>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2차: 제목 키워드</a:t>
            </a:r>
          </a:p>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hybrid bonding · direct bonding · Cu–Cu ·</a:t>
            </a:r>
          </a:p>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copper to copper · metal-oxide bond</a:t>
            </a:r>
          </a:p>
        </p:txBody>
      </p:sp>
      <p:sp>
        <p:nvSpPr>
          <p:cNvPr id="9" name="TextBox 8"/>
          <p:cNvSpPr txBox="1"/>
          <p:nvPr/>
        </p:nvSpPr>
        <p:spPr>
          <a:xfrm>
            <a:off x="540000" y="4068000"/>
            <a:ext cx="4392000" cy="216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13294B"/>
                </a:solidFill>
                <a:latin typeface="맑은 고딕"/>
                <a:ea typeface="맑은 고딕"/>
                <a:cs typeface="맑은 고딕"/>
              </a:rPr>
              <a:t>▼</a:t>
            </a:r>
          </a:p>
        </p:txBody>
      </p:sp>
      <p:sp>
        <p:nvSpPr>
          <p:cNvPr id="10" name="Rounded Rectangle 9"/>
          <p:cNvSpPr/>
          <p:nvPr/>
        </p:nvSpPr>
        <p:spPr>
          <a:xfrm>
            <a:off x="1332000" y="4284000"/>
            <a:ext cx="2808000" cy="936000"/>
          </a:xfrm>
          <a:prstGeom prst="roundRect">
            <a:avLst>
              <a:gd name="adj" fmla="val 10000"/>
            </a:avLst>
          </a:prstGeom>
          <a:solidFill>
            <a:srgbClr val="13294B"/>
          </a:solidFill>
          <a:ln>
            <a:noFill/>
          </a:ln>
        </p:spPr>
        <p:txBody>
          <a:bodyPr rtlCol="0" anchor="ctr" lIns="54000" rIns="54000" tIns="18000" bIns="18000" wrap="square">
            <a:noAutofit/>
          </a:bodyPr>
          <a:lstStyle/>
          <a:p>
            <a:pPr algn="ctr" marL="0" indent="0">
              <a:lnSpc>
                <a:spcPts val="3600"/>
              </a:lnSpc>
              <a:spcBef>
                <a:spcPts val="0"/>
              </a:spcBef>
              <a:spcAft>
                <a:spcPts val="0"/>
              </a:spcAft>
              <a:buNone/>
            </a:pPr>
            <a:r>
              <a:rPr sz="3000" b="1" i="0" lang="ko-KR" altLang="en-US">
                <a:solidFill>
                  <a:srgbClr val="FFFFFF"/>
                </a:solidFill>
                <a:latin typeface="맑은 고딕"/>
                <a:ea typeface="맑은 고딕"/>
                <a:cs typeface="맑은 고딕"/>
              </a:rPr>
              <a:t>928건</a:t>
            </a:r>
          </a:p>
          <a:p>
            <a:pPr algn="ctr" marL="0" indent="0">
              <a:lnSpc>
                <a:spcPts val="1560"/>
              </a:lnSpc>
              <a:spcBef>
                <a:spcPts val="0"/>
              </a:spcBef>
              <a:spcAft>
                <a:spcPts val="0"/>
              </a:spcAft>
              <a:buNone/>
            </a:pPr>
            <a:r>
              <a:rPr sz="1300" b="0" i="0" lang="ko-KR" altLang="en-US">
                <a:solidFill>
                  <a:srgbClr val="DCE3EE"/>
                </a:solidFill>
                <a:latin typeface="맑은 고딕"/>
                <a:ea typeface="맑은 고딕"/>
                <a:cs typeface="맑은 고딕"/>
              </a:rPr>
              <a:t>1968–2024년 출원</a:t>
            </a:r>
          </a:p>
        </p:txBody>
      </p:sp>
      <p:sp>
        <p:nvSpPr>
          <p:cNvPr id="11" name="TextBox 10"/>
          <p:cNvSpPr txBox="1"/>
          <p:nvPr/>
        </p:nvSpPr>
        <p:spPr>
          <a:xfrm>
            <a:off x="540000" y="5274000"/>
            <a:ext cx="4392000" cy="216000"/>
          </a:xfrm>
          <a:prstGeom prst="rect">
            <a:avLst/>
          </a:prstGeom>
          <a:noFill/>
        </p:spPr>
        <p:txBody>
          <a:bodyPr wrap="square" lIns="0" rIns="0" tIns="0" bIns="0" anchor="ctr">
            <a:noAutofit/>
          </a:bodyPr>
          <a:lstStyle/>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출원–CPC 쌍 5,277건 · 서브그룹 기호 262개</a:t>
            </a:r>
          </a:p>
        </p:txBody>
      </p:sp>
      <p:graphicFrame>
        <p:nvGraphicFramePr>
          <p:cNvPr id="12" name="Chart 11"/>
          <p:cNvGraphicFramePr>
            <a:graphicFrameLocks noGrp="1"/>
          </p:cNvGraphicFramePr>
          <p:nvPr/>
        </p:nvGraphicFramePr>
        <p:xfrm>
          <a:off x="5256000" y="936000"/>
          <a:ext cx="6396120" cy="4896000"/>
        </p:xfrm>
        <a:graphic>
          <a:graphicData uri="http://schemas.openxmlformats.org/drawingml/2006/chart">
            <c:chart xmlns:c="http://schemas.openxmlformats.org/drawingml/2006/chart" r:id="rId3"/>
          </a:graphicData>
        </a:graphic>
      </p:graphicFrame>
      <p:sp>
        <p:nvSpPr>
          <p:cNvPr id="13" name="Rounded Rectangle 12"/>
          <p:cNvSpPr/>
          <p:nvPr/>
        </p:nvSpPr>
        <p:spPr>
          <a:xfrm>
            <a:off x="9708120" y="1080000"/>
            <a:ext cx="1584000" cy="306000"/>
          </a:xfrm>
          <a:prstGeom prst="roundRect">
            <a:avLst>
              <a:gd name="adj" fmla="val 50000"/>
            </a:avLst>
          </a:prstGeom>
          <a:solidFill>
            <a:srgbClr val="E8EEF7"/>
          </a:solidFill>
          <a:ln>
            <a:noFill/>
          </a:ln>
        </p:spPr>
        <p:txBody>
          <a:bodyPr rtlCol="0" anchor="ctr" lIns="28800" rIns="28800" tIns="18000" bIns="18000" wrap="square">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2023–24: 공개 시차</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3.3  </a:t>
            </a:r>
            <a:r>
              <a:rPr sz="2200" b="1" i="0" lang="ko-KR" altLang="en-US">
                <a:solidFill>
                  <a:srgbClr val="13294B"/>
                </a:solidFill>
                <a:latin typeface="맑은 고딕"/>
                <a:ea typeface="맑은 고딕"/>
                <a:cs typeface="맑은 고딕"/>
              </a:rPr>
              <a:t>측정: 공동분류 유형</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H01L21과 H01L24를 함께 가진 출원 = 공정 단계의 경계를 넘는 "통합형"</a:t>
            </a:r>
          </a:p>
        </p:txBody>
      </p:sp>
      <p:sp>
        <p:nvSpPr>
          <p:cNvPr id="4" name="Rounded Rectangle 3"/>
          <p:cNvSpPr/>
          <p:nvPr/>
        </p:nvSpPr>
        <p:spPr>
          <a:xfrm>
            <a:off x="732060" y="972000"/>
            <a:ext cx="3348000" cy="1440000"/>
          </a:xfrm>
          <a:prstGeom prst="roundRect">
            <a:avLst>
              <a:gd name="adj" fmla="val 6000"/>
            </a:avLst>
          </a:prstGeom>
          <a:solidFill>
            <a:srgbClr val="5B6475"/>
          </a:solidFill>
          <a:ln>
            <a:noFill/>
          </a:ln>
          <a:effectLst>
            <a:outerShdw blurRad="127000" dist="25400" dir="5400000" algn="t" rotWithShape="0">
              <a:srgbClr val="1E2532">
                <a:alpha val="16000"/>
              </a:srgbClr>
            </a:outerShdw>
          </a:effectLst>
        </p:spPr>
        <p:txBody>
          <a:bodyPr rtlCol="0" anchor="ctr" lIns="36000" rIns="36000" tIns="36000" bIns="36000"/>
          <a:lstStyle/>
          <a:p>
            <a:pPr algn="ctr"/>
          </a:p>
        </p:txBody>
      </p:sp>
      <p:sp>
        <p:nvSpPr>
          <p:cNvPr id="5" name="TextBox 4"/>
          <p:cNvSpPr txBox="1"/>
          <p:nvPr/>
        </p:nvSpPr>
        <p:spPr>
          <a:xfrm>
            <a:off x="876060" y="1026000"/>
            <a:ext cx="3060000" cy="252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DCE3EE"/>
                </a:solidFill>
                <a:latin typeface="맑은 고딕"/>
                <a:ea typeface="맑은 고딕"/>
                <a:cs typeface="맑은 고딕"/>
              </a:rPr>
              <a:t>실제 출원 예시  ·  TW · 2019</a:t>
            </a:r>
          </a:p>
        </p:txBody>
      </p:sp>
      <p:sp>
        <p:nvSpPr>
          <p:cNvPr id="6" name="TextBox 5"/>
          <p:cNvSpPr txBox="1"/>
          <p:nvPr/>
        </p:nvSpPr>
        <p:spPr>
          <a:xfrm>
            <a:off x="876060" y="1278000"/>
            <a:ext cx="3060000" cy="1044000"/>
          </a:xfrm>
          <a:prstGeom prst="rect">
            <a:avLst/>
          </a:prstGeom>
          <a:noFill/>
        </p:spPr>
        <p:txBody>
          <a:bodyPr wrap="square" lIns="0" rIns="0" tIns="0" bIns="0" anchor="ctr">
            <a:noAutofit/>
          </a:bodyPr>
          <a:lstStyle/>
          <a:p>
            <a:pPr algn="ctr" marL="0" indent="0">
              <a:lnSpc>
                <a:spcPts val="1920"/>
              </a:lnSpc>
              <a:spcBef>
                <a:spcPts val="0"/>
              </a:spcBef>
              <a:spcAft>
                <a:spcPts val="0"/>
              </a:spcAft>
              <a:buNone/>
            </a:pPr>
            <a:r>
              <a:rPr sz="1600" b="1" i="0" lang="ko-KR" altLang="en-US">
                <a:solidFill>
                  <a:srgbClr val="FFFFFF"/>
                </a:solidFill>
                <a:latin typeface="맑은 고딕"/>
                <a:ea typeface="맑은 고딕"/>
                <a:cs typeface="맑은 고딕"/>
              </a:rPr>
              <a:t>DIRECT BONDING OF</a:t>
            </a:r>
          </a:p>
          <a:p>
            <a:pPr algn="ctr" marL="0" indent="0">
              <a:lnSpc>
                <a:spcPts val="1920"/>
              </a:lnSpc>
              <a:spcBef>
                <a:spcPts val="0"/>
              </a:spcBef>
              <a:spcAft>
                <a:spcPts val="0"/>
              </a:spcAft>
              <a:buNone/>
            </a:pPr>
            <a:r>
              <a:rPr sz="1600" b="1" i="0" lang="ko-KR" altLang="en-US">
                <a:solidFill>
                  <a:srgbClr val="FFFFFF"/>
                </a:solidFill>
                <a:latin typeface="맑은 고딕"/>
                <a:ea typeface="맑은 고딕"/>
                <a:cs typeface="맑은 고딕"/>
              </a:rPr>
              <a:t>HETEROGENEOUS SUBSTRATES</a:t>
            </a:r>
          </a:p>
        </p:txBody>
      </p:sp>
      <p:sp>
        <p:nvSpPr>
          <p:cNvPr id="7" name="TextBox 6"/>
          <p:cNvSpPr txBox="1"/>
          <p:nvPr/>
        </p:nvSpPr>
        <p:spPr>
          <a:xfrm>
            <a:off x="732060" y="2484000"/>
            <a:ext cx="3348000" cy="252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부여된 CPC 기호 (H01L 생략)</a:t>
            </a:r>
          </a:p>
        </p:txBody>
      </p:sp>
      <p:sp>
        <p:nvSpPr>
          <p:cNvPr id="8" name="Rounded Rectangle 7"/>
          <p:cNvSpPr/>
          <p:nvPr/>
        </p:nvSpPr>
        <p:spPr>
          <a:xfrm>
            <a:off x="649260" y="2772000"/>
            <a:ext cx="802800" cy="342000"/>
          </a:xfrm>
          <a:prstGeom prst="roundRect">
            <a:avLst>
              <a:gd name="adj" fmla="val 50000"/>
            </a:avLst>
          </a:prstGeom>
          <a:solidFill>
            <a:srgbClr val="FFFFFF"/>
          </a:solidFill>
          <a:ln w="12700">
            <a:solidFill>
              <a:srgbClr val="2563C9"/>
            </a:solid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2563C9"/>
                </a:solidFill>
                <a:latin typeface="맑은 고딕"/>
                <a:ea typeface="맑은 고딕"/>
                <a:cs typeface="맑은 고딕"/>
              </a:rPr>
              <a:t>21/2007</a:t>
            </a:r>
          </a:p>
        </p:txBody>
      </p:sp>
      <p:sp>
        <p:nvSpPr>
          <p:cNvPr id="9" name="Rounded Rectangle 8"/>
          <p:cNvSpPr/>
          <p:nvPr/>
        </p:nvSpPr>
        <p:spPr>
          <a:xfrm>
            <a:off x="1495260" y="2772000"/>
            <a:ext cx="802800" cy="342000"/>
          </a:xfrm>
          <a:prstGeom prst="roundRect">
            <a:avLst>
              <a:gd name="adj" fmla="val 50000"/>
            </a:avLst>
          </a:prstGeom>
          <a:solidFill>
            <a:srgbClr val="FFFFFF"/>
          </a:solidFill>
          <a:ln w="12700">
            <a:solidFill>
              <a:srgbClr val="2563C9"/>
            </a:solid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2563C9"/>
                </a:solidFill>
                <a:latin typeface="맑은 고딕"/>
                <a:ea typeface="맑은 고딕"/>
                <a:cs typeface="맑은 고딕"/>
              </a:rPr>
              <a:t>21/4803</a:t>
            </a:r>
          </a:p>
        </p:txBody>
      </p:sp>
      <p:sp>
        <p:nvSpPr>
          <p:cNvPr id="10" name="Rounded Rectangle 9"/>
          <p:cNvSpPr/>
          <p:nvPr/>
        </p:nvSpPr>
        <p:spPr>
          <a:xfrm>
            <a:off x="2341260" y="2772000"/>
            <a:ext cx="889200" cy="342000"/>
          </a:xfrm>
          <a:prstGeom prst="roundRect">
            <a:avLst>
              <a:gd name="adj" fmla="val 50000"/>
            </a:avLst>
          </a:prstGeom>
          <a:solidFill>
            <a:srgbClr val="FFFFFF"/>
          </a:solidFill>
          <a:ln w="12700">
            <a:solidFill>
              <a:srgbClr val="2563C9"/>
            </a:solid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2563C9"/>
                </a:solidFill>
                <a:latin typeface="맑은 고딕"/>
                <a:ea typeface="맑은 고딕"/>
                <a:cs typeface="맑은 고딕"/>
              </a:rPr>
              <a:t>21/76251</a:t>
            </a:r>
          </a:p>
        </p:txBody>
      </p:sp>
      <p:sp>
        <p:nvSpPr>
          <p:cNvPr id="11" name="Rounded Rectangle 10"/>
          <p:cNvSpPr/>
          <p:nvPr/>
        </p:nvSpPr>
        <p:spPr>
          <a:xfrm>
            <a:off x="3273660" y="2772000"/>
            <a:ext cx="889200" cy="342000"/>
          </a:xfrm>
          <a:prstGeom prst="roundRect">
            <a:avLst>
              <a:gd name="adj" fmla="val 50000"/>
            </a:avLst>
          </a:prstGeom>
          <a:solidFill>
            <a:srgbClr val="FFFFFF"/>
          </a:solidFill>
          <a:ln w="12700">
            <a:solidFill>
              <a:srgbClr val="2563C9"/>
            </a:solid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2563C9"/>
                </a:solidFill>
                <a:latin typeface="맑은 고딕"/>
                <a:ea typeface="맑은 고딕"/>
                <a:cs typeface="맑은 고딕"/>
              </a:rPr>
              <a:t>21/76275</a:t>
            </a:r>
          </a:p>
        </p:txBody>
      </p:sp>
      <p:cxnSp>
        <p:nvCxnSpPr>
          <p:cNvPr id="12" name="Connector 11"/>
          <p:cNvCxnSpPr/>
          <p:nvPr/>
        </p:nvCxnSpPr>
        <p:spPr>
          <a:xfrm>
            <a:off x="2406060" y="3204000"/>
            <a:ext cx="0" cy="306000"/>
          </a:xfrm>
          <a:prstGeom prst="line">
            <a:avLst/>
          </a:prstGeom>
          <a:ln w="31750">
            <a:solidFill>
              <a:srgbClr val="2563C9"/>
            </a:solidFill>
            <a:tailEnd type="triangle" w="med" len="med"/>
          </a:ln>
        </p:spPr>
      </p:cxnSp>
      <p:sp>
        <p:nvSpPr>
          <p:cNvPr id="13" name="Rounded Rectangle 12"/>
          <p:cNvSpPr/>
          <p:nvPr/>
        </p:nvSpPr>
        <p:spPr>
          <a:xfrm>
            <a:off x="732060" y="3564000"/>
            <a:ext cx="3348000" cy="936000"/>
          </a:xfrm>
          <a:prstGeom prst="roundRect">
            <a:avLst>
              <a:gd name="adj" fmla="val 18000"/>
            </a:avLst>
          </a:prstGeom>
          <a:solidFill>
            <a:srgbClr val="E3ECFB"/>
          </a:solidFill>
          <a:ln w="19050">
            <a:solidFill>
              <a:srgbClr val="2563C9"/>
            </a:solidFill>
          </a:ln>
        </p:spPr>
        <p:txBody>
          <a:bodyPr rtlCol="0" anchor="ctr" lIns="54000" rIns="54000" tIns="18000" bIns="18000" wrap="square">
            <a:noAutofit/>
          </a:bodyPr>
          <a:lstStyle/>
          <a:p>
            <a:pPr algn="ctr" marL="0" indent="0">
              <a:lnSpc>
                <a:spcPts val="2400"/>
              </a:lnSpc>
              <a:spcBef>
                <a:spcPts val="0"/>
              </a:spcBef>
              <a:spcAft>
                <a:spcPts val="0"/>
              </a:spcAft>
              <a:buNone/>
            </a:pPr>
            <a:r>
              <a:rPr sz="2000" b="1" i="0" lang="ko-KR" altLang="en-US">
                <a:solidFill>
                  <a:srgbClr val="2563C9"/>
                </a:solidFill>
                <a:latin typeface="맑은 고딕"/>
                <a:ea typeface="맑은 고딕"/>
                <a:cs typeface="맑은 고딕"/>
              </a:rPr>
              <a:t>공정 단독형</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Process-only  ·  H01L21만 보유</a:t>
            </a:r>
          </a:p>
        </p:txBody>
      </p:sp>
      <p:sp>
        <p:nvSpPr>
          <p:cNvPr id="14" name="Rounded Rectangle 13"/>
          <p:cNvSpPr/>
          <p:nvPr/>
        </p:nvSpPr>
        <p:spPr>
          <a:xfrm>
            <a:off x="4422060" y="972000"/>
            <a:ext cx="3348000" cy="1440000"/>
          </a:xfrm>
          <a:prstGeom prst="roundRect">
            <a:avLst>
              <a:gd name="adj" fmla="val 6000"/>
            </a:avLst>
          </a:prstGeom>
          <a:solidFill>
            <a:srgbClr val="4B3C7A"/>
          </a:solidFill>
          <a:ln>
            <a:noFill/>
          </a:ln>
          <a:effectLst>
            <a:outerShdw blurRad="127000" dist="25400" dir="5400000" algn="t" rotWithShape="0">
              <a:srgbClr val="1E2532">
                <a:alpha val="16000"/>
              </a:srgbClr>
            </a:outerShdw>
          </a:effectLst>
        </p:spPr>
        <p:txBody>
          <a:bodyPr rtlCol="0" anchor="ctr" lIns="36000" rIns="36000" tIns="36000" bIns="36000"/>
          <a:lstStyle/>
          <a:p>
            <a:pPr algn="ctr"/>
          </a:p>
        </p:txBody>
      </p:sp>
      <p:sp>
        <p:nvSpPr>
          <p:cNvPr id="15" name="TextBox 14"/>
          <p:cNvSpPr txBox="1"/>
          <p:nvPr/>
        </p:nvSpPr>
        <p:spPr>
          <a:xfrm>
            <a:off x="4566060" y="1026000"/>
            <a:ext cx="3060000" cy="252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DCE3EE"/>
                </a:solidFill>
                <a:latin typeface="맑은 고딕"/>
                <a:ea typeface="맑은 고딕"/>
                <a:cs typeface="맑은 고딕"/>
              </a:rPr>
              <a:t>실제 출원 예시  ·  US · 2017</a:t>
            </a:r>
          </a:p>
        </p:txBody>
      </p:sp>
      <p:sp>
        <p:nvSpPr>
          <p:cNvPr id="16" name="TextBox 15"/>
          <p:cNvSpPr txBox="1"/>
          <p:nvPr/>
        </p:nvSpPr>
        <p:spPr>
          <a:xfrm>
            <a:off x="4566060" y="1278000"/>
            <a:ext cx="3060000" cy="1044000"/>
          </a:xfrm>
          <a:prstGeom prst="rect">
            <a:avLst/>
          </a:prstGeom>
          <a:noFill/>
        </p:spPr>
        <p:txBody>
          <a:bodyPr wrap="square" lIns="0" rIns="0" tIns="0" bIns="0" anchor="ctr">
            <a:noAutofit/>
          </a:bodyPr>
          <a:lstStyle/>
          <a:p>
            <a:pPr algn="ctr" marL="0" indent="0">
              <a:lnSpc>
                <a:spcPts val="1920"/>
              </a:lnSpc>
              <a:spcBef>
                <a:spcPts val="0"/>
              </a:spcBef>
              <a:spcAft>
                <a:spcPts val="0"/>
              </a:spcAft>
              <a:buNone/>
            </a:pPr>
            <a:r>
              <a:rPr sz="1600" b="1" i="0" lang="ko-KR" altLang="en-US">
                <a:solidFill>
                  <a:srgbClr val="FFFFFF"/>
                </a:solidFill>
                <a:latin typeface="맑은 고딕"/>
                <a:ea typeface="맑은 고딕"/>
                <a:cs typeface="맑은 고딕"/>
              </a:rPr>
              <a:t>Metal-metal direct</a:t>
            </a:r>
          </a:p>
          <a:p>
            <a:pPr algn="ctr" marL="0" indent="0">
              <a:lnSpc>
                <a:spcPts val="1920"/>
              </a:lnSpc>
              <a:spcBef>
                <a:spcPts val="0"/>
              </a:spcBef>
              <a:spcAft>
                <a:spcPts val="0"/>
              </a:spcAft>
              <a:buNone/>
            </a:pPr>
            <a:r>
              <a:rPr sz="1600" b="1" i="0" lang="ko-KR" altLang="en-US">
                <a:solidFill>
                  <a:srgbClr val="FFFFFF"/>
                </a:solidFill>
                <a:latin typeface="맑은 고딕"/>
                <a:ea typeface="맑은 고딕"/>
                <a:cs typeface="맑은 고딕"/>
              </a:rPr>
              <a:t>bonding method</a:t>
            </a:r>
          </a:p>
        </p:txBody>
      </p:sp>
      <p:sp>
        <p:nvSpPr>
          <p:cNvPr id="17" name="TextBox 16"/>
          <p:cNvSpPr txBox="1"/>
          <p:nvPr/>
        </p:nvSpPr>
        <p:spPr>
          <a:xfrm>
            <a:off x="4422060" y="2484000"/>
            <a:ext cx="3348000" cy="252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부여된 CPC 기호 (H01L 생략)</a:t>
            </a:r>
          </a:p>
        </p:txBody>
      </p:sp>
      <p:sp>
        <p:nvSpPr>
          <p:cNvPr id="18" name="Rounded Rectangle 17"/>
          <p:cNvSpPr/>
          <p:nvPr/>
        </p:nvSpPr>
        <p:spPr>
          <a:xfrm>
            <a:off x="5021460" y="2772000"/>
            <a:ext cx="716400" cy="342000"/>
          </a:xfrm>
          <a:prstGeom prst="roundRect">
            <a:avLst>
              <a:gd name="adj" fmla="val 50000"/>
            </a:avLst>
          </a:prstGeom>
          <a:solidFill>
            <a:srgbClr val="FFFFFF"/>
          </a:solidFill>
          <a:ln w="12700">
            <a:solidFill>
              <a:srgbClr val="2563C9"/>
            </a:solid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2563C9"/>
                </a:solidFill>
                <a:latin typeface="맑은 고딕"/>
                <a:ea typeface="맑은 고딕"/>
                <a:cs typeface="맑은 고딕"/>
              </a:rPr>
              <a:t>21/185</a:t>
            </a:r>
          </a:p>
        </p:txBody>
      </p:sp>
      <p:sp>
        <p:nvSpPr>
          <p:cNvPr id="19" name="Rounded Rectangle 18"/>
          <p:cNvSpPr/>
          <p:nvPr/>
        </p:nvSpPr>
        <p:spPr>
          <a:xfrm>
            <a:off x="5781060" y="2772000"/>
            <a:ext cx="716400" cy="342000"/>
          </a:xfrm>
          <a:prstGeom prst="roundRect">
            <a:avLst>
              <a:gd name="adj" fmla="val 50000"/>
            </a:avLst>
          </a:prstGeom>
          <a:solidFill>
            <a:srgbClr val="FFFFFF"/>
          </a:solidFill>
          <a:ln w="12700">
            <a:solidFill>
              <a:srgbClr val="2563C9"/>
            </a:solid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2563C9"/>
                </a:solidFill>
                <a:latin typeface="맑은 고딕"/>
                <a:ea typeface="맑은 고딕"/>
                <a:cs typeface="맑은 고딕"/>
              </a:rPr>
              <a:t>21/187</a:t>
            </a:r>
          </a:p>
        </p:txBody>
      </p:sp>
      <p:sp>
        <p:nvSpPr>
          <p:cNvPr id="20" name="Rounded Rectangle 19"/>
          <p:cNvSpPr/>
          <p:nvPr/>
        </p:nvSpPr>
        <p:spPr>
          <a:xfrm>
            <a:off x="6540660" y="2772000"/>
            <a:ext cx="630000" cy="342000"/>
          </a:xfrm>
          <a:prstGeom prst="roundRect">
            <a:avLst>
              <a:gd name="adj" fmla="val 50000"/>
            </a:avLst>
          </a:prstGeom>
          <a:solidFill>
            <a:srgbClr val="FFFFFF"/>
          </a:solidFill>
          <a:ln w="12700">
            <a:solidFill>
              <a:srgbClr val="EA7A28"/>
            </a:solid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EA7A28"/>
                </a:solidFill>
                <a:latin typeface="맑은 고딕"/>
                <a:ea typeface="맑은 고딕"/>
                <a:cs typeface="맑은 고딕"/>
              </a:rPr>
              <a:t>24/05</a:t>
            </a:r>
          </a:p>
        </p:txBody>
      </p:sp>
      <p:cxnSp>
        <p:nvCxnSpPr>
          <p:cNvPr id="21" name="Connector 20"/>
          <p:cNvCxnSpPr/>
          <p:nvPr/>
        </p:nvCxnSpPr>
        <p:spPr>
          <a:xfrm>
            <a:off x="6096060" y="3204000"/>
            <a:ext cx="0" cy="306000"/>
          </a:xfrm>
          <a:prstGeom prst="line">
            <a:avLst/>
          </a:prstGeom>
          <a:ln w="31750">
            <a:solidFill>
              <a:srgbClr val="7C3AED"/>
            </a:solidFill>
            <a:tailEnd type="triangle" w="med" len="med"/>
          </a:ln>
        </p:spPr>
      </p:cxnSp>
      <p:sp>
        <p:nvSpPr>
          <p:cNvPr id="22" name="Rounded Rectangle 21"/>
          <p:cNvSpPr/>
          <p:nvPr/>
        </p:nvSpPr>
        <p:spPr>
          <a:xfrm>
            <a:off x="4422060" y="3564000"/>
            <a:ext cx="3348000" cy="936000"/>
          </a:xfrm>
          <a:prstGeom prst="roundRect">
            <a:avLst>
              <a:gd name="adj" fmla="val 18000"/>
            </a:avLst>
          </a:prstGeom>
          <a:solidFill>
            <a:srgbClr val="EEE6FD"/>
          </a:solidFill>
          <a:ln w="31750">
            <a:solidFill>
              <a:srgbClr val="7C3AED"/>
            </a:solidFill>
          </a:ln>
        </p:spPr>
        <p:txBody>
          <a:bodyPr rtlCol="0" anchor="ctr" lIns="54000" rIns="54000" tIns="18000" bIns="18000" wrap="square">
            <a:noAutofit/>
          </a:bodyPr>
          <a:lstStyle/>
          <a:p>
            <a:pPr algn="ctr" marL="0" indent="0">
              <a:lnSpc>
                <a:spcPts val="2400"/>
              </a:lnSpc>
              <a:spcBef>
                <a:spcPts val="0"/>
              </a:spcBef>
              <a:spcAft>
                <a:spcPts val="0"/>
              </a:spcAft>
              <a:buNone/>
            </a:pPr>
            <a:r>
              <a:rPr sz="2000" b="1" i="0" lang="ko-KR" altLang="en-US">
                <a:solidFill>
                  <a:srgbClr val="7C3AED"/>
                </a:solidFill>
                <a:latin typeface="맑은 고딕"/>
                <a:ea typeface="맑은 고딕"/>
                <a:cs typeface="맑은 고딕"/>
              </a:rPr>
              <a:t>통합형</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Integrated  ·  H01L21 + H01L24</a:t>
            </a:r>
          </a:p>
        </p:txBody>
      </p:sp>
      <p:sp>
        <p:nvSpPr>
          <p:cNvPr id="23" name="Rounded Rectangle 22"/>
          <p:cNvSpPr/>
          <p:nvPr/>
        </p:nvSpPr>
        <p:spPr>
          <a:xfrm>
            <a:off x="8112060" y="972000"/>
            <a:ext cx="3348000" cy="1440000"/>
          </a:xfrm>
          <a:prstGeom prst="roundRect">
            <a:avLst>
              <a:gd name="adj" fmla="val 6000"/>
            </a:avLst>
          </a:prstGeom>
          <a:solidFill>
            <a:srgbClr val="5B6475"/>
          </a:solidFill>
          <a:ln>
            <a:noFill/>
          </a:ln>
          <a:effectLst>
            <a:outerShdw blurRad="127000" dist="25400" dir="5400000" algn="t" rotWithShape="0">
              <a:srgbClr val="1E2532">
                <a:alpha val="16000"/>
              </a:srgbClr>
            </a:outerShdw>
          </a:effectLst>
        </p:spPr>
        <p:txBody>
          <a:bodyPr rtlCol="0" anchor="ctr" lIns="36000" rIns="36000" tIns="36000" bIns="36000"/>
          <a:lstStyle/>
          <a:p>
            <a:pPr algn="ctr"/>
          </a:p>
        </p:txBody>
      </p:sp>
      <p:sp>
        <p:nvSpPr>
          <p:cNvPr id="24" name="TextBox 23"/>
          <p:cNvSpPr txBox="1"/>
          <p:nvPr/>
        </p:nvSpPr>
        <p:spPr>
          <a:xfrm>
            <a:off x="8256060" y="1026000"/>
            <a:ext cx="3060000" cy="252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DCE3EE"/>
                </a:solidFill>
                <a:latin typeface="맑은 고딕"/>
                <a:ea typeface="맑은 고딕"/>
                <a:cs typeface="맑은 고딕"/>
              </a:rPr>
              <a:t>실제 출원 예시  ·  US · 2017</a:t>
            </a:r>
          </a:p>
        </p:txBody>
      </p:sp>
      <p:sp>
        <p:nvSpPr>
          <p:cNvPr id="25" name="TextBox 24"/>
          <p:cNvSpPr txBox="1"/>
          <p:nvPr/>
        </p:nvSpPr>
        <p:spPr>
          <a:xfrm>
            <a:off x="8256060" y="1278000"/>
            <a:ext cx="3060000" cy="1044000"/>
          </a:xfrm>
          <a:prstGeom prst="rect">
            <a:avLst/>
          </a:prstGeom>
          <a:noFill/>
        </p:spPr>
        <p:txBody>
          <a:bodyPr wrap="square" lIns="0" rIns="0" tIns="0" bIns="0" anchor="ctr">
            <a:noAutofit/>
          </a:bodyPr>
          <a:lstStyle/>
          <a:p>
            <a:pPr algn="ctr" marL="0" indent="0">
              <a:lnSpc>
                <a:spcPts val="1920"/>
              </a:lnSpc>
              <a:spcBef>
                <a:spcPts val="0"/>
              </a:spcBef>
              <a:spcAft>
                <a:spcPts val="0"/>
              </a:spcAft>
              <a:buNone/>
            </a:pPr>
            <a:r>
              <a:rPr sz="1600" b="1" i="0" lang="ko-KR" altLang="en-US">
                <a:solidFill>
                  <a:srgbClr val="FFFFFF"/>
                </a:solidFill>
                <a:latin typeface="맑은 고딕"/>
                <a:ea typeface="맑은 고딕"/>
                <a:cs typeface="맑은 고딕"/>
              </a:rPr>
              <a:t>Hybrid bond pad</a:t>
            </a:r>
          </a:p>
          <a:p>
            <a:pPr algn="ctr" marL="0" indent="0">
              <a:lnSpc>
                <a:spcPts val="1920"/>
              </a:lnSpc>
              <a:spcBef>
                <a:spcPts val="0"/>
              </a:spcBef>
              <a:spcAft>
                <a:spcPts val="0"/>
              </a:spcAft>
              <a:buNone/>
            </a:pPr>
            <a:r>
              <a:rPr sz="1600" b="1" i="0" lang="ko-KR" altLang="en-US">
                <a:solidFill>
                  <a:srgbClr val="FFFFFF"/>
                </a:solidFill>
                <a:latin typeface="맑은 고딕"/>
                <a:ea typeface="맑은 고딕"/>
                <a:cs typeface="맑은 고딕"/>
              </a:rPr>
              <a:t>structure</a:t>
            </a:r>
          </a:p>
        </p:txBody>
      </p:sp>
      <p:sp>
        <p:nvSpPr>
          <p:cNvPr id="26" name="TextBox 25"/>
          <p:cNvSpPr txBox="1"/>
          <p:nvPr/>
        </p:nvSpPr>
        <p:spPr>
          <a:xfrm>
            <a:off x="8112060" y="2484000"/>
            <a:ext cx="3348000" cy="252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부여된 CPC 기호 (H01L 생략)</a:t>
            </a:r>
          </a:p>
        </p:txBody>
      </p:sp>
      <p:sp>
        <p:nvSpPr>
          <p:cNvPr id="27" name="Rounded Rectangle 26"/>
          <p:cNvSpPr/>
          <p:nvPr/>
        </p:nvSpPr>
        <p:spPr>
          <a:xfrm>
            <a:off x="8461260" y="2772000"/>
            <a:ext cx="630000" cy="342000"/>
          </a:xfrm>
          <a:prstGeom prst="roundRect">
            <a:avLst>
              <a:gd name="adj" fmla="val 50000"/>
            </a:avLst>
          </a:prstGeom>
          <a:solidFill>
            <a:srgbClr val="FFFFFF"/>
          </a:solidFill>
          <a:ln w="12700">
            <a:solidFill>
              <a:srgbClr val="EA7A28"/>
            </a:solid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EA7A28"/>
                </a:solidFill>
                <a:latin typeface="맑은 고딕"/>
                <a:ea typeface="맑은 고딕"/>
                <a:cs typeface="맑은 고딕"/>
              </a:rPr>
              <a:t>24/00</a:t>
            </a:r>
          </a:p>
        </p:txBody>
      </p:sp>
      <p:sp>
        <p:nvSpPr>
          <p:cNvPr id="28" name="Rounded Rectangle 27"/>
          <p:cNvSpPr/>
          <p:nvPr/>
        </p:nvSpPr>
        <p:spPr>
          <a:xfrm>
            <a:off x="9134460" y="2772000"/>
            <a:ext cx="630000" cy="342000"/>
          </a:xfrm>
          <a:prstGeom prst="roundRect">
            <a:avLst>
              <a:gd name="adj" fmla="val 50000"/>
            </a:avLst>
          </a:prstGeom>
          <a:solidFill>
            <a:srgbClr val="FFFFFF"/>
          </a:solidFill>
          <a:ln w="12700">
            <a:solidFill>
              <a:srgbClr val="EA7A28"/>
            </a:solid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EA7A28"/>
                </a:solidFill>
                <a:latin typeface="맑은 고딕"/>
                <a:ea typeface="맑은 고딕"/>
                <a:cs typeface="맑은 고딕"/>
              </a:rPr>
              <a:t>24/05</a:t>
            </a:r>
          </a:p>
        </p:txBody>
      </p:sp>
      <p:sp>
        <p:nvSpPr>
          <p:cNvPr id="29" name="Rounded Rectangle 28"/>
          <p:cNvSpPr/>
          <p:nvPr/>
        </p:nvSpPr>
        <p:spPr>
          <a:xfrm>
            <a:off x="9807660" y="2772000"/>
            <a:ext cx="630000" cy="342000"/>
          </a:xfrm>
          <a:prstGeom prst="roundRect">
            <a:avLst>
              <a:gd name="adj" fmla="val 50000"/>
            </a:avLst>
          </a:prstGeom>
          <a:solidFill>
            <a:srgbClr val="FFFFFF"/>
          </a:solidFill>
          <a:ln w="12700">
            <a:solidFill>
              <a:srgbClr val="EA7A28"/>
            </a:solid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EA7A28"/>
                </a:solidFill>
                <a:latin typeface="맑은 고딕"/>
                <a:ea typeface="맑은 고딕"/>
                <a:cs typeface="맑은 고딕"/>
              </a:rPr>
              <a:t>24/08</a:t>
            </a:r>
          </a:p>
        </p:txBody>
      </p:sp>
      <p:sp>
        <p:nvSpPr>
          <p:cNvPr id="30" name="Rounded Rectangle 29"/>
          <p:cNvSpPr/>
          <p:nvPr/>
        </p:nvSpPr>
        <p:spPr>
          <a:xfrm>
            <a:off x="10480860" y="2772000"/>
            <a:ext cx="630000" cy="342000"/>
          </a:xfrm>
          <a:prstGeom prst="roundRect">
            <a:avLst>
              <a:gd name="adj" fmla="val 50000"/>
            </a:avLst>
          </a:prstGeom>
          <a:solidFill>
            <a:srgbClr val="FFFFFF"/>
          </a:solidFill>
          <a:ln w="12700">
            <a:solidFill>
              <a:srgbClr val="EA7A28"/>
            </a:solid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EA7A28"/>
                </a:solidFill>
                <a:latin typeface="맑은 고딕"/>
                <a:ea typeface="맑은 고딕"/>
                <a:cs typeface="맑은 고딕"/>
              </a:rPr>
              <a:t>24/80</a:t>
            </a:r>
          </a:p>
        </p:txBody>
      </p:sp>
      <p:cxnSp>
        <p:nvCxnSpPr>
          <p:cNvPr id="31" name="Connector 30"/>
          <p:cNvCxnSpPr/>
          <p:nvPr/>
        </p:nvCxnSpPr>
        <p:spPr>
          <a:xfrm>
            <a:off x="9786060" y="3204000"/>
            <a:ext cx="0" cy="306000"/>
          </a:xfrm>
          <a:prstGeom prst="line">
            <a:avLst/>
          </a:prstGeom>
          <a:ln w="31750">
            <a:solidFill>
              <a:srgbClr val="EA7A28"/>
            </a:solidFill>
            <a:tailEnd type="triangle" w="med" len="med"/>
          </a:ln>
        </p:spPr>
      </p:cxnSp>
      <p:sp>
        <p:nvSpPr>
          <p:cNvPr id="32" name="Rounded Rectangle 31"/>
          <p:cNvSpPr/>
          <p:nvPr/>
        </p:nvSpPr>
        <p:spPr>
          <a:xfrm>
            <a:off x="8112060" y="3564000"/>
            <a:ext cx="3348000" cy="936000"/>
          </a:xfrm>
          <a:prstGeom prst="roundRect">
            <a:avLst>
              <a:gd name="adj" fmla="val 18000"/>
            </a:avLst>
          </a:prstGeom>
          <a:solidFill>
            <a:srgbClr val="FDEBDD"/>
          </a:solidFill>
          <a:ln w="19050">
            <a:solidFill>
              <a:srgbClr val="EA7A28"/>
            </a:solidFill>
          </a:ln>
        </p:spPr>
        <p:txBody>
          <a:bodyPr rtlCol="0" anchor="ctr" lIns="54000" rIns="54000" tIns="18000" bIns="18000" wrap="square">
            <a:noAutofit/>
          </a:bodyPr>
          <a:lstStyle/>
          <a:p>
            <a:pPr algn="ctr" marL="0" indent="0">
              <a:lnSpc>
                <a:spcPts val="2400"/>
              </a:lnSpc>
              <a:spcBef>
                <a:spcPts val="0"/>
              </a:spcBef>
              <a:spcAft>
                <a:spcPts val="0"/>
              </a:spcAft>
              <a:buNone/>
            </a:pPr>
            <a:r>
              <a:rPr sz="2000" b="1" i="0" lang="ko-KR" altLang="en-US">
                <a:solidFill>
                  <a:srgbClr val="EA7A28"/>
                </a:solidFill>
                <a:latin typeface="맑은 고딕"/>
                <a:ea typeface="맑은 고딕"/>
                <a:cs typeface="맑은 고딕"/>
              </a:rPr>
              <a:t>접합 단독형</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Bonding-only  ·  H01L24만 보유</a:t>
            </a:r>
          </a:p>
        </p:txBody>
      </p:sp>
      <p:sp>
        <p:nvSpPr>
          <p:cNvPr id="33" name="Rounded Rectangle 32"/>
          <p:cNvSpPr/>
          <p:nvPr/>
        </p:nvSpPr>
        <p:spPr>
          <a:xfrm>
            <a:off x="540000" y="4752000"/>
            <a:ext cx="11112120" cy="106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34" name="TextBox 33"/>
          <p:cNvSpPr txBox="1"/>
          <p:nvPr/>
        </p:nvSpPr>
        <p:spPr>
          <a:xfrm>
            <a:off x="756000" y="4806000"/>
            <a:ext cx="3272040" cy="252000"/>
          </a:xfrm>
          <a:prstGeom prst="rect">
            <a:avLst/>
          </a:prstGeom>
          <a:noFill/>
        </p:spPr>
        <p:txBody>
          <a:bodyPr wrap="square" lIns="0" rIns="0" tIns="0" bIns="0" anchor="ctr">
            <a:noAutofit/>
          </a:bodyPr>
          <a:lstStyle/>
          <a:p>
            <a:pPr algn="ctr"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이론적 개념</a:t>
            </a:r>
          </a:p>
        </p:txBody>
      </p:sp>
      <p:sp>
        <p:nvSpPr>
          <p:cNvPr id="35" name="TextBox 34"/>
          <p:cNvSpPr txBox="1"/>
          <p:nvPr/>
        </p:nvSpPr>
        <p:spPr>
          <a:xfrm>
            <a:off x="756000" y="5040000"/>
            <a:ext cx="3272040" cy="324000"/>
          </a:xfrm>
          <a:prstGeom prst="rect">
            <a:avLst/>
          </a:prstGeom>
          <a:noFill/>
        </p:spPr>
        <p:txBody>
          <a:bodyPr wrap="square" lIns="0" rIns="0" tIns="0" bIns="0" anchor="ctr">
            <a:noAutofit/>
          </a:bodyPr>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공정 단계 간 기술융합</a:t>
            </a:r>
          </a:p>
        </p:txBody>
      </p:sp>
      <p:cxnSp>
        <p:nvCxnSpPr>
          <p:cNvPr id="36" name="Connector 35"/>
          <p:cNvCxnSpPr/>
          <p:nvPr/>
        </p:nvCxnSpPr>
        <p:spPr>
          <a:xfrm>
            <a:off x="4082040" y="5202000"/>
            <a:ext cx="324000" cy="0"/>
          </a:xfrm>
          <a:prstGeom prst="line">
            <a:avLst/>
          </a:prstGeom>
          <a:ln w="25400">
            <a:solidFill>
              <a:srgbClr val="13294B"/>
            </a:solidFill>
            <a:tailEnd type="triangle" w="med" len="med"/>
          </a:ln>
        </p:spPr>
      </p:cxnSp>
      <p:sp>
        <p:nvSpPr>
          <p:cNvPr id="37" name="TextBox 36"/>
          <p:cNvSpPr txBox="1"/>
          <p:nvPr/>
        </p:nvSpPr>
        <p:spPr>
          <a:xfrm>
            <a:off x="4460040" y="4806000"/>
            <a:ext cx="3272040" cy="252000"/>
          </a:xfrm>
          <a:prstGeom prst="rect">
            <a:avLst/>
          </a:prstGeom>
          <a:noFill/>
        </p:spPr>
        <p:txBody>
          <a:bodyPr wrap="square" lIns="0" rIns="0" tIns="0" bIns="0" anchor="ctr">
            <a:noAutofit/>
          </a:bodyPr>
          <a:lstStyle/>
          <a:p>
            <a:pPr algn="ctr"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관찰 현상</a:t>
            </a:r>
          </a:p>
        </p:txBody>
      </p:sp>
      <p:sp>
        <p:nvSpPr>
          <p:cNvPr id="38" name="TextBox 37"/>
          <p:cNvSpPr txBox="1"/>
          <p:nvPr/>
        </p:nvSpPr>
        <p:spPr>
          <a:xfrm>
            <a:off x="4460040" y="5040000"/>
            <a:ext cx="3272040" cy="324000"/>
          </a:xfrm>
          <a:prstGeom prst="rect">
            <a:avLst/>
          </a:prstGeom>
          <a:noFill/>
        </p:spPr>
        <p:txBody>
          <a:bodyPr wrap="square" lIns="0" rIns="0" tIns="0" bIns="0" anchor="ctr">
            <a:noAutofit/>
          </a:bodyPr>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두 기술이 한 출원에 함께 포함</a:t>
            </a:r>
          </a:p>
        </p:txBody>
      </p:sp>
      <p:cxnSp>
        <p:nvCxnSpPr>
          <p:cNvPr id="39" name="Connector 38"/>
          <p:cNvCxnSpPr/>
          <p:nvPr/>
        </p:nvCxnSpPr>
        <p:spPr>
          <a:xfrm>
            <a:off x="7786080" y="5202000"/>
            <a:ext cx="324000" cy="0"/>
          </a:xfrm>
          <a:prstGeom prst="line">
            <a:avLst/>
          </a:prstGeom>
          <a:ln w="25400">
            <a:solidFill>
              <a:srgbClr val="13294B"/>
            </a:solidFill>
            <a:tailEnd type="triangle" w="med" len="med"/>
          </a:ln>
        </p:spPr>
      </p:cxnSp>
      <p:sp>
        <p:nvSpPr>
          <p:cNvPr id="40" name="TextBox 39"/>
          <p:cNvSpPr txBox="1"/>
          <p:nvPr/>
        </p:nvSpPr>
        <p:spPr>
          <a:xfrm>
            <a:off x="8164080" y="4806000"/>
            <a:ext cx="3272040" cy="252000"/>
          </a:xfrm>
          <a:prstGeom prst="rect">
            <a:avLst/>
          </a:prstGeom>
          <a:noFill/>
        </p:spPr>
        <p:txBody>
          <a:bodyPr wrap="square" lIns="0" rIns="0" tIns="0" bIns="0" anchor="ctr">
            <a:noAutofit/>
          </a:bodyPr>
          <a:lstStyle/>
          <a:p>
            <a:pPr algn="ctr"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조작적 지표 (H01L21–H01L24)</a:t>
            </a:r>
          </a:p>
        </p:txBody>
      </p:sp>
      <p:sp>
        <p:nvSpPr>
          <p:cNvPr id="41" name="TextBox 40"/>
          <p:cNvSpPr txBox="1"/>
          <p:nvPr/>
        </p:nvSpPr>
        <p:spPr>
          <a:xfrm>
            <a:off x="8164080" y="5040000"/>
            <a:ext cx="3272040" cy="324000"/>
          </a:xfrm>
          <a:prstGeom prst="rect">
            <a:avLst/>
          </a:prstGeom>
          <a:noFill/>
        </p:spPr>
        <p:txBody>
          <a:bodyPr wrap="square" lIns="0" rIns="0" tIns="0" bIns="0" anchor="ctr">
            <a:noAutofit/>
          </a:bodyPr>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공동분류 = 대리측정치</a:t>
            </a:r>
          </a:p>
        </p:txBody>
      </p:sp>
      <p:sp>
        <p:nvSpPr>
          <p:cNvPr id="42" name="TextBox 41"/>
          <p:cNvSpPr txBox="1"/>
          <p:nvPr/>
        </p:nvSpPr>
        <p:spPr>
          <a:xfrm>
            <a:off x="756000" y="5418000"/>
            <a:ext cx="10680120" cy="324000"/>
          </a:xfrm>
          <a:prstGeom prst="rect">
            <a:avLst/>
          </a:prstGeom>
          <a:noFill/>
        </p:spPr>
        <p:txBody>
          <a:bodyPr wrap="square" lIns="0" rIns="0" tIns="0" bIns="0" anchor="ctr">
            <a:noAutofit/>
          </a:bodyPr>
          <a:lstStyle/>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CPC 기호는 심사관이 기술 내용에 따라 부여 → 법적 청구범위의 측정이 아님 (Curran &amp; Leker, 2011; Fleming, 2001)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3.3  </a:t>
            </a:r>
            <a:r>
              <a:rPr sz="2200" b="1" i="0" lang="ko-KR" altLang="en-US">
                <a:solidFill>
                  <a:srgbClr val="13294B"/>
                </a:solidFill>
                <a:latin typeface="맑은 고딕"/>
                <a:ea typeface="맑은 고딕"/>
                <a:cs typeface="맑은 고딕"/>
              </a:rPr>
              <a:t>측정: 핵심 기술의 식별</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접합 패드에 관한 기호 4개(24/03 · 24/05 · 24/08 · 24/80)를 하이브리드 본딩의 핵심 기술로 정의</a:t>
            </a:r>
          </a:p>
        </p:txBody>
      </p:sp>
      <p:pic>
        <p:nvPicPr>
          <p:cNvPr id="4" name="Picture 3" descr="network_ko.png"/>
          <p:cNvPicPr>
            <a:picLocks noChangeAspect="1"/>
          </p:cNvPicPr>
          <p:nvPr/>
        </p:nvPicPr>
        <p:blipFill>
          <a:blip r:embed="rId3"/>
          <a:stretch>
            <a:fillRect/>
          </a:stretch>
        </p:blipFill>
        <p:spPr>
          <a:xfrm>
            <a:off x="540000" y="882000"/>
            <a:ext cx="5040000" cy="4160000"/>
          </a:xfrm>
          <a:prstGeom prst="rect">
            <a:avLst/>
          </a:prstGeom>
        </p:spPr>
      </p:pic>
      <p:sp>
        <p:nvSpPr>
          <p:cNvPr id="5" name="TextBox 4"/>
          <p:cNvSpPr txBox="1"/>
          <p:nvPr/>
        </p:nvSpPr>
        <p:spPr>
          <a:xfrm>
            <a:off x="540000" y="5006000"/>
            <a:ext cx="5040000" cy="198000"/>
          </a:xfrm>
          <a:prstGeom prst="rect">
            <a:avLst/>
          </a:prstGeom>
          <a:noFill/>
        </p:spPr>
        <p:txBody>
          <a:bodyPr wrap="square" lIns="0" rIns="0" tIns="0" bIns="0" anchor="ctr">
            <a:noAutofit/>
          </a:bodyPr>
          <a:lstStyle/>
          <a:p>
            <a:pPr algn="ct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회귀 자료의 기술 네트워크 (출원 30건 이상 기호, 논문 그림 4)</a:t>
            </a:r>
          </a:p>
        </p:txBody>
      </p:sp>
      <p:sp>
        <p:nvSpPr>
          <p:cNvPr id="6" name="TextBox 5"/>
          <p:cNvSpPr txBox="1"/>
          <p:nvPr/>
        </p:nvSpPr>
        <p:spPr>
          <a:xfrm>
            <a:off x="5904000" y="936000"/>
            <a:ext cx="5748120" cy="324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핵심 기술: 출원 200건 이상에 부여된 접합 기호</a:t>
            </a:r>
          </a:p>
        </p:txBody>
      </p:sp>
      <p:graphicFrame>
        <p:nvGraphicFramePr>
          <p:cNvPr id="7" name="Table 6"/>
          <p:cNvGraphicFramePr>
            <a:graphicFrameLocks noGrp="1"/>
          </p:cNvGraphicFramePr>
          <p:nvPr/>
        </p:nvGraphicFramePr>
        <p:xfrm>
          <a:off x="5904000" y="1296000"/>
          <a:ext cx="5748120" cy="1854000"/>
        </p:xfrm>
        <a:graphic>
          <a:graphicData uri="http://schemas.openxmlformats.org/drawingml/2006/table">
            <a:tbl>
              <a:tblPr firstRow="1">
                <a:tableStyleId>{2D5ABB26-0587-4C30-8999-92F81FD0307C}</a:tableStyleId>
              </a:tblPr>
              <a:tblGrid>
                <a:gridCol w="1404000"/>
                <a:gridCol w="3048120"/>
                <a:gridCol w="1296000"/>
              </a:tblGrid>
              <a:tr h="342000">
                <a:tc>
                  <a:txBody>
                    <a:bodyPr wrap="square"/>
                    <a:lstStyle/>
                    <a:p>
                      <a:pPr algn="ctr" marL="0" indent="0">
                        <a:lnSpc>
                          <a:spcPts val="1500"/>
                        </a:lnSpc>
                        <a:spcBef>
                          <a:spcPts val="0"/>
                        </a:spcBef>
                        <a:spcAft>
                          <a:spcPts val="0"/>
                        </a:spcAft>
                        <a:buNone/>
                      </a:pPr>
                      <a:r>
                        <a:rPr sz="1250" b="1" i="0" lang="ko-KR" altLang="en-US">
                          <a:solidFill>
                            <a:srgbClr val="FFFFFF"/>
                          </a:solidFill>
                          <a:latin typeface="맑은 고딕"/>
                          <a:ea typeface="맑은 고딕"/>
                          <a:cs typeface="맑은 고딕"/>
                        </a:rPr>
                        <a:t>CPC 기호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500"/>
                        </a:lnSpc>
                        <a:spcBef>
                          <a:spcPts val="0"/>
                        </a:spcBef>
                        <a:spcAft>
                          <a:spcPts val="0"/>
                        </a:spcAft>
                        <a:buNone/>
                      </a:pPr>
                      <a:r>
                        <a:rPr sz="1250" b="1" i="0" lang="ko-KR" altLang="en-US">
                          <a:solidFill>
                            <a:srgbClr val="FFFFFF"/>
                          </a:solidFill>
                          <a:latin typeface="맑은 고딕"/>
                          <a:ea typeface="맑은 고딕"/>
                          <a:cs typeface="맑은 고딕"/>
                        </a:rPr>
                        <a:t>내용</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500"/>
                        </a:lnSpc>
                        <a:spcBef>
                          <a:spcPts val="0"/>
                        </a:spcBef>
                        <a:spcAft>
                          <a:spcPts val="0"/>
                        </a:spcAft>
                        <a:buNone/>
                      </a:pPr>
                      <a:r>
                        <a:rPr sz="1250" b="1" i="0" lang="ko-KR" altLang="en-US">
                          <a:solidFill>
                            <a:srgbClr val="FFFFFF"/>
                          </a:solidFill>
                          <a:latin typeface="맑은 고딕"/>
                          <a:ea typeface="맑은 고딕"/>
                          <a:cs typeface="맑은 고딕"/>
                        </a:rPr>
                        <a:t>출원 수(비중)</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78000">
                <a:tc>
                  <a:txBody>
                    <a:bodyPr wrap="square"/>
                    <a:lstStyle/>
                    <a:p>
                      <a:pPr algn="ctr" marL="0" indent="0">
                        <a:lnSpc>
                          <a:spcPts val="1500"/>
                        </a:lnSpc>
                        <a:spcBef>
                          <a:spcPts val="0"/>
                        </a:spcBef>
                        <a:spcAft>
                          <a:spcPts val="0"/>
                        </a:spcAft>
                        <a:buNone/>
                      </a:pPr>
                      <a:r>
                        <a:rPr sz="1250" b="1" i="0" lang="ko-KR" altLang="en-US">
                          <a:solidFill>
                            <a:srgbClr val="1E2532"/>
                          </a:solidFill>
                          <a:latin typeface="맑은 고딕"/>
                          <a:ea typeface="맑은 고딕"/>
                          <a:cs typeface="맑은 고딕"/>
                        </a:rPr>
                        <a:t>H01L 24/80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접합 패드를 이용한 연결 방법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529 (57.0%)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78000">
                <a:tc>
                  <a:txBody>
                    <a:bodyPr wrap="square"/>
                    <a:lstStyle/>
                    <a:p>
                      <a:pPr algn="ctr" marL="0" indent="0">
                        <a:lnSpc>
                          <a:spcPts val="1500"/>
                        </a:lnSpc>
                        <a:spcBef>
                          <a:spcPts val="0"/>
                        </a:spcBef>
                        <a:spcAft>
                          <a:spcPts val="0"/>
                        </a:spcAft>
                        <a:buNone/>
                      </a:pPr>
                      <a:r>
                        <a:rPr sz="1250" b="1" i="0" lang="ko-KR" altLang="en-US">
                          <a:solidFill>
                            <a:srgbClr val="1E2532"/>
                          </a:solidFill>
                          <a:latin typeface="맑은 고딕"/>
                          <a:ea typeface="맑은 고딕"/>
                          <a:cs typeface="맑은 고딕"/>
                        </a:rPr>
                        <a:t>H01L 24/08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연결 후 접합 패드의 구조</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513 (55.3%)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78000">
                <a:tc>
                  <a:txBody>
                    <a:bodyPr wrap="square"/>
                    <a:lstStyle/>
                    <a:p>
                      <a:pPr algn="ctr" marL="0" indent="0">
                        <a:lnSpc>
                          <a:spcPts val="1500"/>
                        </a:lnSpc>
                        <a:spcBef>
                          <a:spcPts val="0"/>
                        </a:spcBef>
                        <a:spcAft>
                          <a:spcPts val="0"/>
                        </a:spcAft>
                        <a:buNone/>
                      </a:pPr>
                      <a:r>
                        <a:rPr sz="1250" b="1" i="0" lang="ko-KR" altLang="en-US">
                          <a:solidFill>
                            <a:srgbClr val="1E2532"/>
                          </a:solidFill>
                          <a:latin typeface="맑은 고딕"/>
                          <a:ea typeface="맑은 고딕"/>
                          <a:cs typeface="맑은 고딕"/>
                        </a:rPr>
                        <a:t>H01L 24/05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연결 전 접합 패드의 구조</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350 (37.7%)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78000">
                <a:tc>
                  <a:txBody>
                    <a:bodyPr wrap="square"/>
                    <a:lstStyle/>
                    <a:p>
                      <a:pPr algn="ctr" marL="0" indent="0">
                        <a:lnSpc>
                          <a:spcPts val="1500"/>
                        </a:lnSpc>
                        <a:spcBef>
                          <a:spcPts val="0"/>
                        </a:spcBef>
                        <a:spcAft>
                          <a:spcPts val="0"/>
                        </a:spcAft>
                        <a:buNone/>
                      </a:pPr>
                      <a:r>
                        <a:rPr sz="1250" b="1" i="0" lang="ko-KR" altLang="en-US">
                          <a:solidFill>
                            <a:srgbClr val="1E2532"/>
                          </a:solidFill>
                          <a:latin typeface="맑은 고딕"/>
                          <a:ea typeface="맑은 고딕"/>
                          <a:cs typeface="맑은 고딕"/>
                        </a:rPr>
                        <a:t>H01L 24/03</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접합 패드의 제조 방법</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222 (23.9%)</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r>
            </a:tbl>
          </a:graphicData>
        </a:graphic>
      </p:graphicFrame>
      <p:sp>
        <p:nvSpPr>
          <p:cNvPr id="8" name="Rounded Rectangle 7"/>
          <p:cNvSpPr/>
          <p:nvPr/>
        </p:nvSpPr>
        <p:spPr>
          <a:xfrm>
            <a:off x="5904000" y="3330000"/>
            <a:ext cx="1008000" cy="378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클러스터</a:t>
            </a:r>
          </a:p>
        </p:txBody>
      </p:sp>
      <p:sp>
        <p:nvSpPr>
          <p:cNvPr id="9" name="TextBox 8"/>
          <p:cNvSpPr txBox="1"/>
          <p:nvPr/>
        </p:nvSpPr>
        <p:spPr>
          <a:xfrm>
            <a:off x="7020000" y="3330000"/>
            <a:ext cx="4632120" cy="378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네 기호는 출원 200건 이상에 부여된 H01L24 기호 전부</a:t>
            </a:r>
          </a:p>
        </p:txBody>
      </p:sp>
      <p:sp>
        <p:nvSpPr>
          <p:cNvPr id="10" name="Rounded Rectangle 9"/>
          <p:cNvSpPr/>
          <p:nvPr/>
        </p:nvSpPr>
        <p:spPr>
          <a:xfrm>
            <a:off x="5904000" y="3852000"/>
            <a:ext cx="1008000" cy="378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네트워크</a:t>
            </a:r>
          </a:p>
        </p:txBody>
      </p:sp>
      <p:sp>
        <p:nvSpPr>
          <p:cNvPr id="11" name="TextBox 10"/>
          <p:cNvSpPr txBox="1"/>
          <p:nvPr/>
        </p:nvSpPr>
        <p:spPr>
          <a:xfrm>
            <a:off x="7020000" y="3852000"/>
            <a:ext cx="4632120" cy="378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연결 강도 상위 4개 기호 = 이 네 기호, 네 기호의 6개 쌍 = 가장 강한 6개 연결</a:t>
            </a:r>
          </a:p>
        </p:txBody>
      </p:sp>
      <p:sp>
        <p:nvSpPr>
          <p:cNvPr id="12" name="Rounded Rectangle 11"/>
          <p:cNvSpPr/>
          <p:nvPr/>
        </p:nvSpPr>
        <p:spPr>
          <a:xfrm>
            <a:off x="5904000" y="4374000"/>
            <a:ext cx="1008000" cy="378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CPC 체계</a:t>
            </a:r>
          </a:p>
        </p:txBody>
      </p:sp>
      <p:sp>
        <p:nvSpPr>
          <p:cNvPr id="13" name="TextBox 12"/>
          <p:cNvSpPr txBox="1"/>
          <p:nvPr/>
        </p:nvSpPr>
        <p:spPr>
          <a:xfrm>
            <a:off x="7020000" y="4374000"/>
            <a:ext cx="4632120" cy="378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모두 접합 패드 그룹: 범프 · 층 · 와이어 없이 패드끼리 연결</a:t>
            </a:r>
          </a:p>
        </p:txBody>
      </p:sp>
      <p:sp>
        <p:nvSpPr>
          <p:cNvPr id="14" name="Rounded Rectangle 13"/>
          <p:cNvSpPr/>
          <p:nvPr/>
        </p:nvSpPr>
        <p:spPr>
          <a:xfrm>
            <a:off x="5904000" y="4986000"/>
            <a:ext cx="5748120" cy="774000"/>
          </a:xfrm>
          <a:prstGeom prst="roundRect">
            <a:avLst>
              <a:gd name="adj" fmla="val 6000"/>
            </a:avLst>
          </a:prstGeom>
          <a:solidFill>
            <a:srgbClr val="FFF0C2"/>
          </a:solidFill>
          <a:ln>
            <a:noFill/>
          </a:ln>
        </p:spPr>
        <p:txBody>
          <a:bodyPr rtlCol="0" anchor="ctr" lIns="36000" rIns="36000" tIns="36000" bIns="36000"/>
          <a:lstStyle/>
          <a:p>
            <a:pPr algn="ctr"/>
          </a:p>
        </p:txBody>
      </p:sp>
      <p:sp>
        <p:nvSpPr>
          <p:cNvPr id="15" name="TextBox 14"/>
          <p:cNvSpPr txBox="1"/>
          <p:nvPr/>
        </p:nvSpPr>
        <p:spPr>
          <a:xfrm>
            <a:off x="6048000" y="4986000"/>
            <a:ext cx="5460120" cy="774000"/>
          </a:xfrm>
          <a:prstGeom prst="rect">
            <a:avLst/>
          </a:prstGeom>
          <a:noFill/>
        </p:spPr>
        <p:txBody>
          <a:bodyPr wrap="square" lIns="0" rIns="0" tIns="0" bIns="0" anchor="ctr">
            <a:noAutofit/>
          </a:bodyPr>
          <a:lstStyle/>
          <a:p>
            <a:pPr algn="ctr"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접합 출원 763건 중 620건(81.3%)이 핵심 기술 포함</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3.4  </a:t>
            </a:r>
            <a:r>
              <a:rPr sz="2200" b="1" i="0" lang="ko-KR" altLang="en-US">
                <a:solidFill>
                  <a:srgbClr val="13294B"/>
                </a:solidFill>
                <a:latin typeface="맑은 고딕"/>
                <a:ea typeface="맑은 고딕"/>
                <a:cs typeface="맑은 고딕"/>
              </a:rPr>
              <a:t>분석 방법</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모든 모형에 출원청을 통제하고, 계수는 인과효과가 아닌 조건부 연관으로 해석한다</a:t>
            </a:r>
          </a:p>
        </p:txBody>
      </p:sp>
      <p:sp>
        <p:nvSpPr>
          <p:cNvPr id="4" name="Rectangle 3"/>
          <p:cNvSpPr/>
          <p:nvPr/>
        </p:nvSpPr>
        <p:spPr>
          <a:xfrm>
            <a:off x="642060" y="1134000"/>
            <a:ext cx="3456000" cy="2592000"/>
          </a:xfrm>
          <a:prstGeom prst="rect">
            <a:avLst/>
          </a:prstGeom>
          <a:solidFill>
            <a:srgbClr val="FFFFFF"/>
          </a:solidFill>
          <a:ln w="15875">
            <a:solidFill>
              <a:srgbClr val="13294B"/>
            </a:solidFill>
          </a:ln>
        </p:spPr>
        <p:txBody>
          <a:bodyPr rtlCol="0" anchor="ctr" lIns="36000" rIns="36000" tIns="36000" bIns="36000"/>
          <a:lstStyle/>
          <a:p>
            <a:pPr algn="ctr"/>
          </a:p>
        </p:txBody>
      </p:sp>
      <p:sp>
        <p:nvSpPr>
          <p:cNvPr id="5" name="Rectangle 4"/>
          <p:cNvSpPr/>
          <p:nvPr/>
        </p:nvSpPr>
        <p:spPr>
          <a:xfrm>
            <a:off x="822060" y="972000"/>
            <a:ext cx="3096000" cy="324000"/>
          </a:xfrm>
          <a:prstGeom prst="rect">
            <a:avLst/>
          </a:prstGeom>
          <a:solidFill>
            <a:srgbClr val="13294B"/>
          </a:solidFill>
          <a:ln>
            <a:noFill/>
          </a:ln>
        </p:spPr>
        <p:txBody>
          <a:bodyPr rtlCol="0" anchor="ctr" lIns="18000" rIns="180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모형 1 · 다항 로짓 (주모형)</a:t>
            </a:r>
          </a:p>
        </p:txBody>
      </p:sp>
      <p:sp>
        <p:nvSpPr>
          <p:cNvPr id="6" name="TextBox 5"/>
          <p:cNvSpPr txBox="1"/>
          <p:nvPr/>
        </p:nvSpPr>
        <p:spPr>
          <a:xfrm>
            <a:off x="786060" y="1386000"/>
            <a:ext cx="3168000" cy="2268000"/>
          </a:xfrm>
          <a:prstGeom prst="rect">
            <a:avLst/>
          </a:prstGeom>
          <a:noFill/>
        </p:spPr>
        <p:txBody>
          <a:bodyPr wrap="square" lIns="0" rIns="0" tIns="0" bIns="0" anchor="t">
            <a:noAutofit/>
          </a:bodyPr>
          <a:lstStyle/>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종속변수</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공동분류 유형 (기준 = 접합 단독형)</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설명변수</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기술범위, 출원연도</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보고</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상대위험비(RRR) · 예측확률</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표본</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928건</a:t>
            </a:r>
          </a:p>
        </p:txBody>
      </p:sp>
      <p:sp>
        <p:nvSpPr>
          <p:cNvPr id="7" name="Rounded Rectangle 6"/>
          <p:cNvSpPr/>
          <p:nvPr/>
        </p:nvSpPr>
        <p:spPr>
          <a:xfrm>
            <a:off x="2910060" y="3330000"/>
            <a:ext cx="1044000" cy="288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RQ1 · RQ2</a:t>
            </a:r>
          </a:p>
        </p:txBody>
      </p:sp>
      <p:sp>
        <p:nvSpPr>
          <p:cNvPr id="8" name="Rectangle 7"/>
          <p:cNvSpPr/>
          <p:nvPr/>
        </p:nvSpPr>
        <p:spPr>
          <a:xfrm>
            <a:off x="4368060" y="1134000"/>
            <a:ext cx="3456000" cy="2592000"/>
          </a:xfrm>
          <a:prstGeom prst="rect">
            <a:avLst/>
          </a:prstGeom>
          <a:solidFill>
            <a:srgbClr val="FFFFFF"/>
          </a:solidFill>
          <a:ln w="15875">
            <a:solidFill>
              <a:srgbClr val="13294B"/>
            </a:solidFill>
          </a:ln>
        </p:spPr>
        <p:txBody>
          <a:bodyPr rtlCol="0" anchor="ctr" lIns="36000" rIns="36000" tIns="36000" bIns="36000"/>
          <a:lstStyle/>
          <a:p>
            <a:pPr algn="ctr"/>
          </a:p>
        </p:txBody>
      </p:sp>
      <p:sp>
        <p:nvSpPr>
          <p:cNvPr id="9" name="Rectangle 8"/>
          <p:cNvSpPr/>
          <p:nvPr/>
        </p:nvSpPr>
        <p:spPr>
          <a:xfrm>
            <a:off x="4548060" y="972000"/>
            <a:ext cx="3096000" cy="324000"/>
          </a:xfrm>
          <a:prstGeom prst="rect">
            <a:avLst/>
          </a:prstGeom>
          <a:solidFill>
            <a:srgbClr val="13294B"/>
          </a:solidFill>
          <a:ln>
            <a:noFill/>
          </a:ln>
        </p:spPr>
        <p:txBody>
          <a:bodyPr rtlCol="0" anchor="ctr" lIns="18000" rIns="180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모형 2 · 이항 로짓 (보완)</a:t>
            </a:r>
          </a:p>
        </p:txBody>
      </p:sp>
      <p:sp>
        <p:nvSpPr>
          <p:cNvPr id="10" name="TextBox 9"/>
          <p:cNvSpPr txBox="1"/>
          <p:nvPr/>
        </p:nvSpPr>
        <p:spPr>
          <a:xfrm>
            <a:off x="4512060" y="1386000"/>
            <a:ext cx="3168000" cy="2268000"/>
          </a:xfrm>
          <a:prstGeom prst="rect">
            <a:avLst/>
          </a:prstGeom>
          <a:noFill/>
        </p:spPr>
        <p:txBody>
          <a:bodyPr wrap="square" lIns="0" rIns="0" tIns="0" bIns="0" anchor="t">
            <a:noAutofit/>
          </a:bodyPr>
          <a:lstStyle/>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종속변수</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제조공정 분류 보유 여부</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설명변수</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기술범위, 출원연도</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보고</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승산비(OR)</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표본</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928건</a:t>
            </a:r>
          </a:p>
        </p:txBody>
      </p:sp>
      <p:sp>
        <p:nvSpPr>
          <p:cNvPr id="11" name="Rounded Rectangle 10"/>
          <p:cNvSpPr/>
          <p:nvPr/>
        </p:nvSpPr>
        <p:spPr>
          <a:xfrm>
            <a:off x="6636060" y="3330000"/>
            <a:ext cx="1044000" cy="288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RQ1 · RQ2</a:t>
            </a:r>
          </a:p>
        </p:txBody>
      </p:sp>
      <p:sp>
        <p:nvSpPr>
          <p:cNvPr id="12" name="Rectangle 11"/>
          <p:cNvSpPr/>
          <p:nvPr/>
        </p:nvSpPr>
        <p:spPr>
          <a:xfrm>
            <a:off x="8094060" y="1134000"/>
            <a:ext cx="3456000" cy="2592000"/>
          </a:xfrm>
          <a:prstGeom prst="rect">
            <a:avLst/>
          </a:prstGeom>
          <a:solidFill>
            <a:srgbClr val="FFFFFF"/>
          </a:solidFill>
          <a:ln w="15875">
            <a:solidFill>
              <a:srgbClr val="13294B"/>
            </a:solidFill>
          </a:ln>
        </p:spPr>
        <p:txBody>
          <a:bodyPr rtlCol="0" anchor="ctr" lIns="36000" rIns="36000" tIns="36000" bIns="36000"/>
          <a:lstStyle/>
          <a:p>
            <a:pPr algn="ctr"/>
          </a:p>
        </p:txBody>
      </p:sp>
      <p:sp>
        <p:nvSpPr>
          <p:cNvPr id="13" name="Rectangle 12"/>
          <p:cNvSpPr/>
          <p:nvPr/>
        </p:nvSpPr>
        <p:spPr>
          <a:xfrm>
            <a:off x="8274060" y="972000"/>
            <a:ext cx="3096000" cy="324000"/>
          </a:xfrm>
          <a:prstGeom prst="rect">
            <a:avLst/>
          </a:prstGeom>
          <a:solidFill>
            <a:srgbClr val="13294B"/>
          </a:solidFill>
          <a:ln>
            <a:noFill/>
          </a:ln>
        </p:spPr>
        <p:txBody>
          <a:bodyPr rtlCol="0" anchor="ctr" lIns="18000" rIns="180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모형 3 · 이항 로짓</a:t>
            </a:r>
          </a:p>
        </p:txBody>
      </p:sp>
      <p:sp>
        <p:nvSpPr>
          <p:cNvPr id="14" name="TextBox 13"/>
          <p:cNvSpPr txBox="1"/>
          <p:nvPr/>
        </p:nvSpPr>
        <p:spPr>
          <a:xfrm>
            <a:off x="8238060" y="1386000"/>
            <a:ext cx="3168000" cy="2268000"/>
          </a:xfrm>
          <a:prstGeom prst="rect">
            <a:avLst/>
          </a:prstGeom>
          <a:noFill/>
        </p:spPr>
        <p:txBody>
          <a:bodyPr wrap="square" lIns="0" rIns="0" tIns="0" bIns="0" anchor="t">
            <a:noAutofit/>
          </a:bodyPr>
          <a:lstStyle/>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종속변수</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통합형 여부</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설명변수</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핵심 기술 × 출원 시기</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보고</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시기별 승산비(OR)</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표본</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접합 출원 763건</a:t>
            </a:r>
          </a:p>
        </p:txBody>
      </p:sp>
      <p:sp>
        <p:nvSpPr>
          <p:cNvPr id="15" name="Rounded Rectangle 14"/>
          <p:cNvSpPr/>
          <p:nvPr/>
        </p:nvSpPr>
        <p:spPr>
          <a:xfrm>
            <a:off x="10362060" y="3330000"/>
            <a:ext cx="1044000" cy="288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RQ3</a:t>
            </a:r>
          </a:p>
        </p:txBody>
      </p:sp>
      <p:sp>
        <p:nvSpPr>
          <p:cNvPr id="16" name="Rounded Rectangle 15"/>
          <p:cNvSpPr/>
          <p:nvPr/>
        </p:nvSpPr>
        <p:spPr>
          <a:xfrm>
            <a:off x="540000" y="3960000"/>
            <a:ext cx="5448060" cy="70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7" name="Rounded Rectangle 16"/>
          <p:cNvSpPr/>
          <p:nvPr/>
        </p:nvSpPr>
        <p:spPr>
          <a:xfrm>
            <a:off x="666000" y="4122000"/>
            <a:ext cx="1476000" cy="378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기술범위</a:t>
            </a:r>
          </a:p>
        </p:txBody>
      </p:sp>
      <p:sp>
        <p:nvSpPr>
          <p:cNvPr id="18" name="TextBox 17"/>
          <p:cNvSpPr txBox="1"/>
          <p:nvPr/>
        </p:nvSpPr>
        <p:spPr>
          <a:xfrm>
            <a:off x="2250000" y="3960000"/>
            <a:ext cx="3630060" cy="7020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두 클래스 안의 서로 다른 CPC 서브그룹 수 (평균 5.69)</a:t>
            </a:r>
          </a:p>
        </p:txBody>
      </p:sp>
      <p:sp>
        <p:nvSpPr>
          <p:cNvPr id="19" name="Rounded Rectangle 18"/>
          <p:cNvSpPr/>
          <p:nvPr/>
        </p:nvSpPr>
        <p:spPr>
          <a:xfrm>
            <a:off x="6204060" y="3960000"/>
            <a:ext cx="5448060" cy="70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0" name="Rounded Rectangle 19"/>
          <p:cNvSpPr/>
          <p:nvPr/>
        </p:nvSpPr>
        <p:spPr>
          <a:xfrm>
            <a:off x="6330060" y="4122000"/>
            <a:ext cx="1476000" cy="378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출원 시기</a:t>
            </a:r>
          </a:p>
        </p:txBody>
      </p:sp>
      <p:sp>
        <p:nvSpPr>
          <p:cNvPr id="21" name="TextBox 20"/>
          <p:cNvSpPr txBox="1"/>
          <p:nvPr/>
        </p:nvSpPr>
        <p:spPr>
          <a:xfrm>
            <a:off x="7914060" y="3960000"/>
            <a:ext cx="3630060" cy="7020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–2014 · 2015–2019 · 2020–2024 (첫 시기: 출원 희소)</a:t>
            </a:r>
          </a:p>
        </p:txBody>
      </p:sp>
      <p:sp>
        <p:nvSpPr>
          <p:cNvPr id="22" name="Rounded Rectangle 21"/>
          <p:cNvSpPr/>
          <p:nvPr/>
        </p:nvSpPr>
        <p:spPr>
          <a:xfrm>
            <a:off x="540000" y="4770000"/>
            <a:ext cx="5448060" cy="70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3" name="Rounded Rectangle 22"/>
          <p:cNvSpPr/>
          <p:nvPr/>
        </p:nvSpPr>
        <p:spPr>
          <a:xfrm>
            <a:off x="666000" y="4932000"/>
            <a:ext cx="1476000" cy="378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통제변수</a:t>
            </a:r>
          </a:p>
        </p:txBody>
      </p:sp>
      <p:sp>
        <p:nvSpPr>
          <p:cNvPr id="24" name="TextBox 23"/>
          <p:cNvSpPr txBox="1"/>
          <p:nvPr/>
        </p:nvSpPr>
        <p:spPr>
          <a:xfrm>
            <a:off x="2250000" y="4770000"/>
            <a:ext cx="3630060" cy="7020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출원청 8개 (US · CN · KR · TW · JP · EP · WO · 기타)</a:t>
            </a:r>
          </a:p>
        </p:txBody>
      </p:sp>
      <p:sp>
        <p:nvSpPr>
          <p:cNvPr id="25" name="Rounded Rectangle 24"/>
          <p:cNvSpPr/>
          <p:nvPr/>
        </p:nvSpPr>
        <p:spPr>
          <a:xfrm>
            <a:off x="6204060" y="4770000"/>
            <a:ext cx="5448060" cy="70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6" name="Rounded Rectangle 25"/>
          <p:cNvSpPr/>
          <p:nvPr/>
        </p:nvSpPr>
        <p:spPr>
          <a:xfrm>
            <a:off x="6330060" y="4932000"/>
            <a:ext cx="1476000" cy="378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보조 지표 (RQ3)</a:t>
            </a:r>
          </a:p>
        </p:txBody>
      </p:sp>
      <p:sp>
        <p:nvSpPr>
          <p:cNvPr id="27" name="TextBox 26"/>
          <p:cNvSpPr txBox="1"/>
          <p:nvPr/>
        </p:nvSpPr>
        <p:spPr>
          <a:xfrm>
            <a:off x="7914060" y="4770000"/>
            <a:ext cx="3630060" cy="7020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Jaccard 계수(영역별 결합 강도) · 매개 중심성(연결 기호)</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4.1  </a:t>
            </a:r>
            <a:r>
              <a:rPr sz="2200" b="1" i="0" lang="ko-KR" altLang="en-US">
                <a:solidFill>
                  <a:srgbClr val="13294B"/>
                </a:solidFill>
                <a:latin typeface="맑은 고딕"/>
                <a:ea typeface="맑은 고딕"/>
                <a:cs typeface="맑은 고딕"/>
              </a:rPr>
              <a:t>RQ1) 융합의 수준과 형태</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통합형이 가장 많았고, 세부 기술을 더 다양하게 포함한 출원일수록 통합형일 가능성이 높았다</a:t>
            </a:r>
          </a:p>
        </p:txBody>
      </p:sp>
      <p:graphicFrame>
        <p:nvGraphicFramePr>
          <p:cNvPr id="4" name="Chart 3"/>
          <p:cNvGraphicFramePr>
            <a:graphicFrameLocks noGrp="1"/>
          </p:cNvGraphicFramePr>
          <p:nvPr/>
        </p:nvGraphicFramePr>
        <p:xfrm>
          <a:off x="540000" y="936000"/>
          <a:ext cx="3456000" cy="3240000"/>
        </p:xfrm>
        <a:graphic>
          <a:graphicData uri="http://schemas.openxmlformats.org/drawingml/2006/chart">
            <c:chart xmlns:c="http://schemas.openxmlformats.org/drawingml/2006/chart" r:id="rId3"/>
          </a:graphicData>
        </a:graphic>
      </p:graphicFrame>
      <p:sp>
        <p:nvSpPr>
          <p:cNvPr id="5" name="TextBox 4"/>
          <p:cNvSpPr txBox="1"/>
          <p:nvPr/>
        </p:nvSpPr>
        <p:spPr>
          <a:xfrm>
            <a:off x="540000" y="2160000"/>
            <a:ext cx="3456000" cy="792000"/>
          </a:xfrm>
          <a:prstGeom prst="rect">
            <a:avLst/>
          </a:prstGeom>
          <a:noFill/>
        </p:spPr>
        <p:txBody>
          <a:bodyPr wrap="square" lIns="0" rIns="0" tIns="0" bIns="0" anchor="ctr">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N = 928</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출원</a:t>
            </a:r>
          </a:p>
        </p:txBody>
      </p:sp>
      <p:sp>
        <p:nvSpPr>
          <p:cNvPr id="6" name="Rounded Rectangle 5"/>
          <p:cNvSpPr/>
          <p:nvPr/>
        </p:nvSpPr>
        <p:spPr>
          <a:xfrm>
            <a:off x="756000" y="4338000"/>
            <a:ext cx="180000" cy="216000"/>
          </a:xfrm>
          <a:prstGeom prst="roundRect">
            <a:avLst>
              <a:gd name="adj" fmla="val 30000"/>
            </a:avLst>
          </a:prstGeom>
          <a:solidFill>
            <a:srgbClr val="7C3AED"/>
          </a:solidFill>
          <a:ln>
            <a:noFill/>
          </a:ln>
        </p:spPr>
        <p:txBody>
          <a:bodyPr rtlCol="0" anchor="ctr" lIns="36000" rIns="36000" tIns="36000" bIns="36000"/>
          <a:lstStyle/>
          <a:p>
            <a:pPr algn="ctr"/>
          </a:p>
        </p:txBody>
      </p:sp>
      <p:sp>
        <p:nvSpPr>
          <p:cNvPr id="7" name="TextBox 6"/>
          <p:cNvSpPr txBox="1"/>
          <p:nvPr/>
        </p:nvSpPr>
        <p:spPr>
          <a:xfrm>
            <a:off x="1026000" y="4248000"/>
            <a:ext cx="1296000" cy="396000"/>
          </a:xfrm>
          <a:prstGeom prst="rect">
            <a:avLst/>
          </a:prstGeom>
          <a:noFill/>
        </p:spPr>
        <p:txBody>
          <a:bodyPr wrap="square" lIns="0" rIns="0" tIns="0" bIns="0" anchor="ctr">
            <a:noAutofit/>
          </a:bodyPr>
          <a:lstStyle/>
          <a:p>
            <a:pPr algn="l" marL="0" indent="0">
              <a:lnSpc>
                <a:spcPts val="1620"/>
              </a:lnSpc>
              <a:spcBef>
                <a:spcPts val="0"/>
              </a:spcBef>
              <a:spcAft>
                <a:spcPts val="0"/>
              </a:spcAft>
              <a:buNone/>
            </a:pPr>
            <a:r>
              <a:rPr sz="1350" b="1" i="0" lang="ko-KR" altLang="en-US">
                <a:solidFill>
                  <a:srgbClr val="7C3AED"/>
                </a:solidFill>
                <a:latin typeface="맑은 고딕"/>
                <a:ea typeface="맑은 고딕"/>
                <a:cs typeface="맑은 고딕"/>
              </a:rPr>
              <a:t>통합형</a:t>
            </a:r>
          </a:p>
        </p:txBody>
      </p:sp>
      <p:sp>
        <p:nvSpPr>
          <p:cNvPr id="8" name="TextBox 7"/>
          <p:cNvSpPr txBox="1"/>
          <p:nvPr/>
        </p:nvSpPr>
        <p:spPr>
          <a:xfrm>
            <a:off x="2304000" y="4248000"/>
            <a:ext cx="1692000" cy="396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ltLang="en-US">
                <a:solidFill>
                  <a:srgbClr val="1E2532"/>
                </a:solidFill>
                <a:latin typeface="맑은 고딕"/>
                <a:ea typeface="맑은 고딕"/>
                <a:cs typeface="맑은 고딕"/>
              </a:rPr>
              <a:t>45.8%</a:t>
            </a:r>
            <a:r>
              <a:rPr sz="1100" b="0" i="0" lang="ko-KR" altLang="en-US">
                <a:solidFill>
                  <a:srgbClr val="5B6475"/>
                </a:solidFill>
                <a:latin typeface="맑은 고딕"/>
                <a:ea typeface="맑은 고딕"/>
                <a:cs typeface="맑은 고딕"/>
              </a:rPr>
              <a:t>  425건</a:t>
            </a:r>
          </a:p>
        </p:txBody>
      </p:sp>
      <p:sp>
        <p:nvSpPr>
          <p:cNvPr id="9" name="Rounded Rectangle 8"/>
          <p:cNvSpPr/>
          <p:nvPr/>
        </p:nvSpPr>
        <p:spPr>
          <a:xfrm>
            <a:off x="756000" y="4806000"/>
            <a:ext cx="180000" cy="216000"/>
          </a:xfrm>
          <a:prstGeom prst="roundRect">
            <a:avLst>
              <a:gd name="adj" fmla="val 30000"/>
            </a:avLst>
          </a:prstGeom>
          <a:solidFill>
            <a:srgbClr val="EA7A28"/>
          </a:solidFill>
          <a:ln>
            <a:noFill/>
          </a:ln>
        </p:spPr>
        <p:txBody>
          <a:bodyPr rtlCol="0" anchor="ctr" lIns="36000" rIns="36000" tIns="36000" bIns="36000"/>
          <a:lstStyle/>
          <a:p>
            <a:pPr algn="ctr"/>
          </a:p>
        </p:txBody>
      </p:sp>
      <p:sp>
        <p:nvSpPr>
          <p:cNvPr id="10" name="TextBox 9"/>
          <p:cNvSpPr txBox="1"/>
          <p:nvPr/>
        </p:nvSpPr>
        <p:spPr>
          <a:xfrm>
            <a:off x="1026000" y="4716000"/>
            <a:ext cx="1296000" cy="396000"/>
          </a:xfrm>
          <a:prstGeom prst="rect">
            <a:avLst/>
          </a:prstGeom>
          <a:noFill/>
        </p:spPr>
        <p:txBody>
          <a:bodyPr wrap="square" lIns="0" rIns="0" tIns="0" bIns="0" anchor="ctr">
            <a:noAutofit/>
          </a:bodyPr>
          <a:lstStyle/>
          <a:p>
            <a:pPr algn="l" marL="0" indent="0">
              <a:lnSpc>
                <a:spcPts val="1620"/>
              </a:lnSpc>
              <a:spcBef>
                <a:spcPts val="0"/>
              </a:spcBef>
              <a:spcAft>
                <a:spcPts val="0"/>
              </a:spcAft>
              <a:buNone/>
            </a:pPr>
            <a:r>
              <a:rPr sz="1350" b="1" i="0" lang="ko-KR" altLang="en-US">
                <a:solidFill>
                  <a:srgbClr val="EA7A28"/>
                </a:solidFill>
                <a:latin typeface="맑은 고딕"/>
                <a:ea typeface="맑은 고딕"/>
                <a:cs typeface="맑은 고딕"/>
              </a:rPr>
              <a:t>접합 단독형</a:t>
            </a:r>
          </a:p>
        </p:txBody>
      </p:sp>
      <p:sp>
        <p:nvSpPr>
          <p:cNvPr id="11" name="TextBox 10"/>
          <p:cNvSpPr txBox="1"/>
          <p:nvPr/>
        </p:nvSpPr>
        <p:spPr>
          <a:xfrm>
            <a:off x="2304000" y="4716000"/>
            <a:ext cx="1692000" cy="396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E2532"/>
                </a:solidFill>
                <a:latin typeface="맑은 고딕"/>
                <a:ea typeface="맑은 고딕"/>
                <a:cs typeface="맑은 고딕"/>
              </a:rPr>
              <a:t>36.4%</a:t>
            </a:r>
            <a:r>
              <a:rPr sz="1100" b="0" i="0" lang="ko-KR" altLang="en-US">
                <a:solidFill>
                  <a:srgbClr val="5B6475"/>
                </a:solidFill>
                <a:latin typeface="맑은 고딕"/>
                <a:ea typeface="맑은 고딕"/>
                <a:cs typeface="맑은 고딕"/>
              </a:rPr>
              <a:t>  338건</a:t>
            </a:r>
          </a:p>
        </p:txBody>
      </p:sp>
      <p:sp>
        <p:nvSpPr>
          <p:cNvPr id="12" name="Rounded Rectangle 11"/>
          <p:cNvSpPr/>
          <p:nvPr/>
        </p:nvSpPr>
        <p:spPr>
          <a:xfrm>
            <a:off x="756000" y="5274000"/>
            <a:ext cx="180000" cy="216000"/>
          </a:xfrm>
          <a:prstGeom prst="roundRect">
            <a:avLst>
              <a:gd name="adj" fmla="val 30000"/>
            </a:avLst>
          </a:prstGeom>
          <a:solidFill>
            <a:srgbClr val="2563C9"/>
          </a:solidFill>
          <a:ln>
            <a:noFill/>
          </a:ln>
        </p:spPr>
        <p:txBody>
          <a:bodyPr rtlCol="0" anchor="ctr" lIns="36000" rIns="36000" tIns="36000" bIns="36000"/>
          <a:lstStyle/>
          <a:p>
            <a:pPr algn="ctr"/>
          </a:p>
        </p:txBody>
      </p:sp>
      <p:sp>
        <p:nvSpPr>
          <p:cNvPr id="13" name="TextBox 12"/>
          <p:cNvSpPr txBox="1"/>
          <p:nvPr/>
        </p:nvSpPr>
        <p:spPr>
          <a:xfrm>
            <a:off x="1026000" y="5184000"/>
            <a:ext cx="1296000" cy="396000"/>
          </a:xfrm>
          <a:prstGeom prst="rect">
            <a:avLst/>
          </a:prstGeom>
          <a:noFill/>
        </p:spPr>
        <p:txBody>
          <a:bodyPr wrap="square" lIns="0" rIns="0" tIns="0" bIns="0" anchor="ctr">
            <a:noAutofit/>
          </a:bodyPr>
          <a:lstStyle/>
          <a:p>
            <a:pPr algn="l" marL="0" indent="0">
              <a:lnSpc>
                <a:spcPts val="1620"/>
              </a:lnSpc>
              <a:spcBef>
                <a:spcPts val="0"/>
              </a:spcBef>
              <a:spcAft>
                <a:spcPts val="0"/>
              </a:spcAft>
              <a:buNone/>
            </a:pPr>
            <a:r>
              <a:rPr sz="1350" b="1" i="0" lang="ko-KR" altLang="en-US">
                <a:solidFill>
                  <a:srgbClr val="2563C9"/>
                </a:solidFill>
                <a:latin typeface="맑은 고딕"/>
                <a:ea typeface="맑은 고딕"/>
                <a:cs typeface="맑은 고딕"/>
              </a:rPr>
              <a:t>공정 단독형</a:t>
            </a:r>
          </a:p>
        </p:txBody>
      </p:sp>
      <p:sp>
        <p:nvSpPr>
          <p:cNvPr id="14" name="TextBox 13"/>
          <p:cNvSpPr txBox="1"/>
          <p:nvPr/>
        </p:nvSpPr>
        <p:spPr>
          <a:xfrm>
            <a:off x="2304000" y="5184000"/>
            <a:ext cx="1692000" cy="396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E2532"/>
                </a:solidFill>
                <a:latin typeface="맑은 고딕"/>
                <a:ea typeface="맑은 고딕"/>
                <a:cs typeface="맑은 고딕"/>
              </a:rPr>
              <a:t>17.8%</a:t>
            </a:r>
            <a:r>
              <a:rPr sz="1100" b="0" i="0" lang="ko-KR" altLang="en-US">
                <a:solidFill>
                  <a:srgbClr val="5B6475"/>
                </a:solidFill>
                <a:latin typeface="맑은 고딕"/>
                <a:ea typeface="맑은 고딕"/>
                <a:cs typeface="맑은 고딕"/>
              </a:rPr>
              <a:t>  165건</a:t>
            </a:r>
          </a:p>
        </p:txBody>
      </p:sp>
      <p:sp>
        <p:nvSpPr>
          <p:cNvPr id="15" name="Rounded Rectangle 14"/>
          <p:cNvSpPr/>
          <p:nvPr/>
        </p:nvSpPr>
        <p:spPr>
          <a:xfrm>
            <a:off x="720000" y="5634000"/>
            <a:ext cx="3096000" cy="342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좁은 정의에서도 통합형 37.2%</a:t>
            </a:r>
          </a:p>
        </p:txBody>
      </p:sp>
      <p:graphicFrame>
        <p:nvGraphicFramePr>
          <p:cNvPr id="16" name="Chart 15"/>
          <p:cNvGraphicFramePr>
            <a:graphicFrameLocks noGrp="1"/>
          </p:cNvGraphicFramePr>
          <p:nvPr/>
        </p:nvGraphicFramePr>
        <p:xfrm>
          <a:off x="4140000" y="900000"/>
          <a:ext cx="4428000" cy="5112000"/>
        </p:xfrm>
        <a:graphic>
          <a:graphicData uri="http://schemas.openxmlformats.org/drawingml/2006/chart">
            <c:chart xmlns:c="http://schemas.openxmlformats.org/drawingml/2006/chart" r:id="rId4"/>
          </a:graphicData>
        </a:graphic>
      </p:graphicFrame>
      <p:sp>
        <p:nvSpPr>
          <p:cNvPr id="17" name="Rounded Rectangle 16"/>
          <p:cNvSpPr/>
          <p:nvPr/>
        </p:nvSpPr>
        <p:spPr>
          <a:xfrm>
            <a:off x="8712000" y="990000"/>
            <a:ext cx="2940120" cy="498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8" name="TextBox 17"/>
          <p:cNvSpPr txBox="1"/>
          <p:nvPr/>
        </p:nvSpPr>
        <p:spPr>
          <a:xfrm>
            <a:off x="8892000" y="1116000"/>
            <a:ext cx="2580120" cy="288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Research Question 1</a:t>
            </a:r>
          </a:p>
        </p:txBody>
      </p:sp>
      <p:sp>
        <p:nvSpPr>
          <p:cNvPr id="19" name="TextBox 18"/>
          <p:cNvSpPr txBox="1"/>
          <p:nvPr/>
        </p:nvSpPr>
        <p:spPr>
          <a:xfrm>
            <a:off x="8892000" y="1422000"/>
            <a:ext cx="2580120" cy="1044000"/>
          </a:xfrm>
          <a:prstGeom prst="rect">
            <a:avLst/>
          </a:prstGeom>
          <a:noFill/>
        </p:spPr>
        <p:txBody>
          <a:bodyPr wrap="square" lIns="0" rIns="0" tIns="0" bIns="0" anchor="t">
            <a:noAutofit/>
          </a:bodyPr>
          <a:lstStyle/>
          <a:p>
            <a:pPr algn="l" marL="0" indent="0">
              <a:lnSpc>
                <a:spcPts val="1580"/>
              </a:lnSpc>
              <a:spcBef>
                <a:spcPts val="0"/>
              </a:spcBef>
              <a:spcAft>
                <a:spcPts val="0"/>
              </a:spcAft>
              <a:buNone/>
            </a:pPr>
            <a:r>
              <a:rPr sz="1250" b="0" i="0" lang="ko-KR" altLang="en-US">
                <a:solidFill>
                  <a:srgbClr val="5B6475"/>
                </a:solidFill>
                <a:latin typeface="맑은 고딕"/>
                <a:ea typeface="맑은 고딕"/>
                <a:cs typeface="맑은 고딕"/>
              </a:rPr>
              <a:t>하이브리드 본딩 기술에서 제조공정과 접합 기술 간의 융합이 어느 정도로, 어떠한 형태로 나타나는가?</a:t>
            </a:r>
          </a:p>
        </p:txBody>
      </p:sp>
      <p:cxnSp>
        <p:nvCxnSpPr>
          <p:cNvPr id="20" name="Connector 19"/>
          <p:cNvCxnSpPr/>
          <p:nvPr/>
        </p:nvCxnSpPr>
        <p:spPr>
          <a:xfrm>
            <a:off x="8892000" y="2520000"/>
            <a:ext cx="2580120" cy="0"/>
          </a:xfrm>
          <a:prstGeom prst="line">
            <a:avLst/>
          </a:prstGeom>
          <a:ln w="12700">
            <a:solidFill>
              <a:srgbClr val="D5DBE3"/>
            </a:solidFill>
          </a:ln>
        </p:spPr>
      </p:cxnSp>
      <p:sp>
        <p:nvSpPr>
          <p:cNvPr id="21" name="TextBox 20"/>
          <p:cNvSpPr txBox="1"/>
          <p:nvPr/>
        </p:nvSpPr>
        <p:spPr>
          <a:xfrm>
            <a:off x="8892000" y="2592000"/>
            <a:ext cx="2580120" cy="3294000"/>
          </a:xfrm>
          <a:prstGeom prst="rect">
            <a:avLst/>
          </a:prstGeom>
          <a:noFill/>
        </p:spPr>
        <p:txBody>
          <a:bodyPr wrap="square" lIns="0" rIns="0" tIns="0" bIns="0" anchor="t">
            <a:noAutofit/>
          </a:bodyPr>
          <a:lstStyle/>
          <a:p>
            <a:pPr algn="l" marL="0" indent="0">
              <a:lnSpc>
                <a:spcPts val="1620"/>
              </a:lnSpc>
              <a:spcBef>
                <a:spcPts val="0"/>
              </a:spcBef>
              <a:spcAft>
                <a:spcPts val="700"/>
              </a:spcAft>
              <a:buNone/>
            </a:pPr>
            <a:r>
              <a:rPr sz="1350" b="1" i="0" lang="ko-KR" altLang="en-US">
                <a:solidFill>
                  <a:srgbClr val="13294B"/>
                </a:solidFill>
                <a:latin typeface="맑은 고딕"/>
                <a:ea typeface="맑은 고딕"/>
                <a:cs typeface="맑은 고딕"/>
              </a:rPr>
              <a:t>통합형 45.8%: 가장 큰 비중</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기술범위 → 통합형</a:t>
            </a:r>
          </a:p>
          <a:p>
            <a:pPr algn="l" marL="0" indent="0">
              <a:lnSpc>
                <a:spcPts val="1560"/>
              </a:lnSpc>
              <a:spcBef>
                <a:spcPts val="0"/>
              </a:spcBef>
              <a:spcAft>
                <a:spcPts val="600"/>
              </a:spcAft>
              <a:buNone/>
            </a:pPr>
            <a:r>
              <a:rPr sz="1300" b="1" i="0" lang="ko-KR" altLang="en-US">
                <a:solidFill>
                  <a:srgbClr val="1E2532"/>
                </a:solidFill>
                <a:latin typeface="맑은 고딕"/>
                <a:ea typeface="맑은 고딕"/>
                <a:cs typeface="맑은 고딕"/>
              </a:rPr>
              <a:t>RRR 1.403*** (서브그룹 1개당 +40%)</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예측확률 (통합형)</a:t>
            </a:r>
          </a:p>
          <a:p>
            <a:pPr algn="l" marL="0" indent="0">
              <a:lnSpc>
                <a:spcPts val="1560"/>
              </a:lnSpc>
              <a:spcBef>
                <a:spcPts val="0"/>
              </a:spcBef>
              <a:spcAft>
                <a:spcPts val="600"/>
              </a:spcAft>
              <a:buNone/>
            </a:pPr>
            <a:r>
              <a:rPr sz="1300" b="1" i="0" lang="ko-KR" altLang="en-US">
                <a:solidFill>
                  <a:srgbClr val="1E2532"/>
                </a:solidFill>
                <a:latin typeface="맑은 고딕"/>
                <a:ea typeface="맑은 고딕"/>
                <a:cs typeface="맑은 고딕"/>
              </a:rPr>
              <a:t>범위 3: 0.26 → 범위 8: 0.68</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최소 기호 수를 조정해도</a:t>
            </a:r>
          </a:p>
          <a:p>
            <a:pPr algn="l" marL="0" indent="0">
              <a:lnSpc>
                <a:spcPts val="1560"/>
              </a:lnSpc>
              <a:spcBef>
                <a:spcPts val="0"/>
              </a:spcBef>
              <a:spcAft>
                <a:spcPts val="0"/>
              </a:spcAft>
              <a:buNone/>
            </a:pPr>
            <a:r>
              <a:rPr sz="1300" b="1" i="0" lang="ko-KR" altLang="en-US">
                <a:solidFill>
                  <a:srgbClr val="1E2532"/>
                </a:solidFill>
                <a:latin typeface="맑은 고딕"/>
                <a:ea typeface="맑은 고딕"/>
                <a:cs typeface="맑은 고딕"/>
              </a:rPr>
              <a:t>RRR 1.262 (방향 유지)</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4.2  </a:t>
            </a:r>
            <a:r>
              <a:rPr sz="2200" b="1" i="0" lang="ko-KR" altLang="en-US">
                <a:solidFill>
                  <a:srgbClr val="13294B"/>
                </a:solidFill>
                <a:latin typeface="맑은 고딕"/>
                <a:ea typeface="맑은 고딕"/>
                <a:cs typeface="맑은 고딕"/>
              </a:rPr>
              <a:t>RQ2) 융합의 시간적 변화: 세 국면</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융합은 단선적으로 늘지 않았다: 형성기 → 확산기 → 재편기의 세 국면</a:t>
            </a:r>
          </a:p>
        </p:txBody>
      </p:sp>
      <p:graphicFrame>
        <p:nvGraphicFramePr>
          <p:cNvPr id="4" name="Chart 3"/>
          <p:cNvGraphicFramePr>
            <a:graphicFrameLocks noGrp="1"/>
          </p:cNvGraphicFramePr>
          <p:nvPr/>
        </p:nvGraphicFramePr>
        <p:xfrm>
          <a:off x="540000" y="900000"/>
          <a:ext cx="6264000" cy="5076000"/>
        </p:xfrm>
        <a:graphic>
          <a:graphicData uri="http://schemas.openxmlformats.org/drawingml/2006/chart">
            <c:chart xmlns:c="http://schemas.openxmlformats.org/drawingml/2006/chart" r:id="rId3"/>
          </a:graphicData>
        </a:graphic>
      </p:graphicFrame>
      <p:sp>
        <p:nvSpPr>
          <p:cNvPr id="5" name="Rounded Rectangle 4"/>
          <p:cNvSpPr/>
          <p:nvPr/>
        </p:nvSpPr>
        <p:spPr>
          <a:xfrm>
            <a:off x="7092000" y="990000"/>
            <a:ext cx="4560120" cy="1152000"/>
          </a:xfrm>
          <a:prstGeom prst="roundRect">
            <a:avLst>
              <a:gd name="adj" fmla="val 6000"/>
            </a:avLst>
          </a:prstGeom>
          <a:solidFill>
            <a:srgbClr val="E3ECFB"/>
          </a:solidFill>
          <a:ln>
            <a:noFill/>
          </a:ln>
        </p:spPr>
        <p:txBody>
          <a:bodyPr rtlCol="0" anchor="ctr" lIns="36000" rIns="36000" tIns="36000" bIns="36000"/>
          <a:lstStyle/>
          <a:p>
            <a:pPr algn="ctr"/>
          </a:p>
        </p:txBody>
      </p:sp>
      <p:sp>
        <p:nvSpPr>
          <p:cNvPr id="6" name="TextBox 5"/>
          <p:cNvSpPr txBox="1"/>
          <p:nvPr/>
        </p:nvSpPr>
        <p:spPr>
          <a:xfrm>
            <a:off x="7254000" y="1062000"/>
            <a:ext cx="1584000" cy="360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ltLang="en-US">
                <a:solidFill>
                  <a:srgbClr val="2563C9"/>
                </a:solidFill>
                <a:latin typeface="맑은 고딕"/>
                <a:ea typeface="맑은 고딕"/>
                <a:cs typeface="맑은 고딕"/>
              </a:rPr>
              <a:t>형성기</a:t>
            </a:r>
          </a:p>
        </p:txBody>
      </p:sp>
      <p:sp>
        <p:nvSpPr>
          <p:cNvPr id="7" name="TextBox 6"/>
          <p:cNvSpPr txBox="1"/>
          <p:nvPr/>
        </p:nvSpPr>
        <p:spPr>
          <a:xfrm>
            <a:off x="7254000" y="1386000"/>
            <a:ext cx="1584000" cy="288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–2014</a:t>
            </a:r>
          </a:p>
        </p:txBody>
      </p:sp>
      <p:sp>
        <p:nvSpPr>
          <p:cNvPr id="8" name="TextBox 7"/>
          <p:cNvSpPr txBox="1"/>
          <p:nvPr/>
        </p:nvSpPr>
        <p:spPr>
          <a:xfrm>
            <a:off x="8748000" y="1080000"/>
            <a:ext cx="2760120" cy="468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E2532"/>
                </a:solidFill>
                <a:latin typeface="맑은 고딕"/>
                <a:ea typeface="맑은 고딕"/>
                <a:cs typeface="맑은 고딕"/>
              </a:rPr>
              <a:t>공정 단독형 43.6%로 최다</a:t>
            </a:r>
          </a:p>
        </p:txBody>
      </p:sp>
      <p:sp>
        <p:nvSpPr>
          <p:cNvPr id="9" name="TextBox 8"/>
          <p:cNvSpPr txBox="1"/>
          <p:nvPr/>
        </p:nvSpPr>
        <p:spPr>
          <a:xfrm>
            <a:off x="8748000" y="1548000"/>
            <a:ext cx="2760120" cy="468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직접 접합을 가능하게 하는 공정 발명이 단독으로</a:t>
            </a:r>
          </a:p>
        </p:txBody>
      </p:sp>
      <p:sp>
        <p:nvSpPr>
          <p:cNvPr id="10" name="Rounded Rectangle 9"/>
          <p:cNvSpPr/>
          <p:nvPr/>
        </p:nvSpPr>
        <p:spPr>
          <a:xfrm>
            <a:off x="7092000" y="2268000"/>
            <a:ext cx="4560120" cy="1152000"/>
          </a:xfrm>
          <a:prstGeom prst="roundRect">
            <a:avLst>
              <a:gd name="adj" fmla="val 6000"/>
            </a:avLst>
          </a:prstGeom>
          <a:solidFill>
            <a:srgbClr val="EEE6FD"/>
          </a:solidFill>
          <a:ln>
            <a:noFill/>
          </a:ln>
        </p:spPr>
        <p:txBody>
          <a:bodyPr rtlCol="0" anchor="ctr" lIns="36000" rIns="36000" tIns="36000" bIns="36000"/>
          <a:lstStyle/>
          <a:p>
            <a:pPr algn="ctr"/>
          </a:p>
        </p:txBody>
      </p:sp>
      <p:sp>
        <p:nvSpPr>
          <p:cNvPr id="11" name="TextBox 10"/>
          <p:cNvSpPr txBox="1"/>
          <p:nvPr/>
        </p:nvSpPr>
        <p:spPr>
          <a:xfrm>
            <a:off x="7254000" y="2340000"/>
            <a:ext cx="1584000" cy="360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ltLang="en-US">
                <a:solidFill>
                  <a:srgbClr val="7C3AED"/>
                </a:solidFill>
                <a:latin typeface="맑은 고딕"/>
                <a:ea typeface="맑은 고딕"/>
                <a:cs typeface="맑은 고딕"/>
              </a:rPr>
              <a:t>확산기</a:t>
            </a:r>
          </a:p>
        </p:txBody>
      </p:sp>
      <p:sp>
        <p:nvSpPr>
          <p:cNvPr id="12" name="TextBox 11"/>
          <p:cNvSpPr txBox="1"/>
          <p:nvPr/>
        </p:nvSpPr>
        <p:spPr>
          <a:xfrm>
            <a:off x="7254000" y="2664000"/>
            <a:ext cx="1584000" cy="288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2015–2019</a:t>
            </a:r>
          </a:p>
        </p:txBody>
      </p:sp>
      <p:sp>
        <p:nvSpPr>
          <p:cNvPr id="13" name="TextBox 12"/>
          <p:cNvSpPr txBox="1"/>
          <p:nvPr/>
        </p:nvSpPr>
        <p:spPr>
          <a:xfrm>
            <a:off x="8748000" y="2358000"/>
            <a:ext cx="2760120" cy="468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E2532"/>
                </a:solidFill>
                <a:latin typeface="맑은 고딕"/>
                <a:ea typeface="맑은 고딕"/>
                <a:cs typeface="맑은 고딕"/>
              </a:rPr>
              <a:t>통합형 62.2%로 정점</a:t>
            </a:r>
          </a:p>
        </p:txBody>
      </p:sp>
      <p:sp>
        <p:nvSpPr>
          <p:cNvPr id="14" name="TextBox 13"/>
          <p:cNvSpPr txBox="1"/>
          <p:nvPr/>
        </p:nvSpPr>
        <p:spPr>
          <a:xfrm>
            <a:off x="8748000" y="2826000"/>
            <a:ext cx="2760120" cy="468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두 공정의 기술을 하나의 발명에 함께</a:t>
            </a:r>
          </a:p>
        </p:txBody>
      </p:sp>
      <p:sp>
        <p:nvSpPr>
          <p:cNvPr id="15" name="Rounded Rectangle 14"/>
          <p:cNvSpPr/>
          <p:nvPr/>
        </p:nvSpPr>
        <p:spPr>
          <a:xfrm>
            <a:off x="7092000" y="3546000"/>
            <a:ext cx="4560120" cy="1152000"/>
          </a:xfrm>
          <a:prstGeom prst="roundRect">
            <a:avLst>
              <a:gd name="adj" fmla="val 6000"/>
            </a:avLst>
          </a:prstGeom>
          <a:solidFill>
            <a:srgbClr val="FDEBDD"/>
          </a:solidFill>
          <a:ln>
            <a:noFill/>
          </a:ln>
        </p:spPr>
        <p:txBody>
          <a:bodyPr rtlCol="0" anchor="ctr" lIns="36000" rIns="36000" tIns="36000" bIns="36000"/>
          <a:lstStyle/>
          <a:p>
            <a:pPr algn="ctr"/>
          </a:p>
        </p:txBody>
      </p:sp>
      <p:sp>
        <p:nvSpPr>
          <p:cNvPr id="16" name="TextBox 15"/>
          <p:cNvSpPr txBox="1"/>
          <p:nvPr/>
        </p:nvSpPr>
        <p:spPr>
          <a:xfrm>
            <a:off x="7254000" y="3618000"/>
            <a:ext cx="1584000" cy="360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ltLang="en-US">
                <a:solidFill>
                  <a:srgbClr val="EA7A28"/>
                </a:solidFill>
                <a:latin typeface="맑은 고딕"/>
                <a:ea typeface="맑은 고딕"/>
                <a:cs typeface="맑은 고딕"/>
              </a:rPr>
              <a:t>재편기</a:t>
            </a:r>
          </a:p>
        </p:txBody>
      </p:sp>
      <p:sp>
        <p:nvSpPr>
          <p:cNvPr id="17" name="TextBox 16"/>
          <p:cNvSpPr txBox="1"/>
          <p:nvPr/>
        </p:nvSpPr>
        <p:spPr>
          <a:xfrm>
            <a:off x="7254000" y="3942000"/>
            <a:ext cx="1584000" cy="288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2020–2024</a:t>
            </a:r>
          </a:p>
        </p:txBody>
      </p:sp>
      <p:sp>
        <p:nvSpPr>
          <p:cNvPr id="18" name="TextBox 17"/>
          <p:cNvSpPr txBox="1"/>
          <p:nvPr/>
        </p:nvSpPr>
        <p:spPr>
          <a:xfrm>
            <a:off x="8748000" y="3636000"/>
            <a:ext cx="2760120" cy="468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E2532"/>
                </a:solidFill>
                <a:latin typeface="맑은 고딕"/>
                <a:ea typeface="맑은 고딕"/>
                <a:cs typeface="맑은 고딕"/>
              </a:rPr>
              <a:t>접합 단독형 45.4% ≈ 통합형 44.3%</a:t>
            </a:r>
          </a:p>
        </p:txBody>
      </p:sp>
      <p:sp>
        <p:nvSpPr>
          <p:cNvPr id="19" name="TextBox 18"/>
          <p:cNvSpPr txBox="1"/>
          <p:nvPr/>
        </p:nvSpPr>
        <p:spPr>
          <a:xfrm>
            <a:off x="8748000" y="4104000"/>
            <a:ext cx="2760120" cy="468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통합형 감소 · 접합 단독형 증가</a:t>
            </a:r>
          </a:p>
        </p:txBody>
      </p:sp>
      <p:sp>
        <p:nvSpPr>
          <p:cNvPr id="20" name="TextBox 19"/>
          <p:cNvSpPr txBox="1"/>
          <p:nvPr/>
        </p:nvSpPr>
        <p:spPr>
          <a:xfrm>
            <a:off x="7092000" y="4860000"/>
            <a:ext cx="4560120" cy="1044000"/>
          </a:xfrm>
          <a:prstGeom prst="rect">
            <a:avLst/>
          </a:prstGeom>
          <a:noFill/>
        </p:spPr>
        <p:txBody>
          <a:bodyPr wrap="square" lIns="0" rIns="0" tIns="0" bIns="0" anchor="t">
            <a:noAutofit/>
          </a:bodyPr>
          <a:lstStyle/>
          <a:p>
            <a:pPr algn="l" marL="0" indent="0">
              <a:lnSpc>
                <a:spcPts val="1800"/>
              </a:lnSpc>
              <a:spcBef>
                <a:spcPts val="0"/>
              </a:spcBef>
              <a:spcAft>
                <a:spcPts val="300"/>
              </a:spcAft>
              <a:buNone/>
            </a:pPr>
            <a:r>
              <a:rPr sz="1500" b="1" i="0" lang="ko-KR" altLang="en-US">
                <a:solidFill>
                  <a:srgbClr val="13294B"/>
                </a:solidFill>
                <a:latin typeface="맑은 고딕"/>
                <a:ea typeface="맑은 고딕"/>
                <a:cs typeface="맑은 고딕"/>
              </a:rPr>
              <a:t>Research Question 2</a:t>
            </a:r>
          </a:p>
          <a:p>
            <a:pPr algn="l" marL="0" indent="0">
              <a:lnSpc>
                <a:spcPts val="1440"/>
              </a:lnSpc>
              <a:spcBef>
                <a:spcPts val="0"/>
              </a:spcBef>
              <a:spcAft>
                <a:spcPts val="600"/>
              </a:spcAft>
              <a:buNone/>
            </a:pPr>
            <a:r>
              <a:rPr sz="1200" b="0" i="0" lang="ko-KR" altLang="en-US">
                <a:solidFill>
                  <a:srgbClr val="5B6475"/>
                </a:solidFill>
                <a:latin typeface="맑은 고딕"/>
                <a:ea typeface="맑은 고딕"/>
                <a:cs typeface="맑은 고딕"/>
              </a:rPr>
              <a:t>공정 단계 간 기술융합은 시간에 따라 어떻게 변화해 왔는가?</a:t>
            </a:r>
          </a:p>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첫 시기는 47년간 179건으로 이후 5년간 209건보다 적어 하나로 묶음</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4.2  </a:t>
            </a:r>
            <a:r>
              <a:rPr sz="2200" b="1" i="0" lang="ko-KR" altLang="en-US">
                <a:solidFill>
                  <a:srgbClr val="13294B"/>
                </a:solidFill>
                <a:latin typeface="맑은 고딕"/>
                <a:ea typeface="맑은 고딕"/>
                <a:cs typeface="맑은 고딕"/>
              </a:rPr>
              <a:t>RQ2) 출원의 무게중심 이동</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출원의 무게중심은 제조공정에서 접합 쪽으로 이동하였다</a:t>
            </a:r>
          </a:p>
        </p:txBody>
      </p:sp>
      <p:graphicFrame>
        <p:nvGraphicFramePr>
          <p:cNvPr id="4" name="Chart 3"/>
          <p:cNvGraphicFramePr>
            <a:graphicFrameLocks noGrp="1"/>
          </p:cNvGraphicFramePr>
          <p:nvPr/>
        </p:nvGraphicFramePr>
        <p:xfrm>
          <a:off x="540000" y="900000"/>
          <a:ext cx="5976000" cy="5040000"/>
        </p:xfrm>
        <a:graphic>
          <a:graphicData uri="http://schemas.openxmlformats.org/drawingml/2006/chart">
            <c:chart xmlns:c="http://schemas.openxmlformats.org/drawingml/2006/chart" r:id="rId3"/>
          </a:graphicData>
        </a:graphic>
      </p:graphicFrame>
      <p:graphicFrame>
        <p:nvGraphicFramePr>
          <p:cNvPr id="5" name="Table 4"/>
          <p:cNvGraphicFramePr>
            <a:graphicFrameLocks noGrp="1"/>
          </p:cNvGraphicFramePr>
          <p:nvPr/>
        </p:nvGraphicFramePr>
        <p:xfrm>
          <a:off x="6768000" y="990000"/>
          <a:ext cx="4884120" cy="2124000"/>
        </p:xfrm>
        <a:graphic>
          <a:graphicData uri="http://schemas.openxmlformats.org/drawingml/2006/table">
            <a:tbl>
              <a:tblPr firstRow="1">
                <a:tableStyleId>{2D5ABB26-0587-4C30-8999-92F81FD0307C}</a:tableStyleId>
              </a:tblPr>
              <a:tblGrid>
                <a:gridCol w="2580120"/>
                <a:gridCol w="2304000"/>
              </a:tblGrid>
              <a:tr h="324000">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분석</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효과비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60000">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출원연도 → 공정 단독형 (연간)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1" i="0" lang="ko-KR" altLang="en-US">
                          <a:solidFill>
                            <a:srgbClr val="13294B"/>
                          </a:solidFill>
                          <a:latin typeface="맑은 고딕"/>
                          <a:ea typeface="맑은 고딕"/>
                          <a:cs typeface="맑은 고딕"/>
                        </a:rPr>
                        <a:t>RRR 0.913***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360000">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출원연도 → 통합형 (연간)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RRR 0.993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60000">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공정 단독형 (기간 더미)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1" i="0" lang="ko-KR" altLang="en-US">
                          <a:solidFill>
                            <a:srgbClr val="13294B"/>
                          </a:solidFill>
                          <a:latin typeface="맑은 고딕"/>
                          <a:ea typeface="맑은 고딕"/>
                          <a:cs typeface="맑은 고딕"/>
                        </a:rPr>
                        <a:t>0.273*** / 0.101***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360000">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통합형 (기간 더미)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1.707* / 0.762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60000">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기술범위 → 통합형 (국면별)</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1.179 · 1.513 · 1.414***</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r>
            </a:tbl>
          </a:graphicData>
        </a:graphic>
      </p:graphicFrame>
      <p:sp>
        <p:nvSpPr>
          <p:cNvPr id="6" name="TextBox 5"/>
          <p:cNvSpPr txBox="1"/>
          <p:nvPr/>
        </p:nvSpPr>
        <p:spPr>
          <a:xfrm>
            <a:off x="6768000" y="3150000"/>
            <a:ext cx="4884120" cy="216000"/>
          </a:xfrm>
          <a:prstGeom prst="rect">
            <a:avLst/>
          </a:prstGeom>
          <a:noFill/>
        </p:spPr>
        <p:txBody>
          <a:bodyPr wrap="square" lIns="0" rIns="0" tIns="0" bIns="0" anchor="ctr">
            <a:noAutofit/>
          </a:bodyPr>
          <a:lstStyle/>
          <a:p>
            <a:pPr algn="l"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기간 더미의 기준 = 2014년 이전 · *** p &lt; 0.01, * p &lt; 0.10</a:t>
            </a:r>
          </a:p>
        </p:txBody>
      </p:sp>
      <p:sp>
        <p:nvSpPr>
          <p:cNvPr id="7" name="Rounded Rectangle 6"/>
          <p:cNvSpPr/>
          <p:nvPr/>
        </p:nvSpPr>
        <p:spPr>
          <a:xfrm>
            <a:off x="6768000" y="3438000"/>
            <a:ext cx="4884120" cy="246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8" name="TextBox 7"/>
          <p:cNvSpPr txBox="1"/>
          <p:nvPr/>
        </p:nvSpPr>
        <p:spPr>
          <a:xfrm>
            <a:off x="6948000" y="3564000"/>
            <a:ext cx="4524120" cy="288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Research Question 2</a:t>
            </a:r>
          </a:p>
        </p:txBody>
      </p:sp>
      <p:sp>
        <p:nvSpPr>
          <p:cNvPr id="9" name="TextBox 8"/>
          <p:cNvSpPr txBox="1"/>
          <p:nvPr/>
        </p:nvSpPr>
        <p:spPr>
          <a:xfrm>
            <a:off x="6948000" y="3870000"/>
            <a:ext cx="4524120" cy="576000"/>
          </a:xfrm>
          <a:prstGeom prst="rect">
            <a:avLst/>
          </a:prstGeom>
          <a:noFill/>
        </p:spPr>
        <p:txBody>
          <a:bodyPr wrap="square" lIns="0" rIns="0" tIns="0" bIns="0" anchor="t">
            <a:noAutofit/>
          </a:bodyPr>
          <a:lstStyle/>
          <a:p>
            <a:pPr algn="l" marL="0" indent="0">
              <a:lnSpc>
                <a:spcPts val="1580"/>
              </a:lnSpc>
              <a:spcBef>
                <a:spcPts val="0"/>
              </a:spcBef>
              <a:spcAft>
                <a:spcPts val="0"/>
              </a:spcAft>
              <a:buNone/>
            </a:pPr>
            <a:r>
              <a:rPr sz="1250" b="0" i="0" lang="ko-KR" altLang="en-US">
                <a:solidFill>
                  <a:srgbClr val="5B6475"/>
                </a:solidFill>
                <a:latin typeface="맑은 고딕"/>
                <a:ea typeface="맑은 고딕"/>
                <a:cs typeface="맑은 고딕"/>
              </a:rPr>
              <a:t>공정 단계 간 기술융합은 시간에 따라 어떻게 변화해 왔는가?</a:t>
            </a:r>
          </a:p>
        </p:txBody>
      </p:sp>
      <p:cxnSp>
        <p:nvCxnSpPr>
          <p:cNvPr id="10" name="Connector 9"/>
          <p:cNvCxnSpPr/>
          <p:nvPr/>
        </p:nvCxnSpPr>
        <p:spPr>
          <a:xfrm>
            <a:off x="6948000" y="4500000"/>
            <a:ext cx="4524120" cy="0"/>
          </a:xfrm>
          <a:prstGeom prst="line">
            <a:avLst/>
          </a:prstGeom>
          <a:ln w="12700">
            <a:solidFill>
              <a:srgbClr val="D5DBE3"/>
            </a:solidFill>
          </a:ln>
        </p:spPr>
      </p:cxnSp>
      <p:sp>
        <p:nvSpPr>
          <p:cNvPr id="11" name="TextBox 10"/>
          <p:cNvSpPr txBox="1"/>
          <p:nvPr/>
        </p:nvSpPr>
        <p:spPr>
          <a:xfrm>
            <a:off x="6948000" y="4572000"/>
            <a:ext cx="4524120" cy="1242000"/>
          </a:xfrm>
          <a:prstGeom prst="rect">
            <a:avLst/>
          </a:prstGeom>
          <a:noFill/>
        </p:spPr>
        <p:txBody>
          <a:bodyPr wrap="square" lIns="0" rIns="0" tIns="0" bIns="0" anchor="t">
            <a:noAutofit/>
          </a:bodyPr>
          <a:lstStyle/>
          <a:p>
            <a:pPr algn="l" marL="0" indent="0">
              <a:lnSpc>
                <a:spcPts val="1680"/>
              </a:lnSpc>
              <a:spcBef>
                <a:spcPts val="0"/>
              </a:spcBef>
              <a:spcAft>
                <a:spcPts val="500"/>
              </a:spcAft>
              <a:buNone/>
            </a:pPr>
            <a:r>
              <a:rPr sz="1400" b="1" i="0" lang="ko-KR" altLang="en-US">
                <a:solidFill>
                  <a:srgbClr val="13294B"/>
                </a:solidFill>
                <a:latin typeface="맑은 고딕"/>
                <a:ea typeface="맑은 고딕"/>
                <a:cs typeface="맑은 고딕"/>
              </a:rPr>
              <a:t>공정 단독형 상대위험 연 8.7% 감소</a:t>
            </a:r>
          </a:p>
          <a:p>
            <a:pPr algn="l" marL="180000" indent="-180000">
              <a:lnSpc>
                <a:spcPts val="1500"/>
              </a:lnSpc>
              <a:spcBef>
                <a:spcPts val="0"/>
              </a:spcBef>
              <a:spcAft>
                <a:spcPts val="0"/>
              </a:spcAft>
              <a:buClr>
                <a:srgbClr val="13294B"/>
              </a:buClr>
              <a:buSzPct val="70000"/>
              <a:buFont typeface="Arial"/>
              <a:buChar char="■"/>
            </a:pPr>
            <a:r>
              <a:rPr sz="1250" b="0" i="0" lang="ko-KR" altLang="en-US">
                <a:solidFill>
                  <a:srgbClr val="1E2532"/>
                </a:solidFill>
                <a:latin typeface="맑은 고딕"/>
                <a:ea typeface="맑은 고딕"/>
                <a:cs typeface="맑은 고딕"/>
              </a:rPr>
              <a:t>2010 → 2022 예측확률: 공정 단독형 0.27 → 0.12, 접합 단독형 0.31 → 0.40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4.3  </a:t>
            </a:r>
            <a:r>
              <a:rPr sz="2200" b="1" i="0" lang="ko-KR" altLang="en-US">
                <a:solidFill>
                  <a:srgbClr val="13294B"/>
                </a:solidFill>
                <a:latin typeface="맑은 고딕"/>
                <a:ea typeface="맑은 고딕"/>
                <a:cs typeface="맑은 고딕"/>
              </a:rPr>
              <a:t>RQ3) 핵심 기술의 경계 넘기 우위</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핵심 기술의 "경계 넘기" 우위는 형성기에 뚜렷했으나 재편기에는 확인되지 않았다</a:t>
            </a:r>
          </a:p>
        </p:txBody>
      </p:sp>
      <p:graphicFrame>
        <p:nvGraphicFramePr>
          <p:cNvPr id="4" name="Table 3"/>
          <p:cNvGraphicFramePr>
            <a:graphicFrameLocks noGrp="1"/>
          </p:cNvGraphicFramePr>
          <p:nvPr/>
        </p:nvGraphicFramePr>
        <p:xfrm>
          <a:off x="540000" y="990000"/>
          <a:ext cx="6840000" cy="1674000"/>
        </p:xfrm>
        <a:graphic>
          <a:graphicData uri="http://schemas.openxmlformats.org/drawingml/2006/table">
            <a:tbl>
              <a:tblPr firstRow="1">
                <a:tableStyleId>{2D5ABB26-0587-4C30-8999-92F81FD0307C}</a:tableStyleId>
              </a:tblPr>
              <a:tblGrid>
                <a:gridCol w="1800000"/>
                <a:gridCol w="1224000"/>
                <a:gridCol w="1224000"/>
                <a:gridCol w="1152000"/>
                <a:gridCol w="1440000"/>
              </a:tblGrid>
              <a:tr h="486000">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출원 시기</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통합형 비중</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핵심 보유</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통합형 비중</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핵심 없음</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핵심 기술의</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승산비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95% CI</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96000">
                <a:tc>
                  <a:txBody>
                    <a:bodyPr wrap="square"/>
                    <a:lstStyle/>
                    <a:p>
                      <a:pPr algn="l"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형성기 (–2014)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79.6%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27.7%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11.071***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4.211–29.107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96000">
                <a:tc>
                  <a:txBody>
                    <a:bodyPr wrap="square"/>
                    <a:lstStyle/>
                    <a:p>
                      <a:pPr algn="l"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확산기 (2015–19)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77.1%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57.9%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2.452**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1.158–5.194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96000">
                <a:tc>
                  <a:txBody>
                    <a:bodyPr wrap="square"/>
                    <a:lstStyle/>
                    <a:p>
                      <a:pPr algn="l"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재편기 (2020–24)</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48.4%</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56.9%</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0.658</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0C2"/>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0.374–1.160</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r>
            </a:tbl>
          </a:graphicData>
        </a:graphic>
      </p:graphicFrame>
      <p:sp>
        <p:nvSpPr>
          <p:cNvPr id="5" name="TextBox 4"/>
          <p:cNvSpPr txBox="1"/>
          <p:nvPr/>
        </p:nvSpPr>
        <p:spPr>
          <a:xfrm>
            <a:off x="540000" y="2700000"/>
            <a:ext cx="6840000" cy="216000"/>
          </a:xfrm>
          <a:prstGeom prst="rect">
            <a:avLst/>
          </a:prstGeom>
          <a:noFill/>
        </p:spPr>
        <p:txBody>
          <a:bodyPr wrap="square" lIns="0" rIns="0" tIns="0" bIns="0" anchor="ctr">
            <a:noAutofit/>
          </a:bodyPr>
          <a:lstStyle/>
          <a:p>
            <a:pPr algn="l"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접합 출원 N = 763 · 종속변수: 통합형 여부 · 출원청 통제 · *** p &lt; 0.01, ** p &lt; 0.05</a:t>
            </a:r>
          </a:p>
        </p:txBody>
      </p:sp>
      <p:sp>
        <p:nvSpPr>
          <p:cNvPr id="6" name="Rounded Rectangle 5"/>
          <p:cNvSpPr/>
          <p:nvPr/>
        </p:nvSpPr>
        <p:spPr>
          <a:xfrm>
            <a:off x="540000" y="3006000"/>
            <a:ext cx="6840000" cy="2844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7" name="TextBox 6"/>
          <p:cNvSpPr txBox="1"/>
          <p:nvPr/>
        </p:nvSpPr>
        <p:spPr>
          <a:xfrm>
            <a:off x="720000" y="3060000"/>
            <a:ext cx="6480000" cy="288000"/>
          </a:xfrm>
          <a:prstGeom prst="rect">
            <a:avLst/>
          </a:prstGeom>
          <a:noFill/>
        </p:spPr>
        <p:txBody>
          <a:bodyPr wrap="square" lIns="0" rIns="0" tIns="0" bIns="0" anchor="ctr">
            <a:noAutofit/>
          </a:bodyPr>
          <a:lstStyle/>
          <a:p>
            <a:pPr algn="l" marL="0" indent="0">
              <a:lnSpc>
                <a:spcPts val="1620"/>
              </a:lnSpc>
              <a:spcBef>
                <a:spcPts val="0"/>
              </a:spcBef>
              <a:spcAft>
                <a:spcPts val="0"/>
              </a:spcAft>
              <a:buNone/>
            </a:pPr>
            <a:r>
              <a:rPr sz="1350" b="1" i="0" lang="ko-KR" altLang="en-US">
                <a:solidFill>
                  <a:srgbClr val="13294B"/>
                </a:solidFill>
                <a:latin typeface="맑은 고딕"/>
                <a:ea typeface="맑은 고딕"/>
                <a:cs typeface="맑은 고딕"/>
              </a:rPr>
              <a:t>시기별 핵심 기술의 승산비 (95% 신뢰구간)</a:t>
            </a:r>
          </a:p>
        </p:txBody>
      </p:sp>
      <p:cxnSp>
        <p:nvCxnSpPr>
          <p:cNvPr id="8" name="Connector 7"/>
          <p:cNvCxnSpPr/>
          <p:nvPr/>
        </p:nvCxnSpPr>
        <p:spPr>
          <a:xfrm>
            <a:off x="3301714" y="3402000"/>
            <a:ext cx="0" cy="1386000"/>
          </a:xfrm>
          <a:prstGeom prst="line">
            <a:avLst/>
          </a:prstGeom>
          <a:ln w="19050">
            <a:solidFill>
              <a:srgbClr val="9AA3B2"/>
            </a:solidFill>
            <a:prstDash val="dash"/>
          </a:ln>
        </p:spPr>
      </p:cxnSp>
      <p:sp>
        <p:nvSpPr>
          <p:cNvPr id="9" name="TextBox 8"/>
          <p:cNvSpPr txBox="1"/>
          <p:nvPr/>
        </p:nvSpPr>
        <p:spPr>
          <a:xfrm>
            <a:off x="720000" y="3438000"/>
            <a:ext cx="936000" cy="324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2563C9"/>
                </a:solidFill>
                <a:latin typeface="맑은 고딕"/>
                <a:ea typeface="맑은 고딕"/>
                <a:cs typeface="맑은 고딕"/>
              </a:rPr>
              <a:t>형성기</a:t>
            </a:r>
          </a:p>
        </p:txBody>
      </p:sp>
      <p:cxnSp>
        <p:nvCxnSpPr>
          <p:cNvPr id="10" name="Connector 9"/>
          <p:cNvCxnSpPr/>
          <p:nvPr/>
        </p:nvCxnSpPr>
        <p:spPr>
          <a:xfrm>
            <a:off x="4859114" y="3600000"/>
            <a:ext cx="2094240" cy="0"/>
          </a:xfrm>
          <a:prstGeom prst="line">
            <a:avLst/>
          </a:prstGeom>
          <a:ln w="44450">
            <a:solidFill>
              <a:srgbClr val="2563C9"/>
            </a:solidFill>
          </a:ln>
        </p:spPr>
      </p:cxnSp>
      <p:sp>
        <p:nvSpPr>
          <p:cNvPr id="11" name="Oval 10"/>
          <p:cNvSpPr/>
          <p:nvPr/>
        </p:nvSpPr>
        <p:spPr>
          <a:xfrm>
            <a:off x="5809023" y="3502800"/>
            <a:ext cx="194400" cy="194400"/>
          </a:xfrm>
          <a:prstGeom prst="ellipse">
            <a:avLst/>
          </a:prstGeom>
          <a:solidFill>
            <a:srgbClr val="2563C9"/>
          </a:solidFill>
          <a:ln>
            <a:noFill/>
          </a:ln>
        </p:spPr>
        <p:txBody>
          <a:bodyPr rtlCol="0" anchor="ctr" lIns="36000" rIns="36000" tIns="36000" bIns="36000"/>
          <a:lstStyle/>
          <a:p>
            <a:pPr algn="ctr"/>
          </a:p>
        </p:txBody>
      </p:sp>
      <p:sp>
        <p:nvSpPr>
          <p:cNvPr id="12" name="TextBox 11"/>
          <p:cNvSpPr txBox="1"/>
          <p:nvPr/>
        </p:nvSpPr>
        <p:spPr>
          <a:xfrm>
            <a:off x="4322223" y="3240000"/>
            <a:ext cx="1404000" cy="216000"/>
          </a:xfrm>
          <a:prstGeom prst="rect">
            <a:avLst/>
          </a:prstGeom>
          <a:noFill/>
        </p:spPr>
        <p:txBody>
          <a:bodyPr wrap="square" lIns="0" rIns="0" tIns="0" bIns="0" anchor="ctr">
            <a:noAutofit/>
          </a:bodyPr>
          <a:lstStyle/>
          <a:p>
            <a:pPr algn="r" marL="0" indent="0">
              <a:lnSpc>
                <a:spcPts val="1500"/>
              </a:lnSpc>
              <a:spcBef>
                <a:spcPts val="0"/>
              </a:spcBef>
              <a:spcAft>
                <a:spcPts val="0"/>
              </a:spcAft>
              <a:buNone/>
            </a:pPr>
            <a:r>
              <a:rPr sz="1250" b="1" i="0" lang="ko-KR" altLang="en-US">
                <a:solidFill>
                  <a:srgbClr val="2563C9"/>
                </a:solidFill>
                <a:latin typeface="맑은 고딕"/>
                <a:ea typeface="맑은 고딕"/>
                <a:cs typeface="맑은 고딕"/>
              </a:rPr>
              <a:t>11.07***</a:t>
            </a:r>
          </a:p>
        </p:txBody>
      </p:sp>
      <p:sp>
        <p:nvSpPr>
          <p:cNvPr id="13" name="TextBox 12"/>
          <p:cNvSpPr txBox="1"/>
          <p:nvPr/>
        </p:nvSpPr>
        <p:spPr>
          <a:xfrm>
            <a:off x="720000" y="3888000"/>
            <a:ext cx="936000" cy="324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7C3AED"/>
                </a:solidFill>
                <a:latin typeface="맑은 고딕"/>
                <a:ea typeface="맑은 고딕"/>
                <a:cs typeface="맑은 고딕"/>
              </a:rPr>
              <a:t>확산기</a:t>
            </a:r>
          </a:p>
        </p:txBody>
      </p:sp>
      <p:cxnSp>
        <p:nvCxnSpPr>
          <p:cNvPr id="14" name="Connector 13"/>
          <p:cNvCxnSpPr/>
          <p:nvPr/>
        </p:nvCxnSpPr>
        <p:spPr>
          <a:xfrm>
            <a:off x="3460622" y="4050000"/>
            <a:ext cx="1625764" cy="0"/>
          </a:xfrm>
          <a:prstGeom prst="line">
            <a:avLst/>
          </a:prstGeom>
          <a:ln w="44450">
            <a:solidFill>
              <a:srgbClr val="7C3AED"/>
            </a:solidFill>
          </a:ln>
        </p:spPr>
      </p:cxnSp>
      <p:sp>
        <p:nvSpPr>
          <p:cNvPr id="15" name="Oval 14"/>
          <p:cNvSpPr/>
          <p:nvPr/>
        </p:nvSpPr>
        <p:spPr>
          <a:xfrm>
            <a:off x="4176093" y="3952800"/>
            <a:ext cx="194400" cy="194400"/>
          </a:xfrm>
          <a:prstGeom prst="ellipse">
            <a:avLst/>
          </a:prstGeom>
          <a:solidFill>
            <a:srgbClr val="7C3AED"/>
          </a:solidFill>
          <a:ln>
            <a:noFill/>
          </a:ln>
        </p:spPr>
        <p:txBody>
          <a:bodyPr rtlCol="0" anchor="ctr" lIns="36000" rIns="36000" tIns="36000" bIns="36000"/>
          <a:lstStyle/>
          <a:p>
            <a:pPr algn="ctr"/>
          </a:p>
        </p:txBody>
      </p:sp>
      <p:sp>
        <p:nvSpPr>
          <p:cNvPr id="16" name="TextBox 15"/>
          <p:cNvSpPr txBox="1"/>
          <p:nvPr/>
        </p:nvSpPr>
        <p:spPr>
          <a:xfrm>
            <a:off x="5176386" y="3934800"/>
            <a:ext cx="1656000" cy="2304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1" i="0" lang="ko-KR" altLang="en-US">
                <a:solidFill>
                  <a:srgbClr val="7C3AED"/>
                </a:solidFill>
                <a:latin typeface="맑은 고딕"/>
                <a:ea typeface="맑은 고딕"/>
                <a:cs typeface="맑은 고딕"/>
              </a:rPr>
              <a:t>2.45**</a:t>
            </a:r>
          </a:p>
        </p:txBody>
      </p:sp>
      <p:sp>
        <p:nvSpPr>
          <p:cNvPr id="17" name="TextBox 16"/>
          <p:cNvSpPr txBox="1"/>
          <p:nvPr/>
        </p:nvSpPr>
        <p:spPr>
          <a:xfrm>
            <a:off x="720000" y="4338000"/>
            <a:ext cx="936000" cy="324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EA7A28"/>
                </a:solidFill>
                <a:latin typeface="맑은 고딕"/>
                <a:ea typeface="맑은 고딕"/>
                <a:cs typeface="맑은 고딕"/>
              </a:rPr>
              <a:t>재편기</a:t>
            </a:r>
          </a:p>
        </p:txBody>
      </p:sp>
      <p:cxnSp>
        <p:nvCxnSpPr>
          <p:cNvPr id="18" name="Connector 17"/>
          <p:cNvCxnSpPr/>
          <p:nvPr/>
        </p:nvCxnSpPr>
        <p:spPr>
          <a:xfrm>
            <a:off x="2236331" y="4500000"/>
            <a:ext cx="1226160" cy="0"/>
          </a:xfrm>
          <a:prstGeom prst="line">
            <a:avLst/>
          </a:prstGeom>
          <a:ln w="44450">
            <a:solidFill>
              <a:srgbClr val="EA7A28"/>
            </a:solidFill>
          </a:ln>
        </p:spPr>
      </p:cxnSp>
      <p:sp>
        <p:nvSpPr>
          <p:cNvPr id="19" name="Oval 18"/>
          <p:cNvSpPr/>
          <p:nvPr/>
        </p:nvSpPr>
        <p:spPr>
          <a:xfrm>
            <a:off x="2751116" y="4402800"/>
            <a:ext cx="194400" cy="194400"/>
          </a:xfrm>
          <a:prstGeom prst="ellipse">
            <a:avLst/>
          </a:prstGeom>
          <a:solidFill>
            <a:srgbClr val="EA7A28"/>
          </a:solidFill>
          <a:ln>
            <a:noFill/>
          </a:ln>
        </p:spPr>
        <p:txBody>
          <a:bodyPr rtlCol="0" anchor="ctr" lIns="36000" rIns="36000" tIns="36000" bIns="36000"/>
          <a:lstStyle/>
          <a:p>
            <a:pPr algn="ctr"/>
          </a:p>
        </p:txBody>
      </p:sp>
      <p:sp>
        <p:nvSpPr>
          <p:cNvPr id="20" name="TextBox 19"/>
          <p:cNvSpPr txBox="1"/>
          <p:nvPr/>
        </p:nvSpPr>
        <p:spPr>
          <a:xfrm>
            <a:off x="3552491" y="4384800"/>
            <a:ext cx="1656000" cy="2304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1" i="0" lang="ko-KR" altLang="en-US">
                <a:solidFill>
                  <a:srgbClr val="EA7A28"/>
                </a:solidFill>
                <a:latin typeface="맑은 고딕"/>
                <a:ea typeface="맑은 고딕"/>
                <a:cs typeface="맑은 고딕"/>
              </a:rPr>
              <a:t>0.66 (비유의)</a:t>
            </a:r>
          </a:p>
        </p:txBody>
      </p:sp>
      <p:cxnSp>
        <p:nvCxnSpPr>
          <p:cNvPr id="21" name="Connector 20"/>
          <p:cNvCxnSpPr/>
          <p:nvPr/>
        </p:nvCxnSpPr>
        <p:spPr>
          <a:xfrm>
            <a:off x="1800000" y="4824000"/>
            <a:ext cx="5256000" cy="0"/>
          </a:xfrm>
          <a:prstGeom prst="line">
            <a:avLst/>
          </a:prstGeom>
          <a:ln w="15875">
            <a:solidFill>
              <a:srgbClr val="9AA3B2"/>
            </a:solidFill>
          </a:ln>
        </p:spPr>
      </p:cxnSp>
      <p:cxnSp>
        <p:nvCxnSpPr>
          <p:cNvPr id="22" name="Connector 21"/>
          <p:cNvCxnSpPr/>
          <p:nvPr/>
        </p:nvCxnSpPr>
        <p:spPr>
          <a:xfrm>
            <a:off x="1800000" y="4824000"/>
            <a:ext cx="0" cy="54000"/>
          </a:xfrm>
          <a:prstGeom prst="line">
            <a:avLst/>
          </a:prstGeom>
          <a:ln w="15875">
            <a:solidFill>
              <a:srgbClr val="9AA3B2"/>
            </a:solidFill>
          </a:ln>
        </p:spPr>
      </p:cxnSp>
      <p:sp>
        <p:nvSpPr>
          <p:cNvPr id="23" name="TextBox 22"/>
          <p:cNvSpPr txBox="1"/>
          <p:nvPr/>
        </p:nvSpPr>
        <p:spPr>
          <a:xfrm>
            <a:off x="1512000" y="4878000"/>
            <a:ext cx="576000" cy="198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0.25</a:t>
            </a:r>
          </a:p>
        </p:txBody>
      </p:sp>
      <p:cxnSp>
        <p:nvCxnSpPr>
          <p:cNvPr id="24" name="Connector 23"/>
          <p:cNvCxnSpPr/>
          <p:nvPr/>
        </p:nvCxnSpPr>
        <p:spPr>
          <a:xfrm>
            <a:off x="2550857" y="4824000"/>
            <a:ext cx="0" cy="54000"/>
          </a:xfrm>
          <a:prstGeom prst="line">
            <a:avLst/>
          </a:prstGeom>
          <a:ln w="15875">
            <a:solidFill>
              <a:srgbClr val="9AA3B2"/>
            </a:solidFill>
          </a:ln>
        </p:spPr>
      </p:cxnSp>
      <p:sp>
        <p:nvSpPr>
          <p:cNvPr id="25" name="TextBox 24"/>
          <p:cNvSpPr txBox="1"/>
          <p:nvPr/>
        </p:nvSpPr>
        <p:spPr>
          <a:xfrm>
            <a:off x="2262857" y="4878000"/>
            <a:ext cx="576000" cy="198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0.5</a:t>
            </a:r>
          </a:p>
        </p:txBody>
      </p:sp>
      <p:cxnSp>
        <p:nvCxnSpPr>
          <p:cNvPr id="26" name="Connector 25"/>
          <p:cNvCxnSpPr/>
          <p:nvPr/>
        </p:nvCxnSpPr>
        <p:spPr>
          <a:xfrm>
            <a:off x="3301714" y="4824000"/>
            <a:ext cx="0" cy="54000"/>
          </a:xfrm>
          <a:prstGeom prst="line">
            <a:avLst/>
          </a:prstGeom>
          <a:ln w="15875">
            <a:solidFill>
              <a:srgbClr val="9AA3B2"/>
            </a:solidFill>
          </a:ln>
        </p:spPr>
      </p:cxnSp>
      <p:sp>
        <p:nvSpPr>
          <p:cNvPr id="27" name="TextBox 26"/>
          <p:cNvSpPr txBox="1"/>
          <p:nvPr/>
        </p:nvSpPr>
        <p:spPr>
          <a:xfrm>
            <a:off x="3013714" y="4878000"/>
            <a:ext cx="576000" cy="198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1</a:t>
            </a:r>
          </a:p>
        </p:txBody>
      </p:sp>
      <p:cxnSp>
        <p:nvCxnSpPr>
          <p:cNvPr id="28" name="Connector 27"/>
          <p:cNvCxnSpPr/>
          <p:nvPr/>
        </p:nvCxnSpPr>
        <p:spPr>
          <a:xfrm>
            <a:off x="4052571" y="4824000"/>
            <a:ext cx="0" cy="54000"/>
          </a:xfrm>
          <a:prstGeom prst="line">
            <a:avLst/>
          </a:prstGeom>
          <a:ln w="15875">
            <a:solidFill>
              <a:srgbClr val="9AA3B2"/>
            </a:solidFill>
          </a:ln>
        </p:spPr>
      </p:cxnSp>
      <p:sp>
        <p:nvSpPr>
          <p:cNvPr id="29" name="TextBox 28"/>
          <p:cNvSpPr txBox="1"/>
          <p:nvPr/>
        </p:nvSpPr>
        <p:spPr>
          <a:xfrm>
            <a:off x="3764571" y="4878000"/>
            <a:ext cx="576000" cy="198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2</a:t>
            </a:r>
          </a:p>
        </p:txBody>
      </p:sp>
      <p:cxnSp>
        <p:nvCxnSpPr>
          <p:cNvPr id="30" name="Connector 29"/>
          <p:cNvCxnSpPr/>
          <p:nvPr/>
        </p:nvCxnSpPr>
        <p:spPr>
          <a:xfrm>
            <a:off x="4803429" y="4824000"/>
            <a:ext cx="0" cy="54000"/>
          </a:xfrm>
          <a:prstGeom prst="line">
            <a:avLst/>
          </a:prstGeom>
          <a:ln w="15875">
            <a:solidFill>
              <a:srgbClr val="9AA3B2"/>
            </a:solidFill>
          </a:ln>
        </p:spPr>
      </p:cxnSp>
      <p:sp>
        <p:nvSpPr>
          <p:cNvPr id="31" name="TextBox 30"/>
          <p:cNvSpPr txBox="1"/>
          <p:nvPr/>
        </p:nvSpPr>
        <p:spPr>
          <a:xfrm>
            <a:off x="4515429" y="4878000"/>
            <a:ext cx="576000" cy="198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4</a:t>
            </a:r>
          </a:p>
        </p:txBody>
      </p:sp>
      <p:cxnSp>
        <p:nvCxnSpPr>
          <p:cNvPr id="32" name="Connector 31"/>
          <p:cNvCxnSpPr/>
          <p:nvPr/>
        </p:nvCxnSpPr>
        <p:spPr>
          <a:xfrm>
            <a:off x="5554286" y="4824000"/>
            <a:ext cx="0" cy="54000"/>
          </a:xfrm>
          <a:prstGeom prst="line">
            <a:avLst/>
          </a:prstGeom>
          <a:ln w="15875">
            <a:solidFill>
              <a:srgbClr val="9AA3B2"/>
            </a:solidFill>
          </a:ln>
        </p:spPr>
      </p:cxnSp>
      <p:sp>
        <p:nvSpPr>
          <p:cNvPr id="33" name="TextBox 32"/>
          <p:cNvSpPr txBox="1"/>
          <p:nvPr/>
        </p:nvSpPr>
        <p:spPr>
          <a:xfrm>
            <a:off x="5266286" y="4878000"/>
            <a:ext cx="576000" cy="198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8</a:t>
            </a:r>
          </a:p>
        </p:txBody>
      </p:sp>
      <p:cxnSp>
        <p:nvCxnSpPr>
          <p:cNvPr id="34" name="Connector 33"/>
          <p:cNvCxnSpPr/>
          <p:nvPr/>
        </p:nvCxnSpPr>
        <p:spPr>
          <a:xfrm>
            <a:off x="6305143" y="4824000"/>
            <a:ext cx="0" cy="54000"/>
          </a:xfrm>
          <a:prstGeom prst="line">
            <a:avLst/>
          </a:prstGeom>
          <a:ln w="15875">
            <a:solidFill>
              <a:srgbClr val="9AA3B2"/>
            </a:solidFill>
          </a:ln>
        </p:spPr>
      </p:cxnSp>
      <p:sp>
        <p:nvSpPr>
          <p:cNvPr id="35" name="TextBox 34"/>
          <p:cNvSpPr txBox="1"/>
          <p:nvPr/>
        </p:nvSpPr>
        <p:spPr>
          <a:xfrm>
            <a:off x="6017143" y="4878000"/>
            <a:ext cx="576000" cy="198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16</a:t>
            </a:r>
          </a:p>
        </p:txBody>
      </p:sp>
      <p:cxnSp>
        <p:nvCxnSpPr>
          <p:cNvPr id="36" name="Connector 35"/>
          <p:cNvCxnSpPr/>
          <p:nvPr/>
        </p:nvCxnSpPr>
        <p:spPr>
          <a:xfrm>
            <a:off x="7056000" y="4824000"/>
            <a:ext cx="0" cy="54000"/>
          </a:xfrm>
          <a:prstGeom prst="line">
            <a:avLst/>
          </a:prstGeom>
          <a:ln w="15875">
            <a:solidFill>
              <a:srgbClr val="9AA3B2"/>
            </a:solidFill>
          </a:ln>
        </p:spPr>
      </p:cxnSp>
      <p:sp>
        <p:nvSpPr>
          <p:cNvPr id="37" name="TextBox 36"/>
          <p:cNvSpPr txBox="1"/>
          <p:nvPr/>
        </p:nvSpPr>
        <p:spPr>
          <a:xfrm>
            <a:off x="6768000" y="4878000"/>
            <a:ext cx="576000" cy="198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32</a:t>
            </a:r>
          </a:p>
        </p:txBody>
      </p:sp>
      <p:sp>
        <p:nvSpPr>
          <p:cNvPr id="38" name="TextBox 37"/>
          <p:cNvSpPr txBox="1"/>
          <p:nvPr/>
        </p:nvSpPr>
        <p:spPr>
          <a:xfrm>
            <a:off x="2041714" y="5076000"/>
            <a:ext cx="2520000" cy="198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승산비 (로그 척도, 1 = 차이 없음)</a:t>
            </a:r>
          </a:p>
        </p:txBody>
      </p:sp>
      <p:sp>
        <p:nvSpPr>
          <p:cNvPr id="39" name="Rounded Rectangle 38"/>
          <p:cNvSpPr/>
          <p:nvPr/>
        </p:nvSpPr>
        <p:spPr>
          <a:xfrm>
            <a:off x="7668000" y="990000"/>
            <a:ext cx="3984120" cy="486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40" name="TextBox 39"/>
          <p:cNvSpPr txBox="1"/>
          <p:nvPr/>
        </p:nvSpPr>
        <p:spPr>
          <a:xfrm>
            <a:off x="7848000" y="1116000"/>
            <a:ext cx="3624120" cy="288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Research Question 3</a:t>
            </a:r>
          </a:p>
        </p:txBody>
      </p:sp>
      <p:sp>
        <p:nvSpPr>
          <p:cNvPr id="41" name="TextBox 40"/>
          <p:cNvSpPr txBox="1"/>
          <p:nvPr/>
        </p:nvSpPr>
        <p:spPr>
          <a:xfrm>
            <a:off x="7848000" y="1422000"/>
            <a:ext cx="3624120" cy="702000"/>
          </a:xfrm>
          <a:prstGeom prst="rect">
            <a:avLst/>
          </a:prstGeom>
          <a:noFill/>
        </p:spPr>
        <p:txBody>
          <a:bodyPr wrap="square" lIns="0" rIns="0" tIns="0" bIns="0" anchor="t">
            <a:noAutofit/>
          </a:bodyPr>
          <a:lstStyle/>
          <a:p>
            <a:pPr algn="l" marL="0" indent="0">
              <a:lnSpc>
                <a:spcPts val="1580"/>
              </a:lnSpc>
              <a:spcBef>
                <a:spcPts val="0"/>
              </a:spcBef>
              <a:spcAft>
                <a:spcPts val="0"/>
              </a:spcAft>
              <a:buNone/>
            </a:pPr>
            <a:r>
              <a:rPr sz="1250" b="0" i="0" lang="ko-KR" altLang="en-US">
                <a:solidFill>
                  <a:srgbClr val="5B6475"/>
                </a:solidFill>
                <a:latin typeface="맑은 고딕"/>
                <a:ea typeface="맑은 고딕"/>
                <a:cs typeface="맑은 고딕"/>
              </a:rPr>
              <a:t>공정 단계 간 기술융합의 중심이 핵심 기술과 주변 기술 사이에서 시기에 따라 어떻게 재편되는가?</a:t>
            </a:r>
          </a:p>
        </p:txBody>
      </p:sp>
      <p:cxnSp>
        <p:nvCxnSpPr>
          <p:cNvPr id="42" name="Connector 41"/>
          <p:cNvCxnSpPr/>
          <p:nvPr/>
        </p:nvCxnSpPr>
        <p:spPr>
          <a:xfrm>
            <a:off x="7848000" y="2178000"/>
            <a:ext cx="3624120" cy="0"/>
          </a:xfrm>
          <a:prstGeom prst="line">
            <a:avLst/>
          </a:prstGeom>
          <a:ln w="12700">
            <a:solidFill>
              <a:srgbClr val="D5DBE3"/>
            </a:solidFill>
          </a:ln>
        </p:spPr>
      </p:cxnSp>
      <p:sp>
        <p:nvSpPr>
          <p:cNvPr id="43" name="TextBox 42"/>
          <p:cNvSpPr txBox="1"/>
          <p:nvPr/>
        </p:nvSpPr>
        <p:spPr>
          <a:xfrm>
            <a:off x="7848000" y="2250000"/>
            <a:ext cx="3624120" cy="3510000"/>
          </a:xfrm>
          <a:prstGeom prst="rect">
            <a:avLst/>
          </a:prstGeom>
          <a:noFill/>
        </p:spPr>
        <p:txBody>
          <a:bodyPr wrap="square" lIns="0" rIns="0" tIns="0" bIns="0" anchor="t">
            <a:noAutofit/>
          </a:bodyPr>
          <a:lstStyle/>
          <a:p>
            <a:pPr algn="l" marL="0" indent="0">
              <a:lnSpc>
                <a:spcPts val="1680"/>
              </a:lnSpc>
              <a:spcBef>
                <a:spcPts val="0"/>
              </a:spcBef>
              <a:spcAft>
                <a:spcPts val="600"/>
              </a:spcAft>
              <a:buNone/>
            </a:pPr>
            <a:r>
              <a:rPr sz="1400" b="1" i="0" lang="ko-KR" altLang="en-US">
                <a:solidFill>
                  <a:srgbClr val="13294B"/>
                </a:solidFill>
                <a:latin typeface="맑은 고딕"/>
                <a:ea typeface="맑은 고딕"/>
                <a:cs typeface="맑은 고딕"/>
              </a:rPr>
              <a:t>형성기 11.1 → 확산기 2.5 → 재편기 0.66</a:t>
            </a:r>
          </a:p>
          <a:p>
            <a:pPr algn="l" marL="0" indent="0">
              <a:lnSpc>
                <a:spcPts val="1440"/>
              </a:lnSpc>
              <a:spcBef>
                <a:spcPts val="0"/>
              </a:spcBef>
              <a:spcAft>
                <a:spcPts val="200"/>
              </a:spcAft>
              <a:buNone/>
            </a:pPr>
            <a:r>
              <a:rPr sz="1200" b="1" i="0" lang="ko-KR" altLang="en-US">
                <a:solidFill>
                  <a:srgbClr val="5B6475"/>
                </a:solidFill>
                <a:latin typeface="맑은 고딕"/>
                <a:ea typeface="맑은 고딕"/>
                <a:cs typeface="맑은 고딕"/>
              </a:rPr>
              <a:t>2014년 이전 대비 배수 (상호작용)</a:t>
            </a:r>
          </a:p>
          <a:p>
            <a:pPr algn="l" marL="0" indent="0">
              <a:lnSpc>
                <a:spcPts val="1560"/>
              </a:lnSpc>
              <a:spcBef>
                <a:spcPts val="0"/>
              </a:spcBef>
              <a:spcAft>
                <a:spcPts val="800"/>
              </a:spcAft>
              <a:buNone/>
            </a:pPr>
            <a:r>
              <a:rPr sz="1300" b="1" i="0" lang="ko-KR" altLang="en-US">
                <a:solidFill>
                  <a:srgbClr val="1E2532"/>
                </a:solidFill>
                <a:latin typeface="맑은 고딕"/>
                <a:ea typeface="맑은 고딕"/>
                <a:cs typeface="맑은 고딕"/>
              </a:rPr>
              <a:t>2015–19: 0.221** · 2020–24: 0.059***</a:t>
            </a:r>
          </a:p>
          <a:p>
            <a:pPr algn="l" marL="0" indent="0">
              <a:lnSpc>
                <a:spcPts val="1440"/>
              </a:lnSpc>
              <a:spcBef>
                <a:spcPts val="0"/>
              </a:spcBef>
              <a:spcAft>
                <a:spcPts val="200"/>
              </a:spcAft>
              <a:buNone/>
            </a:pPr>
            <a:r>
              <a:rPr sz="1200" b="1" i="0" lang="ko-KR" altLang="en-US">
                <a:solidFill>
                  <a:srgbClr val="5B6475"/>
                </a:solidFill>
                <a:latin typeface="맑은 고딕"/>
                <a:ea typeface="맑은 고딕"/>
                <a:cs typeface="맑은 고딕"/>
              </a:rPr>
              <a:t>접합 출원 중 핵심 기술 비중</a:t>
            </a:r>
          </a:p>
          <a:p>
            <a:pPr algn="l" marL="0" indent="0">
              <a:lnSpc>
                <a:spcPts val="1800"/>
              </a:lnSpc>
              <a:spcBef>
                <a:spcPts val="0"/>
              </a:spcBef>
              <a:spcAft>
                <a:spcPts val="800"/>
              </a:spcAft>
              <a:buNone/>
            </a:pPr>
            <a:r>
              <a:rPr sz="1500" b="1" i="0" lang="ko-KR" altLang="en-US">
                <a:solidFill>
                  <a:srgbClr val="1E2532"/>
                </a:solidFill>
                <a:latin typeface="맑은 고딕"/>
                <a:ea typeface="맑은 고딕"/>
                <a:cs typeface="맑은 고딕"/>
              </a:rPr>
              <a:t>53.5% → 78.7% → 88.0%</a:t>
            </a:r>
          </a:p>
          <a:p>
            <a:pPr algn="l" marL="0" indent="0">
              <a:lnSpc>
                <a:spcPts val="1560"/>
              </a:lnSpc>
              <a:spcBef>
                <a:spcPts val="0"/>
              </a:spcBef>
              <a:spcAft>
                <a:spcPts val="0"/>
              </a:spcAft>
              <a:buNone/>
            </a:pPr>
            <a:r>
              <a:rPr sz="1300" b="1" i="0" lang="ko-KR" altLang="en-US">
                <a:solidFill>
                  <a:srgbClr val="EA7A28"/>
                </a:solidFill>
                <a:latin typeface="맑은 고딕"/>
                <a:ea typeface="맑은 고딕"/>
                <a:cs typeface="맑은 고딕"/>
              </a:rPr>
              <a:t>→ 발명이 하나의 핵심 설계로 수렴</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4.3  </a:t>
            </a:r>
            <a:r>
              <a:rPr sz="2200" b="1" i="0" lang="ko-KR" altLang="en-US">
                <a:solidFill>
                  <a:srgbClr val="13294B"/>
                </a:solidFill>
                <a:latin typeface="맑은 고딕"/>
                <a:ea typeface="맑은 고딕"/>
                <a:cs typeface="맑은 고딕"/>
              </a:rPr>
              <a:t>RQ3) 결합 중심의 이동</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핵심 기술은 중심에 남고, 접합과 제조공정을 잇는 연결은 공정 장치 · 패키징 단계 공정으로 이동하였다</a:t>
            </a:r>
          </a:p>
        </p:txBody>
      </p:sp>
      <p:graphicFrame>
        <p:nvGraphicFramePr>
          <p:cNvPr id="4" name="Chart 3"/>
          <p:cNvGraphicFramePr>
            <a:graphicFrameLocks noGrp="1"/>
          </p:cNvGraphicFramePr>
          <p:nvPr/>
        </p:nvGraphicFramePr>
        <p:xfrm>
          <a:off x="540000" y="900000"/>
          <a:ext cx="5256000" cy="3456000"/>
        </p:xfrm>
        <a:graphic>
          <a:graphicData uri="http://schemas.openxmlformats.org/drawingml/2006/chart">
            <c:chart xmlns:c="http://schemas.openxmlformats.org/drawingml/2006/chart" r:id="rId3"/>
          </a:graphicData>
        </a:graphic>
      </p:graphicFrame>
      <p:graphicFrame>
        <p:nvGraphicFramePr>
          <p:cNvPr id="5" name="Table 4"/>
          <p:cNvGraphicFramePr>
            <a:graphicFrameLocks noGrp="1"/>
          </p:cNvGraphicFramePr>
          <p:nvPr/>
        </p:nvGraphicFramePr>
        <p:xfrm>
          <a:off x="540000" y="4446000"/>
          <a:ext cx="5256000" cy="1476000"/>
        </p:xfrm>
        <a:graphic>
          <a:graphicData uri="http://schemas.openxmlformats.org/drawingml/2006/table">
            <a:tbl>
              <a:tblPr firstRow="1">
                <a:tableStyleId>{2D5ABB26-0587-4C30-8999-92F81FD0307C}</a:tableStyleId>
              </a:tblPr>
              <a:tblGrid>
                <a:gridCol w="1872000"/>
                <a:gridCol w="1116000"/>
                <a:gridCol w="1116000"/>
                <a:gridCol w="1152000"/>
              </a:tblGrid>
              <a:tr h="295200">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매개 중심성 비중</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형성기</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확산기</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재편기</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295200">
                <a:tc>
                  <a:txBody>
                    <a:bodyPr wrap="square"/>
                    <a:lstStyle/>
                    <a:p>
                      <a:pPr algn="l"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웨이퍼 제조공정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53.6%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42.5%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9.0%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295200">
                <a:tc>
                  <a:txBody>
                    <a:bodyPr wrap="square"/>
                    <a:lstStyle/>
                    <a:p>
                      <a:pPr algn="l"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공정 장치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0.0%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1.8%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26.1%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295200">
                <a:tc>
                  <a:txBody>
                    <a:bodyPr wrap="square"/>
                    <a:lstStyle/>
                    <a:p>
                      <a:pPr algn="l"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패키징 단계 공정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0.3%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0.6%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7.3%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295200">
                <a:tc>
                  <a:txBody>
                    <a:bodyPr wrap="square"/>
                    <a:lstStyle/>
                    <a:p>
                      <a:pPr algn="l"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접합 기호(H01L24)</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46.1%</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55.1%</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57.6%</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r>
            </a:tbl>
          </a:graphicData>
        </a:graphic>
      </p:graphicFrame>
      <p:sp>
        <p:nvSpPr>
          <p:cNvPr id="6" name="Rounded Rectangle 5"/>
          <p:cNvSpPr/>
          <p:nvPr/>
        </p:nvSpPr>
        <p:spPr>
          <a:xfrm>
            <a:off x="6084000" y="990000"/>
            <a:ext cx="5568120" cy="201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7" name="TextBox 6"/>
          <p:cNvSpPr txBox="1"/>
          <p:nvPr/>
        </p:nvSpPr>
        <p:spPr>
          <a:xfrm>
            <a:off x="6264000" y="1062000"/>
            <a:ext cx="520812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핵심 기술과 함께 부여된 제조공정 기호</a:t>
            </a:r>
          </a:p>
        </p:txBody>
      </p:sp>
      <p:sp>
        <p:nvSpPr>
          <p:cNvPr id="8" name="Rounded Rectangle 7"/>
          <p:cNvSpPr/>
          <p:nvPr/>
        </p:nvSpPr>
        <p:spPr>
          <a:xfrm>
            <a:off x="6264000" y="1530000"/>
            <a:ext cx="864000" cy="396000"/>
          </a:xfrm>
          <a:prstGeom prst="roundRect">
            <a:avLst>
              <a:gd name="adj" fmla="val 50000"/>
            </a:avLst>
          </a:prstGeom>
          <a:solidFill>
            <a:srgbClr val="2563C9"/>
          </a:solidFill>
          <a:ln>
            <a:noFill/>
          </a:ln>
        </p:spPr>
        <p:txBody>
          <a:bodyPr rtlCol="0" anchor="ctr" lIns="28800" rIns="28800" tIns="18000" bIns="18000" wrap="square">
            <a:noAutofit/>
          </a:bodyPr>
          <a:lstStyle/>
          <a:p>
            <a:pPr algn="ctr" marL="0" indent="0">
              <a:lnSpc>
                <a:spcPts val="1500"/>
              </a:lnSpc>
              <a:spcBef>
                <a:spcPts val="0"/>
              </a:spcBef>
              <a:spcAft>
                <a:spcPts val="0"/>
              </a:spcAft>
              <a:buNone/>
            </a:pPr>
            <a:r>
              <a:rPr sz="1250" b="1" i="0" lang="ko-KR" altLang="en-US">
                <a:solidFill>
                  <a:srgbClr val="FFFFFF"/>
                </a:solidFill>
                <a:latin typeface="맑은 고딕"/>
                <a:ea typeface="맑은 고딕"/>
                <a:cs typeface="맑은 고딕"/>
              </a:rPr>
              <a:t>확산기</a:t>
            </a:r>
          </a:p>
        </p:txBody>
      </p:sp>
      <p:sp>
        <p:nvSpPr>
          <p:cNvPr id="9" name="TextBox 8"/>
          <p:cNvSpPr txBox="1"/>
          <p:nvPr/>
        </p:nvSpPr>
        <p:spPr>
          <a:xfrm>
            <a:off x="7236000" y="1440000"/>
            <a:ext cx="2118060" cy="288000"/>
          </a:xfrm>
          <a:prstGeom prst="rect">
            <a:avLst/>
          </a:prstGeom>
          <a:noFill/>
        </p:spPr>
        <p:txBody>
          <a:bodyPr wrap="square" lIns="0" rIns="0" tIns="0" bIns="0" anchor="ctr">
            <a:noAutofit/>
          </a:bodyPr>
          <a:lstStyle/>
          <a:p>
            <a:pPr algn="l" marL="0" indent="0">
              <a:lnSpc>
                <a:spcPts val="1620"/>
              </a:lnSpc>
              <a:spcBef>
                <a:spcPts val="0"/>
              </a:spcBef>
              <a:spcAft>
                <a:spcPts val="0"/>
              </a:spcAft>
              <a:buNone/>
            </a:pPr>
            <a:r>
              <a:rPr sz="1350" b="1" i="0" lang="ko-KR" altLang="en-US">
                <a:solidFill>
                  <a:srgbClr val="2563C9"/>
                </a:solidFill>
                <a:latin typeface="맑은 고딕"/>
                <a:ea typeface="맑은 고딕"/>
                <a:cs typeface="맑은 고딕"/>
              </a:rPr>
              <a:t>21/187</a:t>
            </a:r>
          </a:p>
        </p:txBody>
      </p:sp>
      <p:sp>
        <p:nvSpPr>
          <p:cNvPr id="10" name="TextBox 9"/>
          <p:cNvSpPr txBox="1"/>
          <p:nvPr/>
        </p:nvSpPr>
        <p:spPr>
          <a:xfrm>
            <a:off x="7236000" y="1710000"/>
            <a:ext cx="2118060" cy="288000"/>
          </a:xfrm>
          <a:prstGeom prst="rect">
            <a:avLst/>
          </a:prstGeom>
          <a:noFill/>
        </p:spPr>
        <p:txBody>
          <a:bodyPr wrap="square" lIns="0" rIns="0" tIns="0" bIns="0" anchor="ctr">
            <a:noAutofit/>
          </a:bodyPr>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반도체 몸체끼리의 접합</a:t>
            </a:r>
          </a:p>
        </p:txBody>
      </p:sp>
      <p:sp>
        <p:nvSpPr>
          <p:cNvPr id="11" name="TextBox 10"/>
          <p:cNvSpPr txBox="1"/>
          <p:nvPr/>
        </p:nvSpPr>
        <p:spPr>
          <a:xfrm>
            <a:off x="9354060" y="1440000"/>
            <a:ext cx="2118060" cy="288000"/>
          </a:xfrm>
          <a:prstGeom prst="rect">
            <a:avLst/>
          </a:prstGeom>
          <a:noFill/>
        </p:spPr>
        <p:txBody>
          <a:bodyPr wrap="square" lIns="0" rIns="0" tIns="0" bIns="0" anchor="ctr">
            <a:noAutofit/>
          </a:bodyPr>
          <a:lstStyle/>
          <a:p>
            <a:pPr algn="l" marL="0" indent="0">
              <a:lnSpc>
                <a:spcPts val="1620"/>
              </a:lnSpc>
              <a:spcBef>
                <a:spcPts val="0"/>
              </a:spcBef>
              <a:spcAft>
                <a:spcPts val="0"/>
              </a:spcAft>
              <a:buNone/>
            </a:pPr>
            <a:r>
              <a:rPr sz="1350" b="1" i="0" lang="ko-KR" altLang="en-US">
                <a:solidFill>
                  <a:srgbClr val="2563C9"/>
                </a:solidFill>
                <a:latin typeface="맑은 고딕"/>
                <a:ea typeface="맑은 고딕"/>
                <a:cs typeface="맑은 고딕"/>
              </a:rPr>
              <a:t>21/76898</a:t>
            </a:r>
          </a:p>
        </p:txBody>
      </p:sp>
      <p:sp>
        <p:nvSpPr>
          <p:cNvPr id="12" name="TextBox 11"/>
          <p:cNvSpPr txBox="1"/>
          <p:nvPr/>
        </p:nvSpPr>
        <p:spPr>
          <a:xfrm>
            <a:off x="9354060" y="1710000"/>
            <a:ext cx="2118060" cy="288000"/>
          </a:xfrm>
          <a:prstGeom prst="rect">
            <a:avLst/>
          </a:prstGeom>
          <a:noFill/>
        </p:spPr>
        <p:txBody>
          <a:bodyPr wrap="square" lIns="0" rIns="0" tIns="0" bIns="0" anchor="ctr">
            <a:noAutofit/>
          </a:bodyPr>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기판 관통 배선</a:t>
            </a:r>
          </a:p>
        </p:txBody>
      </p:sp>
      <p:sp>
        <p:nvSpPr>
          <p:cNvPr id="13" name="Rounded Rectangle 12"/>
          <p:cNvSpPr/>
          <p:nvPr/>
        </p:nvSpPr>
        <p:spPr>
          <a:xfrm>
            <a:off x="6264000" y="2286000"/>
            <a:ext cx="864000" cy="396000"/>
          </a:xfrm>
          <a:prstGeom prst="roundRect">
            <a:avLst>
              <a:gd name="adj" fmla="val 50000"/>
            </a:avLst>
          </a:prstGeom>
          <a:solidFill>
            <a:srgbClr val="EA7A28"/>
          </a:solidFill>
          <a:ln>
            <a:noFill/>
          </a:ln>
        </p:spPr>
        <p:txBody>
          <a:bodyPr rtlCol="0" anchor="ctr" lIns="28800" rIns="28800" tIns="18000" bIns="18000" wrap="square">
            <a:noAutofit/>
          </a:bodyPr>
          <a:lstStyle/>
          <a:p>
            <a:pPr algn="ctr" marL="0" indent="0">
              <a:lnSpc>
                <a:spcPts val="1500"/>
              </a:lnSpc>
              <a:spcBef>
                <a:spcPts val="0"/>
              </a:spcBef>
              <a:spcAft>
                <a:spcPts val="0"/>
              </a:spcAft>
              <a:buNone/>
            </a:pPr>
            <a:r>
              <a:rPr sz="1250" b="1" i="0" lang="ko-KR" altLang="en-US">
                <a:solidFill>
                  <a:srgbClr val="FFFFFF"/>
                </a:solidFill>
                <a:latin typeface="맑은 고딕"/>
                <a:ea typeface="맑은 고딕"/>
                <a:cs typeface="맑은 고딕"/>
              </a:rPr>
              <a:t>재편기</a:t>
            </a:r>
          </a:p>
        </p:txBody>
      </p:sp>
      <p:sp>
        <p:nvSpPr>
          <p:cNvPr id="14" name="TextBox 13"/>
          <p:cNvSpPr txBox="1"/>
          <p:nvPr/>
        </p:nvSpPr>
        <p:spPr>
          <a:xfrm>
            <a:off x="7236000" y="2196000"/>
            <a:ext cx="2118060" cy="288000"/>
          </a:xfrm>
          <a:prstGeom prst="rect">
            <a:avLst/>
          </a:prstGeom>
          <a:noFill/>
        </p:spPr>
        <p:txBody>
          <a:bodyPr wrap="square" lIns="0" rIns="0" tIns="0" bIns="0" anchor="ctr">
            <a:noAutofit/>
          </a:bodyPr>
          <a:lstStyle/>
          <a:p>
            <a:pPr algn="l" marL="0" indent="0">
              <a:lnSpc>
                <a:spcPts val="1620"/>
              </a:lnSpc>
              <a:spcBef>
                <a:spcPts val="0"/>
              </a:spcBef>
              <a:spcAft>
                <a:spcPts val="0"/>
              </a:spcAft>
              <a:buNone/>
            </a:pPr>
            <a:r>
              <a:rPr sz="1350" b="1" i="0" lang="ko-KR" altLang="en-US">
                <a:solidFill>
                  <a:srgbClr val="EA7A28"/>
                </a:solidFill>
                <a:latin typeface="맑은 고딕"/>
                <a:ea typeface="맑은 고딕"/>
                <a:cs typeface="맑은 고딕"/>
              </a:rPr>
              <a:t>21/6835</a:t>
            </a:r>
          </a:p>
        </p:txBody>
      </p:sp>
      <p:sp>
        <p:nvSpPr>
          <p:cNvPr id="15" name="TextBox 14"/>
          <p:cNvSpPr txBox="1"/>
          <p:nvPr/>
        </p:nvSpPr>
        <p:spPr>
          <a:xfrm>
            <a:off x="7236000" y="2466000"/>
            <a:ext cx="2118060" cy="288000"/>
          </a:xfrm>
          <a:prstGeom prst="rect">
            <a:avLst/>
          </a:prstGeom>
          <a:noFill/>
        </p:spPr>
        <p:txBody>
          <a:bodyPr wrap="square" lIns="0" rIns="0" tIns="0" bIns="0" anchor="ctr">
            <a:noAutofit/>
          </a:bodyPr>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임시 기판을 이용한 지지</a:t>
            </a:r>
          </a:p>
        </p:txBody>
      </p:sp>
      <p:sp>
        <p:nvSpPr>
          <p:cNvPr id="16" name="TextBox 15"/>
          <p:cNvSpPr txBox="1"/>
          <p:nvPr/>
        </p:nvSpPr>
        <p:spPr>
          <a:xfrm>
            <a:off x="9354060" y="2196000"/>
            <a:ext cx="2118060" cy="288000"/>
          </a:xfrm>
          <a:prstGeom prst="rect">
            <a:avLst/>
          </a:prstGeom>
          <a:noFill/>
        </p:spPr>
        <p:txBody>
          <a:bodyPr wrap="square" lIns="0" rIns="0" tIns="0" bIns="0" anchor="ctr">
            <a:noAutofit/>
          </a:bodyPr>
          <a:lstStyle/>
          <a:p>
            <a:pPr algn="l" marL="0" indent="0">
              <a:lnSpc>
                <a:spcPts val="1620"/>
              </a:lnSpc>
              <a:spcBef>
                <a:spcPts val="0"/>
              </a:spcBef>
              <a:spcAft>
                <a:spcPts val="0"/>
              </a:spcAft>
              <a:buNone/>
            </a:pPr>
            <a:r>
              <a:rPr sz="1350" b="1" i="0" lang="ko-KR" altLang="en-US">
                <a:solidFill>
                  <a:srgbClr val="EA7A28"/>
                </a:solidFill>
                <a:latin typeface="맑은 고딕"/>
                <a:ea typeface="맑은 고딕"/>
                <a:cs typeface="맑은 고딕"/>
              </a:rPr>
              <a:t>21/568</a:t>
            </a:r>
          </a:p>
        </p:txBody>
      </p:sp>
      <p:sp>
        <p:nvSpPr>
          <p:cNvPr id="17" name="TextBox 16"/>
          <p:cNvSpPr txBox="1"/>
          <p:nvPr/>
        </p:nvSpPr>
        <p:spPr>
          <a:xfrm>
            <a:off x="9354060" y="2466000"/>
            <a:ext cx="2118060" cy="288000"/>
          </a:xfrm>
          <a:prstGeom prst="rect">
            <a:avLst/>
          </a:prstGeom>
          <a:noFill/>
        </p:spPr>
        <p:txBody>
          <a:bodyPr wrap="square" lIns="0" rIns="0" tIns="0" bIns="0" anchor="ctr">
            <a:noAutofit/>
          </a:bodyPr>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봉지 공정용 임시 기판</a:t>
            </a:r>
          </a:p>
        </p:txBody>
      </p:sp>
      <p:sp>
        <p:nvSpPr>
          <p:cNvPr id="18" name="Rounded Rectangle 17"/>
          <p:cNvSpPr/>
          <p:nvPr/>
        </p:nvSpPr>
        <p:spPr>
          <a:xfrm>
            <a:off x="6084000" y="3114000"/>
            <a:ext cx="5568120" cy="117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9" name="TextBox 18"/>
          <p:cNvSpPr txBox="1"/>
          <p:nvPr/>
        </p:nvSpPr>
        <p:spPr>
          <a:xfrm>
            <a:off x="6264000" y="3168000"/>
            <a:ext cx="520812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기술 네트워크의 허브와 연결 기호</a:t>
            </a:r>
          </a:p>
        </p:txBody>
      </p:sp>
      <p:sp>
        <p:nvSpPr>
          <p:cNvPr id="20" name="TextBox 19"/>
          <p:cNvSpPr txBox="1"/>
          <p:nvPr/>
        </p:nvSpPr>
        <p:spPr>
          <a:xfrm>
            <a:off x="6264000" y="3456000"/>
            <a:ext cx="5208120" cy="828000"/>
          </a:xfrm>
          <a:prstGeom prst="rect">
            <a:avLst/>
          </a:prstGeom>
          <a:noFill/>
        </p:spPr>
        <p:txBody>
          <a:bodyPr wrap="square" lIns="0" rIns="0" tIns="0" bIns="0" anchor="t">
            <a:noAutofit/>
          </a:bodyPr>
          <a:lstStyle/>
          <a:p>
            <a:pPr algn="l" marL="180000" indent="-180000">
              <a:lnSpc>
                <a:spcPts val="1440"/>
              </a:lnSpc>
              <a:spcBef>
                <a:spcPts val="0"/>
              </a:spcBef>
              <a:spcAft>
                <a:spcPts val="300"/>
              </a:spcAft>
              <a:buClr>
                <a:srgbClr val="13294B"/>
              </a:buClr>
              <a:buSzPct val="70000"/>
              <a:buFont typeface="Arial"/>
              <a:buChar char="■"/>
            </a:pPr>
            <a:r>
              <a:rPr sz="1200" b="0" i="0" lang="ko-KR" altLang="en-US">
                <a:solidFill>
                  <a:srgbClr val="1E2532"/>
                </a:solidFill>
                <a:latin typeface="맑은 고딕"/>
                <a:ea typeface="맑은 고딕"/>
                <a:cs typeface="맑은 고딕"/>
              </a:rPr>
              <a:t>허브(연결 강도 상위 3개): 세 시기 모두 핵심 기호 24/80 · 24/08 · 24/05</a:t>
            </a:r>
          </a:p>
          <a:p>
            <a:pPr algn="l" marL="180000" indent="-180000">
              <a:lnSpc>
                <a:spcPts val="1440"/>
              </a:lnSpc>
              <a:spcBef>
                <a:spcPts val="0"/>
              </a:spcBef>
              <a:spcAft>
                <a:spcPts val="0"/>
              </a:spcAft>
              <a:buClr>
                <a:srgbClr val="13294B"/>
              </a:buClr>
              <a:buSzPct val="70000"/>
              <a:buFont typeface="Arial"/>
              <a:buChar char="■"/>
            </a:pPr>
            <a:r>
              <a:rPr sz="1200" b="0" i="0" lang="ko-KR" altLang="en-US">
                <a:solidFill>
                  <a:srgbClr val="1E2532"/>
                </a:solidFill>
                <a:latin typeface="맑은 고딕"/>
                <a:ea typeface="맑은 고딕"/>
                <a:cs typeface="맑은 고딕"/>
              </a:rPr>
              <a:t>연결 기호(매개 중심성 최대 제조공정 기호): 21/187 → 21/67121 · 21/67766 (공정 장치)</a:t>
            </a:r>
          </a:p>
        </p:txBody>
      </p:sp>
      <p:sp>
        <p:nvSpPr>
          <p:cNvPr id="21" name="Rounded Rectangle 20"/>
          <p:cNvSpPr/>
          <p:nvPr/>
        </p:nvSpPr>
        <p:spPr>
          <a:xfrm>
            <a:off x="6084000" y="4392000"/>
            <a:ext cx="5568120" cy="147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2" name="TextBox 21"/>
          <p:cNvSpPr txBox="1"/>
          <p:nvPr/>
        </p:nvSpPr>
        <p:spPr>
          <a:xfrm>
            <a:off x="6264000" y="4518000"/>
            <a:ext cx="5208120" cy="288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Research Question 3</a:t>
            </a:r>
          </a:p>
        </p:txBody>
      </p:sp>
      <p:sp>
        <p:nvSpPr>
          <p:cNvPr id="23" name="TextBox 22"/>
          <p:cNvSpPr txBox="1"/>
          <p:nvPr/>
        </p:nvSpPr>
        <p:spPr>
          <a:xfrm>
            <a:off x="6264000" y="4824000"/>
            <a:ext cx="5208120" cy="576000"/>
          </a:xfrm>
          <a:prstGeom prst="rect">
            <a:avLst/>
          </a:prstGeom>
          <a:noFill/>
        </p:spPr>
        <p:txBody>
          <a:bodyPr wrap="square" lIns="0" rIns="0" tIns="0" bIns="0" anchor="t">
            <a:noAutofit/>
          </a:bodyPr>
          <a:lstStyle/>
          <a:p>
            <a:pPr algn="l" marL="0" indent="0">
              <a:lnSpc>
                <a:spcPts val="1580"/>
              </a:lnSpc>
              <a:spcBef>
                <a:spcPts val="0"/>
              </a:spcBef>
              <a:spcAft>
                <a:spcPts val="0"/>
              </a:spcAft>
              <a:buNone/>
            </a:pPr>
            <a:r>
              <a:rPr sz="1250" b="0" i="0" lang="ko-KR" altLang="en-US">
                <a:solidFill>
                  <a:srgbClr val="5B6475"/>
                </a:solidFill>
                <a:latin typeface="맑은 고딕"/>
                <a:ea typeface="맑은 고딕"/>
                <a:cs typeface="맑은 고딕"/>
              </a:rPr>
              <a:t>공정 단계 간 기술융합의 중심이 핵심 기술과 주변 기술 사이에서 시기에 따라 어떻게 재편되는가?</a:t>
            </a:r>
          </a:p>
        </p:txBody>
      </p:sp>
      <p:cxnSp>
        <p:nvCxnSpPr>
          <p:cNvPr id="24" name="Connector 23"/>
          <p:cNvCxnSpPr/>
          <p:nvPr/>
        </p:nvCxnSpPr>
        <p:spPr>
          <a:xfrm>
            <a:off x="6264000" y="5454000"/>
            <a:ext cx="5208120" cy="0"/>
          </a:xfrm>
          <a:prstGeom prst="line">
            <a:avLst/>
          </a:prstGeom>
          <a:ln w="12700">
            <a:solidFill>
              <a:srgbClr val="D5DBE3"/>
            </a:solidFill>
          </a:ln>
        </p:spPr>
      </p:cxnSp>
      <p:sp>
        <p:nvSpPr>
          <p:cNvPr id="25" name="TextBox 24"/>
          <p:cNvSpPr txBox="1"/>
          <p:nvPr/>
        </p:nvSpPr>
        <p:spPr>
          <a:xfrm>
            <a:off x="6264000" y="5526000"/>
            <a:ext cx="5208120" cy="252000"/>
          </a:xfrm>
          <a:prstGeom prst="rect">
            <a:avLst/>
          </a:prstGeom>
          <a:noFill/>
        </p:spPr>
        <p:txBody>
          <a:bodyPr wrap="square" lIns="0" rIns="0" tIns="0" bIns="0" anchor="t">
            <a:noAutofit/>
          </a:bodyPr>
          <a:lstStyle/>
          <a:p>
            <a:pPr algn="l" marL="0" indent="0">
              <a:lnSpc>
                <a:spcPts val="1560"/>
              </a:lnSpc>
              <a:spcBef>
                <a:spcPts val="0"/>
              </a:spcBef>
              <a:spcAft>
                <a:spcPts val="0"/>
              </a:spcAft>
              <a:buNone/>
            </a:pPr>
            <a:r>
              <a:rPr sz="1300" b="1" i="0" lang="ko-KR" altLang="en-US">
                <a:solidFill>
                  <a:srgbClr val="13294B"/>
                </a:solidFill>
                <a:latin typeface="맑은 고딕"/>
                <a:ea typeface="맑은 고딕"/>
                <a:cs typeface="맑은 고딕"/>
              </a:rPr>
              <a:t>융합의 중심: 웨이퍼 제조공정 → 공정 장치 · 패키징 단계 공정</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4.4  </a:t>
            </a:r>
            <a:r>
              <a:rPr sz="2200" b="1" i="0" lang="ko-KR" altLang="en-US">
                <a:solidFill>
                  <a:srgbClr val="13294B"/>
                </a:solidFill>
                <a:latin typeface="맑은 고딕"/>
                <a:ea typeface="맑은 고딕"/>
                <a:cs typeface="맑은 고딕"/>
              </a:rPr>
              <a:t>강건성 검증</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RQ1 · RQ3는 모든 재추정에서, RQ2는 hybrid bonding 표본을 제외한 모든 재추정에서 유지되었다</a:t>
            </a:r>
          </a:p>
        </p:txBody>
      </p:sp>
      <p:graphicFrame>
        <p:nvGraphicFramePr>
          <p:cNvPr id="4" name="Table 3"/>
          <p:cNvGraphicFramePr>
            <a:graphicFrameLocks noGrp="1"/>
          </p:cNvGraphicFramePr>
          <p:nvPr/>
        </p:nvGraphicFramePr>
        <p:xfrm>
          <a:off x="540000" y="954000"/>
          <a:ext cx="11113200" cy="3538800"/>
        </p:xfrm>
        <a:graphic>
          <a:graphicData uri="http://schemas.openxmlformats.org/drawingml/2006/table">
            <a:tbl>
              <a:tblPr firstRow="1">
                <a:tableStyleId>{2D5ABB26-0587-4C30-8999-92F81FD0307C}</a:tableStyleId>
              </a:tblPr>
              <a:tblGrid>
                <a:gridCol w="3744000"/>
                <a:gridCol w="1296000"/>
                <a:gridCol w="1944000"/>
                <a:gridCol w="2196000"/>
                <a:gridCol w="1933200"/>
              </a:tblGrid>
              <a:tr h="486000">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표본 · 변수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N</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RQ1</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기술범위 → 통합형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RQ2</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출원연도 → 공정 단독형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RQ3</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2020–24 상호작용</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816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기준</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928 / 763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1.403***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0.913***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0.059***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816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동일 제목 군집 표준오차</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928 / 763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1.403***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0.913***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0.059***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816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동일 제목 중복 제거 (제목당 1건)</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473 / 361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1.295***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0.935***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0.131***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816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좁은 제조공정 정의 (패키징 단계 공정 제외)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908 / 763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1.352***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0.898***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0.050***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816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검색어의 무관 용법 68건 제외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860 / 712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1.384***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0.820***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0.185**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816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hybrid bonding 표본 (제목 기준)</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467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1.485***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1" i="0" lang="ko-KR" altLang="en-US">
                          <a:solidFill>
                            <a:srgbClr val="9B2C1F"/>
                          </a:solidFill>
                          <a:latin typeface="맑은 고딕"/>
                          <a:ea typeface="맑은 고딕"/>
                          <a:cs typeface="맑은 고딕"/>
                        </a:rPr>
                        <a:t>1.029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BE3E0"/>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추정하지 않음</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816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핵심 기호 외 접합 기호 수 통제</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763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0.078***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816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핵심 기술을 24/08 · 24/80으로 한정</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763</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0.051***</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r>
            </a:tbl>
          </a:graphicData>
        </a:graphic>
      </p:graphicFrame>
      <p:sp>
        <p:nvSpPr>
          <p:cNvPr id="5" name="TextBox 4"/>
          <p:cNvSpPr txBox="1"/>
          <p:nvPr/>
        </p:nvSpPr>
        <p:spPr>
          <a:xfrm>
            <a:off x="540000" y="4932000"/>
            <a:ext cx="11112120" cy="972000"/>
          </a:xfrm>
          <a:prstGeom prst="rect">
            <a:avLst/>
          </a:prstGeom>
          <a:noFill/>
        </p:spPr>
        <p:txBody>
          <a:bodyPr wrap="square" lIns="0" rIns="0" tIns="0" bIns="0" anchor="t">
            <a:noAutofit/>
          </a:bodyPr>
          <a:lstStyle/>
          <a:p>
            <a:pPr algn="l" marL="0" indent="0">
              <a:lnSpc>
                <a:spcPts val="1320"/>
              </a:lnSpc>
              <a:spcBef>
                <a:spcPts val="0"/>
              </a:spcBef>
              <a:spcAft>
                <a:spcPts val="400"/>
              </a:spcAft>
              <a:buNone/>
            </a:pPr>
            <a:r>
              <a:rPr sz="1100" b="0" i="0" lang="ko-KR" altLang="en-US">
                <a:solidFill>
                  <a:srgbClr val="5B6475"/>
                </a:solidFill>
                <a:latin typeface="맑은 고딕"/>
                <a:ea typeface="맑은 고딕"/>
                <a:cs typeface="맑은 고딕"/>
              </a:rPr>
              <a:t>RQ1 · RQ2: 다항 로짓 상대위험비 (N 왼쪽) · RQ3: 핵심 기술 모형의 2014년 이전 대비 배수 (N 오른쪽) · *** p &lt; 0.01, ** p &lt; 0.05</a:t>
            </a:r>
          </a:p>
          <a:p>
            <a:pPr algn="l" marL="180000" indent="-180000">
              <a:lnSpc>
                <a:spcPts val="1440"/>
              </a:lnSpc>
              <a:spcBef>
                <a:spcPts val="0"/>
              </a:spcBef>
              <a:spcAft>
                <a:spcPts val="300"/>
              </a:spcAft>
              <a:buClr>
                <a:srgbClr val="13294B"/>
              </a:buClr>
              <a:buSzPct val="70000"/>
              <a:buFont typeface="Arial"/>
              <a:buChar char="■"/>
            </a:pPr>
            <a:r>
              <a:rPr sz="1200" b="0" i="0" lang="ko-KR" altLang="en-US">
                <a:solidFill>
                  <a:srgbClr val="1E2532"/>
                </a:solidFill>
                <a:latin typeface="맑은 고딕"/>
                <a:ea typeface="맑은 고딕"/>
                <a:cs typeface="맑은 고딕"/>
              </a:rPr>
              <a:t>hybrid bonding 표본은 2014년 이전 출원이 30건뿐이어서 시간 추세를 식별할 수 없고, 2019년 이전 핵심 기술 없는 접합 출원이 12건이라 RQ3 모형은 추정하지 않음</a:t>
            </a:r>
          </a:p>
          <a:p>
            <a:pPr algn="l" marL="180000" indent="-180000">
              <a:lnSpc>
                <a:spcPts val="1440"/>
              </a:lnSpc>
              <a:spcBef>
                <a:spcPts val="0"/>
              </a:spcBef>
              <a:spcAft>
                <a:spcPts val="0"/>
              </a:spcAft>
              <a:buClr>
                <a:srgbClr val="13294B"/>
              </a:buClr>
              <a:buSzPct val="70000"/>
              <a:buFont typeface="Arial"/>
              <a:buChar char="■"/>
            </a:pPr>
            <a:r>
              <a:rPr sz="1200" b="0" i="0" lang="ko-KR" altLang="en-US">
                <a:solidFill>
                  <a:srgbClr val="1E2532"/>
                </a:solidFill>
                <a:latin typeface="맑은 고딕"/>
                <a:ea typeface="맑은 고딕"/>
                <a:cs typeface="맑은 고딕"/>
              </a:rPr>
              <a:t>확산기의 승산비는 군집 표준오차와 무관 용법 제외 표본에서 유의성을 잃으므로, 우위가 사라진 시점(확산기/재편기)은 확정하지 않음</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2200" b="1" i="0" lang="ko-KR" altLang="en-US">
                <a:solidFill>
                  <a:srgbClr val="13294B"/>
                </a:solidFill>
                <a:latin typeface="맑은 고딕"/>
                <a:ea typeface="맑은 고딕"/>
                <a:cs typeface="맑은 고딕"/>
              </a:rPr>
              <a:t>Chapter 4  Summary</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공정 단계 간 융합은 국면에 따라 내용과 중심이 재편되는 동태적 과정이었다</a:t>
            </a:r>
          </a:p>
        </p:txBody>
      </p:sp>
      <p:sp>
        <p:nvSpPr>
          <p:cNvPr id="4" name="TextBox 3"/>
          <p:cNvSpPr txBox="1"/>
          <p:nvPr/>
        </p:nvSpPr>
        <p:spPr>
          <a:xfrm>
            <a:off x="540000" y="1656000"/>
            <a:ext cx="2124000" cy="630000"/>
          </a:xfrm>
          <a:prstGeom prst="rect">
            <a:avLst/>
          </a:prstGeom>
          <a:noFill/>
        </p:spPr>
        <p:txBody>
          <a:bodyPr wrap="square" lIns="0" rIns="0" tIns="0" bIns="0" anchor="ctr">
            <a:noAutofit/>
          </a:bodyPr>
          <a:lstStyle/>
          <a:p>
            <a:pPr algn="r" marL="0" indent="0">
              <a:lnSpc>
                <a:spcPts val="1560"/>
              </a:lnSpc>
              <a:spcBef>
                <a:spcPts val="0"/>
              </a:spcBef>
              <a:spcAft>
                <a:spcPts val="0"/>
              </a:spcAft>
              <a:buNone/>
            </a:pPr>
            <a:r>
              <a:rPr sz="1300" b="1" i="0" lang="ko-KR" altLang="en-US">
                <a:solidFill>
                  <a:srgbClr val="5B6475"/>
                </a:solidFill>
                <a:latin typeface="맑은 고딕"/>
                <a:ea typeface="맑은 고딕"/>
                <a:cs typeface="맑은 고딕"/>
              </a:rPr>
              <a:t>가장 두드러진 유형</a:t>
            </a:r>
          </a:p>
        </p:txBody>
      </p:sp>
      <p:sp>
        <p:nvSpPr>
          <p:cNvPr id="5" name="TextBox 4"/>
          <p:cNvSpPr txBox="1"/>
          <p:nvPr/>
        </p:nvSpPr>
        <p:spPr>
          <a:xfrm>
            <a:off x="540000" y="2350800"/>
            <a:ext cx="2124000" cy="522000"/>
          </a:xfrm>
          <a:prstGeom prst="rect">
            <a:avLst/>
          </a:prstGeom>
          <a:noFill/>
        </p:spPr>
        <p:txBody>
          <a:bodyPr wrap="square" lIns="0" rIns="0" tIns="0" bIns="0" anchor="ctr">
            <a:noAutofit/>
          </a:bodyPr>
          <a:lstStyle/>
          <a:p>
            <a:pPr algn="r" marL="0" indent="0">
              <a:lnSpc>
                <a:spcPts val="1560"/>
              </a:lnSpc>
              <a:spcBef>
                <a:spcPts val="0"/>
              </a:spcBef>
              <a:spcAft>
                <a:spcPts val="0"/>
              </a:spcAft>
              <a:buNone/>
            </a:pPr>
            <a:r>
              <a:rPr sz="1300" b="1" i="0" lang="ko-KR" altLang="en-US">
                <a:solidFill>
                  <a:srgbClr val="5B6475"/>
                </a:solidFill>
                <a:latin typeface="맑은 고딕"/>
                <a:ea typeface="맑은 고딕"/>
                <a:cs typeface="맑은 고딕"/>
              </a:rPr>
              <a:t>핵심 기술의 승산비</a:t>
            </a:r>
          </a:p>
        </p:txBody>
      </p:sp>
      <p:sp>
        <p:nvSpPr>
          <p:cNvPr id="6" name="TextBox 5"/>
          <p:cNvSpPr txBox="1"/>
          <p:nvPr/>
        </p:nvSpPr>
        <p:spPr>
          <a:xfrm>
            <a:off x="540000" y="2937600"/>
            <a:ext cx="2124000" cy="522000"/>
          </a:xfrm>
          <a:prstGeom prst="rect">
            <a:avLst/>
          </a:prstGeom>
          <a:noFill/>
        </p:spPr>
        <p:txBody>
          <a:bodyPr wrap="square" lIns="0" rIns="0" tIns="0" bIns="0" anchor="ctr">
            <a:noAutofit/>
          </a:bodyPr>
          <a:lstStyle/>
          <a:p>
            <a:pPr algn="r" marL="0" indent="0">
              <a:lnSpc>
                <a:spcPts val="1560"/>
              </a:lnSpc>
              <a:spcBef>
                <a:spcPts val="0"/>
              </a:spcBef>
              <a:spcAft>
                <a:spcPts val="0"/>
              </a:spcAft>
              <a:buNone/>
            </a:pPr>
            <a:r>
              <a:rPr sz="1300" b="1" i="0" lang="ko-KR" altLang="en-US">
                <a:solidFill>
                  <a:srgbClr val="5B6475"/>
                </a:solidFill>
                <a:latin typeface="맑은 고딕"/>
                <a:ea typeface="맑은 고딕"/>
                <a:cs typeface="맑은 고딕"/>
              </a:rPr>
              <a:t>접합 출원 중 핵심 기술 비중</a:t>
            </a:r>
          </a:p>
        </p:txBody>
      </p:sp>
      <p:sp>
        <p:nvSpPr>
          <p:cNvPr id="7" name="TextBox 6"/>
          <p:cNvSpPr txBox="1"/>
          <p:nvPr/>
        </p:nvSpPr>
        <p:spPr>
          <a:xfrm>
            <a:off x="540000" y="3524400"/>
            <a:ext cx="2124000" cy="738000"/>
          </a:xfrm>
          <a:prstGeom prst="rect">
            <a:avLst/>
          </a:prstGeom>
          <a:noFill/>
        </p:spPr>
        <p:txBody>
          <a:bodyPr wrap="square" lIns="0" rIns="0" tIns="0" bIns="0" anchor="ctr">
            <a:noAutofit/>
          </a:bodyPr>
          <a:lstStyle/>
          <a:p>
            <a:pPr algn="r" marL="0" indent="0">
              <a:lnSpc>
                <a:spcPts val="1560"/>
              </a:lnSpc>
              <a:spcBef>
                <a:spcPts val="0"/>
              </a:spcBef>
              <a:spcAft>
                <a:spcPts val="0"/>
              </a:spcAft>
              <a:buNone/>
            </a:pPr>
            <a:r>
              <a:rPr sz="1300" b="1" i="0" lang="ko-KR" altLang="en-US">
                <a:solidFill>
                  <a:srgbClr val="5B6475"/>
                </a:solidFill>
                <a:latin typeface="맑은 고딕"/>
                <a:ea typeface="맑은 고딕"/>
                <a:cs typeface="맑은 고딕"/>
              </a:rPr>
              <a:t>접합과 결합한 제조공정의 중심</a:t>
            </a:r>
          </a:p>
        </p:txBody>
      </p:sp>
      <p:sp>
        <p:nvSpPr>
          <p:cNvPr id="8" name="TextBox 7"/>
          <p:cNvSpPr txBox="1"/>
          <p:nvPr/>
        </p:nvSpPr>
        <p:spPr>
          <a:xfrm>
            <a:off x="540000" y="4327200"/>
            <a:ext cx="2124000" cy="522000"/>
          </a:xfrm>
          <a:prstGeom prst="rect">
            <a:avLst/>
          </a:prstGeom>
          <a:noFill/>
        </p:spPr>
        <p:txBody>
          <a:bodyPr wrap="square" lIns="0" rIns="0" tIns="0" bIns="0" anchor="ctr">
            <a:noAutofit/>
          </a:bodyPr>
          <a:lstStyle/>
          <a:p>
            <a:pPr algn="r" marL="0" indent="0">
              <a:lnSpc>
                <a:spcPts val="1560"/>
              </a:lnSpc>
              <a:spcBef>
                <a:spcPts val="0"/>
              </a:spcBef>
              <a:spcAft>
                <a:spcPts val="0"/>
              </a:spcAft>
              <a:buNone/>
            </a:pPr>
            <a:r>
              <a:rPr sz="1300" b="1" i="0" lang="ko-KR" altLang="en-US">
                <a:solidFill>
                  <a:srgbClr val="5B6475"/>
                </a:solidFill>
                <a:latin typeface="맑은 고딕"/>
                <a:ea typeface="맑은 고딕"/>
                <a:cs typeface="맑은 고딕"/>
              </a:rPr>
              <a:t>단계 모형과의 대응</a:t>
            </a:r>
          </a:p>
        </p:txBody>
      </p:sp>
      <p:sp>
        <p:nvSpPr>
          <p:cNvPr id="9" name="Pentagon 8"/>
          <p:cNvSpPr/>
          <p:nvPr/>
        </p:nvSpPr>
        <p:spPr>
          <a:xfrm>
            <a:off x="2772000" y="972000"/>
            <a:ext cx="3002040" cy="558000"/>
          </a:xfrm>
          <a:prstGeom prst="homePlate">
            <a:avLst/>
          </a:prstGeom>
          <a:solidFill>
            <a:srgbClr val="2563C9"/>
          </a:solidFill>
          <a:ln>
            <a:noFill/>
          </a:ln>
        </p:spPr>
        <p:txBody>
          <a:bodyPr rtlCol="0" anchor="ctr" lIns="54000" rIns="54000" tIns="18000" bIns="18000" wrap="square">
            <a:noAutofit/>
          </a:bodyPr>
          <a:lstStyle/>
          <a:p>
            <a:pPr algn="ctr" marL="0" indent="0">
              <a:lnSpc>
                <a:spcPts val="2160"/>
              </a:lnSpc>
              <a:spcBef>
                <a:spcPts val="0"/>
              </a:spcBef>
              <a:spcAft>
                <a:spcPts val="0"/>
              </a:spcAft>
              <a:buNone/>
            </a:pPr>
            <a:r>
              <a:rPr sz="1800" b="1" i="0" lang="ko-KR" altLang="en-US">
                <a:solidFill>
                  <a:srgbClr val="FFFFFF"/>
                </a:solidFill>
                <a:latin typeface="맑은 고딕"/>
                <a:ea typeface="맑은 고딕"/>
                <a:cs typeface="맑은 고딕"/>
              </a:rPr>
              <a:t>형성기</a:t>
            </a:r>
            <a:r>
              <a:rPr sz="1250" b="0" i="0" lang="ko-KR" altLang="en-US">
                <a:solidFill>
                  <a:srgbClr val="FFFFFF"/>
                </a:solidFill>
                <a:latin typeface="맑은 고딕"/>
                <a:ea typeface="맑은 고딕"/>
                <a:cs typeface="맑은 고딕"/>
              </a:rPr>
              <a:t>  –2014</a:t>
            </a:r>
          </a:p>
        </p:txBody>
      </p:sp>
      <p:sp>
        <p:nvSpPr>
          <p:cNvPr id="10" name="Rounded Rectangle 9"/>
          <p:cNvSpPr/>
          <p:nvPr/>
        </p:nvSpPr>
        <p:spPr>
          <a:xfrm>
            <a:off x="2772000" y="1620000"/>
            <a:ext cx="2840040" cy="3276000"/>
          </a:xfrm>
          <a:prstGeom prst="roundRect">
            <a:avLst>
              <a:gd name="adj" fmla="val 6000"/>
            </a:avLst>
          </a:prstGeom>
          <a:solidFill>
            <a:srgbClr val="E3ECFB"/>
          </a:solidFill>
          <a:ln>
            <a:noFill/>
          </a:ln>
        </p:spPr>
        <p:txBody>
          <a:bodyPr rtlCol="0" anchor="ctr" lIns="36000" rIns="36000" tIns="36000" bIns="36000"/>
          <a:lstStyle/>
          <a:p>
            <a:pPr algn="ctr"/>
          </a:p>
        </p:txBody>
      </p:sp>
      <p:sp>
        <p:nvSpPr>
          <p:cNvPr id="11" name="TextBox 10"/>
          <p:cNvSpPr txBox="1"/>
          <p:nvPr/>
        </p:nvSpPr>
        <p:spPr>
          <a:xfrm>
            <a:off x="2880000" y="1656000"/>
            <a:ext cx="2624040" cy="630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공정 단독형 43.6% (최다)</a:t>
            </a:r>
          </a:p>
        </p:txBody>
      </p:sp>
      <p:cxnSp>
        <p:nvCxnSpPr>
          <p:cNvPr id="12" name="Connector 11"/>
          <p:cNvCxnSpPr/>
          <p:nvPr/>
        </p:nvCxnSpPr>
        <p:spPr>
          <a:xfrm>
            <a:off x="2988000" y="2318400"/>
            <a:ext cx="2408040" cy="0"/>
          </a:xfrm>
          <a:prstGeom prst="line">
            <a:avLst/>
          </a:prstGeom>
          <a:ln w="19050">
            <a:solidFill>
              <a:srgbClr val="FFFFFF"/>
            </a:solidFill>
          </a:ln>
        </p:spPr>
      </p:cxnSp>
      <p:sp>
        <p:nvSpPr>
          <p:cNvPr id="13" name="TextBox 12"/>
          <p:cNvSpPr txBox="1"/>
          <p:nvPr/>
        </p:nvSpPr>
        <p:spPr>
          <a:xfrm>
            <a:off x="2880000" y="2350800"/>
            <a:ext cx="2624040" cy="522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11.07***</a:t>
            </a:r>
          </a:p>
        </p:txBody>
      </p:sp>
      <p:cxnSp>
        <p:nvCxnSpPr>
          <p:cNvPr id="14" name="Connector 13"/>
          <p:cNvCxnSpPr/>
          <p:nvPr/>
        </p:nvCxnSpPr>
        <p:spPr>
          <a:xfrm>
            <a:off x="2988000" y="2905200"/>
            <a:ext cx="2408040" cy="0"/>
          </a:xfrm>
          <a:prstGeom prst="line">
            <a:avLst/>
          </a:prstGeom>
          <a:ln w="19050">
            <a:solidFill>
              <a:srgbClr val="FFFFFF"/>
            </a:solidFill>
          </a:ln>
        </p:spPr>
      </p:cxnSp>
      <p:sp>
        <p:nvSpPr>
          <p:cNvPr id="15" name="TextBox 14"/>
          <p:cNvSpPr txBox="1"/>
          <p:nvPr/>
        </p:nvSpPr>
        <p:spPr>
          <a:xfrm>
            <a:off x="2880000" y="2937600"/>
            <a:ext cx="2624040" cy="522000"/>
          </a:xfrm>
          <a:prstGeom prst="rect">
            <a:avLst/>
          </a:prstGeom>
          <a:noFill/>
        </p:spPr>
        <p:txBody>
          <a:bodyPr wrap="square" lIns="0" rIns="0" tIns="0" bIns="0" anchor="ctr">
            <a:noAutofit/>
          </a:bodyPr>
          <a:lstStyle/>
          <a:p>
            <a:pPr algn="ctr" marL="0" indent="0">
              <a:lnSpc>
                <a:spcPts val="1620"/>
              </a:lnSpc>
              <a:spcBef>
                <a:spcPts val="0"/>
              </a:spcBef>
              <a:spcAft>
                <a:spcPts val="0"/>
              </a:spcAft>
              <a:buNone/>
            </a:pPr>
            <a:r>
              <a:rPr sz="1350" b="0" i="0" lang="ko-KR" altLang="en-US">
                <a:solidFill>
                  <a:srgbClr val="1E2532"/>
                </a:solidFill>
                <a:latin typeface="맑은 고딕"/>
                <a:ea typeface="맑은 고딕"/>
                <a:cs typeface="맑은 고딕"/>
              </a:rPr>
              <a:t>53.5%</a:t>
            </a:r>
          </a:p>
        </p:txBody>
      </p:sp>
      <p:cxnSp>
        <p:nvCxnSpPr>
          <p:cNvPr id="16" name="Connector 15"/>
          <p:cNvCxnSpPr/>
          <p:nvPr/>
        </p:nvCxnSpPr>
        <p:spPr>
          <a:xfrm>
            <a:off x="2988000" y="3492000"/>
            <a:ext cx="2408040" cy="0"/>
          </a:xfrm>
          <a:prstGeom prst="line">
            <a:avLst/>
          </a:prstGeom>
          <a:ln w="19050">
            <a:solidFill>
              <a:srgbClr val="FFFFFF"/>
            </a:solidFill>
          </a:ln>
        </p:spPr>
      </p:cxnSp>
      <p:sp>
        <p:nvSpPr>
          <p:cNvPr id="17" name="TextBox 16"/>
          <p:cNvSpPr txBox="1"/>
          <p:nvPr/>
        </p:nvSpPr>
        <p:spPr>
          <a:xfrm>
            <a:off x="2880000" y="3524400"/>
            <a:ext cx="2624040" cy="738000"/>
          </a:xfrm>
          <a:prstGeom prst="rect">
            <a:avLst/>
          </a:prstGeom>
          <a:noFill/>
        </p:spPr>
        <p:txBody>
          <a:bodyPr wrap="square" lIns="0" rIns="0" tIns="0" bIns="0" anchor="ctr">
            <a:noAutofit/>
          </a:bodyPr>
          <a:lstStyle/>
          <a:p>
            <a:pPr algn="ctr" marL="0" indent="0">
              <a:lnSpc>
                <a:spcPts val="1620"/>
              </a:lnSpc>
              <a:spcBef>
                <a:spcPts val="0"/>
              </a:spcBef>
              <a:spcAft>
                <a:spcPts val="0"/>
              </a:spcAft>
              <a:buNone/>
            </a:pPr>
            <a:r>
              <a:rPr sz="1350" b="0" i="0" lang="ko-KR" altLang="en-US">
                <a:solidFill>
                  <a:srgbClr val="1E2532"/>
                </a:solidFill>
                <a:latin typeface="맑은 고딕"/>
                <a:ea typeface="맑은 고딕"/>
                <a:cs typeface="맑은 고딕"/>
              </a:rPr>
              <a:t>웨이퍼 제조공정</a:t>
            </a:r>
          </a:p>
        </p:txBody>
      </p:sp>
      <p:cxnSp>
        <p:nvCxnSpPr>
          <p:cNvPr id="18" name="Connector 17"/>
          <p:cNvCxnSpPr/>
          <p:nvPr/>
        </p:nvCxnSpPr>
        <p:spPr>
          <a:xfrm>
            <a:off x="2988000" y="4294800"/>
            <a:ext cx="2408040" cy="0"/>
          </a:xfrm>
          <a:prstGeom prst="line">
            <a:avLst/>
          </a:prstGeom>
          <a:ln w="19050">
            <a:solidFill>
              <a:srgbClr val="FFFFFF"/>
            </a:solidFill>
          </a:ln>
        </p:spPr>
      </p:cxnSp>
      <p:sp>
        <p:nvSpPr>
          <p:cNvPr id="19" name="TextBox 18"/>
          <p:cNvSpPr txBox="1"/>
          <p:nvPr/>
        </p:nvSpPr>
        <p:spPr>
          <a:xfrm>
            <a:off x="2880000" y="4327200"/>
            <a:ext cx="2624040" cy="522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2563C9"/>
                </a:solidFill>
                <a:latin typeface="맑은 고딕"/>
                <a:ea typeface="맑은 고딕"/>
                <a:cs typeface="맑은 고딕"/>
              </a:rPr>
              <a:t>지식 융합</a:t>
            </a:r>
          </a:p>
        </p:txBody>
      </p:sp>
      <p:sp>
        <p:nvSpPr>
          <p:cNvPr id="20" name="Pentagon 19"/>
          <p:cNvSpPr/>
          <p:nvPr/>
        </p:nvSpPr>
        <p:spPr>
          <a:xfrm>
            <a:off x="5792040" y="972000"/>
            <a:ext cx="3002040" cy="558000"/>
          </a:xfrm>
          <a:prstGeom prst="homePlate">
            <a:avLst/>
          </a:prstGeom>
          <a:solidFill>
            <a:srgbClr val="7C3AED"/>
          </a:solidFill>
          <a:ln>
            <a:noFill/>
          </a:ln>
        </p:spPr>
        <p:txBody>
          <a:bodyPr rtlCol="0" anchor="ctr" lIns="54000" rIns="54000" tIns="18000" bIns="18000" wrap="square">
            <a:noAutofit/>
          </a:bodyPr>
          <a:lstStyle/>
          <a:p>
            <a:pPr algn="ctr" marL="0" indent="0">
              <a:lnSpc>
                <a:spcPts val="2160"/>
              </a:lnSpc>
              <a:spcBef>
                <a:spcPts val="0"/>
              </a:spcBef>
              <a:spcAft>
                <a:spcPts val="0"/>
              </a:spcAft>
              <a:buNone/>
            </a:pPr>
            <a:r>
              <a:rPr sz="1800" b="1" i="0" lang="ko-KR" altLang="en-US">
                <a:solidFill>
                  <a:srgbClr val="FFFFFF"/>
                </a:solidFill>
                <a:latin typeface="맑은 고딕"/>
                <a:ea typeface="맑은 고딕"/>
                <a:cs typeface="맑은 고딕"/>
              </a:rPr>
              <a:t>확산기</a:t>
            </a:r>
            <a:r>
              <a:rPr sz="1250" b="0" i="0" lang="ko-KR" altLang="en-US">
                <a:solidFill>
                  <a:srgbClr val="FFFFFF"/>
                </a:solidFill>
                <a:latin typeface="맑은 고딕"/>
                <a:ea typeface="맑은 고딕"/>
                <a:cs typeface="맑은 고딕"/>
              </a:rPr>
              <a:t>  2015–2019</a:t>
            </a:r>
          </a:p>
        </p:txBody>
      </p:sp>
      <p:sp>
        <p:nvSpPr>
          <p:cNvPr id="21" name="Rounded Rectangle 20"/>
          <p:cNvSpPr/>
          <p:nvPr/>
        </p:nvSpPr>
        <p:spPr>
          <a:xfrm>
            <a:off x="5792040" y="1620000"/>
            <a:ext cx="2840040" cy="3276000"/>
          </a:xfrm>
          <a:prstGeom prst="roundRect">
            <a:avLst>
              <a:gd name="adj" fmla="val 6000"/>
            </a:avLst>
          </a:prstGeom>
          <a:solidFill>
            <a:srgbClr val="EEE6FD"/>
          </a:solidFill>
          <a:ln>
            <a:noFill/>
          </a:ln>
        </p:spPr>
        <p:txBody>
          <a:bodyPr rtlCol="0" anchor="ctr" lIns="36000" rIns="36000" tIns="36000" bIns="36000"/>
          <a:lstStyle/>
          <a:p>
            <a:pPr algn="ctr"/>
          </a:p>
        </p:txBody>
      </p:sp>
      <p:sp>
        <p:nvSpPr>
          <p:cNvPr id="22" name="TextBox 21"/>
          <p:cNvSpPr txBox="1"/>
          <p:nvPr/>
        </p:nvSpPr>
        <p:spPr>
          <a:xfrm>
            <a:off x="5900040" y="1656000"/>
            <a:ext cx="2624040" cy="630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통합형 62.2% (정점)</a:t>
            </a:r>
          </a:p>
        </p:txBody>
      </p:sp>
      <p:cxnSp>
        <p:nvCxnSpPr>
          <p:cNvPr id="23" name="Connector 22"/>
          <p:cNvCxnSpPr/>
          <p:nvPr/>
        </p:nvCxnSpPr>
        <p:spPr>
          <a:xfrm>
            <a:off x="6008040" y="2318400"/>
            <a:ext cx="2408040" cy="0"/>
          </a:xfrm>
          <a:prstGeom prst="line">
            <a:avLst/>
          </a:prstGeom>
          <a:ln w="19050">
            <a:solidFill>
              <a:srgbClr val="FFFFFF"/>
            </a:solidFill>
          </a:ln>
        </p:spPr>
      </p:cxnSp>
      <p:sp>
        <p:nvSpPr>
          <p:cNvPr id="24" name="TextBox 23"/>
          <p:cNvSpPr txBox="1"/>
          <p:nvPr/>
        </p:nvSpPr>
        <p:spPr>
          <a:xfrm>
            <a:off x="5900040" y="2350800"/>
            <a:ext cx="2624040" cy="522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2.45**</a:t>
            </a:r>
          </a:p>
        </p:txBody>
      </p:sp>
      <p:cxnSp>
        <p:nvCxnSpPr>
          <p:cNvPr id="25" name="Connector 24"/>
          <p:cNvCxnSpPr/>
          <p:nvPr/>
        </p:nvCxnSpPr>
        <p:spPr>
          <a:xfrm>
            <a:off x="6008040" y="2905200"/>
            <a:ext cx="2408040" cy="0"/>
          </a:xfrm>
          <a:prstGeom prst="line">
            <a:avLst/>
          </a:prstGeom>
          <a:ln w="19050">
            <a:solidFill>
              <a:srgbClr val="FFFFFF"/>
            </a:solidFill>
          </a:ln>
        </p:spPr>
      </p:cxnSp>
      <p:sp>
        <p:nvSpPr>
          <p:cNvPr id="26" name="TextBox 25"/>
          <p:cNvSpPr txBox="1"/>
          <p:nvPr/>
        </p:nvSpPr>
        <p:spPr>
          <a:xfrm>
            <a:off x="5900040" y="2937600"/>
            <a:ext cx="2624040" cy="522000"/>
          </a:xfrm>
          <a:prstGeom prst="rect">
            <a:avLst/>
          </a:prstGeom>
          <a:noFill/>
        </p:spPr>
        <p:txBody>
          <a:bodyPr wrap="square" lIns="0" rIns="0" tIns="0" bIns="0" anchor="ctr">
            <a:noAutofit/>
          </a:bodyPr>
          <a:lstStyle/>
          <a:p>
            <a:pPr algn="ctr" marL="0" indent="0">
              <a:lnSpc>
                <a:spcPts val="1620"/>
              </a:lnSpc>
              <a:spcBef>
                <a:spcPts val="0"/>
              </a:spcBef>
              <a:spcAft>
                <a:spcPts val="0"/>
              </a:spcAft>
              <a:buNone/>
            </a:pPr>
            <a:r>
              <a:rPr sz="1350" b="0" i="0" lang="ko-KR" altLang="en-US">
                <a:solidFill>
                  <a:srgbClr val="1E2532"/>
                </a:solidFill>
                <a:latin typeface="맑은 고딕"/>
                <a:ea typeface="맑은 고딕"/>
                <a:cs typeface="맑은 고딕"/>
              </a:rPr>
              <a:t>78.7%</a:t>
            </a:r>
          </a:p>
        </p:txBody>
      </p:sp>
      <p:cxnSp>
        <p:nvCxnSpPr>
          <p:cNvPr id="27" name="Connector 26"/>
          <p:cNvCxnSpPr/>
          <p:nvPr/>
        </p:nvCxnSpPr>
        <p:spPr>
          <a:xfrm>
            <a:off x="6008040" y="3492000"/>
            <a:ext cx="2408040" cy="0"/>
          </a:xfrm>
          <a:prstGeom prst="line">
            <a:avLst/>
          </a:prstGeom>
          <a:ln w="19050">
            <a:solidFill>
              <a:srgbClr val="FFFFFF"/>
            </a:solidFill>
          </a:ln>
        </p:spPr>
      </p:cxnSp>
      <p:sp>
        <p:nvSpPr>
          <p:cNvPr id="28" name="TextBox 27"/>
          <p:cNvSpPr txBox="1"/>
          <p:nvPr/>
        </p:nvSpPr>
        <p:spPr>
          <a:xfrm>
            <a:off x="5900040" y="3524400"/>
            <a:ext cx="2624040" cy="738000"/>
          </a:xfrm>
          <a:prstGeom prst="rect">
            <a:avLst/>
          </a:prstGeom>
          <a:noFill/>
        </p:spPr>
        <p:txBody>
          <a:bodyPr wrap="square" lIns="0" rIns="0" tIns="0" bIns="0" anchor="ctr">
            <a:noAutofit/>
          </a:bodyPr>
          <a:lstStyle/>
          <a:p>
            <a:pPr algn="ctr" marL="0" indent="0">
              <a:lnSpc>
                <a:spcPts val="1620"/>
              </a:lnSpc>
              <a:spcBef>
                <a:spcPts val="0"/>
              </a:spcBef>
              <a:spcAft>
                <a:spcPts val="0"/>
              </a:spcAft>
              <a:buNone/>
            </a:pPr>
            <a:r>
              <a:rPr sz="1350" b="0" i="0" lang="ko-KR" altLang="en-US">
                <a:solidFill>
                  <a:srgbClr val="1E2532"/>
                </a:solidFill>
                <a:latin typeface="맑은 고딕"/>
                <a:ea typeface="맑은 고딕"/>
                <a:cs typeface="맑은 고딕"/>
              </a:rPr>
              <a:t>웨이퍼 제조공정</a:t>
            </a:r>
          </a:p>
          <a:p>
            <a:pPr algn="ctr" marL="0" indent="0">
              <a:lnSpc>
                <a:spcPts val="1620"/>
              </a:lnSpc>
              <a:spcBef>
                <a:spcPts val="0"/>
              </a:spcBef>
              <a:spcAft>
                <a:spcPts val="0"/>
              </a:spcAft>
              <a:buNone/>
            </a:pPr>
            <a:r>
              <a:rPr sz="1350" b="0" i="0" lang="ko-KR" altLang="en-US">
                <a:solidFill>
                  <a:srgbClr val="1E2532"/>
                </a:solidFill>
                <a:latin typeface="맑은 고딕"/>
                <a:ea typeface="맑은 고딕"/>
                <a:cs typeface="맑은 고딕"/>
              </a:rPr>
              <a:t>(21/187 · 21/76898)</a:t>
            </a:r>
          </a:p>
        </p:txBody>
      </p:sp>
      <p:cxnSp>
        <p:nvCxnSpPr>
          <p:cNvPr id="29" name="Connector 28"/>
          <p:cNvCxnSpPr/>
          <p:nvPr/>
        </p:nvCxnSpPr>
        <p:spPr>
          <a:xfrm>
            <a:off x="6008040" y="4294800"/>
            <a:ext cx="2408040" cy="0"/>
          </a:xfrm>
          <a:prstGeom prst="line">
            <a:avLst/>
          </a:prstGeom>
          <a:ln w="19050">
            <a:solidFill>
              <a:srgbClr val="FFFFFF"/>
            </a:solidFill>
          </a:ln>
        </p:spPr>
      </p:cxnSp>
      <p:sp>
        <p:nvSpPr>
          <p:cNvPr id="30" name="TextBox 29"/>
          <p:cNvSpPr txBox="1"/>
          <p:nvPr/>
        </p:nvSpPr>
        <p:spPr>
          <a:xfrm>
            <a:off x="5900040" y="4327200"/>
            <a:ext cx="2624040" cy="522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7C3AED"/>
                </a:solidFill>
                <a:latin typeface="맑은 고딕"/>
                <a:ea typeface="맑은 고딕"/>
                <a:cs typeface="맑은 고딕"/>
              </a:rPr>
              <a:t>기술 융합</a:t>
            </a:r>
          </a:p>
        </p:txBody>
      </p:sp>
      <p:sp>
        <p:nvSpPr>
          <p:cNvPr id="31" name="Rectangle 30"/>
          <p:cNvSpPr/>
          <p:nvPr/>
        </p:nvSpPr>
        <p:spPr>
          <a:xfrm>
            <a:off x="8812080" y="972000"/>
            <a:ext cx="2840040" cy="558000"/>
          </a:xfrm>
          <a:prstGeom prst="rect">
            <a:avLst/>
          </a:prstGeom>
          <a:solidFill>
            <a:srgbClr val="EA7A28"/>
          </a:solidFill>
          <a:ln>
            <a:noFill/>
          </a:ln>
        </p:spPr>
        <p:txBody>
          <a:bodyPr rtlCol="0" anchor="ctr" lIns="54000" rIns="54000" tIns="18000" bIns="18000" wrap="square">
            <a:noAutofit/>
          </a:bodyPr>
          <a:lstStyle/>
          <a:p>
            <a:pPr algn="ctr" marL="0" indent="0">
              <a:lnSpc>
                <a:spcPts val="2160"/>
              </a:lnSpc>
              <a:spcBef>
                <a:spcPts val="0"/>
              </a:spcBef>
              <a:spcAft>
                <a:spcPts val="0"/>
              </a:spcAft>
              <a:buNone/>
            </a:pPr>
            <a:r>
              <a:rPr sz="1800" b="1" i="0" lang="ko-KR" altLang="en-US">
                <a:solidFill>
                  <a:srgbClr val="FFFFFF"/>
                </a:solidFill>
                <a:latin typeface="맑은 고딕"/>
                <a:ea typeface="맑은 고딕"/>
                <a:cs typeface="맑은 고딕"/>
              </a:rPr>
              <a:t>재편기</a:t>
            </a:r>
            <a:r>
              <a:rPr sz="1250" b="0" i="0" lang="ko-KR" altLang="en-US">
                <a:solidFill>
                  <a:srgbClr val="FFFFFF"/>
                </a:solidFill>
                <a:latin typeface="맑은 고딕"/>
                <a:ea typeface="맑은 고딕"/>
                <a:cs typeface="맑은 고딕"/>
              </a:rPr>
              <a:t>  2020–2024</a:t>
            </a:r>
          </a:p>
        </p:txBody>
      </p:sp>
      <p:sp>
        <p:nvSpPr>
          <p:cNvPr id="32" name="Rounded Rectangle 31"/>
          <p:cNvSpPr/>
          <p:nvPr/>
        </p:nvSpPr>
        <p:spPr>
          <a:xfrm>
            <a:off x="8812080" y="1620000"/>
            <a:ext cx="2840040" cy="3276000"/>
          </a:xfrm>
          <a:prstGeom prst="roundRect">
            <a:avLst>
              <a:gd name="adj" fmla="val 6000"/>
            </a:avLst>
          </a:prstGeom>
          <a:solidFill>
            <a:srgbClr val="FDEBDD"/>
          </a:solidFill>
          <a:ln>
            <a:noFill/>
          </a:ln>
        </p:spPr>
        <p:txBody>
          <a:bodyPr rtlCol="0" anchor="ctr" lIns="36000" rIns="36000" tIns="36000" bIns="36000"/>
          <a:lstStyle/>
          <a:p>
            <a:pPr algn="ctr"/>
          </a:p>
        </p:txBody>
      </p:sp>
      <p:sp>
        <p:nvSpPr>
          <p:cNvPr id="33" name="TextBox 32"/>
          <p:cNvSpPr txBox="1"/>
          <p:nvPr/>
        </p:nvSpPr>
        <p:spPr>
          <a:xfrm>
            <a:off x="8920080" y="1656000"/>
            <a:ext cx="2624040" cy="630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접합 단독형 45.4%</a:t>
            </a:r>
          </a:p>
          <a:p>
            <a:pPr algn="ctr"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통합형 44.3%</a:t>
            </a:r>
          </a:p>
        </p:txBody>
      </p:sp>
      <p:cxnSp>
        <p:nvCxnSpPr>
          <p:cNvPr id="34" name="Connector 33"/>
          <p:cNvCxnSpPr/>
          <p:nvPr/>
        </p:nvCxnSpPr>
        <p:spPr>
          <a:xfrm>
            <a:off x="9028080" y="2318400"/>
            <a:ext cx="2408040" cy="0"/>
          </a:xfrm>
          <a:prstGeom prst="line">
            <a:avLst/>
          </a:prstGeom>
          <a:ln w="19050">
            <a:solidFill>
              <a:srgbClr val="FFFFFF"/>
            </a:solidFill>
          </a:ln>
        </p:spPr>
      </p:cxnSp>
      <p:sp>
        <p:nvSpPr>
          <p:cNvPr id="35" name="TextBox 34"/>
          <p:cNvSpPr txBox="1"/>
          <p:nvPr/>
        </p:nvSpPr>
        <p:spPr>
          <a:xfrm>
            <a:off x="8920080" y="2350800"/>
            <a:ext cx="2624040" cy="522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0.66 (비유의)</a:t>
            </a:r>
          </a:p>
        </p:txBody>
      </p:sp>
      <p:cxnSp>
        <p:nvCxnSpPr>
          <p:cNvPr id="36" name="Connector 35"/>
          <p:cNvCxnSpPr/>
          <p:nvPr/>
        </p:nvCxnSpPr>
        <p:spPr>
          <a:xfrm>
            <a:off x="9028080" y="2905200"/>
            <a:ext cx="2408040" cy="0"/>
          </a:xfrm>
          <a:prstGeom prst="line">
            <a:avLst/>
          </a:prstGeom>
          <a:ln w="19050">
            <a:solidFill>
              <a:srgbClr val="FFFFFF"/>
            </a:solidFill>
          </a:ln>
        </p:spPr>
      </p:cxnSp>
      <p:sp>
        <p:nvSpPr>
          <p:cNvPr id="37" name="TextBox 36"/>
          <p:cNvSpPr txBox="1"/>
          <p:nvPr/>
        </p:nvSpPr>
        <p:spPr>
          <a:xfrm>
            <a:off x="8920080" y="2937600"/>
            <a:ext cx="2624040" cy="522000"/>
          </a:xfrm>
          <a:prstGeom prst="rect">
            <a:avLst/>
          </a:prstGeom>
          <a:noFill/>
        </p:spPr>
        <p:txBody>
          <a:bodyPr wrap="square" lIns="0" rIns="0" tIns="0" bIns="0" anchor="ctr">
            <a:noAutofit/>
          </a:bodyPr>
          <a:lstStyle/>
          <a:p>
            <a:pPr algn="ctr" marL="0" indent="0">
              <a:lnSpc>
                <a:spcPts val="1620"/>
              </a:lnSpc>
              <a:spcBef>
                <a:spcPts val="0"/>
              </a:spcBef>
              <a:spcAft>
                <a:spcPts val="0"/>
              </a:spcAft>
              <a:buNone/>
            </a:pPr>
            <a:r>
              <a:rPr sz="1350" b="0" i="0" lang="ko-KR" altLang="en-US">
                <a:solidFill>
                  <a:srgbClr val="1E2532"/>
                </a:solidFill>
                <a:latin typeface="맑은 고딕"/>
                <a:ea typeface="맑은 고딕"/>
                <a:cs typeface="맑은 고딕"/>
              </a:rPr>
              <a:t>88.0%</a:t>
            </a:r>
          </a:p>
        </p:txBody>
      </p:sp>
      <p:cxnSp>
        <p:nvCxnSpPr>
          <p:cNvPr id="38" name="Connector 37"/>
          <p:cNvCxnSpPr/>
          <p:nvPr/>
        </p:nvCxnSpPr>
        <p:spPr>
          <a:xfrm>
            <a:off x="9028080" y="3492000"/>
            <a:ext cx="2408040" cy="0"/>
          </a:xfrm>
          <a:prstGeom prst="line">
            <a:avLst/>
          </a:prstGeom>
          <a:ln w="19050">
            <a:solidFill>
              <a:srgbClr val="FFFFFF"/>
            </a:solidFill>
          </a:ln>
        </p:spPr>
      </p:cxnSp>
      <p:sp>
        <p:nvSpPr>
          <p:cNvPr id="39" name="TextBox 38"/>
          <p:cNvSpPr txBox="1"/>
          <p:nvPr/>
        </p:nvSpPr>
        <p:spPr>
          <a:xfrm>
            <a:off x="8920080" y="3524400"/>
            <a:ext cx="2624040" cy="738000"/>
          </a:xfrm>
          <a:prstGeom prst="rect">
            <a:avLst/>
          </a:prstGeom>
          <a:noFill/>
        </p:spPr>
        <p:txBody>
          <a:bodyPr wrap="square" lIns="0" rIns="0" tIns="0" bIns="0" anchor="ctr">
            <a:noAutofit/>
          </a:bodyPr>
          <a:lstStyle/>
          <a:p>
            <a:pPr algn="ctr" marL="0" indent="0">
              <a:lnSpc>
                <a:spcPts val="1620"/>
              </a:lnSpc>
              <a:spcBef>
                <a:spcPts val="0"/>
              </a:spcBef>
              <a:spcAft>
                <a:spcPts val="0"/>
              </a:spcAft>
              <a:buNone/>
            </a:pPr>
            <a:r>
              <a:rPr sz="1350" b="0" i="0" lang="ko-KR" altLang="en-US">
                <a:solidFill>
                  <a:srgbClr val="1E2532"/>
                </a:solidFill>
                <a:latin typeface="맑은 고딕"/>
                <a:ea typeface="맑은 고딕"/>
                <a:cs typeface="맑은 고딕"/>
              </a:rPr>
              <a:t>공정 장치 · 패키징 단계 공정</a:t>
            </a:r>
          </a:p>
          <a:p>
            <a:pPr algn="ctr" marL="0" indent="0">
              <a:lnSpc>
                <a:spcPts val="1620"/>
              </a:lnSpc>
              <a:spcBef>
                <a:spcPts val="0"/>
              </a:spcBef>
              <a:spcAft>
                <a:spcPts val="0"/>
              </a:spcAft>
              <a:buNone/>
            </a:pPr>
            <a:r>
              <a:rPr sz="1350" b="0" i="0" lang="ko-KR" altLang="en-US">
                <a:solidFill>
                  <a:srgbClr val="1E2532"/>
                </a:solidFill>
                <a:latin typeface="맑은 고딕"/>
                <a:ea typeface="맑은 고딕"/>
                <a:cs typeface="맑은 고딕"/>
              </a:rPr>
              <a:t>(21/6835 · 21/568)</a:t>
            </a:r>
          </a:p>
        </p:txBody>
      </p:sp>
      <p:cxnSp>
        <p:nvCxnSpPr>
          <p:cNvPr id="40" name="Connector 39"/>
          <p:cNvCxnSpPr/>
          <p:nvPr/>
        </p:nvCxnSpPr>
        <p:spPr>
          <a:xfrm>
            <a:off x="9028080" y="4294800"/>
            <a:ext cx="2408040" cy="0"/>
          </a:xfrm>
          <a:prstGeom prst="line">
            <a:avLst/>
          </a:prstGeom>
          <a:ln w="19050">
            <a:solidFill>
              <a:srgbClr val="FFFFFF"/>
            </a:solidFill>
          </a:ln>
        </p:spPr>
      </p:cxnSp>
      <p:sp>
        <p:nvSpPr>
          <p:cNvPr id="41" name="TextBox 40"/>
          <p:cNvSpPr txBox="1"/>
          <p:nvPr/>
        </p:nvSpPr>
        <p:spPr>
          <a:xfrm>
            <a:off x="8920080" y="4327200"/>
            <a:ext cx="2624040" cy="522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EA7A28"/>
                </a:solidFill>
                <a:latin typeface="맑은 고딕"/>
                <a:ea typeface="맑은 고딕"/>
                <a:cs typeface="맑은 고딕"/>
              </a:rPr>
              <a:t>응용 융합으로 이행</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5.1  </a:t>
            </a:r>
            <a:r>
              <a:rPr sz="2200" b="1" i="0" lang="ko-KR" altLang="en-US">
                <a:solidFill>
                  <a:srgbClr val="13294B"/>
                </a:solidFill>
                <a:latin typeface="맑은 고딕"/>
                <a:ea typeface="맑은 고딕"/>
                <a:cs typeface="맑은 고딕"/>
              </a:rPr>
              <a:t>연구 결과 요약 및 이론적 함의</a:t>
            </a:r>
          </a:p>
        </p:txBody>
      </p:sp>
      <p:sp>
        <p:nvSpPr>
          <p:cNvPr id="3" name="Rounded Rectangle 2"/>
          <p:cNvSpPr/>
          <p:nvPr/>
        </p:nvSpPr>
        <p:spPr>
          <a:xfrm>
            <a:off x="540000" y="936000"/>
            <a:ext cx="5484060" cy="250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4" name="TextBox 3"/>
          <p:cNvSpPr txBox="1"/>
          <p:nvPr/>
        </p:nvSpPr>
        <p:spPr>
          <a:xfrm>
            <a:off x="756000" y="1062000"/>
            <a:ext cx="5052060" cy="324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Research Question 1</a:t>
            </a:r>
            <a:r>
              <a:rPr sz="1250" b="0" i="0" lang="ko-KR" altLang="en-US">
                <a:solidFill>
                  <a:srgbClr val="5B6475"/>
                </a:solidFill>
                <a:latin typeface="맑은 고딕"/>
                <a:ea typeface="맑은 고딕"/>
                <a:cs typeface="맑은 고딕"/>
              </a:rPr>
              <a:t>   융합의 수준과 유형</a:t>
            </a:r>
          </a:p>
        </p:txBody>
      </p:sp>
      <p:sp>
        <p:nvSpPr>
          <p:cNvPr id="5" name="TextBox 4"/>
          <p:cNvSpPr txBox="1"/>
          <p:nvPr/>
        </p:nvSpPr>
        <p:spPr>
          <a:xfrm>
            <a:off x="756000" y="1422000"/>
            <a:ext cx="5052060" cy="828000"/>
          </a:xfrm>
          <a:prstGeom prst="rect">
            <a:avLst/>
          </a:prstGeom>
          <a:noFill/>
        </p:spPr>
        <p:txBody>
          <a:bodyPr wrap="square" lIns="0" rIns="0" tIns="0" bIns="0" anchor="ctr">
            <a:noAutofit/>
          </a:bodyPr>
          <a:lstStyle/>
          <a:p>
            <a:pPr algn="l"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통합형 45.8% (좁은 정의 37.2%)</a:t>
            </a:r>
          </a:p>
          <a:p>
            <a:pPr algn="l"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세부 기술이 다양할수록 통합형</a:t>
            </a:r>
          </a:p>
        </p:txBody>
      </p:sp>
      <p:cxnSp>
        <p:nvCxnSpPr>
          <p:cNvPr id="6" name="Connector 5"/>
          <p:cNvCxnSpPr/>
          <p:nvPr/>
        </p:nvCxnSpPr>
        <p:spPr>
          <a:xfrm>
            <a:off x="756000" y="2358000"/>
            <a:ext cx="5052060" cy="0"/>
          </a:xfrm>
          <a:prstGeom prst="line">
            <a:avLst/>
          </a:prstGeom>
          <a:ln w="12700">
            <a:solidFill>
              <a:srgbClr val="D5DBE3"/>
            </a:solidFill>
          </a:ln>
        </p:spPr>
      </p:cxnSp>
      <p:sp>
        <p:nvSpPr>
          <p:cNvPr id="7" name="Rounded Rectangle 6"/>
          <p:cNvSpPr/>
          <p:nvPr/>
        </p:nvSpPr>
        <p:spPr>
          <a:xfrm>
            <a:off x="756000" y="2484000"/>
            <a:ext cx="1152000" cy="306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이론적 함의</a:t>
            </a:r>
          </a:p>
        </p:txBody>
      </p:sp>
      <p:sp>
        <p:nvSpPr>
          <p:cNvPr id="8" name="TextBox 7"/>
          <p:cNvSpPr txBox="1"/>
          <p:nvPr/>
        </p:nvSpPr>
        <p:spPr>
          <a:xfrm>
            <a:off x="756000" y="2826000"/>
            <a:ext cx="5052060" cy="55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기술융합 연구의 범위를 산업 간에서</a:t>
            </a:r>
          </a:p>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공정 단계 간으로 확장</a:t>
            </a:r>
          </a:p>
        </p:txBody>
      </p:sp>
      <p:sp>
        <p:nvSpPr>
          <p:cNvPr id="9" name="Rounded Rectangle 8"/>
          <p:cNvSpPr/>
          <p:nvPr/>
        </p:nvSpPr>
        <p:spPr>
          <a:xfrm>
            <a:off x="6168060" y="936000"/>
            <a:ext cx="5484060" cy="250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0" name="TextBox 9"/>
          <p:cNvSpPr txBox="1"/>
          <p:nvPr/>
        </p:nvSpPr>
        <p:spPr>
          <a:xfrm>
            <a:off x="6384060" y="1062000"/>
            <a:ext cx="5052060" cy="324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Research Question 2</a:t>
            </a:r>
            <a:r>
              <a:rPr sz="1250" b="0" i="0" lang="ko-KR" altLang="en-US">
                <a:solidFill>
                  <a:srgbClr val="5B6475"/>
                </a:solidFill>
                <a:latin typeface="맑은 고딕"/>
                <a:ea typeface="맑은 고딕"/>
                <a:cs typeface="맑은 고딕"/>
              </a:rPr>
              <a:t>   융합의 시간적 변화</a:t>
            </a:r>
          </a:p>
        </p:txBody>
      </p:sp>
      <p:sp>
        <p:nvSpPr>
          <p:cNvPr id="11" name="TextBox 10"/>
          <p:cNvSpPr txBox="1"/>
          <p:nvPr/>
        </p:nvSpPr>
        <p:spPr>
          <a:xfrm>
            <a:off x="6384060" y="1422000"/>
            <a:ext cx="5052060" cy="828000"/>
          </a:xfrm>
          <a:prstGeom prst="rect">
            <a:avLst/>
          </a:prstGeom>
          <a:noFill/>
        </p:spPr>
        <p:txBody>
          <a:bodyPr wrap="square" lIns="0" rIns="0" tIns="0" bIns="0" anchor="ctr">
            <a:noAutofit/>
          </a:bodyPr>
          <a:lstStyle/>
          <a:p>
            <a:pPr algn="l"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형성기 → 확산기 → 재편기</a:t>
            </a:r>
          </a:p>
          <a:p>
            <a:pPr algn="l"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출원의 무게중심: 제조공정 → 접합</a:t>
            </a:r>
          </a:p>
        </p:txBody>
      </p:sp>
      <p:cxnSp>
        <p:nvCxnSpPr>
          <p:cNvPr id="12" name="Connector 11"/>
          <p:cNvCxnSpPr/>
          <p:nvPr/>
        </p:nvCxnSpPr>
        <p:spPr>
          <a:xfrm>
            <a:off x="6384060" y="2358000"/>
            <a:ext cx="5052060" cy="0"/>
          </a:xfrm>
          <a:prstGeom prst="line">
            <a:avLst/>
          </a:prstGeom>
          <a:ln w="12700">
            <a:solidFill>
              <a:srgbClr val="D5DBE3"/>
            </a:solidFill>
          </a:ln>
        </p:spPr>
      </p:cxnSp>
      <p:sp>
        <p:nvSpPr>
          <p:cNvPr id="13" name="Rounded Rectangle 12"/>
          <p:cNvSpPr/>
          <p:nvPr/>
        </p:nvSpPr>
        <p:spPr>
          <a:xfrm>
            <a:off x="6384060" y="2484000"/>
            <a:ext cx="1152000" cy="306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이론적 함의</a:t>
            </a:r>
          </a:p>
        </p:txBody>
      </p:sp>
      <p:sp>
        <p:nvSpPr>
          <p:cNvPr id="14" name="TextBox 13"/>
          <p:cNvSpPr txBox="1"/>
          <p:nvPr/>
        </p:nvSpPr>
        <p:spPr>
          <a:xfrm>
            <a:off x="6384060" y="2826000"/>
            <a:ext cx="5052060" cy="55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융합은 정태적 결합이 아닌</a:t>
            </a:r>
          </a:p>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유형별 구성이 바뀌는 동태적 과정</a:t>
            </a:r>
          </a:p>
        </p:txBody>
      </p:sp>
      <p:sp>
        <p:nvSpPr>
          <p:cNvPr id="15" name="Rounded Rectangle 14"/>
          <p:cNvSpPr/>
          <p:nvPr/>
        </p:nvSpPr>
        <p:spPr>
          <a:xfrm>
            <a:off x="540000" y="3582000"/>
            <a:ext cx="5484060" cy="250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6" name="TextBox 15"/>
          <p:cNvSpPr txBox="1"/>
          <p:nvPr/>
        </p:nvSpPr>
        <p:spPr>
          <a:xfrm>
            <a:off x="756000" y="3708000"/>
            <a:ext cx="5052060" cy="324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Research Question 3</a:t>
            </a:r>
            <a:r>
              <a:rPr sz="1250" b="0" i="0" lang="ko-KR" altLang="en-US">
                <a:solidFill>
                  <a:srgbClr val="5B6475"/>
                </a:solidFill>
                <a:latin typeface="맑은 고딕"/>
                <a:ea typeface="맑은 고딕"/>
                <a:cs typeface="맑은 고딕"/>
              </a:rPr>
              <a:t>   융합의 구조적 중심 변화</a:t>
            </a:r>
          </a:p>
        </p:txBody>
      </p:sp>
      <p:sp>
        <p:nvSpPr>
          <p:cNvPr id="17" name="TextBox 16"/>
          <p:cNvSpPr txBox="1"/>
          <p:nvPr/>
        </p:nvSpPr>
        <p:spPr>
          <a:xfrm>
            <a:off x="756000" y="4068000"/>
            <a:ext cx="5052060" cy="828000"/>
          </a:xfrm>
          <a:prstGeom prst="rect">
            <a:avLst/>
          </a:prstGeom>
          <a:noFill/>
        </p:spPr>
        <p:txBody>
          <a:bodyPr wrap="square" lIns="0" rIns="0" tIns="0" bIns="0" anchor="ctr">
            <a:noAutofit/>
          </a:bodyPr>
          <a:lstStyle/>
          <a:p>
            <a:pPr algn="l"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핵심 기술의 우위: 11.1 → 0.66 (비유의)</a:t>
            </a:r>
          </a:p>
          <a:p>
            <a:pPr algn="l"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결합 중심: 웨이퍼 제조공정 → 장치 · 패키징</a:t>
            </a:r>
          </a:p>
        </p:txBody>
      </p:sp>
      <p:cxnSp>
        <p:nvCxnSpPr>
          <p:cNvPr id="18" name="Connector 17"/>
          <p:cNvCxnSpPr/>
          <p:nvPr/>
        </p:nvCxnSpPr>
        <p:spPr>
          <a:xfrm>
            <a:off x="756000" y="5004000"/>
            <a:ext cx="5052060" cy="0"/>
          </a:xfrm>
          <a:prstGeom prst="line">
            <a:avLst/>
          </a:prstGeom>
          <a:ln w="12700">
            <a:solidFill>
              <a:srgbClr val="D5DBE3"/>
            </a:solidFill>
          </a:ln>
        </p:spPr>
      </p:cxnSp>
      <p:sp>
        <p:nvSpPr>
          <p:cNvPr id="19" name="Rounded Rectangle 18"/>
          <p:cNvSpPr/>
          <p:nvPr/>
        </p:nvSpPr>
        <p:spPr>
          <a:xfrm>
            <a:off x="756000" y="5130000"/>
            <a:ext cx="1152000" cy="306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이론적 함의</a:t>
            </a:r>
          </a:p>
        </p:txBody>
      </p:sp>
      <p:sp>
        <p:nvSpPr>
          <p:cNvPr id="20" name="TextBox 19"/>
          <p:cNvSpPr txBox="1"/>
          <p:nvPr/>
        </p:nvSpPr>
        <p:spPr>
          <a:xfrm>
            <a:off x="756000" y="5472000"/>
            <a:ext cx="5052060" cy="55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핵심–주변 구조와 기술 순환으로</a:t>
            </a:r>
          </a:p>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융합의 전개를 설명</a:t>
            </a:r>
          </a:p>
        </p:txBody>
      </p:sp>
      <p:sp>
        <p:nvSpPr>
          <p:cNvPr id="21" name="Rounded Rectangle 20"/>
          <p:cNvSpPr/>
          <p:nvPr/>
        </p:nvSpPr>
        <p:spPr>
          <a:xfrm>
            <a:off x="6168060" y="3582000"/>
            <a:ext cx="5484060" cy="2502000"/>
          </a:xfrm>
          <a:prstGeom prst="roundRect">
            <a:avLst>
              <a:gd name="adj" fmla="val 6000"/>
            </a:avLst>
          </a:prstGeom>
          <a:solidFill>
            <a:srgbClr val="13294B"/>
          </a:solidFill>
          <a:ln>
            <a:noFill/>
          </a:ln>
        </p:spPr>
        <p:txBody>
          <a:bodyPr rtlCol="0" anchor="ctr" lIns="36000" rIns="36000" tIns="36000" bIns="36000"/>
          <a:lstStyle/>
          <a:p>
            <a:pPr algn="ctr"/>
          </a:p>
        </p:txBody>
      </p:sp>
      <p:sp>
        <p:nvSpPr>
          <p:cNvPr id="22" name="TextBox 21"/>
          <p:cNvSpPr txBox="1"/>
          <p:nvPr/>
        </p:nvSpPr>
        <p:spPr>
          <a:xfrm>
            <a:off x="6384060" y="3708000"/>
            <a:ext cx="5052060" cy="324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D4A72C"/>
                </a:solidFill>
                <a:latin typeface="맑은 고딕"/>
                <a:ea typeface="맑은 고딕"/>
                <a:cs typeface="맑은 고딕"/>
              </a:rPr>
              <a:t>결론</a:t>
            </a:r>
          </a:p>
        </p:txBody>
      </p:sp>
      <p:sp>
        <p:nvSpPr>
          <p:cNvPr id="23" name="TextBox 22"/>
          <p:cNvSpPr txBox="1"/>
          <p:nvPr/>
        </p:nvSpPr>
        <p:spPr>
          <a:xfrm>
            <a:off x="6384060" y="4068000"/>
            <a:ext cx="5052060" cy="1908000"/>
          </a:xfrm>
          <a:prstGeom prst="rect">
            <a:avLst/>
          </a:prstGeom>
          <a:noFill/>
        </p:spPr>
        <p:txBody>
          <a:bodyPr wrap="square" lIns="0" rIns="0" tIns="0" bIns="0" anchor="t">
            <a:noAutofit/>
          </a:bodyPr>
          <a:lstStyle/>
          <a:p>
            <a:pPr algn="l" marL="0" indent="0">
              <a:lnSpc>
                <a:spcPts val="2140"/>
              </a:lnSpc>
              <a:spcBef>
                <a:spcPts val="0"/>
              </a:spcBef>
              <a:spcAft>
                <a:spcPts val="800"/>
              </a:spcAft>
              <a:buNone/>
            </a:pPr>
            <a:r>
              <a:rPr sz="1550" b="1" i="0" lang="ko-KR" altLang="en-US">
                <a:solidFill>
                  <a:srgbClr val="FFFFFF"/>
                </a:solidFill>
                <a:latin typeface="맑은 고딕"/>
                <a:ea typeface="맑은 고딕"/>
                <a:cs typeface="맑은 고딕"/>
              </a:rPr>
              <a:t>공정 단계 간 기술융합은 한 방향으로 축적된 과정이라기보다, 핵심 기술 설계의 고착화와 함께 융합의 중심이 핵심에서 주변으로 이동한 동태적 과정이었다</a:t>
            </a:r>
          </a:p>
          <a:p>
            <a:pPr algn="l" marL="0" indent="0">
              <a:lnSpc>
                <a:spcPts val="1580"/>
              </a:lnSpc>
              <a:spcBef>
                <a:spcPts val="0"/>
              </a:spcBef>
              <a:spcAft>
                <a:spcPts val="0"/>
              </a:spcAft>
              <a:buNone/>
            </a:pPr>
            <a:r>
              <a:rPr sz="1200" b="0" i="0" lang="ko-KR" altLang="en-US">
                <a:solidFill>
                  <a:srgbClr val="B9C6DD"/>
                </a:solidFill>
                <a:latin typeface="맑은 고딕"/>
                <a:ea typeface="맑은 고딕"/>
                <a:cs typeface="맑은 고딕"/>
              </a:rPr>
              <a:t>공정 장치가 연결의 중심에 선 것은 장비를 매개로 한 공정 지식의 확산(Rosenberg, 1963)과도 맥을 같이함</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5.2  </a:t>
            </a:r>
            <a:r>
              <a:rPr sz="2200" b="1" i="0" lang="ko-KR" altLang="en-US">
                <a:solidFill>
                  <a:srgbClr val="13294B"/>
                </a:solidFill>
                <a:latin typeface="맑은 고딕"/>
                <a:ea typeface="맑은 고딕"/>
                <a:cs typeface="맑은 고딕"/>
              </a:rPr>
              <a:t>실무적 · 정책적 시사점</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패키징 경쟁력은 접합 원리 하나에 좌우되지 않을 수 있다</a:t>
            </a:r>
          </a:p>
        </p:txBody>
      </p:sp>
      <p:sp>
        <p:nvSpPr>
          <p:cNvPr id="4" name="Rounded Rectangle 3"/>
          <p:cNvSpPr/>
          <p:nvPr/>
        </p:nvSpPr>
        <p:spPr>
          <a:xfrm>
            <a:off x="540000" y="972000"/>
            <a:ext cx="5412060" cy="4968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5" name="Oval 4"/>
          <p:cNvSpPr/>
          <p:nvPr/>
        </p:nvSpPr>
        <p:spPr>
          <a:xfrm>
            <a:off x="756000" y="1152000"/>
            <a:ext cx="792000" cy="792000"/>
          </a:xfrm>
          <a:prstGeom prst="ellipse">
            <a:avLst/>
          </a:prstGeom>
          <a:solidFill>
            <a:srgbClr val="13294B"/>
          </a:solidFill>
          <a:ln>
            <a:noFill/>
          </a:ln>
        </p:spPr>
        <p:txBody>
          <a:bodyPr rtlCol="0" anchor="ctr" lIns="36000" rIns="36000" tIns="36000" bIns="36000"/>
          <a:lstStyle/>
          <a:p>
            <a:pPr algn="ctr"/>
          </a:p>
        </p:txBody>
      </p:sp>
      <p:pic>
        <p:nvPicPr>
          <p:cNvPr id="6" name="Picture 5" descr="FaBuilding_FFFFFF.png"/>
          <p:cNvPicPr>
            <a:picLocks noChangeAspect="1"/>
          </p:cNvPicPr>
          <p:nvPr/>
        </p:nvPicPr>
        <p:blipFill>
          <a:blip r:embed="rId3"/>
          <a:stretch>
            <a:fillRect/>
          </a:stretch>
        </p:blipFill>
        <p:spPr>
          <a:xfrm>
            <a:off x="954000" y="1350000"/>
            <a:ext cx="396000" cy="396000"/>
          </a:xfrm>
          <a:prstGeom prst="rect">
            <a:avLst/>
          </a:prstGeom>
        </p:spPr>
      </p:pic>
      <p:sp>
        <p:nvSpPr>
          <p:cNvPr id="7" name="TextBox 6"/>
          <p:cNvSpPr txBox="1"/>
          <p:nvPr/>
        </p:nvSpPr>
        <p:spPr>
          <a:xfrm>
            <a:off x="1692000" y="1152000"/>
            <a:ext cx="4116060" cy="792000"/>
          </a:xfrm>
          <a:prstGeom prst="rect">
            <a:avLst/>
          </a:prstGeom>
          <a:noFill/>
        </p:spPr>
        <p:txBody>
          <a:bodyPr wrap="square" lIns="0" rIns="0" tIns="0" bIns="0" anchor="ctr">
            <a:noAutofit/>
          </a:bodyPr>
          <a:lstStyle/>
          <a:p>
            <a:pPr algn="l" marL="0" indent="0">
              <a:lnSpc>
                <a:spcPts val="2280"/>
              </a:lnSpc>
              <a:spcBef>
                <a:spcPts val="0"/>
              </a:spcBef>
              <a:spcAft>
                <a:spcPts val="0"/>
              </a:spcAft>
              <a:buNone/>
            </a:pPr>
            <a:r>
              <a:rPr sz="1900" b="1" i="0" lang="ko-KR" altLang="en-US">
                <a:solidFill>
                  <a:srgbClr val="13294B"/>
                </a:solidFill>
                <a:latin typeface="맑은 고딕"/>
                <a:ea typeface="맑은 고딕"/>
                <a:cs typeface="맑은 고딕"/>
              </a:rPr>
              <a:t>기업: 인접 공정 지식의 확보</a:t>
            </a:r>
          </a:p>
        </p:txBody>
      </p:sp>
      <p:sp>
        <p:nvSpPr>
          <p:cNvPr id="8" name="TextBox 7"/>
          <p:cNvSpPr txBox="1"/>
          <p:nvPr/>
        </p:nvSpPr>
        <p:spPr>
          <a:xfrm>
            <a:off x="792000" y="2196000"/>
            <a:ext cx="4908060" cy="3600000"/>
          </a:xfrm>
          <a:prstGeom prst="rect">
            <a:avLst/>
          </a:prstGeom>
          <a:noFill/>
        </p:spPr>
        <p:txBody>
          <a:bodyPr wrap="square" lIns="0" rIns="0" tIns="0" bIns="0" anchor="t">
            <a:noAutofit/>
          </a:bodyPr>
          <a:lstStyle/>
          <a:p>
            <a:pPr algn="l" marL="216000" indent="-216000">
              <a:lnSpc>
                <a:spcPts val="2210"/>
              </a:lnSpc>
              <a:spcBef>
                <a:spcPts val="0"/>
              </a:spcBef>
              <a:spcAft>
                <a:spcPts val="2000"/>
              </a:spcAft>
              <a:buClr>
                <a:srgbClr val="13294B"/>
              </a:buClr>
              <a:buSzPct val="70000"/>
              <a:buFont typeface="Arial"/>
              <a:buChar char="■"/>
            </a:pPr>
            <a:r>
              <a:rPr sz="1600" b="0" i="0" lang="ko-KR" altLang="en-US">
                <a:solidFill>
                  <a:srgbClr val="1E2532"/>
                </a:solidFill>
                <a:latin typeface="맑은 고딕"/>
                <a:ea typeface="맑은 고딕"/>
                <a:cs typeface="맑은 고딕"/>
              </a:rPr>
              <a:t>상당수 출원이 제조공정과 접합 기술을 함께 포함</a:t>
            </a:r>
          </a:p>
          <a:p>
            <a:pPr algn="l" marL="216000" indent="-216000">
              <a:lnSpc>
                <a:spcPts val="2210"/>
              </a:lnSpc>
              <a:spcBef>
                <a:spcPts val="0"/>
              </a:spcBef>
              <a:spcAft>
                <a:spcPts val="2000"/>
              </a:spcAft>
              <a:buClr>
                <a:srgbClr val="13294B"/>
              </a:buClr>
              <a:buSzPct val="70000"/>
              <a:buFont typeface="Arial"/>
              <a:buChar char="■"/>
            </a:pPr>
            <a:r>
              <a:rPr sz="1600" b="0" i="0" lang="ko-KR" altLang="en-US">
                <a:solidFill>
                  <a:srgbClr val="1E2532"/>
                </a:solidFill>
                <a:latin typeface="맑은 고딕"/>
                <a:ea typeface="맑은 고딕"/>
                <a:cs typeface="맑은 고딕"/>
              </a:rPr>
              <a:t>접합 기술 역량만으로는 충분하지 않을 수 있음</a:t>
            </a:r>
          </a:p>
          <a:p>
            <a:pPr algn="l" marL="216000" indent="-216000">
              <a:lnSpc>
                <a:spcPts val="2210"/>
              </a:lnSpc>
              <a:spcBef>
                <a:spcPts val="0"/>
              </a:spcBef>
              <a:spcAft>
                <a:spcPts val="2000"/>
              </a:spcAft>
              <a:buClr>
                <a:srgbClr val="13294B"/>
              </a:buClr>
              <a:buSzPct val="70000"/>
              <a:buFont typeface="Arial"/>
              <a:buChar char="■"/>
            </a:pPr>
            <a:r>
              <a:rPr sz="1600" b="0" i="0" lang="ko-KR" altLang="en-US">
                <a:solidFill>
                  <a:srgbClr val="1E2532"/>
                </a:solidFill>
                <a:latin typeface="맑은 고딕"/>
                <a:ea typeface="맑은 고딕"/>
                <a:cs typeface="맑은 고딕"/>
              </a:rPr>
              <a:t>평탄화 · 오염 제어 · 표면 화학 · 정렬을 아우르는 인접 공정 지식</a:t>
            </a:r>
          </a:p>
          <a:p>
            <a:pPr algn="l" marL="216000" indent="-216000">
              <a:lnSpc>
                <a:spcPts val="2210"/>
              </a:lnSpc>
              <a:spcBef>
                <a:spcPts val="0"/>
              </a:spcBef>
              <a:spcAft>
                <a:spcPts val="2000"/>
              </a:spcAft>
              <a:buClr>
                <a:srgbClr val="EA7A28"/>
              </a:buClr>
              <a:buSzPct val="70000"/>
              <a:buFont typeface="Arial"/>
              <a:buChar char="■"/>
            </a:pPr>
            <a:r>
              <a:rPr sz="1600" b="1" i="0" lang="ko-KR" altLang="en-US">
                <a:solidFill>
                  <a:srgbClr val="13294B"/>
                </a:solidFill>
                <a:latin typeface="맑은 고딕"/>
                <a:ea typeface="맑은 고딕"/>
                <a:cs typeface="맑은 고딕"/>
              </a:rPr>
              <a:t>직접 생산하는 범위보다 넓은 지식 (Kapoor &amp; Adner, 2012)</a:t>
            </a:r>
          </a:p>
        </p:txBody>
      </p:sp>
      <p:sp>
        <p:nvSpPr>
          <p:cNvPr id="9" name="Rounded Rectangle 8"/>
          <p:cNvSpPr/>
          <p:nvPr/>
        </p:nvSpPr>
        <p:spPr>
          <a:xfrm>
            <a:off x="6240060" y="972000"/>
            <a:ext cx="5412060" cy="4968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0" name="Oval 9"/>
          <p:cNvSpPr/>
          <p:nvPr/>
        </p:nvSpPr>
        <p:spPr>
          <a:xfrm>
            <a:off x="6456060" y="1152000"/>
            <a:ext cx="792000" cy="792000"/>
          </a:xfrm>
          <a:prstGeom prst="ellipse">
            <a:avLst/>
          </a:prstGeom>
          <a:solidFill>
            <a:srgbClr val="13294B"/>
          </a:solidFill>
          <a:ln>
            <a:noFill/>
          </a:ln>
        </p:spPr>
        <p:txBody>
          <a:bodyPr rtlCol="0" anchor="ctr" lIns="36000" rIns="36000" tIns="36000" bIns="36000"/>
          <a:lstStyle/>
          <a:p>
            <a:pPr algn="ctr"/>
          </a:p>
        </p:txBody>
      </p:sp>
      <p:pic>
        <p:nvPicPr>
          <p:cNvPr id="11" name="Picture 10" descr="FaMemory_FFFFFF.png"/>
          <p:cNvPicPr>
            <a:picLocks noChangeAspect="1"/>
          </p:cNvPicPr>
          <p:nvPr/>
        </p:nvPicPr>
        <p:blipFill>
          <a:blip r:embed="rId4"/>
          <a:stretch>
            <a:fillRect/>
          </a:stretch>
        </p:blipFill>
        <p:spPr>
          <a:xfrm>
            <a:off x="6654060" y="1350000"/>
            <a:ext cx="396000" cy="396000"/>
          </a:xfrm>
          <a:prstGeom prst="rect">
            <a:avLst/>
          </a:prstGeom>
        </p:spPr>
      </p:pic>
      <p:sp>
        <p:nvSpPr>
          <p:cNvPr id="12" name="TextBox 11"/>
          <p:cNvSpPr txBox="1"/>
          <p:nvPr/>
        </p:nvSpPr>
        <p:spPr>
          <a:xfrm>
            <a:off x="7392060" y="1152000"/>
            <a:ext cx="4116060" cy="792000"/>
          </a:xfrm>
          <a:prstGeom prst="rect">
            <a:avLst/>
          </a:prstGeom>
          <a:noFill/>
        </p:spPr>
        <p:txBody>
          <a:bodyPr wrap="square" lIns="0" rIns="0" tIns="0" bIns="0" anchor="ctr">
            <a:noAutofit/>
          </a:bodyPr>
          <a:lstStyle/>
          <a:p>
            <a:pPr algn="l" marL="0" indent="0">
              <a:lnSpc>
                <a:spcPts val="2280"/>
              </a:lnSpc>
              <a:spcBef>
                <a:spcPts val="0"/>
              </a:spcBef>
              <a:spcAft>
                <a:spcPts val="0"/>
              </a:spcAft>
              <a:buNone/>
            </a:pPr>
            <a:r>
              <a:rPr sz="1900" b="1" i="0" lang="ko-KR" altLang="en-US">
                <a:solidFill>
                  <a:srgbClr val="13294B"/>
                </a:solidFill>
                <a:latin typeface="맑은 고딕"/>
                <a:ea typeface="맑은 고딕"/>
                <a:cs typeface="맑은 고딕"/>
              </a:rPr>
              <a:t>한국 메모리 산업: 차세대 HBM</a:t>
            </a:r>
          </a:p>
        </p:txBody>
      </p:sp>
      <p:sp>
        <p:nvSpPr>
          <p:cNvPr id="13" name="TextBox 12"/>
          <p:cNvSpPr txBox="1"/>
          <p:nvPr/>
        </p:nvSpPr>
        <p:spPr>
          <a:xfrm>
            <a:off x="6492060" y="2196000"/>
            <a:ext cx="4908060" cy="3600000"/>
          </a:xfrm>
          <a:prstGeom prst="rect">
            <a:avLst/>
          </a:prstGeom>
          <a:noFill/>
        </p:spPr>
        <p:txBody>
          <a:bodyPr wrap="square" lIns="0" rIns="0" tIns="0" bIns="0" anchor="t">
            <a:noAutofit/>
          </a:bodyPr>
          <a:lstStyle/>
          <a:p>
            <a:pPr algn="l" marL="216000" indent="-216000">
              <a:lnSpc>
                <a:spcPts val="2210"/>
              </a:lnSpc>
              <a:spcBef>
                <a:spcPts val="0"/>
              </a:spcBef>
              <a:spcAft>
                <a:spcPts val="2000"/>
              </a:spcAft>
              <a:buClr>
                <a:srgbClr val="13294B"/>
              </a:buClr>
              <a:buSzPct val="70000"/>
              <a:buFont typeface="Arial"/>
              <a:buChar char="■"/>
            </a:pPr>
            <a:r>
              <a:rPr sz="1600" b="0" i="0" lang="ko-KR" altLang="en-US">
                <a:solidFill>
                  <a:srgbClr val="1E2532"/>
                </a:solidFill>
                <a:latin typeface="맑은 고딕"/>
                <a:ea typeface="맑은 고딕"/>
                <a:cs typeface="맑은 고딕"/>
              </a:rPr>
              <a:t>재편기: 핵심 기술의 우위가 확인되지 않고, 결합 공정은 다이 지지 · 봉지로</a:t>
            </a:r>
          </a:p>
          <a:p>
            <a:pPr algn="l" marL="216000" indent="-216000">
              <a:lnSpc>
                <a:spcPts val="2210"/>
              </a:lnSpc>
              <a:spcBef>
                <a:spcPts val="0"/>
              </a:spcBef>
              <a:spcAft>
                <a:spcPts val="2000"/>
              </a:spcAft>
              <a:buClr>
                <a:srgbClr val="13294B"/>
              </a:buClr>
              <a:buSzPct val="70000"/>
              <a:buFont typeface="Arial"/>
              <a:buChar char="■"/>
            </a:pPr>
            <a:r>
              <a:rPr sz="1600" b="0" i="0" lang="ko-KR" altLang="en-US">
                <a:solidFill>
                  <a:srgbClr val="1E2532"/>
                </a:solidFill>
                <a:latin typeface="맑은 고딕"/>
                <a:ea typeface="맑은 고딕"/>
                <a:cs typeface="맑은 고딕"/>
              </a:rPr>
              <a:t>경쟁의 초점이 핵심 원리 → 다이 단위 공정과의 결합(응용)으로 이동 가능성</a:t>
            </a:r>
          </a:p>
          <a:p>
            <a:pPr algn="l" marL="216000" indent="-216000">
              <a:lnSpc>
                <a:spcPts val="2210"/>
              </a:lnSpc>
              <a:spcBef>
                <a:spcPts val="0"/>
              </a:spcBef>
              <a:spcAft>
                <a:spcPts val="2000"/>
              </a:spcAft>
              <a:buClr>
                <a:srgbClr val="13294B"/>
              </a:buClr>
              <a:buSzPct val="70000"/>
              <a:buFont typeface="Arial"/>
              <a:buChar char="■"/>
            </a:pPr>
            <a:r>
              <a:rPr sz="1600" b="0" i="0" lang="ko-KR" altLang="en-US">
                <a:solidFill>
                  <a:srgbClr val="1E2532"/>
                </a:solidFill>
                <a:latin typeface="맑은 고딕"/>
                <a:ea typeface="맑은 고딕"/>
                <a:cs typeface="맑은 고딕"/>
              </a:rPr>
              <a:t>평탄화 · 표면 화학 · 정렬 계측</a:t>
            </a:r>
          </a:p>
          <a:p>
            <a:pPr algn="l" marL="216000" indent="-216000">
              <a:lnSpc>
                <a:spcPts val="2210"/>
              </a:lnSpc>
              <a:spcBef>
                <a:spcPts val="0"/>
              </a:spcBef>
              <a:spcAft>
                <a:spcPts val="2000"/>
              </a:spcAft>
              <a:buClr>
                <a:srgbClr val="EA7A28"/>
              </a:buClr>
              <a:buSzPct val="70000"/>
              <a:buFont typeface="Arial"/>
              <a:buChar char="■"/>
            </a:pPr>
            <a:r>
              <a:rPr sz="1600" b="1" i="0" lang="ko-KR" altLang="en-US">
                <a:solidFill>
                  <a:srgbClr val="13294B"/>
                </a:solidFill>
                <a:latin typeface="맑은 고딕"/>
                <a:ea typeface="맑은 고딕"/>
                <a:cs typeface="맑은 고딕"/>
              </a:rPr>
              <a:t>+ 얇은 다이를 다루고 적층하는 공정 역량</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5.3  </a:t>
            </a:r>
            <a:r>
              <a:rPr sz="2200" b="1" i="0" lang="ko-KR" altLang="en-US">
                <a:solidFill>
                  <a:srgbClr val="13294B"/>
                </a:solidFill>
                <a:latin typeface="맑은 고딕"/>
                <a:ea typeface="맑은 고딕"/>
                <a:cs typeface="맑은 고딕"/>
              </a:rPr>
              <a:t>한계점과 향후 연구 방향</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다른 공정기술 사례와 비교하여 형성–확산–재편의 일반성을 검증하는 것이 다음 과제이다</a:t>
            </a:r>
          </a:p>
        </p:txBody>
      </p:sp>
      <p:sp>
        <p:nvSpPr>
          <p:cNvPr id="4" name="TextBox 3"/>
          <p:cNvSpPr txBox="1"/>
          <p:nvPr/>
        </p:nvSpPr>
        <p:spPr>
          <a:xfrm>
            <a:off x="540000" y="900000"/>
            <a:ext cx="2880000" cy="324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한계</a:t>
            </a:r>
          </a:p>
        </p:txBody>
      </p:sp>
      <p:sp>
        <p:nvSpPr>
          <p:cNvPr id="5" name="Rounded Rectangle 4"/>
          <p:cNvSpPr/>
          <p:nvPr/>
        </p:nvSpPr>
        <p:spPr>
          <a:xfrm>
            <a:off x="540000" y="1242000"/>
            <a:ext cx="2592000" cy="2016000"/>
          </a:xfrm>
          <a:prstGeom prst="roundRect">
            <a:avLst>
              <a:gd name="adj" fmla="val 6000"/>
            </a:avLst>
          </a:prstGeom>
          <a:solidFill>
            <a:srgbClr val="F2F5FA"/>
          </a:solidFill>
          <a:ln>
            <a:noFill/>
          </a:ln>
        </p:spPr>
        <p:txBody>
          <a:bodyPr rtlCol="0" anchor="ctr" lIns="36000" rIns="36000" tIns="36000" bIns="36000"/>
          <a:lstStyle/>
          <a:p>
            <a:pPr algn="ctr"/>
          </a:p>
        </p:txBody>
      </p:sp>
      <p:pic>
        <p:nvPicPr>
          <p:cNvPr id="6" name="Picture 5" descr="FaTags_13294B.png"/>
          <p:cNvPicPr>
            <a:picLocks noChangeAspect="1"/>
          </p:cNvPicPr>
          <p:nvPr/>
        </p:nvPicPr>
        <p:blipFill>
          <a:blip r:embed="rId3"/>
          <a:stretch>
            <a:fillRect/>
          </a:stretch>
        </p:blipFill>
        <p:spPr>
          <a:xfrm>
            <a:off x="1530000" y="1386000"/>
            <a:ext cx="612000" cy="612000"/>
          </a:xfrm>
          <a:prstGeom prst="rect">
            <a:avLst/>
          </a:prstGeom>
        </p:spPr>
      </p:pic>
      <p:sp>
        <p:nvSpPr>
          <p:cNvPr id="7" name="TextBox 6"/>
          <p:cNvSpPr txBox="1"/>
          <p:nvPr/>
        </p:nvSpPr>
        <p:spPr>
          <a:xfrm>
            <a:off x="540000" y="2052000"/>
            <a:ext cx="2592000" cy="288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Measurement</a:t>
            </a:r>
          </a:p>
        </p:txBody>
      </p:sp>
      <p:sp>
        <p:nvSpPr>
          <p:cNvPr id="8" name="TextBox 7"/>
          <p:cNvSpPr txBox="1"/>
          <p:nvPr/>
        </p:nvSpPr>
        <p:spPr>
          <a:xfrm>
            <a:off x="648000" y="2358000"/>
            <a:ext cx="2376000" cy="828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공동분류는 대리측정치</a:t>
            </a:r>
          </a:p>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CPC 소급 재분류 가능성</a:t>
            </a:r>
          </a:p>
        </p:txBody>
      </p:sp>
      <p:sp>
        <p:nvSpPr>
          <p:cNvPr id="9" name="Rounded Rectangle 8"/>
          <p:cNvSpPr/>
          <p:nvPr/>
        </p:nvSpPr>
        <p:spPr>
          <a:xfrm>
            <a:off x="3380400" y="1242000"/>
            <a:ext cx="2592000" cy="2016000"/>
          </a:xfrm>
          <a:prstGeom prst="roundRect">
            <a:avLst>
              <a:gd name="adj" fmla="val 6000"/>
            </a:avLst>
          </a:prstGeom>
          <a:solidFill>
            <a:srgbClr val="F2F5FA"/>
          </a:solidFill>
          <a:ln>
            <a:noFill/>
          </a:ln>
        </p:spPr>
        <p:txBody>
          <a:bodyPr rtlCol="0" anchor="ctr" lIns="36000" rIns="36000" tIns="36000" bIns="36000"/>
          <a:lstStyle/>
          <a:p>
            <a:pPr algn="ctr"/>
          </a:p>
        </p:txBody>
      </p:sp>
      <p:pic>
        <p:nvPicPr>
          <p:cNvPr id="10" name="Picture 9" descr="FaFilter_13294B.png"/>
          <p:cNvPicPr>
            <a:picLocks noChangeAspect="1"/>
          </p:cNvPicPr>
          <p:nvPr/>
        </p:nvPicPr>
        <p:blipFill>
          <a:blip r:embed="rId4"/>
          <a:stretch>
            <a:fillRect/>
          </a:stretch>
        </p:blipFill>
        <p:spPr>
          <a:xfrm>
            <a:off x="4370400" y="1386000"/>
            <a:ext cx="612000" cy="612000"/>
          </a:xfrm>
          <a:prstGeom prst="rect">
            <a:avLst/>
          </a:prstGeom>
        </p:spPr>
      </p:pic>
      <p:sp>
        <p:nvSpPr>
          <p:cNvPr id="11" name="TextBox 10"/>
          <p:cNvSpPr txBox="1"/>
          <p:nvPr/>
        </p:nvSpPr>
        <p:spPr>
          <a:xfrm>
            <a:off x="3380400" y="2052000"/>
            <a:ext cx="2592000" cy="288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Sampling</a:t>
            </a:r>
          </a:p>
        </p:txBody>
      </p:sp>
      <p:sp>
        <p:nvSpPr>
          <p:cNvPr id="12" name="TextBox 11"/>
          <p:cNvSpPr txBox="1"/>
          <p:nvPr/>
        </p:nvSpPr>
        <p:spPr>
          <a:xfrm>
            <a:off x="3488400" y="2358000"/>
            <a:ext cx="2376000" cy="828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제목 키워드 검색</a:t>
            </a:r>
          </a:p>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관련어 없는 출원 누락</a:t>
            </a:r>
          </a:p>
        </p:txBody>
      </p:sp>
      <p:sp>
        <p:nvSpPr>
          <p:cNvPr id="13" name="Rounded Rectangle 12"/>
          <p:cNvSpPr/>
          <p:nvPr/>
        </p:nvSpPr>
        <p:spPr>
          <a:xfrm>
            <a:off x="6220800" y="1242000"/>
            <a:ext cx="2592000" cy="2016000"/>
          </a:xfrm>
          <a:prstGeom prst="roundRect">
            <a:avLst>
              <a:gd name="adj" fmla="val 6000"/>
            </a:avLst>
          </a:prstGeom>
          <a:solidFill>
            <a:srgbClr val="F2F5FA"/>
          </a:solidFill>
          <a:ln>
            <a:noFill/>
          </a:ln>
        </p:spPr>
        <p:txBody>
          <a:bodyPr rtlCol="0" anchor="ctr" lIns="36000" rIns="36000" tIns="36000" bIns="36000"/>
          <a:lstStyle/>
          <a:p>
            <a:pPr algn="ctr"/>
          </a:p>
        </p:txBody>
      </p:sp>
      <p:pic>
        <p:nvPicPr>
          <p:cNvPr id="14" name="Picture 13" descr="FaCopy_13294B.png"/>
          <p:cNvPicPr>
            <a:picLocks noChangeAspect="1"/>
          </p:cNvPicPr>
          <p:nvPr/>
        </p:nvPicPr>
        <p:blipFill>
          <a:blip r:embed="rId5"/>
          <a:stretch>
            <a:fillRect/>
          </a:stretch>
        </p:blipFill>
        <p:spPr>
          <a:xfrm>
            <a:off x="7210800" y="1386000"/>
            <a:ext cx="612000" cy="612000"/>
          </a:xfrm>
          <a:prstGeom prst="rect">
            <a:avLst/>
          </a:prstGeom>
        </p:spPr>
      </p:pic>
      <p:sp>
        <p:nvSpPr>
          <p:cNvPr id="15" name="TextBox 14"/>
          <p:cNvSpPr txBox="1"/>
          <p:nvPr/>
        </p:nvSpPr>
        <p:spPr>
          <a:xfrm>
            <a:off x="6220800" y="2052000"/>
            <a:ext cx="2592000" cy="288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Patent Family</a:t>
            </a:r>
          </a:p>
        </p:txBody>
      </p:sp>
      <p:sp>
        <p:nvSpPr>
          <p:cNvPr id="16" name="TextBox 15"/>
          <p:cNvSpPr txBox="1"/>
          <p:nvPr/>
        </p:nvSpPr>
        <p:spPr>
          <a:xfrm>
            <a:off x="6328800" y="2358000"/>
            <a:ext cx="2376000" cy="828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패밀리 식별자 없음</a:t>
            </a:r>
          </a:p>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동일 제목으로 근사</a:t>
            </a:r>
          </a:p>
        </p:txBody>
      </p:sp>
      <p:sp>
        <p:nvSpPr>
          <p:cNvPr id="17" name="Rounded Rectangle 16"/>
          <p:cNvSpPr/>
          <p:nvPr/>
        </p:nvSpPr>
        <p:spPr>
          <a:xfrm>
            <a:off x="9061200" y="1242000"/>
            <a:ext cx="2592000" cy="2016000"/>
          </a:xfrm>
          <a:prstGeom prst="roundRect">
            <a:avLst>
              <a:gd name="adj" fmla="val 6000"/>
            </a:avLst>
          </a:prstGeom>
          <a:solidFill>
            <a:srgbClr val="F2F5FA"/>
          </a:solidFill>
          <a:ln>
            <a:noFill/>
          </a:ln>
        </p:spPr>
        <p:txBody>
          <a:bodyPr rtlCol="0" anchor="ctr" lIns="36000" rIns="36000" tIns="36000" bIns="36000"/>
          <a:lstStyle/>
          <a:p>
            <a:pPr algn="ctr"/>
          </a:p>
        </p:txBody>
      </p:sp>
      <p:pic>
        <p:nvPicPr>
          <p:cNvPr id="18" name="Picture 17" descr="FaScaleBalanced_13294B.png"/>
          <p:cNvPicPr>
            <a:picLocks noChangeAspect="1"/>
          </p:cNvPicPr>
          <p:nvPr/>
        </p:nvPicPr>
        <p:blipFill>
          <a:blip r:embed="rId6"/>
          <a:stretch>
            <a:fillRect/>
          </a:stretch>
        </p:blipFill>
        <p:spPr>
          <a:xfrm>
            <a:off x="10051200" y="1386000"/>
            <a:ext cx="612000" cy="612000"/>
          </a:xfrm>
          <a:prstGeom prst="rect">
            <a:avLst/>
          </a:prstGeom>
        </p:spPr>
      </p:pic>
      <p:sp>
        <p:nvSpPr>
          <p:cNvPr id="19" name="TextBox 18"/>
          <p:cNvSpPr txBox="1"/>
          <p:nvPr/>
        </p:nvSpPr>
        <p:spPr>
          <a:xfrm>
            <a:off x="9061200" y="2052000"/>
            <a:ext cx="2592000" cy="288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Causality</a:t>
            </a:r>
          </a:p>
        </p:txBody>
      </p:sp>
      <p:sp>
        <p:nvSpPr>
          <p:cNvPr id="20" name="TextBox 19"/>
          <p:cNvSpPr txBox="1"/>
          <p:nvPr/>
        </p:nvSpPr>
        <p:spPr>
          <a:xfrm>
            <a:off x="9169200" y="2358000"/>
            <a:ext cx="2376000" cy="828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조건부 연관 · 누락변수</a:t>
            </a:r>
          </a:p>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시기 = 지배적 설계의 근사</a:t>
            </a:r>
          </a:p>
        </p:txBody>
      </p:sp>
      <p:sp>
        <p:nvSpPr>
          <p:cNvPr id="21" name="TextBox 20"/>
          <p:cNvSpPr txBox="1"/>
          <p:nvPr/>
        </p:nvSpPr>
        <p:spPr>
          <a:xfrm>
            <a:off x="540000" y="3402000"/>
            <a:ext cx="2880000" cy="324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향후 연구</a:t>
            </a:r>
          </a:p>
        </p:txBody>
      </p:sp>
      <p:sp>
        <p:nvSpPr>
          <p:cNvPr id="22" name="Rounded Rectangle 21"/>
          <p:cNvSpPr/>
          <p:nvPr/>
        </p:nvSpPr>
        <p:spPr>
          <a:xfrm>
            <a:off x="540000" y="3744000"/>
            <a:ext cx="3538440" cy="2178000"/>
          </a:xfrm>
          <a:prstGeom prst="roundRect">
            <a:avLst>
              <a:gd name="adj" fmla="val 6000"/>
            </a:avLst>
          </a:prstGeom>
          <a:solidFill>
            <a:srgbClr val="E8EEF7"/>
          </a:solidFill>
          <a:ln>
            <a:noFill/>
          </a:ln>
        </p:spPr>
        <p:txBody>
          <a:bodyPr rtlCol="0" anchor="ctr" lIns="36000" rIns="36000" tIns="36000" bIns="36000"/>
          <a:lstStyle/>
          <a:p>
            <a:pPr algn="ctr"/>
          </a:p>
        </p:txBody>
      </p:sp>
      <p:pic>
        <p:nvPicPr>
          <p:cNvPr id="23" name="Picture 22" descr="FaUsers_13294B.png"/>
          <p:cNvPicPr>
            <a:picLocks noChangeAspect="1"/>
          </p:cNvPicPr>
          <p:nvPr/>
        </p:nvPicPr>
        <p:blipFill>
          <a:blip r:embed="rId7"/>
          <a:stretch>
            <a:fillRect/>
          </a:stretch>
        </p:blipFill>
        <p:spPr>
          <a:xfrm>
            <a:off x="738000" y="3906000"/>
            <a:ext cx="540000" cy="540000"/>
          </a:xfrm>
          <a:prstGeom prst="rect">
            <a:avLst/>
          </a:prstGeom>
        </p:spPr>
      </p:pic>
      <p:sp>
        <p:nvSpPr>
          <p:cNvPr id="24" name="TextBox 23"/>
          <p:cNvSpPr txBox="1"/>
          <p:nvPr/>
        </p:nvSpPr>
        <p:spPr>
          <a:xfrm>
            <a:off x="1404000" y="3888000"/>
            <a:ext cx="2530440" cy="576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Applicant &amp; Family</a:t>
            </a:r>
          </a:p>
        </p:txBody>
      </p:sp>
      <p:sp>
        <p:nvSpPr>
          <p:cNvPr id="25" name="TextBox 24"/>
          <p:cNvSpPr txBox="1"/>
          <p:nvPr/>
        </p:nvSpPr>
        <p:spPr>
          <a:xfrm>
            <a:off x="738000" y="4608000"/>
            <a:ext cx="3142440" cy="1224000"/>
          </a:xfrm>
          <a:prstGeom prst="rect">
            <a:avLst/>
          </a:prstGeom>
          <a:noFill/>
        </p:spPr>
        <p:txBody>
          <a:bodyPr wrap="square" lIns="0" rIns="0" tIns="0" bIns="0" anchor="t">
            <a:noAutofit/>
          </a:bodyPr>
          <a:lstStyle/>
          <a:p>
            <a:pPr algn="l" marL="0" indent="0">
              <a:lnSpc>
                <a:spcPts val="1880"/>
              </a:lnSpc>
              <a:spcBef>
                <a:spcPts val="0"/>
              </a:spcBef>
              <a:spcAft>
                <a:spcPts val="0"/>
              </a:spcAft>
              <a:buNone/>
            </a:pPr>
            <a:r>
              <a:rPr sz="1400" b="0" i="0" lang="ko-KR" altLang="en-US">
                <a:solidFill>
                  <a:srgbClr val="1E2532"/>
                </a:solidFill>
                <a:latin typeface="맑은 고딕"/>
                <a:ea typeface="맑은 고딕"/>
                <a:cs typeface="맑은 고딕"/>
              </a:rPr>
              <a:t>출원인 · 패밀리 정보를 결합한 재분석</a:t>
            </a:r>
          </a:p>
        </p:txBody>
      </p:sp>
      <p:sp>
        <p:nvSpPr>
          <p:cNvPr id="26" name="Rounded Rectangle 25"/>
          <p:cNvSpPr/>
          <p:nvPr/>
        </p:nvSpPr>
        <p:spPr>
          <a:xfrm>
            <a:off x="4326840" y="3744000"/>
            <a:ext cx="3538440" cy="2178000"/>
          </a:xfrm>
          <a:prstGeom prst="roundRect">
            <a:avLst>
              <a:gd name="adj" fmla="val 6000"/>
            </a:avLst>
          </a:prstGeom>
          <a:solidFill>
            <a:srgbClr val="E8EEF7"/>
          </a:solidFill>
          <a:ln>
            <a:noFill/>
          </a:ln>
        </p:spPr>
        <p:txBody>
          <a:bodyPr rtlCol="0" anchor="ctr" lIns="36000" rIns="36000" tIns="36000" bIns="36000"/>
          <a:lstStyle/>
          <a:p>
            <a:pPr algn="ctr"/>
          </a:p>
        </p:txBody>
      </p:sp>
      <p:pic>
        <p:nvPicPr>
          <p:cNvPr id="27" name="Picture 26" descr="FaShuffle_13294B.png"/>
          <p:cNvPicPr>
            <a:picLocks noChangeAspect="1"/>
          </p:cNvPicPr>
          <p:nvPr/>
        </p:nvPicPr>
        <p:blipFill>
          <a:blip r:embed="rId8"/>
          <a:stretch>
            <a:fillRect/>
          </a:stretch>
        </p:blipFill>
        <p:spPr>
          <a:xfrm>
            <a:off x="4524840" y="3906000"/>
            <a:ext cx="540000" cy="540000"/>
          </a:xfrm>
          <a:prstGeom prst="rect">
            <a:avLst/>
          </a:prstGeom>
        </p:spPr>
      </p:pic>
      <p:sp>
        <p:nvSpPr>
          <p:cNvPr id="28" name="TextBox 27"/>
          <p:cNvSpPr txBox="1"/>
          <p:nvPr/>
        </p:nvSpPr>
        <p:spPr>
          <a:xfrm>
            <a:off x="5190840" y="3888000"/>
            <a:ext cx="2530440" cy="576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Other Industries</a:t>
            </a:r>
          </a:p>
        </p:txBody>
      </p:sp>
      <p:sp>
        <p:nvSpPr>
          <p:cNvPr id="29" name="TextBox 28"/>
          <p:cNvSpPr txBox="1"/>
          <p:nvPr/>
        </p:nvSpPr>
        <p:spPr>
          <a:xfrm>
            <a:off x="4524840" y="4608000"/>
            <a:ext cx="3142440" cy="1224000"/>
          </a:xfrm>
          <a:prstGeom prst="rect">
            <a:avLst/>
          </a:prstGeom>
          <a:noFill/>
        </p:spPr>
        <p:txBody>
          <a:bodyPr wrap="square" lIns="0" rIns="0" tIns="0" bIns="0" anchor="t">
            <a:noAutofit/>
          </a:bodyPr>
          <a:lstStyle/>
          <a:p>
            <a:pPr algn="l" marL="0" indent="0">
              <a:lnSpc>
                <a:spcPts val="1880"/>
              </a:lnSpc>
              <a:spcBef>
                <a:spcPts val="0"/>
              </a:spcBef>
              <a:spcAft>
                <a:spcPts val="0"/>
              </a:spcAft>
              <a:buNone/>
            </a:pPr>
            <a:r>
              <a:rPr sz="1400" b="0" i="0" lang="ko-KR" altLang="en-US">
                <a:solidFill>
                  <a:srgbClr val="1E2532"/>
                </a:solidFill>
                <a:latin typeface="맑은 고딕"/>
                <a:ea typeface="맑은 고딕"/>
                <a:cs typeface="맑은 고딕"/>
              </a:rPr>
              <a:t>디스플레이 리소그래피 · 배터리 셀-투-팩 · 항공우주 적층제조와 비교</a:t>
            </a:r>
          </a:p>
        </p:txBody>
      </p:sp>
      <p:sp>
        <p:nvSpPr>
          <p:cNvPr id="30" name="Rounded Rectangle 29"/>
          <p:cNvSpPr/>
          <p:nvPr/>
        </p:nvSpPr>
        <p:spPr>
          <a:xfrm>
            <a:off x="8113680" y="3744000"/>
            <a:ext cx="3538440" cy="2178000"/>
          </a:xfrm>
          <a:prstGeom prst="roundRect">
            <a:avLst>
              <a:gd name="adj" fmla="val 6000"/>
            </a:avLst>
          </a:prstGeom>
          <a:solidFill>
            <a:srgbClr val="E8EEF7"/>
          </a:solidFill>
          <a:ln>
            <a:noFill/>
          </a:ln>
        </p:spPr>
        <p:txBody>
          <a:bodyPr rtlCol="0" anchor="ctr" lIns="36000" rIns="36000" tIns="36000" bIns="36000"/>
          <a:lstStyle/>
          <a:p>
            <a:pPr algn="ctr"/>
          </a:p>
        </p:txBody>
      </p:sp>
      <p:pic>
        <p:nvPicPr>
          <p:cNvPr id="31" name="Picture 30" descr="FaCircleNodes_13294B.png"/>
          <p:cNvPicPr>
            <a:picLocks noChangeAspect="1"/>
          </p:cNvPicPr>
          <p:nvPr/>
        </p:nvPicPr>
        <p:blipFill>
          <a:blip r:embed="rId9"/>
          <a:stretch>
            <a:fillRect/>
          </a:stretch>
        </p:blipFill>
        <p:spPr>
          <a:xfrm>
            <a:off x="8311680" y="3906000"/>
            <a:ext cx="540000" cy="540000"/>
          </a:xfrm>
          <a:prstGeom prst="rect">
            <a:avLst/>
          </a:prstGeom>
        </p:spPr>
      </p:pic>
      <p:sp>
        <p:nvSpPr>
          <p:cNvPr id="32" name="TextBox 31"/>
          <p:cNvSpPr txBox="1"/>
          <p:nvPr/>
        </p:nvSpPr>
        <p:spPr>
          <a:xfrm>
            <a:off x="8977680" y="3888000"/>
            <a:ext cx="2530440" cy="576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Generality</a:t>
            </a:r>
          </a:p>
        </p:txBody>
      </p:sp>
      <p:sp>
        <p:nvSpPr>
          <p:cNvPr id="33" name="TextBox 32"/>
          <p:cNvSpPr txBox="1"/>
          <p:nvPr/>
        </p:nvSpPr>
        <p:spPr>
          <a:xfrm>
            <a:off x="8311680" y="4608000"/>
            <a:ext cx="3142440" cy="1224000"/>
          </a:xfrm>
          <a:prstGeom prst="rect">
            <a:avLst/>
          </a:prstGeom>
          <a:noFill/>
        </p:spPr>
        <p:txBody>
          <a:bodyPr wrap="square" lIns="0" rIns="0" tIns="0" bIns="0" anchor="t">
            <a:noAutofit/>
          </a:bodyPr>
          <a:lstStyle/>
          <a:p>
            <a:pPr algn="l" marL="0" indent="0">
              <a:lnSpc>
                <a:spcPts val="1880"/>
              </a:lnSpc>
              <a:spcBef>
                <a:spcPts val="0"/>
              </a:spcBef>
              <a:spcAft>
                <a:spcPts val="0"/>
              </a:spcAft>
              <a:buNone/>
            </a:pPr>
            <a:r>
              <a:rPr sz="1400" b="0" i="0" lang="ko-KR" altLang="en-US">
                <a:solidFill>
                  <a:srgbClr val="1E2532"/>
                </a:solidFill>
                <a:latin typeface="맑은 고딕"/>
                <a:ea typeface="맑은 고딕"/>
                <a:cs typeface="맑은 고딕"/>
              </a:rPr>
              <a:t>고차 공출현 · 일반성 지수로 범용기술적 성격 검정 (Petralia, 2020)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image" descr="wafer.png"/>
          <p:cNvPicPr>
            <a:picLocks noChangeAspect="1"/>
          </p:cNvPicPr>
          <p:nvPr/>
        </p:nvPicPr>
        <p:blipFill>
          <a:blip r:embed="rId2"/>
          <a:stretch>
            <a:fillRect/>
          </a:stretch>
        </p:blipFill>
        <p:spPr>
          <a:xfrm>
            <a:off x="0" y="0"/>
            <a:ext cx="12192120" cy="6858000"/>
          </a:xfrm>
          <a:prstGeom prst="rect">
            <a:avLst/>
          </a:prstGeom>
        </p:spPr>
      </p:pic>
      <p:sp>
        <p:nvSpPr>
          <p:cNvPr id="3" name="Freeform 2"/>
          <p:cNvSpPr/>
          <p:nvPr/>
        </p:nvSpPr>
        <p:spPr>
          <a:xfrm>
            <a:off x="2160000" y="0"/>
            <a:ext cx="10032120" cy="6858000"/>
          </a:xfrm>
          <a:custGeom>
            <a:avLst/>
            <a:gdLst/>
            <a:ahLst/>
            <a:cxnLst/>
            <a:rect l="l" t="t" r="r" b="b"/>
            <a:pathLst>
              <a:path w="10032120" h="6858000">
                <a:moveTo>
                  <a:pt x="2160000" y="0"/>
                </a:moveTo>
                <a:lnTo>
                  <a:pt x="10032120" y="0"/>
                </a:lnTo>
                <a:lnTo>
                  <a:pt x="10032120" y="6858000"/>
                </a:lnTo>
                <a:lnTo>
                  <a:pt x="0" y="6858000"/>
                </a:lnTo>
                <a:lnTo>
                  <a:pt x="2160000" y="0"/>
                </a:lnTo>
                <a:close/>
              </a:path>
            </a:pathLst>
          </a:custGeom>
          <a:solidFill>
            <a:srgbClr val="05070B"/>
          </a:solidFill>
          <a:ln>
            <a:noFill/>
          </a:ln>
        </p:spPr>
        <p:txBody>
          <a:bodyPr rtlCol="0" anchor="ctr"/>
          <a:lstStyle/>
          <a:p>
            <a:pPr algn="ctr"/>
          </a:p>
        </p:txBody>
      </p:sp>
      <p:sp>
        <p:nvSpPr>
          <p:cNvPr id="4" name="Rectangle 3"/>
          <p:cNvSpPr/>
          <p:nvPr/>
        </p:nvSpPr>
        <p:spPr>
          <a:xfrm>
            <a:off x="3240000" y="1512000"/>
            <a:ext cx="7200000" cy="3816000"/>
          </a:xfrm>
          <a:prstGeom prst="rect">
            <a:avLst/>
          </a:prstGeom>
          <a:noFill/>
          <a:ln w="31750">
            <a:solidFill>
              <a:srgbClr val="FFFFFF"/>
            </a:solidFill>
          </a:ln>
        </p:spPr>
        <p:txBody>
          <a:bodyPr rtlCol="0" anchor="ctr" lIns="36000" rIns="36000" tIns="36000" bIns="36000"/>
          <a:lstStyle/>
          <a:p>
            <a:pPr algn="ctr"/>
          </a:p>
        </p:txBody>
      </p:sp>
      <p:sp>
        <p:nvSpPr>
          <p:cNvPr id="5" name="TextBox 4"/>
          <p:cNvSpPr txBox="1"/>
          <p:nvPr/>
        </p:nvSpPr>
        <p:spPr>
          <a:xfrm>
            <a:off x="3240000" y="1872000"/>
            <a:ext cx="7200000" cy="1152000"/>
          </a:xfrm>
          <a:prstGeom prst="rect">
            <a:avLst/>
          </a:prstGeom>
          <a:noFill/>
        </p:spPr>
        <p:txBody>
          <a:bodyPr wrap="square" lIns="0" rIns="0" tIns="0" bIns="0" anchor="ctr">
            <a:noAutofit/>
          </a:bodyPr>
          <a:lstStyle/>
          <a:p>
            <a:pPr algn="ctr" marL="0" indent="0">
              <a:lnSpc>
                <a:spcPts val="6480"/>
              </a:lnSpc>
              <a:spcBef>
                <a:spcPts val="0"/>
              </a:spcBef>
              <a:spcAft>
                <a:spcPts val="0"/>
              </a:spcAft>
              <a:buNone/>
            </a:pPr>
            <a:r>
              <a:rPr sz="5400" b="1" i="0" lang="ko-KR" altLang="en-US">
                <a:solidFill>
                  <a:srgbClr val="FFFFFF"/>
                </a:solidFill>
                <a:latin typeface="맑은 고딕"/>
                <a:ea typeface="맑은 고딕"/>
                <a:cs typeface="맑은 고딕"/>
              </a:rPr>
              <a:t>Q&amp;A</a:t>
            </a:r>
          </a:p>
        </p:txBody>
      </p:sp>
      <p:sp>
        <p:nvSpPr>
          <p:cNvPr id="6" name="TextBox 5"/>
          <p:cNvSpPr txBox="1"/>
          <p:nvPr/>
        </p:nvSpPr>
        <p:spPr>
          <a:xfrm>
            <a:off x="3240000" y="3024000"/>
            <a:ext cx="7200000" cy="576000"/>
          </a:xfrm>
          <a:prstGeom prst="rect">
            <a:avLst/>
          </a:prstGeom>
          <a:noFill/>
        </p:spPr>
        <p:txBody>
          <a:bodyPr wrap="square" lIns="0" rIns="0" tIns="0" bIns="0" anchor="ctr">
            <a:noAutofit/>
          </a:bodyPr>
          <a:lstStyle/>
          <a:p>
            <a:pPr algn="ctr" marL="0" indent="0">
              <a:lnSpc>
                <a:spcPts val="3360"/>
              </a:lnSpc>
              <a:spcBef>
                <a:spcPts val="0"/>
              </a:spcBef>
              <a:spcAft>
                <a:spcPts val="0"/>
              </a:spcAft>
              <a:buNone/>
            </a:pPr>
            <a:r>
              <a:rPr sz="2800" b="1" i="0" lang="ko-KR" altLang="en-US">
                <a:solidFill>
                  <a:srgbClr val="FFFFFF"/>
                </a:solidFill>
                <a:latin typeface="맑은 고딕"/>
                <a:ea typeface="맑은 고딕"/>
                <a:cs typeface="맑은 고딕"/>
              </a:rPr>
              <a:t>Thanks for Listening</a:t>
            </a:r>
          </a:p>
        </p:txBody>
      </p:sp>
      <p:sp>
        <p:nvSpPr>
          <p:cNvPr id="7" name="TextBox 6"/>
          <p:cNvSpPr txBox="1"/>
          <p:nvPr/>
        </p:nvSpPr>
        <p:spPr>
          <a:xfrm>
            <a:off x="3240000" y="3816000"/>
            <a:ext cx="7200000" cy="432000"/>
          </a:xfrm>
          <a:prstGeom prst="rect">
            <a:avLst/>
          </a:prstGeom>
          <a:noFill/>
        </p:spPr>
        <p:txBody>
          <a:bodyPr wrap="square" lIns="0" rIns="0" tIns="0" bIns="0" anchor="ctr">
            <a:noAutofit/>
          </a:bodyPr>
          <a:lstStyle/>
          <a:p>
            <a:pPr algn="ctr" marL="0" indent="0">
              <a:lnSpc>
                <a:spcPts val="1920"/>
              </a:lnSpc>
              <a:spcBef>
                <a:spcPts val="0"/>
              </a:spcBef>
              <a:spcAft>
                <a:spcPts val="0"/>
              </a:spcAft>
              <a:buNone/>
            </a:pPr>
            <a:r>
              <a:rPr sz="1600" b="0" i="0" lang="ko-KR" altLang="en-US">
                <a:solidFill>
                  <a:srgbClr val="B9C6DD"/>
                </a:solidFill>
                <a:latin typeface="맑은 고딕"/>
                <a:ea typeface="맑은 고딕"/>
                <a:cs typeface="맑은 고딕"/>
              </a:rPr>
              <a:t>경청해 주셔서 감사합니다</a:t>
            </a:r>
          </a:p>
        </p:txBody>
      </p:sp>
      <p:sp>
        <p:nvSpPr>
          <p:cNvPr id="8" name="TextBox 7"/>
          <p:cNvSpPr txBox="1"/>
          <p:nvPr/>
        </p:nvSpPr>
        <p:spPr>
          <a:xfrm>
            <a:off x="3240000" y="4392000"/>
            <a:ext cx="7200000" cy="360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0" i="0" lang="ko-KR" altLang="en-US">
                <a:solidFill>
                  <a:srgbClr val="B9C6DD"/>
                </a:solidFill>
                <a:latin typeface="맑은 고딕"/>
                <a:ea typeface="맑은 고딕"/>
                <a:cs typeface="맑은 고딕"/>
              </a:rPr>
              <a:t>이형규 · 한양대학교 기술경영전문대학원 기술경영학과</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400"/>
              </a:lnSpc>
              <a:spcBef>
                <a:spcPts val="0"/>
              </a:spcBef>
              <a:spcAft>
                <a:spcPts val="0"/>
              </a:spcAft>
              <a:buNone/>
            </a:pPr>
            <a:r>
              <a:rPr sz="1600" b="0" i="0" lang="ko-KR" altLang="en-US">
                <a:solidFill>
                  <a:srgbClr val="5B6475"/>
                </a:solidFill>
                <a:latin typeface="맑은 고딕"/>
                <a:ea typeface="맑은 고딕"/>
                <a:cs typeface="맑은 고딕"/>
              </a:rPr>
              <a:t>부록 1  </a:t>
            </a:r>
            <a:r>
              <a:rPr sz="2000" b="1" i="0" lang="ko-KR" altLang="en-US">
                <a:solidFill>
                  <a:srgbClr val="13294B"/>
                </a:solidFill>
                <a:latin typeface="맑은 고딕"/>
                <a:ea typeface="맑은 고딕"/>
                <a:cs typeface="맑은 고딕"/>
              </a:rPr>
              <a:t>검색 전략과 자료의 특성</a:t>
            </a:r>
          </a:p>
        </p:txBody>
      </p:sp>
      <p:graphicFrame>
        <p:nvGraphicFramePr>
          <p:cNvPr id="3" name="Table 2"/>
          <p:cNvGraphicFramePr>
            <a:graphicFrameLocks noGrp="1"/>
          </p:cNvGraphicFramePr>
          <p:nvPr/>
        </p:nvGraphicFramePr>
        <p:xfrm>
          <a:off x="540000" y="954000"/>
          <a:ext cx="11112120" cy="1872000"/>
        </p:xfrm>
        <a:graphic>
          <a:graphicData uri="http://schemas.openxmlformats.org/drawingml/2006/table">
            <a:tbl>
              <a:tblPr firstRow="1">
                <a:tableStyleId>{2D5ABB26-0587-4C30-8999-92F81FD0307C}</a:tableStyleId>
              </a:tblPr>
              <a:tblGrid>
                <a:gridCol w="1224000"/>
                <a:gridCol w="936000"/>
                <a:gridCol w="8952120"/>
              </a:tblGrid>
              <a:tr h="324000">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단계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조건</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내용</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720000">
                <a:tc>
                  <a:txBody>
                    <a:bodyPr wrap="square"/>
                    <a:lstStyle/>
                    <a:p>
                      <a:pPr algn="ctr"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1차: CPC</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H01L21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반도체 제조공정. 웨이퍼 직접 접합(21/18, 21/20), 소자 분리·배선·TSV(21/76), 기판·절연층 처리(21/02), CMP(21/30–21/32);</a:t>
                      </a:r>
                    </a:p>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패키징 단계 제조공정(21/48, 21/50–21/58, 21/60, 21/78)과 공정 장치(21/67–21/68) 포함</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414000">
                <a:tc>
                  <a:txBody>
                    <a:bodyPr wrap="square"/>
                    <a:lstStyle/>
                    <a:p>
                      <a:pPr algn="ctr"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1차: CPC</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H01L24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반도체 · 고체소자의 연결을 위한 커넥터 구조, 범프 · 층 · 와이어 연결, 관련 연결 방법 및 장치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414000">
                <a:tc>
                  <a:txBody>
                    <a:bodyPr wrap="square"/>
                    <a:lstStyle/>
                    <a:p>
                      <a:pPr algn="ctr"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2차: 키워드</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제목</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hybrid bonding · direct bonding · Cu–Cu · copper to copper · metal-oxide bond 가운데 하나 이상</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r>
            </a:tbl>
          </a:graphicData>
        </a:graphic>
      </p:graphicFrame>
      <p:sp>
        <p:nvSpPr>
          <p:cNvPr id="4" name="Rounded Rectangle 3"/>
          <p:cNvSpPr/>
          <p:nvPr/>
        </p:nvSpPr>
        <p:spPr>
          <a:xfrm>
            <a:off x="540000" y="2970000"/>
            <a:ext cx="1872000" cy="3888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표본</a:t>
            </a:r>
          </a:p>
        </p:txBody>
      </p:sp>
      <p:sp>
        <p:nvSpPr>
          <p:cNvPr id="5" name="TextBox 4"/>
          <p:cNvSpPr txBox="1"/>
          <p:nvPr/>
        </p:nvSpPr>
        <p:spPr>
          <a:xfrm>
            <a:off x="2520000" y="2970000"/>
            <a:ext cx="9132120" cy="3888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출원 928건 (1968–2024) · 출원–CPC 쌍 5,277건 · 서브그룹 기호 262개 (H01L21 202개, H01L24 60개)</a:t>
            </a:r>
          </a:p>
        </p:txBody>
      </p:sp>
      <p:sp>
        <p:nvSpPr>
          <p:cNvPr id="6" name="Rounded Rectangle 5"/>
          <p:cNvSpPr/>
          <p:nvPr/>
        </p:nvSpPr>
        <p:spPr>
          <a:xfrm>
            <a:off x="540000" y="3466800"/>
            <a:ext cx="1872000" cy="3888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hybrid bonding 표본</a:t>
            </a:r>
          </a:p>
        </p:txBody>
      </p:sp>
      <p:sp>
        <p:nvSpPr>
          <p:cNvPr id="7" name="TextBox 6"/>
          <p:cNvSpPr txBox="1"/>
          <p:nvPr/>
        </p:nvSpPr>
        <p:spPr>
          <a:xfrm>
            <a:off x="2520000" y="3466800"/>
            <a:ext cx="9132120" cy="3888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제목에 hybrid bonding이 포함된 467건 → 재추정 (부록 6)</a:t>
            </a:r>
          </a:p>
        </p:txBody>
      </p:sp>
      <p:sp>
        <p:nvSpPr>
          <p:cNvPr id="8" name="Rounded Rectangle 7"/>
          <p:cNvSpPr/>
          <p:nvPr/>
        </p:nvSpPr>
        <p:spPr>
          <a:xfrm>
            <a:off x="540000" y="3963600"/>
            <a:ext cx="1872000" cy="3888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무관 용법</a:t>
            </a:r>
          </a:p>
        </p:txBody>
      </p:sp>
      <p:sp>
        <p:nvSpPr>
          <p:cNvPr id="9" name="TextBox 8"/>
          <p:cNvSpPr txBox="1"/>
          <p:nvPr/>
        </p:nvSpPr>
        <p:spPr>
          <a:xfrm>
            <a:off x="2520000" y="3963600"/>
            <a:ext cx="9132120" cy="3888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68건 (direct bonding 63건 · hybrid bonding 5건): DBC 기판, 구리 합금, 전력 모듈 등</a:t>
            </a:r>
          </a:p>
        </p:txBody>
      </p:sp>
      <p:sp>
        <p:nvSpPr>
          <p:cNvPr id="10" name="Rounded Rectangle 9"/>
          <p:cNvSpPr/>
          <p:nvPr/>
        </p:nvSpPr>
        <p:spPr>
          <a:xfrm>
            <a:off x="540000" y="4460400"/>
            <a:ext cx="1872000" cy="3888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동일 제목</a:t>
            </a:r>
          </a:p>
        </p:txBody>
      </p:sp>
      <p:sp>
        <p:nvSpPr>
          <p:cNvPr id="11" name="TextBox 10"/>
          <p:cNvSpPr txBox="1"/>
          <p:nvPr/>
        </p:nvSpPr>
        <p:spPr>
          <a:xfrm>
            <a:off x="2520000" y="4460400"/>
            <a:ext cx="9132120" cy="3888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고유 제목 473개 · 이 중 149개는 둘 이상의 출원청에 출원 → 제목당 1건 표본, 군집 표준오차</a:t>
            </a:r>
          </a:p>
        </p:txBody>
      </p:sp>
      <p:sp>
        <p:nvSpPr>
          <p:cNvPr id="12" name="Rounded Rectangle 11"/>
          <p:cNvSpPr/>
          <p:nvPr/>
        </p:nvSpPr>
        <p:spPr>
          <a:xfrm>
            <a:off x="540000" y="4957200"/>
            <a:ext cx="1872000" cy="3888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H01L21 기호 1,636건</a:t>
            </a:r>
          </a:p>
        </p:txBody>
      </p:sp>
      <p:sp>
        <p:nvSpPr>
          <p:cNvPr id="13" name="TextBox 12"/>
          <p:cNvSpPr txBox="1"/>
          <p:nvPr/>
        </p:nvSpPr>
        <p:spPr>
          <a:xfrm>
            <a:off x="2520000" y="4957200"/>
            <a:ext cx="9132120" cy="3888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웨이퍼 제조공정 905 (55.3%) · 공정 장치 328 (20.0%) · 패키징 단계 공정 403 (24.6%)</a:t>
            </a:r>
          </a:p>
        </p:txBody>
      </p:sp>
      <p:sp>
        <p:nvSpPr>
          <p:cNvPr id="14" name="Rounded Rectangle 13"/>
          <p:cNvSpPr/>
          <p:nvPr/>
        </p:nvSpPr>
        <p:spPr>
          <a:xfrm>
            <a:off x="540000" y="5454000"/>
            <a:ext cx="1872000" cy="3888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출원청</a:t>
            </a:r>
          </a:p>
        </p:txBody>
      </p:sp>
      <p:sp>
        <p:nvSpPr>
          <p:cNvPr id="15" name="TextBox 14"/>
          <p:cNvSpPr txBox="1"/>
          <p:nvPr/>
        </p:nvSpPr>
        <p:spPr>
          <a:xfrm>
            <a:off x="2520000" y="5454000"/>
            <a:ext cx="9132120" cy="3888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US 382 · CN 175 · WO(PCT) 113 · EP 83 · TW 75 · KR 58 · JP 26 · 기타 16</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400"/>
              </a:lnSpc>
              <a:spcBef>
                <a:spcPts val="0"/>
              </a:spcBef>
              <a:spcAft>
                <a:spcPts val="0"/>
              </a:spcAft>
              <a:buNone/>
            </a:pPr>
            <a:r>
              <a:rPr sz="1600" b="0" i="0" lang="ko-KR" altLang="en-US">
                <a:solidFill>
                  <a:srgbClr val="5B6475"/>
                </a:solidFill>
                <a:latin typeface="맑은 고딕"/>
                <a:ea typeface="맑은 고딕"/>
                <a:cs typeface="맑은 고딕"/>
              </a:rPr>
              <a:t>부록 2  </a:t>
            </a:r>
            <a:r>
              <a:rPr sz="2000" b="1" i="0" lang="ko-KR" altLang="en-US">
                <a:solidFill>
                  <a:srgbClr val="13294B"/>
                </a:solidFill>
                <a:latin typeface="맑은 고딕"/>
                <a:ea typeface="맑은 고딕"/>
                <a:cs typeface="맑은 고딕"/>
              </a:rPr>
              <a:t>변수 정의와 기술통계</a:t>
            </a:r>
          </a:p>
        </p:txBody>
      </p:sp>
      <p:graphicFrame>
        <p:nvGraphicFramePr>
          <p:cNvPr id="3" name="Table 2"/>
          <p:cNvGraphicFramePr>
            <a:graphicFrameLocks noGrp="1"/>
          </p:cNvGraphicFramePr>
          <p:nvPr/>
        </p:nvGraphicFramePr>
        <p:xfrm>
          <a:off x="540000" y="954000"/>
          <a:ext cx="11112120" cy="3434400"/>
        </p:xfrm>
        <a:graphic>
          <a:graphicData uri="http://schemas.openxmlformats.org/drawingml/2006/table">
            <a:tbl>
              <a:tblPr firstRow="1">
                <a:tableStyleId>{2D5ABB26-0587-4C30-8999-92F81FD0307C}</a:tableStyleId>
              </a:tblPr>
              <a:tblGrid>
                <a:gridCol w="1404000"/>
                <a:gridCol w="4176000"/>
                <a:gridCol w="1224000"/>
                <a:gridCol w="4308120"/>
              </a:tblGrid>
              <a:tr h="324000">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변수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정의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유형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해석상 주의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88800">
                <a:tc>
                  <a:txBody>
                    <a:bodyPr wrap="square"/>
                    <a:lstStyle/>
                    <a:p>
                      <a:pPr algn="ctr" marL="0" indent="0">
                        <a:lnSpc>
                          <a:spcPts val="1380"/>
                        </a:lnSpc>
                        <a:spcBef>
                          <a:spcPts val="0"/>
                        </a:spcBef>
                        <a:spcAft>
                          <a:spcPts val="0"/>
                        </a:spcAft>
                        <a:buNone/>
                      </a:pPr>
                      <a:r>
                        <a:rPr sz="1150" b="1" i="0" lang="ko-KR" altLang="en-US">
                          <a:solidFill>
                            <a:srgbClr val="1E2532"/>
                          </a:solidFill>
                          <a:latin typeface="맑은 고딕"/>
                          <a:ea typeface="맑은 고딕"/>
                          <a:cs typeface="맑은 고딕"/>
                        </a:rPr>
                        <a:t>breadth</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H01L21 · H01L24 안의 서로 다른 서브그룹 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카운트, 1–21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두 클래스 내부의 기술적 다양성 (법적 청구범위 아님)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88800">
                <a:tc>
                  <a:txBody>
                    <a:bodyPr wrap="square"/>
                    <a:lstStyle/>
                    <a:p>
                      <a:pPr algn="ctr" marL="0" indent="0">
                        <a:lnSpc>
                          <a:spcPts val="1380"/>
                        </a:lnSpc>
                        <a:spcBef>
                          <a:spcPts val="0"/>
                        </a:spcBef>
                        <a:spcAft>
                          <a:spcPts val="0"/>
                        </a:spcAft>
                        <a:buNone/>
                      </a:pPr>
                      <a:r>
                        <a:rPr sz="1150" b="1" i="0" lang="ko-KR" altLang="en-US">
                          <a:solidFill>
                            <a:srgbClr val="1E2532"/>
                          </a:solidFill>
                          <a:latin typeface="맑은 고딕"/>
                          <a:ea typeface="맑은 고딕"/>
                          <a:cs typeface="맑은 고딕"/>
                        </a:rPr>
                        <a:t>breadth_adj</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보유 클래스마다 최소 1개 기호를 뺀 추가 서브그룹 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카운트, 0–19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탐색적 지표 (유형 정보 이용)</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88800">
                <a:tc>
                  <a:txBody>
                    <a:bodyPr wrap="square"/>
                    <a:lstStyle/>
                    <a:p>
                      <a:pPr algn="ctr" marL="0" indent="0">
                        <a:lnSpc>
                          <a:spcPts val="1380"/>
                        </a:lnSpc>
                        <a:spcBef>
                          <a:spcPts val="0"/>
                        </a:spcBef>
                        <a:spcAft>
                          <a:spcPts val="0"/>
                        </a:spcAft>
                        <a:buNone/>
                      </a:pPr>
                      <a:r>
                        <a:rPr sz="1150" b="1" i="0" lang="ko-KR" altLang="en-US">
                          <a:solidFill>
                            <a:srgbClr val="1E2532"/>
                          </a:solidFill>
                          <a:latin typeface="맑은 고딕"/>
                          <a:ea typeface="맑은 고딕"/>
                          <a:cs typeface="맑은 고딕"/>
                        </a:rPr>
                        <a:t>tech_cat</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접합 단독형 / 통합형 / 공정 단독형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범주, 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분류의 조합</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88800">
                <a:tc>
                  <a:txBody>
                    <a:bodyPr wrap="square"/>
                    <a:lstStyle/>
                    <a:p>
                      <a:pPr algn="ctr" marL="0" indent="0">
                        <a:lnSpc>
                          <a:spcPts val="1380"/>
                        </a:lnSpc>
                        <a:spcBef>
                          <a:spcPts val="0"/>
                        </a:spcBef>
                        <a:spcAft>
                          <a:spcPts val="0"/>
                        </a:spcAft>
                        <a:buNone/>
                      </a:pPr>
                      <a:r>
                        <a:rPr sz="1150" b="1" i="0" lang="ko-KR" altLang="en-US">
                          <a:solidFill>
                            <a:srgbClr val="1E2532"/>
                          </a:solidFill>
                          <a:latin typeface="맑은 고딕"/>
                          <a:ea typeface="맑은 고딕"/>
                          <a:cs typeface="맑은 고딕"/>
                        </a:rPr>
                        <a:t>has_process</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H01L21 기호를 하나라도 가지면 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이항</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전공정 자체가 아닌 제조공정 분류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88800">
                <a:tc>
                  <a:txBody>
                    <a:bodyPr wrap="square"/>
                    <a:lstStyle/>
                    <a:p>
                      <a:pPr algn="ctr" marL="0" indent="0">
                        <a:lnSpc>
                          <a:spcPts val="1380"/>
                        </a:lnSpc>
                        <a:spcBef>
                          <a:spcPts val="0"/>
                        </a:spcBef>
                        <a:spcAft>
                          <a:spcPts val="0"/>
                        </a:spcAft>
                        <a:buNone/>
                      </a:pPr>
                      <a:r>
                        <a:rPr sz="1150" b="1" i="0" lang="ko-KR" altLang="en-US">
                          <a:solidFill>
                            <a:srgbClr val="1E2532"/>
                          </a:solidFill>
                          <a:latin typeface="맑은 고딕"/>
                          <a:ea typeface="맑은 고딕"/>
                          <a:cs typeface="맑은 고딕"/>
                        </a:rPr>
                        <a:t>yc</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출원연도 (1968년 = 0), 평균 49.7 (2017.7년)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정수, 0–56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기술 성숙의 직접 측정치 아님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88800">
                <a:tc>
                  <a:txBody>
                    <a:bodyPr wrap="square"/>
                    <a:lstStyle/>
                    <a:p>
                      <a:pPr algn="ctr" marL="0" indent="0">
                        <a:lnSpc>
                          <a:spcPts val="1380"/>
                        </a:lnSpc>
                        <a:spcBef>
                          <a:spcPts val="0"/>
                        </a:spcBef>
                        <a:spcAft>
                          <a:spcPts val="0"/>
                        </a:spcAft>
                        <a:buNone/>
                      </a:pPr>
                      <a:r>
                        <a:rPr sz="1150" b="1" i="0" lang="ko-KR" altLang="en-US">
                          <a:solidFill>
                            <a:srgbClr val="1E2532"/>
                          </a:solidFill>
                          <a:latin typeface="맑은 고딕"/>
                          <a:ea typeface="맑은 고딕"/>
                          <a:cs typeface="맑은 고딕"/>
                        </a:rPr>
                        <a:t>period</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–2014(기준) · 2015–2019 · 2020–2024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범주, 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첫 시기가 이후 두 시기보다 김</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88800">
                <a:tc>
                  <a:txBody>
                    <a:bodyPr wrap="square"/>
                    <a:lstStyle/>
                    <a:p>
                      <a:pPr algn="ctr" marL="0" indent="0">
                        <a:lnSpc>
                          <a:spcPts val="1380"/>
                        </a:lnSpc>
                        <a:spcBef>
                          <a:spcPts val="0"/>
                        </a:spcBef>
                        <a:spcAft>
                          <a:spcPts val="0"/>
                        </a:spcAft>
                        <a:buNone/>
                      </a:pPr>
                      <a:r>
                        <a:rPr sz="1150" b="1" i="0" lang="ko-KR" altLang="en-US">
                          <a:solidFill>
                            <a:srgbClr val="1E2532"/>
                          </a:solidFill>
                          <a:latin typeface="맑은 고딕"/>
                          <a:ea typeface="맑은 고딕"/>
                          <a:cs typeface="맑은 고딕"/>
                        </a:rPr>
                        <a:t>core</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핵심 접합 기호(24/03 · 05 · 08 · 80) 보유 시 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이항</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H01L24 보유 출원(N = 763)에서만 정의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88800">
                <a:tc>
                  <a:txBody>
                    <a:bodyPr wrap="square"/>
                    <a:lstStyle/>
                    <a:p>
                      <a:pPr algn="ctr" marL="0" indent="0">
                        <a:lnSpc>
                          <a:spcPts val="1380"/>
                        </a:lnSpc>
                        <a:spcBef>
                          <a:spcPts val="0"/>
                        </a:spcBef>
                        <a:spcAft>
                          <a:spcPts val="0"/>
                        </a:spcAft>
                        <a:buNone/>
                      </a:pPr>
                      <a:r>
                        <a:rPr sz="1150" b="1" i="0" lang="ko-KR" altLang="en-US">
                          <a:solidFill>
                            <a:srgbClr val="1E2532"/>
                          </a:solidFill>
                          <a:latin typeface="맑은 고딕"/>
                          <a:ea typeface="맑은 고딕"/>
                          <a:cs typeface="맑은 고딕"/>
                        </a:rPr>
                        <a:t>ccode</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US(기준) · CN · KR · TW · JP · EP · WO · 기타</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범주, 8</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통제변수 (해석하지 않음)</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r>
            </a:tbl>
          </a:graphicData>
        </a:graphic>
      </p:graphicFrame>
      <p:sp>
        <p:nvSpPr>
          <p:cNvPr id="4" name="TextBox 3"/>
          <p:cNvSpPr txBox="1"/>
          <p:nvPr/>
        </p:nvSpPr>
        <p:spPr>
          <a:xfrm>
            <a:off x="540000" y="4554000"/>
            <a:ext cx="11112120" cy="936000"/>
          </a:xfrm>
          <a:prstGeom prst="rect">
            <a:avLst/>
          </a:prstGeom>
          <a:noFill/>
        </p:spPr>
        <p:txBody>
          <a:bodyPr wrap="square" lIns="0" rIns="0" tIns="0" bIns="0" anchor="t">
            <a:noAutofit/>
          </a:bodyPr>
          <a:lstStyle/>
          <a:p>
            <a:pPr algn="l" marL="180000" indent="-180000">
              <a:lnSpc>
                <a:spcPts val="1560"/>
              </a:lnSpc>
              <a:spcBef>
                <a:spcPts val="0"/>
              </a:spcBef>
              <a:spcAft>
                <a:spcPts val="400"/>
              </a:spcAft>
              <a:buClr>
                <a:srgbClr val="13294B"/>
              </a:buClr>
              <a:buSzPct val="70000"/>
              <a:buFont typeface="Arial"/>
              <a:buChar char="■"/>
            </a:pPr>
            <a:r>
              <a:rPr sz="1300" b="0" i="0" lang="ko-KR" altLang="en-US">
                <a:solidFill>
                  <a:srgbClr val="1E2532"/>
                </a:solidFill>
                <a:latin typeface="맑은 고딕"/>
                <a:ea typeface="맑은 고딕"/>
                <a:cs typeface="맑은 고딕"/>
              </a:rPr>
              <a:t>기술범위: 평균 5.69 (표준편차 4.07, 범위 1–21) · 통합형 7.89 · 접합 단독형 4.16 · 공정 단독형 3.15</a:t>
            </a:r>
          </a:p>
          <a:p>
            <a:pPr algn="l" marL="180000" indent="-180000">
              <a:lnSpc>
                <a:spcPts val="1560"/>
              </a:lnSpc>
              <a:spcBef>
                <a:spcPts val="0"/>
              </a:spcBef>
              <a:spcAft>
                <a:spcPts val="0"/>
              </a:spcAft>
              <a:buClr>
                <a:srgbClr val="13294B"/>
              </a:buClr>
              <a:buSzPct val="70000"/>
              <a:buFont typeface="Arial"/>
              <a:buChar char="■"/>
            </a:pPr>
            <a:r>
              <a:rPr sz="1300" b="0" i="0" lang="ko-KR" altLang="en-US">
                <a:solidFill>
                  <a:srgbClr val="1E2532"/>
                </a:solidFill>
                <a:latin typeface="맑은 고딕"/>
                <a:ea typeface="맑은 고딕"/>
                <a:cs typeface="맑은 고딕"/>
              </a:rPr>
              <a:t>유형: 통합형 425 (45.8%) · 접합 단독형 338 (36.4%) · 공정 단독형 165 (17.8%) · 제조공정 기호 보유 590 (63.6%)</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400"/>
              </a:lnSpc>
              <a:spcBef>
                <a:spcPts val="0"/>
              </a:spcBef>
              <a:spcAft>
                <a:spcPts val="0"/>
              </a:spcAft>
              <a:buNone/>
            </a:pPr>
            <a:r>
              <a:rPr sz="1600" b="0" i="0" lang="ko-KR" altLang="en-US">
                <a:solidFill>
                  <a:srgbClr val="5B6475"/>
                </a:solidFill>
                <a:latin typeface="맑은 고딕"/>
                <a:ea typeface="맑은 고딕"/>
                <a:cs typeface="맑은 고딕"/>
              </a:rPr>
              <a:t>부록 3  </a:t>
            </a:r>
            <a:r>
              <a:rPr sz="2000" b="1" i="0" lang="ko-KR" altLang="en-US">
                <a:solidFill>
                  <a:srgbClr val="13294B"/>
                </a:solidFill>
                <a:latin typeface="맑은 고딕"/>
                <a:ea typeface="맑은 고딕"/>
                <a:cs typeface="맑은 고딕"/>
              </a:rPr>
              <a:t>기술 클러스터와 기술 네트워크</a:t>
            </a:r>
          </a:p>
        </p:txBody>
      </p:sp>
      <p:graphicFrame>
        <p:nvGraphicFramePr>
          <p:cNvPr id="3" name="Table 2"/>
          <p:cNvGraphicFramePr>
            <a:graphicFrameLocks noGrp="1"/>
          </p:cNvGraphicFramePr>
          <p:nvPr/>
        </p:nvGraphicFramePr>
        <p:xfrm>
          <a:off x="540000" y="954000"/>
          <a:ext cx="6372000" cy="4186800"/>
        </p:xfrm>
        <a:graphic>
          <a:graphicData uri="http://schemas.openxmlformats.org/drawingml/2006/table">
            <a:tbl>
              <a:tblPr firstRow="1">
                <a:tableStyleId>{2D5ABB26-0587-4C30-8999-92F81FD0307C}</a:tableStyleId>
              </a:tblPr>
              <a:tblGrid>
                <a:gridCol w="504000"/>
                <a:gridCol w="1188000"/>
                <a:gridCol w="3240000"/>
                <a:gridCol w="720000"/>
                <a:gridCol w="720000"/>
              </a:tblGrid>
              <a:tr h="306000">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순위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CPC 기호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공식 정의(요약)</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출원 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비중</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1" i="0" lang="ko-KR" altLang="en-US">
                          <a:solidFill>
                            <a:srgbClr val="13294B"/>
                          </a:solidFill>
                          <a:latin typeface="맑은 고딕"/>
                          <a:ea typeface="맑은 고딕"/>
                          <a:cs typeface="맑은 고딕"/>
                        </a:rPr>
                        <a:t>24/80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접합 패드를 이용한 연결 방법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529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57.0%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1" i="0" lang="ko-KR" altLang="en-US">
                          <a:solidFill>
                            <a:srgbClr val="13294B"/>
                          </a:solidFill>
                          <a:latin typeface="맑은 고딕"/>
                          <a:ea typeface="맑은 고딕"/>
                          <a:cs typeface="맑은 고딕"/>
                        </a:rPr>
                        <a:t>24/08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연결 후 개별 접합 패드의 구조</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513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55.3%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2224/80895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도전성 표면끼리의 직접 접합 (구리–구리)</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504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54.3%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2224/80896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절연성 표면끼리의 직접 접합 (산화막)</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488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52.6%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2224/08145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범프 없는 적층 칩 사이의 접합</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436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47.0%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25/50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소자 조립체의 다단계 제조공정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363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39.1%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1" i="0" lang="ko-KR" altLang="en-US">
                          <a:solidFill>
                            <a:srgbClr val="13294B"/>
                          </a:solidFill>
                          <a:latin typeface="맑은 고딕"/>
                          <a:ea typeface="맑은 고딕"/>
                          <a:cs typeface="맑은 고딕"/>
                        </a:rPr>
                        <a:t>24/05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연결 전 개별 접합 패드의 구조</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350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37.7%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25/0657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소자의 적층 배치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274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29.5%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2224/05647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구리를 주성분으로 하는 접합 패드</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239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25.8%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10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1" i="0" lang="ko-KR" altLang="en-US">
                          <a:solidFill>
                            <a:srgbClr val="13294B"/>
                          </a:solidFill>
                          <a:latin typeface="맑은 고딕"/>
                          <a:ea typeface="맑은 고딕"/>
                          <a:cs typeface="맑은 고딕"/>
                        </a:rPr>
                        <a:t>24/03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접합 패드의 제조 방법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222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23.9%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11</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2224/80357</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표면과 같은 높이의 접합 계면</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205</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22.1%</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r>
            </a:tbl>
          </a:graphicData>
        </a:graphic>
      </p:graphicFrame>
      <p:graphicFrame>
        <p:nvGraphicFramePr>
          <p:cNvPr id="4" name="Table 3"/>
          <p:cNvGraphicFramePr>
            <a:graphicFrameLocks noGrp="1"/>
          </p:cNvGraphicFramePr>
          <p:nvPr/>
        </p:nvGraphicFramePr>
        <p:xfrm>
          <a:off x="7164000" y="954000"/>
          <a:ext cx="4488120" cy="2070000"/>
        </p:xfrm>
        <a:graphic>
          <a:graphicData uri="http://schemas.openxmlformats.org/drawingml/2006/table">
            <a:tbl>
              <a:tblPr firstRow="1">
                <a:tableStyleId>{2D5ABB26-0587-4C30-8999-92F81FD0307C}</a:tableStyleId>
              </a:tblPr>
              <a:tblGrid>
                <a:gridCol w="3552120"/>
                <a:gridCol w="936000"/>
              </a:tblGrid>
              <a:tr h="306000">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기호 쌍 (상위 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출원 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52800">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2224/80895 – 2224/80896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460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52800">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24/08 – 24/80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439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52800">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24/80 – 2224/80895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434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52800">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24/08 – 2224/80895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420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52800">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24/80 – 2224/80896</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418</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r>
            </a:tbl>
          </a:graphicData>
        </a:graphic>
      </p:graphicFrame>
      <p:sp>
        <p:nvSpPr>
          <p:cNvPr id="5" name="TextBox 4"/>
          <p:cNvSpPr txBox="1"/>
          <p:nvPr/>
        </p:nvSpPr>
        <p:spPr>
          <a:xfrm>
            <a:off x="7164000" y="3204000"/>
            <a:ext cx="4488120" cy="2016000"/>
          </a:xfrm>
          <a:prstGeom prst="rect">
            <a:avLst/>
          </a:prstGeom>
          <a:noFill/>
        </p:spPr>
        <p:txBody>
          <a:bodyPr wrap="square" lIns="0" rIns="0" tIns="0" bIns="0" anchor="t">
            <a:noAutofit/>
          </a:bodyPr>
          <a:lstStyle/>
          <a:p>
            <a:pPr algn="l" marL="0" indent="0">
              <a:lnSpc>
                <a:spcPts val="1500"/>
              </a:lnSpc>
              <a:spcBef>
                <a:spcPts val="0"/>
              </a:spcBef>
              <a:spcAft>
                <a:spcPts val="500"/>
              </a:spcAft>
              <a:buNone/>
            </a:pPr>
            <a:r>
              <a:rPr sz="1250" b="1" i="0" lang="ko-KR" altLang="en-US">
                <a:solidFill>
                  <a:srgbClr val="13294B"/>
                </a:solidFill>
                <a:latin typeface="맑은 고딕"/>
                <a:ea typeface="맑은 고딕"/>
                <a:cs typeface="맑은 고딕"/>
              </a:rPr>
              <a:t>강조한 네 기호 = 회귀 자료의 핵심 기술</a:t>
            </a:r>
          </a:p>
          <a:p>
            <a:pPr algn="l" marL="180000" indent="-180000">
              <a:lnSpc>
                <a:spcPts val="1440"/>
              </a:lnSpc>
              <a:spcBef>
                <a:spcPts val="0"/>
              </a:spcBef>
              <a:spcAft>
                <a:spcPts val="400"/>
              </a:spcAft>
              <a:buClr>
                <a:srgbClr val="13294B"/>
              </a:buClr>
              <a:buSzPct val="70000"/>
              <a:buFont typeface="Arial"/>
              <a:buChar char="■"/>
            </a:pPr>
            <a:r>
              <a:rPr sz="1200" b="0" i="0" lang="ko-KR" altLang="en-US">
                <a:solidFill>
                  <a:srgbClr val="1E2532"/>
                </a:solidFill>
                <a:latin typeface="맑은 고딕"/>
                <a:ea typeface="맑은 고딕"/>
                <a:cs typeface="맑은 고딕"/>
              </a:rPr>
              <a:t>회귀 자료 네트워크의 연결 강도: 24/80 3,235 · 24/08 3,140 · 24/05 2,518 · 24/03 1,778 (상위 4개)</a:t>
            </a:r>
          </a:p>
          <a:p>
            <a:pPr algn="l" marL="180000" indent="-180000">
              <a:lnSpc>
                <a:spcPts val="1440"/>
              </a:lnSpc>
              <a:spcBef>
                <a:spcPts val="0"/>
              </a:spcBef>
              <a:spcAft>
                <a:spcPts val="400"/>
              </a:spcAft>
              <a:buClr>
                <a:srgbClr val="13294B"/>
              </a:buClr>
              <a:buSzPct val="70000"/>
              <a:buFont typeface="Arial"/>
              <a:buChar char="■"/>
            </a:pPr>
            <a:r>
              <a:rPr sz="1200" b="0" i="0" lang="ko-KR" altLang="en-US">
                <a:solidFill>
                  <a:srgbClr val="1E2532"/>
                </a:solidFill>
                <a:latin typeface="맑은 고딕"/>
                <a:ea typeface="맑은 고딕"/>
                <a:cs typeface="맑은 고딕"/>
              </a:rPr>
              <a:t>네 기호의 6개 쌍(186–439건)이 가장 강한 6개 연결</a:t>
            </a:r>
          </a:p>
          <a:p>
            <a:pPr algn="l" marL="180000" indent="-180000">
              <a:lnSpc>
                <a:spcPts val="1440"/>
              </a:lnSpc>
              <a:spcBef>
                <a:spcPts val="0"/>
              </a:spcBef>
              <a:spcAft>
                <a:spcPts val="0"/>
              </a:spcAft>
              <a:buClr>
                <a:srgbClr val="13294B"/>
              </a:buClr>
              <a:buSzPct val="70000"/>
              <a:buFont typeface="Arial"/>
              <a:buChar char="■"/>
            </a:pPr>
            <a:r>
              <a:rPr sz="1200" b="0" i="0" lang="ko-KR" altLang="en-US">
                <a:solidFill>
                  <a:srgbClr val="1E2532"/>
                </a:solidFill>
                <a:latin typeface="맑은 고딕"/>
                <a:ea typeface="맑은 고딕"/>
                <a:cs typeface="맑은 고딕"/>
              </a:rPr>
              <a:t>다섯째 24/83(층 형태 커넥터)은 164건으로 기준 미달</a:t>
            </a:r>
          </a:p>
        </p:txBody>
      </p:sp>
      <p:sp>
        <p:nvSpPr>
          <p:cNvPr id="6" name="TextBox 5"/>
          <p:cNvSpPr txBox="1"/>
          <p:nvPr/>
        </p:nvSpPr>
        <p:spPr>
          <a:xfrm>
            <a:off x="540000" y="5400000"/>
            <a:ext cx="6480000" cy="216000"/>
          </a:xfrm>
          <a:prstGeom prst="rect">
            <a:avLst/>
          </a:prstGeom>
          <a:noFill/>
        </p:spPr>
        <p:txBody>
          <a:bodyPr wrap="square" lIns="0" rIns="0" tIns="0" bIns="0" anchor="ctr">
            <a:noAutofit/>
          </a:bodyPr>
          <a:lstStyle/>
          <a:p>
            <a:pPr algn="l"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N = 928 · 기호 앞 H01L 생략 · 2224, 25 계열은 같은 출원의 전체 CPC를 별도 집계</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400"/>
              </a:lnSpc>
              <a:spcBef>
                <a:spcPts val="0"/>
              </a:spcBef>
              <a:spcAft>
                <a:spcPts val="0"/>
              </a:spcAft>
              <a:buNone/>
            </a:pPr>
            <a:r>
              <a:rPr sz="1600" b="0" i="0" lang="ko-KR" altLang="en-US">
                <a:solidFill>
                  <a:srgbClr val="5B6475"/>
                </a:solidFill>
                <a:latin typeface="맑은 고딕"/>
                <a:ea typeface="맑은 고딕"/>
                <a:cs typeface="맑은 고딕"/>
              </a:rPr>
              <a:t>부록 4  </a:t>
            </a:r>
            <a:r>
              <a:rPr sz="2000" b="1" i="0" lang="ko-KR" altLang="en-US">
                <a:solidFill>
                  <a:srgbClr val="13294B"/>
                </a:solidFill>
                <a:latin typeface="맑은 고딕"/>
                <a:ea typeface="맑은 고딕"/>
                <a:cs typeface="맑은 고딕"/>
              </a:rPr>
              <a:t>이항 · 다항 로짓 추정 결과</a:t>
            </a:r>
          </a:p>
        </p:txBody>
      </p:sp>
      <p:sp>
        <p:nvSpPr>
          <p:cNvPr id="3" name="TextBox 2"/>
          <p:cNvSpPr txBox="1"/>
          <p:nvPr/>
        </p:nvSpPr>
        <p:spPr>
          <a:xfrm>
            <a:off x="540000" y="936000"/>
            <a:ext cx="537606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제조공정 분류 여부의 이항 로짓 (종속변수 has_process)</a:t>
            </a:r>
          </a:p>
        </p:txBody>
      </p:sp>
      <p:graphicFrame>
        <p:nvGraphicFramePr>
          <p:cNvPr id="4" name="Table 3"/>
          <p:cNvGraphicFramePr>
            <a:graphicFrameLocks noGrp="1"/>
          </p:cNvGraphicFramePr>
          <p:nvPr/>
        </p:nvGraphicFramePr>
        <p:xfrm>
          <a:off x="540000" y="1260000"/>
          <a:ext cx="5376060" cy="1098000"/>
        </p:xfrm>
        <a:graphic>
          <a:graphicData uri="http://schemas.openxmlformats.org/drawingml/2006/table">
            <a:tbl>
              <a:tblPr firstRow="1">
                <a:tableStyleId>{2D5ABB26-0587-4C30-8999-92F81FD0307C}</a:tableStyleId>
              </a:tblPr>
              <a:tblGrid>
                <a:gridCol w="1548000"/>
                <a:gridCol w="1296000"/>
                <a:gridCol w="1296000"/>
                <a:gridCol w="1236060"/>
              </a:tblGrid>
              <a:tr h="342000">
                <a:tc>
                  <a:txBody>
                    <a:bodyPr wrap="square"/>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승산비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로그 계수 SE</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p</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78000">
                <a:tc>
                  <a:txBody>
                    <a:bodyPr wrap="square"/>
                    <a:lstStyle/>
                    <a:p>
                      <a:pPr algn="l" marL="0" indent="0">
                        <a:lnSpc>
                          <a:spcPts val="1560"/>
                        </a:lnSpc>
                        <a:spcBef>
                          <a:spcPts val="0"/>
                        </a:spcBef>
                        <a:spcAft>
                          <a:spcPts val="0"/>
                        </a:spcAft>
                        <a:buNone/>
                      </a:pPr>
                      <a:r>
                        <a:rPr sz="1300" b="1" i="0" lang="ko-KR" altLang="en-US">
                          <a:solidFill>
                            <a:srgbClr val="1E2532"/>
                          </a:solidFill>
                          <a:latin typeface="맑은 고딕"/>
                          <a:ea typeface="맑은 고딕"/>
                          <a:cs typeface="맑은 고딕"/>
                        </a:rPr>
                        <a:t>기술범위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60"/>
                        </a:lnSpc>
                        <a:spcBef>
                          <a:spcPts val="0"/>
                        </a:spcBef>
                        <a:spcAft>
                          <a:spcPts val="0"/>
                        </a:spcAft>
                        <a:buNone/>
                      </a:pPr>
                      <a:r>
                        <a:rPr sz="1300" b="1" i="0" lang="ko-KR" altLang="en-US">
                          <a:solidFill>
                            <a:srgbClr val="13294B"/>
                          </a:solidFill>
                          <a:latin typeface="맑은 고딕"/>
                          <a:ea typeface="맑은 고딕"/>
                          <a:cs typeface="맑은 고딕"/>
                        </a:rPr>
                        <a:t>1.267***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(0.027)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&lt;0.001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78000">
                <a:tc>
                  <a:txBody>
                    <a:bodyPr wrap="square"/>
                    <a:lstStyle/>
                    <a:p>
                      <a:pPr algn="l" marL="0" indent="0">
                        <a:lnSpc>
                          <a:spcPts val="1560"/>
                        </a:lnSpc>
                        <a:spcBef>
                          <a:spcPts val="0"/>
                        </a:spcBef>
                        <a:spcAft>
                          <a:spcPts val="0"/>
                        </a:spcAft>
                        <a:buNone/>
                      </a:pPr>
                      <a:r>
                        <a:rPr sz="1300" b="1" i="0" lang="ko-KR" altLang="en-US">
                          <a:solidFill>
                            <a:srgbClr val="1E2532"/>
                          </a:solidFill>
                          <a:latin typeface="맑은 고딕"/>
                          <a:ea typeface="맑은 고딕"/>
                          <a:cs typeface="맑은 고딕"/>
                        </a:rPr>
                        <a:t>출원연도(yc)</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0.946***</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(0.011)</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&lt;0.001</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r>
            </a:tbl>
          </a:graphicData>
        </a:graphic>
      </p:graphicFrame>
      <p:sp>
        <p:nvSpPr>
          <p:cNvPr id="5" name="TextBox 4"/>
          <p:cNvSpPr txBox="1"/>
          <p:nvPr/>
        </p:nvSpPr>
        <p:spPr>
          <a:xfrm>
            <a:off x="540000" y="2430000"/>
            <a:ext cx="5376060" cy="792000"/>
          </a:xfrm>
          <a:prstGeom prst="rect">
            <a:avLst/>
          </a:prstGeom>
          <a:noFill/>
        </p:spPr>
        <p:txBody>
          <a:bodyPr wrap="square" lIns="0" rIns="0" tIns="0" bIns="0" anchor="t">
            <a:noAutofit/>
          </a:bodyPr>
          <a:lstStyle/>
          <a:p>
            <a:pPr algn="l" marL="0" indent="0">
              <a:lnSpc>
                <a:spcPts val="1580"/>
              </a:lnSpc>
              <a:spcBef>
                <a:spcPts val="0"/>
              </a:spcBef>
              <a:spcAft>
                <a:spcPts val="0"/>
              </a:spcAft>
              <a:buNone/>
            </a:pPr>
            <a:r>
              <a:rPr sz="1200" b="0" i="0" lang="ko-KR" altLang="en-US">
                <a:solidFill>
                  <a:srgbClr val="5B6475"/>
                </a:solidFill>
                <a:latin typeface="맑은 고딕"/>
                <a:ea typeface="맑은 고딕"/>
                <a:cs typeface="맑은 고딕"/>
              </a:rPr>
              <a:t>N = 928 · 출원청 더미 7개 포함 · 로그우도 −547.6 · 우도비 χ²(9) = 122.0 (p &lt; 0.001) · McFadden 의사 R² = 0.100 · AIC 1,115.1 · AUC 0.707</a:t>
            </a:r>
          </a:p>
        </p:txBody>
      </p:sp>
      <p:sp>
        <p:nvSpPr>
          <p:cNvPr id="6" name="TextBox 5"/>
          <p:cNvSpPr txBox="1"/>
          <p:nvPr/>
        </p:nvSpPr>
        <p:spPr>
          <a:xfrm>
            <a:off x="6276060" y="936000"/>
            <a:ext cx="537606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공동분류 유형의 다항 로짓 (기준 = 접합 단독형)</a:t>
            </a:r>
          </a:p>
        </p:txBody>
      </p:sp>
      <p:graphicFrame>
        <p:nvGraphicFramePr>
          <p:cNvPr id="7" name="Table 6"/>
          <p:cNvGraphicFramePr>
            <a:graphicFrameLocks noGrp="1"/>
          </p:cNvGraphicFramePr>
          <p:nvPr/>
        </p:nvGraphicFramePr>
        <p:xfrm>
          <a:off x="6276060" y="1260000"/>
          <a:ext cx="5376060" cy="1224000"/>
        </p:xfrm>
        <a:graphic>
          <a:graphicData uri="http://schemas.openxmlformats.org/drawingml/2006/table">
            <a:tbl>
              <a:tblPr firstRow="1">
                <a:tableStyleId>{2D5ABB26-0587-4C30-8999-92F81FD0307C}</a:tableStyleId>
              </a:tblPr>
              <a:tblGrid>
                <a:gridCol w="1296000"/>
                <a:gridCol w="1044000"/>
                <a:gridCol w="864000"/>
                <a:gridCol w="1188000"/>
                <a:gridCol w="984060"/>
              </a:tblGrid>
              <a:tr h="468000">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통합형</a:t>
                      </a:r>
                    </a:p>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RRR</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SE</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공정 단독형</a:t>
                      </a:r>
                    </a:p>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RRR</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SE</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78000">
                <a:tc>
                  <a:txBody>
                    <a:bodyPr wrap="square"/>
                    <a:lstStyle/>
                    <a:p>
                      <a:pPr algn="l" marL="0" indent="0">
                        <a:lnSpc>
                          <a:spcPts val="1560"/>
                        </a:lnSpc>
                        <a:spcBef>
                          <a:spcPts val="0"/>
                        </a:spcBef>
                        <a:spcAft>
                          <a:spcPts val="0"/>
                        </a:spcAft>
                        <a:buNone/>
                      </a:pPr>
                      <a:r>
                        <a:rPr sz="1300" b="1" i="0" lang="ko-KR" altLang="en-US">
                          <a:solidFill>
                            <a:srgbClr val="1E2532"/>
                          </a:solidFill>
                          <a:latin typeface="맑은 고딕"/>
                          <a:ea typeface="맑은 고딕"/>
                          <a:cs typeface="맑은 고딕"/>
                        </a:rPr>
                        <a:t>기술범위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60"/>
                        </a:lnSpc>
                        <a:spcBef>
                          <a:spcPts val="0"/>
                        </a:spcBef>
                        <a:spcAft>
                          <a:spcPts val="0"/>
                        </a:spcAft>
                        <a:buNone/>
                      </a:pPr>
                      <a:r>
                        <a:rPr sz="1300" b="1" i="0" lang="ko-KR" altLang="en-US">
                          <a:solidFill>
                            <a:srgbClr val="13294B"/>
                          </a:solidFill>
                          <a:latin typeface="맑은 고딕"/>
                          <a:ea typeface="맑은 고딕"/>
                          <a:cs typeface="맑은 고딕"/>
                        </a:rPr>
                        <a:t>1.403***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(0.031)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0.905**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(0.048)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78000">
                <a:tc>
                  <a:txBody>
                    <a:bodyPr wrap="square"/>
                    <a:lstStyle/>
                    <a:p>
                      <a:pPr algn="l" marL="0" indent="0">
                        <a:lnSpc>
                          <a:spcPts val="1560"/>
                        </a:lnSpc>
                        <a:spcBef>
                          <a:spcPts val="0"/>
                        </a:spcBef>
                        <a:spcAft>
                          <a:spcPts val="0"/>
                        </a:spcAft>
                        <a:buNone/>
                      </a:pPr>
                      <a:r>
                        <a:rPr sz="1300" b="1" i="0" lang="ko-KR" altLang="en-US">
                          <a:solidFill>
                            <a:srgbClr val="1E2532"/>
                          </a:solidFill>
                          <a:latin typeface="맑은 고딕"/>
                          <a:ea typeface="맑은 고딕"/>
                          <a:cs typeface="맑은 고딕"/>
                        </a:rPr>
                        <a:t>출원연도(yc)</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0.993</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(0.015)</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60"/>
                        </a:lnSpc>
                        <a:spcBef>
                          <a:spcPts val="0"/>
                        </a:spcBef>
                        <a:spcAft>
                          <a:spcPts val="0"/>
                        </a:spcAft>
                        <a:buNone/>
                      </a:pPr>
                      <a:r>
                        <a:rPr sz="1300" b="1" i="0" lang="ko-KR" altLang="en-US">
                          <a:solidFill>
                            <a:srgbClr val="13294B"/>
                          </a:solidFill>
                          <a:latin typeface="맑은 고딕"/>
                          <a:ea typeface="맑은 고딕"/>
                          <a:cs typeface="맑은 고딕"/>
                        </a:rPr>
                        <a:t>0.913***</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0C2"/>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(0.015)</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r>
            </a:tbl>
          </a:graphicData>
        </a:graphic>
      </p:graphicFrame>
      <p:sp>
        <p:nvSpPr>
          <p:cNvPr id="8" name="TextBox 7"/>
          <p:cNvSpPr txBox="1"/>
          <p:nvPr/>
        </p:nvSpPr>
        <p:spPr>
          <a:xfrm>
            <a:off x="6276060" y="2430000"/>
            <a:ext cx="5376060" cy="792000"/>
          </a:xfrm>
          <a:prstGeom prst="rect">
            <a:avLst/>
          </a:prstGeom>
          <a:noFill/>
        </p:spPr>
        <p:txBody>
          <a:bodyPr wrap="square" lIns="0" rIns="0" tIns="0" bIns="0" anchor="t">
            <a:noAutofit/>
          </a:bodyPr>
          <a:lstStyle/>
          <a:p>
            <a:pPr algn="l" marL="0" indent="0">
              <a:lnSpc>
                <a:spcPts val="1580"/>
              </a:lnSpc>
              <a:spcBef>
                <a:spcPts val="0"/>
              </a:spcBef>
              <a:spcAft>
                <a:spcPts val="0"/>
              </a:spcAft>
              <a:buNone/>
            </a:pPr>
            <a:r>
              <a:rPr sz="1200" b="0" i="0" lang="ko-KR" altLang="en-US">
                <a:solidFill>
                  <a:srgbClr val="5B6475"/>
                </a:solidFill>
                <a:latin typeface="맑은 고딕"/>
                <a:ea typeface="맑은 고딕"/>
                <a:cs typeface="맑은 고딕"/>
              </a:rPr>
              <a:t>N = 928 · 출원청 더미 7개 포함 · 로그우도 −774.5 · 우도비 χ²(18) = 367.4 (p &lt; 0.001) · McFadden 의사 R² = 0.192 · AIC 1,589.0 · p: 0.654(통합형 연도), 0.039(공정 단독형 범위)</a:t>
            </a:r>
          </a:p>
        </p:txBody>
      </p:sp>
      <p:sp>
        <p:nvSpPr>
          <p:cNvPr id="9" name="Rounded Rectangle 8"/>
          <p:cNvSpPr/>
          <p:nvPr/>
        </p:nvSpPr>
        <p:spPr>
          <a:xfrm>
            <a:off x="540000" y="3384000"/>
            <a:ext cx="11112120" cy="2268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0" name="TextBox 9"/>
          <p:cNvSpPr txBox="1"/>
          <p:nvPr/>
        </p:nvSpPr>
        <p:spPr>
          <a:xfrm>
            <a:off x="756000" y="3456000"/>
            <a:ext cx="1068012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해석 원칙</a:t>
            </a:r>
          </a:p>
        </p:txBody>
      </p:sp>
      <p:sp>
        <p:nvSpPr>
          <p:cNvPr id="11" name="TextBox 10"/>
          <p:cNvSpPr txBox="1"/>
          <p:nvPr/>
        </p:nvSpPr>
        <p:spPr>
          <a:xfrm>
            <a:off x="756000" y="3780000"/>
            <a:ext cx="10680120" cy="1800000"/>
          </a:xfrm>
          <a:prstGeom prst="rect">
            <a:avLst/>
          </a:prstGeom>
          <a:noFill/>
        </p:spPr>
        <p:txBody>
          <a:bodyPr wrap="square" lIns="0" rIns="0" tIns="0" bIns="0" anchor="t">
            <a:noAutofit/>
          </a:bodyPr>
          <a:lstStyle/>
          <a:p>
            <a:pPr algn="l" marL="180000" indent="-180000">
              <a:lnSpc>
                <a:spcPts val="1560"/>
              </a:lnSpc>
              <a:spcBef>
                <a:spcPts val="0"/>
              </a:spcBef>
              <a:spcAft>
                <a:spcPts val="500"/>
              </a:spcAft>
              <a:buClr>
                <a:srgbClr val="13294B"/>
              </a:buClr>
              <a:buSzPct val="70000"/>
              <a:buFont typeface="Arial"/>
              <a:buChar char="■"/>
            </a:pPr>
            <a:r>
              <a:rPr sz="1300" b="0" i="0" lang="ko-KR" altLang="en-US">
                <a:solidFill>
                  <a:srgbClr val="1E2532"/>
                </a:solidFill>
                <a:latin typeface="맑은 고딕"/>
                <a:ea typeface="맑은 고딕"/>
                <a:cs typeface="맑은 고딕"/>
              </a:rPr>
              <a:t>OR은 승산의 배율, RRR은 기준 범주 대비 상대위험의 배율: 확률이 같은 비율로 변한다는 뜻이 아님 → 평균 예측확률을 함께 제시</a:t>
            </a:r>
          </a:p>
          <a:p>
            <a:pPr algn="l" marL="180000" indent="-180000">
              <a:lnSpc>
                <a:spcPts val="1560"/>
              </a:lnSpc>
              <a:spcBef>
                <a:spcPts val="0"/>
              </a:spcBef>
              <a:spcAft>
                <a:spcPts val="500"/>
              </a:spcAft>
              <a:buClr>
                <a:srgbClr val="13294B"/>
              </a:buClr>
              <a:buSzPct val="70000"/>
              <a:buFont typeface="Arial"/>
              <a:buChar char="■"/>
            </a:pPr>
            <a:r>
              <a:rPr sz="1300" b="0" i="0" lang="ko-KR" altLang="en-US">
                <a:solidFill>
                  <a:srgbClr val="1E2532"/>
                </a:solidFill>
                <a:latin typeface="맑은 고딕"/>
                <a:ea typeface="맑은 고딕"/>
                <a:cs typeface="맑은 고딕"/>
              </a:rPr>
              <a:t>세 범주는 크기 순서가 아닌 서로 다른 CPC 구성 → 순서형이 아닌 다항 로짓 (McFadden, 1974)</a:t>
            </a:r>
          </a:p>
          <a:p>
            <a:pPr algn="l" marL="180000" indent="-180000">
              <a:lnSpc>
                <a:spcPts val="1560"/>
              </a:lnSpc>
              <a:spcBef>
                <a:spcPts val="0"/>
              </a:spcBef>
              <a:spcAft>
                <a:spcPts val="500"/>
              </a:spcAft>
              <a:buClr>
                <a:srgbClr val="13294B"/>
              </a:buClr>
              <a:buSzPct val="70000"/>
              <a:buFont typeface="Arial"/>
              <a:buChar char="■"/>
            </a:pPr>
            <a:r>
              <a:rPr sz="1300" b="0" i="0" lang="ko-KR" altLang="en-US">
                <a:solidFill>
                  <a:srgbClr val="1E2532"/>
                </a:solidFill>
                <a:latin typeface="맑은 고딕"/>
                <a:ea typeface="맑은 고딕"/>
                <a:cs typeface="맑은 고딕"/>
              </a:rPr>
              <a:t>5% 유의수준을 쓰되 단일 p값이 아니라 대안 표본 · 정의 · 군집 표준오차에서의 방향 · 크기 · 유의성의 일관성으로 판단</a:t>
            </a:r>
          </a:p>
          <a:p>
            <a:pPr algn="l" marL="180000" indent="-180000">
              <a:lnSpc>
                <a:spcPts val="1560"/>
              </a:lnSpc>
              <a:spcBef>
                <a:spcPts val="0"/>
              </a:spcBef>
              <a:spcAft>
                <a:spcPts val="0"/>
              </a:spcAft>
              <a:buClr>
                <a:srgbClr val="13294B"/>
              </a:buClr>
              <a:buSzPct val="70000"/>
              <a:buFont typeface="Arial"/>
              <a:buChar char="■"/>
            </a:pPr>
            <a:r>
              <a:rPr sz="1300" b="0" i="0" lang="ko-KR" altLang="en-US">
                <a:solidFill>
                  <a:srgbClr val="1E2532"/>
                </a:solidFill>
                <a:latin typeface="맑은 고딕"/>
                <a:ea typeface="맑은 고딕"/>
                <a:cs typeface="맑은 고딕"/>
              </a:rPr>
              <a:t>모든 계수는 인과효과가 아닌, 관찰된 변수를 통제한 조건부 연관</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400"/>
              </a:lnSpc>
              <a:spcBef>
                <a:spcPts val="0"/>
              </a:spcBef>
              <a:spcAft>
                <a:spcPts val="0"/>
              </a:spcAft>
              <a:buNone/>
            </a:pPr>
            <a:r>
              <a:rPr sz="1600" b="0" i="0" lang="ko-KR" altLang="en-US">
                <a:solidFill>
                  <a:srgbClr val="5B6475"/>
                </a:solidFill>
                <a:latin typeface="맑은 고딕"/>
                <a:ea typeface="맑은 고딕"/>
                <a:cs typeface="맑은 고딕"/>
              </a:rPr>
              <a:t>부록 5  </a:t>
            </a:r>
            <a:r>
              <a:rPr sz="2000" b="1" i="0" lang="ko-KR" altLang="en-US">
                <a:solidFill>
                  <a:srgbClr val="13294B"/>
                </a:solidFill>
                <a:latin typeface="맑은 고딕"/>
                <a:ea typeface="맑은 고딕"/>
                <a:cs typeface="맑은 고딕"/>
              </a:rPr>
              <a:t>핵심 기술 모형의 세부 결과</a:t>
            </a:r>
          </a:p>
        </p:txBody>
      </p:sp>
      <p:graphicFrame>
        <p:nvGraphicFramePr>
          <p:cNvPr id="3" name="Table 2"/>
          <p:cNvGraphicFramePr>
            <a:graphicFrameLocks noGrp="1"/>
          </p:cNvGraphicFramePr>
          <p:nvPr/>
        </p:nvGraphicFramePr>
        <p:xfrm>
          <a:off x="540000" y="954000"/>
          <a:ext cx="11112120" cy="1674000"/>
        </p:xfrm>
        <a:graphic>
          <a:graphicData uri="http://schemas.openxmlformats.org/drawingml/2006/table">
            <a:tbl>
              <a:tblPr firstRow="1">
                <a:tableStyleId>{2D5ABB26-0587-4C30-8999-92F81FD0307C}</a:tableStyleId>
              </a:tblPr>
              <a:tblGrid>
                <a:gridCol w="1224000"/>
                <a:gridCol w="1656000"/>
                <a:gridCol w="1656000"/>
                <a:gridCol w="1188000"/>
                <a:gridCol w="1656000"/>
                <a:gridCol w="936000"/>
                <a:gridCol w="2796120"/>
              </a:tblGrid>
              <a:tr h="486000">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출원 시기</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핵심 기술 보유</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통합형/N</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핵심 기술 없음</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통합형/N</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승산비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95% CI</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p</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2014년 이전</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대비 배수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96000">
                <a:tc>
                  <a:txBody>
                    <a:bodyPr wrap="square"/>
                    <a:lstStyle/>
                    <a:p>
                      <a:pPr algn="ctr" marL="0" indent="0">
                        <a:lnSpc>
                          <a:spcPts val="1500"/>
                        </a:lnSpc>
                        <a:spcBef>
                          <a:spcPts val="0"/>
                        </a:spcBef>
                        <a:spcAft>
                          <a:spcPts val="0"/>
                        </a:spcAft>
                        <a:buNone/>
                      </a:pPr>
                      <a:r>
                        <a:rPr sz="1250" b="1" i="0" lang="ko-KR" altLang="en-US">
                          <a:solidFill>
                            <a:srgbClr val="1E2532"/>
                          </a:solidFill>
                          <a:latin typeface="맑은 고딕"/>
                          <a:ea typeface="맑은 고딕"/>
                          <a:cs typeface="맑은 고딕"/>
                        </a:rPr>
                        <a:t>–2014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43/54 (79.6%)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13/47 (27.7%)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11.071***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4.211–29.107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&lt;0.001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96000">
                <a:tc>
                  <a:txBody>
                    <a:bodyPr wrap="square"/>
                    <a:lstStyle/>
                    <a:p>
                      <a:pPr algn="ctr" marL="0" indent="0">
                        <a:lnSpc>
                          <a:spcPts val="1500"/>
                        </a:lnSpc>
                        <a:spcBef>
                          <a:spcPts val="0"/>
                        </a:spcBef>
                        <a:spcAft>
                          <a:spcPts val="0"/>
                        </a:spcAft>
                        <a:buNone/>
                      </a:pPr>
                      <a:r>
                        <a:rPr sz="1250" b="1" i="0" lang="ko-KR" altLang="en-US">
                          <a:solidFill>
                            <a:srgbClr val="1E2532"/>
                          </a:solidFill>
                          <a:latin typeface="맑은 고딕"/>
                          <a:ea typeface="맑은 고딕"/>
                          <a:cs typeface="맑은 고딕"/>
                        </a:rPr>
                        <a:t>2015–2019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108/140 (77.1%)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22/38 (57.9%)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2.452**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1.158–5.194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0.019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0.221 (p = 0.016)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96000">
                <a:tc>
                  <a:txBody>
                    <a:bodyPr wrap="square"/>
                    <a:lstStyle/>
                    <a:p>
                      <a:pPr algn="ctr" marL="0" indent="0">
                        <a:lnSpc>
                          <a:spcPts val="1500"/>
                        </a:lnSpc>
                        <a:spcBef>
                          <a:spcPts val="0"/>
                        </a:spcBef>
                        <a:spcAft>
                          <a:spcPts val="0"/>
                        </a:spcAft>
                        <a:buNone/>
                      </a:pPr>
                      <a:r>
                        <a:rPr sz="1250" b="1" i="0" lang="ko-KR" altLang="en-US">
                          <a:solidFill>
                            <a:srgbClr val="1E2532"/>
                          </a:solidFill>
                          <a:latin typeface="맑은 고딕"/>
                          <a:ea typeface="맑은 고딕"/>
                          <a:cs typeface="맑은 고딕"/>
                        </a:rPr>
                        <a:t>2020–2024</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206/426 (48.4%)</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33/58 (56.9%)</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0.658</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0.374–1.160</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0.148</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0.059 (p &lt; 0.001)</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0C2"/>
                    </a:solidFill>
                  </a:tcPr>
                </a:tc>
              </a:tr>
            </a:tbl>
          </a:graphicData>
        </a:graphic>
      </p:graphicFrame>
      <p:sp>
        <p:nvSpPr>
          <p:cNvPr id="4" name="TextBox 3"/>
          <p:cNvSpPr txBox="1"/>
          <p:nvPr/>
        </p:nvSpPr>
        <p:spPr>
          <a:xfrm>
            <a:off x="540000" y="2700000"/>
            <a:ext cx="11112120" cy="252000"/>
          </a:xfrm>
          <a:prstGeom prst="rect">
            <a:avLst/>
          </a:prstGeom>
          <a:noFill/>
        </p:spPr>
        <p:txBody>
          <a:bodyPr wrap="square" lIns="0" rIns="0" tIns="0" bIns="0" anchor="ctr">
            <a:noAutofit/>
          </a:bodyPr>
          <a:lstStyle/>
          <a:p>
            <a:pPr algn="l"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N = 763 (H01L24 보유) · 출원청 통제 · 이분산 강건 표준오차 · 결합 Wald χ²(2) = 26.43 (p &lt; 0.001) · McFadden 의사 R² = 0.069</a:t>
            </a:r>
          </a:p>
        </p:txBody>
      </p:sp>
      <p:sp>
        <p:nvSpPr>
          <p:cNvPr id="5" name="Rounded Rectangle 4"/>
          <p:cNvSpPr/>
          <p:nvPr/>
        </p:nvSpPr>
        <p:spPr>
          <a:xfrm>
            <a:off x="540000" y="3096000"/>
            <a:ext cx="5412060" cy="2664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6" name="TextBox 5"/>
          <p:cNvSpPr txBox="1"/>
          <p:nvPr/>
        </p:nvSpPr>
        <p:spPr>
          <a:xfrm>
            <a:off x="720000" y="3168000"/>
            <a:ext cx="505206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변화는 핵심 기술 보유 출원에서</a:t>
            </a:r>
          </a:p>
        </p:txBody>
      </p:sp>
      <p:sp>
        <p:nvSpPr>
          <p:cNvPr id="7" name="TextBox 6"/>
          <p:cNvSpPr txBox="1"/>
          <p:nvPr/>
        </p:nvSpPr>
        <p:spPr>
          <a:xfrm>
            <a:off x="720000" y="3528000"/>
            <a:ext cx="5052060" cy="2160000"/>
          </a:xfrm>
          <a:prstGeom prst="rect">
            <a:avLst/>
          </a:prstGeom>
          <a:noFill/>
        </p:spPr>
        <p:txBody>
          <a:bodyPr wrap="square" lIns="0" rIns="0" tIns="0" bIns="0" anchor="t">
            <a:noAutofit/>
          </a:bodyPr>
          <a:lstStyle/>
          <a:p>
            <a:pPr algn="l" marL="180000" indent="-180000">
              <a:lnSpc>
                <a:spcPts val="1720"/>
              </a:lnSpc>
              <a:spcBef>
                <a:spcPts val="0"/>
              </a:spcBef>
              <a:spcAft>
                <a:spcPts val="800"/>
              </a:spcAft>
              <a:buClr>
                <a:srgbClr val="13294B"/>
              </a:buClr>
              <a:buSzPct val="70000"/>
              <a:buFont typeface="Arial"/>
              <a:buChar char="■"/>
            </a:pPr>
            <a:r>
              <a:rPr sz="1300" b="0" i="0" lang="ko-KR" altLang="en-US">
                <a:solidFill>
                  <a:srgbClr val="1E2532"/>
                </a:solidFill>
                <a:latin typeface="맑은 고딕"/>
                <a:ea typeface="맑은 고딕"/>
                <a:cs typeface="맑은 고딕"/>
              </a:rPr>
              <a:t>핵심 기술 보유: 통합형 79.6% → 77.1% → 48.4%</a:t>
            </a:r>
          </a:p>
          <a:p>
            <a:pPr algn="l" marL="180000" indent="-180000">
              <a:lnSpc>
                <a:spcPts val="1720"/>
              </a:lnSpc>
              <a:spcBef>
                <a:spcPts val="0"/>
              </a:spcBef>
              <a:spcAft>
                <a:spcPts val="800"/>
              </a:spcAft>
              <a:buClr>
                <a:srgbClr val="13294B"/>
              </a:buClr>
              <a:buSzPct val="70000"/>
              <a:buFont typeface="Arial"/>
              <a:buChar char="■"/>
            </a:pPr>
            <a:r>
              <a:rPr sz="1300" b="0" i="0" lang="ko-KR" altLang="en-US">
                <a:solidFill>
                  <a:srgbClr val="1E2532"/>
                </a:solidFill>
                <a:latin typeface="맑은 고딕"/>
                <a:ea typeface="맑은 고딕"/>
                <a:cs typeface="맑은 고딕"/>
              </a:rPr>
              <a:t>핵심 기술 없음: 통합형 27.7% → 57.9% → 56.9% (오히려 상승)</a:t>
            </a:r>
          </a:p>
          <a:p>
            <a:pPr algn="l" marL="180000" indent="-180000">
              <a:lnSpc>
                <a:spcPts val="1720"/>
              </a:lnSpc>
              <a:spcBef>
                <a:spcPts val="0"/>
              </a:spcBef>
              <a:spcAft>
                <a:spcPts val="800"/>
              </a:spcAft>
              <a:buClr>
                <a:srgbClr val="13294B"/>
              </a:buClr>
              <a:buSzPct val="70000"/>
              <a:buFont typeface="Arial"/>
              <a:buChar char="■"/>
            </a:pPr>
            <a:r>
              <a:rPr sz="1300" b="0" i="0" lang="ko-KR" altLang="en-US">
                <a:solidFill>
                  <a:srgbClr val="1E2532"/>
                </a:solidFill>
                <a:latin typeface="맑은 고딕"/>
                <a:ea typeface="맑은 고딕"/>
                <a:cs typeface="맑은 고딕"/>
              </a:rPr>
              <a:t>접합 출원 중 핵심 기술 비중 53.5% → 78.7% → 88.0%</a:t>
            </a:r>
          </a:p>
        </p:txBody>
      </p:sp>
      <p:sp>
        <p:nvSpPr>
          <p:cNvPr id="8" name="Rounded Rectangle 7"/>
          <p:cNvSpPr/>
          <p:nvPr/>
        </p:nvSpPr>
        <p:spPr>
          <a:xfrm>
            <a:off x="6240060" y="3096000"/>
            <a:ext cx="5412060" cy="2664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9" name="TextBox 8"/>
          <p:cNvSpPr txBox="1"/>
          <p:nvPr/>
        </p:nvSpPr>
        <p:spPr>
          <a:xfrm>
            <a:off x="6420060" y="3168000"/>
            <a:ext cx="505206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추정식</a:t>
            </a:r>
          </a:p>
        </p:txBody>
      </p:sp>
      <p:sp>
        <p:nvSpPr>
          <p:cNvPr id="10" name="TextBox 9"/>
          <p:cNvSpPr txBox="1"/>
          <p:nvPr/>
        </p:nvSpPr>
        <p:spPr>
          <a:xfrm>
            <a:off x="6420060" y="3528000"/>
            <a:ext cx="5052060" cy="2160000"/>
          </a:xfrm>
          <a:prstGeom prst="rect">
            <a:avLst/>
          </a:prstGeom>
          <a:noFill/>
        </p:spPr>
        <p:txBody>
          <a:bodyPr wrap="square" lIns="0" rIns="0" tIns="0" bIns="0" anchor="t">
            <a:noAutofit/>
          </a:bodyPr>
          <a:lstStyle/>
          <a:p>
            <a:pPr algn="l" marL="180000" indent="-180000">
              <a:lnSpc>
                <a:spcPts val="1720"/>
              </a:lnSpc>
              <a:spcBef>
                <a:spcPts val="0"/>
              </a:spcBef>
              <a:spcAft>
                <a:spcPts val="800"/>
              </a:spcAft>
              <a:buClr>
                <a:srgbClr val="13294B"/>
              </a:buClr>
              <a:buSzPct val="70000"/>
              <a:buFont typeface="Arial"/>
              <a:buChar char="■"/>
            </a:pPr>
            <a:r>
              <a:rPr sz="1300" b="0" i="0" lang="ko-KR" altLang="en-US">
                <a:solidFill>
                  <a:srgbClr val="1E2532"/>
                </a:solidFill>
                <a:latin typeface="맑은 고딕"/>
                <a:ea typeface="맑은 고딕"/>
                <a:cs typeface="맑은 고딕"/>
              </a:rPr>
              <a:t>log[P/(1 − P)] = β₀ + β₁·core + Σδₜ·periodₜ + Σθₜ·(core × periodₜ) + Σγₖ·ccodeₖ</a:t>
            </a:r>
          </a:p>
          <a:p>
            <a:pPr algn="l" marL="180000" indent="-180000">
              <a:lnSpc>
                <a:spcPts val="1720"/>
              </a:lnSpc>
              <a:spcBef>
                <a:spcPts val="0"/>
              </a:spcBef>
              <a:spcAft>
                <a:spcPts val="800"/>
              </a:spcAft>
              <a:buClr>
                <a:srgbClr val="13294B"/>
              </a:buClr>
              <a:buSzPct val="70000"/>
              <a:buFont typeface="Arial"/>
              <a:buChar char="■"/>
            </a:pPr>
            <a:r>
              <a:rPr sz="1300" b="0" i="0" lang="ko-KR" altLang="en-US">
                <a:solidFill>
                  <a:srgbClr val="1E2532"/>
                </a:solidFill>
                <a:latin typeface="맑은 고딕"/>
                <a:ea typeface="맑은 고딕"/>
                <a:cs typeface="맑은 고딕"/>
              </a:rPr>
              <a:t>시기별 승산비 = exp(β₁ + θₜ), 2014년 이전 대비 배수 = exp(θₜ)</a:t>
            </a:r>
          </a:p>
          <a:p>
            <a:pPr algn="l" marL="180000" indent="-180000">
              <a:lnSpc>
                <a:spcPts val="1720"/>
              </a:lnSpc>
              <a:spcBef>
                <a:spcPts val="0"/>
              </a:spcBef>
              <a:spcAft>
                <a:spcPts val="800"/>
              </a:spcAft>
              <a:buClr>
                <a:srgbClr val="13294B"/>
              </a:buClr>
              <a:buSzPct val="70000"/>
              <a:buFont typeface="Arial"/>
              <a:buChar char="■"/>
            </a:pPr>
            <a:r>
              <a:rPr sz="1300" b="0" i="0" lang="ko-KR" altLang="en-US">
                <a:solidFill>
                  <a:srgbClr val="1E2532"/>
                </a:solidFill>
                <a:latin typeface="맑은 고딕"/>
                <a:ea typeface="맑은 고딕"/>
                <a:cs typeface="맑은 고딕"/>
              </a:rPr>
              <a:t>형성기의 해당 출원 43건은 소수의 동일 제목에 집중 → 대표 기호 제시하지 않음</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400"/>
              </a:lnSpc>
              <a:spcBef>
                <a:spcPts val="0"/>
              </a:spcBef>
              <a:spcAft>
                <a:spcPts val="0"/>
              </a:spcAft>
              <a:buNone/>
            </a:pPr>
            <a:r>
              <a:rPr sz="1600" b="0" i="0" lang="ko-KR" altLang="en-US">
                <a:solidFill>
                  <a:srgbClr val="5B6475"/>
                </a:solidFill>
                <a:latin typeface="맑은 고딕"/>
                <a:ea typeface="맑은 고딕"/>
                <a:cs typeface="맑은 고딕"/>
              </a:rPr>
              <a:t>부록 6  </a:t>
            </a:r>
            <a:r>
              <a:rPr sz="2000" b="1" i="0" lang="ko-KR" altLang="en-US">
                <a:solidFill>
                  <a:srgbClr val="13294B"/>
                </a:solidFill>
                <a:latin typeface="맑은 고딕"/>
                <a:ea typeface="맑은 고딕"/>
                <a:cs typeface="맑은 고딕"/>
              </a:rPr>
              <a:t>강건성: 다항 로짓 재추정</a:t>
            </a:r>
          </a:p>
        </p:txBody>
      </p:sp>
      <p:graphicFrame>
        <p:nvGraphicFramePr>
          <p:cNvPr id="3" name="Table 2"/>
          <p:cNvGraphicFramePr>
            <a:graphicFrameLocks noGrp="1"/>
          </p:cNvGraphicFramePr>
          <p:nvPr/>
        </p:nvGraphicFramePr>
        <p:xfrm>
          <a:off x="540000" y="954000"/>
          <a:ext cx="8352000" cy="2545200"/>
        </p:xfrm>
        <a:graphic>
          <a:graphicData uri="http://schemas.openxmlformats.org/drawingml/2006/table">
            <a:tbl>
              <a:tblPr firstRow="1">
                <a:tableStyleId>{2D5ABB26-0587-4C30-8999-92F81FD0307C}</a:tableStyleId>
              </a:tblPr>
              <a:tblGrid>
                <a:gridCol w="3960000"/>
                <a:gridCol w="864000"/>
                <a:gridCol w="1584000"/>
                <a:gridCol w="1944000"/>
              </a:tblGrid>
              <a:tr h="342000">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표본 · 변수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N</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범위 → 통합형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연도 → 공정 단독형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기준</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928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1.403***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0.913***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기준 + 동일 제목 군집 표준오차</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928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1.403***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0.913***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동일 제목 중복 제거 (제목당 1건)</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473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1.295***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0.935***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좁은 제조공정 정의 (패키징 단계 공정 제외)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908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1.352***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0.898***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무관 용법 68건 제외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860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1.384***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0.820***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hybrid bonding 표본 (제목 기준)</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467</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1.485***</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00"/>
                        </a:lnSpc>
                        <a:spcBef>
                          <a:spcPts val="0"/>
                        </a:spcBef>
                        <a:spcAft>
                          <a:spcPts val="0"/>
                        </a:spcAft>
                        <a:buNone/>
                      </a:pPr>
                      <a:r>
                        <a:rPr sz="1250" b="1" i="0" lang="ko-KR" altLang="en-US">
                          <a:solidFill>
                            <a:srgbClr val="9B2C1F"/>
                          </a:solidFill>
                          <a:latin typeface="맑은 고딕"/>
                          <a:ea typeface="맑은 고딕"/>
                          <a:cs typeface="맑은 고딕"/>
                        </a:rPr>
                        <a:t>1.029</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BE3E0"/>
                    </a:solidFill>
                  </a:tcPr>
                </a:tc>
              </a:tr>
            </a:tbl>
          </a:graphicData>
        </a:graphic>
      </p:graphicFrame>
      <p:sp>
        <p:nvSpPr>
          <p:cNvPr id="4" name="TextBox 3"/>
          <p:cNvSpPr txBox="1"/>
          <p:nvPr/>
        </p:nvSpPr>
        <p:spPr>
          <a:xfrm>
            <a:off x="9180000" y="954000"/>
            <a:ext cx="2472120" cy="3240000"/>
          </a:xfrm>
          <a:prstGeom prst="rect">
            <a:avLst/>
          </a:prstGeom>
          <a:noFill/>
        </p:spPr>
        <p:txBody>
          <a:bodyPr wrap="square" lIns="0" rIns="0" tIns="0" bIns="0" anchor="t">
            <a:noAutofit/>
          </a:bodyPr>
          <a:lstStyle/>
          <a:p>
            <a:pPr algn="l" marL="180000" indent="-180000">
              <a:lnSpc>
                <a:spcPts val="1650"/>
              </a:lnSpc>
              <a:spcBef>
                <a:spcPts val="0"/>
              </a:spcBef>
              <a:spcAft>
                <a:spcPts val="600"/>
              </a:spcAft>
              <a:buClr>
                <a:srgbClr val="13294B"/>
              </a:buClr>
              <a:buSzPct val="70000"/>
              <a:buFont typeface="Arial"/>
              <a:buChar char="■"/>
            </a:pPr>
            <a:r>
              <a:rPr sz="1250" b="0" i="0" lang="ko-KR" altLang="en-US">
                <a:solidFill>
                  <a:srgbClr val="1E2532"/>
                </a:solidFill>
                <a:latin typeface="맑은 고딕"/>
                <a:ea typeface="맑은 고딕"/>
                <a:cs typeface="맑은 고딕"/>
              </a:rPr>
              <a:t>군집 표준오차: 범위 → 공정 단독형만 유의성 상실 (RRR 0.905, p = 0.29)</a:t>
            </a:r>
          </a:p>
          <a:p>
            <a:pPr algn="l" marL="180000" indent="-180000">
              <a:lnSpc>
                <a:spcPts val="1650"/>
              </a:lnSpc>
              <a:spcBef>
                <a:spcPts val="0"/>
              </a:spcBef>
              <a:spcAft>
                <a:spcPts val="600"/>
              </a:spcAft>
              <a:buClr>
                <a:srgbClr val="13294B"/>
              </a:buClr>
              <a:buSzPct val="70000"/>
              <a:buFont typeface="Arial"/>
              <a:buChar char="■"/>
            </a:pPr>
            <a:r>
              <a:rPr sz="1250" b="0" i="0" lang="ko-KR" altLang="en-US">
                <a:solidFill>
                  <a:srgbClr val="1E2532"/>
                </a:solidFill>
                <a:latin typeface="맑은 고딕"/>
                <a:ea typeface="맑은 고딕"/>
                <a:cs typeface="맑은 고딕"/>
              </a:rPr>
              <a:t>breadth_adj: 통합형 RRR 1.403 → 1.262, 방향 유지</a:t>
            </a:r>
          </a:p>
          <a:p>
            <a:pPr algn="l" marL="180000" indent="-180000">
              <a:lnSpc>
                <a:spcPts val="1650"/>
              </a:lnSpc>
              <a:spcBef>
                <a:spcPts val="0"/>
              </a:spcBef>
              <a:spcAft>
                <a:spcPts val="600"/>
              </a:spcAft>
              <a:buClr>
                <a:srgbClr val="13294B"/>
              </a:buClr>
              <a:buSzPct val="70000"/>
              <a:buFont typeface="Arial"/>
              <a:buChar char="■"/>
            </a:pPr>
            <a:r>
              <a:rPr sz="1250" b="0" i="0" lang="ko-KR" altLang="en-US">
                <a:solidFill>
                  <a:srgbClr val="1E2532"/>
                </a:solidFill>
                <a:latin typeface="맑은 고딕"/>
                <a:ea typeface="맑은 고딕"/>
                <a:cs typeface="맑은 고딕"/>
              </a:rPr>
              <a:t>2010년 이후(N = 830): 통합형 연도 RRR 0.934 (p &lt; 0.05)</a:t>
            </a:r>
          </a:p>
          <a:p>
            <a:pPr algn="l" marL="180000" indent="-180000">
              <a:lnSpc>
                <a:spcPts val="1650"/>
              </a:lnSpc>
              <a:spcBef>
                <a:spcPts val="0"/>
              </a:spcBef>
              <a:spcAft>
                <a:spcPts val="0"/>
              </a:spcAft>
              <a:buClr>
                <a:srgbClr val="13294B"/>
              </a:buClr>
              <a:buSzPct val="70000"/>
              <a:buFont typeface="Arial"/>
              <a:buChar char="■"/>
            </a:pPr>
            <a:r>
              <a:rPr sz="1250" b="0" i="0" lang="ko-KR" altLang="en-US">
                <a:solidFill>
                  <a:srgbClr val="1E2532"/>
                </a:solidFill>
                <a:latin typeface="맑은 고딕"/>
                <a:ea typeface="맑은 고딕"/>
                <a:cs typeface="맑은 고딕"/>
              </a:rPr>
              <a:t>좁은 정의 유형 분포: 접합 단독형 46.8% · 통합형 37.2% · 공정 단독형 16.0% → 최다 유형은 정의에 의존</a:t>
            </a:r>
          </a:p>
        </p:txBody>
      </p:sp>
      <p:sp>
        <p:nvSpPr>
          <p:cNvPr id="5" name="Rounded Rectangle 4"/>
          <p:cNvSpPr/>
          <p:nvPr/>
        </p:nvSpPr>
        <p:spPr>
          <a:xfrm>
            <a:off x="540000" y="3744000"/>
            <a:ext cx="11112120" cy="201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6" name="TextBox 5"/>
          <p:cNvSpPr txBox="1"/>
          <p:nvPr/>
        </p:nvSpPr>
        <p:spPr>
          <a:xfrm>
            <a:off x="756000" y="3816000"/>
            <a:ext cx="1068012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표본별 유형 분포</a:t>
            </a:r>
          </a:p>
        </p:txBody>
      </p:sp>
      <p:graphicFrame>
        <p:nvGraphicFramePr>
          <p:cNvPr id="7" name="Table 6"/>
          <p:cNvGraphicFramePr>
            <a:graphicFrameLocks noGrp="1"/>
          </p:cNvGraphicFramePr>
          <p:nvPr/>
        </p:nvGraphicFramePr>
        <p:xfrm>
          <a:off x="756000" y="4140000"/>
          <a:ext cx="7200000" cy="1440000"/>
        </p:xfrm>
        <a:graphic>
          <a:graphicData uri="http://schemas.openxmlformats.org/drawingml/2006/table">
            <a:tbl>
              <a:tblPr firstRow="1">
                <a:tableStyleId>{2D5ABB26-0587-4C30-8999-92F81FD0307C}</a:tableStyleId>
              </a:tblPr>
              <a:tblGrid>
                <a:gridCol w="2880000"/>
                <a:gridCol w="1440000"/>
                <a:gridCol w="1440000"/>
                <a:gridCol w="1440000"/>
              </a:tblGrid>
              <a:tr h="288000">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표본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통합형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접합 단독형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공정 단독형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288000">
                <a:tc>
                  <a:txBody>
                    <a:bodyPr wrap="square"/>
                    <a:lstStyle/>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전체 (928)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45.8%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36.4%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17.8%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288000">
                <a:tc>
                  <a:txBody>
                    <a:bodyPr wrap="square"/>
                    <a:lstStyle/>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무관 용법 제외 (860)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47.4%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35.3%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17.2%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288000">
                <a:tc>
                  <a:txBody>
                    <a:bodyPr wrap="square"/>
                    <a:lstStyle/>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hybrid bonding (467)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49.5%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38.3%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12.2%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288000">
                <a:tc>
                  <a:txBody>
                    <a:bodyPr wrap="square"/>
                    <a:lstStyle/>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좁은 제조공정 정의 (908)</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37.2%</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46.8%</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16.0%</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r>
            </a:tbl>
          </a:graphicData>
        </a:graphic>
      </p:graphicFrame>
      <p:sp>
        <p:nvSpPr>
          <p:cNvPr id="8" name="TextBox 7"/>
          <p:cNvSpPr txBox="1"/>
          <p:nvPr/>
        </p:nvSpPr>
        <p:spPr>
          <a:xfrm>
            <a:off x="8244000" y="4140000"/>
            <a:ext cx="3192120" cy="1512000"/>
          </a:xfrm>
          <a:prstGeom prst="rect">
            <a:avLst/>
          </a:prstGeom>
          <a:noFill/>
        </p:spPr>
        <p:txBody>
          <a:bodyPr wrap="square" lIns="0" rIns="0" tIns="0" bIns="0" anchor="t">
            <a:noAutofit/>
          </a:bodyPr>
          <a:lstStyle/>
          <a:p>
            <a:pPr algn="l" marL="0" indent="0">
              <a:lnSpc>
                <a:spcPts val="1580"/>
              </a:lnSpc>
              <a:spcBef>
                <a:spcPts val="0"/>
              </a:spcBef>
              <a:spcAft>
                <a:spcPts val="0"/>
              </a:spcAft>
              <a:buNone/>
            </a:pPr>
            <a:r>
              <a:rPr sz="1200" b="0" i="0" lang="ko-KR" altLang="en-US">
                <a:solidFill>
                  <a:srgbClr val="5B6475"/>
                </a:solidFill>
                <a:latin typeface="맑은 고딕"/>
                <a:ea typeface="맑은 고딕"/>
                <a:cs typeface="맑은 고딕"/>
              </a:rPr>
              <a:t>hybrid bonding 표본은 2014년 이전 출원이 30건뿐: 공정 단독형의 감소는 direct bonding 시기의 웨이퍼 접합 공정 출원에서 hybrid bonding 시기의 구조 출원으로 이행한 변화를 상당 부분 반영</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400"/>
              </a:lnSpc>
              <a:spcBef>
                <a:spcPts val="0"/>
              </a:spcBef>
              <a:spcAft>
                <a:spcPts val="0"/>
              </a:spcAft>
              <a:buNone/>
            </a:pPr>
            <a:r>
              <a:rPr sz="1600" b="0" i="0" lang="ko-KR" altLang="en-US">
                <a:solidFill>
                  <a:srgbClr val="5B6475"/>
                </a:solidFill>
                <a:latin typeface="맑은 고딕"/>
                <a:ea typeface="맑은 고딕"/>
                <a:cs typeface="맑은 고딕"/>
              </a:rPr>
              <a:t>부록 7  </a:t>
            </a:r>
            <a:r>
              <a:rPr sz="2000" b="1" i="0" lang="ko-KR" altLang="en-US">
                <a:solidFill>
                  <a:srgbClr val="13294B"/>
                </a:solidFill>
                <a:latin typeface="맑은 고딕"/>
                <a:ea typeface="맑은 고딕"/>
                <a:cs typeface="맑은 고딕"/>
              </a:rPr>
              <a:t>강건성: 핵심 기술 모형 재추정</a:t>
            </a:r>
          </a:p>
        </p:txBody>
      </p:sp>
      <p:graphicFrame>
        <p:nvGraphicFramePr>
          <p:cNvPr id="3" name="Table 2"/>
          <p:cNvGraphicFramePr>
            <a:graphicFrameLocks noGrp="1"/>
          </p:cNvGraphicFramePr>
          <p:nvPr/>
        </p:nvGraphicFramePr>
        <p:xfrm>
          <a:off x="540000" y="954000"/>
          <a:ext cx="11112120" cy="2912400"/>
        </p:xfrm>
        <a:graphic>
          <a:graphicData uri="http://schemas.openxmlformats.org/drawingml/2006/table">
            <a:tbl>
              <a:tblPr firstRow="1">
                <a:tableStyleId>{2D5ABB26-0587-4C30-8999-92F81FD0307C}</a:tableStyleId>
              </a:tblPr>
              <a:tblGrid>
                <a:gridCol w="3960000"/>
                <a:gridCol w="864000"/>
                <a:gridCol w="1440000"/>
                <a:gridCol w="1440000"/>
                <a:gridCol w="1440000"/>
                <a:gridCol w="1968120"/>
              </a:tblGrid>
              <a:tr h="342000">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표본 · 변수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N</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–2014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2015–2019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2020–2024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2020–24 상호작용</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기준</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763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11.071***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2.452**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0.658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0.059***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핵심 기호 외 접합 기호 수 통제</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763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8.768***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2.377**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0.684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0.078***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기준 + 동일 제목 군집 표준오차</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763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11.071***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1" i="0" lang="ko-KR" altLang="en-US">
                          <a:solidFill>
                            <a:srgbClr val="9B2C1F"/>
                          </a:solidFill>
                          <a:latin typeface="맑은 고딕"/>
                          <a:ea typeface="맑은 고딕"/>
                          <a:cs typeface="맑은 고딕"/>
                        </a:rPr>
                        <a:t>2.452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BE3E0"/>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0.658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0.059***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동일 제목 중복 제거 (제목당 1건)</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361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6.191***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4.433***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0.814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0.131***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좁은 제조공정 정의 (패키징 단계 공정 제외)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763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15.334***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3.185***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0.771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0.050***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무관 용법 제외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712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3.981**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1" i="0" lang="ko-KR" altLang="en-US">
                          <a:solidFill>
                            <a:srgbClr val="9B2C1F"/>
                          </a:solidFill>
                          <a:latin typeface="맑은 고딕"/>
                          <a:ea typeface="맑은 고딕"/>
                          <a:cs typeface="맑은 고딕"/>
                        </a:rPr>
                        <a:t>1.817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BE3E0"/>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0.738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0.185**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핵심 기술을 24/08 · 24/80으로 한정</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763</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14.474***</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3.445***</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0.732</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0.051***</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0C2"/>
                    </a:solidFill>
                  </a:tcPr>
                </a:tc>
              </a:tr>
            </a:tbl>
          </a:graphicData>
        </a:graphic>
      </p:graphicFrame>
      <p:sp>
        <p:nvSpPr>
          <p:cNvPr id="4" name="TextBox 3"/>
          <p:cNvSpPr txBox="1"/>
          <p:nvPr/>
        </p:nvSpPr>
        <p:spPr>
          <a:xfrm>
            <a:off x="540000" y="4104000"/>
            <a:ext cx="11112120" cy="1656000"/>
          </a:xfrm>
          <a:prstGeom prst="rect">
            <a:avLst/>
          </a:prstGeom>
          <a:noFill/>
        </p:spPr>
        <p:txBody>
          <a:bodyPr wrap="square" lIns="0" rIns="0" tIns="0" bIns="0" anchor="t">
            <a:noAutofit/>
          </a:bodyPr>
          <a:lstStyle/>
          <a:p>
            <a:pPr algn="l" marL="180000" indent="-180000">
              <a:lnSpc>
                <a:spcPts val="1560"/>
              </a:lnSpc>
              <a:spcBef>
                <a:spcPts val="0"/>
              </a:spcBef>
              <a:spcAft>
                <a:spcPts val="500"/>
              </a:spcAft>
              <a:buClr>
                <a:srgbClr val="13294B"/>
              </a:buClr>
              <a:buSzPct val="70000"/>
              <a:buFont typeface="Arial"/>
              <a:buChar char="■"/>
            </a:pPr>
            <a:r>
              <a:rPr sz="1300" b="0" i="0" lang="ko-KR" altLang="en-US">
                <a:solidFill>
                  <a:srgbClr val="1E2532"/>
                </a:solidFill>
                <a:latin typeface="맑은 고딕"/>
                <a:ea typeface="맑은 고딕"/>
                <a:cs typeface="맑은 고딕"/>
              </a:rPr>
              <a:t>핵심 기호 외 접합 기호 수 자체의 승산비 1.100 (p &lt; 0.01) → 통제해도 시기별 승산비는 거의 변하지 않음</a:t>
            </a:r>
          </a:p>
          <a:p>
            <a:pPr algn="l" marL="180000" indent="-180000">
              <a:lnSpc>
                <a:spcPts val="1560"/>
              </a:lnSpc>
              <a:spcBef>
                <a:spcPts val="0"/>
              </a:spcBef>
              <a:spcAft>
                <a:spcPts val="500"/>
              </a:spcAft>
              <a:buClr>
                <a:srgbClr val="13294B"/>
              </a:buClr>
              <a:buSzPct val="70000"/>
              <a:buFont typeface="Arial"/>
              <a:buChar char="■"/>
            </a:pPr>
            <a:r>
              <a:rPr sz="1300" b="0" i="0" lang="ko-KR" altLang="en-US">
                <a:solidFill>
                  <a:srgbClr val="1E2532"/>
                </a:solidFill>
                <a:latin typeface="맑은 고딕"/>
                <a:ea typeface="맑은 고딕"/>
                <a:cs typeface="맑은 고딕"/>
              </a:rPr>
              <a:t>무관 용법 제외 표본: 무관 출원 51건 중 28건이 2014년 이전 핵심 기술 없는 출원(그중 25건 접합 단독형) → 2014년 이전 승산비 3.981로 작아짐</a:t>
            </a:r>
          </a:p>
          <a:p>
            <a:pPr algn="l" marL="180000" indent="-180000">
              <a:lnSpc>
                <a:spcPts val="1560"/>
              </a:lnSpc>
              <a:spcBef>
                <a:spcPts val="0"/>
              </a:spcBef>
              <a:spcAft>
                <a:spcPts val="500"/>
              </a:spcAft>
              <a:buClr>
                <a:srgbClr val="13294B"/>
              </a:buClr>
              <a:buSzPct val="70000"/>
              <a:buFont typeface="Arial"/>
              <a:buChar char="■"/>
            </a:pPr>
            <a:r>
              <a:rPr sz="1300" b="0" i="0" lang="ko-KR" altLang="en-US">
                <a:solidFill>
                  <a:srgbClr val="1E2532"/>
                </a:solidFill>
                <a:latin typeface="맑은 고딕"/>
                <a:ea typeface="맑은 고딕"/>
                <a:cs typeface="맑은 고딕"/>
              </a:rPr>
              <a:t>좁은 정의: 제조공정 기호가 패키징 단계 공정뿐인 통합형을 접합 단독형으로 재분류 (통합형 338건)</a:t>
            </a:r>
          </a:p>
          <a:p>
            <a:pPr algn="l" marL="180000" indent="-180000">
              <a:lnSpc>
                <a:spcPts val="1560"/>
              </a:lnSpc>
              <a:spcBef>
                <a:spcPts val="0"/>
              </a:spcBef>
              <a:spcAft>
                <a:spcPts val="0"/>
              </a:spcAft>
              <a:buClr>
                <a:srgbClr val="13294B"/>
              </a:buClr>
              <a:buSzPct val="70000"/>
              <a:buFont typeface="Arial"/>
              <a:buChar char="■"/>
            </a:pPr>
            <a:r>
              <a:rPr sz="1300" b="0" i="0" lang="ko-KR" altLang="en-US">
                <a:solidFill>
                  <a:srgbClr val="1E2532"/>
                </a:solidFill>
                <a:latin typeface="맑은 고딕"/>
                <a:ea typeface="맑은 고딕"/>
                <a:cs typeface="맑은 고딕"/>
              </a:rPr>
              <a:t>hybrid bonding 표본: 2019년 이전 핵심 기술 없는 접합 출원 12건 → 추정하지 않음</a:t>
            </a:r>
          </a:p>
        </p:txBody>
      </p:sp>
    </p:spTree>
  </p:cSld>
  <p:clrMapOvr>
    <a:masterClrMapping/>
  </p:clrMapOvr>
</p:sld>
</file>

<file path=ppt/theme/theme1.xml><?xml version="1.0" encoding="utf-8"?>
<a:theme xmlns:a="http://schemas.openxmlformats.org/drawingml/2006/main" name="Defense">
  <a:themeElements>
    <a:clrScheme name="Defense">
      <a:dk1>
        <a:srgbClr val="1E2532"/>
      </a:dk1>
      <a:lt1>
        <a:srgbClr val="FFFFFF"/>
      </a:lt1>
      <a:dk2>
        <a:srgbClr val="13294B"/>
      </a:dk2>
      <a:lt2>
        <a:srgbClr val="F2F5FA"/>
      </a:lt2>
      <a:accent1>
        <a:srgbClr val="24406E"/>
      </a:accent1>
      <a:accent2>
        <a:srgbClr val="2563C9"/>
      </a:accent2>
      <a:accent3>
        <a:srgbClr val="7C3AED"/>
      </a:accent3>
      <a:accent4>
        <a:srgbClr val="EA7A28"/>
      </a:accent4>
      <a:accent5>
        <a:srgbClr val="10A39A"/>
      </a:accent5>
      <a:accent6>
        <a:srgbClr val="E0A100"/>
      </a:accent6>
      <a:hlink>
        <a:srgbClr val="2563C9"/>
      </a:hlink>
      <a:folHlink>
        <a:srgbClr val="7C3AED"/>
      </a:folHlink>
    </a:clrScheme>
    <a:fontScheme name="Malgun Gothic">
      <a:majorFont>
        <a:latin typeface="맑은 고딕"/>
        <a:ea typeface="맑은 고딕"/>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맑은 고딕"/>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반도체 하이브리드 본딩의 공정 단계 간 기술융합: 특허 기반 종단 분석 (석사학위논문 심사 발표)</dc:title>
  <dc:subject/>
  <dc:creator>이형규</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