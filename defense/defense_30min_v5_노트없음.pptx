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출원 건수</c:v>
                </c:pt>
              </c:strCache>
            </c:strRef>
          </c:tx>
          <c:spPr>
            <a:solidFill>
              <a:srgbClr val="13294B"/>
            </a:solidFill>
          </c:spPr>
          <c:dPt>
            <c:idx val="55"/>
            <c:spPr>
              <a:solidFill>
                <a:srgbClr val="9AA6B8"/>
              </a:solidFill>
            </c:spPr>
          </c:dPt>
          <c:dPt>
            <c:idx val="56"/>
            <c:spPr>
              <a:solidFill>
                <a:srgbClr val="9AA6B8"/>
              </a:solidFill>
            </c:spPr>
          </c:dPt>
          <c:dLbls>
            <c:dLbl>
              <c:idx val="54"/>
              <c:tx>
                <c:rich>
                  <a:bodyPr/>
                  <a:lstStyle/>
                  <a:p>
                    <a:r>
                      <a:rPr sz="1200" b="1" i="0" lang="ko-KR" altLang="en-US">
                        <a:solidFill>
                          <a:srgbClr val="13294B"/>
                        </a:solidFill>
                        <a:latin typeface="맑은 고딕"/>
                        <a:ea typeface="맑은 고딕"/>
                        <a:cs typeface="맑은 고딕"/>
                      </a:rPr>
                      <a:t>176 (2022)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Sheet1!$A$2:$A$58</c:f>
              <c:strCache>
                <c:ptCount val="57"/>
                <c:pt idx="0">
                  <c:v/>
                </c:pt>
                <c:pt idx="1">
                  <c:v/>
                </c:pt>
                <c:pt idx="2">
                  <c:v>1970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1980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1990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2000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>2010</c:v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>2020</c:v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</c:strCache>
            </c:strRef>
          </c:cat>
          <c:val>
            <c:numRef>
              <c:f>Sheet1!$B$2:$B$58</c:f>
              <c:numCache>
                <c:formatCode>General</c:formatCode>
                <c:ptCount val="57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  <c:pt idx="13">
                  <c:v>2</c:v>
                </c:pt>
                <c:pt idx="14">
                  <c:v>0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10</c:v>
                </c:pt>
                <c:pt idx="21">
                  <c:v>0</c:v>
                </c:pt>
                <c:pt idx="22">
                  <c:v>3</c:v>
                </c:pt>
                <c:pt idx="23">
                  <c:v>1</c:v>
                </c:pt>
                <c:pt idx="24">
                  <c:v>0</c:v>
                </c:pt>
                <c:pt idx="25">
                  <c:v>0</c:v>
                </c:pt>
                <c:pt idx="26">
                  <c:v>2</c:v>
                </c:pt>
                <c:pt idx="27">
                  <c:v>2</c:v>
                </c:pt>
                <c:pt idx="28">
                  <c:v>4</c:v>
                </c:pt>
                <c:pt idx="29">
                  <c:v>0</c:v>
                </c:pt>
                <c:pt idx="30">
                  <c:v>5</c:v>
                </c:pt>
                <c:pt idx="31">
                  <c:v>4</c:v>
                </c:pt>
                <c:pt idx="32">
                  <c:v>5</c:v>
                </c:pt>
                <c:pt idx="33">
                  <c:v>2</c:v>
                </c:pt>
                <c:pt idx="34">
                  <c:v>8</c:v>
                </c:pt>
                <c:pt idx="35">
                  <c:v>4</c:v>
                </c:pt>
                <c:pt idx="36">
                  <c:v>13</c:v>
                </c:pt>
                <c:pt idx="37">
                  <c:v>8</c:v>
                </c:pt>
                <c:pt idx="38">
                  <c:v>6</c:v>
                </c:pt>
                <c:pt idx="39">
                  <c:v>6</c:v>
                </c:pt>
                <c:pt idx="40">
                  <c:v>2</c:v>
                </c:pt>
                <c:pt idx="41">
                  <c:v>7</c:v>
                </c:pt>
                <c:pt idx="42">
                  <c:v>4</c:v>
                </c:pt>
                <c:pt idx="43">
                  <c:v>19</c:v>
                </c:pt>
                <c:pt idx="44">
                  <c:v>17</c:v>
                </c:pt>
                <c:pt idx="45">
                  <c:v>22</c:v>
                </c:pt>
                <c:pt idx="46">
                  <c:v>19</c:v>
                </c:pt>
                <c:pt idx="47">
                  <c:v>27</c:v>
                </c:pt>
                <c:pt idx="48">
                  <c:v>50</c:v>
                </c:pt>
                <c:pt idx="49">
                  <c:v>26</c:v>
                </c:pt>
                <c:pt idx="50">
                  <c:v>50</c:v>
                </c:pt>
                <c:pt idx="51">
                  <c:v>56</c:v>
                </c:pt>
                <c:pt idx="52">
                  <c:v>71</c:v>
                </c:pt>
                <c:pt idx="53">
                  <c:v>118</c:v>
                </c:pt>
                <c:pt idx="54">
                  <c:v>176</c:v>
                </c:pt>
                <c:pt idx="55">
                  <c:v>130</c:v>
                </c:pt>
                <c:pt idx="56">
                  <c:v>45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 i="0" lang="ko-KR" altLang="en-US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출원연도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  <c:tickMarkSkip val="10"/>
      </c:catAx>
      <c:valAx>
        <c:axId val="-2113994440"/>
        <c:scaling>
          <c:max val="200.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 i="0" lang="ko-KR" altLang="en-US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출원 건수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</a:p>
        </c:txPr>
        <c:crossAx val="-2068027336"/>
        <c:crosses val="autoZero"/>
        <c:majorUnit val="5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유형</c:v>
                </c:pt>
              </c:strCache>
            </c:strRef>
          </c:tx>
          <c:dPt>
            <c:idx val="0"/>
            <c:spPr>
              <a:solidFill>
                <a:srgbClr val="7C3AED"/>
              </a:solidFill>
              <a:ln w="254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A7A28"/>
              </a:solidFill>
              <a:ln w="254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563C9"/>
              </a:solidFill>
              <a:ln w="25400"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통합형</c:v>
                </c:pt>
                <c:pt idx="1">
                  <c:v>접합 단독형</c:v>
                </c:pt>
                <c:pt idx="2">
                  <c:v>공정 단독형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425</c:v>
                </c:pt>
                <c:pt idx="1">
                  <c:v>338</c:v>
                </c:pt>
                <c:pt idx="2">
                  <c:v>165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통합형</c:v>
                </c:pt>
              </c:strCache>
            </c:strRef>
          </c:tx>
          <c:spPr>
            <a:ln w="44450">
              <a:solidFill>
                <a:srgbClr val="7C3AED"/>
              </a:solidFill>
            </a:ln>
          </c:spPr>
          <c:marker>
            <c:symbol val="none"/>
          </c:marker>
          <c:dPt>
            <c:idx val="2"/>
            <c:marker>
              <c:symbol val="circle"/>
              <c:size val="9"/>
              <c:spPr>
                <a:solidFill>
                  <a:srgbClr val="7C3AED"/>
                </a:solidFill>
                <a:ln>
                  <a:solidFill>
                    <a:srgbClr val="7C3AED"/>
                  </a:solidFill>
                </a:ln>
              </c:spPr>
            </c:marker>
          </c:dPt>
          <c:dPt>
            <c:idx val="7"/>
            <c:marker>
              <c:symbol val="circle"/>
              <c:size val="9"/>
              <c:spPr>
                <a:solidFill>
                  <a:srgbClr val="7C3AED"/>
                </a:solidFill>
                <a:ln>
                  <a:solidFill>
                    <a:srgbClr val="7C3AED"/>
                  </a:solidFill>
                </a:ln>
              </c:spPr>
            </c:marke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1300" b="1" i="0" lang="ko-KR" altLang="en-US">
                        <a:solidFill>
                          <a:srgbClr val="7C3AED"/>
                        </a:solidFill>
                        <a:latin typeface="맑은 고딕"/>
                        <a:ea typeface="맑은 고딕"/>
                        <a:cs typeface="맑은 고딕"/>
                      </a:rPr>
                      <a:t>0.26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300" b="1" i="0" lang="ko-KR" altLang="en-US">
                        <a:solidFill>
                          <a:srgbClr val="7C3AED"/>
                        </a:solidFill>
                        <a:latin typeface="맑은 고딕"/>
                        <a:ea typeface="맑은 고딕"/>
                        <a:cs typeface="맑은 고딕"/>
                      </a:rPr>
                      <a:t>0.68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0.143</c:v>
                </c:pt>
                <c:pt idx="1">
                  <c:v>0.195</c:v>
                </c:pt>
                <c:pt idx="2">
                  <c:v>0.258</c:v>
                </c:pt>
                <c:pt idx="3">
                  <c:v>0.334</c:v>
                </c:pt>
                <c:pt idx="4">
                  <c:v>0.418</c:v>
                </c:pt>
                <c:pt idx="5">
                  <c:v>0.508</c:v>
                </c:pt>
                <c:pt idx="6">
                  <c:v>0.596</c:v>
                </c:pt>
                <c:pt idx="7">
                  <c:v>0.679</c:v>
                </c:pt>
                <c:pt idx="8">
                  <c:v>0.751</c:v>
                </c:pt>
                <c:pt idx="9">
                  <c:v>0.812</c:v>
                </c:pt>
                <c:pt idx="10">
                  <c:v>0.86</c:v>
                </c:pt>
                <c:pt idx="11">
                  <c:v>0.898</c:v>
                </c:pt>
                <c:pt idx="12">
                  <c:v>0.926</c:v>
                </c:pt>
                <c:pt idx="13">
                  <c:v>0.947</c:v>
                </c:pt>
                <c:pt idx="14">
                  <c:v>0.962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접합 단독형</c:v>
                </c:pt>
              </c:strCache>
            </c:strRef>
          </c:tx>
          <c:spPr>
            <a:ln w="44450">
              <a:solidFill>
                <a:srgbClr val="EA7A28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0.546</c:v>
                </c:pt>
                <c:pt idx="1">
                  <c:v>0.528</c:v>
                </c:pt>
                <c:pt idx="2">
                  <c:v>0.5</c:v>
                </c:pt>
                <c:pt idx="3">
                  <c:v>0.461</c:v>
                </c:pt>
                <c:pt idx="4">
                  <c:v>0.412</c:v>
                </c:pt>
                <c:pt idx="5">
                  <c:v>0.356</c:v>
                </c:pt>
                <c:pt idx="6">
                  <c:v>0.298</c:v>
                </c:pt>
                <c:pt idx="7">
                  <c:v>0.242</c:v>
                </c:pt>
                <c:pt idx="8">
                  <c:v>0.191</c:v>
                </c:pt>
                <c:pt idx="9">
                  <c:v>0.147</c:v>
                </c:pt>
                <c:pt idx="10">
                  <c:v>0.111</c:v>
                </c:pt>
                <c:pt idx="11">
                  <c:v>0.083</c:v>
                </c:pt>
                <c:pt idx="12">
                  <c:v>0.061</c:v>
                </c:pt>
                <c:pt idx="13">
                  <c:v>0.044</c:v>
                </c:pt>
                <c:pt idx="14">
                  <c:v>0.032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공정 단독형</c:v>
                </c:pt>
              </c:strCache>
            </c:strRef>
          </c:tx>
          <c:spPr>
            <a:ln w="44450">
              <a:solidFill>
                <a:srgbClr val="2563C9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0.311</c:v>
                </c:pt>
                <c:pt idx="1">
                  <c:v>0.277</c:v>
                </c:pt>
                <c:pt idx="2">
                  <c:v>0.242</c:v>
                </c:pt>
                <c:pt idx="3">
                  <c:v>0.206</c:v>
                </c:pt>
                <c:pt idx="4">
                  <c:v>0.17</c:v>
                </c:pt>
                <c:pt idx="5">
                  <c:v>0.136</c:v>
                </c:pt>
                <c:pt idx="6">
                  <c:v>0.105</c:v>
                </c:pt>
                <c:pt idx="7">
                  <c:v>0.079</c:v>
                </c:pt>
                <c:pt idx="8">
                  <c:v>0.058</c:v>
                </c:pt>
                <c:pt idx="9">
                  <c:v>0.041</c:v>
                </c:pt>
                <c:pt idx="10">
                  <c:v>0.028</c:v>
                </c:pt>
                <c:pt idx="11">
                  <c:v>0.019</c:v>
                </c:pt>
                <c:pt idx="12">
                  <c:v>0.013</c:v>
                </c:pt>
                <c:pt idx="13">
                  <c:v>0.009</c:v>
                </c:pt>
                <c:pt idx="14">
                  <c:v>0.006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 i="0" lang="ko-KR" altLang="en-US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기술범위 (두 클래스 내 CPC 서브그룹 수)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 i="0" lang="ko-KR" altLang="en-US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예측확률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</a:p>
        </c:txPr>
        <c:crossAx val="2118791784"/>
        <c:crosses val="autoZero"/>
        <c:majorUnit val="0.2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1E2532"/>
              </a:solidFill>
              <a:latin typeface="맑은 고딕"/>
              <a:ea typeface="맑은 고딕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공정 단독형</c:v>
                </c:pt>
              </c:strCache>
            </c:strRef>
          </c:tx>
          <c:spPr>
            <a:solidFill>
              <a:srgbClr val="2563C9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맑은 고딕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형성기
–2014
(N = 179)</c:v>
                </c:pt>
                <c:pt idx="1">
                  <c:v>확산기
2015–2019
(N = 209)</c:v>
                </c:pt>
                <c:pt idx="2">
                  <c:v>재편기
2020–2024
(N = 540)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43.6</c:v>
                </c:pt>
                <c:pt idx="1">
                  <c:v>14.8</c:v>
                </c:pt>
                <c:pt idx="2">
                  <c:v>10.4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통합형</c:v>
                </c:pt>
              </c:strCache>
            </c:strRef>
          </c:tx>
          <c:spPr>
            <a:solidFill>
              <a:srgbClr val="7C3AED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맑은 고딕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형성기
–2014
(N = 179)</c:v>
                </c:pt>
                <c:pt idx="1">
                  <c:v>확산기
2015–2019
(N = 209)</c:v>
                </c:pt>
                <c:pt idx="2">
                  <c:v>재편기
2020–2024
(N = 540)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31.3</c:v>
                </c:pt>
                <c:pt idx="1">
                  <c:v>62.2</c:v>
                </c:pt>
                <c:pt idx="2">
                  <c:v>44.3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접합 단독형</c:v>
                </c:pt>
              </c:strCache>
            </c:strRef>
          </c:tx>
          <c:spPr>
            <a:solidFill>
              <a:srgbClr val="EA7A28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맑은 고딕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형성기
–2014
(N = 179)</c:v>
                </c:pt>
                <c:pt idx="1">
                  <c:v>확산기
2015–2019
(N = 209)</c:v>
                </c:pt>
                <c:pt idx="2">
                  <c:v>재편기
2020–2024
(N = 540)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25.1</c:v>
                </c:pt>
                <c:pt idx="1">
                  <c:v>23.0</c:v>
                </c:pt>
                <c:pt idx="2">
                  <c:v>45.4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50">
                <a:solidFill>
                  <a:srgbClr val="1E2532"/>
                </a:solidFill>
                <a:latin typeface="맑은 고딕"/>
                <a:ea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50">
                <a:solidFill>
                  <a:srgbClr val="1E2532"/>
                </a:solidFill>
                <a:latin typeface="맑은 고딕"/>
                <a:ea typeface="맑은 고딕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50">
              <a:solidFill>
                <a:srgbClr val="1E2532"/>
              </a:solidFill>
              <a:latin typeface="맑은 고딕"/>
              <a:ea typeface="맑은 고딕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25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통합형</c:v>
                </c:pt>
              </c:strCache>
            </c:strRef>
          </c:tx>
          <c:spPr>
            <a:ln w="44450">
              <a:solidFill>
                <a:srgbClr val="7C3AED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2010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2015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2020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2024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0.396</c:v>
                </c:pt>
                <c:pt idx="1">
                  <c:v>0.403</c:v>
                </c:pt>
                <c:pt idx="2">
                  <c:v>0.409</c:v>
                </c:pt>
                <c:pt idx="3">
                  <c:v>0.415</c:v>
                </c:pt>
                <c:pt idx="4">
                  <c:v>0.421</c:v>
                </c:pt>
                <c:pt idx="5">
                  <c:v>0.426</c:v>
                </c:pt>
                <c:pt idx="6">
                  <c:v>0.431</c:v>
                </c:pt>
                <c:pt idx="7">
                  <c:v>0.436</c:v>
                </c:pt>
                <c:pt idx="8">
                  <c:v>0.441</c:v>
                </c:pt>
                <c:pt idx="9">
                  <c:v>0.445</c:v>
                </c:pt>
                <c:pt idx="10">
                  <c:v>0.45</c:v>
                </c:pt>
                <c:pt idx="11">
                  <c:v>0.454</c:v>
                </c:pt>
                <c:pt idx="12">
                  <c:v>0.457</c:v>
                </c:pt>
                <c:pt idx="13">
                  <c:v>0.461</c:v>
                </c:pt>
                <c:pt idx="14">
                  <c:v>0.464</c:v>
                </c:pt>
                <c:pt idx="15">
                  <c:v>0.467</c:v>
                </c:pt>
                <c:pt idx="16">
                  <c:v>0.469</c:v>
                </c:pt>
                <c:pt idx="17">
                  <c:v>0.472</c:v>
                </c:pt>
                <c:pt idx="18">
                  <c:v>0.474</c:v>
                </c:pt>
                <c:pt idx="19">
                  <c:v>0.476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접합 단독형</c:v>
                </c:pt>
              </c:strCache>
            </c:strRef>
          </c:tx>
          <c:spPr>
            <a:ln w="44450">
              <a:solidFill>
                <a:srgbClr val="EA7A28"/>
              </a:solidFill>
            </a:ln>
          </c:spPr>
          <c:marker>
            <c:symbol val="none"/>
          </c:marker>
          <c:dPt>
            <c:idx val="5"/>
            <c:marker>
              <c:symbol val="circle"/>
              <c:size val="9"/>
              <c:spPr>
                <a:solidFill>
                  <a:srgbClr val="EA7A28"/>
                </a:solidFill>
                <a:ln>
                  <a:solidFill>
                    <a:srgbClr val="EA7A28"/>
                  </a:solidFill>
                </a:ln>
              </c:spPr>
            </c:marker>
          </c:dPt>
          <c:dPt>
            <c:idx val="17"/>
            <c:marker>
              <c:symbol val="circle"/>
              <c:size val="9"/>
              <c:spPr>
                <a:solidFill>
                  <a:srgbClr val="EA7A28"/>
                </a:solidFill>
                <a:ln>
                  <a:solidFill>
                    <a:srgbClr val="EA7A28"/>
                  </a:solidFill>
                </a:ln>
              </c:spPr>
            </c:marker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sz="1300" b="1" i="0" lang="ko-KR" altLang="en-US">
                        <a:solidFill>
                          <a:srgbClr val="EA7A28"/>
                        </a:solidFill>
                        <a:latin typeface="맑은 고딕"/>
                        <a:ea typeface="맑은 고딕"/>
                        <a:cs typeface="맑은 고딕"/>
                      </a:rPr>
                      <a:t>0.31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7"/>
              <c:tx>
                <c:rich>
                  <a:bodyPr/>
                  <a:lstStyle/>
                  <a:p>
                    <a:r>
                      <a:rPr sz="1300" b="1" i="0" lang="ko-KR" altLang="en-US">
                        <a:solidFill>
                          <a:srgbClr val="EA7A28"/>
                        </a:solidFill>
                        <a:latin typeface="맑은 고딕"/>
                        <a:ea typeface="맑은 고딕"/>
                        <a:cs typeface="맑은 고딕"/>
                      </a:rPr>
                      <a:t>0.40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2005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2010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2015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2020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2024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0.262</c:v>
                </c:pt>
                <c:pt idx="1">
                  <c:v>0.271</c:v>
                </c:pt>
                <c:pt idx="2">
                  <c:v>0.281</c:v>
                </c:pt>
                <c:pt idx="3">
                  <c:v>0.29</c:v>
                </c:pt>
                <c:pt idx="4">
                  <c:v>0.3</c:v>
                </c:pt>
                <c:pt idx="5">
                  <c:v>0.309</c:v>
                </c:pt>
                <c:pt idx="6">
                  <c:v>0.318</c:v>
                </c:pt>
                <c:pt idx="7">
                  <c:v>0.327</c:v>
                </c:pt>
                <c:pt idx="8">
                  <c:v>0.335</c:v>
                </c:pt>
                <c:pt idx="9">
                  <c:v>0.344</c:v>
                </c:pt>
                <c:pt idx="10">
                  <c:v>0.352</c:v>
                </c:pt>
                <c:pt idx="11">
                  <c:v>0.36</c:v>
                </c:pt>
                <c:pt idx="12">
                  <c:v>0.368</c:v>
                </c:pt>
                <c:pt idx="13">
                  <c:v>0.376</c:v>
                </c:pt>
                <c:pt idx="14">
                  <c:v>0.383</c:v>
                </c:pt>
                <c:pt idx="15">
                  <c:v>0.391</c:v>
                </c:pt>
                <c:pt idx="16">
                  <c:v>0.397</c:v>
                </c:pt>
                <c:pt idx="17">
                  <c:v>0.404</c:v>
                </c:pt>
                <c:pt idx="18">
                  <c:v>0.411</c:v>
                </c:pt>
                <c:pt idx="19">
                  <c:v>0.417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공정 단독형</c:v>
                </c:pt>
              </c:strCache>
            </c:strRef>
          </c:tx>
          <c:spPr>
            <a:ln w="44450">
              <a:solidFill>
                <a:srgbClr val="2563C9"/>
              </a:solidFill>
            </a:ln>
          </c:spPr>
          <c:marker>
            <c:symbol val="none"/>
          </c:marker>
          <c:dPt>
            <c:idx val="5"/>
            <c:marker>
              <c:symbol val="circle"/>
              <c:size val="9"/>
              <c:spPr>
                <a:solidFill>
                  <a:srgbClr val="2563C9"/>
                </a:solidFill>
                <a:ln>
                  <a:solidFill>
                    <a:srgbClr val="2563C9"/>
                  </a:solidFill>
                </a:ln>
              </c:spPr>
            </c:marker>
          </c:dPt>
          <c:dPt>
            <c:idx val="17"/>
            <c:marker>
              <c:symbol val="circle"/>
              <c:size val="9"/>
              <c:spPr>
                <a:solidFill>
                  <a:srgbClr val="2563C9"/>
                </a:solidFill>
                <a:ln>
                  <a:solidFill>
                    <a:srgbClr val="2563C9"/>
                  </a:solidFill>
                </a:ln>
              </c:spPr>
            </c:marker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sz="1300" b="1" i="0" lang="ko-KR" altLang="en-US">
                        <a:solidFill>
                          <a:srgbClr val="2563C9"/>
                        </a:solidFill>
                        <a:latin typeface="맑은 고딕"/>
                        <a:ea typeface="맑은 고딕"/>
                        <a:cs typeface="맑은 고딕"/>
                      </a:rPr>
                      <a:t>0.27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7"/>
              <c:tx>
                <c:rich>
                  <a:bodyPr/>
                  <a:lstStyle/>
                  <a:p>
                    <a:r>
                      <a:rPr sz="1300" b="1" i="0" lang="ko-KR" altLang="en-US">
                        <a:solidFill>
                          <a:srgbClr val="2563C9"/>
                        </a:solidFill>
                        <a:latin typeface="맑은 고딕"/>
                        <a:ea typeface="맑은 고딕"/>
                        <a:cs typeface="맑은 고딕"/>
                      </a:rPr>
                      <a:t>0.12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2005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2010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2015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2020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2024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0.342</c:v>
                </c:pt>
                <c:pt idx="1">
                  <c:v>0.326</c:v>
                </c:pt>
                <c:pt idx="2">
                  <c:v>0.31</c:v>
                </c:pt>
                <c:pt idx="3">
                  <c:v>0.295</c:v>
                </c:pt>
                <c:pt idx="4">
                  <c:v>0.28</c:v>
                </c:pt>
                <c:pt idx="5">
                  <c:v>0.265</c:v>
                </c:pt>
                <c:pt idx="6">
                  <c:v>0.251</c:v>
                </c:pt>
                <c:pt idx="7">
                  <c:v>0.237</c:v>
                </c:pt>
                <c:pt idx="8">
                  <c:v>0.224</c:v>
                </c:pt>
                <c:pt idx="9">
                  <c:v>0.211</c:v>
                </c:pt>
                <c:pt idx="10">
                  <c:v>0.198</c:v>
                </c:pt>
                <c:pt idx="11">
                  <c:v>0.186</c:v>
                </c:pt>
                <c:pt idx="12">
                  <c:v>0.175</c:v>
                </c:pt>
                <c:pt idx="13">
                  <c:v>0.163</c:v>
                </c:pt>
                <c:pt idx="14">
                  <c:v>0.153</c:v>
                </c:pt>
                <c:pt idx="15">
                  <c:v>0.143</c:v>
                </c:pt>
                <c:pt idx="16">
                  <c:v>0.133</c:v>
                </c:pt>
                <c:pt idx="17">
                  <c:v>0.124</c:v>
                </c:pt>
                <c:pt idx="18">
                  <c:v>0.116</c:v>
                </c:pt>
                <c:pt idx="19">
                  <c:v>0.108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 i="0" lang="ko-KR" altLang="en-US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출원연도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tickLblSkip val="1"/>
      </c:catAx>
      <c:valAx>
        <c:axId val="2140495176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 i="0" lang="ko-KR" altLang="en-US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예측확률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</a:p>
        </c:txPr>
        <c:crossAx val="2118791784"/>
        <c:crosses val="autoZero"/>
        <c:majorUnit val="0.2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1E2532"/>
              </a:solidFill>
              <a:latin typeface="맑은 고딕"/>
              <a:ea typeface="맑은 고딕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통합형</c:v>
                </c:pt>
              </c:strCache>
            </c:strRef>
          </c:tx>
          <c:spPr>
            <a:ln w="57150">
              <a:solidFill>
                <a:srgbClr val="7C3AED"/>
              </a:solidFill>
            </a:ln>
          </c:spPr>
          <c:marker>
            <c:symbol val="circle"/>
            <c:size val="10"/>
            <c:spPr>
              <a:solidFill>
                <a:srgbClr val="7C3AED"/>
              </a:solidFill>
              <a:ln>
                <a:solidFill>
                  <a:srgbClr val="7C3AED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/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/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/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150" b="1">
                    <a:solidFill>
                      <a:srgbClr val="7C3AED"/>
                    </a:solidFill>
                    <a:latin typeface="맑은 고딕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31.3</c:v>
                </c:pt>
                <c:pt idx="1">
                  <c:v>62.2</c:v>
                </c:pt>
                <c:pt idx="2">
                  <c:v>44.3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접합 단독형</c:v>
                </c:pt>
              </c:strCache>
            </c:strRef>
          </c:tx>
          <c:spPr>
            <a:ln w="57150">
              <a:solidFill>
                <a:srgbClr val="EA7A28"/>
              </a:solidFill>
            </a:ln>
          </c:spPr>
          <c:marker>
            <c:symbol val="circle"/>
            <c:size val="10"/>
            <c:spPr>
              <a:solidFill>
                <a:srgbClr val="EA7A28"/>
              </a:solidFill>
              <a:ln>
                <a:solidFill>
                  <a:srgbClr val="EA7A28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/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/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/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150" b="1">
                    <a:solidFill>
                      <a:srgbClr val="EA7A28"/>
                    </a:solidFill>
                    <a:latin typeface="맑은 고딕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25.1</c:v>
                </c:pt>
                <c:pt idx="1">
                  <c:v>23.0</c:v>
                </c:pt>
                <c:pt idx="2">
                  <c:v>45.4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공정 단독형</c:v>
                </c:pt>
              </c:strCache>
            </c:strRef>
          </c:tx>
          <c:spPr>
            <a:ln w="25400">
              <a:solidFill>
                <a:srgbClr val="2563C9"/>
              </a:solidFill>
            </a:ln>
          </c:spPr>
          <c:marker>
            <c:symbol val="circle"/>
            <c:size val="7"/>
            <c:spPr>
              <a:solidFill>
                <a:srgbClr val="2563C9"/>
              </a:solidFill>
              <a:ln>
                <a:solidFill>
                  <a:srgbClr val="2563C9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/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/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/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150" b="1">
                    <a:solidFill>
                      <a:srgbClr val="2563C9"/>
                    </a:solidFill>
                    <a:latin typeface="맑은 고딕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43.6</c:v>
                </c:pt>
                <c:pt idx="1">
                  <c:v>14.8</c:v>
                </c:pt>
                <c:pt idx="2">
                  <c:v>10.4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0.0"/>
          <c:min val="0.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</a:p>
        </c:txPr>
        <c:crossAx val="2118791784"/>
        <c:crosses val="autoZero"/>
        <c:majorUnit val="20.0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1E2532"/>
              </a:solidFill>
              <a:latin typeface="맑은 고딕"/>
              <a:ea typeface="맑은 고딕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웨이퍼 제조공정</c:v>
                </c:pt>
              </c:strCache>
            </c:strRef>
          </c:tx>
          <c:spPr>
            <a:ln w="44450">
              <a:solidFill>
                <a:srgbClr val="2563C9"/>
              </a:solidFill>
            </a:ln>
          </c:spPr>
          <c:marker>
            <c:symbol val="circle"/>
            <c:size val="9"/>
            <c:spPr>
              <a:solidFill>
                <a:srgbClr val="2563C9"/>
              </a:solidFill>
              <a:ln>
                <a:solidFill>
                  <a:srgbClr val="2563C9"/>
                </a:solidFill>
              </a:ln>
            </c:spPr>
          </c:marker>
          <c:dLbls>
            <c:dLbl>
              <c:idx val="2"/>
              <c:tx>
                <c:rich>
                  <a:bodyPr/>
                  <a:lstStyle/>
                  <a:p>
                    <a:r>
                      <a:rPr sz="1100" b="1" i="0" lang="ko-KR" altLang="en-US">
                        <a:solidFill>
                          <a:srgbClr val="2563C9"/>
                        </a:solidFill>
                        <a:latin typeface="맑은 고딕"/>
                        <a:ea typeface="맑은 고딕"/>
                        <a:cs typeface="맑은 고딕"/>
                      </a:rPr>
                      <a:t>0.159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00" sourceLinked="0"/>
            <c:txPr>
              <a:bodyPr/>
              <a:lstStyle/>
              <a:p>
                <a:pPr>
                  <a:defRPr sz="1100" b="1">
                    <a:solidFill>
                      <a:srgbClr val="2563C9"/>
                    </a:solidFill>
                    <a:latin typeface="맑은 고딕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0.306</c:v>
                </c:pt>
                <c:pt idx="1">
                  <c:v>0.598</c:v>
                </c:pt>
                <c:pt idx="2">
                  <c:v>0.159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공정 장치</c:v>
                </c:pt>
              </c:strCache>
            </c:strRef>
          </c:tx>
          <c:spPr>
            <a:ln w="44450">
              <a:solidFill>
                <a:srgbClr val="10A39A"/>
              </a:solidFill>
            </a:ln>
          </c:spPr>
          <c:marker>
            <c:symbol val="circle"/>
            <c:size val="9"/>
            <c:spPr>
              <a:solidFill>
                <a:srgbClr val="10A39A"/>
              </a:solidFill>
              <a:ln>
                <a:solidFill>
                  <a:srgbClr val="10A39A"/>
                </a:solidFill>
              </a:ln>
            </c:spPr>
          </c:marker>
          <c:dLbls>
            <c:dLbl>
              <c:idx val="2"/>
              <c:tx>
                <c:rich>
                  <a:bodyPr/>
                  <a:lstStyle/>
                  <a:p>
                    <a:r>
                      <a:rPr sz="1100" b="1" i="0" lang="ko-KR" altLang="en-US">
                        <a:solidFill>
                          <a:srgbClr val="10A39A"/>
                        </a:solidFill>
                        <a:latin typeface="맑은 고딕"/>
                        <a:ea typeface="맑은 고딕"/>
                        <a:cs typeface="맑은 고딕"/>
                      </a:rPr>
                      <a:t>0.176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00" sourceLinked="0"/>
            <c:txPr>
              <a:bodyPr/>
              <a:lstStyle/>
              <a:p>
                <a:pPr>
                  <a:defRPr sz="1100" b="1">
                    <a:solidFill>
                      <a:srgbClr val="10A39A"/>
                    </a:solidFill>
                    <a:latin typeface="맑은 고딕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0.046</c:v>
                </c:pt>
                <c:pt idx="1">
                  <c:v>0.059</c:v>
                </c:pt>
                <c:pt idx="2">
                  <c:v>0.176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패키징 단계 공정</c:v>
                </c:pt>
              </c:strCache>
            </c:strRef>
          </c:tx>
          <c:spPr>
            <a:ln w="44450">
              <a:solidFill>
                <a:srgbClr val="E0A100"/>
              </a:solidFill>
            </a:ln>
          </c:spPr>
          <c:marker>
            <c:symbol val="circle"/>
            <c:size val="9"/>
            <c:spPr>
              <a:solidFill>
                <a:srgbClr val="E0A100"/>
              </a:solidFill>
              <a:ln>
                <a:solidFill>
                  <a:srgbClr val="E0A100"/>
                </a:solidFill>
              </a:ln>
            </c:spPr>
          </c:marker>
          <c:dLbls>
            <c:numFmt formatCode="0.000" sourceLinked="0"/>
            <c:txPr>
              <a:bodyPr/>
              <a:lstStyle/>
              <a:p>
                <a:pPr>
                  <a:defRPr sz="1100" b="1">
                    <a:solidFill>
                      <a:srgbClr val="E0A100"/>
                    </a:solidFill>
                    <a:latin typeface="맑은 고딕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0.194</c:v>
                </c:pt>
                <c:pt idx="1">
                  <c:v>0.234</c:v>
                </c:pt>
                <c:pt idx="2">
                  <c:v>0.268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7"/>
          <c:min val="0.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 i="0" lang="ko-KR" altLang="en-US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접합 기호와의 Jaccard 계수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</a:p>
        </c:txPr>
        <c:crossAx val="2118791784"/>
        <c:crosses val="autoZero"/>
        <c:majorUnit val="0.2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1E2532"/>
              </a:solidFill>
              <a:latin typeface="맑은 고딕"/>
              <a:ea typeface="맑은 고딕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본문(머리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00" y="144000"/>
            <a:ext cx="9216000" cy="45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0" name="Header bar"/>
          <p:cNvSpPr/>
          <p:nvPr/>
        </p:nvSpPr>
        <p:spPr>
          <a:xfrm>
            <a:off x="432000" y="223200"/>
            <a:ext cx="46800" cy="295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cxnSp>
        <p:nvCxnSpPr>
          <p:cNvPr id="201" name="Connector 2"/>
          <p:cNvCxnSpPr/>
          <p:nvPr/>
        </p:nvCxnSpPr>
        <p:spPr>
          <a:xfrm>
            <a:off x="0" y="691200"/>
            <a:ext cx="12192120" cy="0"/>
          </a:xfrm>
          <a:prstGeom prst="line">
            <a:avLst/>
          </a:prstGeom>
          <a:ln w="9525">
            <a:solidFill>
              <a:srgbClr val="D5DBE3"/>
            </a:solidFill>
          </a:ln>
        </p:spPr>
      </p:cxnSp>
      <p:sp>
        <p:nvSpPr>
          <p:cNvPr id="202" name="Footer"/>
          <p:cNvSpPr txBox="1"/>
          <p:nvPr/>
        </p:nvSpPr>
        <p:spPr>
          <a:xfrm>
            <a:off x="540000" y="6570000"/>
            <a:ext cx="432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이형규 · 석사학위논문 심사</a:t>
            </a:r>
          </a:p>
        </p:txBody>
      </p:sp>
      <p:sp>
        <p:nvSpPr>
          <p:cNvPr id="203" name="Page number"/>
          <p:cNvSpPr txBox="1"/>
          <p:nvPr/>
        </p:nvSpPr>
        <p:spPr>
          <a:xfrm>
            <a:off x="11016000" y="65700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fld id="{B6F15528-21DE-4FAA-801E-634DDDAF4B2B}" type="slidenum"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‹#›</a:t>
            </a:fld>
          </a:p>
        </p:txBody>
      </p:sp>
      <p:pic>
        <p:nvPicPr>
          <p:cNvPr id="204" name="Emblem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0120" y="115200"/>
            <a:ext cx="450000" cy="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전체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0" y="144000"/>
            <a:ext cx="9216000" cy="4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000" y="936000"/>
            <a:ext cx="11112120" cy="50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000" y="6570000"/>
            <a:ext cx="216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60000" y="6570000"/>
            <a:ext cx="432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16000" y="6570000"/>
            <a:ext cx="936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200" kern="1200" b="1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chart" Target="../charts/char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chart" Target="../charts/char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chart" Target="../charts/char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chart" Target="../charts/char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chart" Target="../charts/char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chart" Target="../charts/char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3.png"/><Relationship Id="rId4" Type="http://schemas.openxmlformats.org/officeDocument/2006/relationships/image" Target="../media/image10.png"/><Relationship Id="rId5" Type="http://schemas.openxmlformats.org/officeDocument/2006/relationships/image" Target="../media/image2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image" descr="wa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52000" y="0"/>
            <a:ext cx="7440120" cy="6858000"/>
          </a:xfrm>
          <a:prstGeom prst="rect">
            <a:avLst/>
          </a:prstGeom>
          <a:solidFill>
            <a:srgbClr val="060810">
              <a:alpha val="80000"/>
            </a:srgbClr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00000" y="792000"/>
            <a:ext cx="2016000" cy="342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A227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석사학위논문 심사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0" y="1332000"/>
            <a:ext cx="6336000" cy="19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4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반도체 하이브리드 본딩의</a:t>
            </a:r>
          </a:p>
          <a:p>
            <a:pPr algn="l" marL="0" indent="0">
              <a:lnSpc>
                <a:spcPts val="4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lang="ko-KR" altLang="en-US">
                <a:solidFill>
                  <a:srgbClr val="C5B5FF"/>
                </a:solidFill>
                <a:latin typeface="맑은 고딕"/>
                <a:ea typeface="맑은 고딕"/>
                <a:cs typeface="맑은 고딕"/>
              </a:rPr>
              <a:t>공정 단계 간 기술융합</a:t>
            </a:r>
          </a:p>
          <a:p>
            <a:pPr algn="l" marL="0" indent="0">
              <a:lnSpc>
                <a:spcPts val="4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 특허 기반 종단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0" y="3330000"/>
            <a:ext cx="6264000" cy="57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 lang="ko-KR" altLang="en-US">
                <a:solidFill>
                  <a:srgbClr val="B9C6DD"/>
                </a:solidFill>
                <a:latin typeface="맑은 고딕"/>
                <a:ea typeface="맑은 고딕"/>
                <a:cs typeface="맑은 고딕"/>
              </a:rPr>
              <a:t>Cross-Stage Technology Convergence in Semiconductor Hybrid Bonding: A Patent-Based Longitudinal Analysis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0" y="4104000"/>
            <a:ext cx="6048000" cy="0"/>
          </a:xfrm>
          <a:prstGeom prst="line">
            <a:avLst/>
          </a:prstGeom>
          <a:ln w="12700">
            <a:solidFill>
              <a:srgbClr val="4A5670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00000" y="4248000"/>
            <a:ext cx="6264000" cy="165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이형규</a:t>
            </a:r>
          </a:p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400" b="0" i="0" lang="ko-KR" altLang="en-US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한양대학교 기술경영전문대학원 기술경영학과</a:t>
            </a:r>
          </a:p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400" b="0" i="0" lang="ko-KR" altLang="en-US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지도교수  강민구</a:t>
            </a:r>
          </a:p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lang="ko-KR" altLang="en-US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2026년 11월</a:t>
            </a:r>
          </a:p>
        </p:txBody>
      </p:sp>
      <p:pic>
        <p:nvPicPr>
          <p:cNvPr id="9" name="Picture 8" descr="embl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8120" y="5814000"/>
            <a:ext cx="576000" cy="57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Contents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7660" y="1404000"/>
            <a:ext cx="2016000" cy="410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7660" y="1656000"/>
            <a:ext cx="2016000" cy="5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Oval 4"/>
          <p:cNvSpPr/>
          <p:nvPr/>
        </p:nvSpPr>
        <p:spPr>
          <a:xfrm>
            <a:off x="1113660" y="2484000"/>
            <a:ext cx="864000" cy="864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6" name="Picture 5" descr="FaLight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60" y="2700000"/>
            <a:ext cx="432000" cy="43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5660" y="3600000"/>
            <a:ext cx="180000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660" y="4536000"/>
            <a:ext cx="1800000" cy="57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2860" y="1404000"/>
            <a:ext cx="2016000" cy="410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2860" y="1656000"/>
            <a:ext cx="2016000" cy="5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1" name="Oval 10"/>
          <p:cNvSpPr/>
          <p:nvPr/>
        </p:nvSpPr>
        <p:spPr>
          <a:xfrm>
            <a:off x="3388860" y="2484000"/>
            <a:ext cx="864000" cy="864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12" name="Picture 11" descr="FaBookOpe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860" y="2700000"/>
            <a:ext cx="432000" cy="43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20860" y="3600000"/>
            <a:ext cx="180000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이론적 배경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0860" y="4536000"/>
            <a:ext cx="1800000" cy="57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Theoretical Background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8060" y="1404000"/>
            <a:ext cx="2016000" cy="410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8060" y="1656000"/>
            <a:ext cx="2016000" cy="5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7" name="Oval 16"/>
          <p:cNvSpPr/>
          <p:nvPr/>
        </p:nvSpPr>
        <p:spPr>
          <a:xfrm>
            <a:off x="5664060" y="2484000"/>
            <a:ext cx="864000" cy="864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18" name="Picture 17" descr="FaMagnifyingGlas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0060" y="2700000"/>
            <a:ext cx="432000" cy="43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96060" y="3600000"/>
            <a:ext cx="180000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 질문 및</a:t>
            </a:r>
          </a:p>
          <a:p>
            <a:pPr algn="ctr" marL="0" indent="0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 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6060" y="4536000"/>
            <a:ext cx="1800000" cy="57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Research Questions &amp; Methods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3260" y="1404000"/>
            <a:ext cx="2016000" cy="410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3260" y="1656000"/>
            <a:ext cx="2016000" cy="5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3" name="Oval 22"/>
          <p:cNvSpPr/>
          <p:nvPr/>
        </p:nvSpPr>
        <p:spPr>
          <a:xfrm>
            <a:off x="7939260" y="2484000"/>
            <a:ext cx="864000" cy="864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24" name="Picture 23" descr="FaChartLin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5260" y="2700000"/>
            <a:ext cx="432000" cy="432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71260" y="3600000"/>
            <a:ext cx="180000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 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1260" y="4536000"/>
            <a:ext cx="1800000" cy="57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Results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38460" y="1404000"/>
            <a:ext cx="2016000" cy="410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38460" y="1656000"/>
            <a:ext cx="2016000" cy="5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9" name="Oval 28"/>
          <p:cNvSpPr/>
          <p:nvPr/>
        </p:nvSpPr>
        <p:spPr>
          <a:xfrm>
            <a:off x="10214460" y="2484000"/>
            <a:ext cx="864000" cy="864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30" name="Picture 29" descr="FaBullsey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0460" y="2700000"/>
            <a:ext cx="432000" cy="432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746460" y="3600000"/>
            <a:ext cx="180000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6460" y="4536000"/>
            <a:ext cx="1800000" cy="57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요약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경계를 넘는 발명은 예외가 아니었고, 한 방향으로 쌓이지 않았으며, 그 중심은 핵심에서 주변으로 옮겨 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54000"/>
            <a:ext cx="6624000" cy="153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116000"/>
            <a:ext cx="684000" cy="342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0000" y="1098000"/>
            <a:ext cx="5472000" cy="37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경계를 넘는 발명은 예외가 아니다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000" y="1566000"/>
            <a:ext cx="61920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통합형 45.8%</a:t>
            </a:r>
            <a:r>
              <a:rPr sz="15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(좁은 정의 37.2%)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1962000"/>
            <a:ext cx="619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세부 기술을 다양하게 포함한 출원일수록 통합형일 가능성이 높음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628000"/>
            <a:ext cx="6624000" cy="153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0000" y="2790000"/>
            <a:ext cx="684000" cy="342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0000" y="2772000"/>
            <a:ext cx="5472000" cy="37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융합은 세 국면을 거쳤다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3240000"/>
            <a:ext cx="61920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단독형 43.6% → 통합형 62.2% → 접합 단독형 45.4%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000" y="3636000"/>
            <a:ext cx="619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형성기(–2014) → 확산기(2015–2019) → 재편기(2020–2024)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000" y="4302000"/>
            <a:ext cx="6624000" cy="153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0000" y="4464000"/>
            <a:ext cx="684000" cy="342000"/>
          </a:xfrm>
          <a:prstGeom prst="roundRect">
            <a:avLst>
              <a:gd name="adj" fmla="val 50000"/>
            </a:avLst>
          </a:prstGeom>
          <a:solidFill>
            <a:srgbClr val="EA7A28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0000" y="4446000"/>
            <a:ext cx="5472000" cy="37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융합의 중심이 주변으로 옮겨 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4914000"/>
            <a:ext cx="61920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기술의 승산비 11.1 → 2.5 → 비유의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" y="5310000"/>
            <a:ext cx="619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결합 중심: 웨이퍼 제조공정 → 공정 장치 · 패키징 단계 공정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000" y="954000"/>
            <a:ext cx="4200120" cy="487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6000" y="1656000"/>
            <a:ext cx="2232000" cy="2232000"/>
          </a:xfrm>
          <a:prstGeom prst="ellipse">
            <a:avLst/>
          </a:prstGeom>
          <a:solidFill>
            <a:srgbClr val="2563C9">
              <a:alpha val="22000"/>
            </a:srgbClr>
          </a:solidFill>
          <a:ln w="19050">
            <a:solidFill>
              <a:srgbClr val="2563C9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80000" y="1656000"/>
            <a:ext cx="2232000" cy="2232000"/>
          </a:xfrm>
          <a:prstGeom prst="ellipse">
            <a:avLst/>
          </a:prstGeom>
          <a:solidFill>
            <a:srgbClr val="EA7A28">
              <a:alpha val="22000"/>
            </a:srgbClr>
          </a:solidFill>
          <a:ln w="19050">
            <a:solidFill>
              <a:srgbClr val="EA7A28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4000" y="2340000"/>
            <a:ext cx="118800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전공정</a:t>
            </a:r>
          </a:p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제조공정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H01L21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16000" y="2340000"/>
            <a:ext cx="118800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후공정</a:t>
            </a:r>
          </a:p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H01L24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6000" y="2574000"/>
            <a:ext cx="1116000" cy="396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통합형</a:t>
            </a:r>
          </a:p>
        </p:txBody>
      </p:sp>
      <p:sp>
        <p:nvSpPr>
          <p:cNvPr id="25" name="Oval 24"/>
          <p:cNvSpPr/>
          <p:nvPr/>
        </p:nvSpPr>
        <p:spPr>
          <a:xfrm>
            <a:off x="10392120" y="4356000"/>
            <a:ext cx="936000" cy="936000"/>
          </a:xfrm>
          <a:prstGeom prst="ellipse">
            <a:avLst/>
          </a:prstGeom>
          <a:solidFill>
            <a:srgbClr val="10A39A">
              <a:alpha val="85000"/>
            </a:srgbClr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8120" y="4500000"/>
            <a:ext cx="1224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주변</a:t>
            </a:r>
          </a:p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82000" y="3816000"/>
            <a:ext cx="582120" cy="900000"/>
          </a:xfrm>
          <a:prstGeom prst="line">
            <a:avLst/>
          </a:prstGeom>
          <a:ln w="38100">
            <a:solidFill>
              <a:srgbClr val="10A39A"/>
            </a:solidFill>
            <a:tailEnd type="triangle" w="med" len="med"/>
          </a:ln>
        </p:spPr>
      </p:cxnSp>
      <p:sp>
        <p:nvSpPr>
          <p:cNvPr id="28" name="TextBox 27"/>
          <p:cNvSpPr txBox="1"/>
          <p:nvPr/>
        </p:nvSpPr>
        <p:spPr>
          <a:xfrm>
            <a:off x="7668000" y="4284000"/>
            <a:ext cx="2508120" cy="11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00" b="1" i="0" lang="ko-KR" altLang="en-US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재편기</a:t>
            </a:r>
          </a:p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다이 지지 · 봉지 공정</a:t>
            </a:r>
          </a:p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공정 장치가 연결의 중심으로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1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서론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더 높이, 더 촘촘히 쌓기 위한 연결 기술: 하이브리드 본딩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0000" y="972000"/>
            <a:ext cx="3744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6000" y="1242000"/>
            <a:ext cx="936000" cy="936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6" name="Picture 5" descr="FaRobo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00" y="1476000"/>
            <a:ext cx="468000" cy="46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32000" y="1296000"/>
            <a:ext cx="234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생성형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2000" y="1746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Generative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000" y="2646000"/>
            <a:ext cx="3744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6000" y="2916000"/>
            <a:ext cx="936000" cy="936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11" name="Picture 10" descr="FaMicrochi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000" y="3150000"/>
            <a:ext cx="468000" cy="46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32000" y="2970000"/>
            <a:ext cx="234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 가속기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2000" y="3420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AI Accelerator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000" y="4320000"/>
            <a:ext cx="3744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6000" y="4590000"/>
            <a:ext cx="936000" cy="936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16" name="Picture 15" descr="FaMemory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0000" y="4824000"/>
            <a:ext cx="468000" cy="468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32000" y="4644000"/>
            <a:ext cx="2340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2000" y="5094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High Bandwidth Memory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96000" y="2736000"/>
            <a:ext cx="936000" cy="1152000"/>
          </a:xfrm>
          <a:prstGeom prst="rightArrow">
            <a:avLst/>
          </a:prstGeom>
          <a:solidFill>
            <a:srgbClr val="C9D2E0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0000" y="972000"/>
            <a:ext cx="5544000" cy="502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96000" y="1296000"/>
            <a:ext cx="3096000" cy="360000"/>
          </a:xfrm>
          <a:prstGeom prst="rect">
            <a:avLst/>
          </a:prstGeom>
          <a:solidFill>
            <a:srgbClr val="8FA6CC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6000" y="1296000"/>
            <a:ext cx="3096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DRAM 다이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96000" y="1656000"/>
            <a:ext cx="3096000" cy="1224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22000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02571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3143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63714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44286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24857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05429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86000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96000" y="1778400"/>
            <a:ext cx="3096000" cy="360000"/>
          </a:xfrm>
          <a:prstGeom prst="rect">
            <a:avLst/>
          </a:prstGeom>
          <a:solidFill>
            <a:srgbClr val="7F98C2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96000" y="2138400"/>
            <a:ext cx="3096000" cy="1224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22000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02571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83143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63714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44286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24857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05429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86000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96000" y="2260800"/>
            <a:ext cx="3096000" cy="360000"/>
          </a:xfrm>
          <a:prstGeom prst="rect">
            <a:avLst/>
          </a:prstGeom>
          <a:solidFill>
            <a:srgbClr val="6F8AB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96000" y="2620800"/>
            <a:ext cx="3096000" cy="1224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22000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202571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583143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63714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44286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724857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05429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486000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96000" y="2743200"/>
            <a:ext cx="3096000" cy="360000"/>
          </a:xfrm>
          <a:prstGeom prst="rect">
            <a:avLst/>
          </a:prstGeom>
          <a:solidFill>
            <a:srgbClr val="607DA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96000" y="3103200"/>
            <a:ext cx="3096000" cy="1224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22000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02571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583143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963714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344286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724857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05429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86000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516000" y="3225600"/>
            <a:ext cx="3456000" cy="432000"/>
          </a:xfrm>
          <a:prstGeom prst="rect">
            <a:avLst/>
          </a:prstGeom>
          <a:solidFill>
            <a:srgbClr val="3E5A8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16000" y="3225600"/>
            <a:ext cx="3456000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베이스(로직) 다이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810000" y="2199600"/>
            <a:ext cx="270000" cy="0"/>
          </a:xfrm>
          <a:prstGeom prst="line">
            <a:avLst/>
          </a:prstGeom>
          <a:ln w="15875">
            <a:solidFill>
              <a:srgbClr val="13294B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10116000" y="1929600"/>
            <a:ext cx="1224000" cy="86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하이브리드</a:t>
            </a:r>
          </a:p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본딩 계면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Cu 패드 +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산화막 직접 접합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0000" y="4176000"/>
            <a:ext cx="5544000" cy="68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Hybrid Bonding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0000" y="4860000"/>
            <a:ext cx="554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차세대 HBM 적층의 접합 기술 (개념도)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1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서론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미세화의 한계 이후, 전공정과 후공정 사이의 인터페이스가 변하고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0000" y="972000"/>
            <a:ext cx="4176000" cy="2016000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6000" y="1134000"/>
            <a:ext cx="3744000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전공정</a:t>
            </a:r>
            <a:r>
              <a:rPr sz="1400" b="0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  Front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38000"/>
            <a:ext cx="374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웨이퍼 위 트랜지스터 형성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6000" y="2196000"/>
            <a:ext cx="3744000" cy="43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종합반도체기업(IDM) · 파운드리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16120" y="972000"/>
            <a:ext cx="4176000" cy="20160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2120" y="1134000"/>
            <a:ext cx="3744000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후공정</a:t>
            </a:r>
            <a:r>
              <a:rPr sz="1400" b="0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  Back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2120" y="1638000"/>
            <a:ext cx="374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절단 · 조립 · 패키징 · 테스트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32120" y="2196000"/>
            <a:ext cx="3744000" cy="43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조립·테스트 전문업체(OSAT)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60" y="1044000"/>
            <a:ext cx="0" cy="684000"/>
          </a:xfrm>
          <a:prstGeom prst="line">
            <a:avLst/>
          </a:prstGeom>
          <a:ln w="25400">
            <a:solidFill>
              <a:srgbClr val="13294B"/>
            </a:solidFill>
            <a:prstDash val="dash"/>
          </a:ln>
        </p:spPr>
      </p:cxnSp>
      <p:cxnSp>
        <p:nvCxnSpPr>
          <p:cNvPr id="13" name="Connector 12"/>
          <p:cNvCxnSpPr/>
          <p:nvPr/>
        </p:nvCxnSpPr>
        <p:spPr>
          <a:xfrm>
            <a:off x="6096060" y="2538000"/>
            <a:ext cx="0" cy="378000"/>
          </a:xfrm>
          <a:prstGeom prst="line">
            <a:avLst/>
          </a:prstGeom>
          <a:ln w="25400">
            <a:solidFill>
              <a:srgbClr val="13294B"/>
            </a:solidFill>
            <a:prstDash val="dash"/>
          </a:ln>
        </p:spPr>
      </p:cxnSp>
      <p:sp>
        <p:nvSpPr>
          <p:cNvPr id="14" name="Rounded Rectangle 13"/>
          <p:cNvSpPr/>
          <p:nvPr/>
        </p:nvSpPr>
        <p:spPr>
          <a:xfrm>
            <a:off x="5160060" y="1782000"/>
            <a:ext cx="1872000" cy="396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인터페이스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4060" y="2214000"/>
            <a:ext cx="2304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반세기 이상의 분업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0060" y="3456000"/>
            <a:ext cx="3204000" cy="17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17" name="Picture 16" descr="FaHourglassHalf_1329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060" y="3636000"/>
            <a:ext cx="540000" cy="54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60" y="4248000"/>
            <a:ext cx="298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미세화의 한계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060" y="4626000"/>
            <a:ext cx="2988000" cy="68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집적도 향상 둔화 · 비용 급증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64060" y="4338000"/>
            <a:ext cx="540000" cy="0"/>
          </a:xfrm>
          <a:prstGeom prst="line">
            <a:avLst/>
          </a:prstGeom>
          <a:ln w="31750">
            <a:solidFill>
              <a:srgbClr val="13294B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4494060" y="3456000"/>
            <a:ext cx="3204000" cy="17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22" name="Picture 21" descr="FaLayerGroup_1329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6060" y="3636000"/>
            <a:ext cx="540000" cy="54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02060" y="4248000"/>
            <a:ext cx="298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첨단 패키징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2060" y="4626000"/>
            <a:ext cx="2988000" cy="68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다이 분할 · 적층 · 연결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88060" y="4338000"/>
            <a:ext cx="540000" cy="0"/>
          </a:xfrm>
          <a:prstGeom prst="line">
            <a:avLst/>
          </a:prstGeom>
          <a:ln w="31750">
            <a:solidFill>
              <a:srgbClr val="13294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8418060" y="3456000"/>
            <a:ext cx="3204000" cy="17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27" name="Picture 26" descr="FaLink_1329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0060" y="3636000"/>
            <a:ext cx="540000" cy="54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26060" y="4248000"/>
            <a:ext cx="298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단계 간 상호의존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6060" y="4626000"/>
            <a:ext cx="2988000" cy="68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한 단계의 성능이</a:t>
            </a:r>
          </a:p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다른 단계의 공정 역량에 의존</a:t>
            </a:r>
          </a:p>
        </p:txBody>
      </p:sp>
      <p:sp>
        <p:nvSpPr>
          <p:cNvPr id="30" name="Source"/>
          <p:cNvSpPr txBox="1"/>
          <p:nvPr/>
        </p:nvSpPr>
        <p:spPr>
          <a:xfrm>
            <a:off x="540000" y="5400000"/>
            <a:ext cx="1111212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Kapoor (2013); Macher &amp; Mowery (2004); Arden et al. (2010); Khan et al. (2018)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1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서론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후공정의 목표를 위해 전공정의 역량이 필요해졌다: 두 공정 단계의 경계가 흔들린다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6000" y="936000"/>
            <a:ext cx="4572000" cy="3708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16000" y="990000"/>
            <a:ext cx="457200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솔더 범프 접합과 하이브리드 본딩 (개념도)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96000" y="1350000"/>
            <a:ext cx="185400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기존: 솔더 범프</a:t>
            </a:r>
          </a:p>
        </p:txBody>
      </p:sp>
      <p:sp>
        <p:nvSpPr>
          <p:cNvPr id="7" name="Rectangle 6"/>
          <p:cNvSpPr/>
          <p:nvPr/>
        </p:nvSpPr>
        <p:spPr>
          <a:xfrm>
            <a:off x="3996000" y="1692000"/>
            <a:ext cx="1854000" cy="540000"/>
          </a:xfrm>
          <a:prstGeom prst="rect">
            <a:avLst/>
          </a:prstGeom>
          <a:solidFill>
            <a:srgbClr val="8A97A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94000" y="2224800"/>
            <a:ext cx="306000" cy="302400"/>
          </a:xfrm>
          <a:prstGeom prst="ellipse">
            <a:avLst/>
          </a:prstGeom>
          <a:solidFill>
            <a:srgbClr val="A9AFBA"/>
          </a:solidFill>
          <a:ln w="9525">
            <a:solidFill>
              <a:srgbClr val="7D8594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82000" y="2224800"/>
            <a:ext cx="306000" cy="302400"/>
          </a:xfrm>
          <a:prstGeom prst="ellipse">
            <a:avLst/>
          </a:prstGeom>
          <a:solidFill>
            <a:srgbClr val="A9AFBA"/>
          </a:solidFill>
          <a:ln w="9525">
            <a:solidFill>
              <a:srgbClr val="7D8594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70000" y="2224800"/>
            <a:ext cx="306000" cy="302400"/>
          </a:xfrm>
          <a:prstGeom prst="ellipse">
            <a:avLst/>
          </a:prstGeom>
          <a:solidFill>
            <a:srgbClr val="A9AFBA"/>
          </a:solidFill>
          <a:ln w="9525">
            <a:solidFill>
              <a:srgbClr val="7D8594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58000" y="2224800"/>
            <a:ext cx="306000" cy="302400"/>
          </a:xfrm>
          <a:prstGeom prst="ellipse">
            <a:avLst/>
          </a:prstGeom>
          <a:solidFill>
            <a:srgbClr val="A9AFBA"/>
          </a:solidFill>
          <a:ln w="9525">
            <a:solidFill>
              <a:srgbClr val="7D8594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46000" y="2224800"/>
            <a:ext cx="306000" cy="302400"/>
          </a:xfrm>
          <a:prstGeom prst="ellipse">
            <a:avLst/>
          </a:prstGeom>
          <a:solidFill>
            <a:srgbClr val="A9AFBA"/>
          </a:solidFill>
          <a:ln w="9525">
            <a:solidFill>
              <a:srgbClr val="7D8594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96000" y="2520000"/>
            <a:ext cx="1854000" cy="540000"/>
          </a:xfrm>
          <a:prstGeom prst="rect">
            <a:avLst/>
          </a:prstGeom>
          <a:solidFill>
            <a:srgbClr val="5E6C85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6000" y="3132000"/>
            <a:ext cx="185400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연결 간격 축소에 한계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4000" y="1350000"/>
            <a:ext cx="185400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하이브리드 본딩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4000" y="1692000"/>
            <a:ext cx="1854000" cy="540000"/>
          </a:xfrm>
          <a:prstGeom prst="rect">
            <a:avLst/>
          </a:prstGeom>
          <a:solidFill>
            <a:srgbClr val="8A97A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4000" y="2095200"/>
            <a:ext cx="1854000" cy="1368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4000" y="2268000"/>
            <a:ext cx="1854000" cy="1368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160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60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716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716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272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272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828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828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384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384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40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940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4000" y="2232000"/>
            <a:ext cx="1854000" cy="3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4000" y="2404800"/>
            <a:ext cx="1854000" cy="540000"/>
          </a:xfrm>
          <a:prstGeom prst="rect">
            <a:avLst/>
          </a:prstGeom>
          <a:solidFill>
            <a:srgbClr val="5E6C85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4000" y="3016800"/>
            <a:ext cx="185400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10 µm 이하 연결 간격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0000" y="2304000"/>
            <a:ext cx="324000" cy="0"/>
          </a:xfrm>
          <a:prstGeom prst="line">
            <a:avLst/>
          </a:prstGeom>
          <a:ln w="31750">
            <a:solidFill>
              <a:srgbClr val="7C3AED"/>
            </a:solidFill>
            <a:tailEnd type="triangle" w="med" len="med"/>
          </a:ln>
        </p:spPr>
      </p:cxnSp>
      <p:sp>
        <p:nvSpPr>
          <p:cNvPr id="35" name="Rectangle 34"/>
          <p:cNvSpPr/>
          <p:nvPr/>
        </p:nvSpPr>
        <p:spPr>
          <a:xfrm>
            <a:off x="4140000" y="3438000"/>
            <a:ext cx="151200" cy="151200"/>
          </a:xfrm>
          <a:prstGeom prst="rect">
            <a:avLst/>
          </a:prstGeom>
          <a:solidFill>
            <a:srgbClr val="A9AFB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38000" y="3387600"/>
            <a:ext cx="79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솔더 범프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66000" y="3438000"/>
            <a:ext cx="151200" cy="1512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64000" y="3387600"/>
            <a:ext cx="79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산화막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2000" y="3438000"/>
            <a:ext cx="151200" cy="1512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90000" y="3387600"/>
            <a:ext cx="79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구리 패드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18000" y="3438000"/>
            <a:ext cx="151200" cy="151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16000" y="3387600"/>
            <a:ext cx="79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계면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8000" y="3726000"/>
            <a:ext cx="4428000" cy="82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솔더 범프 없이 구리–구리, 산화막–산화막을 직접 접합</a:t>
            </a:r>
          </a:p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비유: 접착제(솔더)로 붙이기 → 거울처럼 평평한 두 면을 그대로 맞붙이기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0000" y="936000"/>
            <a:ext cx="2988000" cy="414000"/>
          </a:xfrm>
          <a:prstGeom prst="roundRect">
            <a:avLst>
              <a:gd name="adj" fmla="val 25000"/>
            </a:avLst>
          </a:prstGeom>
          <a:solidFill>
            <a:srgbClr val="2563C9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필수 역량 · 전공정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0000" y="1494000"/>
            <a:ext cx="2988000" cy="63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CMP 평탄화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나노미터 수준의 표면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0000" y="2232000"/>
            <a:ext cx="2988000" cy="63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표면 활성화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플라즈마 처리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0000" y="2970000"/>
            <a:ext cx="2988000" cy="63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파티클 제어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세정 · 오염 관리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0000" y="3708000"/>
            <a:ext cx="2988000" cy="63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정밀 정렬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패드 간 위치 정합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0000" y="4464000"/>
            <a:ext cx="2988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H01L21 (제조공정)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32000" y="936000"/>
            <a:ext cx="3120120" cy="414000"/>
          </a:xfrm>
          <a:prstGeom prst="roundRect">
            <a:avLst>
              <a:gd name="adj" fmla="val 25000"/>
            </a:avLst>
          </a:prstGeom>
          <a:solidFill>
            <a:srgbClr val="EA7A28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 · 후공정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32000" y="1494000"/>
            <a:ext cx="3120120" cy="864000"/>
          </a:xfrm>
          <a:prstGeom prst="roundRect">
            <a:avLst>
              <a:gd name="adj" fmla="val 18000"/>
            </a:avLst>
          </a:prstGeom>
          <a:solidFill>
            <a:srgbClr val="FDEBDD"/>
          </a:solidFill>
          <a:ln w="22225">
            <a:solidFill>
              <a:srgbClr val="EA7A28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10 µm 이하 연결 간격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연구 단계에서는 1 µm 이하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32000" y="2484000"/>
            <a:ext cx="3120120" cy="864000"/>
          </a:xfrm>
          <a:prstGeom prst="roundRect">
            <a:avLst>
              <a:gd name="adj" fmla="val 18000"/>
            </a:avLst>
          </a:prstGeom>
          <a:solidFill>
            <a:srgbClr val="FDEBDD"/>
          </a:solidFill>
          <a:ln w="22225">
            <a:solidFill>
              <a:srgbClr val="EA7A28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다이 · 웨이퍼의 직접 적층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W2W · D2W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32000" y="3474000"/>
            <a:ext cx="3120120" cy="864000"/>
          </a:xfrm>
          <a:prstGeom prst="roundRect">
            <a:avLst>
              <a:gd name="adj" fmla="val 18000"/>
            </a:avLst>
          </a:prstGeom>
          <a:solidFill>
            <a:srgbClr val="FDEBDD"/>
          </a:solidFill>
          <a:ln w="22225">
            <a:solidFill>
              <a:srgbClr val="EA7A28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HBM · 칩렛 · 3D 로직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CMOS 이미지센서 · 3D NAND에서 먼저 상용화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32000" y="4464000"/>
            <a:ext cx="312012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H01L24 (접합 · 인터커넥트)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0000" y="4824000"/>
            <a:ext cx="11112120" cy="9900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8000" y="4824000"/>
            <a:ext cx="10536120" cy="99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반세기의 분업은 두 단계 사이의 인터페이스가 안정적이라는 전제 위에 있었다.</a:t>
            </a:r>
          </a:p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D4A72C"/>
                </a:solidFill>
                <a:latin typeface="맑은 고딕"/>
                <a:ea typeface="맑은 고딕"/>
                <a:cs typeface="맑은 고딕"/>
              </a:rPr>
              <a:t>하이브리드 본딩은 후공정 기술의 성패를 전공정의 제조공정 역량에 의존하게 만든다.</a:t>
            </a:r>
          </a:p>
        </p:txBody>
      </p:sp>
      <p:sp>
        <p:nvSpPr>
          <p:cNvPr id="57" name="Source"/>
          <p:cNvSpPr txBox="1"/>
          <p:nvPr/>
        </p:nvSpPr>
        <p:spPr>
          <a:xfrm>
            <a:off x="540000" y="5886000"/>
            <a:ext cx="1111212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Lau (2021, 2022); KnowMade (2024)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1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서론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산업의 공정 단계 사이에서 일어나는 융합을, 개별 특허 수준에서, 시간에 따라 분석한다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16000"/>
            <a:ext cx="4788000" cy="4680000"/>
          </a:xfrm>
          <a:prstGeom prst="rect">
            <a:avLst/>
          </a:prstGeom>
          <a:noFill/>
          <a:ln w="12700">
            <a:solidFill>
              <a:srgbClr val="5B6475"/>
            </a:solidFill>
            <a:prstDash val="dash"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82000" y="936000"/>
            <a:ext cx="2592000" cy="360000"/>
          </a:xfrm>
          <a:prstGeom prst="rect">
            <a:avLst/>
          </a:prstGeom>
          <a:solidFill>
            <a:srgbClr val="5B6475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기존 기술융합 연구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000" y="1476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7" name="Picture 6" descr="FaSitemap_5B64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00" y="1602000"/>
            <a:ext cx="324000" cy="32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40000" y="1584000"/>
            <a:ext cx="3708000" cy="34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분석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6000" y="1962000"/>
            <a:ext cx="41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서로 다른 산업 · 기술 분야 사이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6000" y="2322000"/>
            <a:ext cx="4104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ICT–가전, 식품–제약, 나노–바이오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" y="2880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12" name="Picture 11" descr="FaFileLines_5B64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00" y="3006000"/>
            <a:ext cx="324000" cy="32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40000" y="2988000"/>
            <a:ext cx="3708000" cy="34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측정 단위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6000" y="3366000"/>
            <a:ext cx="41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분야 수준의 공동분류 · 인용 지수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000" y="3726000"/>
            <a:ext cx="4104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어떤 발명이 융합을 담는지 설명 어려움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000" y="4284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17" name="Picture 16" descr="FaClockRotateLeft_5B64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000" y="4410000"/>
            <a:ext cx="324000" cy="324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40000" y="4392000"/>
            <a:ext cx="3708000" cy="34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시간 관점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6000" y="4770000"/>
            <a:ext cx="41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융합 정도의 증가 추세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6000" y="5130000"/>
            <a:ext cx="4104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이론(단계적 과정)과의 간극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120" y="1116000"/>
            <a:ext cx="4788000" cy="4680000"/>
          </a:xfrm>
          <a:prstGeom prst="rect">
            <a:avLst/>
          </a:prstGeom>
          <a:noFill/>
          <a:ln w="12700">
            <a:solidFill>
              <a:srgbClr val="13294B"/>
            </a:solidFill>
            <a:prstDash val="dash"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18120" y="936000"/>
            <a:ext cx="2592000" cy="360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 연구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0120" y="1476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24" name="Picture 23" descr="FaSitemap_13294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2120" y="1602000"/>
            <a:ext cx="324000" cy="324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76120" y="1584000"/>
            <a:ext cx="3708000" cy="34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범위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2120" y="1962000"/>
            <a:ext cx="41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산업 안, 공정 단계 사이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2120" y="2322000"/>
            <a:ext cx="4104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전공정 제조공정 ↔ 후공정 접합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0120" y="2880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29" name="Picture 28" descr="FaFileLines_13294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2120" y="3006000"/>
            <a:ext cx="324000" cy="324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76120" y="2988000"/>
            <a:ext cx="3708000" cy="34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측정 단위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2120" y="3366000"/>
            <a:ext cx="41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개별 특허의 공동분류 유형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2120" y="3726000"/>
            <a:ext cx="4104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어떤 발명이 경계를 넘는지 추정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0120" y="4284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34" name="Picture 33" descr="FaClockRotateLeft_13294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2120" y="4410000"/>
            <a:ext cx="324000" cy="324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76120" y="4392000"/>
            <a:ext cx="3708000" cy="34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시간 관점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2120" y="4770000"/>
            <a:ext cx="41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융합의 내용과 중심의 변화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2120" y="5130000"/>
            <a:ext cx="4104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형성 · 확산 · 재편의 추적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5670000" y="3024000"/>
            <a:ext cx="852120" cy="86400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9" name="Source"/>
          <p:cNvSpPr txBox="1"/>
          <p:nvPr/>
        </p:nvSpPr>
        <p:spPr>
          <a:xfrm>
            <a:off x="540000" y="5868000"/>
            <a:ext cx="1111212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Hacklin et al. (2009, 2010); Curran &amp; Leker (2011); Bröring et al. (2006); No &amp; Park (2010); Karvonen &amp; Kässi (2012)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2.1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기술융합의 개념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단계 간 융합 = 기술융합의 고전적 개념을 한 산업 내부의 공정 경계에 적용한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7660" y="972000"/>
            <a:ext cx="3240000" cy="828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기술적 수렴</a:t>
            </a:r>
          </a:p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Technological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7660" y="1836000"/>
            <a:ext cx="324000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Rosenberg (1963)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7660" y="2160000"/>
            <a:ext cx="3240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660" y="2160000"/>
            <a:ext cx="2952000" cy="14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공통의 생산공정을 통해 가공 기술이</a:t>
            </a:r>
          </a:p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산업 경계를 넘어 확산</a:t>
            </a:r>
          </a:p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→ 공작기계 산업의 등장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57660" y="3690000"/>
            <a:ext cx="0" cy="288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537660" y="4032000"/>
            <a:ext cx="3240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660" y="4086000"/>
            <a:ext cx="295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하이브리드 본딩에서는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660" y="4338000"/>
            <a:ext cx="295200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공정 단계가 증착 · 식각 · 도금 · CMP</a:t>
            </a:r>
          </a:p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공정과 장비를 공유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67660" y="1386000"/>
            <a:ext cx="5184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4476060" y="972000"/>
            <a:ext cx="3240000" cy="828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기술융합</a:t>
            </a:r>
          </a:p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Technology Fusion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6060" y="1836000"/>
            <a:ext cx="324000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Kodama (1992)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6060" y="2160000"/>
            <a:ext cx="3240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0060" y="2160000"/>
            <a:ext cx="2952000" cy="14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분리된 기술 분야의 결합으로</a:t>
            </a:r>
          </a:p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어느 한 분야도 갖지 못한</a:t>
            </a:r>
          </a:p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역량을 창출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60" y="3690000"/>
            <a:ext cx="0" cy="288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4476060" y="4032000"/>
            <a:ext cx="3240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0060" y="4086000"/>
            <a:ext cx="295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하이브리드 본딩에서는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0060" y="4338000"/>
            <a:ext cx="295200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10 µm 이하 연결 간격은</a:t>
            </a:r>
          </a:p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영역의 결합으로만 달성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06060" y="1386000"/>
            <a:ext cx="5184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8414460" y="972000"/>
            <a:ext cx="3240000" cy="828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 모형</a:t>
            </a:r>
          </a:p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Stage Model of Convergence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4460" y="1836000"/>
            <a:ext cx="324000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Hacklin et al. (2009, 2010)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4460" y="2160000"/>
            <a:ext cx="3240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58460" y="2160000"/>
            <a:ext cx="2952000" cy="14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지식 → 기술 → 응용 → 산업 융합</a:t>
            </a:r>
          </a:p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단계 사이의 공진화적 순환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34460" y="3690000"/>
            <a:ext cx="0" cy="288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27" name="Rounded Rectangle 26"/>
          <p:cNvSpPr/>
          <p:nvPr/>
        </p:nvSpPr>
        <p:spPr>
          <a:xfrm>
            <a:off x="8414460" y="4032000"/>
            <a:ext cx="3240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58460" y="4086000"/>
            <a:ext cx="2952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하이브리드 본딩에서는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8460" y="4338000"/>
            <a:ext cx="295200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특허로 관찰할 수 있는 것은</a:t>
            </a:r>
          </a:p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"기술 융합" 단계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2.1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융합의 단계 모형과 하이브리드 본딩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본 연구가 특허 공동분류로 측정하는 것은 "기술 융합" 단계이다</a:t>
            </a:r>
          </a:p>
        </p:txBody>
      </p:sp>
      <p:sp>
        <p:nvSpPr>
          <p:cNvPr id="4" name="Pentagon 3"/>
          <p:cNvSpPr/>
          <p:nvPr/>
        </p:nvSpPr>
        <p:spPr>
          <a:xfrm>
            <a:off x="577260" y="1044000"/>
            <a:ext cx="2772000" cy="864000"/>
          </a:xfrm>
          <a:prstGeom prst="homePlate">
            <a:avLst>
              <a:gd name="adj" fmla="val 28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융합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Knowledge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3260" y="2088000"/>
            <a:ext cx="2574000" cy="216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9260" y="2214000"/>
            <a:ext cx="2322000" cy="10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제조공정 지식이 칩 연결 문제에 적용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9260" y="3330000"/>
            <a:ext cx="178200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39260" y="3402000"/>
            <a:ext cx="2322000" cy="75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평탄화 · 표면 활성화 · 웨이퍼 직접 접합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1260" y="4446000"/>
            <a:ext cx="2358000" cy="46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형성의 출발점</a:t>
            </a:r>
          </a:p>
        </p:txBody>
      </p:sp>
      <p:sp>
        <p:nvSpPr>
          <p:cNvPr id="10" name="Chevron 9"/>
          <p:cNvSpPr/>
          <p:nvPr/>
        </p:nvSpPr>
        <p:spPr>
          <a:xfrm>
            <a:off x="3374460" y="1044000"/>
            <a:ext cx="2772000" cy="864000"/>
          </a:xfrm>
          <a:prstGeom prst="chevron">
            <a:avLst>
              <a:gd name="adj" fmla="val 28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 융합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C8D3E6"/>
                </a:solidFill>
                <a:latin typeface="맑은 고딕"/>
                <a:ea typeface="맑은 고딕"/>
                <a:cs typeface="맑은 고딕"/>
              </a:rPr>
              <a:t>Technological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460" y="2088000"/>
            <a:ext cx="2574000" cy="21600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13294B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6460" y="2214000"/>
            <a:ext cx="2322000" cy="10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그 지식이 접합 구조 · 연결 방법과 하나의 발명 안에서 결합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06460" y="3330000"/>
            <a:ext cx="178200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3536460" y="3402000"/>
            <a:ext cx="2322000" cy="75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공동분류로 관찰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8460" y="4446000"/>
            <a:ext cx="2358000" cy="468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특허 공동분류로 직접 관찰</a:t>
            </a:r>
          </a:p>
        </p:txBody>
      </p:sp>
      <p:sp>
        <p:nvSpPr>
          <p:cNvPr id="16" name="Chevron 15"/>
          <p:cNvSpPr/>
          <p:nvPr/>
        </p:nvSpPr>
        <p:spPr>
          <a:xfrm>
            <a:off x="6171660" y="1044000"/>
            <a:ext cx="2772000" cy="864000"/>
          </a:xfrm>
          <a:prstGeom prst="chevron">
            <a:avLst>
              <a:gd name="adj" fmla="val 28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 융합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Applicational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7660" y="2088000"/>
            <a:ext cx="2574000" cy="216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3660" y="2214000"/>
            <a:ext cx="2322000" cy="10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결합된 기술이 제품으로 구현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603660" y="3330000"/>
            <a:ext cx="178200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333660" y="3402000"/>
            <a:ext cx="2322000" cy="75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이미지센서 · 3D NAND · HBM · 칩렛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660" y="4446000"/>
            <a:ext cx="2358000" cy="46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RQ3에서 간접적으로</a:t>
            </a:r>
          </a:p>
        </p:txBody>
      </p:sp>
      <p:sp>
        <p:nvSpPr>
          <p:cNvPr id="22" name="Chevron 21"/>
          <p:cNvSpPr/>
          <p:nvPr/>
        </p:nvSpPr>
        <p:spPr>
          <a:xfrm>
            <a:off x="8968860" y="1044000"/>
            <a:ext cx="2772000" cy="864000"/>
          </a:xfrm>
          <a:prstGeom prst="chevron">
            <a:avLst>
              <a:gd name="adj" fmla="val 28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산업 융합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Industrial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4860" y="2088000"/>
            <a:ext cx="2574000" cy="216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0860" y="2214000"/>
            <a:ext cx="2322000" cy="10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공정 단계 간 분업 구조의 재편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00860" y="3330000"/>
            <a:ext cx="178200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9130860" y="3402000"/>
            <a:ext cx="2322000" cy="75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파운드리의 첨단 패키징 내재화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12860" y="4446000"/>
            <a:ext cx="2358000" cy="46800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분석 범위 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5112000"/>
            <a:ext cx="1111212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특허 공동분류는 서로 다른 분야의 기술이 하나의 발명 안에서 결합되는 "기술 융합" 단계를 관찰하는 데 적합하다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540000" y="5508000"/>
            <a:ext cx="1111212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Hacklin et al. (2010); Curran &amp; Leker (2011); Lau (2022); KnowMade (2024)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2.2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수직 전문화와 지식 경계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인터페이스가 불안정해지면, 지식의 결합은 조직보다 먼저 발명에서 나타난다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6000" y="1260000"/>
            <a:ext cx="2628000" cy="936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팹리스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7200" y="1728000"/>
            <a:ext cx="2016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3672000" y="1260000"/>
            <a:ext cx="2628000" cy="936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제조</a:t>
            </a:r>
          </a:p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종합반도체기업 · 파운드리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343200" y="1728000"/>
            <a:ext cx="2016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6588000" y="1260000"/>
            <a:ext cx="2628000" cy="936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조립 · 테스트</a:t>
            </a:r>
          </a:p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조립·테스트 전문업체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4000" y="1116000"/>
            <a:ext cx="2844000" cy="122400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2563C9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4000" y="2376000"/>
            <a:ext cx="2844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생산의 경계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000" y="918000"/>
            <a:ext cx="5139000" cy="1908000"/>
          </a:xfrm>
          <a:prstGeom prst="roundRect">
            <a:avLst>
              <a:gd name="adj" fmla="val 6000"/>
            </a:avLst>
          </a:prstGeom>
          <a:noFill/>
          <a:ln w="31750">
            <a:solidFill>
              <a:srgbClr val="7C3AED"/>
            </a:solidFill>
            <a:prstDash val="dash"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3000" y="2574000"/>
            <a:ext cx="172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지식의 경계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40000" y="972000"/>
            <a:ext cx="2112120" cy="21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84000" y="972000"/>
            <a:ext cx="1824120" cy="21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생산의 경계</a:t>
            </a:r>
          </a:p>
          <a:p>
            <a:pPr algn="ctr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≠</a:t>
            </a:r>
          </a:p>
          <a:p>
            <a:pPr algn="ctr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지식의 경계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3456000"/>
            <a:ext cx="3560040" cy="18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000" y="3546000"/>
            <a:ext cx="323604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Kapoor &amp; Adner (2012)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000" y="3870000"/>
            <a:ext cx="3236040" cy="13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DRAM 산업 12개 제품 세대(1974–2005): 외주화한 부품의 지식까지 보유한 비통합 기업이 기술 전환에서 성과 우위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6040" y="3456000"/>
            <a:ext cx="3560040" cy="18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8040" y="3546000"/>
            <a:ext cx="323604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Brusoni et al. (2001)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8040" y="3870000"/>
            <a:ext cx="3236040" cy="13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구성요소 사이의 상호의존을 예측하기 어려울수록 직접 생산하는 범위보다 넓은 지식이 필요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080" y="3456000"/>
            <a:ext cx="3560040" cy="18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4080" y="3546000"/>
            <a:ext cx="323604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Jacobides et al. (2006)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4080" y="3870000"/>
            <a:ext cx="3236040" cy="13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산업 아키텍처(누가 무엇을 하고 가치를 어떻게 나누는가)는 기술 변화에 따라 재편될 수 있음</a:t>
            </a:r>
          </a:p>
        </p:txBody>
      </p:sp>
      <p:sp>
        <p:nvSpPr>
          <p:cNvPr id="24" name="Source"/>
          <p:cNvSpPr txBox="1"/>
          <p:nvPr/>
        </p:nvSpPr>
        <p:spPr>
          <a:xfrm>
            <a:off x="540000" y="5490000"/>
            <a:ext cx="1111212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Macher &amp; Mowery (2004); Brown &amp; Linden (2009); Kapoor (2013)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2.3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 순환 모형과 핵심–주변 구조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지배적 설계가 자리 잡으면, 새로운 결합은 핵심이 아닌 주변에서 일어난다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2060" y="1008000"/>
            <a:ext cx="2376000" cy="792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기술적 불연속</a:t>
            </a:r>
          </a:p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새로운 기술 원리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72060" y="1404000"/>
            <a:ext cx="360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3486060" y="1008000"/>
            <a:ext cx="2376000" cy="792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격동기</a:t>
            </a:r>
          </a:p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여러 설계의 경쟁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16060" y="1404000"/>
            <a:ext cx="360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6330060" y="1008000"/>
            <a:ext cx="2376000" cy="792000"/>
          </a:xfrm>
          <a:prstGeom prst="roundRect">
            <a:avLst>
              <a:gd name="adj" fmla="val 18000"/>
            </a:avLst>
          </a:prstGeom>
          <a:solidFill>
            <a:srgbClr val="13294B"/>
          </a:solidFill>
          <a:ln w="2222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지배적 설계</a:t>
            </a:r>
          </a:p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C8D3E6"/>
                </a:solidFill>
                <a:latin typeface="맑은 고딕"/>
                <a:ea typeface="맑은 고딕"/>
                <a:cs typeface="맑은 고딕"/>
              </a:rPr>
              <a:t>핵심 요소의 설계 안정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60060" y="1404000"/>
            <a:ext cx="360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9174060" y="1008000"/>
            <a:ext cx="2376000" cy="792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점진적 변화</a:t>
            </a:r>
          </a:p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정해진 설계의 정교화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060" y="1836000"/>
            <a:ext cx="1090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기술 순환 모형 (Anderson &amp; Tushman, 1990)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2232000"/>
            <a:ext cx="5760000" cy="320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3384000" y="2844000"/>
            <a:ext cx="0" cy="1080000"/>
          </a:xfrm>
          <a:prstGeom prst="line">
            <a:avLst/>
          </a:prstGeom>
          <a:ln w="19050">
            <a:solidFill>
              <a:srgbClr val="9AA6B8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3024000" y="2620800"/>
            <a:ext cx="720000" cy="446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6B8"/>
            </a:solidFill>
          </a:ln>
        </p:spPr>
        <p:txBody>
          <a:bodyPr rtlCol="0" anchor="ctr" lIns="7200" rIns="72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1949862" y="3384000"/>
            <a:ext cx="1434138" cy="540000"/>
          </a:xfrm>
          <a:prstGeom prst="line">
            <a:avLst/>
          </a:prstGeom>
          <a:ln w="19050">
            <a:solidFill>
              <a:srgbClr val="9AA6B8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1589862" y="3160800"/>
            <a:ext cx="720000" cy="446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6B8"/>
            </a:solidFill>
          </a:ln>
        </p:spPr>
        <p:txBody>
          <a:bodyPr rtlCol="0" anchor="ctr" lIns="7200" rIns="72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949862" y="3924000"/>
            <a:ext cx="1434138" cy="540000"/>
          </a:xfrm>
          <a:prstGeom prst="line">
            <a:avLst/>
          </a:prstGeom>
          <a:ln w="19050">
            <a:solidFill>
              <a:srgbClr val="9AA6B8"/>
            </a:solidFill>
          </a:ln>
        </p:spPr>
      </p:cxnSp>
      <p:sp>
        <p:nvSpPr>
          <p:cNvPr id="18" name="Oval 17"/>
          <p:cNvSpPr/>
          <p:nvPr/>
        </p:nvSpPr>
        <p:spPr>
          <a:xfrm>
            <a:off x="1589862" y="4240800"/>
            <a:ext cx="720000" cy="446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6B8"/>
            </a:solidFill>
          </a:ln>
        </p:spPr>
        <p:txBody>
          <a:bodyPr rtlCol="0" anchor="ctr" lIns="7200" rIns="72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4000" y="3924000"/>
            <a:ext cx="0" cy="1080000"/>
          </a:xfrm>
          <a:prstGeom prst="line">
            <a:avLst/>
          </a:prstGeom>
          <a:ln w="19050">
            <a:solidFill>
              <a:srgbClr val="9AA6B8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3024000" y="4780800"/>
            <a:ext cx="720000" cy="446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6B8"/>
            </a:solidFill>
          </a:ln>
        </p:spPr>
        <p:txBody>
          <a:bodyPr rtlCol="0" anchor="ctr" lIns="7200" rIns="72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84000" y="3924000"/>
            <a:ext cx="1434138" cy="540000"/>
          </a:xfrm>
          <a:prstGeom prst="line">
            <a:avLst/>
          </a:prstGeom>
          <a:ln w="19050">
            <a:solidFill>
              <a:srgbClr val="9AA6B8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4458138" y="4240800"/>
            <a:ext cx="720000" cy="446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6B8"/>
            </a:solidFill>
          </a:ln>
        </p:spPr>
        <p:txBody>
          <a:bodyPr rtlCol="0" anchor="ctr" lIns="7200" rIns="72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84000" y="3384000"/>
            <a:ext cx="1434138" cy="540000"/>
          </a:xfrm>
          <a:prstGeom prst="line">
            <a:avLst/>
          </a:prstGeom>
          <a:ln w="19050">
            <a:solidFill>
              <a:srgbClr val="9AA6B8"/>
            </a:solidFill>
          </a:ln>
        </p:spPr>
      </p:cxnSp>
      <p:sp>
        <p:nvSpPr>
          <p:cNvPr id="24" name="Oval 23"/>
          <p:cNvSpPr/>
          <p:nvPr/>
        </p:nvSpPr>
        <p:spPr>
          <a:xfrm>
            <a:off x="4458138" y="3160800"/>
            <a:ext cx="720000" cy="446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6B8"/>
            </a:solidFill>
          </a:ln>
        </p:spPr>
        <p:txBody>
          <a:bodyPr rtlCol="0" anchor="ctr" lIns="7200" rIns="72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</a:t>
            </a:r>
          </a:p>
        </p:txBody>
      </p:sp>
      <p:sp>
        <p:nvSpPr>
          <p:cNvPr id="25" name="Oval 24"/>
          <p:cNvSpPr/>
          <p:nvPr/>
        </p:nvSpPr>
        <p:spPr>
          <a:xfrm>
            <a:off x="2772000" y="3546000"/>
            <a:ext cx="1224000" cy="756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7200" rIns="72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요소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000" y="22860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핵심–주변 구조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16000" y="2232000"/>
            <a:ext cx="5136120" cy="9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8000" y="2304000"/>
            <a:ext cx="481212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Murmann &amp; Frenken (2006)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8000" y="2574000"/>
            <a:ext cx="4812120" cy="6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지배적 설계 = 다른 요소와 안정된 인터페이스 역할을 하는 핵심 요소의 안정된 설계 → 이후의 변화는 주변 요소에서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16000" y="3312000"/>
            <a:ext cx="5136120" cy="9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8000" y="3384000"/>
            <a:ext cx="481212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Henderson &amp; Clark (1990)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8000" y="3654000"/>
            <a:ext cx="4812120" cy="63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확립된 아키텍처 지식은 조직의 의사소통 경로와 문제 해결 방식에 내재되어 당연한 전제가 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16000" y="4428000"/>
            <a:ext cx="5136120" cy="1008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34" name="Picture 33" descr="FaRoad_1329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000" y="4590000"/>
            <a:ext cx="468000" cy="468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308000" y="4464000"/>
            <a:ext cx="420012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비유: 도로의 규격</a:t>
            </a:r>
          </a:p>
          <a:p>
            <a:pPr algn="l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규격이 정해지기 전에는 설계와 시공이 한 몸처럼 움직이지만, 정해진 뒤에는 각자 규격을 전제로 일한다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Chapter 2 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88060" y="918000"/>
            <a:ext cx="3456000" cy="5220000"/>
          </a:xfrm>
          <a:prstGeom prst="rect">
            <a:avLst/>
          </a:prstGeom>
          <a:noFill/>
          <a:ln w="12700">
            <a:solidFill>
              <a:srgbClr val="9AA6B8"/>
            </a:solidFill>
            <a:prstDash val="dash"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060" y="1116000"/>
            <a:ext cx="3024000" cy="828000"/>
          </a:xfrm>
          <a:prstGeom prst="roundRect">
            <a:avLst>
              <a:gd name="adj" fmla="val 18000"/>
            </a:avLst>
          </a:prstGeom>
          <a:solidFill>
            <a:srgbClr val="13294B"/>
          </a:solidFill>
          <a:ln w="2222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기술융합 · 단계 모형</a:t>
            </a:r>
          </a:p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ko-KR" altLang="en-US">
                <a:solidFill>
                  <a:srgbClr val="C8D3E6"/>
                </a:solidFill>
                <a:latin typeface="맑은 고딕"/>
                <a:ea typeface="맑은 고딕"/>
                <a:cs typeface="맑은 고딕"/>
              </a:rPr>
              <a:t>Rosenberg · Kodama · Hacklin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16060" y="1980000"/>
            <a:ext cx="0" cy="306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948060" y="2322000"/>
            <a:ext cx="2736000" cy="828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단계 간 융합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16060" y="3186000"/>
            <a:ext cx="0" cy="216000"/>
          </a:xfrm>
          <a:prstGeom prst="line">
            <a:avLst/>
          </a:prstGeom>
          <a:ln w="25400">
            <a:solidFill>
              <a:srgbClr val="13294B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1434060" y="3402000"/>
            <a:ext cx="1764000" cy="0"/>
          </a:xfrm>
          <a:prstGeom prst="line">
            <a:avLst/>
          </a:prstGeom>
          <a:ln w="25400">
            <a:solidFill>
              <a:srgbClr val="13294B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1488060" y="3402000"/>
            <a:ext cx="0" cy="288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750060" y="3726000"/>
            <a:ext cx="1476000" cy="1080000"/>
          </a:xfrm>
          <a:prstGeom prst="roundRect">
            <a:avLst>
              <a:gd name="adj" fmla="val 18000"/>
            </a:avLst>
          </a:prstGeom>
          <a:solidFill>
            <a:srgbClr val="E8EEF7"/>
          </a:solidFill>
          <a:ln w="1587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특허로 관찰하는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44060" y="3402000"/>
            <a:ext cx="0" cy="288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2406060" y="3726000"/>
            <a:ext cx="1476000" cy="1080000"/>
          </a:xfrm>
          <a:prstGeom prst="roundRect">
            <a:avLst>
              <a:gd name="adj" fmla="val 18000"/>
            </a:avLst>
          </a:prstGeom>
          <a:solidFill>
            <a:srgbClr val="E8EEF7"/>
          </a:solidFill>
          <a:ln w="1587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"기술 융합" 단계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4060" y="5238000"/>
            <a:ext cx="1584000" cy="414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연구의 관점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8060" y="918000"/>
            <a:ext cx="3456000" cy="5220000"/>
          </a:xfrm>
          <a:prstGeom prst="rect">
            <a:avLst/>
          </a:prstGeom>
          <a:noFill/>
          <a:ln w="12700">
            <a:solidFill>
              <a:srgbClr val="9AA6B8"/>
            </a:solidFill>
            <a:prstDash val="dash"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4060" y="1116000"/>
            <a:ext cx="3024000" cy="828000"/>
          </a:xfrm>
          <a:prstGeom prst="roundRect">
            <a:avLst>
              <a:gd name="adj" fmla="val 18000"/>
            </a:avLst>
          </a:prstGeom>
          <a:solidFill>
            <a:srgbClr val="13294B"/>
          </a:solidFill>
          <a:ln w="2222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수직 전문화 · 지식 경계</a:t>
            </a:r>
          </a:p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ko-KR" altLang="en-US">
                <a:solidFill>
                  <a:srgbClr val="C8D3E6"/>
                </a:solidFill>
                <a:latin typeface="맑은 고딕"/>
                <a:ea typeface="맑은 고딕"/>
                <a:cs typeface="맑은 고딕"/>
              </a:rPr>
              <a:t>Kapoor &amp; Adner · Brusoni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60" y="1980000"/>
            <a:ext cx="0" cy="306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17" name="Rounded Rectangle 16"/>
          <p:cNvSpPr/>
          <p:nvPr/>
        </p:nvSpPr>
        <p:spPr>
          <a:xfrm>
            <a:off x="4728060" y="2322000"/>
            <a:ext cx="2736000" cy="828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생산의 경계 ≠ 지식의 경계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6060" y="3186000"/>
            <a:ext cx="0" cy="216000"/>
          </a:xfrm>
          <a:prstGeom prst="line">
            <a:avLst/>
          </a:prstGeom>
          <a:ln w="25400">
            <a:solidFill>
              <a:srgbClr val="13294B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5214060" y="3402000"/>
            <a:ext cx="1764000" cy="0"/>
          </a:xfrm>
          <a:prstGeom prst="line">
            <a:avLst/>
          </a:prstGeom>
          <a:ln w="25400">
            <a:solidFill>
              <a:srgbClr val="13294B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5268060" y="3402000"/>
            <a:ext cx="0" cy="288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4530060" y="3726000"/>
            <a:ext cx="1476000" cy="1080000"/>
          </a:xfrm>
          <a:prstGeom prst="roundRect">
            <a:avLst>
              <a:gd name="adj" fmla="val 18000"/>
            </a:avLst>
          </a:prstGeom>
          <a:solidFill>
            <a:srgbClr val="E8EEF7"/>
          </a:solidFill>
          <a:ln w="1587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불안정한 인터페이스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24060" y="3402000"/>
            <a:ext cx="0" cy="288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23" name="Rounded Rectangle 22"/>
          <p:cNvSpPr/>
          <p:nvPr/>
        </p:nvSpPr>
        <p:spPr>
          <a:xfrm>
            <a:off x="6186060" y="3726000"/>
            <a:ext cx="1476000" cy="1080000"/>
          </a:xfrm>
          <a:prstGeom prst="roundRect">
            <a:avLst>
              <a:gd name="adj" fmla="val 18000"/>
            </a:avLst>
          </a:prstGeom>
          <a:solidFill>
            <a:srgbClr val="E8EEF7"/>
          </a:solidFill>
          <a:ln w="1587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경계를 넘는 발명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4060" y="5238000"/>
            <a:ext cx="1584000" cy="414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48060" y="918000"/>
            <a:ext cx="3456000" cy="5220000"/>
          </a:xfrm>
          <a:prstGeom prst="rect">
            <a:avLst/>
          </a:prstGeom>
          <a:noFill/>
          <a:ln w="12700">
            <a:solidFill>
              <a:srgbClr val="9AA6B8"/>
            </a:solidFill>
            <a:prstDash val="dash"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64060" y="1116000"/>
            <a:ext cx="3024000" cy="828000"/>
          </a:xfrm>
          <a:prstGeom prst="roundRect">
            <a:avLst>
              <a:gd name="adj" fmla="val 18000"/>
            </a:avLst>
          </a:prstGeom>
          <a:solidFill>
            <a:srgbClr val="13294B"/>
          </a:solidFill>
          <a:ln w="2222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 순환 · 핵심–주변</a:t>
            </a:r>
          </a:p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ko-KR" altLang="en-US">
                <a:solidFill>
                  <a:srgbClr val="C8D3E6"/>
                </a:solidFill>
                <a:latin typeface="맑은 고딕"/>
                <a:ea typeface="맑은 고딕"/>
                <a:cs typeface="맑은 고딕"/>
              </a:rPr>
              <a:t>Anderson &amp; Tushman · Murmann &amp; Frenken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76060" y="1980000"/>
            <a:ext cx="0" cy="306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28" name="Rounded Rectangle 27"/>
          <p:cNvSpPr/>
          <p:nvPr/>
        </p:nvSpPr>
        <p:spPr>
          <a:xfrm>
            <a:off x="8508060" y="2322000"/>
            <a:ext cx="2736000" cy="828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지배적 설계의 고착화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76060" y="3186000"/>
            <a:ext cx="0" cy="216000"/>
          </a:xfrm>
          <a:prstGeom prst="line">
            <a:avLst/>
          </a:prstGeom>
          <a:ln w="25400">
            <a:solidFill>
              <a:srgbClr val="13294B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94060" y="3402000"/>
            <a:ext cx="1764000" cy="0"/>
          </a:xfrm>
          <a:prstGeom prst="line">
            <a:avLst/>
          </a:prstGeom>
          <a:ln w="25400">
            <a:solidFill>
              <a:srgbClr val="13294B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048060" y="3402000"/>
            <a:ext cx="0" cy="288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32" name="Rounded Rectangle 31"/>
          <p:cNvSpPr/>
          <p:nvPr/>
        </p:nvSpPr>
        <p:spPr>
          <a:xfrm>
            <a:off x="8310060" y="3726000"/>
            <a:ext cx="1476000" cy="1080000"/>
          </a:xfrm>
          <a:prstGeom prst="roundRect">
            <a:avLst>
              <a:gd name="adj" fmla="val 18000"/>
            </a:avLst>
          </a:prstGeom>
          <a:solidFill>
            <a:srgbClr val="E8EEF7"/>
          </a:solidFill>
          <a:ln w="1587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704060" y="3402000"/>
            <a:ext cx="0" cy="288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34" name="Rounded Rectangle 33"/>
          <p:cNvSpPr/>
          <p:nvPr/>
        </p:nvSpPr>
        <p:spPr>
          <a:xfrm>
            <a:off x="9966060" y="3726000"/>
            <a:ext cx="1476000" cy="1080000"/>
          </a:xfrm>
          <a:prstGeom prst="roundRect">
            <a:avLst>
              <a:gd name="adj" fmla="val 18000"/>
            </a:avLst>
          </a:prstGeom>
          <a:solidFill>
            <a:srgbClr val="E8EEF7"/>
          </a:solidFill>
          <a:ln w="15875">
            <a:solidFill>
              <a:srgbClr val="13294B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공정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04060" y="4266000"/>
            <a:ext cx="144000" cy="0"/>
          </a:xfrm>
          <a:prstGeom prst="line">
            <a:avLst/>
          </a:prstGeom>
          <a:ln w="31750">
            <a:solidFill>
              <a:srgbClr val="7C3AED"/>
            </a:solidFill>
            <a:tailEnd type="triangle" w="med" len="med"/>
          </a:ln>
        </p:spPr>
      </p:cxnSp>
      <p:sp>
        <p:nvSpPr>
          <p:cNvPr id="36" name="Rounded Rectangle 35"/>
          <p:cNvSpPr/>
          <p:nvPr/>
        </p:nvSpPr>
        <p:spPr>
          <a:xfrm>
            <a:off x="9084060" y="5238000"/>
            <a:ext cx="1584000" cy="414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RQ2 · RQ3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3.1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RQ1) 공정 단계 간 융합의 수준과 유형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4000" y="1080000"/>
            <a:ext cx="2808000" cy="108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제조공정 기술</a:t>
            </a:r>
          </a:p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H01L21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6000" y="1080000"/>
            <a:ext cx="2808000" cy="1080000"/>
          </a:xfrm>
          <a:prstGeom prst="roundRect">
            <a:avLst>
              <a:gd name="adj" fmla="val 18000"/>
            </a:avLst>
          </a:prstGeom>
          <a:solidFill>
            <a:srgbClr val="FDEBDD"/>
          </a:solidFill>
          <a:ln w="22225">
            <a:solidFill>
              <a:srgbClr val="EA7A28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접합·인터커넥트 기술</a:t>
            </a:r>
          </a:p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H01L24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3762000" y="1008000"/>
            <a:ext cx="162000" cy="324000"/>
          </a:xfrm>
          <a:prstGeom prst="line">
            <a:avLst/>
          </a:prstGeom>
          <a:ln w="31750">
            <a:solidFill>
              <a:srgbClr val="C0392B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762000" y="1332000"/>
            <a:ext cx="324000" cy="288000"/>
          </a:xfrm>
          <a:prstGeom prst="line">
            <a:avLst/>
          </a:prstGeom>
          <a:ln w="31750">
            <a:solidFill>
              <a:srgbClr val="C0392B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>
            <a:off x="3762000" y="1620000"/>
            <a:ext cx="324000" cy="288000"/>
          </a:xfrm>
          <a:prstGeom prst="line">
            <a:avLst/>
          </a:prstGeom>
          <a:ln w="31750">
            <a:solidFill>
              <a:srgbClr val="C0392B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762000" y="1908000"/>
            <a:ext cx="162000" cy="324000"/>
          </a:xfrm>
          <a:prstGeom prst="line">
            <a:avLst/>
          </a:prstGeom>
          <a:ln w="31750">
            <a:solidFill>
              <a:srgbClr val="C0392B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2844000" y="2268000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불안정해진 인터페이스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88000" y="2214000"/>
            <a:ext cx="972000" cy="810000"/>
          </a:xfrm>
          <a:prstGeom prst="line">
            <a:avLst/>
          </a:prstGeom>
          <a:ln w="31750">
            <a:solidFill>
              <a:srgbClr val="2563C9"/>
            </a:solidFill>
            <a:tailEnd type="triangle" w="med" len="med"/>
          </a:ln>
        </p:spPr>
      </p:cxnSp>
      <p:cxnSp>
        <p:nvCxnSpPr>
          <p:cNvPr id="11" name="Connector 10"/>
          <p:cNvCxnSpPr/>
          <p:nvPr/>
        </p:nvCxnSpPr>
        <p:spPr>
          <a:xfrm flipH="1">
            <a:off x="4788000" y="2214000"/>
            <a:ext cx="972000" cy="810000"/>
          </a:xfrm>
          <a:prstGeom prst="line">
            <a:avLst/>
          </a:prstGeom>
          <a:ln w="31750">
            <a:solidFill>
              <a:srgbClr val="EA7A28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2052000" y="3096000"/>
            <a:ext cx="3600000" cy="1080000"/>
          </a:xfrm>
          <a:prstGeom prst="roundRect">
            <a:avLst>
              <a:gd name="adj" fmla="val 18000"/>
            </a:avLst>
          </a:prstGeom>
          <a:solidFill>
            <a:srgbClr val="EEE6FD"/>
          </a:solidFill>
          <a:ln w="22225">
            <a:solidFill>
              <a:srgbClr val="7C3AED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두 영역을 함께 담은 발명</a:t>
            </a:r>
          </a:p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경계를 넘는 발명 (통합형)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4320000"/>
            <a:ext cx="6768000" cy="97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발명 = 기존 지식 요소의 새로운 조합 (Fleming, 2001)</a:t>
            </a:r>
          </a:p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특허 범위 = 포괄하는 분류의 수 (Lerner, 1994)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0000" y="1008000"/>
            <a:ext cx="391212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이론적 기대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0000" y="1440000"/>
            <a:ext cx="3912120" cy="158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20000" y="1602000"/>
            <a:ext cx="936000" cy="342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기대 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0" y="2016000"/>
            <a:ext cx="3552120" cy="93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영역의 기술을 함께 포함하는 발명이 예외적이지 않은 비중으로 나타난다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40000" y="3240000"/>
            <a:ext cx="3912120" cy="158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20000" y="3402000"/>
            <a:ext cx="936000" cy="342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기대 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0" y="3816000"/>
            <a:ext cx="3552120" cy="93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그러한 발명은 한 영역에 머무는 발명보다 더 다양한 세부 기술을 포함한다</a:t>
            </a:r>
          </a:p>
        </p:txBody>
      </p:sp>
      <p:sp>
        <p:nvSpPr>
          <p:cNvPr id="21" name="Source"/>
          <p:cNvSpPr txBox="1"/>
          <p:nvPr/>
        </p:nvSpPr>
        <p:spPr>
          <a:xfrm>
            <a:off x="540000" y="5418000"/>
            <a:ext cx="1111212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Kapoor &amp; Adner (2012); Brusoni et al. (2001); Jacobides et al. (2006)</a:t>
            </a:r>
          </a:p>
        </p:txBody>
      </p:sp>
      <p:sp>
        <p:nvSpPr>
          <p:cNvPr id="22" name="Research question"/>
          <p:cNvSpPr/>
          <p:nvPr/>
        </p:nvSpPr>
        <p:spPr>
          <a:xfrm>
            <a:off x="540000" y="5706000"/>
            <a:ext cx="11112120" cy="738000"/>
          </a:xfrm>
          <a:prstGeom prst="roundRect">
            <a:avLst>
              <a:gd name="adj" fmla="val 18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2000" y="5914800"/>
            <a:ext cx="864000" cy="324000"/>
          </a:xfrm>
          <a:prstGeom prst="roundRect">
            <a:avLst>
              <a:gd name="adj" fmla="val 50000"/>
            </a:avLst>
          </a:prstGeom>
          <a:solidFill>
            <a:srgbClr val="D4A72C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2000" y="5706000"/>
            <a:ext cx="9816120" cy="73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하이브리드 본딩 기술에서 제조공정과 접합 기술 간의 융합이 어느 정도로, 어떠한 형태로 나타나는가?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3.1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RQ2) 공정 단계 간 융합의 시간적 변화</a:t>
            </a:r>
          </a:p>
        </p:txBody>
      </p:sp>
      <p:sp>
        <p:nvSpPr>
          <p:cNvPr id="3" name="Right Arrow 2"/>
          <p:cNvSpPr/>
          <p:nvPr/>
        </p:nvSpPr>
        <p:spPr>
          <a:xfrm>
            <a:off x="678060" y="1080000"/>
            <a:ext cx="10836000" cy="576000"/>
          </a:xfrm>
          <a:prstGeom prst="rightArrow">
            <a:avLst/>
          </a:prstGeom>
          <a:solidFill>
            <a:srgbClr val="E8EEF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0060" y="1080000"/>
            <a:ext cx="3348000" cy="5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 형성</a:t>
            </a: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(격동기)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0060" y="1800000"/>
            <a:ext cx="3348000" cy="1656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8060" y="1854000"/>
            <a:ext cx="313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예상되는 발명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8060" y="2124000"/>
            <a:ext cx="313200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직접 접합을 가능하게 하는</a:t>
            </a:r>
          </a:p>
          <a:p>
            <a:pPr algn="ctr" marL="0" indent="0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공정 발명이 주를 이룸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60060" y="3042000"/>
            <a:ext cx="1728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단계 모형: 지식 융합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2060" y="1080000"/>
            <a:ext cx="3348000" cy="5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 확산</a:t>
            </a: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(설계의 수렴)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2060" y="1800000"/>
            <a:ext cx="3348000" cy="1656000"/>
          </a:xfrm>
          <a:prstGeom prst="roundRect">
            <a:avLst>
              <a:gd name="adj" fmla="val 6000"/>
            </a:avLst>
          </a:prstGeom>
          <a:solidFill>
            <a:srgbClr val="EEE6F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0060" y="1854000"/>
            <a:ext cx="313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예상되는 발명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0060" y="2124000"/>
            <a:ext cx="313200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공정 지식이 접합 발명과</a:t>
            </a:r>
          </a:p>
          <a:p>
            <a:pPr algn="ctr" marL="0" indent="0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결합하는 사례가 증가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2060" y="3042000"/>
            <a:ext cx="1728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단계 모형: 기술 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4060" y="1080000"/>
            <a:ext cx="3348000" cy="5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지배적 설계 이후</a:t>
            </a: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(점진적 변화)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4060" y="1800000"/>
            <a:ext cx="3348000" cy="1656000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060" y="1854000"/>
            <a:ext cx="313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예상되는 발명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060" y="2124000"/>
            <a:ext cx="313200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두 기술의 결합이 응용에</a:t>
            </a:r>
          </a:p>
          <a:p>
            <a:pPr algn="ctr" marL="0" indent="0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필요한 주변 공정으로 이동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4060" y="3042000"/>
            <a:ext cx="1728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단계 모형: 응용 융합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3636000"/>
            <a:ext cx="11112120" cy="165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000" y="3726000"/>
            <a:ext cx="3600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하이브리드 본딩의 실제 전개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6000" y="4086000"/>
            <a:ext cx="1188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적용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8000" y="4086000"/>
            <a:ext cx="4176000" cy="37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웨이퍼 단위(W2W): CMOS 이미지센서 · 3D NAND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36000" y="4273200"/>
            <a:ext cx="540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24" name="TextBox 23"/>
          <p:cNvSpPr txBox="1"/>
          <p:nvPr/>
        </p:nvSpPr>
        <p:spPr>
          <a:xfrm>
            <a:off x="7020000" y="4086000"/>
            <a:ext cx="4536000" cy="37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다이 단위(D2W): HBM · 칩렛 · 3D 로직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6000" y="4644000"/>
            <a:ext cx="1188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발명의 중심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8000" y="4644000"/>
            <a:ext cx="4176000" cy="37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표면 준비 · 저온 어닐링 · 평탄화 (공정)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36000" y="4831200"/>
            <a:ext cx="540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28" name="TextBox 27"/>
          <p:cNvSpPr txBox="1"/>
          <p:nvPr/>
        </p:nvSpPr>
        <p:spPr>
          <a:xfrm>
            <a:off x="7020000" y="4644000"/>
            <a:ext cx="4536000" cy="37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구조 · 적층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540000" y="5418000"/>
            <a:ext cx="1111212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Hacklin et al. (2009, 2010); Anderson &amp; Tushman (1990); Jeong et al. (2015); Yun &amp; Geum (2019); Lau (2021, 2022)</a:t>
            </a:r>
          </a:p>
        </p:txBody>
      </p:sp>
      <p:sp>
        <p:nvSpPr>
          <p:cNvPr id="30" name="Research question"/>
          <p:cNvSpPr/>
          <p:nvPr/>
        </p:nvSpPr>
        <p:spPr>
          <a:xfrm>
            <a:off x="540000" y="5706000"/>
            <a:ext cx="11112120" cy="738000"/>
          </a:xfrm>
          <a:prstGeom prst="roundRect">
            <a:avLst>
              <a:gd name="adj" fmla="val 18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2000" y="5914800"/>
            <a:ext cx="864000" cy="324000"/>
          </a:xfrm>
          <a:prstGeom prst="roundRect">
            <a:avLst>
              <a:gd name="adj" fmla="val 50000"/>
            </a:avLst>
          </a:prstGeom>
          <a:solidFill>
            <a:srgbClr val="D4A72C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2000" y="5706000"/>
            <a:ext cx="9816120" cy="73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 단계 간 기술융합은 시간에 따라 어떻게 변화해 왔는가?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3.1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RQ3) 공정 단계 간 융합의 구조적 중심 변화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990000"/>
            <a:ext cx="5256000" cy="385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98000"/>
            <a:ext cx="4896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인터페이스가 확정되기 전</a:t>
            </a: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(격동기)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1620000" y="2178000"/>
            <a:ext cx="1368000" cy="828000"/>
          </a:xfrm>
          <a:prstGeom prst="line">
            <a:avLst/>
          </a:prstGeom>
          <a:ln w="76200">
            <a:solidFill>
              <a:srgbClr val="2563C9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648000" y="1674000"/>
            <a:ext cx="1872000" cy="72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제조공정 지식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평탄화 · 웨이퍼 접합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086000"/>
            <a:ext cx="4896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기술의 발명이 경계 반대편의 지식을</a:t>
            </a:r>
          </a:p>
          <a:p>
            <a:pPr algn="ctr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함께 다루어야 함</a:t>
            </a:r>
          </a:p>
        </p:txBody>
      </p:sp>
      <p:sp>
        <p:nvSpPr>
          <p:cNvPr id="8" name="Oval 7"/>
          <p:cNvSpPr/>
          <p:nvPr/>
        </p:nvSpPr>
        <p:spPr>
          <a:xfrm>
            <a:off x="2484000" y="2574000"/>
            <a:ext cx="1368000" cy="864000"/>
          </a:xfrm>
          <a:prstGeom prst="ellipse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7200" rIns="72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기술</a:t>
            </a:r>
          </a:p>
          <a:p>
            <a:pPr algn="ctr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접합 패드 직접 연결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6120" y="990000"/>
            <a:ext cx="5256000" cy="385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76120" y="1098000"/>
            <a:ext cx="4896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설계가 고착화된 후</a:t>
            </a: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(지배적 설계 이후)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7476120" y="2178000"/>
            <a:ext cx="1368000" cy="828000"/>
          </a:xfrm>
          <a:prstGeom prst="line">
            <a:avLst/>
          </a:prstGeom>
          <a:ln w="15875">
            <a:solidFill>
              <a:srgbClr val="9AA6B8"/>
            </a:solidFill>
            <a:prstDash val="dash"/>
          </a:ln>
        </p:spPr>
      </p:cxnSp>
      <p:sp>
        <p:nvSpPr>
          <p:cNvPr id="12" name="Rounded Rectangle 11"/>
          <p:cNvSpPr/>
          <p:nvPr/>
        </p:nvSpPr>
        <p:spPr>
          <a:xfrm>
            <a:off x="6504120" y="1674000"/>
            <a:ext cx="1872000" cy="72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9AA6B8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제조공정 지식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주어진 조건으로 전제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600120" y="2070000"/>
            <a:ext cx="360000" cy="828000"/>
          </a:xfrm>
          <a:prstGeom prst="line">
            <a:avLst/>
          </a:prstGeom>
          <a:ln w="63500">
            <a:solidFill>
              <a:srgbClr val="10A39A"/>
            </a:solidFill>
          </a:ln>
        </p:spPr>
      </p:cxnSp>
      <p:sp>
        <p:nvSpPr>
          <p:cNvPr id="14" name="Rounded Rectangle 13"/>
          <p:cNvSpPr/>
          <p:nvPr/>
        </p:nvSpPr>
        <p:spPr>
          <a:xfrm>
            <a:off x="9960120" y="1728000"/>
            <a:ext cx="1764000" cy="684000"/>
          </a:xfrm>
          <a:prstGeom prst="roundRect">
            <a:avLst>
              <a:gd name="adj" fmla="val 18000"/>
            </a:avLst>
          </a:prstGeom>
          <a:solidFill>
            <a:srgbClr val="E2F5F3"/>
          </a:solidFill>
          <a:ln w="22225">
            <a:solidFill>
              <a:srgbClr val="10A39A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ko-KR" altLang="en-US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다이 지지 · 적층</a:t>
            </a:r>
          </a:p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 공정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00120" y="3114000"/>
            <a:ext cx="360000" cy="756000"/>
          </a:xfrm>
          <a:prstGeom prst="line">
            <a:avLst/>
          </a:prstGeom>
          <a:ln w="63500">
            <a:solidFill>
              <a:srgbClr val="10A39A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9960120" y="3528000"/>
            <a:ext cx="1764000" cy="684000"/>
          </a:xfrm>
          <a:prstGeom prst="roundRect">
            <a:avLst>
              <a:gd name="adj" fmla="val 18000"/>
            </a:avLst>
          </a:prstGeom>
          <a:solidFill>
            <a:srgbClr val="E2F5F3"/>
          </a:solidFill>
          <a:ln w="22225">
            <a:solidFill>
              <a:srgbClr val="10A39A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ko-KR" altLang="en-US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봉지 · 패키지 완성</a:t>
            </a:r>
          </a:p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 공정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6120" y="4086000"/>
            <a:ext cx="4896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새로운 결합은 핵심의 인터페이스를 전제로</a:t>
            </a:r>
          </a:p>
          <a:p>
            <a:pPr algn="ctr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주변 공정에서 일어남</a:t>
            </a:r>
          </a:p>
        </p:txBody>
      </p:sp>
      <p:sp>
        <p:nvSpPr>
          <p:cNvPr id="18" name="Oval 17"/>
          <p:cNvSpPr/>
          <p:nvPr/>
        </p:nvSpPr>
        <p:spPr>
          <a:xfrm>
            <a:off x="8340120" y="2574000"/>
            <a:ext cx="1368000" cy="864000"/>
          </a:xfrm>
          <a:prstGeom prst="ellipse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7200" rIns="72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기술</a:t>
            </a:r>
          </a:p>
          <a:p>
            <a:pPr algn="ctr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접합 패드 직접 연결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22000" y="2592000"/>
            <a:ext cx="348120" cy="64800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0" name="Source"/>
          <p:cNvSpPr txBox="1"/>
          <p:nvPr/>
        </p:nvSpPr>
        <p:spPr>
          <a:xfrm>
            <a:off x="540000" y="4950000"/>
            <a:ext cx="11112120" cy="1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Murmann &amp; Frenken (2006); Henderson &amp; Clark (1990); Brusoni et al. (2001); Anderson &amp; Tushman (1990)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5148000"/>
            <a:ext cx="1111212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기대: 핵심 기술을 포함한 발명이 제조공정 지식을 함께 포함하는 정도는 시기에 따라 줄고, 접합과 결합하는 제조공정의 중심은 웨이퍼 제조공정에서 주변 공정으로 이동할 것이다</a:t>
            </a:r>
          </a:p>
        </p:txBody>
      </p:sp>
      <p:sp>
        <p:nvSpPr>
          <p:cNvPr id="22" name="Research question"/>
          <p:cNvSpPr/>
          <p:nvPr/>
        </p:nvSpPr>
        <p:spPr>
          <a:xfrm>
            <a:off x="540000" y="5706000"/>
            <a:ext cx="11112120" cy="738000"/>
          </a:xfrm>
          <a:prstGeom prst="roundRect">
            <a:avLst>
              <a:gd name="adj" fmla="val 18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2000" y="5914800"/>
            <a:ext cx="864000" cy="324000"/>
          </a:xfrm>
          <a:prstGeom prst="roundRect">
            <a:avLst>
              <a:gd name="adj" fmla="val 50000"/>
            </a:avLst>
          </a:prstGeom>
          <a:solidFill>
            <a:srgbClr val="D4A72C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2000" y="5706000"/>
            <a:ext cx="9816120" cy="73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 단계 간 기술융합의 중심이 핵심 기술과 주변 기술 사이에서 시기에 따라 어떻게 재편되는가?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3.1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 질문과 이론적 기대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이론적 기대는 통계적 가설이 아니라, 결과를 해석하는 기준으로 사용한다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4000" y="882000"/>
            <a:ext cx="540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이론적 기대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116000"/>
            <a:ext cx="11112120" cy="151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2000" y="1260000"/>
            <a:ext cx="720000" cy="342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0000" y="1260000"/>
            <a:ext cx="4248000" cy="34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융합의 수준과 유형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000" y="1656000"/>
            <a:ext cx="5076000" cy="9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하이브리드 본딩 기술에서 제조공정과 접합 기술 간의 융합이 어느 정도로, 어떠한 형태로 나타나는가?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50000" y="1692000"/>
            <a:ext cx="288000" cy="360000"/>
          </a:xfrm>
          <a:prstGeom prst="rightArrow">
            <a:avLst/>
          </a:prstGeom>
          <a:solidFill>
            <a:srgbClr val="C9D2E0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28000" y="1224000"/>
            <a:ext cx="5280120" cy="10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인터페이스가 불안정해진 공정 단계 사이에서 두 영역을 함께 포함하는 발명이 예외적이지 않은 비중으로 나타나고, 더 다양한 세부 기술을 포함한다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8000" y="2268000"/>
            <a:ext cx="528012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근거: 지식 경계 · 산업 아키텍처 · 재조합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2754000"/>
            <a:ext cx="11112120" cy="151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2000" y="2898000"/>
            <a:ext cx="720000" cy="342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0000" y="2898000"/>
            <a:ext cx="4248000" cy="34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융합의 시간적 변화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000" y="3294000"/>
            <a:ext cx="5076000" cy="9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공정 단계 간 기술융합은 시간에 따라 어떻게 변화해 왔는가?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50000" y="3330000"/>
            <a:ext cx="288000" cy="360000"/>
          </a:xfrm>
          <a:prstGeom prst="rightArrow">
            <a:avLst/>
          </a:prstGeom>
          <a:solidFill>
            <a:srgbClr val="C9D2E0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8000" y="2862000"/>
            <a:ext cx="5280120" cy="10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융합은 단선적으로 확대되기보다 발전 단계에 따라 수준이 달라지고, 출원의 구성은 제조공정 중심에서 접합 중심으로 이동한다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8000" y="3906000"/>
            <a:ext cx="528012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근거: 단계 모형 · 기술 순환 모형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4392000"/>
            <a:ext cx="11112120" cy="151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2000" y="4536000"/>
            <a:ext cx="720000" cy="342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0000" y="4536000"/>
            <a:ext cx="4248000" cy="34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융합의 구조적 중심 변화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000" y="4932000"/>
            <a:ext cx="5076000" cy="9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공정 단계 간 기술융합의 중심이 핵심 기술과 주변 기술 사이에서 시기에 따라 어떻게 재편되는가?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850000" y="4968000"/>
            <a:ext cx="288000" cy="360000"/>
          </a:xfrm>
          <a:prstGeom prst="rightArrow">
            <a:avLst/>
          </a:prstGeom>
          <a:solidFill>
            <a:srgbClr val="C9D2E0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8000" y="4500000"/>
            <a:ext cx="5280120" cy="10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설계가 고착화되면 핵심 기술의 제조공정 지식 포함 우위가 줄고, 융합의 중심은 응용에 필요한 주변 공정으로 이동한다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8000" y="5544000"/>
            <a:ext cx="528012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근거: 핵심–주변 구조 · 아키텍처 지식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3.2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대상: 하이브리드 본딩 기술과 산업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하이브리드 본딩은 기술적 · 산업적으로 두 공정 단계에 걸쳐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36000"/>
            <a:ext cx="5364000" cy="990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000" y="979200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기반 공정</a:t>
            </a: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CPC H01L21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000" y="1314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CMP 평탄화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02800" y="1314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세정·오염 제어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9600" y="1314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표면 활성화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76400" y="1314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정렬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13200" y="1314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저온 어닐링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915200"/>
            <a:ext cx="5364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2142000"/>
            <a:ext cx="5364000" cy="990000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6000" y="2185200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접합 형태</a:t>
            </a: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CPC H01L24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000" y="2520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W2W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4000" y="2520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D2W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22000" y="2520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D2D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3121200"/>
            <a:ext cx="5364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000" y="3348000"/>
            <a:ext cx="5364000" cy="990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000" y="3391200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소자 구조</a:t>
            </a: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000" y="3726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적층 다이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94000" y="3726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칩렛 집적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22000" y="3726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메모리-온-로직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4327200"/>
            <a:ext cx="5364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0000" y="4554000"/>
            <a:ext cx="5364000" cy="990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6000" y="4597200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적용 제품</a:t>
            </a: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000" y="4932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CIS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02800" y="4932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3D NAND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39600" y="4932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HBM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76400" y="4932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로직 적층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13200" y="4932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MicroLED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36000" y="936000"/>
            <a:ext cx="5172120" cy="3309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32" name="Picture 31" descr="d2w_flow_am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000" y="972000"/>
            <a:ext cx="5100120" cy="32371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192000" y="4263176"/>
            <a:ext cx="546012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D2W 공정 흐름과 장비: Applied Materials (2025) · 출원인: KnowMade (2024)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2000" y="4515176"/>
            <a:ext cx="5460120" cy="48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다이 절단 전까지 절연막 증착 → 다마신 식각 → Cu 배리어·시드 증착 → Cu 도금 → CMP: </a:t>
            </a:r>
            <a:r>
              <a:rPr sz="12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모두 전공정의 공정과 장비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2000" y="5055176"/>
            <a:ext cx="1080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주요 출원인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72000" y="5062376"/>
            <a:ext cx="630000" cy="270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TSMC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6000" y="5062376"/>
            <a:ext cx="630000" cy="270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Adeia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0000" y="5062376"/>
            <a:ext cx="630000" cy="270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YMTC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4000" y="5062376"/>
            <a:ext cx="630000" cy="270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Intel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08000" y="5062376"/>
            <a:ext cx="828000" cy="270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Samsung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3.2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데이터: PATSTAT 하이브리드 본딩 관련 출원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1968–2024년에 출원된 하이브리드 본딩 관련 특허출원 928건을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90000"/>
            <a:ext cx="4392000" cy="8820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EPO PATSTAT Global</a:t>
            </a:r>
          </a:p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유럽특허청 특허 데이터베이스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872000"/>
            <a:ext cx="4392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6000" y="2088000"/>
            <a:ext cx="3960000" cy="8820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1차: CPC 분류</a:t>
            </a:r>
          </a:p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H01L21(제조공정) 또는 H01L24(접합)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970000"/>
            <a:ext cx="4392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000" y="3186000"/>
            <a:ext cx="3528000" cy="8820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2차: 제목 키워드</a:t>
            </a:r>
          </a:p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hybrid bonding · direct bonding · Cu–Cu ·</a:t>
            </a:r>
          </a:p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copper to copper · metal-oxide bond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068000"/>
            <a:ext cx="4392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32000" y="4284000"/>
            <a:ext cx="2808000" cy="936000"/>
          </a:xfrm>
          <a:prstGeom prst="roundRect">
            <a:avLst>
              <a:gd name="adj" fmla="val 1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928건</a:t>
            </a:r>
          </a:p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1968–2024년 출원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5274000"/>
            <a:ext cx="4392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출원–CPC 쌍 5,277건 · 서브그룹 기호 262개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256000" y="936000"/>
          <a:ext cx="6396120" cy="489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9708120" y="1080000"/>
            <a:ext cx="1584000" cy="306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2023–24: 공개 시차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3.2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검색 전략과 자료의 특성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단계 검색으로 표본을 구성하고, 표본의 특성은 강건성 검증에 활용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954000"/>
          <a:ext cx="11112120" cy="1872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224000"/>
                <a:gridCol w="936000"/>
                <a:gridCol w="8952120"/>
              </a:tblGrid>
              <a:tr h="324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720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1차: CPC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H01L21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반도체 제조공정. 웨이퍼 직접 접합(21/18, 21/20), 소자 분리·배선·TSV(21/76), 기판·절연층 처리(21/02), CMP(21/30–21/32);</a:t>
                      </a:r>
                    </a:p>
                    <a:p>
                      <a:pPr algn="l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패키징 단계 제조공정(21/48, 21/50–21/58, 21/60, 21/78)과 공정 장치(21/67–21/68) 포함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1차: CPC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H01L24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반도체 · 고체소자의 연결을 위한 커넥터 구조, 범프 · 층 · 와이어 연결, 관련 연결 방법 및 장치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414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2차: 키워드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hybrid bonding · direct bonding · Cu–Cu · copper to copper · metal-oxide bond 가운데 하나 이상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0000" y="29700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970000"/>
            <a:ext cx="9132120" cy="38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출원 928건 (1968–2024) · 출원–CPC 쌍 5,277건 · 서브그룹 기호 262개 (H01L21 202개, H01L24 60개)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4668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hybrid bonding 표본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0000" y="3466800"/>
            <a:ext cx="9132120" cy="38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제목에 hybrid bonding이 포함된 467건 → 재추정 (부록 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39636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무관 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963600"/>
            <a:ext cx="9132120" cy="38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68건 (direct bonding 63건 · hybrid bonding 5건): DBC 기판, 구리 합금, 전력 모듈 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44604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동일 제목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00" y="4460400"/>
            <a:ext cx="9132120" cy="38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고유 제목 473개 · 이 중 149개는 둘 이상의 출원청에 출원 → 제목당 1건 표본, 군집 표준오차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49572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H01L21 기호 1,636건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0000" y="4957200"/>
            <a:ext cx="9132120" cy="38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웨이퍼 제조공정 905 (55.3%) · 공정 장치 328 (20.0%) · 패키징 단계 공정 403 (24.6%)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54540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출원청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0000" y="5454000"/>
            <a:ext cx="9132120" cy="38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US 382 · CN 175 · WO(PCT) 113 · EP 83 · TW 75 · KR 58 · JP 26 · 기타 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3.3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측정: 두 CPC 클래스의 공동분류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H01L21과 H01L24를 함께 가진 출원 = 공정 단계의 경계를 넘는 "통합형"</a:t>
            </a:r>
          </a:p>
        </p:txBody>
      </p:sp>
      <p:sp>
        <p:nvSpPr>
          <p:cNvPr id="4" name="Oval 3"/>
          <p:cNvSpPr/>
          <p:nvPr/>
        </p:nvSpPr>
        <p:spPr>
          <a:xfrm>
            <a:off x="2964060" y="936000"/>
            <a:ext cx="3816000" cy="3816000"/>
          </a:xfrm>
          <a:prstGeom prst="ellipse">
            <a:avLst/>
          </a:prstGeom>
          <a:solidFill>
            <a:srgbClr val="2563C9">
              <a:alpha val="16000"/>
            </a:srgbClr>
          </a:solidFill>
          <a:ln w="25400">
            <a:solidFill>
              <a:srgbClr val="2563C9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12060" y="936000"/>
            <a:ext cx="3816000" cy="3816000"/>
          </a:xfrm>
          <a:prstGeom prst="ellipse">
            <a:avLst/>
          </a:prstGeom>
          <a:solidFill>
            <a:srgbClr val="EA7A28">
              <a:alpha val="16000"/>
            </a:srgbClr>
          </a:solidFill>
          <a:ln w="25400">
            <a:solidFill>
              <a:srgbClr val="EA7A28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44060" y="1476000"/>
            <a:ext cx="1764000" cy="12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H01L21</a:t>
            </a:r>
          </a:p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반도체 제조공정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웨이퍼 접합 · CMP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절연층 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4060" y="1476000"/>
            <a:ext cx="1764000" cy="12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H01L24</a:t>
            </a:r>
          </a:p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접합 · 인터커넥트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범프 · 와이어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패드 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98060" y="2952000"/>
            <a:ext cx="1656000" cy="39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 단독형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38060" y="2952000"/>
            <a:ext cx="1656000" cy="396000"/>
          </a:xfrm>
          <a:prstGeom prst="roundRect">
            <a:avLst>
              <a:gd name="adj" fmla="val 50000"/>
            </a:avLst>
          </a:prstGeom>
          <a:solidFill>
            <a:srgbClr val="EA7A28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접합 단독형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66060" y="2466000"/>
            <a:ext cx="1260000" cy="432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2060" y="2934000"/>
            <a:ext cx="13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클래스를</a:t>
            </a:r>
          </a:p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함께 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4950000"/>
            <a:ext cx="1111212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출원에 두 클래스의 기호가 함께 부여 = 두 영역의 지식이 하나의 발명 안에서 결합된 흔적</a:t>
            </a:r>
          </a:p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기호는 심사관이 기술 내용에 따라 부여: 대리측정치이며 법적 청구범위의 측정이 아님 (Curran &amp; Leker, 2011; Fleming, 2001)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3.3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측정: 실제 출원의 CPC 기호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 출원에 부여된 CPC 기호의 조합으로 세 유형을 구분한다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2060" y="972000"/>
            <a:ext cx="3348000" cy="1440000"/>
          </a:xfrm>
          <a:prstGeom prst="roundRect">
            <a:avLst>
              <a:gd name="adj" fmla="val 6000"/>
            </a:avLst>
          </a:prstGeom>
          <a:solidFill>
            <a:srgbClr val="5B6475"/>
          </a:solidFill>
          <a:ln>
            <a:noFill/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060" y="1026000"/>
            <a:ext cx="306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실제 출원 예시  ·  TW · 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060" y="1278000"/>
            <a:ext cx="3060000" cy="10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DIRECT BONDING OF</a:t>
            </a:r>
          </a:p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HETEROGENEOUS SUBSTRATES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2060" y="2484000"/>
            <a:ext cx="334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부여된 CPC 기호 (H01L 생략)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60" y="2772000"/>
            <a:ext cx="8028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21/2007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95260" y="2772000"/>
            <a:ext cx="8028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21/4803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1260" y="2772000"/>
            <a:ext cx="8892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21/76251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660" y="2772000"/>
            <a:ext cx="8892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21/76275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06060" y="3204000"/>
            <a:ext cx="0" cy="306000"/>
          </a:xfrm>
          <a:prstGeom prst="line">
            <a:avLst/>
          </a:prstGeom>
          <a:ln w="31750">
            <a:solidFill>
              <a:srgbClr val="2563C9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732060" y="3564000"/>
            <a:ext cx="3348000" cy="936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19050">
            <a:solidFill>
              <a:srgbClr val="2563C9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공정 단독형</a:t>
            </a:r>
          </a:p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Process-only  ·  H01L21만 보유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2060" y="972000"/>
            <a:ext cx="3348000" cy="1440000"/>
          </a:xfrm>
          <a:prstGeom prst="roundRect">
            <a:avLst>
              <a:gd name="adj" fmla="val 6000"/>
            </a:avLst>
          </a:prstGeom>
          <a:solidFill>
            <a:srgbClr val="4B3C7A"/>
          </a:solidFill>
          <a:ln>
            <a:noFill/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060" y="1026000"/>
            <a:ext cx="306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실제 출원 예시  ·  US · 2017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060" y="1278000"/>
            <a:ext cx="3060000" cy="10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Metal-metal direct</a:t>
            </a:r>
          </a:p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bonding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2060" y="2484000"/>
            <a:ext cx="334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부여된 CPC 기호 (H01L 생략)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1460" y="2772000"/>
            <a:ext cx="7164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21/185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81060" y="2772000"/>
            <a:ext cx="7164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21/187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40660" y="2772000"/>
            <a:ext cx="630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24/05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60" y="3204000"/>
            <a:ext cx="0" cy="306000"/>
          </a:xfrm>
          <a:prstGeom prst="line">
            <a:avLst/>
          </a:prstGeom>
          <a:ln w="31750">
            <a:solidFill>
              <a:srgbClr val="7C3AED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4422060" y="3564000"/>
            <a:ext cx="3348000" cy="936000"/>
          </a:xfrm>
          <a:prstGeom prst="roundRect">
            <a:avLst>
              <a:gd name="adj" fmla="val 18000"/>
            </a:avLst>
          </a:prstGeom>
          <a:solidFill>
            <a:srgbClr val="EEE6FD"/>
          </a:solidFill>
          <a:ln w="31750">
            <a:solidFill>
              <a:srgbClr val="7C3AED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통합형</a:t>
            </a:r>
          </a:p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Integrated  ·  H01L21 + H01L24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2060" y="972000"/>
            <a:ext cx="3348000" cy="1440000"/>
          </a:xfrm>
          <a:prstGeom prst="roundRect">
            <a:avLst>
              <a:gd name="adj" fmla="val 6000"/>
            </a:avLst>
          </a:prstGeom>
          <a:solidFill>
            <a:srgbClr val="5B6475"/>
          </a:solidFill>
          <a:ln>
            <a:noFill/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6060" y="1026000"/>
            <a:ext cx="306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실제 출원 예시  ·  US · 2017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6060" y="1278000"/>
            <a:ext cx="3060000" cy="10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Hybrid bond pad</a:t>
            </a:r>
          </a:p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2060" y="2484000"/>
            <a:ext cx="334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부여된 CPC 기호 (H01L 생략)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61260" y="2772000"/>
            <a:ext cx="630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24/00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34460" y="2772000"/>
            <a:ext cx="630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24/05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07660" y="2772000"/>
            <a:ext cx="630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24/08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80860" y="2772000"/>
            <a:ext cx="630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24/80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86060" y="3204000"/>
            <a:ext cx="0" cy="306000"/>
          </a:xfrm>
          <a:prstGeom prst="line">
            <a:avLst/>
          </a:prstGeom>
          <a:ln w="31750">
            <a:solidFill>
              <a:srgbClr val="EA7A28"/>
            </a:solidFill>
            <a:tailEnd type="triangle" w="med" len="med"/>
          </a:ln>
        </p:spPr>
      </p:cxnSp>
      <p:sp>
        <p:nvSpPr>
          <p:cNvPr id="32" name="Rounded Rectangle 31"/>
          <p:cNvSpPr/>
          <p:nvPr/>
        </p:nvSpPr>
        <p:spPr>
          <a:xfrm>
            <a:off x="8112060" y="3564000"/>
            <a:ext cx="3348000" cy="936000"/>
          </a:xfrm>
          <a:prstGeom prst="roundRect">
            <a:avLst>
              <a:gd name="adj" fmla="val 18000"/>
            </a:avLst>
          </a:prstGeom>
          <a:solidFill>
            <a:srgbClr val="FDEBDD"/>
          </a:solidFill>
          <a:ln w="19050">
            <a:solidFill>
              <a:srgbClr val="EA7A28"/>
            </a:solidFill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접합 단독형</a:t>
            </a:r>
          </a:p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Bonding-only  ·  H01L24만 보유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0000" y="4752000"/>
            <a:ext cx="11112120" cy="106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6000" y="4806000"/>
            <a:ext cx="327204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이론적 개념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000" y="5040000"/>
            <a:ext cx="327204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단계 간 기술융합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082040" y="5202000"/>
            <a:ext cx="324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37" name="TextBox 36"/>
          <p:cNvSpPr txBox="1"/>
          <p:nvPr/>
        </p:nvSpPr>
        <p:spPr>
          <a:xfrm>
            <a:off x="4460040" y="4806000"/>
            <a:ext cx="327204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관찰 현상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0040" y="5040000"/>
            <a:ext cx="327204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기술이 한 출원에 함께 포함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786080" y="5202000"/>
            <a:ext cx="324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40" name="TextBox 39"/>
          <p:cNvSpPr txBox="1"/>
          <p:nvPr/>
        </p:nvSpPr>
        <p:spPr>
          <a:xfrm>
            <a:off x="8164080" y="4806000"/>
            <a:ext cx="327204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조작적 지표 (H01L21–H01L24)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4080" y="5040000"/>
            <a:ext cx="327204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공동분류 = 대리측정치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000" y="5418000"/>
            <a:ext cx="1068012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기호는 심사관이 기술 내용에 따라 부여 → 법적 청구범위의 측정이 아님 (Curran &amp; Leker, 2011; Fleming, 2001)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3.3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측정: 기술 클러스터와 기술 네트워크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출원 빈도와 연결 강도가 모두 접합 패드와 직접 접합 기호에 집중된다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954000"/>
          <a:ext cx="6372000" cy="41868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04000"/>
                <a:gridCol w="1188000"/>
                <a:gridCol w="3240000"/>
                <a:gridCol w="720000"/>
                <a:gridCol w="720000"/>
              </a:tblGrid>
              <a:tr h="306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CPC 기호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정의(요약)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 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비중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24/80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패드를 이용한 연결 방법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57.0%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24/08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후 개별 접합 패드의 구조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2224/80895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도전성 표면끼리의 직접 접합 (구리–구리)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2224/80896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절연성 표면끼리의 직접 접합 (산화막)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52.6%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2224/08145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범프 없는 적층 칩 사이의 접합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47.0%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25/50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소자 조립체의 다단계 제조공정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24/05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전 개별 접합 패드의 구조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37.7%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25/0657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소자의 적층 배치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29.5%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2224/05647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구리를 주성분으로 하는 접합 패드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25.8%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24/03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패드의 제조 방법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23.9%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2224/80357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표면과 같은 높이의 접합 계면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64000" y="954000"/>
          <a:ext cx="4488120" cy="2070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52120"/>
                <a:gridCol w="936000"/>
              </a:tblGrid>
              <a:tr h="306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기호 쌍 (상위 5)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 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2224/80895 – 2224/80896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24/08 – 24/80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24/80 – 2224/80895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24/08 – 2224/80895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528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24/80 – 2224/80896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64000" y="3204000"/>
            <a:ext cx="4488120" cy="2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2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강조한 네 기호 = 회귀 자료의 핵심 기술</a:t>
            </a:r>
          </a:p>
          <a:p>
            <a:pPr algn="l" marL="180000" indent="-180000">
              <a:lnSpc>
                <a:spcPts val="1440"/>
              </a:lnSpc>
              <a:spcBef>
                <a:spcPts val="0"/>
              </a:spcBef>
              <a:spcAft>
                <a:spcPts val="4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2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회귀 자료 네트워크의 연결 강도: 24/80 3,235 · 24/08 3,140 · 24/05 2,518 · 24/03 1,778 (상위 4개)</a:t>
            </a:r>
          </a:p>
          <a:p>
            <a:pPr algn="l" marL="180000" indent="-180000">
              <a:lnSpc>
                <a:spcPts val="1440"/>
              </a:lnSpc>
              <a:spcBef>
                <a:spcPts val="0"/>
              </a:spcBef>
              <a:spcAft>
                <a:spcPts val="4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2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네 기호의 6개 쌍(186–439건)이 가장 강한 6개 연결</a:t>
            </a:r>
          </a:p>
          <a:p>
            <a:pPr algn="l" marL="180000" indent="-18000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2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다섯째 24/83(층 형태 커넥터)은 164건으로 기준 미달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5400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N = 928 · 기호 앞 H01L 생략 · 2224, 25 계열은 같은 출원의 전체 CPC를 별도 집계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3.3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측정: 핵심 기술의 식별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접합 패드에 관한 기호 4개(24/03 · 24/05 · 24/08 · 24/80)를 하이브리드 본딩의 핵심 기술로 정의</a:t>
            </a:r>
          </a:p>
        </p:txBody>
      </p:sp>
      <p:pic>
        <p:nvPicPr>
          <p:cNvPr id="4" name="Picture 3" descr="network_k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882000"/>
            <a:ext cx="5040000" cy="41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0000" y="5006000"/>
            <a:ext cx="50400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회귀 자료의 기술 네트워크 (출원 30건 이상 기호, 논문 그림 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4000" y="936000"/>
            <a:ext cx="574812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기술: 출원 200건 이상에 부여된 접합 기호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04000" y="1296000"/>
          <a:ext cx="5748120" cy="185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404000"/>
                <a:gridCol w="3048120"/>
                <a:gridCol w="1296000"/>
              </a:tblGrid>
              <a:tr h="342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CPC 기호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 수(비중)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 24/80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패드를 이용한 연결 방법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529 (57.0%)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 24/08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후 접합 패드의 구조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513 (55.3%)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 24/05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전 접합 패드의 구조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350 (37.7%)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 24/03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패드의 제조 방법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 (23.9%)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04000" y="3330000"/>
            <a:ext cx="1008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클러스터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0000" y="3330000"/>
            <a:ext cx="4632120" cy="37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네 기호는 출원 200건 이상에 부여된 H01L24 기호 전부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4000" y="3852000"/>
            <a:ext cx="1008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네트워크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000" y="3852000"/>
            <a:ext cx="4632120" cy="37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연결 강도 상위 4개 기호 = 이 네 기호, 네 기호의 6개 쌍 = 가장 강한 6개 연결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04000" y="4374000"/>
            <a:ext cx="1008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CPC 체계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0000" y="4374000"/>
            <a:ext cx="4632120" cy="37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모두 접합 패드 그룹: 범프 · 층 · 와이어 없이 패드끼리 연결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4000" y="4986000"/>
            <a:ext cx="5748120" cy="774000"/>
          </a:xfrm>
          <a:prstGeom prst="roundRect">
            <a:avLst>
              <a:gd name="adj" fmla="val 6000"/>
            </a:avLst>
          </a:prstGeom>
          <a:solidFill>
            <a:srgbClr val="FFF0C2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48000" y="4986000"/>
            <a:ext cx="5460120" cy="77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접합 출원 763건 중 620건(81.3%)이 핵심 기술 포함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3.4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방법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모든 모형에 출원청을 통제하고, 계수는 인과효과가 아닌 조건부 연관으로 해석한다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2060" y="1134000"/>
            <a:ext cx="3456000" cy="259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3294B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060" y="972000"/>
            <a:ext cx="3096000" cy="324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18000" rIns="180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모형 1 · 다항 로짓 (주모형)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060" y="1386000"/>
            <a:ext cx="3168000" cy="22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종속변수</a:t>
            </a:r>
          </a:p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공동분류 유형 (기준 = 접합 단독형)</a:t>
            </a:r>
          </a:p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설명변수</a:t>
            </a:r>
          </a:p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기술범위, 출원연도</a:t>
            </a:r>
          </a:p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상대위험비(RRR) · 예측확률</a:t>
            </a:r>
          </a:p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표본</a:t>
            </a:r>
          </a:p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928건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0060" y="3330000"/>
            <a:ext cx="1044000" cy="288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 · RQ2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8060" y="1134000"/>
            <a:ext cx="3456000" cy="259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3294B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48060" y="972000"/>
            <a:ext cx="3096000" cy="324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18000" rIns="180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모형 2 · 이항 로짓 (보완)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2060" y="1386000"/>
            <a:ext cx="3168000" cy="22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종속변수</a:t>
            </a:r>
          </a:p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제조공정 분류 보유 여부</a:t>
            </a:r>
          </a:p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설명변수</a:t>
            </a:r>
          </a:p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기술범위, 출원연도</a:t>
            </a:r>
          </a:p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승산비(OR)</a:t>
            </a:r>
          </a:p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표본</a:t>
            </a:r>
          </a:p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928건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36060" y="3330000"/>
            <a:ext cx="1044000" cy="288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 · RQ2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4060" y="1134000"/>
            <a:ext cx="3456000" cy="259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3294B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4060" y="972000"/>
            <a:ext cx="3096000" cy="324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18000" rIns="180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모형 3 · 이항 로짓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060" y="1386000"/>
            <a:ext cx="3168000" cy="22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종속변수</a:t>
            </a:r>
          </a:p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통합형 여부</a:t>
            </a:r>
          </a:p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설명변수</a:t>
            </a:r>
          </a:p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 × 출원 시기</a:t>
            </a:r>
          </a:p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시기별 승산비(OR)</a:t>
            </a:r>
          </a:p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표본</a:t>
            </a:r>
          </a:p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출원 763건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62060" y="3330000"/>
            <a:ext cx="1044000" cy="288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3960000"/>
            <a:ext cx="5448060" cy="7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6000" y="4122000"/>
            <a:ext cx="1476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기술범위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0000" y="3960000"/>
            <a:ext cx="3630060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두 클래스 안의 서로 다른 CPC 서브그룹 수 (평균 5.69)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4060" y="3960000"/>
            <a:ext cx="5448060" cy="7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30060" y="4122000"/>
            <a:ext cx="1476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출원 시기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4060" y="3960000"/>
            <a:ext cx="3630060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–2014 · 2015–2019 · 2020–2024 (첫 시기: 출원 희소)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0000" y="4770000"/>
            <a:ext cx="5448060" cy="7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6000" y="4932000"/>
            <a:ext cx="1476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통제변수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0000" y="4770000"/>
            <a:ext cx="3630060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출원청 8개 (US · CN · KR · TW · JP · EP · WO · 기타)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060" y="4770000"/>
            <a:ext cx="5448060" cy="7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30060" y="4932000"/>
            <a:ext cx="1476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보조 지표 (RQ3)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4060" y="4770000"/>
            <a:ext cx="3630060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Jaccard 계수(영역별 결합 강도) · 매개 중심성(연결 기호)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4.1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RQ1) 융합의 수준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공정 단계를 함께 담은 통합형이 가장 많았다: 공정 단계 간 융합은 예외가 아니다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000" y="918000"/>
          <a:ext cx="4176000" cy="468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000" y="2718000"/>
            <a:ext cx="4176000" cy="10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 = 928</a:t>
            </a:r>
          </a:p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출원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4000" y="1566000"/>
            <a:ext cx="198000" cy="7560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28000" y="1512000"/>
            <a:ext cx="21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통합형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28000" y="1836000"/>
            <a:ext cx="2160000" cy="50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45.8%</a:t>
            </a: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425건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4000" y="2718000"/>
            <a:ext cx="198000" cy="756000"/>
          </a:xfrm>
          <a:prstGeom prst="roundRect">
            <a:avLst>
              <a:gd name="adj" fmla="val 30000"/>
            </a:avLst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28000" y="2664000"/>
            <a:ext cx="21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접합 단독형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8000" y="2988000"/>
            <a:ext cx="2160000" cy="50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36.4%</a:t>
            </a: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338건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4000" y="3870000"/>
            <a:ext cx="198000" cy="756000"/>
          </a:xfrm>
          <a:prstGeom prst="roundRect">
            <a:avLst>
              <a:gd name="adj" fmla="val 30000"/>
            </a:avLst>
          </a:prstGeom>
          <a:solidFill>
            <a:srgbClr val="2563C9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8000" y="3816000"/>
            <a:ext cx="21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공정 단독형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8000" y="4140000"/>
            <a:ext cx="2160000" cy="50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17.8%</a:t>
            </a:r>
            <a:r>
              <a:rPr sz="13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165건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4000" y="990000"/>
            <a:ext cx="4128120" cy="345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4000" y="1116000"/>
            <a:ext cx="376812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4000" y="1422000"/>
            <a:ext cx="3768120" cy="68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하이브리드 본딩 기술에서 제조공정과 접합 기술 간의 융합이 어느 정도로, 어떠한 형태로 나타나는가?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04000" y="2160000"/>
            <a:ext cx="3768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7704000" y="2232000"/>
            <a:ext cx="3768120" cy="21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92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통합형 45.8% — 가장 큰 비중</a:t>
            </a:r>
          </a:p>
          <a:p>
            <a:pPr algn="l" marL="180000" indent="-180000">
              <a:lnSpc>
                <a:spcPts val="162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좁은 정의(패키징 단계 공정 제외)에서도 37.2%</a:t>
            </a:r>
          </a:p>
          <a:p>
            <a:pPr algn="l" marL="180000" indent="-180000">
              <a:lnSpc>
                <a:spcPts val="162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제조공정 기호 보유 출원 590건 (63.6%)</a:t>
            </a:r>
          </a:p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→ 공정 단계 간 융합은 예외가 아님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4.1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RQ1) 융합의 형태: 기술범위와 통합형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세부 기술을 더 다양하게 포함한 출원일수록 통합형일 가능성이 높았다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900000"/>
          <a:ext cx="5976000" cy="504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8000" y="990000"/>
          <a:ext cx="4884120" cy="176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990000"/>
                <a:gridCol w="2454120"/>
                <a:gridCol w="1440000"/>
              </a:tblGrid>
              <a:tr h="324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효과비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360000">
                <a:tc rowSpan="2"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다항 로짓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 → 통합형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 1.403***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</a:tr>
              <a:tr h="360000">
                <a:tc vMerge="1"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 → 공정 단독형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 0.905**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이항 로짓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 → 제조공정 분류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OR 1.267***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예측확률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통합형: 범위 3 → 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0.26 → 0.68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8000" y="2790000"/>
            <a:ext cx="488412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*** p &lt; 0.01, ** p &lt; 0.05 · 다항 로짓 기준 범주 = 접합 단독형 · 출원청 통제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8000" y="3078000"/>
            <a:ext cx="4884120" cy="282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8000" y="3204000"/>
            <a:ext cx="452412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8000" y="3510000"/>
            <a:ext cx="4524120" cy="57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하이브리드 본딩 기술에서 제조공정과 접합 기술 간의 융합이 어느 정도로, 어떠한 형태로 나타나는가?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8000" y="4140000"/>
            <a:ext cx="4524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948000" y="4212000"/>
            <a:ext cx="4524120" cy="160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세부 분류 1개 증가 → 통합형 상대위험 +40%</a:t>
            </a:r>
          </a:p>
          <a:p>
            <a:pPr algn="l" marL="180000" indent="-18000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2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정의상 최소 기호 수 차이를 뺀 지표로도 RRR 1.262 (방향 유지)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4.2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RQ2) 융합의 시간적 변화: 세 국면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융합은 단선적으로 늘지 않았다: 형성기 → 확산기 → 재편기의 세 국면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900000"/>
          <a:ext cx="6264000" cy="507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092000" y="990000"/>
            <a:ext cx="4560120" cy="1152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54000" y="1062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형성기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4000" y="1386000"/>
            <a:ext cx="1584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–2014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00" y="1080000"/>
            <a:ext cx="276012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공정 단독형 43.6%로 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8000" y="1548000"/>
            <a:ext cx="276012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직접 접합을 가능하게 하는 공정 발명이 단독으로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92000" y="2268000"/>
            <a:ext cx="4560120" cy="1152000"/>
          </a:xfrm>
          <a:prstGeom prst="roundRect">
            <a:avLst>
              <a:gd name="adj" fmla="val 6000"/>
            </a:avLst>
          </a:prstGeom>
          <a:solidFill>
            <a:srgbClr val="EEE6F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54000" y="23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확산기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4000" y="2664000"/>
            <a:ext cx="1584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2015–2019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000" y="2358000"/>
            <a:ext cx="276012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통합형 62.2%로 정점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8000" y="2826000"/>
            <a:ext cx="276012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두 공정의 기술을 하나의 발명에 함께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92000" y="3546000"/>
            <a:ext cx="4560120" cy="1152000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54000" y="3618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재편기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4000" y="3942000"/>
            <a:ext cx="1584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2020–2024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8000" y="3636000"/>
            <a:ext cx="276012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단독형 45.4% ≈ 통합형 44.3%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8000" y="4104000"/>
            <a:ext cx="276012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통합형 감소 · 접합 단독형 증가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92000" y="4842000"/>
            <a:ext cx="4560120" cy="1116000"/>
          </a:xfrm>
          <a:prstGeom prst="roundRect">
            <a:avLst>
              <a:gd name="adj" fmla="val 6000"/>
            </a:avLst>
          </a:prstGeom>
          <a:solidFill>
            <a:srgbClr val="FFF0C2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54000" y="4860000"/>
            <a:ext cx="4236120" cy="10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2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출원연도 → 공정 단독형 RRR 0.913*** (연 8.7% 감소)</a:t>
            </a:r>
          </a:p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2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예측확률 2010 → 2022: 공정 단독형 0.27 → 0.12, 접합 단독형 0.31 → 0.40</a:t>
            </a:r>
          </a:p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첫 시기는 47년간 179건 &lt; 이후 5년간 209건 → 하나로 묶음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4.2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RQ2) 출원의 무게중심 이동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출원의 무게중심은 제조공정에서 접합 쪽으로 이동하였다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900000"/>
          <a:ext cx="5976000" cy="504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8000" y="990000"/>
          <a:ext cx="4884120" cy="212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580120"/>
                <a:gridCol w="2304000"/>
              </a:tblGrid>
              <a:tr h="324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효과비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출원연도 → 공정 단독형 (연간)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 0.913***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출원연도 → 통합형 (연간)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 0.993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단독형 (기간 더미)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0.273*** / 0.101***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 (기간 더미)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1.707* / 0.762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 → 통합형 (국면별)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1.179 · 1.513 · 1.414***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8000" y="3150000"/>
            <a:ext cx="488412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기간 더미의 기준 = 2014년 이전 · *** p &lt; 0.01, * p &lt; 0.10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8000" y="3438000"/>
            <a:ext cx="4884120" cy="246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8000" y="3564000"/>
            <a:ext cx="452412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8000" y="3870000"/>
            <a:ext cx="4524120" cy="57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공정 단계 간 기술융합은 시간에 따라 어떻게 변화해 왔는가?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8000" y="4500000"/>
            <a:ext cx="4524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948000" y="4572000"/>
            <a:ext cx="4524120" cy="124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단독형 상대위험 연 8.7% 감소</a:t>
            </a:r>
          </a:p>
          <a:p>
            <a:pPr algn="l" marL="180000" indent="-18000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2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2010 → 2022 예측확률: 공정 단독형 0.27 → 0.12, 접합 단독형 0.31 → 0.40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4.3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형성기: 전공정 지식의 축적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형성기: 핵심 기술을 발명하려면 제조공정 지식을 함께 다루어야 했다</a:t>
            </a:r>
          </a:p>
        </p:txBody>
      </p:sp>
      <p:sp>
        <p:nvSpPr>
          <p:cNvPr id="4" name="Pentagon 3"/>
          <p:cNvSpPr/>
          <p:nvPr/>
        </p:nvSpPr>
        <p:spPr>
          <a:xfrm>
            <a:off x="540000" y="900000"/>
            <a:ext cx="3776040" cy="432000"/>
          </a:xfrm>
          <a:prstGeom prst="homePlate">
            <a:avLst/>
          </a:prstGeom>
          <a:solidFill>
            <a:srgbClr val="2563C9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국면 1  형성기</a:t>
            </a:r>
            <a:r>
              <a:rPr sz="120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–2014</a:t>
            </a:r>
          </a:p>
        </p:txBody>
      </p:sp>
      <p:sp>
        <p:nvSpPr>
          <p:cNvPr id="5" name="Chevron 4"/>
          <p:cNvSpPr/>
          <p:nvPr/>
        </p:nvSpPr>
        <p:spPr>
          <a:xfrm>
            <a:off x="4262040" y="900000"/>
            <a:ext cx="3776040" cy="432000"/>
          </a:xfrm>
          <a:prstGeom prst="chevron">
            <a:avLst/>
          </a:prstGeom>
          <a:solidFill>
            <a:srgbClr val="E4E8EF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2  확산기</a:t>
            </a: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2015–2019</a:t>
            </a:r>
          </a:p>
        </p:txBody>
      </p:sp>
      <p:sp>
        <p:nvSpPr>
          <p:cNvPr id="6" name="Chevron 5"/>
          <p:cNvSpPr/>
          <p:nvPr/>
        </p:nvSpPr>
        <p:spPr>
          <a:xfrm>
            <a:off x="7984080" y="900000"/>
            <a:ext cx="3776040" cy="432000"/>
          </a:xfrm>
          <a:prstGeom prst="chevron">
            <a:avLst/>
          </a:prstGeom>
          <a:solidFill>
            <a:srgbClr val="E4E8EF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3  재편기</a:t>
            </a: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2020–2024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512000"/>
            <a:ext cx="6336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유형 구성</a:t>
            </a: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N = 179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800000"/>
            <a:ext cx="2762496" cy="4500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rtlCol="0" anchor="ctr" lIns="7200" rIns="72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43.6%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2496" y="1800000"/>
            <a:ext cx="1983168" cy="45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rtlCol="0" anchor="ctr" lIns="7200" rIns="72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31.3%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85664" y="1800000"/>
            <a:ext cx="1590336" cy="4500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7200" rIns="72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25.1%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358000"/>
            <a:ext cx="136800" cy="1368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2304000"/>
            <a:ext cx="11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공정 단독형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6000" y="2358000"/>
            <a:ext cx="136800" cy="136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6000" y="2304000"/>
            <a:ext cx="11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통합형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2000" y="2358000"/>
            <a:ext cx="1368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2000" y="2304000"/>
            <a:ext cx="11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단독형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2682000"/>
            <a:ext cx="3078000" cy="1656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000" y="2736000"/>
            <a:ext cx="2754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특징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000" y="2988000"/>
            <a:ext cx="275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단독형 43.6%로 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000" y="3582000"/>
            <a:ext cx="2754000" cy="70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직접 접합을 가능하게 하는 제조공정 발명이 단독으로 출원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8000" y="2682000"/>
            <a:ext cx="3078000" cy="1656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60000" y="2736000"/>
            <a:ext cx="2754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특징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0000" y="2988000"/>
            <a:ext cx="275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 보유 접합 출원의 79.6%가 통합형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0000" y="3582000"/>
            <a:ext cx="2754000" cy="70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기술이 없는 접합 출원은 27.7%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0000" y="4464000"/>
            <a:ext cx="6336000" cy="138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000" y="4500000"/>
            <a:ext cx="5976000" cy="131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2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결합 중심  </a:t>
            </a:r>
            <a:r>
              <a:rPr sz="13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웨이퍼 제조공정 (매개 중심성 53.6%)</a:t>
            </a:r>
          </a:p>
          <a:p>
            <a:pPr algn="l" marL="0" indent="0">
              <a:lnSpc>
                <a:spcPts val="162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단계 모형  </a:t>
            </a:r>
            <a:r>
              <a:rPr sz="135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지식 융합</a:t>
            </a:r>
          </a:p>
          <a:p>
            <a:pPr algn="l" marL="0" indent="0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47년간 179건: 이후 5년간 209건보다 적어 하나의 시기로 묶음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4000" y="1512000"/>
            <a:ext cx="4488120" cy="43380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C9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16000" y="1656000"/>
            <a:ext cx="398412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기술의 승산비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6000" y="1998000"/>
            <a:ext cx="398412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출원 중 통합형일 승산 · 핵심 기술 보유 vs 없음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6000" y="2304000"/>
            <a:ext cx="3984120" cy="10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11.07</a:t>
            </a:r>
            <a:r>
              <a:rPr sz="26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6000" y="3348000"/>
            <a:ext cx="398412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95% CI 4.211–29.107 · p &lt; 0.01 · 출원청 통제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16000" y="3708000"/>
            <a:ext cx="3984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7416000" y="3816000"/>
            <a:ext cx="3984120" cy="19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93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인터페이스가 확정되기 전</a:t>
            </a:r>
          </a:p>
          <a:p>
            <a:pPr algn="l" marL="0" indent="0">
              <a:lnSpc>
                <a:spcPts val="193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직접 접합 패드를 발명하려면 평탄화 · 웨이퍼 접합 같은 제조공정 지식을 함께 다루어야 했던 시기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4.3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확산기: 두 지식의 결합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확산기: 두 공정의 지식이 하나의 발명 안에서 가장 활발히 결합되었다</a:t>
            </a:r>
          </a:p>
        </p:txBody>
      </p:sp>
      <p:sp>
        <p:nvSpPr>
          <p:cNvPr id="4" name="Pentagon 3"/>
          <p:cNvSpPr/>
          <p:nvPr/>
        </p:nvSpPr>
        <p:spPr>
          <a:xfrm>
            <a:off x="540000" y="900000"/>
            <a:ext cx="3776040" cy="432000"/>
          </a:xfrm>
          <a:prstGeom prst="homePlate">
            <a:avLst/>
          </a:prstGeom>
          <a:solidFill>
            <a:srgbClr val="E4E8EF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1  형성기</a:t>
            </a: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–2014</a:t>
            </a:r>
          </a:p>
        </p:txBody>
      </p:sp>
      <p:sp>
        <p:nvSpPr>
          <p:cNvPr id="5" name="Chevron 4"/>
          <p:cNvSpPr/>
          <p:nvPr/>
        </p:nvSpPr>
        <p:spPr>
          <a:xfrm>
            <a:off x="4262040" y="900000"/>
            <a:ext cx="3776040" cy="432000"/>
          </a:xfrm>
          <a:prstGeom prst="chevron">
            <a:avLst/>
          </a:prstGeom>
          <a:solidFill>
            <a:srgbClr val="7C3AED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국면 2  확산기</a:t>
            </a:r>
            <a:r>
              <a:rPr sz="120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2015–2019</a:t>
            </a:r>
          </a:p>
        </p:txBody>
      </p:sp>
      <p:sp>
        <p:nvSpPr>
          <p:cNvPr id="6" name="Chevron 5"/>
          <p:cNvSpPr/>
          <p:nvPr/>
        </p:nvSpPr>
        <p:spPr>
          <a:xfrm>
            <a:off x="7984080" y="900000"/>
            <a:ext cx="3776040" cy="432000"/>
          </a:xfrm>
          <a:prstGeom prst="chevron">
            <a:avLst/>
          </a:prstGeom>
          <a:solidFill>
            <a:srgbClr val="E4E8EF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3  재편기</a:t>
            </a: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2020–2024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512000"/>
            <a:ext cx="6336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유형 구성</a:t>
            </a: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N = 209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800000"/>
            <a:ext cx="937728" cy="4500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rtlCol="0" anchor="ctr" lIns="7200" rIns="72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14.8%</a:t>
            </a:r>
          </a:p>
        </p:txBody>
      </p:sp>
      <p:sp>
        <p:nvSpPr>
          <p:cNvPr id="9" name="Rectangle 8"/>
          <p:cNvSpPr/>
          <p:nvPr/>
        </p:nvSpPr>
        <p:spPr>
          <a:xfrm>
            <a:off x="1477728" y="1800000"/>
            <a:ext cx="3940992" cy="45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rtlCol="0" anchor="ctr" lIns="7200" rIns="72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62.2%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8720" y="1800000"/>
            <a:ext cx="1457280" cy="4500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7200" rIns="7200" tIns="18000" bIns="18000" wrap="square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23.0%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358000"/>
            <a:ext cx="136800" cy="1368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2304000"/>
            <a:ext cx="11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공정 단독형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6000" y="2358000"/>
            <a:ext cx="136800" cy="136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6000" y="2304000"/>
            <a:ext cx="11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통합형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2000" y="2358000"/>
            <a:ext cx="1368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2000" y="2304000"/>
            <a:ext cx="11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단독형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2682000"/>
            <a:ext cx="3078000" cy="1656000"/>
          </a:xfrm>
          <a:prstGeom prst="roundRect">
            <a:avLst>
              <a:gd name="adj" fmla="val 6000"/>
            </a:avLst>
          </a:prstGeom>
          <a:solidFill>
            <a:srgbClr val="EEE6F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000" y="2736000"/>
            <a:ext cx="2754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특징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000" y="2988000"/>
            <a:ext cx="275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통합형 62.2%로 정점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000" y="3582000"/>
            <a:ext cx="2754000" cy="70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두 공정의 기술을 하나의 발명에 함께 담은 출원이 가장 많음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8000" y="2682000"/>
            <a:ext cx="3078000" cy="1656000"/>
          </a:xfrm>
          <a:prstGeom prst="roundRect">
            <a:avLst>
              <a:gd name="adj" fmla="val 6000"/>
            </a:avLst>
          </a:prstGeom>
          <a:solidFill>
            <a:srgbClr val="EEE6F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60000" y="2736000"/>
            <a:ext cx="2754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특징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0000" y="2988000"/>
            <a:ext cx="275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웨이퍼 제조공정과의 결합 최고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0000" y="3582000"/>
            <a:ext cx="2754000" cy="70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기호와의 Jaccard 계수 0.598 · 함께 부여: 21/187 반도체 몸체끼리의 접합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0000" y="4464000"/>
            <a:ext cx="6336000" cy="138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000" y="4500000"/>
            <a:ext cx="5976000" cy="131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2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결합 중심  </a:t>
            </a:r>
            <a:r>
              <a:rPr sz="13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웨이퍼 제조공정 (매개 중심성 42.5%)</a:t>
            </a:r>
          </a:p>
          <a:p>
            <a:pPr algn="l" marL="0" indent="0">
              <a:lnSpc>
                <a:spcPts val="162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단계 모형  </a:t>
            </a:r>
            <a:r>
              <a:rPr sz="135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기술 융합</a:t>
            </a:r>
          </a:p>
          <a:p>
            <a:pPr algn="l" marL="0" indent="0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확산기의 승산비는 군집 표준오차 · 무관 용법 제외 표본에서 유의성을 잃음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4000" y="1512000"/>
            <a:ext cx="4488120" cy="4338000"/>
          </a:xfrm>
          <a:prstGeom prst="rect">
            <a:avLst/>
          </a:prstGeom>
          <a:solidFill>
            <a:srgbClr val="FFFFFF"/>
          </a:solidFill>
          <a:ln w="38100">
            <a:solidFill>
              <a:srgbClr val="7C3AED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16000" y="1656000"/>
            <a:ext cx="398412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기술의 승산비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6000" y="1998000"/>
            <a:ext cx="398412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출원 중 통합형일 승산 · 핵심 기술 보유 vs 없음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6000" y="2304000"/>
            <a:ext cx="3984120" cy="104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2.45</a:t>
            </a:r>
            <a:r>
              <a:rPr sz="26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6000" y="3348000"/>
            <a:ext cx="398412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95% CI 1.158–5.194 · p &lt; 0.05 · 출원청 통제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16000" y="3708000"/>
            <a:ext cx="3984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7416000" y="3816000"/>
            <a:ext cx="3984120" cy="19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93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우위는 줄었지만 유지</a:t>
            </a:r>
          </a:p>
          <a:p>
            <a:pPr algn="l" marL="0" indent="0">
              <a:lnSpc>
                <a:spcPts val="193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출원 중 핵심 기술 비중 53.5% → 78.7%: 핵심 설계로 수렴하는 중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4.3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재편기: 융합이 줄어든 역설</a:t>
            </a:r>
          </a:p>
        </p:txBody>
      </p:sp>
      <p:sp>
        <p:nvSpPr>
          <p:cNvPr id="3" name="Pentagon 2"/>
          <p:cNvSpPr/>
          <p:nvPr/>
        </p:nvSpPr>
        <p:spPr>
          <a:xfrm>
            <a:off x="540000" y="900000"/>
            <a:ext cx="3776040" cy="432000"/>
          </a:xfrm>
          <a:prstGeom prst="homePlate">
            <a:avLst/>
          </a:prstGeom>
          <a:solidFill>
            <a:srgbClr val="E4E8EF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1  형성기</a:t>
            </a: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–2014</a:t>
            </a:r>
          </a:p>
        </p:txBody>
      </p:sp>
      <p:sp>
        <p:nvSpPr>
          <p:cNvPr id="4" name="Chevron 3"/>
          <p:cNvSpPr/>
          <p:nvPr/>
        </p:nvSpPr>
        <p:spPr>
          <a:xfrm>
            <a:off x="4262040" y="900000"/>
            <a:ext cx="3776040" cy="432000"/>
          </a:xfrm>
          <a:prstGeom prst="chevron">
            <a:avLst/>
          </a:prstGeom>
          <a:solidFill>
            <a:srgbClr val="E4E8EF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2  확산기</a:t>
            </a: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2015–2019</a:t>
            </a:r>
          </a:p>
        </p:txBody>
      </p:sp>
      <p:sp>
        <p:nvSpPr>
          <p:cNvPr id="5" name="Chevron 4"/>
          <p:cNvSpPr/>
          <p:nvPr/>
        </p:nvSpPr>
        <p:spPr>
          <a:xfrm>
            <a:off x="7984080" y="900000"/>
            <a:ext cx="3776040" cy="432000"/>
          </a:xfrm>
          <a:prstGeom prst="chevron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국면 3  재편기</a:t>
            </a:r>
            <a:r>
              <a:rPr sz="120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2020–2024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440000"/>
          <a:ext cx="6336000" cy="324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64000" y="1476000"/>
            <a:ext cx="4488120" cy="972000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44000" y="1530000"/>
            <a:ext cx="412812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접합 단독형 45.4% ≈ 통합형 44.3%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4000" y="1926000"/>
            <a:ext cx="412812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통합형은 정점에서 내려오고 접합 단독형이 늘어남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64000" y="2556000"/>
            <a:ext cx="4488120" cy="972000"/>
          </a:xfrm>
          <a:prstGeom prst="roundRect">
            <a:avLst>
              <a:gd name="adj" fmla="val 6000"/>
            </a:avLst>
          </a:prstGeom>
          <a:solidFill>
            <a:srgbClr val="EEE6F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44000" y="2610000"/>
            <a:ext cx="412812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핵심 기술의 승산비 0.66 (비유의)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4000" y="3006000"/>
            <a:ext cx="412812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95% CI 0.374–1.160: 핵심 기술의 "경계 넘기" 우위가 확인되지 않음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64000" y="3636000"/>
            <a:ext cx="4488120" cy="972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4000" y="3690000"/>
            <a:ext cx="412812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접합 출원 중 핵심 기술 비중 88.0%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4000" y="4086000"/>
            <a:ext cx="412812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출원 540건으로 가장 많은 시기 · 발명이 하나의 핵심 설계로 수렴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4842000"/>
            <a:ext cx="11112120" cy="10800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4842000"/>
            <a:ext cx="10392120" cy="108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출원이 가장 많아진 시기에, 왜 경계를 넘는 발명의 비중은 줄고</a:t>
            </a:r>
          </a:p>
          <a:p>
            <a:pPr algn="ctr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D4A72C"/>
                </a:solidFill>
                <a:latin typeface="맑은 고딕"/>
                <a:ea typeface="맑은 고딕"/>
                <a:cs typeface="맑은 고딕"/>
              </a:rPr>
              <a:t>접합 발명은 다시 단독으로 출원되기 시작했을까?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4.3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RQ3) 핵심 기술의 경계 넘기 우위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기술의 "경계 넘기" 우위는 형성기에 뚜렷했으나 재편기에는 확인되지 않았다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990000"/>
          <a:ext cx="6840000" cy="167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800000"/>
                <a:gridCol w="1224000"/>
                <a:gridCol w="1224000"/>
                <a:gridCol w="1152000"/>
                <a:gridCol w="1440000"/>
              </a:tblGrid>
              <a:tr h="486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 시기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 비중</a:t>
                      </a:r>
                    </a:p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보유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 비중</a:t>
                      </a:r>
                    </a:p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없음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기술의</a:t>
                      </a:r>
                    </a:p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승산비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CI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형성기 (–2014)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79.6%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27.7%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11.071***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4.211–29.107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확산기 (2015–19)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77.1%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57.9%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2.452**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1.158–5.194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재편기 (2020–24)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48.4%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56.9%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0.374–1.160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2700000"/>
            <a:ext cx="6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출원 N = 763 · 종속변수: 통합형 여부 · 출원청 통제 · *** p &lt; 0.01, ** p &lt; 0.05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3006000"/>
            <a:ext cx="6840000" cy="284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3060000"/>
            <a:ext cx="6480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시기별 핵심 기술의 승산비 (95% 신뢰구간)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01714" y="3402000"/>
            <a:ext cx="0" cy="1386000"/>
          </a:xfrm>
          <a:prstGeom prst="line">
            <a:avLst/>
          </a:prstGeom>
          <a:ln w="19050">
            <a:solidFill>
              <a:srgbClr val="9AA3B2"/>
            </a:solidFill>
            <a:prstDash val="dash"/>
          </a:ln>
        </p:spPr>
      </p:cxnSp>
      <p:sp>
        <p:nvSpPr>
          <p:cNvPr id="9" name="TextBox 8"/>
          <p:cNvSpPr txBox="1"/>
          <p:nvPr/>
        </p:nvSpPr>
        <p:spPr>
          <a:xfrm>
            <a:off x="720000" y="3438000"/>
            <a:ext cx="936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형성기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59114" y="3600000"/>
            <a:ext cx="2094240" cy="0"/>
          </a:xfrm>
          <a:prstGeom prst="line">
            <a:avLst/>
          </a:prstGeom>
          <a:ln w="44450">
            <a:solidFill>
              <a:srgbClr val="2563C9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5809023" y="3502800"/>
            <a:ext cx="194400" cy="194400"/>
          </a:xfrm>
          <a:prstGeom prst="ellipse">
            <a:avLst/>
          </a:prstGeom>
          <a:solidFill>
            <a:srgbClr val="2563C9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2223" y="3240000"/>
            <a:ext cx="140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11.07***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888000"/>
            <a:ext cx="936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확산기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60622" y="4050000"/>
            <a:ext cx="1625764" cy="0"/>
          </a:xfrm>
          <a:prstGeom prst="line">
            <a:avLst/>
          </a:prstGeom>
          <a:ln w="44450">
            <a:solidFill>
              <a:srgbClr val="7C3AED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4176093" y="3952800"/>
            <a:ext cx="194400" cy="194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6386" y="3934800"/>
            <a:ext cx="1656000" cy="23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2.45**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4338000"/>
            <a:ext cx="936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재편기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36331" y="4500000"/>
            <a:ext cx="1226160" cy="0"/>
          </a:xfrm>
          <a:prstGeom prst="line">
            <a:avLst/>
          </a:prstGeom>
          <a:ln w="44450">
            <a:solidFill>
              <a:srgbClr val="EA7A28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751116" y="4402800"/>
            <a:ext cx="194400" cy="194400"/>
          </a:xfrm>
          <a:prstGeom prst="ellipse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52491" y="4384800"/>
            <a:ext cx="1656000" cy="23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0.66 (비유의)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00000" y="4824000"/>
            <a:ext cx="5256000" cy="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1800000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1512000" y="4878000"/>
            <a:ext cx="5760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0.25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50857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2262857" y="4878000"/>
            <a:ext cx="5760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0.5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01714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3013714" y="4878000"/>
            <a:ext cx="5760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52571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3764571" y="4878000"/>
            <a:ext cx="5760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03429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4515429" y="4878000"/>
            <a:ext cx="5760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554286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5266286" y="4878000"/>
            <a:ext cx="5760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05143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017143" y="4878000"/>
            <a:ext cx="5760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56000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6768000" y="4878000"/>
            <a:ext cx="5760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41714" y="5076000"/>
            <a:ext cx="25200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승산비 (로그 척도, 1 = 차이 없음)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68000" y="990000"/>
            <a:ext cx="3984120" cy="486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48000" y="1116000"/>
            <a:ext cx="362412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8000" y="1422000"/>
            <a:ext cx="3624120" cy="70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공정 단계 간 기술융합의 중심이 핵심 기술과 주변 기술 사이에서 시기에 따라 어떻게 재편되는가?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48000" y="2178000"/>
            <a:ext cx="3624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7848000" y="2250000"/>
            <a:ext cx="3624120" cy="351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형성기 11.1 → 확산기 2.5 → 재편기 0.66</a:t>
            </a:r>
          </a:p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2014년 이전 대비 배수 (상호작용)</a:t>
            </a:r>
          </a:p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2015–19: 0.221** · 2020–24: 0.059***</a:t>
            </a:r>
          </a:p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출원 중 핵심 기술 비중</a:t>
            </a:r>
          </a:p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53.5% → 78.7% → 88.0%</a:t>
            </a:r>
          </a:p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→ 발명이 하나의 핵심 설계로 수렴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4.4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해석: 지배적 설계의 고착화와 인터페이스 안정화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설계가 고착화되자, 발명은 경계 반대편의 지식을 매번 함께 다룰 필요가 줄었다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36000"/>
            <a:ext cx="11112120" cy="5040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8000" y="936000"/>
            <a:ext cx="10536120" cy="50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재편기: 출원이 가장 많아진 시기에 왜 통합형의 비중은 줄고 접합 단독형이 늘었을까?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548000"/>
            <a:ext cx="5160060" cy="2700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" y="1638000"/>
            <a:ext cx="4728060" cy="34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인터페이스 불안정기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1962000"/>
            <a:ext cx="472806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형성기 · 확산기  (격동기)</a:t>
            </a:r>
          </a:p>
        </p:txBody>
      </p:sp>
      <p:sp>
        <p:nvSpPr>
          <p:cNvPr id="9" name="Rectangle 8"/>
          <p:cNvSpPr/>
          <p:nvPr/>
        </p:nvSpPr>
        <p:spPr>
          <a:xfrm>
            <a:off x="756000" y="2304000"/>
            <a:ext cx="864000" cy="16560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08000" y="2304000"/>
            <a:ext cx="864000" cy="16560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000" y="2304000"/>
            <a:ext cx="864000" cy="165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8000" y="2304000"/>
            <a:ext cx="864000" cy="165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제조공정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20000" y="2484000"/>
            <a:ext cx="288000" cy="648000"/>
          </a:xfrm>
          <a:prstGeom prst="line">
            <a:avLst/>
          </a:prstGeom>
          <a:ln w="25400">
            <a:solidFill>
              <a:srgbClr val="7C3AED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620000" y="2484000"/>
            <a:ext cx="288000" cy="324000"/>
          </a:xfrm>
          <a:prstGeom prst="line">
            <a:avLst/>
          </a:prstGeom>
          <a:ln w="25400">
            <a:solidFill>
              <a:srgbClr val="5B647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1620000" y="3132000"/>
            <a:ext cx="288000" cy="324000"/>
          </a:xfrm>
          <a:prstGeom prst="line">
            <a:avLst/>
          </a:prstGeom>
          <a:ln w="25400">
            <a:solidFill>
              <a:srgbClr val="EA7A28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620000" y="2808000"/>
            <a:ext cx="288000" cy="648000"/>
          </a:xfrm>
          <a:prstGeom prst="line">
            <a:avLst/>
          </a:prstGeom>
          <a:ln w="25400">
            <a:solidFill>
              <a:srgbClr val="2563C9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620000" y="3780000"/>
            <a:ext cx="288000" cy="0"/>
          </a:xfrm>
          <a:prstGeom prst="line">
            <a:avLst/>
          </a:prstGeom>
          <a:ln w="25400">
            <a:solidFill>
              <a:srgbClr val="9AA6B8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2916000" y="2196000"/>
            <a:ext cx="2640060" cy="187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접합 패드를 발명할 때마다</a:t>
            </a:r>
          </a:p>
          <a:p>
            <a:pPr algn="l" marL="0" indent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평탄화 · 표면 화학 · 웨이퍼 접합</a:t>
            </a:r>
          </a:p>
          <a:p>
            <a:pPr algn="l" marL="0" indent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지식을 함께 다룸</a:t>
            </a:r>
          </a:p>
          <a:p>
            <a:pPr algn="l" marL="0" indent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→ 통합형 · 핵심 기술의 우위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060" y="1548000"/>
            <a:ext cx="5160060" cy="2700000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8060" y="1638000"/>
            <a:ext cx="4728060" cy="34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지배적 설계의 고착화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8060" y="1962000"/>
            <a:ext cx="472806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재편기  (점진적 변화)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8060" y="2304000"/>
            <a:ext cx="864000" cy="16560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0060" y="2304000"/>
            <a:ext cx="864000" cy="16560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8060" y="2304000"/>
            <a:ext cx="864000" cy="165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0060" y="2304000"/>
            <a:ext cx="864000" cy="165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제조공정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72060" y="2484000"/>
            <a:ext cx="288000" cy="0"/>
          </a:xfrm>
          <a:prstGeom prst="line">
            <a:avLst/>
          </a:prstGeom>
          <a:ln w="38100">
            <a:solidFill>
              <a:srgbClr val="7C3AED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72060" y="2808000"/>
            <a:ext cx="288000" cy="0"/>
          </a:xfrm>
          <a:prstGeom prst="line">
            <a:avLst/>
          </a:prstGeom>
          <a:ln w="38100">
            <a:solidFill>
              <a:srgbClr val="7C3AED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7572060" y="3132000"/>
            <a:ext cx="288000" cy="0"/>
          </a:xfrm>
          <a:prstGeom prst="line">
            <a:avLst/>
          </a:prstGeom>
          <a:ln w="38100">
            <a:solidFill>
              <a:srgbClr val="7C3AED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7572060" y="3456000"/>
            <a:ext cx="288000" cy="0"/>
          </a:xfrm>
          <a:prstGeom prst="line">
            <a:avLst/>
          </a:prstGeom>
          <a:ln w="38100">
            <a:solidFill>
              <a:srgbClr val="7C3AED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7572060" y="3780000"/>
            <a:ext cx="288000" cy="0"/>
          </a:xfrm>
          <a:prstGeom prst="line">
            <a:avLst/>
          </a:prstGeom>
          <a:ln w="38100">
            <a:solidFill>
              <a:srgbClr val="7C3AED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8868060" y="2196000"/>
            <a:ext cx="2640060" cy="187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직접 접합의 원리가</a:t>
            </a:r>
          </a:p>
          <a:p>
            <a:pPr algn="l" marL="0" indent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"주어진 조건"이 됨</a:t>
            </a:r>
          </a:p>
          <a:p>
            <a:pPr algn="l" marL="0" indent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→ 핵심 기술의 우위 소멸</a:t>
            </a:r>
          </a:p>
          <a:p>
            <a:pPr algn="l" marL="0" indent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→ 새로운 결합은 주변 공정에서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826060" y="2628000"/>
            <a:ext cx="540000" cy="54000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40000" y="4446000"/>
            <a:ext cx="11112120" cy="0"/>
          </a:xfrm>
          <a:prstGeom prst="line">
            <a:avLst/>
          </a:prstGeom>
          <a:ln w="25400">
            <a:solidFill>
              <a:srgbClr val="9AA3B2"/>
            </a:solidFill>
            <a:tailEnd type="triangle" w="med" len="med"/>
          </a:ln>
        </p:spPr>
      </p:cxnSp>
      <p:sp>
        <p:nvSpPr>
          <p:cNvPr id="34" name="Oval 33"/>
          <p:cNvSpPr/>
          <p:nvPr/>
        </p:nvSpPr>
        <p:spPr>
          <a:xfrm>
            <a:off x="2330820" y="4384800"/>
            <a:ext cx="122400" cy="1224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12020" y="45180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격동기</a:t>
            </a:r>
          </a:p>
        </p:txBody>
      </p:sp>
      <p:sp>
        <p:nvSpPr>
          <p:cNvPr id="36" name="Oval 35"/>
          <p:cNvSpPr/>
          <p:nvPr/>
        </p:nvSpPr>
        <p:spPr>
          <a:xfrm>
            <a:off x="6034860" y="4384800"/>
            <a:ext cx="122400" cy="1224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16060" y="45180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지배적 설계</a:t>
            </a:r>
          </a:p>
        </p:txBody>
      </p:sp>
      <p:sp>
        <p:nvSpPr>
          <p:cNvPr id="38" name="Oval 37"/>
          <p:cNvSpPr/>
          <p:nvPr/>
        </p:nvSpPr>
        <p:spPr>
          <a:xfrm>
            <a:off x="9738900" y="4384800"/>
            <a:ext cx="122400" cy="1224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20100" y="45180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점진적 변화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" y="4806000"/>
            <a:ext cx="11112120" cy="75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요소가 다른 요소와 안정된 인터페이스가 되면, 이후의 변화는 주변 요소에서 일어난다 (Anderson &amp; Tushman, 1990; Murmann &amp; Frenken, 2006)</a:t>
            </a:r>
          </a:p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해석: 출원 시기는 지배적 설계의 근사이며, 인과를 검정한 것은 아님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4.5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RQ3) 결합 중심의 이동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기술은 허브로 남고, 접합과 제조공정을 잇는 연결은 공정 장치 · 패키징 단계 공정으로 옮겨 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36000"/>
            <a:ext cx="3596040" cy="345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990000"/>
            <a:ext cx="330804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형성기</a:t>
            </a: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–2014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1242000" y="2142000"/>
            <a:ext cx="1096020" cy="936000"/>
          </a:xfrm>
          <a:prstGeom prst="line">
            <a:avLst/>
          </a:prstGeom>
          <a:ln w="101041">
            <a:solidFill>
              <a:srgbClr val="2563C9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338020" y="2142000"/>
            <a:ext cx="1096020" cy="936000"/>
          </a:xfrm>
          <a:prstGeom prst="line">
            <a:avLst/>
          </a:prstGeom>
          <a:ln w="15189">
            <a:solidFill>
              <a:srgbClr val="10A39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2338020" y="3078000"/>
            <a:ext cx="0" cy="936000"/>
          </a:xfrm>
          <a:prstGeom prst="line">
            <a:avLst/>
          </a:prstGeom>
          <a:ln w="64058">
            <a:solidFill>
              <a:srgbClr val="E0A100"/>
            </a:solidFill>
          </a:ln>
        </p:spPr>
      </p:cxnSp>
      <p:sp>
        <p:nvSpPr>
          <p:cNvPr id="9" name="Oval 8"/>
          <p:cNvSpPr/>
          <p:nvPr/>
        </p:nvSpPr>
        <p:spPr>
          <a:xfrm>
            <a:off x="726264" y="1626264"/>
            <a:ext cx="1031472" cy="1031472"/>
          </a:xfrm>
          <a:prstGeom prst="ellipse">
            <a:avLst/>
          </a:prstGeom>
          <a:solidFill>
            <a:srgbClr val="2563C9"/>
          </a:solidFill>
          <a:ln w="19050">
            <a:solidFill>
              <a:srgbClr val="FFFFFF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000" y="1381464"/>
            <a:ext cx="144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매개 53.6%</a:t>
            </a:r>
          </a:p>
        </p:txBody>
      </p:sp>
      <p:sp>
        <p:nvSpPr>
          <p:cNvPr id="11" name="Oval 10"/>
          <p:cNvSpPr/>
          <p:nvPr/>
        </p:nvSpPr>
        <p:spPr>
          <a:xfrm>
            <a:off x="3227040" y="1935000"/>
            <a:ext cx="414000" cy="414000"/>
          </a:xfrm>
          <a:prstGeom prst="ellipse">
            <a:avLst/>
          </a:prstGeom>
          <a:solidFill>
            <a:srgbClr val="10A39A"/>
          </a:solidFill>
          <a:ln w="19050">
            <a:solidFill>
              <a:srgbClr val="FFFFFF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4040" y="1690200"/>
            <a:ext cx="144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매개 0.0%</a:t>
            </a:r>
          </a:p>
        </p:txBody>
      </p:sp>
      <p:sp>
        <p:nvSpPr>
          <p:cNvPr id="13" name="Oval 12"/>
          <p:cNvSpPr/>
          <p:nvPr/>
        </p:nvSpPr>
        <p:spPr>
          <a:xfrm>
            <a:off x="2129292" y="3805272"/>
            <a:ext cx="417456" cy="417456"/>
          </a:xfrm>
          <a:prstGeom prst="ellipse">
            <a:avLst/>
          </a:prstGeom>
          <a:solidFill>
            <a:srgbClr val="E0A100"/>
          </a:solidFill>
          <a:ln w="19050">
            <a:solidFill>
              <a:srgbClr val="FFFFFF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0748" y="3888000"/>
            <a:ext cx="144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매개 0.3%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8009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0.306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1995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A39A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ko-KR" altLang="en-US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0.046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0020" y="345672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0A10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ko-KR" altLang="en-US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0.194</a:t>
            </a:r>
          </a:p>
        </p:txBody>
      </p:sp>
      <p:sp>
        <p:nvSpPr>
          <p:cNvPr id="18" name="Oval 17"/>
          <p:cNvSpPr/>
          <p:nvPr/>
        </p:nvSpPr>
        <p:spPr>
          <a:xfrm>
            <a:off x="1960020" y="2700000"/>
            <a:ext cx="756000" cy="756000"/>
          </a:xfrm>
          <a:prstGeom prst="ellipse">
            <a:avLst/>
          </a:prstGeom>
          <a:solidFill>
            <a:srgbClr val="B5441B"/>
          </a:solidFill>
          <a:ln w="19050">
            <a:solidFill>
              <a:srgbClr val="FFFFFF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0020" y="2700000"/>
            <a:ext cx="756000" cy="75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8040" y="936000"/>
            <a:ext cx="3596040" cy="345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2040" y="990000"/>
            <a:ext cx="330804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확산기</a:t>
            </a: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2015–2019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5000040" y="2142000"/>
            <a:ext cx="1096020" cy="936000"/>
          </a:xfrm>
          <a:prstGeom prst="line">
            <a:avLst/>
          </a:prstGeom>
          <a:ln w="197459">
            <a:solidFill>
              <a:srgbClr val="2563C9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096060" y="2142000"/>
            <a:ext cx="1096020" cy="936000"/>
          </a:xfrm>
          <a:prstGeom prst="line">
            <a:avLst/>
          </a:prstGeom>
          <a:ln w="19481">
            <a:solidFill>
              <a:srgbClr val="10A39A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096060" y="3078000"/>
            <a:ext cx="0" cy="936000"/>
          </a:xfrm>
          <a:prstGeom prst="line">
            <a:avLst/>
          </a:prstGeom>
          <a:ln w="77266">
            <a:solidFill>
              <a:srgbClr val="E0A100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4548240" y="1690200"/>
            <a:ext cx="903600" cy="903600"/>
          </a:xfrm>
          <a:prstGeom prst="ellipse">
            <a:avLst/>
          </a:prstGeom>
          <a:solidFill>
            <a:srgbClr val="2563C9"/>
          </a:solidFill>
          <a:ln w="19050">
            <a:solidFill>
              <a:srgbClr val="FFFFFF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80040" y="1445400"/>
            <a:ext cx="144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매개 42.5%</a:t>
            </a:r>
          </a:p>
        </p:txBody>
      </p:sp>
      <p:sp>
        <p:nvSpPr>
          <p:cNvPr id="27" name="Oval 26"/>
          <p:cNvSpPr/>
          <p:nvPr/>
        </p:nvSpPr>
        <p:spPr>
          <a:xfrm>
            <a:off x="6974712" y="1924632"/>
            <a:ext cx="434736" cy="434736"/>
          </a:xfrm>
          <a:prstGeom prst="ellipse">
            <a:avLst/>
          </a:prstGeom>
          <a:solidFill>
            <a:srgbClr val="10A39A"/>
          </a:solidFill>
          <a:ln w="19050">
            <a:solidFill>
              <a:srgbClr val="FFFFFF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2080" y="1679832"/>
            <a:ext cx="144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매개 1.8%</a:t>
            </a:r>
          </a:p>
        </p:txBody>
      </p:sp>
      <p:sp>
        <p:nvSpPr>
          <p:cNvPr id="29" name="Oval 28"/>
          <p:cNvSpPr/>
          <p:nvPr/>
        </p:nvSpPr>
        <p:spPr>
          <a:xfrm>
            <a:off x="5885604" y="3803544"/>
            <a:ext cx="420912" cy="420912"/>
          </a:xfrm>
          <a:prstGeom prst="ellipse">
            <a:avLst/>
          </a:prstGeom>
          <a:solidFill>
            <a:srgbClr val="E0A100"/>
          </a:solidFill>
          <a:ln w="19050">
            <a:solidFill>
              <a:srgbClr val="FFFFFF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0516" y="3888000"/>
            <a:ext cx="144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매개 0.6%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3813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0.598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7799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A39A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ko-KR" altLang="en-US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0.059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08060" y="345672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0A10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ko-KR" altLang="en-US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0.234</a:t>
            </a:r>
          </a:p>
        </p:txBody>
      </p:sp>
      <p:sp>
        <p:nvSpPr>
          <p:cNvPr id="34" name="Oval 33"/>
          <p:cNvSpPr/>
          <p:nvPr/>
        </p:nvSpPr>
        <p:spPr>
          <a:xfrm>
            <a:off x="5718060" y="2700000"/>
            <a:ext cx="756000" cy="756000"/>
          </a:xfrm>
          <a:prstGeom prst="ellipse">
            <a:avLst/>
          </a:prstGeom>
          <a:solidFill>
            <a:srgbClr val="B5441B"/>
          </a:solidFill>
          <a:ln w="19050">
            <a:solidFill>
              <a:srgbClr val="FFFFFF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060" y="2700000"/>
            <a:ext cx="756000" cy="75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56080" y="936000"/>
            <a:ext cx="3596040" cy="345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0080" y="990000"/>
            <a:ext cx="330804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재편기</a:t>
            </a: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2020–2024</a:t>
            </a:r>
          </a:p>
        </p:txBody>
      </p:sp>
      <p:cxnSp>
        <p:nvCxnSpPr>
          <p:cNvPr id="38" name="Connector 37"/>
          <p:cNvCxnSpPr/>
          <p:nvPr/>
        </p:nvCxnSpPr>
        <p:spPr>
          <a:xfrm flipH="1" flipV="1">
            <a:off x="8758080" y="2142000"/>
            <a:ext cx="1096020" cy="936000"/>
          </a:xfrm>
          <a:prstGeom prst="line">
            <a:avLst/>
          </a:prstGeom>
          <a:ln w="52501">
            <a:solidFill>
              <a:srgbClr val="2563C9"/>
            </a:solidFill>
          </a:ln>
        </p:spPr>
      </p:cxnSp>
      <p:cxnSp>
        <p:nvCxnSpPr>
          <p:cNvPr id="39" name="Connector 38"/>
          <p:cNvCxnSpPr/>
          <p:nvPr/>
        </p:nvCxnSpPr>
        <p:spPr>
          <a:xfrm flipV="1">
            <a:off x="9854100" y="2142000"/>
            <a:ext cx="1096020" cy="936000"/>
          </a:xfrm>
          <a:prstGeom prst="line">
            <a:avLst/>
          </a:prstGeom>
          <a:ln w="58115">
            <a:solidFill>
              <a:srgbClr val="10A39A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9854100" y="3078000"/>
            <a:ext cx="0" cy="936000"/>
          </a:xfrm>
          <a:prstGeom prst="line">
            <a:avLst/>
          </a:prstGeom>
          <a:ln w="88493">
            <a:solidFill>
              <a:srgbClr val="E0A100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8499240" y="1883160"/>
            <a:ext cx="517680" cy="517680"/>
          </a:xfrm>
          <a:prstGeom prst="ellipse">
            <a:avLst/>
          </a:prstGeom>
          <a:solidFill>
            <a:srgbClr val="2563C9"/>
          </a:solidFill>
          <a:ln w="19050">
            <a:solidFill>
              <a:srgbClr val="FFFFFF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38080" y="1638360"/>
            <a:ext cx="144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매개 9.0%</a:t>
            </a:r>
          </a:p>
        </p:txBody>
      </p:sp>
      <p:sp>
        <p:nvSpPr>
          <p:cNvPr id="43" name="Oval 42"/>
          <p:cNvSpPr/>
          <p:nvPr/>
        </p:nvSpPr>
        <p:spPr>
          <a:xfrm>
            <a:off x="10592784" y="1784664"/>
            <a:ext cx="714672" cy="714672"/>
          </a:xfrm>
          <a:prstGeom prst="ellipse">
            <a:avLst/>
          </a:prstGeom>
          <a:solidFill>
            <a:srgbClr val="10A39A"/>
          </a:solidFill>
          <a:ln w="19050">
            <a:solidFill>
              <a:srgbClr val="FFFFFF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30120" y="1539864"/>
            <a:ext cx="144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매개 26.1%</a:t>
            </a:r>
          </a:p>
        </p:txBody>
      </p:sp>
      <p:sp>
        <p:nvSpPr>
          <p:cNvPr id="45" name="Oval 44"/>
          <p:cNvSpPr/>
          <p:nvPr/>
        </p:nvSpPr>
        <p:spPr>
          <a:xfrm>
            <a:off x="9605052" y="3764952"/>
            <a:ext cx="498096" cy="498096"/>
          </a:xfrm>
          <a:prstGeom prst="ellipse">
            <a:avLst/>
          </a:prstGeom>
          <a:solidFill>
            <a:srgbClr val="E0A100"/>
          </a:solidFill>
          <a:ln w="19050">
            <a:solidFill>
              <a:srgbClr val="FFFFFF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57148" y="3888000"/>
            <a:ext cx="1440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ko-KR" altLang="en-US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매개 7.3%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9617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0.159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3603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A39A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ko-KR" altLang="en-US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0.176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66100" y="345672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0A100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ko-KR" altLang="en-US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0.268</a:t>
            </a:r>
          </a:p>
        </p:txBody>
      </p:sp>
      <p:sp>
        <p:nvSpPr>
          <p:cNvPr id="50" name="Oval 49"/>
          <p:cNvSpPr/>
          <p:nvPr/>
        </p:nvSpPr>
        <p:spPr>
          <a:xfrm>
            <a:off x="9476100" y="2700000"/>
            <a:ext cx="756000" cy="756000"/>
          </a:xfrm>
          <a:prstGeom prst="ellipse">
            <a:avLst/>
          </a:prstGeom>
          <a:solidFill>
            <a:srgbClr val="B5441B"/>
          </a:solidFill>
          <a:ln w="19050">
            <a:solidFill>
              <a:srgbClr val="FFFFFF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76100" y="2700000"/>
            <a:ext cx="756000" cy="75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0000" y="4410000"/>
            <a:ext cx="1111212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11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 웨이퍼 제조공정    </a:t>
            </a:r>
            <a:r>
              <a:rPr sz="1300" b="1" i="0" lang="ko-KR" altLang="en-US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11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 공정 장치    </a:t>
            </a:r>
            <a:r>
              <a:rPr sz="1300" b="1" i="0" lang="ko-KR" altLang="en-US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11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 패키징 단계 공정    </a:t>
            </a:r>
            <a:r>
              <a:rPr sz="1300" b="1" i="0" lang="ko-KR" altLang="en-US">
                <a:solidFill>
                  <a:srgbClr val="B5441B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110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 핵심 기술(접합 패드 기호 4개)    </a:t>
            </a:r>
            <a:r>
              <a:rPr sz="10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선 굵기 · 숫자 = Jaccard 계수,  원 크기 = 매개 중심성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0000" y="4680000"/>
            <a:ext cx="1111212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6000" y="4716000"/>
            <a:ext cx="504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기술과 함께 부여된 제조공정 기호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6000" y="5148000"/>
            <a:ext cx="864000" cy="378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확산기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64000" y="5040000"/>
            <a:ext cx="212400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21/187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64000" y="5292000"/>
            <a:ext cx="212400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반도체 몸체끼리의 접합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24000" y="5040000"/>
            <a:ext cx="212400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21/76898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24000" y="5292000"/>
            <a:ext cx="212400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기판 관통 배선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012000" y="5335200"/>
            <a:ext cx="288000" cy="0"/>
          </a:xfrm>
          <a:prstGeom prst="line">
            <a:avLst/>
          </a:prstGeom>
          <a:ln w="31750">
            <a:solidFill>
              <a:srgbClr val="13294B"/>
            </a:solidFill>
            <a:tailEnd type="triangle" w="med" len="med"/>
          </a:ln>
        </p:spPr>
      </p:cxnSp>
      <p:sp>
        <p:nvSpPr>
          <p:cNvPr id="61" name="Rounded Rectangle 60"/>
          <p:cNvSpPr/>
          <p:nvPr/>
        </p:nvSpPr>
        <p:spPr>
          <a:xfrm>
            <a:off x="6372000" y="5148000"/>
            <a:ext cx="864000" cy="378000"/>
          </a:xfrm>
          <a:prstGeom prst="roundRect">
            <a:avLst>
              <a:gd name="adj" fmla="val 50000"/>
            </a:avLst>
          </a:prstGeom>
          <a:solidFill>
            <a:srgbClr val="EA7A28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재편기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80000" y="5040000"/>
            <a:ext cx="212400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21/6835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80000" y="5292000"/>
            <a:ext cx="212400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임시 기판을 이용한 지지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40000" y="5040000"/>
            <a:ext cx="212400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21/568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40000" y="5292000"/>
            <a:ext cx="212400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봉지 공정용 임시 기판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4.5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RQ3) 결합 강도와 매개 중심성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기술은 중심에 남고, 접합과 제조공정을 잇는 연결은 공정 장치 · 패키징 단계 공정으로 이동하였다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900000"/>
          <a:ext cx="5256000" cy="345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4446000"/>
          <a:ext cx="5256000" cy="1476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872000"/>
                <a:gridCol w="1116000"/>
                <a:gridCol w="1116000"/>
                <a:gridCol w="1152000"/>
              </a:tblGrid>
              <a:tr h="2952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매개 중심성 비중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형성기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재편기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웨이퍼 제조공정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53.6%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42.5%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9.0%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장치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패키징 단계 공정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기호(H01L24)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57.6%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84000" y="990000"/>
            <a:ext cx="556812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4000" y="1062000"/>
            <a:ext cx="520812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기술과 함께 부여된 제조공정 기호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4000" y="1530000"/>
            <a:ext cx="864000" cy="39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6000" y="1440000"/>
            <a:ext cx="211806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21/187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6000" y="1710000"/>
            <a:ext cx="211806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반도체 몸체끼리의 접합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54060" y="1440000"/>
            <a:ext cx="211806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21/76898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4060" y="1710000"/>
            <a:ext cx="211806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기판 관통 배선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4000" y="2286000"/>
            <a:ext cx="864000" cy="396000"/>
          </a:xfrm>
          <a:prstGeom prst="roundRect">
            <a:avLst>
              <a:gd name="adj" fmla="val 50000"/>
            </a:avLst>
          </a:prstGeom>
          <a:solidFill>
            <a:srgbClr val="EA7A28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재편기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6000" y="2196000"/>
            <a:ext cx="211806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21/6835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6000" y="2466000"/>
            <a:ext cx="211806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임시 기판을 이용한 지지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4060" y="2196000"/>
            <a:ext cx="211806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21/568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4060" y="2466000"/>
            <a:ext cx="211806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봉지 공정용 임시 기판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4000" y="3114000"/>
            <a:ext cx="5568120" cy="117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4000" y="3168000"/>
            <a:ext cx="520812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 네트워크의 허브와 연결 기호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4000" y="3456000"/>
            <a:ext cx="5208120" cy="82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0000" indent="-180000">
              <a:lnSpc>
                <a:spcPts val="1440"/>
              </a:lnSpc>
              <a:spcBef>
                <a:spcPts val="0"/>
              </a:spcBef>
              <a:spcAft>
                <a:spcPts val="3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2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허브(연결 강도 상위 3개): 세 시기 모두 핵심 기호 24/80 · 24/08 · 24/05</a:t>
            </a:r>
          </a:p>
          <a:p>
            <a:pPr algn="l" marL="180000" indent="-18000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2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연결 기호(매개 중심성 최대 제조공정 기호): 21/187 → 21/67121 · 21/67766 (공정 장치)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4000" y="4392000"/>
            <a:ext cx="556812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4000" y="4518000"/>
            <a:ext cx="520812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4000" y="4824000"/>
            <a:ext cx="5208120" cy="57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공정 단계 간 기술융합의 중심이 핵심 기술과 주변 기술 사이에서 시기에 따라 어떻게 재편되는가?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64000" y="5454000"/>
            <a:ext cx="5208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264000" y="5526000"/>
            <a:ext cx="520812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융합의 중심: 웨이퍼 제조공정 → 공정 장치 · 패키징 단계 공정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4.6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강건성 검증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 · RQ3는 모든 재추정에서, RQ2는 hybrid bonding 표본을 제외한 모든 재추정에서 유지되었다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954000"/>
          <a:ext cx="11113200" cy="35388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744000"/>
                <a:gridCol w="1296000"/>
                <a:gridCol w="1944000"/>
                <a:gridCol w="2196000"/>
                <a:gridCol w="1933200"/>
              </a:tblGrid>
              <a:tr h="486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표본 · 변수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RQ1</a:t>
                      </a:r>
                    </a:p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 → 통합형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RQ2</a:t>
                      </a:r>
                    </a:p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출원연도 → 공정 단독형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RQ3</a:t>
                      </a:r>
                    </a:p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2020–24 상호작용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928 / 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1.403***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0.059***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제목 군집 표준오차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928 / 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1.403***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0.059***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제목 중복 제거 (제목당 1건)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473 / 361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1.295***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0.935***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0.131***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좁은 제조공정 정의 (패키징 단계 공정 제외)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908 / 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1.352***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0.898***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0.050***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검색어의 무관 용법 68건 제외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860 / 712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1.384***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0.820***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0.185**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hybrid bonding 표본 (제목 기준)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1.485***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9B2C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1.029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추정하지 않음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기호 외 접합 기호 수 통제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5B647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5B647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0.078***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6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기술을 24/08 · 24/80으로 한정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5B647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5B647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4932000"/>
            <a:ext cx="11112120" cy="97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32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1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RQ1 · RQ2: 다항 로짓 상대위험비 (N 왼쪽) · RQ3: 핵심 기술 모형의 2014년 이전 대비 배수 (N 오른쪽) · *** p &lt; 0.01, ** p &lt; 0.05</a:t>
            </a:r>
          </a:p>
          <a:p>
            <a:pPr algn="l" marL="180000" indent="-180000">
              <a:lnSpc>
                <a:spcPts val="1440"/>
              </a:lnSpc>
              <a:spcBef>
                <a:spcPts val="0"/>
              </a:spcBef>
              <a:spcAft>
                <a:spcPts val="3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2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hybrid bonding 표본은 2014년 이전 출원이 30건뿐이어서 시간 추세를 식별할 수 없고, 2019년 이전 핵심 기술 없는 접합 출원이 12건이라 RQ3 모형은 추정하지 않음</a:t>
            </a:r>
          </a:p>
          <a:p>
            <a:pPr algn="l" marL="180000" indent="-18000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2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확산기의 승산비는 군집 표준오차와 무관 용법 제외 표본에서 유의성을 잃으므로, 우위가 사라진 시점(확산기/재편기)은 확정하지 않음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Chapter 4  Summary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단계 간 융합은 국면에 따라 내용과 중심이 재편되는 동태적 과정이었다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656000"/>
            <a:ext cx="2124000" cy="63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가장 두드러진 유형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350800"/>
            <a:ext cx="2124000" cy="52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핵심 기술의 승산비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937600"/>
            <a:ext cx="2124000" cy="52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출원 중 핵심 기술 비중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524400"/>
            <a:ext cx="2124000" cy="73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접합과 결합한 제조공정의 중심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327200"/>
            <a:ext cx="2124000" cy="52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단계 모형과의 대응</a:t>
            </a:r>
          </a:p>
        </p:txBody>
      </p:sp>
      <p:sp>
        <p:nvSpPr>
          <p:cNvPr id="9" name="Pentagon 8"/>
          <p:cNvSpPr/>
          <p:nvPr/>
        </p:nvSpPr>
        <p:spPr>
          <a:xfrm>
            <a:off x="2772000" y="972000"/>
            <a:ext cx="3002040" cy="558000"/>
          </a:xfrm>
          <a:prstGeom prst="homePlate">
            <a:avLst/>
          </a:prstGeom>
          <a:solidFill>
            <a:srgbClr val="2563C9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형성기</a:t>
            </a:r>
            <a:r>
              <a:rPr sz="125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–2014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2000" y="1620000"/>
            <a:ext cx="2840040" cy="3276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0" y="1656000"/>
            <a:ext cx="2624040" cy="63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공정 단독형 43.6% (최다)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88000" y="2318400"/>
            <a:ext cx="2408040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2880000" y="2350800"/>
            <a:ext cx="2624040" cy="52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11.07***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88000" y="2905200"/>
            <a:ext cx="2408040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2880000" y="2937600"/>
            <a:ext cx="2624040" cy="52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53.5%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88000" y="3492000"/>
            <a:ext cx="2408040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2880000" y="3524400"/>
            <a:ext cx="2624040" cy="73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웨이퍼 제조공정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88000" y="4294800"/>
            <a:ext cx="2408040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2880000" y="4327200"/>
            <a:ext cx="2624040" cy="52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지식 융합</a:t>
            </a:r>
          </a:p>
        </p:txBody>
      </p:sp>
      <p:sp>
        <p:nvSpPr>
          <p:cNvPr id="20" name="Pentagon 19"/>
          <p:cNvSpPr/>
          <p:nvPr/>
        </p:nvSpPr>
        <p:spPr>
          <a:xfrm>
            <a:off x="5792040" y="972000"/>
            <a:ext cx="3002040" cy="558000"/>
          </a:xfrm>
          <a:prstGeom prst="homePlate">
            <a:avLst/>
          </a:prstGeom>
          <a:solidFill>
            <a:srgbClr val="7C3AED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확산기</a:t>
            </a:r>
            <a:r>
              <a:rPr sz="125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2015–2019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92040" y="1620000"/>
            <a:ext cx="2840040" cy="3276000"/>
          </a:xfrm>
          <a:prstGeom prst="roundRect">
            <a:avLst>
              <a:gd name="adj" fmla="val 6000"/>
            </a:avLst>
          </a:prstGeom>
          <a:solidFill>
            <a:srgbClr val="EEE6F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0040" y="1656000"/>
            <a:ext cx="2624040" cy="63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통합형 62.2% (정점)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8040" y="2318400"/>
            <a:ext cx="2408040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5900040" y="2350800"/>
            <a:ext cx="2624040" cy="52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2.45**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08040" y="2905200"/>
            <a:ext cx="2408040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5900040" y="2937600"/>
            <a:ext cx="2624040" cy="52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78.7%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08040" y="3492000"/>
            <a:ext cx="2408040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5900040" y="3524400"/>
            <a:ext cx="2624040" cy="73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웨이퍼 제조공정</a:t>
            </a:r>
          </a:p>
          <a:p>
            <a:pPr algn="ctr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(21/187 · 21/76898)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08040" y="4294800"/>
            <a:ext cx="2408040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5900040" y="4327200"/>
            <a:ext cx="2624040" cy="52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기술 융합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12080" y="972000"/>
            <a:ext cx="2840040" cy="5580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재편기</a:t>
            </a:r>
            <a:r>
              <a:rPr sz="125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2020–2024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12080" y="1620000"/>
            <a:ext cx="2840040" cy="3276000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0080" y="1656000"/>
            <a:ext cx="2624040" cy="63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단독형 45.4%</a:t>
            </a:r>
          </a:p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통합형 44.3%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28080" y="2318400"/>
            <a:ext cx="2408040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8920080" y="2350800"/>
            <a:ext cx="2624040" cy="52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0.66 (비유의)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028080" y="2905200"/>
            <a:ext cx="2408040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8920080" y="2937600"/>
            <a:ext cx="2624040" cy="52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88.0%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028080" y="3492000"/>
            <a:ext cx="2408040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8920080" y="3524400"/>
            <a:ext cx="2624040" cy="73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공정 장치 · 패키징 단계 공정</a:t>
            </a:r>
          </a:p>
          <a:p>
            <a:pPr algn="ctr" marL="0" indent="0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(21/6835 · 21/568)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028080" y="4294800"/>
            <a:ext cx="2408040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8920080" y="4327200"/>
            <a:ext cx="2624040" cy="52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응용 융합으로 이행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5.1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 결과 요약 및 이론적 함의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936000"/>
            <a:ext cx="5484060" cy="25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1062000"/>
            <a:ext cx="505206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1</a:t>
            </a: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융합의 수준과 유형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422000"/>
            <a:ext cx="5052060" cy="82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통합형 45.8% (좁은 정의 37.2%)</a:t>
            </a:r>
          </a:p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세부 기술이 다양할수록 통합형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56000" y="2358000"/>
            <a:ext cx="505206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7" name="Rounded Rectangle 6"/>
          <p:cNvSpPr/>
          <p:nvPr/>
        </p:nvSpPr>
        <p:spPr>
          <a:xfrm>
            <a:off x="756000" y="2484000"/>
            <a:ext cx="1152000" cy="306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이론적 함의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826000"/>
            <a:ext cx="5052060" cy="55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기술융합 연구의 범위를 산업 간에서</a:t>
            </a:r>
          </a:p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단계 간으로 확장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8060" y="936000"/>
            <a:ext cx="5484060" cy="25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4060" y="1062000"/>
            <a:ext cx="505206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2</a:t>
            </a: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융합의 시간적 변화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4060" y="1422000"/>
            <a:ext cx="5052060" cy="82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형성기 → 확산기 → 재편기</a:t>
            </a:r>
          </a:p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출원의 무게중심: 제조공정 → 접합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84060" y="2358000"/>
            <a:ext cx="505206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13" name="Rounded Rectangle 12"/>
          <p:cNvSpPr/>
          <p:nvPr/>
        </p:nvSpPr>
        <p:spPr>
          <a:xfrm>
            <a:off x="6384060" y="2484000"/>
            <a:ext cx="1152000" cy="306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이론적 함의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4060" y="2826000"/>
            <a:ext cx="5052060" cy="55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융합은 정태적 결합이 아닌</a:t>
            </a:r>
          </a:p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유형별 구성이 바뀌는 동태적 과정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3582000"/>
            <a:ext cx="5484060" cy="25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000" y="3708000"/>
            <a:ext cx="505206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3</a:t>
            </a:r>
            <a:r>
              <a:rPr sz="12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융합의 구조적 중심 변화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4068000"/>
            <a:ext cx="5052060" cy="82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기술의 우위: 11.1 → 0.66 (비유의)</a:t>
            </a:r>
          </a:p>
          <a:p>
            <a:pPr algn="l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결합 중심: 웨이퍼 제조공정 → 장치 · 패키징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6000" y="5004000"/>
            <a:ext cx="505206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19" name="Rounded Rectangle 18"/>
          <p:cNvSpPr/>
          <p:nvPr/>
        </p:nvSpPr>
        <p:spPr>
          <a:xfrm>
            <a:off x="756000" y="5130000"/>
            <a:ext cx="1152000" cy="306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이론적 함의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000" y="5472000"/>
            <a:ext cx="5052060" cy="55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핵심–주변 구조와 기술 순환으로</a:t>
            </a:r>
          </a:p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융합의 전개를 설명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060" y="3582000"/>
            <a:ext cx="5484060" cy="25020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4060" y="3708000"/>
            <a:ext cx="505206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D4A72C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4060" y="4068000"/>
            <a:ext cx="5052060" cy="19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214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5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 단계 간 기술융합은 한 방향으로 축적된 과정이라기보다, 핵심 기술 설계의 고착화와 함께 융합의 중심이 핵심에서 주변으로 이동한 동태적 과정이었다</a:t>
            </a:r>
          </a:p>
          <a:p>
            <a:pPr algn="l" marL="0" indent="0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B9C6DD"/>
                </a:solidFill>
                <a:latin typeface="맑은 고딕"/>
                <a:ea typeface="맑은 고딕"/>
                <a:cs typeface="맑은 고딕"/>
              </a:rPr>
              <a:t>공정 장치가 연결의 중심에 선 것은 장비를 매개로 한 공정 지식의 확산(Rosenberg, 1963)과도 맥을 같이함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5.2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산업적 함의: 흔들리는 분업의 인터페이스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생산의 경계와 지식의 경계는 다르다: 인터페이스가 흔들리면 지식 경계가 먼저 넓어진다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008000"/>
            <a:ext cx="2664000" cy="1872000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팹리스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3924000" y="1008000"/>
            <a:ext cx="3240000" cy="1872000"/>
          </a:xfrm>
          <a:prstGeom prst="rect">
            <a:avLst/>
          </a:prstGeom>
          <a:solidFill>
            <a:srgbClr val="2563C9"/>
          </a:solidFill>
          <a:ln>
            <a:noFill/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 · 전공정</a:t>
            </a:r>
          </a:p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종합반도체기업(IDM) · 파운드리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8316000" y="1008000"/>
            <a:ext cx="3337200" cy="1872000"/>
          </a:xfrm>
          <a:prstGeom prst="rect">
            <a:avLst/>
          </a:prstGeom>
          <a:solidFill>
            <a:srgbClr val="EA7A28"/>
          </a:solidFill>
          <a:ln>
            <a:noFill/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rtlCol="0" anchor="ctr" lIns="54000" rIns="54000" tIns="18000" bIns="18000" wrap="square">
            <a:noAutofit/>
          </a:bodyPr>
          <a:lstStyle/>
          <a:p>
            <a:pPr algn="ctr" marL="0" indent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조립 · 테스트 · 후공정</a:t>
            </a:r>
          </a:p>
          <a:p>
            <a:pPr algn="ctr" marL="0" indent="0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조립 · 테스트 전문업체(OSAT)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76000" y="1944000"/>
            <a:ext cx="576000" cy="0"/>
          </a:xfrm>
          <a:prstGeom prst="line">
            <a:avLst/>
          </a:prstGeom>
          <a:ln w="31750">
            <a:solidFill>
              <a:srgbClr val="13294B"/>
            </a:solidFill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7416000" y="864000"/>
            <a:ext cx="576000" cy="2160000"/>
          </a:xfrm>
          <a:prstGeom prst="rect">
            <a:avLst/>
          </a:prstGeom>
          <a:solidFill>
            <a:srgbClr val="C9CED6"/>
          </a:solidFill>
          <a:ln w="12700">
            <a:solidFill>
              <a:srgbClr val="9AA3B2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488000" y="1224000"/>
            <a:ext cx="288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>
            <a:off x="7596000" y="1404000"/>
            <a:ext cx="180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7488000" y="1656000"/>
            <a:ext cx="288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2" name="Connector 11"/>
          <p:cNvCxnSpPr/>
          <p:nvPr/>
        </p:nvCxnSpPr>
        <p:spPr>
          <a:xfrm flipH="1">
            <a:off x="7596000" y="1836000"/>
            <a:ext cx="180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7488000" y="2088000"/>
            <a:ext cx="288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7596000" y="2268000"/>
            <a:ext cx="180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7488000" y="2520000"/>
            <a:ext cx="288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6" name="Connector 15"/>
          <p:cNvCxnSpPr/>
          <p:nvPr/>
        </p:nvCxnSpPr>
        <p:spPr>
          <a:xfrm flipH="1">
            <a:off x="7596000" y="2700000"/>
            <a:ext cx="180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7200000" y="1944000"/>
            <a:ext cx="1080000" cy="0"/>
          </a:xfrm>
          <a:prstGeom prst="line">
            <a:avLst/>
          </a:prstGeom>
          <a:ln w="44450">
            <a:solidFill>
              <a:srgbClr val="7C3AED"/>
            </a:solidFill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6840000" y="3060000"/>
            <a:ext cx="1728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인터페이스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3456000"/>
            <a:ext cx="3560040" cy="239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0000" y="3618000"/>
            <a:ext cx="198000" cy="198000"/>
          </a:xfrm>
          <a:prstGeom prst="ellipse">
            <a:avLst/>
          </a:prstGeom>
          <a:solidFill>
            <a:srgbClr val="2563C9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000" y="3546000"/>
            <a:ext cx="2948040" cy="34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흔들리는 인터페이스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3996000"/>
            <a:ext cx="3200040" cy="1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반세기의 분업은 두 단계 사이의 안정적 인터페이스를 전제로 했다. 하이브리드 본딩은 후공정 기술의 성패를 전공정 역량에 의존하게 한다.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6040" y="3456000"/>
            <a:ext cx="3560040" cy="239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96040" y="3618000"/>
            <a:ext cx="198000" cy="198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4040" y="3546000"/>
            <a:ext cx="2948040" cy="34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생산의 경계 ≠ 지식의 경계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6040" y="3996000"/>
            <a:ext cx="3200040" cy="1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직접 생산하는 범위보다 넓은 지식을 보유한 기업이 기술 전환에서 성과 우위를 얻었다 (Kapoor &amp; Adner, 2012).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080" y="3456000"/>
            <a:ext cx="3560040" cy="239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72080" y="3618000"/>
            <a:ext cx="198000" cy="198000"/>
          </a:xfrm>
          <a:prstGeom prst="ellipse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0080" y="3546000"/>
            <a:ext cx="2948040" cy="34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발명이 먼저 보여 준 징후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2080" y="3996000"/>
            <a:ext cx="3200040" cy="1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인터페이스가 흔들린 징후는 조직이나 산업 구조보다 먼저, 두 단계의 지식을 함께 담은 발명(통합형 45.8%)으로 나타났다.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5.3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실무적 시사점: 차세대 패키징을 준비하는 기업에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패키징 경쟁력은 접합 원리 하나에 좌우되지 않을 수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72000"/>
            <a:ext cx="3560040" cy="495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0020" y="1224000"/>
            <a:ext cx="1080000" cy="1080000"/>
          </a:xfrm>
          <a:prstGeom prst="ellipse">
            <a:avLst/>
          </a:prstGeom>
          <a:solidFill>
            <a:srgbClr val="2563C9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6" name="Picture 5" descr="FaLayerGrou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020" y="1494000"/>
            <a:ext cx="540000" cy="5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4000" y="2430000"/>
            <a:ext cx="3272040" cy="5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접합 기술만으로는 부족할 수 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76020" y="3042000"/>
            <a:ext cx="2088000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근거: RQ1 융합의 수준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3492000"/>
            <a:ext cx="3056040" cy="23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상당수 출원이 제조공정과 접합 기술을 함께 담음 → 평탄화 · 오염 제어 · 표면 화학 · 정렬을 아우르는 인접 공정 지식이 중요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6040" y="972000"/>
            <a:ext cx="3560040" cy="495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56060" y="1224000"/>
            <a:ext cx="1080000" cy="1080000"/>
          </a:xfrm>
          <a:prstGeom prst="ellipse">
            <a:avLst/>
          </a:prstGeom>
          <a:solidFill>
            <a:srgbClr val="EA7A28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12" name="Picture 11" descr="FaMemor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6060" y="1494000"/>
            <a:ext cx="540000" cy="54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60040" y="2430000"/>
            <a:ext cx="3272040" cy="5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공정에 주목하라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2060" y="3042000"/>
            <a:ext cx="2088000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근거: RQ3 결합 중심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040" y="3492000"/>
            <a:ext cx="3056040" cy="23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재편기의 결합은 다이 지지 · 봉지 공정으로 → 차세대 HBM에는 얇은 다이를 다루고 적층하는 공정 역량까지 필요할 수 있음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080" y="972000"/>
            <a:ext cx="3560040" cy="495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32100" y="1224000"/>
            <a:ext cx="1080000" cy="1080000"/>
          </a:xfrm>
          <a:prstGeom prst="ellipse">
            <a:avLst/>
          </a:prstGeom>
          <a:solidFill>
            <a:srgbClr val="10A39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18" name="Picture 17" descr="FaGear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2100" y="1494000"/>
            <a:ext cx="540000" cy="54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36080" y="2430000"/>
            <a:ext cx="3272040" cy="5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장비를 통한 지식의 흐름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8100" y="3042000"/>
            <a:ext cx="2088000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0A39A"/>
            </a:solidFill>
          </a:ln>
        </p:spPr>
        <p:txBody>
          <a:bodyPr rtlCol="0" anchor="ctr" lIns="28800" rIns="28800" tIns="18000" bIns="18000" wrap="square">
            <a:noAutofit/>
          </a:bodyPr>
          <a:lstStyle/>
          <a:p>
            <a:pPr algn="ctr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ko-KR" altLang="en-US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근거: RQ3 연결 기호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4080" y="3492000"/>
            <a:ext cx="3056040" cy="23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재편기에 접합과 제조공정을 잇는 기호가 공정 장치로 바뀜 → 장비를 매개로 공정 지식이 확산되는 경로(Rosenberg, 1963)에 주목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5.4  </a:t>
            </a:r>
            <a:r>
              <a:rPr sz="22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한계점과 향후 연구 방향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144000" rIns="144000" tIns="18000" bIns="18000" wrap="square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다른 공정기술 사례와 비교하여 형성–확산–재편의 일반성을 검증하는 것이 다음 과제이다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288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242000"/>
            <a:ext cx="259200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6" name="Picture 5" descr="FaTags_1329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000" y="1386000"/>
            <a:ext cx="612000" cy="61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052000"/>
            <a:ext cx="259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Measurement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358000"/>
            <a:ext cx="2376000" cy="82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공동분류는 대리측정치</a:t>
            </a:r>
          </a:p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CPC 소급 재분류 가능성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0400" y="1242000"/>
            <a:ext cx="259200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10" name="Picture 9" descr="FaFilter_1329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400" y="1386000"/>
            <a:ext cx="612000" cy="61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80400" y="2052000"/>
            <a:ext cx="259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8400" y="2358000"/>
            <a:ext cx="2376000" cy="82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제목 키워드 검색</a:t>
            </a:r>
          </a:p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관련어 없는 출원 누락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0800" y="1242000"/>
            <a:ext cx="259200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14" name="Picture 13" descr="FaCopy_1329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0800" y="1386000"/>
            <a:ext cx="612000" cy="61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20800" y="2052000"/>
            <a:ext cx="259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Patent Family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8800" y="2358000"/>
            <a:ext cx="2376000" cy="82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패밀리 식별자 없음</a:t>
            </a:r>
          </a:p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동일 제목으로 근사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200" y="1242000"/>
            <a:ext cx="259200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18" name="Picture 17" descr="FaScaleBalanced_13294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1200" y="1386000"/>
            <a:ext cx="612000" cy="61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61200" y="2052000"/>
            <a:ext cx="2592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9200" y="2358000"/>
            <a:ext cx="2376000" cy="82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조건부 연관 · 누락변수</a:t>
            </a:r>
          </a:p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시기 = 지배적 설계의 근사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402000"/>
            <a:ext cx="288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향후 연구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0000" y="3744000"/>
            <a:ext cx="3538440" cy="2178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23" name="Picture 22" descr="FaUsers_13294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00" y="3906000"/>
            <a:ext cx="540000" cy="54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04000" y="3888000"/>
            <a:ext cx="2530440" cy="5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Applicant &amp; Family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000" y="4608000"/>
            <a:ext cx="3142440" cy="12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출원인 · 패밀리 정보를 결합한 재분석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6840" y="3744000"/>
            <a:ext cx="3538440" cy="2178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27" name="Picture 26" descr="FaShuffle_13294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4840" y="3906000"/>
            <a:ext cx="540000" cy="54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190840" y="3888000"/>
            <a:ext cx="2530440" cy="5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Other Industries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4840" y="4608000"/>
            <a:ext cx="3142440" cy="12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디스플레이 리소그래피 · 배터리 셀-투-팩 · 항공우주 적층제조와 비교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3680" y="3744000"/>
            <a:ext cx="3538440" cy="2178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pic>
        <p:nvPicPr>
          <p:cNvPr id="31" name="Picture 30" descr="FaCircleNodes_13294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1680" y="3906000"/>
            <a:ext cx="540000" cy="540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77680" y="3888000"/>
            <a:ext cx="2530440" cy="5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Generality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680" y="4608000"/>
            <a:ext cx="3142440" cy="12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고차 공출현 · 일반성 지수로 범용기술적 성격 검정 (Petralia, 2020)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image" descr="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5070B">
              <a:alpha val="82000"/>
            </a:srgbClr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84000" y="1512000"/>
            <a:ext cx="9024120" cy="273600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44000" y="1620000"/>
            <a:ext cx="8304120" cy="25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288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“공정 단계 간 기술융합은 한 번 결합하고 멈추는 사건이 아니라,</a:t>
            </a:r>
          </a:p>
          <a:p>
            <a:pPr algn="ctr" marL="0" indent="0">
              <a:lnSpc>
                <a:spcPts val="288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설계의 고착화와 함께 그 중심이</a:t>
            </a:r>
          </a:p>
          <a:p>
            <a:pPr algn="ctr" marL="0" indent="0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lang="ko-KR" altLang="en-US">
                <a:solidFill>
                  <a:srgbClr val="D4A72C"/>
                </a:solidFill>
                <a:latin typeface="맑은 고딕"/>
                <a:ea typeface="맑은 고딕"/>
                <a:cs typeface="맑은 고딕"/>
              </a:rPr>
              <a:t>핵심에서 주변으로 옮겨 가는 과정이다.”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4000" y="4500000"/>
            <a:ext cx="9024120" cy="7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68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i="0" lang="ko-KR" altLang="en-US">
                <a:solidFill>
                  <a:srgbClr val="B9C6DD"/>
                </a:solidFill>
                <a:latin typeface="맑은 고딕"/>
                <a:ea typeface="맑은 고딕"/>
                <a:cs typeface="맑은 고딕"/>
              </a:rPr>
              <a:t>하이브리드 본딩 특허 928건(1968–2024)의 종단 분석</a:t>
            </a:r>
          </a:p>
          <a:p>
            <a:pPr algn="ctr"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경쟁은 핵심 원리보다 주변 공정과의 결합에서 일어날 수 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image" descr="wa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2160000" y="0"/>
            <a:ext cx="10032120" cy="6858000"/>
          </a:xfrm>
          <a:custGeom>
            <a:avLst/>
            <a:gdLst/>
            <a:ahLst/>
            <a:cxnLst/>
            <a:rect l="l" t="t" r="r" b="b"/>
            <a:pathLst>
              <a:path w="10032120" h="6858000">
                <a:moveTo>
                  <a:pt x="2160000" y="0"/>
                </a:moveTo>
                <a:lnTo>
                  <a:pt x="10032120" y="0"/>
                </a:lnTo>
                <a:lnTo>
                  <a:pt x="10032120" y="6858000"/>
                </a:lnTo>
                <a:lnTo>
                  <a:pt x="0" y="6858000"/>
                </a:lnTo>
                <a:lnTo>
                  <a:pt x="2160000" y="0"/>
                </a:lnTo>
                <a:close/>
              </a:path>
            </a:pathLst>
          </a:custGeom>
          <a:solidFill>
            <a:srgbClr val="0507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40000" y="1512000"/>
            <a:ext cx="7200000" cy="3816000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0" y="1872000"/>
            <a:ext cx="7200000" cy="11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0" y="3024000"/>
            <a:ext cx="7200000" cy="5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Thanks for Listening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0" y="3816000"/>
            <a:ext cx="720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B9C6DD"/>
                </a:solidFill>
                <a:latin typeface="맑은 고딕"/>
                <a:ea typeface="맑은 고딕"/>
                <a:cs typeface="맑은 고딕"/>
              </a:rPr>
              <a:t>경청해 주셔서 감사합니다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0" y="4392000"/>
            <a:ext cx="72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ko-KR" altLang="en-US">
                <a:solidFill>
                  <a:srgbClr val="B9C6DD"/>
                </a:solidFill>
                <a:latin typeface="맑은 고딕"/>
                <a:ea typeface="맑은 고딕"/>
                <a:cs typeface="맑은 고딕"/>
              </a:rPr>
              <a:t>이형규 · 한양대학교 기술경영전문대학원 기술경영학과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1  </a:t>
            </a:r>
            <a:r>
              <a:rPr sz="20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변수 정의와 기술통계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954000"/>
          <a:ext cx="11112120" cy="34344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404000"/>
                <a:gridCol w="4176000"/>
                <a:gridCol w="1224000"/>
                <a:gridCol w="4308120"/>
              </a:tblGrid>
              <a:tr h="324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해석상 주의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breadth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H01L21 · H01L24 안의 서로 다른 서브그룹 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카운트, 1–21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 클래스 내부의 기술적 다양성 (법적 청구범위 아님)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breadth_adj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 클래스마다 최소 1개 기호를 뺀 추가 서브그룹 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카운트, 0–19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탐색적 지표 (유형 정보 이용)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tech_cat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단독형 / 통합형 / 공정 단독형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범주, 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분류의 조합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has_process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H01L21 기호를 하나라도 가지면 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이항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전공정 자체가 아닌 제조공정 분류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yc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출원연도 (1968년 = 0), 평균 49.7 (2017.7년)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정수, 0–56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성숙의 직접 측정치 아님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period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–2014(기준) · 2015–2019 · 2020–2024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범주, 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첫 시기가 이후 두 시기보다 김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core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접합 기호(24/03 · 05 · 08 · 80) 보유 시 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이항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H01L24 보유 출원(N = 763)에서만 정의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ccode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US(기준) · CN · KR · TW · JP · EP · WO · 기타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범주, 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통제변수 (해석하지 않음)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000" y="4554000"/>
            <a:ext cx="11112120" cy="93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0000" indent="-180000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기술범위: 평균 5.69 (표준편차 4.07, 범위 1–21) · 통합형 7.89 · 접합 단독형 4.16 · 공정 단독형 3.15</a:t>
            </a:r>
          </a:p>
          <a:p>
            <a:pPr algn="l" marL="180000" indent="-18000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유형: 통합형 425 (45.8%) · 접합 단독형 338 (36.4%) · 공정 단독형 165 (17.8%) · 제조공정 기호 보유 590 (63.6%)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2  </a:t>
            </a:r>
            <a:r>
              <a:rPr sz="20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이항 · 다항 로짓 추정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36000"/>
            <a:ext cx="537606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제조공정 분류 여부의 이항 로짓 (종속변수 has_process)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260000"/>
          <a:ext cx="5376060" cy="1098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548000"/>
                <a:gridCol w="1296000"/>
                <a:gridCol w="1296000"/>
                <a:gridCol w="1236060"/>
              </a:tblGrid>
              <a:tr h="342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승산비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 계수 SE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1.267***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(0.027)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&lt;0.001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출원연도(yc)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0.946***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(0.011)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&lt;0.001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2430000"/>
            <a:ext cx="5376060" cy="79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N = 928 · 출원청 더미 7개 포함 · 로그우도 −547.6 · 우도비 χ²(9) = 122.0 (p &lt; 0.001) · McFadden 의사 R² = 0.100 · AIC 1,115.1 · AUC 0.707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6060" y="936000"/>
            <a:ext cx="537606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공동분류 유형의 다항 로짓 (기준 = 접합 단독형)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76060" y="1260000"/>
          <a:ext cx="5376060" cy="122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296000"/>
                <a:gridCol w="1044000"/>
                <a:gridCol w="864000"/>
                <a:gridCol w="1188000"/>
                <a:gridCol w="984060"/>
              </a:tblGrid>
              <a:tr h="468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</a:t>
                      </a:r>
                    </a:p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단독형</a:t>
                      </a:r>
                    </a:p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1.403***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(0.031)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0.905**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(0.048)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출원연도(yc)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0.993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(0.015)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(0.015)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76060" y="2430000"/>
            <a:ext cx="5376060" cy="79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N = 928 · 출원청 더미 7개 포함 · 로그우도 −774.5 · 우도비 χ²(18) = 367.4 (p &lt; 0.001) · McFadden 의사 R² = 0.192 · AIC 1,589.0 · p: 0.654(통합형 연도), 0.039(공정 단독형 범위)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3384000"/>
            <a:ext cx="11112120" cy="2268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1068012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해석 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3780000"/>
            <a:ext cx="10680120" cy="18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0000" indent="-180000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OR은 승산의 배율, RRR은 기준 범주 대비 상대위험의 배율: 확률이 같은 비율로 변한다는 뜻이 아님 → 평균 예측확률을 함께 제시</a:t>
            </a:r>
          </a:p>
          <a:p>
            <a:pPr algn="l" marL="180000" indent="-180000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세 범주는 크기 순서가 아닌 서로 다른 CPC 구성 → 순서형이 아닌 다항 로짓 (McFadden, 1974)</a:t>
            </a:r>
          </a:p>
          <a:p>
            <a:pPr algn="l" marL="180000" indent="-180000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5% 유의수준을 쓰되 단일 p값이 아니라 대안 표본 · 정의 · 군집 표준오차에서의 방향 · 크기 · 유의성의 일관성으로 판단</a:t>
            </a:r>
          </a:p>
          <a:p>
            <a:pPr algn="l" marL="180000" indent="-18000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모든 계수는 인과효과가 아닌, 관찰된 변수를 통제한 조건부 연관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3  </a:t>
            </a:r>
            <a:r>
              <a:rPr sz="20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 모형의 세부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954000"/>
          <a:ext cx="11112120" cy="167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224000"/>
                <a:gridCol w="1656000"/>
                <a:gridCol w="1656000"/>
                <a:gridCol w="1188000"/>
                <a:gridCol w="1656000"/>
                <a:gridCol w="936000"/>
                <a:gridCol w="2796120"/>
              </a:tblGrid>
              <a:tr h="486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 시기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기술 보유</a:t>
                      </a:r>
                    </a:p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통합형/N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기술 없음</a:t>
                      </a:r>
                    </a:p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통합형/N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승산비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CI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2014년 이전</a:t>
                      </a:r>
                    </a:p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대비 배수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–2014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43/54 (79.6%)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13/47 (27.7%)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11.071***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4.211–29.107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&lt;0.001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2015–2019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108/140 (77.1%)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22/38 (57.9%)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2.452**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1.158–5.194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0.221 (p = 0.016)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2020–2024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206/426 (48.4%)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33/58 (56.9%)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0.374–1.160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0.148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0.059 (p &lt; 0.001)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000" y="2700000"/>
            <a:ext cx="1111212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N = 763 (H01L24 보유) · 출원청 통제 · 이분산 강건 표준오차 · 결합 Wald χ²(2) = 26.43 (p &lt; 0.001) · McFadden 의사 R² = 0.069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3096000"/>
            <a:ext cx="5412060" cy="266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3168000"/>
            <a:ext cx="505206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변화는 핵심 기술 보유 출원에서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528000"/>
            <a:ext cx="5052060" cy="21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0000" indent="-180000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 보유: 통합형 79.6% → 77.1% → 48.4%</a:t>
            </a:r>
          </a:p>
          <a:p>
            <a:pPr algn="l" marL="180000" indent="-180000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 없음: 통합형 27.7% → 57.9% → 56.9% (오히려 상승)</a:t>
            </a:r>
          </a:p>
          <a:p>
            <a:pPr algn="l" marL="180000" indent="-180000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출원 중 핵심 기술 비중 53.5% → 78.7% → 88.0%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0060" y="3096000"/>
            <a:ext cx="5412060" cy="266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0060" y="3168000"/>
            <a:ext cx="505206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추정식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0060" y="3528000"/>
            <a:ext cx="5052060" cy="21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0000" indent="-180000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log[P/(1 − P)] = β₀ + β₁·core + Σδₜ·periodₜ + Σθₜ·(core × periodₜ) + Σγₖ·ccodeₖ</a:t>
            </a:r>
          </a:p>
          <a:p>
            <a:pPr algn="l" marL="180000" indent="-180000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시기별 승산비 = exp(β₁ + θₜ), 2014년 이전 대비 배수 = exp(θₜ)</a:t>
            </a:r>
          </a:p>
          <a:p>
            <a:pPr algn="l" marL="180000" indent="-180000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형성기의 해당 출원 43건은 소수의 동일 제목에 집중 → 대표 기호 제시하지 않음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4  </a:t>
            </a:r>
            <a:r>
              <a:rPr sz="20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강건성: 다항 로짓 재추정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954000"/>
          <a:ext cx="8352000" cy="25452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960000"/>
                <a:gridCol w="864000"/>
                <a:gridCol w="1584000"/>
                <a:gridCol w="1944000"/>
              </a:tblGrid>
              <a:tr h="342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표본 · 변수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 → 통합형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 → 공정 단독형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1.403***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 + 동일 제목 군집 표준오차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1.403***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제목 중복 제거 (제목당 1건)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1.295***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0.935***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좁은 제조공정 정의 (패키징 단계 공정 제외)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1.352***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0.898***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무관 용법 68건 제외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1.384***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0.820***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hybrid bonding 표본 (제목 기준)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1.485***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9B2C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1.029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BE3E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80000" y="954000"/>
            <a:ext cx="2472120" cy="32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0000" indent="-180000">
              <a:lnSpc>
                <a:spcPts val="1650"/>
              </a:lnSpc>
              <a:spcBef>
                <a:spcPts val="0"/>
              </a:spcBef>
              <a:spcAft>
                <a:spcPts val="6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2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군집 표준오차: 범위 → 공정 단독형만 유의성 상실 (RRR 0.905, p = 0.29)</a:t>
            </a:r>
          </a:p>
          <a:p>
            <a:pPr algn="l" marL="180000" indent="-180000">
              <a:lnSpc>
                <a:spcPts val="1650"/>
              </a:lnSpc>
              <a:spcBef>
                <a:spcPts val="0"/>
              </a:spcBef>
              <a:spcAft>
                <a:spcPts val="6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2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breadth_adj: 통합형 RRR 1.403 → 1.262, 방향 유지</a:t>
            </a:r>
          </a:p>
          <a:p>
            <a:pPr algn="l" marL="180000" indent="-180000">
              <a:lnSpc>
                <a:spcPts val="1650"/>
              </a:lnSpc>
              <a:spcBef>
                <a:spcPts val="0"/>
              </a:spcBef>
              <a:spcAft>
                <a:spcPts val="6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2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2010년 이후(N = 830): 통합형 연도 RRR 0.934 (p &lt; 0.05)</a:t>
            </a:r>
          </a:p>
          <a:p>
            <a:pPr algn="l" marL="180000" indent="-180000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25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좁은 정의 유형 분포: 접합 단독형 46.8% · 통합형 37.2% · 공정 단독형 16.0% → 최다 유형은 정의에 의존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3744000"/>
            <a:ext cx="1111212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rtlCol="0" anchor="ctr" lIns="36000" rIns="36000" tIns="36000" bIns="360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6000" y="3816000"/>
            <a:ext cx="1068012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표본별 유형 분포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6000" y="4140000"/>
          <a:ext cx="7200000" cy="1440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880000"/>
                <a:gridCol w="1440000"/>
                <a:gridCol w="1440000"/>
                <a:gridCol w="1440000"/>
              </a:tblGrid>
              <a:tr h="288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표본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단독형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단독형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(928)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45.8%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36.4%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17.8%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무관 용법 제외 (860)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47.4%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17.2%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hybrid bonding (467)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49.5%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12.2%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좁은 제조공정 정의 (908)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37.2%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46.8%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16.0%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44000" y="4140000"/>
            <a:ext cx="3192120" cy="151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hybrid bonding 표본은 2014년 이전 출원이 30건뿐: 공정 단독형의 감소는 direct bonding 시기의 웨이퍼 접합 공정 출원에서 hybrid bonding 시기의 구조 출원으로 이행한 변화를 상당 부분 반영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lang="ko-KR" altLang="en-US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5  </a:t>
            </a:r>
            <a:r>
              <a:rPr sz="2000" b="1" i="0" lang="ko-KR" altLang="en-US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강건성: 핵심 기술 모형 재추정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954000"/>
          <a:ext cx="11112120" cy="29124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960000"/>
                <a:gridCol w="864000"/>
                <a:gridCol w="1440000"/>
                <a:gridCol w="1440000"/>
                <a:gridCol w="1440000"/>
                <a:gridCol w="1968120"/>
              </a:tblGrid>
              <a:tr h="342000"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표본 · 변수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–2014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2015–2019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2020–2024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lang="ko-KR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2020–24 상호작용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11.071***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2.452**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0.059***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기호 외 접합 기호 수 통제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8.768***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2.377**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0.684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0.078***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 + 동일 제목 군집 표준오차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11.071***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9B2C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2.452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0.059***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제목 중복 제거 (제목당 1건)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6.191***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4.433***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0.814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0.131***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좁은 제조공정 정의 (패키징 단계 공정 제외)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15.334***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3.185***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0.771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0.050***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무관 용법 제외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3.981**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9B2C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1.817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0.738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0.185**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</a:tr>
              <a:tr h="367200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기술을 24/08 · 24/80으로 한정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14.474***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3.445***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0" i="0" lang="ko-KR" altLang="en-US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0.732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marL="0" indent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50" b="1" i="0" lang="ko-KR" altLang="en-US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000" y="4104000"/>
            <a:ext cx="11112120" cy="165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0000" indent="-180000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기호 외 접합 기호 수 자체의 승산비 1.100 (p &lt; 0.01) → 통제해도 시기별 승산비는 거의 변하지 않음</a:t>
            </a:r>
          </a:p>
          <a:p>
            <a:pPr algn="l" marL="180000" indent="-180000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무관 용법 제외 표본: 무관 출원 51건 중 28건이 2014년 이전 핵심 기술 없는 출원(그중 25건 접합 단독형) → 2014년 이전 승산비 3.981로 작아짐</a:t>
            </a:r>
          </a:p>
          <a:p>
            <a:pPr algn="l" marL="180000" indent="-180000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좁은 정의: 제조공정 기호가 패키징 단계 공정뿐인 통합형을 접합 단독형으로 재분류 (통합형 338건)</a:t>
            </a:r>
          </a:p>
          <a:p>
            <a:pPr algn="l" marL="180000" indent="-180000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sz="1300" b="0" i="0" lang="ko-KR" altLang="en-US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hybrid bonding 표본: 2019년 이전 핵심 기술 없는 접합 출원 12건 → 추정하지 않음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ense">
  <a:themeElements>
    <a:clrScheme name="Defense">
      <a:dk1>
        <a:srgbClr val="1E2532"/>
      </a:dk1>
      <a:lt1>
        <a:srgbClr val="FFFFFF"/>
      </a:lt1>
      <a:dk2>
        <a:srgbClr val="13294B"/>
      </a:dk2>
      <a:lt2>
        <a:srgbClr val="F2F5FA"/>
      </a:lt2>
      <a:accent1>
        <a:srgbClr val="24406E"/>
      </a:accent1>
      <a:accent2>
        <a:srgbClr val="2563C9"/>
      </a:accent2>
      <a:accent3>
        <a:srgbClr val="7C3AED"/>
      </a:accent3>
      <a:accent4>
        <a:srgbClr val="EA7A28"/>
      </a:accent4>
      <a:accent5>
        <a:srgbClr val="10A39A"/>
      </a:accent5>
      <a:accent6>
        <a:srgbClr val="E0A100"/>
      </a:accent6>
      <a:hlink>
        <a:srgbClr val="2563C9"/>
      </a:hlink>
      <a:folHlink>
        <a:srgbClr val="7C3AED"/>
      </a:folHlink>
    </a:clrScheme>
    <a:fontScheme name="Malgun Gothic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반도체 하이브리드 본딩의 공정 단계 간 기술융합: 특허 기반 종단 분석 (석사학위논문 심사 발표)</dc:title>
  <dc:subject/>
  <dc:creator>이형규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