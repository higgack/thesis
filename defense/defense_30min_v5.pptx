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출원 건수</c:v>
                </c:pt>
              </c:strCache>
            </c:strRef>
          </c:tx>
          <c:spPr>
            <a:solidFill>
              <a:srgbClr val="13294B"/>
            </a:solidFill>
          </c:spPr>
          <c:dPt>
            <c:idx val="55"/>
            <c:spPr>
              <a:solidFill>
                <a:srgbClr val="9AA6B8"/>
              </a:solidFill>
            </c:spPr>
          </c:dPt>
          <c:dPt>
            <c:idx val="56"/>
            <c:spPr>
              <a:solidFill>
                <a:srgbClr val="9AA6B8"/>
              </a:solidFill>
            </c:spPr>
          </c:dPt>
          <c:dLbls>
            <c:dLbl>
              <c:idx val="54"/>
              <c:tx>
                <c:rich>
                  <a:bodyPr/>
                  <a:lstStyle/>
                  <a:p>
                    <a:r>
                      <a:rPr sz="1200" b="1" i="0" lang="ko-KR" altLang="en-US">
                        <a:solidFill>
                          <a:srgbClr val="13294B"/>
                        </a:solidFill>
                        <a:latin typeface="맑은 고딕"/>
                        <a:ea typeface="맑은 고딕"/>
                        <a:cs typeface="맑은 고딕"/>
                      </a:rPr>
                      <a:t>176 (2022)</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Sheet1!$A$2:$A$58</c:f>
              <c:strCache>
                <c:ptCount val="57"/>
                <c:pt idx="0">
                  <c:v/>
                </c:pt>
                <c:pt idx="1">
                  <c:v/>
                </c:pt>
                <c:pt idx="2">
                  <c:v>1970</c:v>
                </c:pt>
                <c:pt idx="3">
                  <c:v/>
                </c:pt>
                <c:pt idx="4">
                  <c:v/>
                </c:pt>
                <c:pt idx="5">
                  <c:v/>
                </c:pt>
                <c:pt idx="6">
                  <c:v/>
                </c:pt>
                <c:pt idx="7">
                  <c:v/>
                </c:pt>
                <c:pt idx="8">
                  <c:v/>
                </c:pt>
                <c:pt idx="9">
                  <c:v/>
                </c:pt>
                <c:pt idx="10">
                  <c:v/>
                </c:pt>
                <c:pt idx="11">
                  <c:v/>
                </c:pt>
                <c:pt idx="12">
                  <c:v>1980</c:v>
                </c:pt>
                <c:pt idx="13">
                  <c:v/>
                </c:pt>
                <c:pt idx="14">
                  <c:v/>
                </c:pt>
                <c:pt idx="15">
                  <c:v/>
                </c:pt>
                <c:pt idx="16">
                  <c:v/>
                </c:pt>
                <c:pt idx="17">
                  <c:v/>
                </c:pt>
                <c:pt idx="18">
                  <c:v/>
                </c:pt>
                <c:pt idx="19">
                  <c:v/>
                </c:pt>
                <c:pt idx="20">
                  <c:v/>
                </c:pt>
                <c:pt idx="21">
                  <c:v/>
                </c:pt>
                <c:pt idx="22">
                  <c:v>1990</c:v>
                </c:pt>
                <c:pt idx="23">
                  <c:v/>
                </c:pt>
                <c:pt idx="24">
                  <c:v/>
                </c:pt>
                <c:pt idx="25">
                  <c:v/>
                </c:pt>
                <c:pt idx="26">
                  <c:v/>
                </c:pt>
                <c:pt idx="27">
                  <c:v/>
                </c:pt>
                <c:pt idx="28">
                  <c:v/>
                </c:pt>
                <c:pt idx="29">
                  <c:v/>
                </c:pt>
                <c:pt idx="30">
                  <c:v/>
                </c:pt>
                <c:pt idx="31">
                  <c:v/>
                </c:pt>
                <c:pt idx="32">
                  <c:v>2000</c:v>
                </c:pt>
                <c:pt idx="33">
                  <c:v/>
                </c:pt>
                <c:pt idx="34">
                  <c:v/>
                </c:pt>
                <c:pt idx="35">
                  <c:v/>
                </c:pt>
                <c:pt idx="36">
                  <c:v/>
                </c:pt>
                <c:pt idx="37">
                  <c:v/>
                </c:pt>
                <c:pt idx="38">
                  <c:v/>
                </c:pt>
                <c:pt idx="39">
                  <c:v/>
                </c:pt>
                <c:pt idx="40">
                  <c:v/>
                </c:pt>
                <c:pt idx="41">
                  <c:v/>
                </c:pt>
                <c:pt idx="42">
                  <c:v>2010</c:v>
                </c:pt>
                <c:pt idx="43">
                  <c:v/>
                </c:pt>
                <c:pt idx="44">
                  <c:v/>
                </c:pt>
                <c:pt idx="45">
                  <c:v/>
                </c:pt>
                <c:pt idx="46">
                  <c:v/>
                </c:pt>
                <c:pt idx="47">
                  <c:v/>
                </c:pt>
                <c:pt idx="48">
                  <c:v/>
                </c:pt>
                <c:pt idx="49">
                  <c:v/>
                </c:pt>
                <c:pt idx="50">
                  <c:v/>
                </c:pt>
                <c:pt idx="51">
                  <c:v/>
                </c:pt>
                <c:pt idx="52">
                  <c:v>2020</c:v>
                </c:pt>
                <c:pt idx="53">
                  <c:v/>
                </c:pt>
                <c:pt idx="54">
                  <c:v/>
                </c:pt>
                <c:pt idx="55">
                  <c:v/>
                </c:pt>
                <c:pt idx="56">
                  <c:v/>
                </c:pt>
              </c:strCache>
            </c:strRef>
          </c:cat>
          <c:val>
            <c:numRef>
              <c:f>Sheet1!$B$2:$B$58</c:f>
              <c:numCache>
                <c:formatCode>General</c:formatCode>
                <c:ptCount val="57"/>
                <c:pt idx="0">
                  <c:v>1</c:v>
                </c:pt>
                <c:pt idx="1">
                  <c:v>0</c:v>
                </c:pt>
                <c:pt idx="2">
                  <c:v>0</c:v>
                </c:pt>
                <c:pt idx="3">
                  <c:v>0</c:v>
                </c:pt>
                <c:pt idx="4">
                  <c:v>0</c:v>
                </c:pt>
                <c:pt idx="5">
                  <c:v>0</c:v>
                </c:pt>
                <c:pt idx="6">
                  <c:v>0</c:v>
                </c:pt>
                <c:pt idx="7">
                  <c:v>1</c:v>
                </c:pt>
                <c:pt idx="8">
                  <c:v>0</c:v>
                </c:pt>
                <c:pt idx="9">
                  <c:v>0</c:v>
                </c:pt>
                <c:pt idx="10">
                  <c:v>0</c:v>
                </c:pt>
                <c:pt idx="11">
                  <c:v>0</c:v>
                </c:pt>
                <c:pt idx="12">
                  <c:v>1</c:v>
                </c:pt>
                <c:pt idx="13">
                  <c:v>2</c:v>
                </c:pt>
                <c:pt idx="14">
                  <c:v>0</c:v>
                </c:pt>
                <c:pt idx="15">
                  <c:v>1</c:v>
                </c:pt>
                <c:pt idx="16">
                  <c:v>0</c:v>
                </c:pt>
                <c:pt idx="17">
                  <c:v>0</c:v>
                </c:pt>
                <c:pt idx="18">
                  <c:v>0</c:v>
                </c:pt>
                <c:pt idx="19">
                  <c:v>0</c:v>
                </c:pt>
                <c:pt idx="20">
                  <c:v>10</c:v>
                </c:pt>
                <c:pt idx="21">
                  <c:v>0</c:v>
                </c:pt>
                <c:pt idx="22">
                  <c:v>3</c:v>
                </c:pt>
                <c:pt idx="23">
                  <c:v>1</c:v>
                </c:pt>
                <c:pt idx="24">
                  <c:v>0</c:v>
                </c:pt>
                <c:pt idx="25">
                  <c:v>0</c:v>
                </c:pt>
                <c:pt idx="26">
                  <c:v>2</c:v>
                </c:pt>
                <c:pt idx="27">
                  <c:v>2</c:v>
                </c:pt>
                <c:pt idx="28">
                  <c:v>4</c:v>
                </c:pt>
                <c:pt idx="29">
                  <c:v>0</c:v>
                </c:pt>
                <c:pt idx="30">
                  <c:v>5</c:v>
                </c:pt>
                <c:pt idx="31">
                  <c:v>4</c:v>
                </c:pt>
                <c:pt idx="32">
                  <c:v>5</c:v>
                </c:pt>
                <c:pt idx="33">
                  <c:v>2</c:v>
                </c:pt>
                <c:pt idx="34">
                  <c:v>8</c:v>
                </c:pt>
                <c:pt idx="35">
                  <c:v>4</c:v>
                </c:pt>
                <c:pt idx="36">
                  <c:v>13</c:v>
                </c:pt>
                <c:pt idx="37">
                  <c:v>8</c:v>
                </c:pt>
                <c:pt idx="38">
                  <c:v>6</c:v>
                </c:pt>
                <c:pt idx="39">
                  <c:v>6</c:v>
                </c:pt>
                <c:pt idx="40">
                  <c:v>2</c:v>
                </c:pt>
                <c:pt idx="41">
                  <c:v>7</c:v>
                </c:pt>
                <c:pt idx="42">
                  <c:v>4</c:v>
                </c:pt>
                <c:pt idx="43">
                  <c:v>19</c:v>
                </c:pt>
                <c:pt idx="44">
                  <c:v>17</c:v>
                </c:pt>
                <c:pt idx="45">
                  <c:v>22</c:v>
                </c:pt>
                <c:pt idx="46">
                  <c:v>19</c:v>
                </c:pt>
                <c:pt idx="47">
                  <c:v>27</c:v>
                </c:pt>
                <c:pt idx="48">
                  <c:v>50</c:v>
                </c:pt>
                <c:pt idx="49">
                  <c:v>26</c:v>
                </c:pt>
                <c:pt idx="50">
                  <c:v>50</c:v>
                </c:pt>
                <c:pt idx="51">
                  <c:v>56</c:v>
                </c:pt>
                <c:pt idx="52">
                  <c:v>71</c:v>
                </c:pt>
                <c:pt idx="53">
                  <c:v>118</c:v>
                </c:pt>
                <c:pt idx="54">
                  <c:v>176</c:v>
                </c:pt>
                <c:pt idx="55">
                  <c:v>130</c:v>
                </c:pt>
                <c:pt idx="56">
                  <c:v>45</c:v>
                </c:pt>
              </c:numCache>
            </c:numRef>
          </c:val>
        </c:ser>
        <c:gapWidth val="35"/>
        <c:axId val="-2068027336"/>
        <c:axId val="-2113994440"/>
      </c:barChart>
      <c:catAx>
        <c:axId val="-2068027336"/>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low"/>
        <c:spPr>
          <a:ln>
            <a:solidFill>
              <a:srgbClr val="9AA3B2"/>
            </a:solidFill>
          </a:ln>
        </c:spPr>
        <c:txPr>
          <a:bodyPr/>
          <a:lstStyle/>
          <a:p>
            <a:pPr>
              <a:defRPr sz="1200">
                <a:solidFill>
                  <a:srgbClr val="1E2532"/>
                </a:solidFill>
                <a:latin typeface="맑은 고딕"/>
                <a:ea typeface="맑은 고딕"/>
              </a:defRPr>
            </a:pPr>
          </a:p>
        </c:txPr>
        <c:crossAx val="-2113994440"/>
        <c:crosses val="autoZero"/>
        <c:auto val="1"/>
        <c:lblAlgn val="ctr"/>
        <c:lblOffset val="100"/>
        <c:noMultiLvlLbl val="0"/>
        <c:tickLblSkip val="1"/>
        <c:tickMarkSkip val="10"/>
      </c:catAx>
      <c:valAx>
        <c:axId val="-2113994440"/>
        <c:scaling>
          <c:max val="20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출원 건수</a:t>
                </a:r>
              </a:p>
            </c:rich>
          </c:tx>
          <c:layout/>
          <c:overlay val="0"/>
        </c:title>
        <c:majorTickMark val="out"/>
        <c:minorTickMark val="none"/>
        <c:tickLblPos val="nextTo"/>
        <c:spPr>
          <a:ln>
            <a:noFill/>
          </a:ln>
        </c:spPr>
        <c:txPr>
          <a:bodyPr/>
          <a:lstStyle/>
          <a:p>
            <a:pPr>
              <a:defRPr sz="1200">
                <a:solidFill>
                  <a:srgbClr val="1E2532"/>
                </a:solidFill>
                <a:latin typeface="맑은 고딕"/>
                <a:ea typeface="맑은 고딕"/>
              </a:defRPr>
            </a:pPr>
          </a:p>
        </c:txPr>
        <c:crossAx val="-2068027336"/>
        <c:crosses val="autoZero"/>
        <c:majorUnit val="50.0"/>
      </c:valAx>
      <c:spPr>
        <a:noFill/>
        <a:ln>
          <a:noFill/>
        </a:ln>
      </c:spPr>
    </c:plotArea>
    <c:dispBlanksAs val="gap"/>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유형</c:v>
                </c:pt>
              </c:strCache>
            </c:strRef>
          </c:tx>
          <c:dPt>
            <c:idx val="0"/>
            <c:spPr>
              <a:solidFill>
                <a:srgbClr val="7C3AED"/>
              </a:solidFill>
              <a:ln w="25400">
                <a:solidFill>
                  <a:srgbClr val="FFFFFF"/>
                </a:solidFill>
              </a:ln>
            </c:spPr>
          </c:dPt>
          <c:dPt>
            <c:idx val="1"/>
            <c:spPr>
              <a:solidFill>
                <a:srgbClr val="EA7A28"/>
              </a:solidFill>
              <a:ln w="25400">
                <a:solidFill>
                  <a:srgbClr val="FFFFFF"/>
                </a:solidFill>
              </a:ln>
            </c:spPr>
          </c:dPt>
          <c:dPt>
            <c:idx val="2"/>
            <c:spPr>
              <a:solidFill>
                <a:srgbClr val="2563C9"/>
              </a:solidFill>
              <a:ln w="25400">
                <a:solidFill>
                  <a:srgbClr val="FFFFFF"/>
                </a:solidFill>
              </a:ln>
            </c:spPr>
          </c:dPt>
          <c:cat>
            <c:strRef>
              <c:f>Sheet1!$A$2:$A$4</c:f>
              <c:strCache>
                <c:ptCount val="3"/>
                <c:pt idx="0">
                  <c:v>통합형</c:v>
                </c:pt>
                <c:pt idx="1">
                  <c:v>접합 단독형</c:v>
                </c:pt>
                <c:pt idx="2">
                  <c:v>공정 단독형</c:v>
                </c:pt>
              </c:strCache>
            </c:strRef>
          </c:cat>
          <c:val>
            <c:numRef>
              <c:f>Sheet1!$B$2:$B$4</c:f>
              <c:numCache>
                <c:formatCode>General</c:formatCode>
                <c:ptCount val="3"/>
                <c:pt idx="0">
                  <c:v>425</c:v>
                </c:pt>
                <c:pt idx="1">
                  <c:v>338</c:v>
                </c:pt>
                <c:pt idx="2">
                  <c:v>165</c:v>
                </c:pt>
              </c:numCache>
            </c:numRef>
          </c:val>
        </c:ser>
        <c:dLbls>
          <c:showLegendKey val="0"/>
          <c:showVal val="0"/>
          <c:showCatName val="0"/>
          <c:showSerName val="0"/>
          <c:showPercent val="0"/>
          <c:showBubbleSize val="0"/>
          <c:showLeaderLines val="1"/>
        </c:dLbls>
        <c:firstSliceAng val="0"/>
        <c:holeSize val="58"/>
      </c:doughnutChart>
      <c:spPr>
        <a:noFill/>
        <a:ln>
          <a:noFill/>
        </a:ln>
      </c:spPr>
    </c:plotArea>
    <c:plotVisOnly val="1"/>
    <c:dispBlanksAs val="gap"/>
    <c:showDLblsOverMax val="0"/>
  </c:chart>
  <c:spPr>
    <a:noFill/>
    <a:ln>
      <a:noFill/>
    </a:ln>
  </c:spPr>
  <c:txPr>
    <a:bodyPr/>
    <a:lstStyle/>
    <a:p>
      <a:pPr>
        <a:defRPr sz="1200">
          <a:solidFill>
            <a:srgbClr val="1E2532"/>
          </a:solidFill>
          <a:latin typeface="맑은 고딕"/>
          <a:ea typeface="맑은 고딕"/>
        </a:defRPr>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dPt>
            <c:idx val="2"/>
            <c:marker>
              <c:symbol val="circle"/>
              <c:size val="9"/>
              <c:spPr>
                <a:solidFill>
                  <a:srgbClr val="7C3AED"/>
                </a:solidFill>
                <a:ln>
                  <a:solidFill>
                    <a:srgbClr val="7C3AED"/>
                  </a:solidFill>
                </a:ln>
              </c:spPr>
            </c:marker>
          </c:dPt>
          <c:dPt>
            <c:idx val="7"/>
            <c:marker>
              <c:symbol val="circle"/>
              <c:size val="9"/>
              <c:spPr>
                <a:solidFill>
                  <a:srgbClr val="7C3AED"/>
                </a:solidFill>
                <a:ln>
                  <a:solidFill>
                    <a:srgbClr val="7C3AED"/>
                  </a:solidFill>
                </a:ln>
              </c:spPr>
            </c:marker>
          </c:dPt>
          <c:dLbls>
            <c:dLbl>
              <c:idx val="2"/>
              <c:tx>
                <c:rich>
                  <a:bodyPr/>
                  <a:lstStyle/>
                  <a:p>
                    <a:r>
                      <a:rPr sz="1300" b="1" i="0" lang="ko-KR" altLang="en-US">
                        <a:solidFill>
                          <a:srgbClr val="7C3AED"/>
                        </a:solidFill>
                        <a:latin typeface="맑은 고딕"/>
                        <a:ea typeface="맑은 고딕"/>
                        <a:cs typeface="맑은 고딕"/>
                      </a:rPr>
                      <a:t>0.26</a:t>
                    </a:r>
                  </a:p>
                </c:rich>
              </c:tx>
              <c:dLblPos val="b"/>
              <c:showLegendKey val="0"/>
              <c:showVal val="1"/>
              <c:showCatName val="0"/>
              <c:showSerName val="0"/>
              <c:showPercent val="0"/>
              <c:showBubbleSize val="0"/>
            </c:dLbl>
            <c:dLbl>
              <c:idx val="7"/>
              <c:tx>
                <c:rich>
                  <a:bodyPr/>
                  <a:lstStyle/>
                  <a:p>
                    <a:r>
                      <a:rPr sz="1300" b="1" i="0" lang="ko-KR" altLang="en-US">
                        <a:solidFill>
                          <a:srgbClr val="7C3AED"/>
                        </a:solidFill>
                        <a:latin typeface="맑은 고딕"/>
                        <a:ea typeface="맑은 고딕"/>
                        <a:cs typeface="맑은 고딕"/>
                      </a:rPr>
                      <a:t>0.68</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기술범위 (두 클래스 내 CPC 서브그룹 수)</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quot;%&quot;" sourceLinked="0"/>
            <c:txPr>
              <a:bodyPr/>
              <a:lstStyle/>
              <a:p>
                <a:pPr>
                  <a:defRPr sz="14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
(N = 179)</c:v>
                </c:pt>
                <c:pt idx="1">
                  <c:v>확산기
2015–2019
(N = 209)</c:v>
                </c:pt>
                <c:pt idx="2">
                  <c:v>재편기
2020–2024
(N = 540)</c:v>
                </c:pt>
              </c:strCache>
            </c:strRef>
          </c:cat>
          <c:val>
            <c:numRef>
              <c:f>Sheet1!$D$2:$D$4</c:f>
              <c:numCache>
                <c:formatCode>General</c:formatCode>
                <c:ptCount val="3"/>
                <c:pt idx="0">
                  <c:v>25.1</c:v>
                </c:pt>
                <c:pt idx="1">
                  <c:v>23.0</c:v>
                </c:pt>
                <c:pt idx="2">
                  <c:v>45.4</c:v>
                </c:pt>
              </c:numCache>
            </c:numRef>
          </c:val>
        </c:ser>
        <c:gapWidth val="45"/>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25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250">
                <a:solidFill>
                  <a:srgbClr val="1E2532"/>
                </a:solidFill>
                <a:latin typeface="맑은 고딕"/>
                <a:ea typeface="맑은 고딕"/>
              </a:defRPr>
            </a:pPr>
          </a:p>
        </c:txPr>
        <c:crossAx val="-2068027336"/>
        <c:crosses val="autoZero"/>
      </c:valAx>
      <c:spPr>
        <a:noFill/>
        <a:ln>
          <a:noFill/>
        </a:ln>
      </c:spPr>
    </c:plotArea>
    <c:legend>
      <c:legendPos val="t"/>
      <c:overlay val="0"/>
      <c:txPr>
        <a:bodyPr/>
        <a:lstStyle/>
        <a:p>
          <a:pPr>
            <a:defRPr sz="1250">
              <a:solidFill>
                <a:srgbClr val="1E2532"/>
              </a:solidFill>
              <a:latin typeface="맑은 고딕"/>
              <a:ea typeface="맑은 고딕"/>
            </a:defRPr>
          </a:pPr>
        </a:p>
      </c:txPr>
    </c:legend>
    <c:dispBlanksAs val="gap"/>
  </c:chart>
  <c:spPr>
    <a:noFill/>
    <a:ln>
      <a:noFill/>
    </a:ln>
  </c:spPr>
  <c:txPr>
    <a:bodyPr/>
    <a:lstStyle/>
    <a:p>
      <a:pPr>
        <a:defRPr sz="1250">
          <a:solidFill>
            <a:srgbClr val="1E2532"/>
          </a:solidFill>
          <a:latin typeface="맑은 고딕"/>
          <a:ea typeface="맑은 고딕"/>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44450">
              <a:solidFill>
                <a:srgbClr val="7C3AED"/>
              </a:solidFill>
            </a:ln>
          </c:spPr>
          <c:marker>
            <c:symbol val="none"/>
          </c:marker>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Sheet1!$B$2:$B$21</c:f>
              <c:numCache>
                <c:formatCode>General</c:formatCode>
                <c:ptCount val="20"/>
                <c:pt idx="0">
                  <c:v>0.396</c:v>
                </c:pt>
                <c:pt idx="1">
                  <c:v>0.403</c:v>
                </c:pt>
                <c:pt idx="2">
                  <c:v>0.409</c:v>
                </c:pt>
                <c:pt idx="3">
                  <c:v>0.415</c:v>
                </c:pt>
                <c:pt idx="4">
                  <c:v>0.421</c:v>
                </c:pt>
                <c:pt idx="5">
                  <c:v>0.426</c:v>
                </c:pt>
                <c:pt idx="6">
                  <c:v>0.431</c:v>
                </c:pt>
                <c:pt idx="7">
                  <c:v>0.436</c:v>
                </c:pt>
                <c:pt idx="8">
                  <c:v>0.441</c:v>
                </c:pt>
                <c:pt idx="9">
                  <c:v>0.445</c:v>
                </c:pt>
                <c:pt idx="10">
                  <c:v>0.45</c:v>
                </c:pt>
                <c:pt idx="11">
                  <c:v>0.454</c:v>
                </c:pt>
                <c:pt idx="12">
                  <c:v>0.457</c:v>
                </c:pt>
                <c:pt idx="13">
                  <c:v>0.461</c:v>
                </c:pt>
                <c:pt idx="14">
                  <c:v>0.464</c:v>
                </c:pt>
                <c:pt idx="15">
                  <c:v>0.467</c:v>
                </c:pt>
                <c:pt idx="16">
                  <c:v>0.469</c:v>
                </c:pt>
                <c:pt idx="17">
                  <c:v>0.472</c:v>
                </c:pt>
                <c:pt idx="18">
                  <c:v>0.474</c:v>
                </c:pt>
                <c:pt idx="19">
                  <c:v>0.476</c:v>
                </c:pt>
              </c:numCache>
            </c:numRef>
          </c:val>
          <c:smooth val="0"/>
        </c:ser>
        <c:ser>
          <c:idx val="1"/>
          <c:order val="1"/>
          <c:tx>
            <c:strRef>
              <c:f>Sheet1!$C$1</c:f>
              <c:strCache>
                <c:ptCount val="1"/>
                <c:pt idx="0">
                  <c:v>접합 단독형</c:v>
                </c:pt>
              </c:strCache>
            </c:strRef>
          </c:tx>
          <c:spPr>
            <a:ln w="44450">
              <a:solidFill>
                <a:srgbClr val="EA7A28"/>
              </a:solidFill>
            </a:ln>
          </c:spPr>
          <c:marker>
            <c:symbol val="none"/>
          </c:marker>
          <c:dPt>
            <c:idx val="5"/>
            <c:marker>
              <c:symbol val="circle"/>
              <c:size val="9"/>
              <c:spPr>
                <a:solidFill>
                  <a:srgbClr val="EA7A28"/>
                </a:solidFill>
                <a:ln>
                  <a:solidFill>
                    <a:srgbClr val="EA7A28"/>
                  </a:solidFill>
                </a:ln>
              </c:spPr>
            </c:marker>
          </c:dPt>
          <c:dPt>
            <c:idx val="17"/>
            <c:marker>
              <c:symbol val="circle"/>
              <c:size val="9"/>
              <c:spPr>
                <a:solidFill>
                  <a:srgbClr val="EA7A28"/>
                </a:solidFill>
                <a:ln>
                  <a:solidFill>
                    <a:srgbClr val="EA7A28"/>
                  </a:solidFill>
                </a:ln>
              </c:spPr>
            </c:marker>
          </c:dPt>
          <c:dLbls>
            <c:dLbl>
              <c:idx val="5"/>
              <c:tx>
                <c:rich>
                  <a:bodyPr/>
                  <a:lstStyle/>
                  <a:p>
                    <a:r>
                      <a:rPr sz="1300" b="1" i="0" lang="ko-KR" altLang="en-US">
                        <a:solidFill>
                          <a:srgbClr val="EA7A28"/>
                        </a:solidFill>
                        <a:latin typeface="맑은 고딕"/>
                        <a:ea typeface="맑은 고딕"/>
                        <a:cs typeface="맑은 고딕"/>
                      </a:rPr>
                      <a:t>0.31</a:t>
                    </a:r>
                  </a:p>
                </c:rich>
              </c:tx>
              <c:dLblPos val="t"/>
              <c:showLegendKey val="0"/>
              <c:showVal val="1"/>
              <c:showCatName val="0"/>
              <c:showSerName val="0"/>
              <c:showPercent val="0"/>
              <c:showBubbleSize val="0"/>
            </c:dLbl>
            <c:dLbl>
              <c:idx val="17"/>
              <c:tx>
                <c:rich>
                  <a:bodyPr/>
                  <a:lstStyle/>
                  <a:p>
                    <a:r>
                      <a:rPr sz="1300" b="1" i="0" lang="ko-KR" altLang="en-US">
                        <a:solidFill>
                          <a:srgbClr val="EA7A28"/>
                        </a:solidFill>
                        <a:latin typeface="맑은 고딕"/>
                        <a:ea typeface="맑은 고딕"/>
                        <a:cs typeface="맑은 고딕"/>
                      </a:rPr>
                      <a:t>0.40</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Sheet1!$C$2:$C$21</c:f>
              <c:numCache>
                <c:formatCode>General</c:formatCode>
                <c:ptCount val="20"/>
                <c:pt idx="0">
                  <c:v>0.262</c:v>
                </c:pt>
                <c:pt idx="1">
                  <c:v>0.271</c:v>
                </c:pt>
                <c:pt idx="2">
                  <c:v>0.281</c:v>
                </c:pt>
                <c:pt idx="3">
                  <c:v>0.29</c:v>
                </c:pt>
                <c:pt idx="4">
                  <c:v>0.3</c:v>
                </c:pt>
                <c:pt idx="5">
                  <c:v>0.309</c:v>
                </c:pt>
                <c:pt idx="6">
                  <c:v>0.318</c:v>
                </c:pt>
                <c:pt idx="7">
                  <c:v>0.327</c:v>
                </c:pt>
                <c:pt idx="8">
                  <c:v>0.335</c:v>
                </c:pt>
                <c:pt idx="9">
                  <c:v>0.344</c:v>
                </c:pt>
                <c:pt idx="10">
                  <c:v>0.352</c:v>
                </c:pt>
                <c:pt idx="11">
                  <c:v>0.36</c:v>
                </c:pt>
                <c:pt idx="12">
                  <c:v>0.368</c:v>
                </c:pt>
                <c:pt idx="13">
                  <c:v>0.376</c:v>
                </c:pt>
                <c:pt idx="14">
                  <c:v>0.383</c:v>
                </c:pt>
                <c:pt idx="15">
                  <c:v>0.391</c:v>
                </c:pt>
                <c:pt idx="16">
                  <c:v>0.397</c:v>
                </c:pt>
                <c:pt idx="17">
                  <c:v>0.404</c:v>
                </c:pt>
                <c:pt idx="18">
                  <c:v>0.411</c:v>
                </c:pt>
                <c:pt idx="19">
                  <c:v>0.417</c:v>
                </c:pt>
              </c:numCache>
            </c:numRef>
          </c:val>
          <c:smooth val="0"/>
        </c:ser>
        <c:ser>
          <c:idx val="2"/>
          <c:order val="2"/>
          <c:tx>
            <c:strRef>
              <c:f>Sheet1!$D$1</c:f>
              <c:strCache>
                <c:ptCount val="1"/>
                <c:pt idx="0">
                  <c:v>공정 단독형</c:v>
                </c:pt>
              </c:strCache>
            </c:strRef>
          </c:tx>
          <c:spPr>
            <a:ln w="44450">
              <a:solidFill>
                <a:srgbClr val="2563C9"/>
              </a:solidFill>
            </a:ln>
          </c:spPr>
          <c:marker>
            <c:symbol val="none"/>
          </c:marker>
          <c:dPt>
            <c:idx val="5"/>
            <c:marker>
              <c:symbol val="circle"/>
              <c:size val="9"/>
              <c:spPr>
                <a:solidFill>
                  <a:srgbClr val="2563C9"/>
                </a:solidFill>
                <a:ln>
                  <a:solidFill>
                    <a:srgbClr val="2563C9"/>
                  </a:solidFill>
                </a:ln>
              </c:spPr>
            </c:marker>
          </c:dPt>
          <c:dPt>
            <c:idx val="17"/>
            <c:marker>
              <c:symbol val="circle"/>
              <c:size val="9"/>
              <c:spPr>
                <a:solidFill>
                  <a:srgbClr val="2563C9"/>
                </a:solidFill>
                <a:ln>
                  <a:solidFill>
                    <a:srgbClr val="2563C9"/>
                  </a:solidFill>
                </a:ln>
              </c:spPr>
            </c:marker>
          </c:dPt>
          <c:dLbls>
            <c:dLbl>
              <c:idx val="5"/>
              <c:tx>
                <c:rich>
                  <a:bodyPr/>
                  <a:lstStyle/>
                  <a:p>
                    <a:r>
                      <a:rPr sz="1300" b="1" i="0" lang="ko-KR" altLang="en-US">
                        <a:solidFill>
                          <a:srgbClr val="2563C9"/>
                        </a:solidFill>
                        <a:latin typeface="맑은 고딕"/>
                        <a:ea typeface="맑은 고딕"/>
                        <a:cs typeface="맑은 고딕"/>
                      </a:rPr>
                      <a:t>0.27</a:t>
                    </a:r>
                  </a:p>
                </c:rich>
              </c:tx>
              <c:dLblPos val="b"/>
              <c:showLegendKey val="0"/>
              <c:showVal val="1"/>
              <c:showCatName val="0"/>
              <c:showSerName val="0"/>
              <c:showPercent val="0"/>
              <c:showBubbleSize val="0"/>
            </c:dLbl>
            <c:dLbl>
              <c:idx val="17"/>
              <c:tx>
                <c:rich>
                  <a:bodyPr/>
                  <a:lstStyle/>
                  <a:p>
                    <a:r>
                      <a:rPr sz="1300" b="1" i="0" lang="ko-KR" altLang="en-US">
                        <a:solidFill>
                          <a:srgbClr val="2563C9"/>
                        </a:solidFill>
                        <a:latin typeface="맑은 고딕"/>
                        <a:ea typeface="맑은 고딕"/>
                        <a:cs typeface="맑은 고딕"/>
                      </a:rPr>
                      <a:t>0.12</a:t>
                    </a:r>
                  </a:p>
                </c:rich>
              </c:tx>
              <c:dLblPos val="b"/>
              <c:showLegendKey val="0"/>
              <c:showVal val="1"/>
              <c:showCatName val="0"/>
              <c:showSerName val="0"/>
              <c:showPercent val="0"/>
              <c:showBubbleSize val="0"/>
            </c:dLbl>
            <c:showLegendKey val="0"/>
            <c:showVal val="0"/>
            <c:showCatName val="0"/>
            <c:showSerName val="0"/>
            <c:showPercent val="0"/>
            <c:showBubbleSize val="0"/>
            <c:showLeaderLines val="1"/>
          </c:dLbls>
          <c:cat>
            <c:strRef>
              <c:f>Sheet1!$A$2:$A$21</c:f>
              <c:strCache>
                <c:ptCount val="20"/>
                <c:pt idx="0">
                  <c:v>2005</c:v>
                </c:pt>
                <c:pt idx="1">
                  <c:v/>
                </c:pt>
                <c:pt idx="2">
                  <c:v/>
                </c:pt>
                <c:pt idx="3">
                  <c:v/>
                </c:pt>
                <c:pt idx="4">
                  <c:v/>
                </c:pt>
                <c:pt idx="5">
                  <c:v>2010</c:v>
                </c:pt>
                <c:pt idx="6">
                  <c:v/>
                </c:pt>
                <c:pt idx="7">
                  <c:v/>
                </c:pt>
                <c:pt idx="8">
                  <c:v/>
                </c:pt>
                <c:pt idx="9">
                  <c:v/>
                </c:pt>
                <c:pt idx="10">
                  <c:v>2015</c:v>
                </c:pt>
                <c:pt idx="11">
                  <c:v/>
                </c:pt>
                <c:pt idx="12">
                  <c:v/>
                </c:pt>
                <c:pt idx="13">
                  <c:v/>
                </c:pt>
                <c:pt idx="14">
                  <c:v/>
                </c:pt>
                <c:pt idx="15">
                  <c:v>2020</c:v>
                </c:pt>
                <c:pt idx="16">
                  <c:v/>
                </c:pt>
                <c:pt idx="17">
                  <c:v/>
                </c:pt>
                <c:pt idx="18">
                  <c:v/>
                </c:pt>
                <c:pt idx="19">
                  <c:v>2024</c:v>
                </c:pt>
              </c:strCache>
            </c:strRef>
          </c:cat>
          <c:val>
            <c:numRef>
              <c:f>Sheet1!$D$2:$D$21</c:f>
              <c:numCache>
                <c:formatCode>General</c:formatCode>
                <c:ptCount val="20"/>
                <c:pt idx="0">
                  <c:v>0.342</c:v>
                </c:pt>
                <c:pt idx="1">
                  <c:v>0.326</c:v>
                </c:pt>
                <c:pt idx="2">
                  <c:v>0.31</c:v>
                </c:pt>
                <c:pt idx="3">
                  <c:v>0.295</c:v>
                </c:pt>
                <c:pt idx="4">
                  <c:v>0.28</c:v>
                </c:pt>
                <c:pt idx="5">
                  <c:v>0.265</c:v>
                </c:pt>
                <c:pt idx="6">
                  <c:v>0.251</c:v>
                </c:pt>
                <c:pt idx="7">
                  <c:v>0.237</c:v>
                </c:pt>
                <c:pt idx="8">
                  <c:v>0.224</c:v>
                </c:pt>
                <c:pt idx="9">
                  <c:v>0.211</c:v>
                </c:pt>
                <c:pt idx="10">
                  <c:v>0.198</c:v>
                </c:pt>
                <c:pt idx="11">
                  <c:v>0.186</c:v>
                </c:pt>
                <c:pt idx="12">
                  <c:v>0.175</c:v>
                </c:pt>
                <c:pt idx="13">
                  <c:v>0.163</c:v>
                </c:pt>
                <c:pt idx="14">
                  <c:v>0.153</c:v>
                </c:pt>
                <c:pt idx="15">
                  <c:v>0.143</c:v>
                </c:pt>
                <c:pt idx="16">
                  <c:v>0.133</c:v>
                </c:pt>
                <c:pt idx="17">
                  <c:v>0.124</c:v>
                </c:pt>
                <c:pt idx="18">
                  <c:v>0.116</c:v>
                </c:pt>
                <c:pt idx="19">
                  <c:v>0.108</c:v>
                </c:pt>
              </c:numCache>
            </c:numRef>
          </c:val>
          <c:smooth val="0"/>
        </c:ser>
        <c:marker val="1"/>
        <c:smooth val="0"/>
        <c:axId val="2118791784"/>
        <c:axId val="2140495176"/>
      </c:lineChart>
      <c:catAx>
        <c:axId val="2118791784"/>
        <c:scaling>
          <c:orientation val="minMax"/>
        </c:scaling>
        <c:delete val="0"/>
        <c:axPos val="b"/>
        <c:title>
          <c:tx>
            <c:rich>
              <a:bodyPr/>
              <a:lstStyle/>
              <a:p>
                <a:r>
                  <a:rPr sz="1200" b="0" i="0" lang="ko-KR" altLang="en-US">
                    <a:solidFill>
                      <a:srgbClr val="5B6475"/>
                    </a:solidFill>
                    <a:latin typeface="맑은 고딕"/>
                    <a:ea typeface="맑은 고딕"/>
                    <a:cs typeface="맑은 고딕"/>
                  </a:rPr>
                  <a:t>출원연도</a:t>
                </a:r>
              </a:p>
            </c:rich>
          </c:tx>
          <c:layout/>
          <c:overlay val="0"/>
        </c:title>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tickLblSkip val="1"/>
      </c:catAx>
      <c:valAx>
        <c:axId val="2140495176"/>
        <c:scaling>
          <c:max val="1.0"/>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예측확률</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circle"/>
            <c:size val="10"/>
            <c:spPr>
              <a:solidFill>
                <a:srgbClr val="7C3AED"/>
              </a:solidFill>
              <a:ln>
                <a:solidFill>
                  <a:srgbClr val="7C3AED"/>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t"/>
              <c:showLegendKey val="0"/>
              <c:showVal val="1"/>
              <c:showCatName val="0"/>
              <c:showSerName val="0"/>
              <c:showPercent val="0"/>
              <c:showBubbleSize val="0"/>
            </c:dLbl>
            <c:numFmt formatCode="0.0&quot;%&quot;" sourceLinked="0"/>
            <c:txPr>
              <a:bodyPr/>
              <a:lstStyle/>
              <a:p>
                <a:pPr>
                  <a:defRPr sz="1150" b="1">
                    <a:solidFill>
                      <a:srgbClr val="7C3AED"/>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31.3</c:v>
                </c:pt>
                <c:pt idx="1">
                  <c:v>62.2</c:v>
                </c:pt>
                <c:pt idx="2">
                  <c:v>44.3</c:v>
                </c:pt>
              </c:numCache>
            </c:numRef>
          </c:val>
          <c:smooth val="0"/>
        </c:ser>
        <c:ser>
          <c:idx val="1"/>
          <c:order val="1"/>
          <c:tx>
            <c:strRef>
              <c:f>Sheet1!$C$1</c:f>
              <c:strCache>
                <c:ptCount val="1"/>
                <c:pt idx="0">
                  <c:v>접합 단독형</c:v>
                </c:pt>
              </c:strCache>
            </c:strRef>
          </c:tx>
          <c:spPr>
            <a:ln w="57150">
              <a:solidFill>
                <a:srgbClr val="EA7A28"/>
              </a:solidFill>
            </a:ln>
          </c:spPr>
          <c:marker>
            <c:symbol val="circle"/>
            <c:size val="10"/>
            <c:spPr>
              <a:solidFill>
                <a:srgbClr val="EA7A28"/>
              </a:solidFill>
              <a:ln>
                <a:solidFill>
                  <a:srgbClr val="EA7A28"/>
                </a:solidFill>
              </a:ln>
            </c:spPr>
          </c:marker>
          <c:dLbls>
            <c:dLbl>
              <c:idx val="0"/>
              <c:spPr/>
              <c:txPr>
                <a:bodyPr/>
                <a:lstStyle/>
                <a:p>
                  <a:pPr>
                    <a:defRPr/>
                  </a:pPr>
                </a:p>
              </c:txPr>
              <c:dLblPos val="b"/>
              <c:showLegendKey val="0"/>
              <c:showVal val="1"/>
              <c:showCatName val="0"/>
              <c:showSerName val="0"/>
              <c:showPercent val="0"/>
              <c:showBubbleSize val="0"/>
            </c:dLbl>
            <c:dLbl>
              <c:idx val="1"/>
              <c:spPr/>
              <c:txPr>
                <a:bodyPr/>
                <a:lstStyle/>
                <a:p>
                  <a:pPr>
                    <a:defRPr/>
                  </a:pPr>
                </a:p>
              </c:txPr>
              <c:dLblPos val="t"/>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EA7A28"/>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25.1</c:v>
                </c:pt>
                <c:pt idx="1">
                  <c:v>23.0</c:v>
                </c:pt>
                <c:pt idx="2">
                  <c:v>45.4</c:v>
                </c:pt>
              </c:numCache>
            </c:numRef>
          </c:val>
          <c:smooth val="0"/>
        </c:ser>
        <c:ser>
          <c:idx val="2"/>
          <c:order val="2"/>
          <c:tx>
            <c:strRef>
              <c:f>Sheet1!$D$1</c:f>
              <c:strCache>
                <c:ptCount val="1"/>
                <c:pt idx="0">
                  <c:v>공정 단독형</c:v>
                </c:pt>
              </c:strCache>
            </c:strRef>
          </c:tx>
          <c:spPr>
            <a:ln w="25400">
              <a:solidFill>
                <a:srgbClr val="2563C9"/>
              </a:solidFill>
            </a:ln>
          </c:spPr>
          <c:marker>
            <c:symbol val="circle"/>
            <c:size val="7"/>
            <c:spPr>
              <a:solidFill>
                <a:srgbClr val="2563C9"/>
              </a:solidFill>
              <a:ln>
                <a:solidFill>
                  <a:srgbClr val="2563C9"/>
                </a:solidFill>
              </a:ln>
            </c:spPr>
          </c:marker>
          <c:dLbls>
            <c:dLbl>
              <c:idx val="0"/>
              <c:spPr/>
              <c:txPr>
                <a:bodyPr/>
                <a:lstStyle/>
                <a:p>
                  <a:pPr>
                    <a:defRPr/>
                  </a:pPr>
                </a:p>
              </c:txPr>
              <c:dLblPos val="t"/>
              <c:showLegendKey val="0"/>
              <c:showVal val="1"/>
              <c:showCatName val="0"/>
              <c:showSerName val="0"/>
              <c:showPercent val="0"/>
              <c:showBubbleSize val="0"/>
            </c:dLbl>
            <c:dLbl>
              <c:idx val="1"/>
              <c:spPr/>
              <c:txPr>
                <a:bodyPr/>
                <a:lstStyle/>
                <a:p>
                  <a:pPr>
                    <a:defRPr/>
                  </a:pPr>
                </a:p>
              </c:txPr>
              <c:dLblPos val="b"/>
              <c:showLegendKey val="0"/>
              <c:showVal val="1"/>
              <c:showCatName val="0"/>
              <c:showSerName val="0"/>
              <c:showPercent val="0"/>
              <c:showBubbleSize val="0"/>
            </c:dLbl>
            <c:dLbl>
              <c:idx val="2"/>
              <c:spPr/>
              <c:txPr>
                <a:bodyPr/>
                <a:lstStyle/>
                <a:p>
                  <a:pPr>
                    <a:defRPr/>
                  </a:pPr>
                </a:p>
              </c:txPr>
              <c:dLblPos val="b"/>
              <c:showLegendKey val="0"/>
              <c:showVal val="1"/>
              <c:showCatName val="0"/>
              <c:showSerName val="0"/>
              <c:showPercent val="0"/>
              <c:showBubbleSize val="0"/>
            </c:dLbl>
            <c:numFmt formatCode="0.0&quot;%&quot;" sourceLinked="0"/>
            <c:txPr>
              <a:bodyPr/>
              <a:lstStyle/>
              <a:p>
                <a:pPr>
                  <a:defRPr sz="115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43.6</c:v>
                </c:pt>
                <c:pt idx="1">
                  <c:v>14.8</c:v>
                </c:pt>
                <c:pt idx="2">
                  <c:v>10.4</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70.0"/>
          <c:min val="0.0"/>
        </c:scaling>
        <c:delete val="0"/>
        <c:axPos val="l"/>
        <c:majorGridlines>
          <c:spPr>
            <a:ln>
              <a:solidFill>
                <a:srgbClr val="DDE2EA"/>
              </a:solidFill>
            </a:ln>
          </c:spPr>
        </c:majorGridlines>
        <c:numFmt formatCode="0&quot;%&quot;"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20.0"/>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44450">
              <a:solidFill>
                <a:srgbClr val="2563C9"/>
              </a:solidFill>
            </a:ln>
          </c:spPr>
          <c:marker>
            <c:symbol val="circle"/>
            <c:size val="9"/>
            <c:spPr>
              <a:solidFill>
                <a:srgbClr val="2563C9"/>
              </a:solidFill>
              <a:ln>
                <a:solidFill>
                  <a:srgbClr val="2563C9"/>
                </a:solidFill>
              </a:ln>
            </c:spPr>
          </c:marker>
          <c:dLbls>
            <c:dLbl>
              <c:idx val="2"/>
              <c:tx>
                <c:rich>
                  <a:bodyPr/>
                  <a:lstStyle/>
                  <a:p>
                    <a:r>
                      <a:rPr sz="1100" b="1" i="0" lang="ko-KR" altLang="en-US">
                        <a:solidFill>
                          <a:srgbClr val="2563C9"/>
                        </a:solidFill>
                        <a:latin typeface="맑은 고딕"/>
                        <a:ea typeface="맑은 고딕"/>
                        <a:cs typeface="맑은 고딕"/>
                      </a:rPr>
                      <a:t>0.159</a:t>
                    </a:r>
                  </a:p>
                </c:rich>
              </c:tx>
              <c:dLblPos val="b"/>
              <c:showLegendKey val="0"/>
              <c:showVal val="1"/>
              <c:showCatName val="0"/>
              <c:showSerName val="0"/>
              <c:showPercent val="0"/>
              <c:showBubbleSize val="0"/>
            </c:dLbl>
            <c:numFmt formatCode="0.000" sourceLinked="0"/>
            <c:txPr>
              <a:bodyPr/>
              <a:lstStyle/>
              <a:p>
                <a:pPr>
                  <a:defRPr sz="1100" b="1">
                    <a:solidFill>
                      <a:srgbClr val="2563C9"/>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44450">
              <a:solidFill>
                <a:srgbClr val="10A39A"/>
              </a:solidFill>
            </a:ln>
          </c:spPr>
          <c:marker>
            <c:symbol val="circle"/>
            <c:size val="9"/>
            <c:spPr>
              <a:solidFill>
                <a:srgbClr val="10A39A"/>
              </a:solidFill>
              <a:ln>
                <a:solidFill>
                  <a:srgbClr val="10A39A"/>
                </a:solidFill>
              </a:ln>
            </c:spPr>
          </c:marker>
          <c:dLbls>
            <c:dLbl>
              <c:idx val="2"/>
              <c:tx>
                <c:rich>
                  <a:bodyPr/>
                  <a:lstStyle/>
                  <a:p>
                    <a:r>
                      <a:rPr sz="1100" b="1" i="0" lang="ko-KR" altLang="en-US">
                        <a:solidFill>
                          <a:srgbClr val="10A39A"/>
                        </a:solidFill>
                        <a:latin typeface="맑은 고딕"/>
                        <a:ea typeface="맑은 고딕"/>
                        <a:cs typeface="맑은 고딕"/>
                      </a:rPr>
                      <a:t>0.176</a:t>
                    </a:r>
                  </a:p>
                </c:rich>
              </c:tx>
              <c:dLblPos val="t"/>
              <c:showLegendKey val="0"/>
              <c:showVal val="1"/>
              <c:showCatName val="0"/>
              <c:showSerName val="0"/>
              <c:showPercent val="0"/>
              <c:showBubbleSize val="0"/>
            </c:dLbl>
            <c:numFmt formatCode="0.000" sourceLinked="0"/>
            <c:txPr>
              <a:bodyPr/>
              <a:lstStyle/>
              <a:p>
                <a:pPr>
                  <a:defRPr sz="1100" b="1">
                    <a:solidFill>
                      <a:srgbClr val="10A39A"/>
                    </a:solidFill>
                    <a:latin typeface="맑은 고딕"/>
                  </a:defRPr>
                </a:pPr>
              </a:p>
            </c:txPr>
            <c:dLblPos val="b"/>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44450">
              <a:solidFill>
                <a:srgbClr val="E0A100"/>
              </a:solidFill>
            </a:ln>
          </c:spPr>
          <c:marker>
            <c:symbol val="circle"/>
            <c:size val="9"/>
            <c:spPr>
              <a:solidFill>
                <a:srgbClr val="E0A100"/>
              </a:solidFill>
              <a:ln>
                <a:solidFill>
                  <a:srgbClr val="E0A100"/>
                </a:solidFill>
              </a:ln>
            </c:spPr>
          </c:marker>
          <c:dLbls>
            <c:numFmt formatCode="0.000" sourceLinked="0"/>
            <c:txPr>
              <a:bodyPr/>
              <a:lstStyle/>
              <a:p>
                <a:pPr>
                  <a:defRPr sz="1100" b="1">
                    <a:solidFill>
                      <a:srgbClr val="E0A1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2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7"/>
          <c:min val="0.0"/>
        </c:scaling>
        <c:delete val="0"/>
        <c:axPos val="l"/>
        <c:majorGridlines>
          <c:spPr>
            <a:ln>
              <a:solidFill>
                <a:srgbClr val="DDE2EA"/>
              </a:solidFill>
            </a:ln>
          </c:spPr>
        </c:majorGridlines>
        <c:title>
          <c:tx>
            <c:rich>
              <a:bodyPr/>
              <a:lstStyle/>
              <a:p>
                <a:r>
                  <a:rPr sz="1200" b="0" i="0" lang="ko-KR" altLang="en-US">
                    <a:solidFill>
                      <a:srgbClr val="5B6475"/>
                    </a:solidFill>
                    <a:latin typeface="맑은 고딕"/>
                    <a:ea typeface="맑은 고딕"/>
                    <a:cs typeface="맑은 고딕"/>
                  </a:rPr>
                  <a:t>접합 기호와의 Jaccard 계수</a:t>
                </a:r>
              </a:p>
            </c:rich>
          </c:tx>
          <c:layout/>
          <c:overlay val="0"/>
        </c:title>
        <c:numFmt formatCode="0.0" sourceLinked="0"/>
        <c:majorTickMark val="out"/>
        <c:minorTickMark val="none"/>
        <c:tickLblPos val="nextTo"/>
        <c:spPr>
          <a:ln>
            <a:noFill/>
          </a:ln>
        </c:spPr>
        <c:txPr>
          <a:bodyPr/>
          <a:lstStyle/>
          <a:p>
            <a:pPr>
              <a:defRPr sz="1200">
                <a:solidFill>
                  <a:srgbClr val="1E2532"/>
                </a:solidFill>
                <a:latin typeface="맑은 고딕"/>
                <a:ea typeface="맑은 고딕"/>
              </a:defRPr>
            </a:pPr>
          </a:p>
        </c:txPr>
        <c:crossAx val="2118791784"/>
        <c:crosses val="autoZero"/>
        <c:majorUnit val="0.2"/>
      </c:valAx>
      <c:spPr>
        <a:noFill/>
        <a:ln>
          <a:noFill/>
        </a:ln>
      </c:spPr>
    </c:plotArea>
    <c:legend>
      <c:legendPos val="t"/>
      <c:layout/>
      <c:overlay val="0"/>
      <c:txPr>
        <a:bodyPr/>
        <a:lstStyle/>
        <a:p>
          <a:pPr>
            <a:defRPr sz="1200">
              <a:solidFill>
                <a:srgbClr val="1E2532"/>
              </a:solidFill>
              <a:latin typeface="맑은 고딕"/>
              <a:ea typeface="맑은 고딕"/>
            </a:defRPr>
          </a:pPr>
        </a:p>
      </c:txPr>
    </c:legend>
    <c:plotVisOnly val="1"/>
    <c:dispBlanksAs val="gap"/>
    <c:showDLblsOverMax val="0"/>
  </c:chart>
  <c:spPr>
    <a:noFill/>
    <a:ln>
      <a:noFill/>
    </a:ln>
  </c:spPr>
  <c:txPr>
    <a:bodyPr/>
    <a:lstStyle/>
    <a:p>
      <a:pPr>
        <a:defRPr sz="1200">
          <a:solidFill>
            <a:srgbClr val="1E2532"/>
          </a:solidFill>
          <a:latin typeface="맑은 고딕"/>
          <a:ea typeface="맑은 고딕"/>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기술경영학과 이형규입니다. 지금부터 "반도체 하이브리드 본딩의 공정 단계 간 기술융합: 특허 기반 종단 분석"이라는 주제로 석사학위논문 심사 발표를 진행하겠습니다. 잘 전달되었으면 좋겠습니다.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발표는 다섯 부분으로 구성되어 있습니다. 왜 이 연구를 시작했는지부터, 어떤 이론을 바탕으로 연구 질문을 세웠고 어떤 자료와 방법으로 분석했는지, 그리고 최종적으로 어떤 결과가 나왔으며 그것이 무엇을 의미하는지를 담았습니다.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결론부터 말씀드리겠습니다. 하이브리드 본딩 특허 928건에서 세 가지를 확인했습니다. 첫째, 제조공정과 접합 기술을 함께 담은 통합형이 45.8%였고, 패키징 단계 공정을 뺀 좁은 정의에서도 37.2%였습니다. 경계를 넘는 발명은 예외가 아니었습니다. 둘째, 융합은 계속 늘지 않고 형성기, 확산기, 재편기의 세 국면을 거쳤습니다. 셋째, 핵심 설계가 고착화되면서 융합의 중심이 웨이퍼 제조공정에서 공정 장치와 패키징 단계 공정 같은 주변으로 옮겨 갔습니다. 그 과정을 말씀드리겠습니다.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생성형 AI, AI 가속기, 그리고 HBM. 요즘 반도체 이야기에서 빠지지 않는 이 세 단어를 이어 주는 공통의 과제는 무엇일까요? 생성형 AI는 막대한 데이터를 처리하는 AI 가속기를 필요로 하고, AI 가속기는 D램 다이를 여러 층 쌓은 HBM을 필요로 합니다. 결국 메모리를 더 높이, 더 촘촘하게 쌓아 연결하는 것이 관건입니다. 그 연결을 위한 차세대 접합 기술로 주목받는 것이 오늘 말씀드릴 하이브리드 본딩입니다.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반도체 제조는 크게 두 단계로 나뉩니다. 웨이퍼 위에 트랜지스터를 만드는 전공정, 그리고 완성된 웨이퍼를 잘라 조립하고 패키징하는 후공정입니다. 전공정은 종합반도체기업과 파운드리의 팹에서, 후공정은 조립·테스트 전문업체에서 맡는 분업이 반세기 넘게 유지되어 왔습니다. 이 분업이 가능했던 것은 두 단계 사이의 인터페이스가 안정적이었기 때문입니다. 그런데 회로 선폭을 줄이는 미세화가 한계에 부딪히자, 산업은 다이를 나누고 쌓아 연결하는 첨단 패키징에서 새로운 성능 향상의 기회를 찾기 시작했고, 한 단계의 성능이 다른 단계의 공정 역량에 더 직접적으로 의존하게 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하이브리드 본딩은 솔더 범프 없이 구리 패드와 주변 산화막을 직접 맞붙이는 기술입니다. 가운데 그림처럼 기존의 범프 접합이 두 다이를 솔더라는 접착제로 붙이는 방식이라면, 하이브리드 본딩은 두 표면을 거울처럼 평평하게 갈아 그대로 맞붙이는 방식입니다. 덕분에 오른쪽의 후공정 목표, 즉 10마이크로미터 이하의 연결 간격과 웨이퍼와 다이의 직접 적층을 구현합니다. 그런데 이 목표를 위해 필요한 왼쪽의 역량, 화학적 기계연마를 이용한 평탄화, 표면 활성화, 파티클 제어, 정밀 정렬은 후공정이 쌓아 온 역량이 아니라 전공정의 팹에서 다루어 온 제조공정 역량입니다. 후공정 기술의 성패를 전공정 역량이 좌우하게 된 것입니다. 반세기 동안 안정적이던 두 공정 단계의 경계가 흔들리고 있다는 뜻입니다.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그래서 이 현상을 기술융합 연구에서 찾아보았습니다. 기술융합 연구는 오랫동안 축적되어 왔지만, 아쉬운 점이 세 가지 있었습니다. 첫째, 대부분 정보통신과 가전, 식품과 제약처럼 서로 다른 산업 사이의 융합을 다루었고, 한 산업 안에서 공정 단계를 가로지르는 융합은 드물었습니다. 둘째, 융합을 분야 수준의 지수로 측정하다 보니 어떤 발명이 융합을 담고 있는지는 설명하기 어려웠습니다. 셋째, 이론은 융합을 단계적 과정으로 보지만, 실증 연구는 융합의 정도가 늘었는지를 확인하는 데 머물렀습니다. 그래서 저는 한 산업의 공정 단계 사이에서 일어나는 융합을 개별 특허 수준에서, 시간의 흐름에 따라 분석하였습니다.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기술융합의 개념입니다. Rosenberg는 19세기 총기와 재봉틀을 위해 개발된 가공 기술이 공통의 생산공정을 통해 다른 산업으로 퍼져 나가고, 그 공정 지식을 축적한 공작기계 산업이 독립된 산업으로 등장한 과정을 기술적 수렴이라고 불렀습니다. Kodama는 분리된 기술 분야가 결합하여 어느 한쪽만으로는 갖지 못한 역량을 만드는 과정을 기술융합으로 정의했습니다. Hacklin 등은 융합이 단계적으로 진행된다는 단계 모형을 제시했습니다. 하이브리드 본딩에서도 두 공정 단계가 증착, 식각, 도금, 연마라는 공통의 공정과 장비를 공유하기 시작했고, 10마이크로미터 이하의 연결 간격은 두 영역이 결합해야만 달성됩니다. 즉, 공정 단계 간 융합은 기술융합의 고전적 개념을 한 산업 내부의 공정 경계에 적용한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Hacklin 등은 융합이 지식 융합, 기술 융합, 응용 융합, 산업 융합의 네 단계로 진행된다고 보았습니다. 하이브리드 본딩에 대입해 보면, 평탄화나 표면 활성화 같은 제조공정 지식이 칩 연결 문제에 쓰이기 시작하는 것이 지식 융합, 그 지식이 접합 구조와 하나의 발명 안에서 결합되는 것이 기술 융합, 결합된 기술이 이미지센서나 HBM 같은 제품으로 구현되는 것이 응용 융합, 그리고 파운드리가 첨단 패키징을 내재화하는 것처럼 분업 구조가 바뀌는 것이 산업 융합입니다. 이 가운데 특허의 공동분류로 직접 관찰할 수 있는 것은 기술 융합 단계입니다. 응용 융합은 세 번째 연구 질문에서 간접적으로만 다루고, 산업 융합은 분석 범위 밖입니다.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이론은 수직 전문화와 지식 경계입니다. 반도체 산업은 설계, 제조, 조립이 분리되면서 팹리스, 파운드리, 조립·테스트 전문업체가 등장한 대표적인 산업입니다. 그런데 Kapoor와 Adner는 1974년부터 2005년까지 DRAM 산업의 12개 제품 세대를 분석하여, 외주화한 부품의 지식까지 보유한 비통합 기업이 기술 전환에서 성과 우위를 얻었음을 보였습니다. Brusoni 등도 구성요소 사이의 상호의존을 예측하기 어려울 때 기업은 직접 생산하는 범위보다 넓은 지식을 가져야 한다고 설명합니다. 즉, 생산의 경계와 지식의 경계는 다릅니다. 하이브리드 본딩처럼 인터페이스가 불안정해지면, 그 징후는 조직이나 산업 구조보다 먼저 두 단계의 지식을 함께 담은 발명으로 나타날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기술 순환 모형과 핵심–주변 구조입니다. Anderson과 Tushman에 따르면 새로운 기술은 여러 설계가 경쟁하는 격동기를 거쳐 하나의 지배적 설계로 수렴하고, 그 뒤에는 정해진 설계를 다듬는 점진적 변화가 이어집니다. Murmann과 Frenken은 지배적 설계를, 다른 요소와 안정된 인터페이스 역할을 하는 핵심 요소의 설계로 보았습니다. 핵심 설계가 안정되면 이후의 기술 변화는 그 인터페이스를 전제로 주변 요소에서 이어집니다. 도로에 비유하면, 규격이 정해지기 전에는 설계자와 시공자가 한 몸처럼 움직여야 하지만, 규격이 정해진 뒤에는 각자 그 규격을 전제로 일하게 되는 것과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이론을 요약해 보면, 첫째, 공정 단계 간 융합은 기술융합의 개념을 한 산업 내부에 적용한 것이며, 특허로는 기술 융합 단계를 관찰할 수 있습니다. 둘째, 생산의 경계와 지식의 경계는 다르기 때문에, 인터페이스가 불안정해지면 경계를 넘는 발명이 나타납니다. 셋째, 지배적 설계가 고착화되면 융합의 중심은 핵심에서 주변으로 이동할 수 있습니다. 이 세 가지를 기억해 주시면 감사하겠습니다.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질문입니다. 첫 번째 연구 질문은 융합의 수준과 유형에 관한 것입니다. 앞에서 말씀드린 지식 경계의 논리에 따르면, 하이브리드 본딩으로 전공정과 후공정 사이의 인터페이스가 불안정해졌다면 두 영역의 기술을 함께 담은 발명이 예외적이지 않은 비중으로 나타나야 합니다. 그리고 발명을 기술 요소의 새로운 조합으로 보는 Fleming의 관점에 따르면, 두 영역에 걸친 발명은 한 영역에 머무는 발명보다 더 다양한 세부 기술을 포함하고 있을 것입니다. 그래서 첫 번째 연구 질문은 "하이브리드 본딩 기술에서 제조공정과 접합 기술 간의 융합이 어느 정도로, 어떠한 형태로 나타나는가"입니다.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번째는 시간적 변화입니다. 단계 모형과 기술 순환 모형을 결합하면, 기술이 형성되는 시기에는 직접 접합을 가능하게 하는 공정 발명이 주를 이루고, 확산되는 시기에는 공정 지식과 접합 발명의 결합이 늘며, 지배적 설계가 자리 잡은 뒤에는 결합이 응용에 필요한 주변 공정으로 옮겨 갈 것으로 기대할 수 있습니다. 실제로 하이브리드 본딩은 이미지센서와 3D NAND의 웨이퍼 단위 접합에서 시작해 HBM과 로직의 다이 단위 접합으로 확대되었고, 발명의 중심도 표면 준비나 평탄화 같은 공정에서 접합 구조와 적층으로 옮겨 갔습니다. 따라서 융합의 수준은 꾸준히 늘기보다 단계에 따라 오르내릴 수 있습니다. 그래서 두 번째 연구 질문은 "공정 단계 간 기술융합은 시간에 따라 어떻게 변화해 왔는가"입니다.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번째는 융합의 중심 변화입니다. 하이브리드 본딩의 핵심은 범프 없이 접합 패드끼리 직접 연결하는 방식입니다. 이 인터페이스가 확정되기 전에는 핵심 기술을 발명하려면 평탄화나 웨이퍼 접합 같은 제조공정 지식을 함께 다루어야 합니다. 그러나 설계가 고착화되면 그 지식은 주어진 조건이 되고, 새로운 결합은 다이를 다루고 패키지로 완성하는 주변 공정에서 일어날 것입니다. 그래서 세 번째 연구 질문은 "공정 단계 간 기술융합의 중심이 핵심 기술과 주변 기술 사이에서 시기에 따라 어떻게 재편되는가"입니다.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질문과 각 질문의 이론적 기대를 한 장으로 정리하면 이렇습니다. 오른쪽의 이론적 기대는 통계적 가설로 검정하는 것이 아니라, 결과를 해석하는 기준으로 사용했습니다. 이 세 질문에 답하기 위해 분석 대상과 자료를 선정하였습니다.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대상인 하이브리드 본딩을 조금 더 들여다보겠습니다. 왼쪽처럼 하이브리드 본딩은 기반 공정, 접합 형태, 소자 구조, 적용 제품의 네 층위로 정리할 수 있는데, 기반 공정은 CPC의 제조공정 클래스인 H01L21에, 접합 형태는 접합·인터커넥트 클래스인 H01L24에 주로 대응합니다. 오른쪽은 다이-투-웨이퍼 하이브리드 본딩의 실제 공정 흐름입니다. 다이를 자르기 전까지 절연막 증착, 다마신 식각, 구리 증착과 도금, 화학적 기계연마가 이어지는데, 모두 전공정에서 쓰이던 공정과 장비입니다. 특허 활동을 주도하는 출원인에도 TSMC, Adeia, YMTC, Intel, Samsung처럼 라이선싱 기업, 파운드리, 메모리 기업이 함께 들어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자료는 유럽특허청의 PATSTAT에서 추출했습니다. 먼저 제조공정 분류인 H01L21이나 접합 분류인 H01L24를 가진 출원을 찾고, 그중 제목에 hybrid bonding, direct bonding, Cu–Cu 같은 키워드가 들어간 출원을 골랐습니다. 그 결과 1968년부터 2024년까지 출원된 928건이 선정되었습니다. 오른쪽 그래프처럼 출원은 2010년 이전에는 드물다가 2010년대 후반에 급증하여 2022년에 176건으로 정점에 이르렀습니다. 2023년 이후의 감소는 출원 후 공개까지의 시차 때문일 가능성이 큽니다.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검색 조건과 표본의 특성을 조금 더 자세히 보겠습니다. 위의 표처럼 1차로 제조공정 분류 H01L21과 접합 분류 H01L24를, 2차로 제목 키워드를 적용했습니다. 표본에는 서브그룹 기호 262개가 나타나며, 그중 제조공정 기호가 202개, 접합 기호가 60개입니다. 제목에 hybrid bonding이 들어간 467건, 관련 없는 용법으로 쓰인 68건, 같은 제목으로 여러 출원청에 출원된 경우는 강건성 검증에서 따로 다루었습니다. 출원청별로는 미국이 382건으로 가장 많고, 중국 175건, PCT 국제출원 113건 순입니다.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어떻게 측정했을까요? 특허에는 심사관이 기술 내용에 따라 CPC 분류 기호를 부여합니다. 왼쪽 원은 제조공정 클래스인 H01L21, 오른쪽 원은 접합·인터커넥트 클래스인 H01L24입니다. 한 출원이 두 클래스의 기호를 함께 가지면, 두 영역의 지식이 하나의 발명 안에서 결합되었다는 흔적으로 보고 통합형이라 불렀습니다. 한쪽만 가지면 공정 단독형 또는 접합 단독형입니다.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출원 세 건으로 보면 이렇습니다. 왼쪽 대만 출원은 제조공정 기호만 가진 공정 단독형, 가운데 미국 출원은 제조공정 기호와 접합 기호를 함께 가진 통합형, 오른쪽 미국 출원은 접합 기호만 가진 접합 단독형입니다. 가운데의 통합형이 공정 단계의 경계를 넘는 특허입니다. 아래처럼 공정 단계 간 기술융합이라는 이론적 개념을, 두 기술이 한 출원에 함께 포함되는 현상으로 관찰하고, 이를 공동분류라는 지표로 측정했습니다. 다만 이것은 대리측정치이며, 법적 청구범위를 측정한 것은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질문을 분석하려면 무엇이 핵심 기술인지 먼저 정해야 합니다. 먼저 기술 클러스터 분석으로 출원에 자주 부여된 기호를 찾았습니다. 왼쪽 표처럼 접합 패드를 이용한 연결 방법인 24/80이 529건, 연결 후 접합 패드의 구조인 24/08이 513건으로 가장 많고, 구리끼리와 산화막끼리의 직접 접합 기호가 뒤를 잇습니다. 다음으로 기술 네트워크 분석으로 기호 사이의 연결 구조를 확인했습니다. 오른쪽 표처럼 가장 강하게 연결된 기호 쌍도 직접 접합과 접합 패드 기호로 이루어져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분석의 결과를 종합하여 핵심 기술을 정의했습니다. 2224로 시작하는 인덱싱 코드는 회귀 자료에 없으므로, 회귀 자료의 접합 기호 가운데 200건 이상의 출원에 부여되면서 서로 가장 강하게 연결된 접합 패드 기호 네 개, 즉 24/03, 24/05, 24/08, 24/80을 핵심 기술로 정의했습니다. 왼쪽 네트워크 그림에서도 이 네 기호가 중심에 놓여 있습니다. 접합 기호를 가진 출원 763건 가운데 81.3%가 핵심 기술을 포함하고 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분석 방법은 세 가지 회귀모형입니다. 첫 번째 주모형은 다항 로짓으로, 출원이 세 유형 가운데 어디에 속하는지를 기술범위와 출원연도로 설명합니다. 기술범위는 두 클래스 안에서 출원이 가진 세부 분류 기호의 수입니다. 두 번째는 제조공정 분류를 가졌는지를 보는 이항 로짓으로, 보완분석입니다. 세 번째는 세 번째 연구 질문을 위한 이항 로짓으로, 접합 출원 763건에서 핵심 기술 보유와 출원 시기의 상호작용을 봅니다. 출원 시기는 출원이 드물었던 2014년 이전과 2015년부터 2019년, 2020년부터 2024년의 세 시기로 나누었습니다. 여기에 제조공정 영역별 결합 강도인 Jaccard 계수와 기술 네트워크의 매개 중심성을 보조 지표로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이제 연구 결과를 말씀드리겠습니다. 첫 번째 연구 질문의 결과입니다. 928건 가운데 가장 많은 유형은 두 영역의 기호를 모두 가진 통합형으로, 425건, 45.8%였습니다. 접합 단독형이 36.4%, 공정 단독형이 17.8%였습니다. 제조공정 분류에 패키징 단계의 공정도 들어 있다는 점을 고려해 이를 제외한 좁은 정의를 적용해도 통합형은 37.2%였습니다. 하이브리드 본딩에서 공정 단계 간 융합은 예외적인 현상이 아니었습니다.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어떤 특허가 경계를 넘었을까요? 다항 로짓 결과, 세부 분류가 하나 늘 때마다 접합 단독형 대비 통합형일 상대위험이 40% 높아졌습니다. 그래프로 보면, 기술범위가 3인 출원은 통합형일 확률이 0.26이지만 8인 출원은 0.68입니다. 즉, 경계를 넘는 특허는 더 다양한 세부 기술을 포함하고 있었습니다. 다만 통합형은 정의상 기호가 두 개 이상이라는 기계적인 측면이 있어, 유형의 최소 기호 수를 뺀 지표로도 확인했는데 상대위험비는 1.262로 방향이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연구 질문의 결과입니다. 출원을 세 시기로 나누어 보았습니다. 2014년 이전 47년간의 출원이 179건으로 이후 5년간의 209건보다 적을 만큼 드물었기 때문에 하나의 시기로 묶었습니다. 2014년 이전에는 공정 단독형이 43.6%로 가장 많았고, 2015년부터 2019년까지는 통합형이 62.2%로 정점에 이르렀으며, 2020년 이후에는 통합형이 44.3%로 낮아지고 접합 단독형이 45.4%까지 늘었습니다. 저는 이 세 국면을 형성기, 확산기, 재편기라고 이름 붙였습니다. 융합은 계속 늘어난 것이 아니라 오르내렸습니다.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회귀분석에서도 같은 흐름이 확인되었습니다. 출원연도가 1년 늦어질 때마다 접합 단독형 대비 공정 단독형의 상대위험은 약 8.7%씩 감소했습니다. 2010년 출원과 2022년 출원을 비교하면 공정 단독형 예측확률은 0.27에서 0.12로 줄고, 접합 단독형은 0.31에서 0.40으로 늘었습니다. 출원의 무게중심이 제조공정에서 접합 쪽으로 이동한 것입니다. 한편 기술범위가 넓을수록 통합형이 되는 경향은 세 국면 모두에서 유지되었습니다. 이제 각 국면을 하나씩 들여다보겠습니다.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형성기입니다. 이 시기에는 공정 단독형이 43.6%로 가장 많았습니다. 직접 접합을 가능하게 하는 제조공정 발명이 먼저 단독으로 쌓인 시기입니다. 주목할 점은 핵심 기술, 즉 접합 패드 기호를 포함한 접합 출원의 79.6%가 통합형이었다는 것입니다. 핵심 기술이 없는 출원은 27.7%에 그쳤고, 출원청을 통제한 승산비는 11.07이었습니다. 인터페이스가 확정되기 전이라, 핵심 기술을 발명하려면 평탄화나 웨이퍼 접합 같은 제조공정 지식을 함께 다루어야 했던 것으로 해석됩니다. 단계 모형으로는 지식 융합에 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확산기에는 통합형이 62.2%로 정점에 이르렀습니다. 웨이퍼 제조공정이 접합 기호와 함께 부여되는 정도를 나타내는 Jaccard 계수도 0.598로 가장 높았고, 핵심 기술과 함께 부여된 대표 기호는 반도체 몸체끼리의 접합이었습니다. 핵심 기술의 승산비는 2.45로 줄었지만 유지되었고, 핵심 기술을 포함한 접합 출원의 비중은 78.7%로 커졌습니다. 두 영역의 지식이 하나의 발명 안에서 가장 활발히 결합된, 단계 모형의 기술 융합 국면입니다.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그런데 재편기에는 예상과 다른 모습이 나타났습니다. 출원이 540건으로 가장 많았던 이 시기에 통합형은 44.3%로 내려왔고, 접합 단독형이 45.4%로 늘어 두 유형이 비슷해졌습니다. 기술이 가장 활발히 발명된 시기에 경계를 넘는 발명의 비중은 오히려 줄어든 것입니다. 이 변화가 어디에서 비롯되었는지 핵심 기술 모형으로 확인해 보겠습니다.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연구 질문의 핵심 기술 모형입니다. 핵심 기술의 승산비는 형성기 11.1에서 확산기 2.5로 줄었고, 재편기에는 0.66으로 유의한 차이가 확인되지 않았습니다. 두 상호작용을 함께 본 Wald 검정도 유의했습니다. 흥미로운 점은 변화가 핵심 기술을 포함한 출원에서 비롯되었다는 것입니다. 핵심 기술을 포함한 출원의 통합형 비중은 79.6%, 77.1%에서 48.4%로 낮아졌지만, 핵심 기술이 없는 출원은 27.7%에서 56.9%로 오히려 높아졌습니다. 그사이 접합 출원 가운데 핵심 기술을 포함한 비중은 53.5%에서 88.0%로 높아졌습니다. 그렇다면 왜 핵심 기술의 경계 넘기 우위는 사라졌을까요?</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이를 기술 순환 모형의 지배적 설계로 해석했습니다. 인터페이스가 불안정한 격동기에는 접합 패드를 발명할 때마다 평탄화와 표면 화학, 웨이퍼 접합 지식을 함께 다루어야 했습니다. 그러나 직접 접합의 원리가 지배적 설계로 고착화되면, 그 원리는 발명이 매번 새로 다룰 대상이 아니라 주어진 조건이 됩니다. 그래서 핵심 기술의 우위는 사라지고, 새로운 결합은 주변 공정에서 일어나게 됩니다. 다만 출원 시기는 지배적 설계의 근사이고, 이것은 인과를 검정한 결과가 아니라 해석입니다. 그렇다면 융합은 어디로 옮겨 갔을까요?</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융합은 어디로 옮겨 갔을까요? 선의 굵기는 접합 기호와 함께 부여되는 정도, 원의 크기는 매개 중심성입니다. 세 시기를 나란히 놓으면, 웨이퍼 제조공정은 확산기까지 굵은 선으로 연결되었지만 재편기에는 선이 가늘어지고 원도 작아졌습니다. 그 자리를 공정 장치와 패키징 단계 공정이 채웠습니다. 핵심 기술은 세 시기 내내 허브로 남았지만, 핵심 기술과 함께 부여된 공정은 반도체 몸체끼리의 접합에서 임시 기판을 이용한 다이 지지와 봉지 공정으로 바뀌었습니다.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이를 수치로 확인해 보겠습니다. 왼쪽 그래프는 제조공정 영역별로 접합 기호와 함께 부여되는 정도입니다. 웨이퍼 제조공정은 0.306, 0.598, 0.159로 오르내렸지만, 공정 장치는 0.046에서 0.176으로, 패키징 단계 공정은 0.194에서 0.268로 꾸준히 높아졌습니다. 아래 표의 매개 중심성을 보면, 웨이퍼 제조공정은 53.6%에서 9.0%로 낮아졌고 공정 장치는 0.0%에서 26.1%로 높아졌습니다. 접합과 제조공정을 잇는 연결 기호도 반도체 몸체끼리의 접합 기호에서 공정 장치 기호로 바뀌었습니다. 이것이 세 번째 연구 질문의 답입니다. 융합의 중심은 웨이퍼 제조공정에서 공정 장치와 패키징 단계 공정으로 옮겨 갔습니다.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결과가 표본이나 정의에 따라 달라지는지도 확인했습니다. 같은 제목의 출원을 군집으로 본 표준오차, 같은 제목의 중복을 제거한 표본, 패키징 단계 공정을 제외한 좁은 정의, 검색어가 다른 뜻으로 쓰인 68건을 제외한 표본, 제목에 hybrid bonding이 들어간 467건 표본 등으로 다시 추정했습니다. 첫 번째와 세 번째 연구 질문의 핵심 결과는 모든 재추정에서 유지되었고, 두 번째 질문의 시간 추세는 2014년 이전 출원이 30건뿐인 hybrid bonding 표본을 제외하고 모두 유지되었습니다.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결과를 하나의 그림으로 정리하면 이렇습니다. 형성기에는 제조공정 발명이 단독으로 많이 출원되며 접합에 필요한 지식이 쌓였고, 확산기에는 두 영역의 지식이 하나의 발명 안에서 결합되며 통합형이 정점에 이르렀으며, 재편기에는 핵심 설계가 고착화되면서 결합의 중심이 다이 지지와 봉지 같은 주변 공정으로 옮겨 갔습니다. 이론에서 말씀드린 지식 융합, 기술 융합, 응용 융합의 흐름과 맞닿아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연구 결과를 종합해 보면, 첫째, 기술융합은 서로 다른 산업 사이뿐 아니라 한 산업의 공정 단계 사이에서도 개별 발명으로 나타났습니다. 둘째, 그 융합은 한 방향으로 쌓이지 않고 형성, 확산, 재편의 국면을 거쳤습니다. 셋째, 핵심 설계가 고착화되면서 융합의 중심이 핵심 기술에서 주변 공정으로 이동했습니다. 특히 재편기에 연결 역할을 한 기호가 공정 장치로 바뀐 것은, 공정 지식의 수렴이 공작기계라는 장비를 매개로 확산되었다는 Rosenberg의 관찰과도 맥을 같이합니다. 이것이 이 연구에서 가장 핵심이 되는 발견이라고 생각합니다.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결과는 산업 구조에도 시사점을 줍니다. 반도체 산업은 설계, 제조, 조립·테스트가 분리되며 발전했고, 이 분업은 두 단계 사이의 인터페이스가 안정적이라는 전제 위에 있었습니다. 하이브리드 본딩은 이 전제를 흔듭니다. Kapoor와 Adner가 보였듯이 생산의 경계와 지식의 경계는 다르고, 인터페이스가 흔들린 징후는 조직이나 산업 구조보다 먼저 두 단계의 지식을 함께 담은 발명으로 나타났습니다. 통합형 45.8%라는 결과가 그것입니다.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기업에 주는 시사점은 세 가지입니다. 첫째, 상당수의 출원이 제조공정과 접합 기술을 함께 담고 있다는 것은 접합 기술 역량만으로는 충분하지 않을 수 있다는 뜻입니다. 둘째, 재편기의 결합은 다이 지지와 봉지 공정으로 옮겨 갔습니다. 차세대 HBM에 하이브리드 본딩을 도입하려는 한국 메모리 산업에는 얇은 다이를 다루고 적층하는 공정 역량까지 필요할 수 있습니다. 셋째, 재편기에 접합과 제조공정을 잇는 기호가 공정 장치로 바뀐 것은 장비를 매개로 공정 지식이 확산된다는 Rosenberg의 관찰과 맥을 같이합니다. 장비를 통한 지식의 흐름에 주목할 필요가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연구에는 한계도 있습니다. 첫째, 공동분류는 융합의 대리측정치이고, CPC가 과거 출원까지 소급해 재분류될 수 있어 시간적 변화의 일부는 분류 체계의 변화를 반영했을 수 있습니다. 둘째, 제목 키워드로 검색했기 때문에 제목에 관련어가 없는 출원은 빠졌습니다. 셋째, 특허 패밀리 정보가 없어 같은 제목으로 중복을 근사했습니다. 넷째, 출원인이나 응용처 같은 변수가 없고, 결과는 인과관계가 아니라 조건부 연관입니다. 향후에는 출원인과 패밀리 정보를 결합하고, 디스플레이나 배터리처럼 하류 단계가 상류 역량에 의존하게 된 다른 공정기술과 비교하여 이 세 국면이 일반적인 현상인지 검증해 보고자 합니다.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한 문장으로 정리하겠습니다. 공정 단계 간 기술융합은 한 번 결합하고 멈추는 사건이 아니라, 핵심 설계의 고착화와 함께 그 중심이 핵심에서 주변으로 옮겨 가는 과정입니다. 그렇다면 다음 경쟁은 핵심 원리보다 주변 공정과의 결합에서 일어날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경청해 주셔서 감사합니다. 질문 주시면 성실히 답변드리겠습니다.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변수 정의를 묻는 질문에 쓰는 슬라이드입니다. 기술범위는 평균 5.69개이며, 통합형 7.89개, 접합 단독형 4.16개, 공정 단독형 3.15개입니다. 유형 최소치 조정 범위는 탐색적 강건성 지표로만 사용했습니다.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회귀 결과의 세부를 묻는 질문에 쓰는 슬라이드입니다. 이항 로짓의 AUC는 0.707로 수용 가능한 수준의 하단이며, 다항 로짓의 McFadden 의사 R²는 0.192입니다.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모형의 세부입니다. 두 상호작용의 결합 Wald 검정은 χ²(2) 26.43으로 유의합니다. 변화는 핵심 기술을 포함한 출원에서 비롯되었고, 핵심 기술이 없는 접합 출원의 통합형 비중은 오히려 높아졌습니다.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다항 로짓 재추정의 세부입니다. 군집 표준오차에서 유의성을 잃은 계수는 기술범위가 공정 단독형에 미치는 효과 하나뿐이며, 유형 최소치 조정 범위를 쓰면 통합형의 상대위험비는 1.262로 줄지만 방향은 유지됩니다.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기술 모형 재추정의 세부입니다. 2014년 이전 승산비가 1보다 크고, 2020–2024년 승산비가 1과 유의하게 다르지 않으며, 그 차이가 유의하게 1보다 작다는 결과는 일곱 가지 추정에서 모두 유지되었습니다. 가장 약한 경우는 무관 용법 제외 표본입니다.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본문(머리글)">
    <p:spTree>
      <p:nvGrpSpPr>
        <p:cNvPr id="1" name=""/>
        <p:cNvGrpSpPr/>
        <p:nvPr/>
      </p:nvGrpSpPr>
      <p:grpSpPr>
        <a:xfrm>
          <a:off x="0" y="0"/>
          <a:ext cx="0" cy="0"/>
          <a:chOff x="0" y="0"/>
          <a:chExt cx="0" cy="0"/>
        </a:xfrm>
      </p:grpSpPr>
      <p:sp>
        <p:nvSpPr>
          <p:cNvPr id="2" name="Title 1"/>
          <p:cNvSpPr>
            <a:spLocks noGrp="1"/>
          </p:cNvSpPr>
          <p:nvPr>
            <p:ph type="title"/>
          </p:nvPr>
        </p:nvSpPr>
        <p:spPr>
          <a:xfrm>
            <a:off x="576000" y="144000"/>
            <a:ext cx="9216000" cy="450000"/>
          </a:xfr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
        <p:nvSpPr>
          <p:cNvPr id="200" name="Header bar"/>
          <p:cNvSpPr/>
          <p:nvPr/>
        </p:nvSpPr>
        <p:spPr>
          <a:xfrm>
            <a:off x="432000" y="223200"/>
            <a:ext cx="46800" cy="295200"/>
          </a:xfrm>
          <a:prstGeom prst="rect">
            <a:avLst/>
          </a:prstGeom>
          <a:solidFill>
            <a:srgbClr val="13294B"/>
          </a:solidFill>
          <a:ln>
            <a:noFill/>
          </a:ln>
        </p:spPr>
        <p:txBody>
          <a:bodyPr rtlCol="0" anchor="ctr" lIns="36000" rIns="36000" tIns="36000" bIns="36000"/>
          <a:lstStyle/>
          <a:p>
            <a:pPr algn="ctr"/>
          </a:p>
        </p:txBody>
      </p:sp>
      <p:cxnSp>
        <p:nvCxnSpPr>
          <p:cNvPr id="201" name="Connector 2"/>
          <p:cNvCxnSpPr/>
          <p:nvPr/>
        </p:nvCxnSpPr>
        <p:spPr>
          <a:xfrm>
            <a:off x="0" y="691200"/>
            <a:ext cx="12192120" cy="0"/>
          </a:xfrm>
          <a:prstGeom prst="line">
            <a:avLst/>
          </a:prstGeom>
          <a:ln w="9525">
            <a:solidFill>
              <a:srgbClr val="D5DBE3"/>
            </a:solidFill>
          </a:ln>
        </p:spPr>
      </p:cxnSp>
      <p:sp>
        <p:nvSpPr>
          <p:cNvPr id="202" name="Footer"/>
          <p:cNvSpPr txBox="1"/>
          <p:nvPr/>
        </p:nvSpPr>
        <p:spPr>
          <a:xfrm>
            <a:off x="540000" y="6570000"/>
            <a:ext cx="432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이형규 · 석사학위논문 심사</a:t>
            </a:r>
          </a:p>
        </p:txBody>
      </p:sp>
      <p:sp>
        <p:nvSpPr>
          <p:cNvPr id="203" name="Page number"/>
          <p:cNvSpPr txBox="1"/>
          <p:nvPr/>
        </p:nvSpPr>
        <p:spPr>
          <a:xfrm>
            <a:off x="11016000" y="6570000"/>
            <a:ext cx="936000" cy="216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fld id="{B6F15528-21DE-4FAA-801E-634DDDAF4B2B}" type="slidenum">
              <a:rPr sz="1000" b="0" i="0" lang="ko-KR" altLang="en-US">
                <a:solidFill>
                  <a:srgbClr val="5B6475"/>
                </a:solidFill>
                <a:latin typeface="맑은 고딕"/>
                <a:ea typeface="맑은 고딕"/>
                <a:cs typeface="맑은 고딕"/>
              </a:rPr>
              <a:t>‹#›</a:t>
            </a:fld>
          </a:p>
        </p:txBody>
      </p:sp>
      <p:pic>
        <p:nvPicPr>
          <p:cNvPr id="204" name="Emblem" descr="emblem.png"/>
          <p:cNvPicPr>
            <a:picLocks noChangeAspect="1"/>
          </p:cNvPicPr>
          <p:nvPr/>
        </p:nvPicPr>
        <p:blipFill>
          <a:blip r:embed="rId2"/>
          <a:stretch>
            <a:fillRect/>
          </a:stretch>
        </p:blipFill>
        <p:spPr>
          <a:xfrm>
            <a:off x="11310120" y="115200"/>
            <a:ext cx="450000" cy="450000"/>
          </a:xfrm>
          <a:prstGeom prst="rect">
            <a:avLst/>
          </a:prstGeom>
        </p:spPr>
      </p:pic>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전체 이미지">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44000"/>
            <a:ext cx="9216000" cy="450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40000" y="936000"/>
            <a:ext cx="11112120" cy="50400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40000" y="6570000"/>
            <a:ext cx="2160000" cy="216000"/>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960000" y="6570000"/>
            <a:ext cx="4320000" cy="21600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016000" y="6570000"/>
            <a:ext cx="936000" cy="216000"/>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l" defTabSz="457200" rtl="0" eaLnBrk="1" latinLnBrk="0" hangingPunct="1">
        <a:spcBef>
          <a:spcPct val="0"/>
        </a:spcBef>
        <a:buNone/>
        <a:defRPr sz="2200" kern="1200" b="1">
          <a:solidFill>
            <a:schemeClr val="tx2"/>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hart" Target="../charts/char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chart" Target="../charts/char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chart" Target="../charts/char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4752000" y="0"/>
            <a:ext cx="7440120" cy="6858000"/>
          </a:xfrm>
          <a:prstGeom prst="rect">
            <a:avLst/>
          </a:prstGeom>
          <a:solidFill>
            <a:srgbClr val="060810">
              <a:alpha val="80000"/>
            </a:srgbClr>
          </a:solidFill>
          <a:ln>
            <a:noFill/>
          </a:ln>
        </p:spPr>
        <p:txBody>
          <a:bodyPr rtlCol="0" anchor="ctr" lIns="36000" rIns="36000" tIns="36000" bIns="36000"/>
          <a:lstStyle/>
          <a:p>
            <a:pPr algn="ctr"/>
          </a:p>
        </p:txBody>
      </p:sp>
      <p:sp>
        <p:nvSpPr>
          <p:cNvPr id="4" name="Rounded Rectangle 3"/>
          <p:cNvSpPr/>
          <p:nvPr/>
        </p:nvSpPr>
        <p:spPr>
          <a:xfrm>
            <a:off x="5400000" y="792000"/>
            <a:ext cx="2016000" cy="342000"/>
          </a:xfrm>
          <a:prstGeom prst="roundRect">
            <a:avLst>
              <a:gd name="adj" fmla="val 50000"/>
            </a:avLst>
          </a:prstGeom>
          <a:noFill/>
          <a:ln w="12700">
            <a:solidFill>
              <a:srgbClr val="C9A227"/>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C9A227"/>
                </a:solidFill>
                <a:latin typeface="맑은 고딕"/>
                <a:ea typeface="맑은 고딕"/>
                <a:cs typeface="맑은 고딕"/>
              </a:rPr>
              <a:t>석사학위논문 심사 발표</a:t>
            </a:r>
          </a:p>
        </p:txBody>
      </p:sp>
      <p:sp>
        <p:nvSpPr>
          <p:cNvPr id="5" name="TextBox 4"/>
          <p:cNvSpPr txBox="1"/>
          <p:nvPr/>
        </p:nvSpPr>
        <p:spPr>
          <a:xfrm>
            <a:off x="5400000" y="1332000"/>
            <a:ext cx="6336000" cy="1944000"/>
          </a:xfrm>
          <a:prstGeom prst="rect">
            <a:avLst/>
          </a:prstGeom>
          <a:noFill/>
        </p:spPr>
        <p:txBody>
          <a:bodyPr wrap="square" lIns="0" rIns="0" tIns="0" bIns="0" anchor="t">
            <a:noAutofit/>
          </a:bodyPr>
          <a:lstStyle/>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반도체 하이브리드 본딩의</a:t>
            </a:r>
          </a:p>
          <a:p>
            <a:pPr algn="l" marL="0" indent="0">
              <a:lnSpc>
                <a:spcPts val="4029"/>
              </a:lnSpc>
              <a:spcBef>
                <a:spcPts val="0"/>
              </a:spcBef>
              <a:spcAft>
                <a:spcPts val="0"/>
              </a:spcAft>
              <a:buNone/>
            </a:pPr>
            <a:r>
              <a:rPr sz="3200" b="1" i="0" lang="ko-KR" altLang="en-US">
                <a:solidFill>
                  <a:srgbClr val="C5B5FF"/>
                </a:solidFill>
                <a:latin typeface="맑은 고딕"/>
                <a:ea typeface="맑은 고딕"/>
                <a:cs typeface="맑은 고딕"/>
              </a:rPr>
              <a:t>공정 단계 간 기술융합</a:t>
            </a:r>
          </a:p>
          <a:p>
            <a:pPr algn="l" marL="0" indent="0">
              <a:lnSpc>
                <a:spcPts val="4029"/>
              </a:lnSpc>
              <a:spcBef>
                <a:spcPts val="0"/>
              </a:spcBef>
              <a:spcAft>
                <a:spcPts val="0"/>
              </a:spcAft>
              <a:buNone/>
            </a:pPr>
            <a:r>
              <a:rPr sz="3200" b="1" i="0" lang="ko-KR" altLang="en-US">
                <a:solidFill>
                  <a:srgbClr val="FFFFFF"/>
                </a:solidFill>
                <a:latin typeface="맑은 고딕"/>
                <a:ea typeface="맑은 고딕"/>
                <a:cs typeface="맑은 고딕"/>
              </a:rPr>
              <a:t>: 특허 기반 종단 분석</a:t>
            </a:r>
          </a:p>
        </p:txBody>
      </p:sp>
      <p:sp>
        <p:nvSpPr>
          <p:cNvPr id="6" name="TextBox 5"/>
          <p:cNvSpPr txBox="1"/>
          <p:nvPr/>
        </p:nvSpPr>
        <p:spPr>
          <a:xfrm>
            <a:off x="5400000" y="3330000"/>
            <a:ext cx="6264000" cy="576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1" lang="ko-KR" altLang="en-US">
                <a:solidFill>
                  <a:srgbClr val="B9C6DD"/>
                </a:solidFill>
                <a:latin typeface="맑은 고딕"/>
                <a:ea typeface="맑은 고딕"/>
                <a:cs typeface="맑은 고딕"/>
              </a:rPr>
              <a:t>Cross-Stage Technology Convergence in Semiconductor Hybrid Bonding: A Patent-Based Longitudinal Analysis</a:t>
            </a:r>
          </a:p>
        </p:txBody>
      </p:sp>
      <p:cxnSp>
        <p:nvCxnSpPr>
          <p:cNvPr id="7" name="Connector 6"/>
          <p:cNvCxnSpPr/>
          <p:nvPr/>
        </p:nvCxnSpPr>
        <p:spPr>
          <a:xfrm>
            <a:off x="5400000" y="4104000"/>
            <a:ext cx="6048000" cy="0"/>
          </a:xfrm>
          <a:prstGeom prst="line">
            <a:avLst/>
          </a:prstGeom>
          <a:ln w="12700">
            <a:solidFill>
              <a:srgbClr val="4A5670"/>
            </a:solidFill>
          </a:ln>
        </p:spPr>
      </p:cxnSp>
      <p:sp>
        <p:nvSpPr>
          <p:cNvPr id="8" name="TextBox 7"/>
          <p:cNvSpPr txBox="1"/>
          <p:nvPr/>
        </p:nvSpPr>
        <p:spPr>
          <a:xfrm>
            <a:off x="5400000" y="4248000"/>
            <a:ext cx="6264000" cy="1656000"/>
          </a:xfrm>
          <a:prstGeom prst="rect">
            <a:avLst/>
          </a:prstGeom>
          <a:noFill/>
        </p:spPr>
        <p:txBody>
          <a:bodyPr wrap="square" lIns="0" rIns="0" tIns="0" bIns="0" anchor="t">
            <a:noAutofit/>
          </a:bodyPr>
          <a:lstStyle/>
          <a:p>
            <a:pPr algn="l" marL="0" indent="0">
              <a:lnSpc>
                <a:spcPts val="2640"/>
              </a:lnSpc>
              <a:spcBef>
                <a:spcPts val="0"/>
              </a:spcBef>
              <a:spcAft>
                <a:spcPts val="600"/>
              </a:spcAft>
              <a:buNone/>
            </a:pPr>
            <a:r>
              <a:rPr sz="2200" b="1" i="0" lang="ko-KR" altLang="en-US">
                <a:solidFill>
                  <a:srgbClr val="FFFFFF"/>
                </a:solidFill>
                <a:latin typeface="맑은 고딕"/>
                <a:ea typeface="맑은 고딕"/>
                <a:cs typeface="맑은 고딕"/>
              </a:rPr>
              <a:t>이형규</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한양대학교 기술경영전문대학원 기술경영학과</a:t>
            </a:r>
          </a:p>
          <a:p>
            <a:pPr algn="l" marL="0" indent="0">
              <a:lnSpc>
                <a:spcPts val="1680"/>
              </a:lnSpc>
              <a:spcBef>
                <a:spcPts val="0"/>
              </a:spcBef>
              <a:spcAft>
                <a:spcPts val="300"/>
              </a:spcAft>
              <a:buNone/>
            </a:pPr>
            <a:r>
              <a:rPr sz="1400" b="0" i="0" lang="ko-KR" altLang="en-US">
                <a:solidFill>
                  <a:srgbClr val="DCE3EE"/>
                </a:solidFill>
                <a:latin typeface="맑은 고딕"/>
                <a:ea typeface="맑은 고딕"/>
                <a:cs typeface="맑은 고딕"/>
              </a:rPr>
              <a:t>지도교수  강민구</a:t>
            </a:r>
          </a:p>
          <a:p>
            <a:pPr algn="l" marL="0" indent="0">
              <a:lnSpc>
                <a:spcPts val="1680"/>
              </a:lnSpc>
              <a:spcBef>
                <a:spcPts val="0"/>
              </a:spcBef>
              <a:spcAft>
                <a:spcPts val="0"/>
              </a:spcAft>
              <a:buNone/>
            </a:pPr>
            <a:r>
              <a:rPr sz="1400" b="0" i="0" lang="ko-KR" altLang="en-US">
                <a:solidFill>
                  <a:srgbClr val="DCE3EE"/>
                </a:solidFill>
                <a:latin typeface="맑은 고딕"/>
                <a:ea typeface="맑은 고딕"/>
                <a:cs typeface="맑은 고딕"/>
              </a:rPr>
              <a:t>2026년 11월</a:t>
            </a:r>
          </a:p>
        </p:txBody>
      </p:sp>
      <p:pic>
        <p:nvPicPr>
          <p:cNvPr id="9" name="Picture 8" descr="emblem.png"/>
          <p:cNvPicPr>
            <a:picLocks noChangeAspect="1"/>
          </p:cNvPicPr>
          <p:nvPr/>
        </p:nvPicPr>
        <p:blipFill>
          <a:blip r:embed="rId4"/>
          <a:stretch>
            <a:fillRect/>
          </a:stretch>
        </p:blipFill>
        <p:spPr>
          <a:xfrm>
            <a:off x="11148120" y="5814000"/>
            <a:ext cx="576000" cy="57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Contents</a:t>
            </a:r>
          </a:p>
        </p:txBody>
      </p:sp>
      <p:sp>
        <p:nvSpPr>
          <p:cNvPr id="3" name="Rounded Rectangle 2"/>
          <p:cNvSpPr/>
          <p:nvPr/>
        </p:nvSpPr>
        <p:spPr>
          <a:xfrm>
            <a:off x="5376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5376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01</a:t>
            </a:r>
          </a:p>
        </p:txBody>
      </p:sp>
      <p:sp>
        <p:nvSpPr>
          <p:cNvPr id="5" name="Oval 4"/>
          <p:cNvSpPr/>
          <p:nvPr/>
        </p:nvSpPr>
        <p:spPr>
          <a:xfrm>
            <a:off x="11136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6" name="Picture 5" descr="FaLightbulb_FFFFFF.png"/>
          <p:cNvPicPr>
            <a:picLocks noChangeAspect="1"/>
          </p:cNvPicPr>
          <p:nvPr/>
        </p:nvPicPr>
        <p:blipFill>
          <a:blip r:embed="rId3"/>
          <a:stretch>
            <a:fillRect/>
          </a:stretch>
        </p:blipFill>
        <p:spPr>
          <a:xfrm>
            <a:off x="1329660" y="2700000"/>
            <a:ext cx="432000" cy="432000"/>
          </a:xfrm>
          <a:prstGeom prst="rect">
            <a:avLst/>
          </a:prstGeom>
        </p:spPr>
      </p:pic>
      <p:sp>
        <p:nvSpPr>
          <p:cNvPr id="7" name="TextBox 6"/>
          <p:cNvSpPr txBox="1"/>
          <p:nvPr/>
        </p:nvSpPr>
        <p:spPr>
          <a:xfrm>
            <a:off x="6456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서론</a:t>
            </a:r>
          </a:p>
        </p:txBody>
      </p:sp>
      <p:sp>
        <p:nvSpPr>
          <p:cNvPr id="8" name="TextBox 7"/>
          <p:cNvSpPr txBox="1"/>
          <p:nvPr/>
        </p:nvSpPr>
        <p:spPr>
          <a:xfrm>
            <a:off x="6456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Introduction</a:t>
            </a:r>
          </a:p>
        </p:txBody>
      </p:sp>
      <p:sp>
        <p:nvSpPr>
          <p:cNvPr id="9" name="Rounded Rectangle 8"/>
          <p:cNvSpPr/>
          <p:nvPr/>
        </p:nvSpPr>
        <p:spPr>
          <a:xfrm>
            <a:off x="28128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28128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02</a:t>
            </a:r>
          </a:p>
        </p:txBody>
      </p:sp>
      <p:sp>
        <p:nvSpPr>
          <p:cNvPr id="11" name="Oval 10"/>
          <p:cNvSpPr/>
          <p:nvPr/>
        </p:nvSpPr>
        <p:spPr>
          <a:xfrm>
            <a:off x="33888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2" name="Picture 11" descr="FaBookOpen_FFFFFF.png"/>
          <p:cNvPicPr>
            <a:picLocks noChangeAspect="1"/>
          </p:cNvPicPr>
          <p:nvPr/>
        </p:nvPicPr>
        <p:blipFill>
          <a:blip r:embed="rId4"/>
          <a:stretch>
            <a:fillRect/>
          </a:stretch>
        </p:blipFill>
        <p:spPr>
          <a:xfrm>
            <a:off x="3604860" y="2700000"/>
            <a:ext cx="432000" cy="432000"/>
          </a:xfrm>
          <a:prstGeom prst="rect">
            <a:avLst/>
          </a:prstGeom>
        </p:spPr>
      </p:pic>
      <p:sp>
        <p:nvSpPr>
          <p:cNvPr id="13" name="TextBox 12"/>
          <p:cNvSpPr txBox="1"/>
          <p:nvPr/>
        </p:nvSpPr>
        <p:spPr>
          <a:xfrm>
            <a:off x="29208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이론적 배경</a:t>
            </a:r>
          </a:p>
        </p:txBody>
      </p:sp>
      <p:sp>
        <p:nvSpPr>
          <p:cNvPr id="14" name="TextBox 13"/>
          <p:cNvSpPr txBox="1"/>
          <p:nvPr/>
        </p:nvSpPr>
        <p:spPr>
          <a:xfrm>
            <a:off x="29208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Theoretical Background</a:t>
            </a:r>
          </a:p>
        </p:txBody>
      </p:sp>
      <p:sp>
        <p:nvSpPr>
          <p:cNvPr id="15" name="Rounded Rectangle 14"/>
          <p:cNvSpPr/>
          <p:nvPr/>
        </p:nvSpPr>
        <p:spPr>
          <a:xfrm>
            <a:off x="50880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50880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03</a:t>
            </a:r>
          </a:p>
        </p:txBody>
      </p:sp>
      <p:sp>
        <p:nvSpPr>
          <p:cNvPr id="17" name="Oval 16"/>
          <p:cNvSpPr/>
          <p:nvPr/>
        </p:nvSpPr>
        <p:spPr>
          <a:xfrm>
            <a:off x="56640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18" name="Picture 17" descr="FaMagnifyingGlass_FFFFFF.png"/>
          <p:cNvPicPr>
            <a:picLocks noChangeAspect="1"/>
          </p:cNvPicPr>
          <p:nvPr/>
        </p:nvPicPr>
        <p:blipFill>
          <a:blip r:embed="rId5"/>
          <a:stretch>
            <a:fillRect/>
          </a:stretch>
        </p:blipFill>
        <p:spPr>
          <a:xfrm>
            <a:off x="5880060" y="2700000"/>
            <a:ext cx="432000" cy="432000"/>
          </a:xfrm>
          <a:prstGeom prst="rect">
            <a:avLst/>
          </a:prstGeom>
        </p:spPr>
      </p:pic>
      <p:sp>
        <p:nvSpPr>
          <p:cNvPr id="19" name="TextBox 18"/>
          <p:cNvSpPr txBox="1"/>
          <p:nvPr/>
        </p:nvSpPr>
        <p:spPr>
          <a:xfrm>
            <a:off x="51960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질문 및</a:t>
            </a:r>
          </a:p>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방법</a:t>
            </a:r>
          </a:p>
        </p:txBody>
      </p:sp>
      <p:sp>
        <p:nvSpPr>
          <p:cNvPr id="20" name="TextBox 19"/>
          <p:cNvSpPr txBox="1"/>
          <p:nvPr/>
        </p:nvSpPr>
        <p:spPr>
          <a:xfrm>
            <a:off x="51960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Research Questions &amp; Methods</a:t>
            </a:r>
          </a:p>
        </p:txBody>
      </p:sp>
      <p:sp>
        <p:nvSpPr>
          <p:cNvPr id="21" name="Rounded Rectangle 20"/>
          <p:cNvSpPr/>
          <p:nvPr/>
        </p:nvSpPr>
        <p:spPr>
          <a:xfrm>
            <a:off x="73632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73632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04</a:t>
            </a:r>
          </a:p>
        </p:txBody>
      </p:sp>
      <p:sp>
        <p:nvSpPr>
          <p:cNvPr id="23" name="Oval 22"/>
          <p:cNvSpPr/>
          <p:nvPr/>
        </p:nvSpPr>
        <p:spPr>
          <a:xfrm>
            <a:off x="79392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24" name="Picture 23" descr="FaChartLine_FFFFFF.png"/>
          <p:cNvPicPr>
            <a:picLocks noChangeAspect="1"/>
          </p:cNvPicPr>
          <p:nvPr/>
        </p:nvPicPr>
        <p:blipFill>
          <a:blip r:embed="rId6"/>
          <a:stretch>
            <a:fillRect/>
          </a:stretch>
        </p:blipFill>
        <p:spPr>
          <a:xfrm>
            <a:off x="8155260" y="2700000"/>
            <a:ext cx="432000" cy="432000"/>
          </a:xfrm>
          <a:prstGeom prst="rect">
            <a:avLst/>
          </a:prstGeom>
        </p:spPr>
      </p:pic>
      <p:sp>
        <p:nvSpPr>
          <p:cNvPr id="25" name="TextBox 24"/>
          <p:cNvSpPr txBox="1"/>
          <p:nvPr/>
        </p:nvSpPr>
        <p:spPr>
          <a:xfrm>
            <a:off x="74712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연구 결과</a:t>
            </a:r>
          </a:p>
        </p:txBody>
      </p:sp>
      <p:sp>
        <p:nvSpPr>
          <p:cNvPr id="26" name="TextBox 25"/>
          <p:cNvSpPr txBox="1"/>
          <p:nvPr/>
        </p:nvSpPr>
        <p:spPr>
          <a:xfrm>
            <a:off x="74712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Results</a:t>
            </a:r>
          </a:p>
        </p:txBody>
      </p:sp>
      <p:sp>
        <p:nvSpPr>
          <p:cNvPr id="27" name="Rounded Rectangle 26"/>
          <p:cNvSpPr/>
          <p:nvPr/>
        </p:nvSpPr>
        <p:spPr>
          <a:xfrm>
            <a:off x="9638460" y="1404000"/>
            <a:ext cx="2016000" cy="410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TextBox 27"/>
          <p:cNvSpPr txBox="1"/>
          <p:nvPr/>
        </p:nvSpPr>
        <p:spPr>
          <a:xfrm>
            <a:off x="9638460" y="1656000"/>
            <a:ext cx="2016000" cy="576000"/>
          </a:xfrm>
          <a:prstGeom prst="rect">
            <a:avLst/>
          </a:prstGeom>
          <a:noFill/>
        </p:spPr>
        <p:txBody>
          <a:bodyPr wrap="square" lIns="0" rIns="0" tIns="0" bIns="0" anchor="ctr">
            <a:noAutofit/>
          </a:bodyPr>
          <a:lstStyle/>
          <a:p>
            <a:pPr algn="ctr" marL="0" indent="0">
              <a:lnSpc>
                <a:spcPts val="4320"/>
              </a:lnSpc>
              <a:spcBef>
                <a:spcPts val="0"/>
              </a:spcBef>
              <a:spcAft>
                <a:spcPts val="0"/>
              </a:spcAft>
              <a:buNone/>
            </a:pPr>
            <a:r>
              <a:rPr sz="3600" b="1" i="0" lang="ko-KR" altLang="en-US">
                <a:solidFill>
                  <a:srgbClr val="13294B"/>
                </a:solidFill>
                <a:latin typeface="맑은 고딕"/>
                <a:ea typeface="맑은 고딕"/>
                <a:cs typeface="맑은 고딕"/>
              </a:rPr>
              <a:t>05</a:t>
            </a:r>
          </a:p>
        </p:txBody>
      </p:sp>
      <p:sp>
        <p:nvSpPr>
          <p:cNvPr id="29" name="Oval 28"/>
          <p:cNvSpPr/>
          <p:nvPr/>
        </p:nvSpPr>
        <p:spPr>
          <a:xfrm>
            <a:off x="10214460" y="2484000"/>
            <a:ext cx="864000" cy="864000"/>
          </a:xfrm>
          <a:prstGeom prst="ellipse">
            <a:avLst/>
          </a:prstGeom>
          <a:solidFill>
            <a:srgbClr val="13294B"/>
          </a:solidFill>
          <a:ln>
            <a:noFill/>
          </a:ln>
        </p:spPr>
        <p:txBody>
          <a:bodyPr rtlCol="0" anchor="ctr" lIns="36000" rIns="36000" tIns="36000" bIns="36000"/>
          <a:lstStyle/>
          <a:p>
            <a:pPr algn="ctr"/>
          </a:p>
        </p:txBody>
      </p:sp>
      <p:pic>
        <p:nvPicPr>
          <p:cNvPr id="30" name="Picture 29" descr="FaBullseye_FFFFFF.png"/>
          <p:cNvPicPr>
            <a:picLocks noChangeAspect="1"/>
          </p:cNvPicPr>
          <p:nvPr/>
        </p:nvPicPr>
        <p:blipFill>
          <a:blip r:embed="rId7"/>
          <a:stretch>
            <a:fillRect/>
          </a:stretch>
        </p:blipFill>
        <p:spPr>
          <a:xfrm>
            <a:off x="10430460" y="2700000"/>
            <a:ext cx="432000" cy="432000"/>
          </a:xfrm>
          <a:prstGeom prst="rect">
            <a:avLst/>
          </a:prstGeom>
        </p:spPr>
      </p:pic>
      <p:sp>
        <p:nvSpPr>
          <p:cNvPr id="31" name="TextBox 30"/>
          <p:cNvSpPr txBox="1"/>
          <p:nvPr/>
        </p:nvSpPr>
        <p:spPr>
          <a:xfrm>
            <a:off x="9746460" y="3600000"/>
            <a:ext cx="1800000" cy="864000"/>
          </a:xfrm>
          <a:prstGeom prst="rect">
            <a:avLst/>
          </a:prstGeom>
          <a:noFill/>
        </p:spPr>
        <p:txBody>
          <a:bodyPr wrap="square" lIns="0" rIns="0" tIns="0" bIns="0" anchor="ctr">
            <a:noAutofit/>
          </a:bodyPr>
          <a:lstStyle/>
          <a:p>
            <a:pPr algn="ctr" marL="0" indent="0">
              <a:lnSpc>
                <a:spcPts val="2140"/>
              </a:lnSpc>
              <a:spcBef>
                <a:spcPts val="0"/>
              </a:spcBef>
              <a:spcAft>
                <a:spcPts val="0"/>
              </a:spcAft>
              <a:buNone/>
            </a:pPr>
            <a:r>
              <a:rPr sz="1700" b="1" i="0" lang="ko-KR" altLang="en-US">
                <a:solidFill>
                  <a:srgbClr val="13294B"/>
                </a:solidFill>
                <a:latin typeface="맑은 고딕"/>
                <a:ea typeface="맑은 고딕"/>
                <a:cs typeface="맑은 고딕"/>
              </a:rPr>
              <a:t>결론</a:t>
            </a:r>
          </a:p>
        </p:txBody>
      </p:sp>
      <p:sp>
        <p:nvSpPr>
          <p:cNvPr id="32" name="TextBox 31"/>
          <p:cNvSpPr txBox="1"/>
          <p:nvPr/>
        </p:nvSpPr>
        <p:spPr>
          <a:xfrm>
            <a:off x="9746460" y="4536000"/>
            <a:ext cx="1800000" cy="576000"/>
          </a:xfrm>
          <a:prstGeom prst="rect">
            <a:avLst/>
          </a:prstGeom>
          <a:noFill/>
        </p:spPr>
        <p:txBody>
          <a:bodyPr wrap="square" lIns="0" rIns="0" tIns="0" bIns="0" anchor="t">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핵심 요약</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경계를 넘는 발명은 예외가 아니었고, 한 방향으로 쌓이지 않았으며, 그 중심은 핵심에서 주변으로 옮겨 갔다</a:t>
            </a:r>
          </a:p>
        </p:txBody>
      </p:sp>
      <p:sp>
        <p:nvSpPr>
          <p:cNvPr id="4" name="Rounded Rectangle 3"/>
          <p:cNvSpPr/>
          <p:nvPr/>
        </p:nvSpPr>
        <p:spPr>
          <a:xfrm>
            <a:off x="540000" y="954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Rounded Rectangle 4"/>
          <p:cNvSpPr/>
          <p:nvPr/>
        </p:nvSpPr>
        <p:spPr>
          <a:xfrm>
            <a:off x="720000" y="1116000"/>
            <a:ext cx="684000" cy="34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RQ1</a:t>
            </a:r>
          </a:p>
        </p:txBody>
      </p:sp>
      <p:sp>
        <p:nvSpPr>
          <p:cNvPr id="6" name="TextBox 5"/>
          <p:cNvSpPr txBox="1"/>
          <p:nvPr/>
        </p:nvSpPr>
        <p:spPr>
          <a:xfrm>
            <a:off x="1530000" y="1098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경계를 넘는 발명은 예외가 아니다</a:t>
            </a:r>
          </a:p>
        </p:txBody>
      </p:sp>
      <p:sp>
        <p:nvSpPr>
          <p:cNvPr id="7" name="TextBox 6"/>
          <p:cNvSpPr txBox="1"/>
          <p:nvPr/>
        </p:nvSpPr>
        <p:spPr>
          <a:xfrm>
            <a:off x="756000" y="1566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통합형 45.8%</a:t>
            </a:r>
            <a:r>
              <a:rPr sz="1550" b="0" i="0" lang="ko-KR" altLang="en-US">
                <a:solidFill>
                  <a:srgbClr val="5B6475"/>
                </a:solidFill>
                <a:latin typeface="맑은 고딕"/>
                <a:ea typeface="맑은 고딕"/>
                <a:cs typeface="맑은 고딕"/>
              </a:rPr>
              <a:t> (좁은 정의 37.2%)</a:t>
            </a:r>
          </a:p>
        </p:txBody>
      </p:sp>
      <p:sp>
        <p:nvSpPr>
          <p:cNvPr id="8" name="TextBox 7"/>
          <p:cNvSpPr txBox="1"/>
          <p:nvPr/>
        </p:nvSpPr>
        <p:spPr>
          <a:xfrm>
            <a:off x="756000" y="1962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세부 기술을 다양하게 포함한 출원일수록 통합형일 가능성이 높음</a:t>
            </a:r>
          </a:p>
        </p:txBody>
      </p:sp>
      <p:sp>
        <p:nvSpPr>
          <p:cNvPr id="9" name="Rounded Rectangle 8"/>
          <p:cNvSpPr/>
          <p:nvPr/>
        </p:nvSpPr>
        <p:spPr>
          <a:xfrm>
            <a:off x="540000" y="2628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Rounded Rectangle 9"/>
          <p:cNvSpPr/>
          <p:nvPr/>
        </p:nvSpPr>
        <p:spPr>
          <a:xfrm>
            <a:off x="720000" y="2790000"/>
            <a:ext cx="684000" cy="342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RQ2</a:t>
            </a:r>
          </a:p>
        </p:txBody>
      </p:sp>
      <p:sp>
        <p:nvSpPr>
          <p:cNvPr id="11" name="TextBox 10"/>
          <p:cNvSpPr txBox="1"/>
          <p:nvPr/>
        </p:nvSpPr>
        <p:spPr>
          <a:xfrm>
            <a:off x="1530000" y="2772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융합은 세 국면을 거쳤다</a:t>
            </a:r>
          </a:p>
        </p:txBody>
      </p:sp>
      <p:sp>
        <p:nvSpPr>
          <p:cNvPr id="12" name="TextBox 11"/>
          <p:cNvSpPr txBox="1"/>
          <p:nvPr/>
        </p:nvSpPr>
        <p:spPr>
          <a:xfrm>
            <a:off x="756000" y="3240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공정 단독형 43.6% → 통합형 62.2% → 접합 단독형 45.4%</a:t>
            </a:r>
          </a:p>
        </p:txBody>
      </p:sp>
      <p:sp>
        <p:nvSpPr>
          <p:cNvPr id="13" name="TextBox 12"/>
          <p:cNvSpPr txBox="1"/>
          <p:nvPr/>
        </p:nvSpPr>
        <p:spPr>
          <a:xfrm>
            <a:off x="756000" y="3636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형성기(–2014) → 확산기(2015–2019) → 재편기(2020–2024)</a:t>
            </a:r>
          </a:p>
        </p:txBody>
      </p:sp>
      <p:sp>
        <p:nvSpPr>
          <p:cNvPr id="14" name="Rounded Rectangle 13"/>
          <p:cNvSpPr/>
          <p:nvPr/>
        </p:nvSpPr>
        <p:spPr>
          <a:xfrm>
            <a:off x="540000" y="4302000"/>
            <a:ext cx="6624000" cy="153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Rounded Rectangle 14"/>
          <p:cNvSpPr/>
          <p:nvPr/>
        </p:nvSpPr>
        <p:spPr>
          <a:xfrm>
            <a:off x="720000" y="4464000"/>
            <a:ext cx="684000" cy="342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RQ3</a:t>
            </a:r>
          </a:p>
        </p:txBody>
      </p:sp>
      <p:sp>
        <p:nvSpPr>
          <p:cNvPr id="16" name="TextBox 15"/>
          <p:cNvSpPr txBox="1"/>
          <p:nvPr/>
        </p:nvSpPr>
        <p:spPr>
          <a:xfrm>
            <a:off x="1530000" y="4446000"/>
            <a:ext cx="5472000" cy="37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융합의 중심이 주변으로 옮겨 갔다</a:t>
            </a:r>
          </a:p>
        </p:txBody>
      </p:sp>
      <p:sp>
        <p:nvSpPr>
          <p:cNvPr id="17" name="TextBox 16"/>
          <p:cNvSpPr txBox="1"/>
          <p:nvPr/>
        </p:nvSpPr>
        <p:spPr>
          <a:xfrm>
            <a:off x="756000" y="4914000"/>
            <a:ext cx="6192000" cy="396000"/>
          </a:xfrm>
          <a:prstGeom prst="rect">
            <a:avLst/>
          </a:prstGeom>
          <a:noFill/>
        </p:spPr>
        <p:txBody>
          <a:bodyPr wrap="square" lIns="0" rIns="0" tIns="0" bIns="0" anchor="ctr">
            <a:noAutofit/>
          </a:bodyPr>
          <a:lstStyle/>
          <a:p>
            <a:pPr algn="l" marL="0" indent="0">
              <a:lnSpc>
                <a:spcPts val="1860"/>
              </a:lnSpc>
              <a:spcBef>
                <a:spcPts val="0"/>
              </a:spcBef>
              <a:spcAft>
                <a:spcPts val="0"/>
              </a:spcAft>
              <a:buNone/>
            </a:pPr>
            <a:r>
              <a:rPr sz="1550" b="1" i="0" lang="ko-KR" altLang="en-US">
                <a:solidFill>
                  <a:srgbClr val="13294B"/>
                </a:solidFill>
                <a:latin typeface="맑은 고딕"/>
                <a:ea typeface="맑은 고딕"/>
                <a:cs typeface="맑은 고딕"/>
              </a:rPr>
              <a:t>핵심 기술의 승산비 11.1 → 2.5 → 비유의</a:t>
            </a:r>
          </a:p>
        </p:txBody>
      </p:sp>
      <p:sp>
        <p:nvSpPr>
          <p:cNvPr id="18" name="TextBox 17"/>
          <p:cNvSpPr txBox="1"/>
          <p:nvPr/>
        </p:nvSpPr>
        <p:spPr>
          <a:xfrm>
            <a:off x="756000" y="5310000"/>
            <a:ext cx="6192000" cy="360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결합 중심: 웨이퍼 제조공정 → 공정 장치 · 패키징 단계 공정</a:t>
            </a:r>
          </a:p>
        </p:txBody>
      </p:sp>
      <p:sp>
        <p:nvSpPr>
          <p:cNvPr id="19" name="Rounded Rectangle 18"/>
          <p:cNvSpPr/>
          <p:nvPr/>
        </p:nvSpPr>
        <p:spPr>
          <a:xfrm>
            <a:off x="7452000" y="954000"/>
            <a:ext cx="4200120" cy="4878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20" name="Oval 19"/>
          <p:cNvSpPr/>
          <p:nvPr/>
        </p:nvSpPr>
        <p:spPr>
          <a:xfrm>
            <a:off x="7776000" y="1656000"/>
            <a:ext cx="2232000" cy="2232000"/>
          </a:xfrm>
          <a:prstGeom prst="ellipse">
            <a:avLst/>
          </a:prstGeom>
          <a:solidFill>
            <a:srgbClr val="2563C9">
              <a:alpha val="22000"/>
            </a:srgbClr>
          </a:solidFill>
          <a:ln w="19050">
            <a:solidFill>
              <a:srgbClr val="2563C9"/>
            </a:solidFill>
          </a:ln>
        </p:spPr>
        <p:txBody>
          <a:bodyPr rtlCol="0" anchor="ctr" lIns="36000" rIns="36000" tIns="36000" bIns="36000"/>
          <a:lstStyle/>
          <a:p>
            <a:pPr algn="ctr"/>
          </a:p>
        </p:txBody>
      </p:sp>
      <p:sp>
        <p:nvSpPr>
          <p:cNvPr id="21" name="Oval 20"/>
          <p:cNvSpPr/>
          <p:nvPr/>
        </p:nvSpPr>
        <p:spPr>
          <a:xfrm>
            <a:off x="9180000" y="1656000"/>
            <a:ext cx="2232000" cy="2232000"/>
          </a:xfrm>
          <a:prstGeom prst="ellipse">
            <a:avLst/>
          </a:prstGeom>
          <a:solidFill>
            <a:srgbClr val="EA7A28">
              <a:alpha val="22000"/>
            </a:srgbClr>
          </a:solidFill>
          <a:ln w="19050">
            <a:solidFill>
              <a:srgbClr val="EA7A28"/>
            </a:solidFill>
          </a:ln>
        </p:spPr>
        <p:txBody>
          <a:bodyPr rtlCol="0" anchor="ctr" lIns="36000" rIns="36000" tIns="36000" bIns="36000"/>
          <a:lstStyle/>
          <a:p>
            <a:pPr algn="ctr"/>
          </a:p>
        </p:txBody>
      </p:sp>
      <p:sp>
        <p:nvSpPr>
          <p:cNvPr id="22" name="TextBox 21"/>
          <p:cNvSpPr txBox="1"/>
          <p:nvPr/>
        </p:nvSpPr>
        <p:spPr>
          <a:xfrm>
            <a:off x="7884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H01L21</a:t>
            </a:r>
          </a:p>
        </p:txBody>
      </p:sp>
      <p:sp>
        <p:nvSpPr>
          <p:cNvPr id="23" name="TextBox 22"/>
          <p:cNvSpPr txBox="1"/>
          <p:nvPr/>
        </p:nvSpPr>
        <p:spPr>
          <a:xfrm>
            <a:off x="10116000" y="2340000"/>
            <a:ext cx="1188000" cy="86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후공정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접합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H01L24</a:t>
            </a:r>
          </a:p>
        </p:txBody>
      </p:sp>
      <p:sp>
        <p:nvSpPr>
          <p:cNvPr id="24" name="Rounded Rectangle 23"/>
          <p:cNvSpPr/>
          <p:nvPr/>
        </p:nvSpPr>
        <p:spPr>
          <a:xfrm>
            <a:off x="9036000" y="2574000"/>
            <a:ext cx="1116000" cy="396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통합형</a:t>
            </a:r>
          </a:p>
        </p:txBody>
      </p:sp>
      <p:sp>
        <p:nvSpPr>
          <p:cNvPr id="25" name="Oval 24"/>
          <p:cNvSpPr/>
          <p:nvPr/>
        </p:nvSpPr>
        <p:spPr>
          <a:xfrm>
            <a:off x="10392120" y="4356000"/>
            <a:ext cx="936000" cy="936000"/>
          </a:xfrm>
          <a:prstGeom prst="ellipse">
            <a:avLst/>
          </a:prstGeom>
          <a:solidFill>
            <a:srgbClr val="10A39A">
              <a:alpha val="85000"/>
            </a:srgbClr>
          </a:solidFill>
          <a:ln>
            <a:noFill/>
          </a:ln>
        </p:spPr>
        <p:txBody>
          <a:bodyPr rtlCol="0" anchor="ctr" lIns="36000" rIns="36000" tIns="36000" bIns="36000"/>
          <a:lstStyle/>
          <a:p>
            <a:pPr algn="ctr"/>
          </a:p>
        </p:txBody>
      </p:sp>
      <p:sp>
        <p:nvSpPr>
          <p:cNvPr id="26" name="TextBox 25"/>
          <p:cNvSpPr txBox="1"/>
          <p:nvPr/>
        </p:nvSpPr>
        <p:spPr>
          <a:xfrm>
            <a:off x="10248120" y="4500000"/>
            <a:ext cx="1224000" cy="648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주변</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공정</a:t>
            </a:r>
          </a:p>
        </p:txBody>
      </p:sp>
      <p:cxnSp>
        <p:nvCxnSpPr>
          <p:cNvPr id="27" name="Connector 26"/>
          <p:cNvCxnSpPr/>
          <p:nvPr/>
        </p:nvCxnSpPr>
        <p:spPr>
          <a:xfrm>
            <a:off x="9882000" y="3816000"/>
            <a:ext cx="582120" cy="900000"/>
          </a:xfrm>
          <a:prstGeom prst="line">
            <a:avLst/>
          </a:prstGeom>
          <a:ln w="38100">
            <a:solidFill>
              <a:srgbClr val="10A39A"/>
            </a:solidFill>
            <a:tailEnd type="triangle" w="med" len="med"/>
          </a:ln>
        </p:spPr>
      </p:cxnSp>
      <p:sp>
        <p:nvSpPr>
          <p:cNvPr id="28" name="TextBox 27"/>
          <p:cNvSpPr txBox="1"/>
          <p:nvPr/>
        </p:nvSpPr>
        <p:spPr>
          <a:xfrm>
            <a:off x="7668000" y="4284000"/>
            <a:ext cx="2508120" cy="1152000"/>
          </a:xfrm>
          <a:prstGeom prst="rect">
            <a:avLst/>
          </a:prstGeom>
          <a:noFill/>
        </p:spPr>
        <p:txBody>
          <a:bodyPr wrap="square" lIns="0" rIns="0" tIns="0" bIns="0" anchor="ctr">
            <a:noAutofit/>
          </a:bodyPr>
          <a:lstStyle/>
          <a:p>
            <a:pPr algn="l" marL="0" indent="0">
              <a:lnSpc>
                <a:spcPts val="1560"/>
              </a:lnSpc>
              <a:spcBef>
                <a:spcPts val="0"/>
              </a:spcBef>
              <a:spcAft>
                <a:spcPts val="300"/>
              </a:spcAft>
              <a:buNone/>
            </a:pPr>
            <a:r>
              <a:rPr sz="1300" b="1" i="0" lang="ko-KR" altLang="en-US">
                <a:solidFill>
                  <a:srgbClr val="10A39A"/>
                </a:solidFill>
                <a:latin typeface="맑은 고딕"/>
                <a:ea typeface="맑은 고딕"/>
                <a:cs typeface="맑은 고딕"/>
              </a:rPr>
              <a:t>재편기</a:t>
            </a:r>
          </a:p>
          <a:p>
            <a:pPr algn="l" marL="0" indent="0">
              <a:lnSpc>
                <a:spcPts val="1500"/>
              </a:lnSpc>
              <a:spcBef>
                <a:spcPts val="0"/>
              </a:spcBef>
              <a:spcAft>
                <a:spcPts val="200"/>
              </a:spcAft>
              <a:buNone/>
            </a:pPr>
            <a:r>
              <a:rPr sz="1250" b="1" i="0" lang="ko-KR" altLang="en-US">
                <a:solidFill>
                  <a:srgbClr val="1E2532"/>
                </a:solidFill>
                <a:latin typeface="맑은 고딕"/>
                <a:ea typeface="맑은 고딕"/>
                <a:cs typeface="맑은 고딕"/>
              </a:rPr>
              <a:t>다이 지지 · 봉지 공정</a:t>
            </a:r>
          </a:p>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공정 장치가 연결의 중심으로</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더 높이, 더 촘촘히 쌓기 위한 연결 기술: 하이브리드 본딩</a:t>
            </a:r>
          </a:p>
        </p:txBody>
      </p:sp>
      <p:sp>
        <p:nvSpPr>
          <p:cNvPr id="4" name="Rounded Rectangle 3"/>
          <p:cNvSpPr/>
          <p:nvPr/>
        </p:nvSpPr>
        <p:spPr>
          <a:xfrm>
            <a:off x="900000" y="972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116000" y="1242000"/>
            <a:ext cx="936000" cy="936000"/>
          </a:xfrm>
          <a:prstGeom prst="ellipse">
            <a:avLst/>
          </a:prstGeom>
          <a:solidFill>
            <a:srgbClr val="13294B"/>
          </a:solidFill>
          <a:ln>
            <a:noFill/>
          </a:ln>
        </p:spPr>
        <p:txBody>
          <a:bodyPr rtlCol="0" anchor="ctr" lIns="36000" rIns="36000" tIns="36000" bIns="36000"/>
          <a:lstStyle/>
          <a:p>
            <a:pPr algn="ctr"/>
          </a:p>
        </p:txBody>
      </p:sp>
      <p:pic>
        <p:nvPicPr>
          <p:cNvPr id="6" name="Picture 5" descr="FaRobot_FFFFFF.png"/>
          <p:cNvPicPr>
            <a:picLocks noChangeAspect="1"/>
          </p:cNvPicPr>
          <p:nvPr/>
        </p:nvPicPr>
        <p:blipFill>
          <a:blip r:embed="rId3"/>
          <a:stretch>
            <a:fillRect/>
          </a:stretch>
        </p:blipFill>
        <p:spPr>
          <a:xfrm>
            <a:off x="1350000" y="1476000"/>
            <a:ext cx="468000" cy="468000"/>
          </a:xfrm>
          <a:prstGeom prst="rect">
            <a:avLst/>
          </a:prstGeom>
        </p:spPr>
      </p:pic>
      <p:sp>
        <p:nvSpPr>
          <p:cNvPr id="7" name="TextBox 6"/>
          <p:cNvSpPr txBox="1"/>
          <p:nvPr/>
        </p:nvSpPr>
        <p:spPr>
          <a:xfrm>
            <a:off x="2232000" y="1296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생성형 AI</a:t>
            </a:r>
          </a:p>
        </p:txBody>
      </p:sp>
      <p:sp>
        <p:nvSpPr>
          <p:cNvPr id="8" name="TextBox 7"/>
          <p:cNvSpPr txBox="1"/>
          <p:nvPr/>
        </p:nvSpPr>
        <p:spPr>
          <a:xfrm>
            <a:off x="2232000" y="1746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Generative AI</a:t>
            </a:r>
          </a:p>
        </p:txBody>
      </p:sp>
      <p:sp>
        <p:nvSpPr>
          <p:cNvPr id="9" name="Rounded Rectangle 8"/>
          <p:cNvSpPr/>
          <p:nvPr/>
        </p:nvSpPr>
        <p:spPr>
          <a:xfrm>
            <a:off x="900000" y="2646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Oval 9"/>
          <p:cNvSpPr/>
          <p:nvPr/>
        </p:nvSpPr>
        <p:spPr>
          <a:xfrm>
            <a:off x="1116000" y="2916000"/>
            <a:ext cx="936000" cy="936000"/>
          </a:xfrm>
          <a:prstGeom prst="ellipse">
            <a:avLst/>
          </a:prstGeom>
          <a:solidFill>
            <a:srgbClr val="13294B"/>
          </a:solidFill>
          <a:ln>
            <a:noFill/>
          </a:ln>
        </p:spPr>
        <p:txBody>
          <a:bodyPr rtlCol="0" anchor="ctr" lIns="36000" rIns="36000" tIns="36000" bIns="36000"/>
          <a:lstStyle/>
          <a:p>
            <a:pPr algn="ctr"/>
          </a:p>
        </p:txBody>
      </p:sp>
      <p:pic>
        <p:nvPicPr>
          <p:cNvPr id="11" name="Picture 10" descr="FaMicrochip_FFFFFF.png"/>
          <p:cNvPicPr>
            <a:picLocks noChangeAspect="1"/>
          </p:cNvPicPr>
          <p:nvPr/>
        </p:nvPicPr>
        <p:blipFill>
          <a:blip r:embed="rId4"/>
          <a:stretch>
            <a:fillRect/>
          </a:stretch>
        </p:blipFill>
        <p:spPr>
          <a:xfrm>
            <a:off x="1350000" y="3150000"/>
            <a:ext cx="468000" cy="468000"/>
          </a:xfrm>
          <a:prstGeom prst="rect">
            <a:avLst/>
          </a:prstGeom>
        </p:spPr>
      </p:pic>
      <p:sp>
        <p:nvSpPr>
          <p:cNvPr id="12" name="TextBox 11"/>
          <p:cNvSpPr txBox="1"/>
          <p:nvPr/>
        </p:nvSpPr>
        <p:spPr>
          <a:xfrm>
            <a:off x="2232000" y="2970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AI 가속기</a:t>
            </a:r>
          </a:p>
        </p:txBody>
      </p:sp>
      <p:sp>
        <p:nvSpPr>
          <p:cNvPr id="13" name="TextBox 12"/>
          <p:cNvSpPr txBox="1"/>
          <p:nvPr/>
        </p:nvSpPr>
        <p:spPr>
          <a:xfrm>
            <a:off x="2232000" y="3420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AI Accelerator</a:t>
            </a:r>
          </a:p>
        </p:txBody>
      </p:sp>
      <p:sp>
        <p:nvSpPr>
          <p:cNvPr id="14" name="Rounded Rectangle 13"/>
          <p:cNvSpPr/>
          <p:nvPr/>
        </p:nvSpPr>
        <p:spPr>
          <a:xfrm>
            <a:off x="900000" y="4320000"/>
            <a:ext cx="3744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5" name="Oval 14"/>
          <p:cNvSpPr/>
          <p:nvPr/>
        </p:nvSpPr>
        <p:spPr>
          <a:xfrm>
            <a:off x="1116000" y="4590000"/>
            <a:ext cx="936000" cy="936000"/>
          </a:xfrm>
          <a:prstGeom prst="ellipse">
            <a:avLst/>
          </a:prstGeom>
          <a:solidFill>
            <a:srgbClr val="13294B"/>
          </a:solidFill>
          <a:ln>
            <a:noFill/>
          </a:ln>
        </p:spPr>
        <p:txBody>
          <a:bodyPr rtlCol="0" anchor="ctr" lIns="36000" rIns="36000" tIns="36000" bIns="36000"/>
          <a:lstStyle/>
          <a:p>
            <a:pPr algn="ctr"/>
          </a:p>
        </p:txBody>
      </p:sp>
      <p:pic>
        <p:nvPicPr>
          <p:cNvPr id="16" name="Picture 15" descr="FaMemory_FFFFFF.png"/>
          <p:cNvPicPr>
            <a:picLocks noChangeAspect="1"/>
          </p:cNvPicPr>
          <p:nvPr/>
        </p:nvPicPr>
        <p:blipFill>
          <a:blip r:embed="rId5"/>
          <a:stretch>
            <a:fillRect/>
          </a:stretch>
        </p:blipFill>
        <p:spPr>
          <a:xfrm>
            <a:off x="1350000" y="4824000"/>
            <a:ext cx="468000" cy="468000"/>
          </a:xfrm>
          <a:prstGeom prst="rect">
            <a:avLst/>
          </a:prstGeom>
        </p:spPr>
      </p:pic>
      <p:sp>
        <p:nvSpPr>
          <p:cNvPr id="17" name="TextBox 16"/>
          <p:cNvSpPr txBox="1"/>
          <p:nvPr/>
        </p:nvSpPr>
        <p:spPr>
          <a:xfrm>
            <a:off x="2232000" y="4644000"/>
            <a:ext cx="2340000" cy="468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HBM</a:t>
            </a:r>
          </a:p>
        </p:txBody>
      </p:sp>
      <p:sp>
        <p:nvSpPr>
          <p:cNvPr id="18" name="TextBox 17"/>
          <p:cNvSpPr txBox="1"/>
          <p:nvPr/>
        </p:nvSpPr>
        <p:spPr>
          <a:xfrm>
            <a:off x="2232000" y="5094000"/>
            <a:ext cx="2340000" cy="324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High Bandwidth Memory</a:t>
            </a:r>
          </a:p>
        </p:txBody>
      </p:sp>
      <p:sp>
        <p:nvSpPr>
          <p:cNvPr id="19" name="Right Arrow 18"/>
          <p:cNvSpPr/>
          <p:nvPr/>
        </p:nvSpPr>
        <p:spPr>
          <a:xfrm>
            <a:off x="4896000" y="2736000"/>
            <a:ext cx="936000" cy="1152000"/>
          </a:xfrm>
          <a:prstGeom prst="rightArrow">
            <a:avLst/>
          </a:prstGeom>
          <a:solidFill>
            <a:srgbClr val="C9D2E0"/>
          </a:solidFill>
          <a:ln>
            <a:noFill/>
          </a:ln>
        </p:spPr>
        <p:txBody>
          <a:bodyPr rtlCol="0" anchor="ctr" lIns="36000" rIns="36000" tIns="36000" bIns="36000"/>
          <a:lstStyle/>
          <a:p>
            <a:pPr algn="ctr"/>
          </a:p>
        </p:txBody>
      </p:sp>
      <p:sp>
        <p:nvSpPr>
          <p:cNvPr id="20" name="Rounded Rectangle 19"/>
          <p:cNvSpPr/>
          <p:nvPr/>
        </p:nvSpPr>
        <p:spPr>
          <a:xfrm>
            <a:off x="6120000" y="972000"/>
            <a:ext cx="5544000" cy="502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Rectangle 20"/>
          <p:cNvSpPr/>
          <p:nvPr/>
        </p:nvSpPr>
        <p:spPr>
          <a:xfrm>
            <a:off x="6696000" y="1296000"/>
            <a:ext cx="3096000" cy="360000"/>
          </a:xfrm>
          <a:prstGeom prst="rect">
            <a:avLst/>
          </a:prstGeom>
          <a:solidFill>
            <a:srgbClr val="8FA6CC"/>
          </a:solidFill>
          <a:ln>
            <a:noFill/>
          </a:ln>
        </p:spPr>
        <p:txBody>
          <a:bodyPr rtlCol="0" anchor="ctr" lIns="36000" rIns="36000" tIns="36000" bIns="36000"/>
          <a:lstStyle/>
          <a:p>
            <a:pPr algn="ctr"/>
          </a:p>
        </p:txBody>
      </p:sp>
      <p:sp>
        <p:nvSpPr>
          <p:cNvPr id="22" name="TextBox 21"/>
          <p:cNvSpPr txBox="1"/>
          <p:nvPr/>
        </p:nvSpPr>
        <p:spPr>
          <a:xfrm>
            <a:off x="6696000" y="1296000"/>
            <a:ext cx="3096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DRAM 다이</a:t>
            </a:r>
          </a:p>
        </p:txBody>
      </p:sp>
      <p:sp>
        <p:nvSpPr>
          <p:cNvPr id="23" name="Rectangle 22"/>
          <p:cNvSpPr/>
          <p:nvPr/>
        </p:nvSpPr>
        <p:spPr>
          <a:xfrm>
            <a:off x="6696000" y="1656000"/>
            <a:ext cx="3096000" cy="122400"/>
          </a:xfrm>
          <a:prstGeom prst="rect">
            <a:avLst/>
          </a:prstGeom>
          <a:solidFill>
            <a:srgbClr val="BFE3E6"/>
          </a:solidFill>
          <a:ln>
            <a:noFill/>
          </a:ln>
        </p:spPr>
        <p:txBody>
          <a:bodyPr rtlCol="0" anchor="ctr" lIns="36000" rIns="36000" tIns="36000" bIns="36000"/>
          <a:lstStyle/>
          <a:p>
            <a:pPr algn="ctr"/>
          </a:p>
        </p:txBody>
      </p:sp>
      <p:sp>
        <p:nvSpPr>
          <p:cNvPr id="24" name="Rectangle 23"/>
          <p:cNvSpPr/>
          <p:nvPr/>
        </p:nvSpPr>
        <p:spPr>
          <a:xfrm>
            <a:off x="6822000" y="1656000"/>
            <a:ext cx="180000" cy="1224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02571" y="1656000"/>
            <a:ext cx="180000" cy="1224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583143" y="1656000"/>
            <a:ext cx="180000" cy="1224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963714" y="1656000"/>
            <a:ext cx="180000" cy="1224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8344286" y="1656000"/>
            <a:ext cx="180000" cy="1224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8724857" y="1656000"/>
            <a:ext cx="180000" cy="1224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9105429" y="1656000"/>
            <a:ext cx="180000" cy="1224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9486000" y="1656000"/>
            <a:ext cx="180000" cy="122400"/>
          </a:xfrm>
          <a:prstGeom prst="rect">
            <a:avLst/>
          </a:prstGeom>
          <a:solidFill>
            <a:srgbClr val="EA7A28"/>
          </a:solidFill>
          <a:ln>
            <a:noFill/>
          </a:ln>
        </p:spPr>
        <p:txBody>
          <a:bodyPr rtlCol="0" anchor="ctr" lIns="36000" rIns="36000" tIns="36000" bIns="36000"/>
          <a:lstStyle/>
          <a:p>
            <a:pPr algn="ctr"/>
          </a:p>
        </p:txBody>
      </p:sp>
      <p:sp>
        <p:nvSpPr>
          <p:cNvPr id="32" name="Rectangle 31"/>
          <p:cNvSpPr/>
          <p:nvPr/>
        </p:nvSpPr>
        <p:spPr>
          <a:xfrm>
            <a:off x="6696000" y="1778400"/>
            <a:ext cx="3096000" cy="360000"/>
          </a:xfrm>
          <a:prstGeom prst="rect">
            <a:avLst/>
          </a:prstGeom>
          <a:solidFill>
            <a:srgbClr val="7F98C2"/>
          </a:solidFill>
          <a:ln>
            <a:noFill/>
          </a:ln>
        </p:spPr>
        <p:txBody>
          <a:bodyPr rtlCol="0" anchor="ctr" lIns="36000" rIns="36000" tIns="36000" bIns="36000"/>
          <a:lstStyle/>
          <a:p>
            <a:pPr algn="ctr"/>
          </a:p>
        </p:txBody>
      </p:sp>
      <p:sp>
        <p:nvSpPr>
          <p:cNvPr id="33" name="Rectangle 32"/>
          <p:cNvSpPr/>
          <p:nvPr/>
        </p:nvSpPr>
        <p:spPr>
          <a:xfrm>
            <a:off x="6696000" y="2138400"/>
            <a:ext cx="3096000" cy="122400"/>
          </a:xfrm>
          <a:prstGeom prst="rect">
            <a:avLst/>
          </a:prstGeom>
          <a:solidFill>
            <a:srgbClr val="BFE3E6"/>
          </a:solidFill>
          <a:ln>
            <a:noFill/>
          </a:ln>
        </p:spPr>
        <p:txBody>
          <a:bodyPr rtlCol="0" anchor="ctr" lIns="36000" rIns="36000" tIns="36000" bIns="36000"/>
          <a:lstStyle/>
          <a:p>
            <a:pPr algn="ctr"/>
          </a:p>
        </p:txBody>
      </p:sp>
      <p:sp>
        <p:nvSpPr>
          <p:cNvPr id="34" name="Rectangle 33"/>
          <p:cNvSpPr/>
          <p:nvPr/>
        </p:nvSpPr>
        <p:spPr>
          <a:xfrm>
            <a:off x="6822000" y="2138400"/>
            <a:ext cx="180000" cy="122400"/>
          </a:xfrm>
          <a:prstGeom prst="rect">
            <a:avLst/>
          </a:prstGeom>
          <a:solidFill>
            <a:srgbClr val="EA7A28"/>
          </a:solidFill>
          <a:ln>
            <a:noFill/>
          </a:ln>
        </p:spPr>
        <p:txBody>
          <a:bodyPr rtlCol="0" anchor="ctr" lIns="36000" rIns="36000" tIns="36000" bIns="36000"/>
          <a:lstStyle/>
          <a:p>
            <a:pPr algn="ctr"/>
          </a:p>
        </p:txBody>
      </p:sp>
      <p:sp>
        <p:nvSpPr>
          <p:cNvPr id="35" name="Rectangle 34"/>
          <p:cNvSpPr/>
          <p:nvPr/>
        </p:nvSpPr>
        <p:spPr>
          <a:xfrm>
            <a:off x="7202571" y="2138400"/>
            <a:ext cx="180000" cy="122400"/>
          </a:xfrm>
          <a:prstGeom prst="rect">
            <a:avLst/>
          </a:prstGeom>
          <a:solidFill>
            <a:srgbClr val="EA7A28"/>
          </a:solidFill>
          <a:ln>
            <a:noFill/>
          </a:ln>
        </p:spPr>
        <p:txBody>
          <a:bodyPr rtlCol="0" anchor="ctr" lIns="36000" rIns="36000" tIns="36000" bIns="36000"/>
          <a:lstStyle/>
          <a:p>
            <a:pPr algn="ctr"/>
          </a:p>
        </p:txBody>
      </p:sp>
      <p:sp>
        <p:nvSpPr>
          <p:cNvPr id="36" name="Rectangle 35"/>
          <p:cNvSpPr/>
          <p:nvPr/>
        </p:nvSpPr>
        <p:spPr>
          <a:xfrm>
            <a:off x="7583143" y="2138400"/>
            <a:ext cx="180000" cy="122400"/>
          </a:xfrm>
          <a:prstGeom prst="rect">
            <a:avLst/>
          </a:prstGeom>
          <a:solidFill>
            <a:srgbClr val="EA7A28"/>
          </a:solidFill>
          <a:ln>
            <a:noFill/>
          </a:ln>
        </p:spPr>
        <p:txBody>
          <a:bodyPr rtlCol="0" anchor="ctr" lIns="36000" rIns="36000" tIns="36000" bIns="36000"/>
          <a:lstStyle/>
          <a:p>
            <a:pPr algn="ctr"/>
          </a:p>
        </p:txBody>
      </p:sp>
      <p:sp>
        <p:nvSpPr>
          <p:cNvPr id="37" name="Rectangle 36"/>
          <p:cNvSpPr/>
          <p:nvPr/>
        </p:nvSpPr>
        <p:spPr>
          <a:xfrm>
            <a:off x="7963714" y="2138400"/>
            <a:ext cx="180000" cy="122400"/>
          </a:xfrm>
          <a:prstGeom prst="rect">
            <a:avLst/>
          </a:prstGeom>
          <a:solidFill>
            <a:srgbClr val="EA7A28"/>
          </a:solidFill>
          <a:ln>
            <a:noFill/>
          </a:ln>
        </p:spPr>
        <p:txBody>
          <a:bodyPr rtlCol="0" anchor="ctr" lIns="36000" rIns="36000" tIns="36000" bIns="36000"/>
          <a:lstStyle/>
          <a:p>
            <a:pPr algn="ctr"/>
          </a:p>
        </p:txBody>
      </p:sp>
      <p:sp>
        <p:nvSpPr>
          <p:cNvPr id="38" name="Rectangle 37"/>
          <p:cNvSpPr/>
          <p:nvPr/>
        </p:nvSpPr>
        <p:spPr>
          <a:xfrm>
            <a:off x="8344286" y="2138400"/>
            <a:ext cx="180000" cy="122400"/>
          </a:xfrm>
          <a:prstGeom prst="rect">
            <a:avLst/>
          </a:prstGeom>
          <a:solidFill>
            <a:srgbClr val="EA7A28"/>
          </a:solidFill>
          <a:ln>
            <a:noFill/>
          </a:ln>
        </p:spPr>
        <p:txBody>
          <a:bodyPr rtlCol="0" anchor="ctr" lIns="36000" rIns="36000" tIns="36000" bIns="36000"/>
          <a:lstStyle/>
          <a:p>
            <a:pPr algn="ctr"/>
          </a:p>
        </p:txBody>
      </p:sp>
      <p:sp>
        <p:nvSpPr>
          <p:cNvPr id="39" name="Rectangle 38"/>
          <p:cNvSpPr/>
          <p:nvPr/>
        </p:nvSpPr>
        <p:spPr>
          <a:xfrm>
            <a:off x="8724857" y="2138400"/>
            <a:ext cx="180000" cy="122400"/>
          </a:xfrm>
          <a:prstGeom prst="rect">
            <a:avLst/>
          </a:prstGeom>
          <a:solidFill>
            <a:srgbClr val="EA7A28"/>
          </a:solidFill>
          <a:ln>
            <a:noFill/>
          </a:ln>
        </p:spPr>
        <p:txBody>
          <a:bodyPr rtlCol="0" anchor="ctr" lIns="36000" rIns="36000" tIns="36000" bIns="36000"/>
          <a:lstStyle/>
          <a:p>
            <a:pPr algn="ctr"/>
          </a:p>
        </p:txBody>
      </p:sp>
      <p:sp>
        <p:nvSpPr>
          <p:cNvPr id="40" name="Rectangle 39"/>
          <p:cNvSpPr/>
          <p:nvPr/>
        </p:nvSpPr>
        <p:spPr>
          <a:xfrm>
            <a:off x="9105429" y="2138400"/>
            <a:ext cx="180000" cy="122400"/>
          </a:xfrm>
          <a:prstGeom prst="rect">
            <a:avLst/>
          </a:prstGeom>
          <a:solidFill>
            <a:srgbClr val="EA7A28"/>
          </a:solidFill>
          <a:ln>
            <a:noFill/>
          </a:ln>
        </p:spPr>
        <p:txBody>
          <a:bodyPr rtlCol="0" anchor="ctr" lIns="36000" rIns="36000" tIns="36000" bIns="36000"/>
          <a:lstStyle/>
          <a:p>
            <a:pPr algn="ctr"/>
          </a:p>
        </p:txBody>
      </p:sp>
      <p:sp>
        <p:nvSpPr>
          <p:cNvPr id="41" name="Rectangle 40"/>
          <p:cNvSpPr/>
          <p:nvPr/>
        </p:nvSpPr>
        <p:spPr>
          <a:xfrm>
            <a:off x="9486000" y="2138400"/>
            <a:ext cx="180000" cy="122400"/>
          </a:xfrm>
          <a:prstGeom prst="rect">
            <a:avLst/>
          </a:prstGeom>
          <a:solidFill>
            <a:srgbClr val="EA7A28"/>
          </a:solidFill>
          <a:ln>
            <a:noFill/>
          </a:ln>
        </p:spPr>
        <p:txBody>
          <a:bodyPr rtlCol="0" anchor="ctr" lIns="36000" rIns="36000" tIns="36000" bIns="36000"/>
          <a:lstStyle/>
          <a:p>
            <a:pPr algn="ctr"/>
          </a:p>
        </p:txBody>
      </p:sp>
      <p:sp>
        <p:nvSpPr>
          <p:cNvPr id="42" name="Rectangle 41"/>
          <p:cNvSpPr/>
          <p:nvPr/>
        </p:nvSpPr>
        <p:spPr>
          <a:xfrm>
            <a:off x="6696000" y="2260800"/>
            <a:ext cx="3096000" cy="360000"/>
          </a:xfrm>
          <a:prstGeom prst="rect">
            <a:avLst/>
          </a:prstGeom>
          <a:solidFill>
            <a:srgbClr val="6F8AB7"/>
          </a:solidFill>
          <a:ln>
            <a:noFill/>
          </a:ln>
        </p:spPr>
        <p:txBody>
          <a:bodyPr rtlCol="0" anchor="ctr" lIns="36000" rIns="36000" tIns="36000" bIns="36000"/>
          <a:lstStyle/>
          <a:p>
            <a:pPr algn="ctr"/>
          </a:p>
        </p:txBody>
      </p:sp>
      <p:sp>
        <p:nvSpPr>
          <p:cNvPr id="43" name="Rectangle 42"/>
          <p:cNvSpPr/>
          <p:nvPr/>
        </p:nvSpPr>
        <p:spPr>
          <a:xfrm>
            <a:off x="6696000" y="2620800"/>
            <a:ext cx="3096000" cy="122400"/>
          </a:xfrm>
          <a:prstGeom prst="rect">
            <a:avLst/>
          </a:prstGeom>
          <a:solidFill>
            <a:srgbClr val="BFE3E6"/>
          </a:solidFill>
          <a:ln>
            <a:noFill/>
          </a:ln>
        </p:spPr>
        <p:txBody>
          <a:bodyPr rtlCol="0" anchor="ctr" lIns="36000" rIns="36000" tIns="36000" bIns="36000"/>
          <a:lstStyle/>
          <a:p>
            <a:pPr algn="ctr"/>
          </a:p>
        </p:txBody>
      </p:sp>
      <p:sp>
        <p:nvSpPr>
          <p:cNvPr id="44" name="Rectangle 43"/>
          <p:cNvSpPr/>
          <p:nvPr/>
        </p:nvSpPr>
        <p:spPr>
          <a:xfrm>
            <a:off x="6822000" y="2620800"/>
            <a:ext cx="180000" cy="122400"/>
          </a:xfrm>
          <a:prstGeom prst="rect">
            <a:avLst/>
          </a:prstGeom>
          <a:solidFill>
            <a:srgbClr val="EA7A28"/>
          </a:solidFill>
          <a:ln>
            <a:noFill/>
          </a:ln>
        </p:spPr>
        <p:txBody>
          <a:bodyPr rtlCol="0" anchor="ctr" lIns="36000" rIns="36000" tIns="36000" bIns="36000"/>
          <a:lstStyle/>
          <a:p>
            <a:pPr algn="ctr"/>
          </a:p>
        </p:txBody>
      </p:sp>
      <p:sp>
        <p:nvSpPr>
          <p:cNvPr id="45" name="Rectangle 44"/>
          <p:cNvSpPr/>
          <p:nvPr/>
        </p:nvSpPr>
        <p:spPr>
          <a:xfrm>
            <a:off x="7202571" y="2620800"/>
            <a:ext cx="180000" cy="122400"/>
          </a:xfrm>
          <a:prstGeom prst="rect">
            <a:avLst/>
          </a:prstGeom>
          <a:solidFill>
            <a:srgbClr val="EA7A28"/>
          </a:solidFill>
          <a:ln>
            <a:noFill/>
          </a:ln>
        </p:spPr>
        <p:txBody>
          <a:bodyPr rtlCol="0" anchor="ctr" lIns="36000" rIns="36000" tIns="36000" bIns="36000"/>
          <a:lstStyle/>
          <a:p>
            <a:pPr algn="ctr"/>
          </a:p>
        </p:txBody>
      </p:sp>
      <p:sp>
        <p:nvSpPr>
          <p:cNvPr id="46" name="Rectangle 45"/>
          <p:cNvSpPr/>
          <p:nvPr/>
        </p:nvSpPr>
        <p:spPr>
          <a:xfrm>
            <a:off x="7583143" y="2620800"/>
            <a:ext cx="180000" cy="122400"/>
          </a:xfrm>
          <a:prstGeom prst="rect">
            <a:avLst/>
          </a:prstGeom>
          <a:solidFill>
            <a:srgbClr val="EA7A28"/>
          </a:solidFill>
          <a:ln>
            <a:noFill/>
          </a:ln>
        </p:spPr>
        <p:txBody>
          <a:bodyPr rtlCol="0" anchor="ctr" lIns="36000" rIns="36000" tIns="36000" bIns="36000"/>
          <a:lstStyle/>
          <a:p>
            <a:pPr algn="ctr"/>
          </a:p>
        </p:txBody>
      </p:sp>
      <p:sp>
        <p:nvSpPr>
          <p:cNvPr id="47" name="Rectangle 46"/>
          <p:cNvSpPr/>
          <p:nvPr/>
        </p:nvSpPr>
        <p:spPr>
          <a:xfrm>
            <a:off x="7963714" y="2620800"/>
            <a:ext cx="180000" cy="122400"/>
          </a:xfrm>
          <a:prstGeom prst="rect">
            <a:avLst/>
          </a:prstGeom>
          <a:solidFill>
            <a:srgbClr val="EA7A28"/>
          </a:solidFill>
          <a:ln>
            <a:noFill/>
          </a:ln>
        </p:spPr>
        <p:txBody>
          <a:bodyPr rtlCol="0" anchor="ctr" lIns="36000" rIns="36000" tIns="36000" bIns="36000"/>
          <a:lstStyle/>
          <a:p>
            <a:pPr algn="ctr"/>
          </a:p>
        </p:txBody>
      </p:sp>
      <p:sp>
        <p:nvSpPr>
          <p:cNvPr id="48" name="Rectangle 47"/>
          <p:cNvSpPr/>
          <p:nvPr/>
        </p:nvSpPr>
        <p:spPr>
          <a:xfrm>
            <a:off x="8344286" y="2620800"/>
            <a:ext cx="180000" cy="122400"/>
          </a:xfrm>
          <a:prstGeom prst="rect">
            <a:avLst/>
          </a:prstGeom>
          <a:solidFill>
            <a:srgbClr val="EA7A28"/>
          </a:solidFill>
          <a:ln>
            <a:noFill/>
          </a:ln>
        </p:spPr>
        <p:txBody>
          <a:bodyPr rtlCol="0" anchor="ctr" lIns="36000" rIns="36000" tIns="36000" bIns="36000"/>
          <a:lstStyle/>
          <a:p>
            <a:pPr algn="ctr"/>
          </a:p>
        </p:txBody>
      </p:sp>
      <p:sp>
        <p:nvSpPr>
          <p:cNvPr id="49" name="Rectangle 48"/>
          <p:cNvSpPr/>
          <p:nvPr/>
        </p:nvSpPr>
        <p:spPr>
          <a:xfrm>
            <a:off x="8724857" y="2620800"/>
            <a:ext cx="180000" cy="122400"/>
          </a:xfrm>
          <a:prstGeom prst="rect">
            <a:avLst/>
          </a:prstGeom>
          <a:solidFill>
            <a:srgbClr val="EA7A28"/>
          </a:solidFill>
          <a:ln>
            <a:noFill/>
          </a:ln>
        </p:spPr>
        <p:txBody>
          <a:bodyPr rtlCol="0" anchor="ctr" lIns="36000" rIns="36000" tIns="36000" bIns="36000"/>
          <a:lstStyle/>
          <a:p>
            <a:pPr algn="ctr"/>
          </a:p>
        </p:txBody>
      </p:sp>
      <p:sp>
        <p:nvSpPr>
          <p:cNvPr id="50" name="Rectangle 49"/>
          <p:cNvSpPr/>
          <p:nvPr/>
        </p:nvSpPr>
        <p:spPr>
          <a:xfrm>
            <a:off x="9105429" y="2620800"/>
            <a:ext cx="180000" cy="122400"/>
          </a:xfrm>
          <a:prstGeom prst="rect">
            <a:avLst/>
          </a:prstGeom>
          <a:solidFill>
            <a:srgbClr val="EA7A28"/>
          </a:solidFill>
          <a:ln>
            <a:noFill/>
          </a:ln>
        </p:spPr>
        <p:txBody>
          <a:bodyPr rtlCol="0" anchor="ctr" lIns="36000" rIns="36000" tIns="36000" bIns="36000"/>
          <a:lstStyle/>
          <a:p>
            <a:pPr algn="ctr"/>
          </a:p>
        </p:txBody>
      </p:sp>
      <p:sp>
        <p:nvSpPr>
          <p:cNvPr id="51" name="Rectangle 50"/>
          <p:cNvSpPr/>
          <p:nvPr/>
        </p:nvSpPr>
        <p:spPr>
          <a:xfrm>
            <a:off x="9486000" y="2620800"/>
            <a:ext cx="180000" cy="122400"/>
          </a:xfrm>
          <a:prstGeom prst="rect">
            <a:avLst/>
          </a:prstGeom>
          <a:solidFill>
            <a:srgbClr val="EA7A28"/>
          </a:solidFill>
          <a:ln>
            <a:noFill/>
          </a:ln>
        </p:spPr>
        <p:txBody>
          <a:bodyPr rtlCol="0" anchor="ctr" lIns="36000" rIns="36000" tIns="36000" bIns="36000"/>
          <a:lstStyle/>
          <a:p>
            <a:pPr algn="ctr"/>
          </a:p>
        </p:txBody>
      </p:sp>
      <p:sp>
        <p:nvSpPr>
          <p:cNvPr id="52" name="Rectangle 51"/>
          <p:cNvSpPr/>
          <p:nvPr/>
        </p:nvSpPr>
        <p:spPr>
          <a:xfrm>
            <a:off x="6696000" y="2743200"/>
            <a:ext cx="3096000" cy="360000"/>
          </a:xfrm>
          <a:prstGeom prst="rect">
            <a:avLst/>
          </a:prstGeom>
          <a:solidFill>
            <a:srgbClr val="607DAD"/>
          </a:solidFill>
          <a:ln>
            <a:noFill/>
          </a:ln>
        </p:spPr>
        <p:txBody>
          <a:bodyPr rtlCol="0" anchor="ctr" lIns="36000" rIns="36000" tIns="36000" bIns="36000"/>
          <a:lstStyle/>
          <a:p>
            <a:pPr algn="ctr"/>
          </a:p>
        </p:txBody>
      </p:sp>
      <p:sp>
        <p:nvSpPr>
          <p:cNvPr id="53" name="Rectangle 52"/>
          <p:cNvSpPr/>
          <p:nvPr/>
        </p:nvSpPr>
        <p:spPr>
          <a:xfrm>
            <a:off x="6696000" y="3103200"/>
            <a:ext cx="3096000" cy="122400"/>
          </a:xfrm>
          <a:prstGeom prst="rect">
            <a:avLst/>
          </a:prstGeom>
          <a:solidFill>
            <a:srgbClr val="BFE3E6"/>
          </a:solidFill>
          <a:ln>
            <a:noFill/>
          </a:ln>
        </p:spPr>
        <p:txBody>
          <a:bodyPr rtlCol="0" anchor="ctr" lIns="36000" rIns="36000" tIns="36000" bIns="36000"/>
          <a:lstStyle/>
          <a:p>
            <a:pPr algn="ctr"/>
          </a:p>
        </p:txBody>
      </p:sp>
      <p:sp>
        <p:nvSpPr>
          <p:cNvPr id="54" name="Rectangle 53"/>
          <p:cNvSpPr/>
          <p:nvPr/>
        </p:nvSpPr>
        <p:spPr>
          <a:xfrm>
            <a:off x="6822000" y="3103200"/>
            <a:ext cx="180000" cy="122400"/>
          </a:xfrm>
          <a:prstGeom prst="rect">
            <a:avLst/>
          </a:prstGeom>
          <a:solidFill>
            <a:srgbClr val="EA7A28"/>
          </a:solidFill>
          <a:ln>
            <a:noFill/>
          </a:ln>
        </p:spPr>
        <p:txBody>
          <a:bodyPr rtlCol="0" anchor="ctr" lIns="36000" rIns="36000" tIns="36000" bIns="36000"/>
          <a:lstStyle/>
          <a:p>
            <a:pPr algn="ctr"/>
          </a:p>
        </p:txBody>
      </p:sp>
      <p:sp>
        <p:nvSpPr>
          <p:cNvPr id="55" name="Rectangle 54"/>
          <p:cNvSpPr/>
          <p:nvPr/>
        </p:nvSpPr>
        <p:spPr>
          <a:xfrm>
            <a:off x="7202571" y="3103200"/>
            <a:ext cx="180000" cy="122400"/>
          </a:xfrm>
          <a:prstGeom prst="rect">
            <a:avLst/>
          </a:prstGeom>
          <a:solidFill>
            <a:srgbClr val="EA7A28"/>
          </a:solidFill>
          <a:ln>
            <a:noFill/>
          </a:ln>
        </p:spPr>
        <p:txBody>
          <a:bodyPr rtlCol="0" anchor="ctr" lIns="36000" rIns="36000" tIns="36000" bIns="36000"/>
          <a:lstStyle/>
          <a:p>
            <a:pPr algn="ctr"/>
          </a:p>
        </p:txBody>
      </p:sp>
      <p:sp>
        <p:nvSpPr>
          <p:cNvPr id="56" name="Rectangle 55"/>
          <p:cNvSpPr/>
          <p:nvPr/>
        </p:nvSpPr>
        <p:spPr>
          <a:xfrm>
            <a:off x="7583143" y="3103200"/>
            <a:ext cx="180000" cy="122400"/>
          </a:xfrm>
          <a:prstGeom prst="rect">
            <a:avLst/>
          </a:prstGeom>
          <a:solidFill>
            <a:srgbClr val="EA7A28"/>
          </a:solidFill>
          <a:ln>
            <a:noFill/>
          </a:ln>
        </p:spPr>
        <p:txBody>
          <a:bodyPr rtlCol="0" anchor="ctr" lIns="36000" rIns="36000" tIns="36000" bIns="36000"/>
          <a:lstStyle/>
          <a:p>
            <a:pPr algn="ctr"/>
          </a:p>
        </p:txBody>
      </p:sp>
      <p:sp>
        <p:nvSpPr>
          <p:cNvPr id="57" name="Rectangle 56"/>
          <p:cNvSpPr/>
          <p:nvPr/>
        </p:nvSpPr>
        <p:spPr>
          <a:xfrm>
            <a:off x="7963714" y="3103200"/>
            <a:ext cx="180000" cy="122400"/>
          </a:xfrm>
          <a:prstGeom prst="rect">
            <a:avLst/>
          </a:prstGeom>
          <a:solidFill>
            <a:srgbClr val="EA7A28"/>
          </a:solidFill>
          <a:ln>
            <a:noFill/>
          </a:ln>
        </p:spPr>
        <p:txBody>
          <a:bodyPr rtlCol="0" anchor="ctr" lIns="36000" rIns="36000" tIns="36000" bIns="36000"/>
          <a:lstStyle/>
          <a:p>
            <a:pPr algn="ctr"/>
          </a:p>
        </p:txBody>
      </p:sp>
      <p:sp>
        <p:nvSpPr>
          <p:cNvPr id="58" name="Rectangle 57"/>
          <p:cNvSpPr/>
          <p:nvPr/>
        </p:nvSpPr>
        <p:spPr>
          <a:xfrm>
            <a:off x="8344286" y="3103200"/>
            <a:ext cx="180000" cy="122400"/>
          </a:xfrm>
          <a:prstGeom prst="rect">
            <a:avLst/>
          </a:prstGeom>
          <a:solidFill>
            <a:srgbClr val="EA7A28"/>
          </a:solidFill>
          <a:ln>
            <a:noFill/>
          </a:ln>
        </p:spPr>
        <p:txBody>
          <a:bodyPr rtlCol="0" anchor="ctr" lIns="36000" rIns="36000" tIns="36000" bIns="36000"/>
          <a:lstStyle/>
          <a:p>
            <a:pPr algn="ctr"/>
          </a:p>
        </p:txBody>
      </p:sp>
      <p:sp>
        <p:nvSpPr>
          <p:cNvPr id="59" name="Rectangle 58"/>
          <p:cNvSpPr/>
          <p:nvPr/>
        </p:nvSpPr>
        <p:spPr>
          <a:xfrm>
            <a:off x="8724857" y="3103200"/>
            <a:ext cx="180000" cy="122400"/>
          </a:xfrm>
          <a:prstGeom prst="rect">
            <a:avLst/>
          </a:prstGeom>
          <a:solidFill>
            <a:srgbClr val="EA7A28"/>
          </a:solidFill>
          <a:ln>
            <a:noFill/>
          </a:ln>
        </p:spPr>
        <p:txBody>
          <a:bodyPr rtlCol="0" anchor="ctr" lIns="36000" rIns="36000" tIns="36000" bIns="36000"/>
          <a:lstStyle/>
          <a:p>
            <a:pPr algn="ctr"/>
          </a:p>
        </p:txBody>
      </p:sp>
      <p:sp>
        <p:nvSpPr>
          <p:cNvPr id="60" name="Rectangle 59"/>
          <p:cNvSpPr/>
          <p:nvPr/>
        </p:nvSpPr>
        <p:spPr>
          <a:xfrm>
            <a:off x="9105429" y="3103200"/>
            <a:ext cx="180000" cy="122400"/>
          </a:xfrm>
          <a:prstGeom prst="rect">
            <a:avLst/>
          </a:prstGeom>
          <a:solidFill>
            <a:srgbClr val="EA7A28"/>
          </a:solidFill>
          <a:ln>
            <a:noFill/>
          </a:ln>
        </p:spPr>
        <p:txBody>
          <a:bodyPr rtlCol="0" anchor="ctr" lIns="36000" rIns="36000" tIns="36000" bIns="36000"/>
          <a:lstStyle/>
          <a:p>
            <a:pPr algn="ctr"/>
          </a:p>
        </p:txBody>
      </p:sp>
      <p:sp>
        <p:nvSpPr>
          <p:cNvPr id="61" name="Rectangle 60"/>
          <p:cNvSpPr/>
          <p:nvPr/>
        </p:nvSpPr>
        <p:spPr>
          <a:xfrm>
            <a:off x="9486000" y="3103200"/>
            <a:ext cx="180000" cy="122400"/>
          </a:xfrm>
          <a:prstGeom prst="rect">
            <a:avLst/>
          </a:prstGeom>
          <a:solidFill>
            <a:srgbClr val="EA7A28"/>
          </a:solidFill>
          <a:ln>
            <a:noFill/>
          </a:ln>
        </p:spPr>
        <p:txBody>
          <a:bodyPr rtlCol="0" anchor="ctr" lIns="36000" rIns="36000" tIns="36000" bIns="36000"/>
          <a:lstStyle/>
          <a:p>
            <a:pPr algn="ctr"/>
          </a:p>
        </p:txBody>
      </p:sp>
      <p:sp>
        <p:nvSpPr>
          <p:cNvPr id="62" name="Rectangle 61"/>
          <p:cNvSpPr/>
          <p:nvPr/>
        </p:nvSpPr>
        <p:spPr>
          <a:xfrm>
            <a:off x="6516000" y="3225600"/>
            <a:ext cx="3456000" cy="432000"/>
          </a:xfrm>
          <a:prstGeom prst="rect">
            <a:avLst/>
          </a:prstGeom>
          <a:solidFill>
            <a:srgbClr val="3E5A8A"/>
          </a:solidFill>
          <a:ln>
            <a:noFill/>
          </a:ln>
        </p:spPr>
        <p:txBody>
          <a:bodyPr rtlCol="0" anchor="ctr" lIns="36000" rIns="36000" tIns="36000" bIns="36000"/>
          <a:lstStyle/>
          <a:p>
            <a:pPr algn="ctr"/>
          </a:p>
        </p:txBody>
      </p:sp>
      <p:sp>
        <p:nvSpPr>
          <p:cNvPr id="63" name="TextBox 62"/>
          <p:cNvSpPr txBox="1"/>
          <p:nvPr/>
        </p:nvSpPr>
        <p:spPr>
          <a:xfrm>
            <a:off x="6516000" y="3225600"/>
            <a:ext cx="3456000" cy="43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베이스(로직) 다이</a:t>
            </a:r>
          </a:p>
        </p:txBody>
      </p:sp>
      <p:cxnSp>
        <p:nvCxnSpPr>
          <p:cNvPr id="64" name="Connector 63"/>
          <p:cNvCxnSpPr/>
          <p:nvPr/>
        </p:nvCxnSpPr>
        <p:spPr>
          <a:xfrm>
            <a:off x="9810000" y="2199600"/>
            <a:ext cx="270000" cy="0"/>
          </a:xfrm>
          <a:prstGeom prst="line">
            <a:avLst/>
          </a:prstGeom>
          <a:ln w="15875">
            <a:solidFill>
              <a:srgbClr val="13294B"/>
            </a:solidFill>
          </a:ln>
        </p:spPr>
      </p:cxnSp>
      <p:sp>
        <p:nvSpPr>
          <p:cNvPr id="65" name="TextBox 64"/>
          <p:cNvSpPr txBox="1"/>
          <p:nvPr/>
        </p:nvSpPr>
        <p:spPr>
          <a:xfrm>
            <a:off x="10116000" y="1929600"/>
            <a:ext cx="1224000" cy="864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a:t>
            </a:r>
          </a:p>
          <a:p>
            <a:pPr algn="l" marL="0" indent="0">
              <a:lnSpc>
                <a:spcPts val="1560"/>
              </a:lnSpc>
              <a:spcBef>
                <a:spcPts val="0"/>
              </a:spcBef>
              <a:spcAft>
                <a:spcPts val="300"/>
              </a:spcAft>
              <a:buNone/>
            </a:pPr>
            <a:r>
              <a:rPr sz="1300" b="1" i="0" lang="ko-KR" altLang="en-US">
                <a:solidFill>
                  <a:srgbClr val="7C3AED"/>
                </a:solidFill>
                <a:latin typeface="맑은 고딕"/>
                <a:ea typeface="맑은 고딕"/>
                <a:cs typeface="맑은 고딕"/>
              </a:rPr>
              <a:t>본딩 계면</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Cu 패드 +</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 직접 접합</a:t>
            </a:r>
          </a:p>
        </p:txBody>
      </p:sp>
      <p:sp>
        <p:nvSpPr>
          <p:cNvPr id="66" name="TextBox 65"/>
          <p:cNvSpPr txBox="1"/>
          <p:nvPr/>
        </p:nvSpPr>
        <p:spPr>
          <a:xfrm>
            <a:off x="6120000" y="4176000"/>
            <a:ext cx="5544000" cy="684000"/>
          </a:xfrm>
          <a:prstGeom prst="rect">
            <a:avLst/>
          </a:prstGeom>
          <a:noFill/>
        </p:spPr>
        <p:txBody>
          <a:bodyPr wrap="square" lIns="0" rIns="0" tIns="0" bIns="0" anchor="ctr">
            <a:noAutofit/>
          </a:bodyPr>
          <a:lstStyle/>
          <a:p>
            <a:pPr algn="ctr" marL="0" indent="0">
              <a:lnSpc>
                <a:spcPts val="3600"/>
              </a:lnSpc>
              <a:spcBef>
                <a:spcPts val="0"/>
              </a:spcBef>
              <a:spcAft>
                <a:spcPts val="0"/>
              </a:spcAft>
              <a:buNone/>
            </a:pPr>
            <a:r>
              <a:rPr sz="3000" b="1" i="0" lang="ko-KR" altLang="en-US">
                <a:solidFill>
                  <a:srgbClr val="13294B"/>
                </a:solidFill>
                <a:latin typeface="맑은 고딕"/>
                <a:ea typeface="맑은 고딕"/>
                <a:cs typeface="맑은 고딕"/>
              </a:rPr>
              <a:t>Hybrid Bonding</a:t>
            </a:r>
          </a:p>
        </p:txBody>
      </p:sp>
      <p:sp>
        <p:nvSpPr>
          <p:cNvPr id="67" name="TextBox 66"/>
          <p:cNvSpPr txBox="1"/>
          <p:nvPr/>
        </p:nvSpPr>
        <p:spPr>
          <a:xfrm>
            <a:off x="6120000" y="4860000"/>
            <a:ext cx="5544000" cy="36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차세대 HBM 적층의 접합 기술 (개념도)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미세화의 한계 이후, 전공정과 후공정 사이의 인터페이스가 변하고 있다</a:t>
            </a:r>
          </a:p>
        </p:txBody>
      </p:sp>
      <p:sp>
        <p:nvSpPr>
          <p:cNvPr id="4" name="Rounded Rectangle 3"/>
          <p:cNvSpPr/>
          <p:nvPr/>
        </p:nvSpPr>
        <p:spPr>
          <a:xfrm>
            <a:off x="900000" y="972000"/>
            <a:ext cx="4176000" cy="2016000"/>
          </a:xfrm>
          <a:prstGeom prst="roundRect">
            <a:avLst>
              <a:gd name="adj" fmla="val 8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111600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전공정</a:t>
            </a:r>
            <a:r>
              <a:rPr sz="1400" b="0" i="0" lang="ko-KR" altLang="en-US">
                <a:solidFill>
                  <a:srgbClr val="2563C9"/>
                </a:solidFill>
                <a:latin typeface="맑은 고딕"/>
                <a:ea typeface="맑은 고딕"/>
                <a:cs typeface="맑은 고딕"/>
              </a:rPr>
              <a:t>  Front End</a:t>
            </a:r>
          </a:p>
        </p:txBody>
      </p:sp>
      <p:sp>
        <p:nvSpPr>
          <p:cNvPr id="6" name="TextBox 5"/>
          <p:cNvSpPr txBox="1"/>
          <p:nvPr/>
        </p:nvSpPr>
        <p:spPr>
          <a:xfrm>
            <a:off x="111600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웨이퍼 위 트랜지스터 형성</a:t>
            </a:r>
          </a:p>
        </p:txBody>
      </p:sp>
      <p:sp>
        <p:nvSpPr>
          <p:cNvPr id="7" name="Rounded Rectangle 6"/>
          <p:cNvSpPr/>
          <p:nvPr/>
        </p:nvSpPr>
        <p:spPr>
          <a:xfrm>
            <a:off x="111600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종합반도체기업(IDM) · 파운드리</a:t>
            </a:r>
          </a:p>
        </p:txBody>
      </p:sp>
      <p:sp>
        <p:nvSpPr>
          <p:cNvPr id="8" name="Rounded Rectangle 7"/>
          <p:cNvSpPr/>
          <p:nvPr/>
        </p:nvSpPr>
        <p:spPr>
          <a:xfrm>
            <a:off x="7116120" y="972000"/>
            <a:ext cx="4176000" cy="2016000"/>
          </a:xfrm>
          <a:prstGeom prst="roundRect">
            <a:avLst>
              <a:gd name="adj" fmla="val 8000"/>
            </a:avLst>
          </a:prstGeom>
          <a:solidFill>
            <a:srgbClr val="FDEBDD"/>
          </a:solidFill>
          <a:ln>
            <a:noFill/>
          </a:ln>
        </p:spPr>
        <p:txBody>
          <a:bodyPr rtlCol="0" anchor="ctr" lIns="36000" rIns="36000" tIns="36000" bIns="36000"/>
          <a:lstStyle/>
          <a:p>
            <a:pPr algn="ctr"/>
          </a:p>
        </p:txBody>
      </p:sp>
      <p:sp>
        <p:nvSpPr>
          <p:cNvPr id="9" name="TextBox 8"/>
          <p:cNvSpPr txBox="1"/>
          <p:nvPr/>
        </p:nvSpPr>
        <p:spPr>
          <a:xfrm>
            <a:off x="7332120" y="1134000"/>
            <a:ext cx="3744000" cy="432000"/>
          </a:xfrm>
          <a:prstGeom prst="rect">
            <a:avLst/>
          </a:prstGeom>
          <a:noFill/>
        </p:spPr>
        <p:txBody>
          <a:bodyPr wrap="square" lIns="0" rIns="0" tIns="0" bIns="0" anchor="ctr">
            <a:noAutofit/>
          </a:bodyPr>
          <a:lstStyle/>
          <a:p>
            <a:pPr algn="l"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후공정</a:t>
            </a:r>
            <a:r>
              <a:rPr sz="1400" b="0" i="0" lang="ko-KR" altLang="en-US">
                <a:solidFill>
                  <a:srgbClr val="EA7A28"/>
                </a:solidFill>
                <a:latin typeface="맑은 고딕"/>
                <a:ea typeface="맑은 고딕"/>
                <a:cs typeface="맑은 고딕"/>
              </a:rPr>
              <a:t>  Back End</a:t>
            </a:r>
          </a:p>
        </p:txBody>
      </p:sp>
      <p:sp>
        <p:nvSpPr>
          <p:cNvPr id="10" name="TextBox 9"/>
          <p:cNvSpPr txBox="1"/>
          <p:nvPr/>
        </p:nvSpPr>
        <p:spPr>
          <a:xfrm>
            <a:off x="7332120" y="1638000"/>
            <a:ext cx="374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절단 · 조립 · 패키징 · 테스트</a:t>
            </a:r>
          </a:p>
        </p:txBody>
      </p:sp>
      <p:sp>
        <p:nvSpPr>
          <p:cNvPr id="11" name="Rounded Rectangle 10"/>
          <p:cNvSpPr/>
          <p:nvPr/>
        </p:nvSpPr>
        <p:spPr>
          <a:xfrm>
            <a:off x="7332120" y="2196000"/>
            <a:ext cx="3744000" cy="43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조립·테스트 전문업체(OSAT)</a:t>
            </a:r>
          </a:p>
        </p:txBody>
      </p:sp>
      <p:cxnSp>
        <p:nvCxnSpPr>
          <p:cNvPr id="12" name="Connector 11"/>
          <p:cNvCxnSpPr/>
          <p:nvPr/>
        </p:nvCxnSpPr>
        <p:spPr>
          <a:xfrm>
            <a:off x="6096060" y="1044000"/>
            <a:ext cx="0" cy="684000"/>
          </a:xfrm>
          <a:prstGeom prst="line">
            <a:avLst/>
          </a:prstGeom>
          <a:ln w="25400">
            <a:solidFill>
              <a:srgbClr val="13294B"/>
            </a:solidFill>
            <a:prstDash val="dash"/>
          </a:ln>
        </p:spPr>
      </p:cxnSp>
      <p:cxnSp>
        <p:nvCxnSpPr>
          <p:cNvPr id="13" name="Connector 12"/>
          <p:cNvCxnSpPr/>
          <p:nvPr/>
        </p:nvCxnSpPr>
        <p:spPr>
          <a:xfrm>
            <a:off x="6096060" y="2538000"/>
            <a:ext cx="0" cy="378000"/>
          </a:xfrm>
          <a:prstGeom prst="line">
            <a:avLst/>
          </a:prstGeom>
          <a:ln w="25400">
            <a:solidFill>
              <a:srgbClr val="13294B"/>
            </a:solidFill>
            <a:prstDash val="dash"/>
          </a:ln>
        </p:spPr>
      </p:cxnSp>
      <p:sp>
        <p:nvSpPr>
          <p:cNvPr id="14" name="Rounded Rectangle 13"/>
          <p:cNvSpPr/>
          <p:nvPr/>
        </p:nvSpPr>
        <p:spPr>
          <a:xfrm>
            <a:off x="5160060" y="1782000"/>
            <a:ext cx="1872000" cy="396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인터페이스</a:t>
            </a:r>
          </a:p>
        </p:txBody>
      </p:sp>
      <p:sp>
        <p:nvSpPr>
          <p:cNvPr id="15" name="TextBox 14"/>
          <p:cNvSpPr txBox="1"/>
          <p:nvPr/>
        </p:nvSpPr>
        <p:spPr>
          <a:xfrm>
            <a:off x="4944060" y="2214000"/>
            <a:ext cx="2304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반세기 이상의 분업</a:t>
            </a:r>
          </a:p>
        </p:txBody>
      </p:sp>
      <p:sp>
        <p:nvSpPr>
          <p:cNvPr id="16" name="Rounded Rectangle 15"/>
          <p:cNvSpPr/>
          <p:nvPr/>
        </p:nvSpPr>
        <p:spPr>
          <a:xfrm>
            <a:off x="570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17" name="Picture 16" descr="FaHourglassHalf_13294B.png"/>
          <p:cNvPicPr>
            <a:picLocks noChangeAspect="1"/>
          </p:cNvPicPr>
          <p:nvPr/>
        </p:nvPicPr>
        <p:blipFill>
          <a:blip r:embed="rId3"/>
          <a:stretch>
            <a:fillRect/>
          </a:stretch>
        </p:blipFill>
        <p:spPr>
          <a:xfrm>
            <a:off x="1902060" y="3636000"/>
            <a:ext cx="540000" cy="540000"/>
          </a:xfrm>
          <a:prstGeom prst="rect">
            <a:avLst/>
          </a:prstGeom>
        </p:spPr>
      </p:pic>
      <p:sp>
        <p:nvSpPr>
          <p:cNvPr id="18" name="TextBox 17"/>
          <p:cNvSpPr txBox="1"/>
          <p:nvPr/>
        </p:nvSpPr>
        <p:spPr>
          <a:xfrm>
            <a:off x="678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미세화의 한계</a:t>
            </a:r>
          </a:p>
        </p:txBody>
      </p:sp>
      <p:sp>
        <p:nvSpPr>
          <p:cNvPr id="19" name="TextBox 18"/>
          <p:cNvSpPr txBox="1"/>
          <p:nvPr/>
        </p:nvSpPr>
        <p:spPr>
          <a:xfrm>
            <a:off x="678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집적도 향상 둔화 · 비용 급증</a:t>
            </a:r>
          </a:p>
        </p:txBody>
      </p:sp>
      <p:cxnSp>
        <p:nvCxnSpPr>
          <p:cNvPr id="20" name="Connector 19"/>
          <p:cNvCxnSpPr/>
          <p:nvPr/>
        </p:nvCxnSpPr>
        <p:spPr>
          <a:xfrm>
            <a:off x="3864060" y="4338000"/>
            <a:ext cx="540000" cy="0"/>
          </a:xfrm>
          <a:prstGeom prst="line">
            <a:avLst/>
          </a:prstGeom>
          <a:ln w="31750">
            <a:solidFill>
              <a:srgbClr val="13294B"/>
            </a:solidFill>
            <a:tailEnd type="triangle" w="med" len="med"/>
          </a:ln>
        </p:spPr>
      </p:cxnSp>
      <p:sp>
        <p:nvSpPr>
          <p:cNvPr id="21" name="Rounded Rectangle 20"/>
          <p:cNvSpPr/>
          <p:nvPr/>
        </p:nvSpPr>
        <p:spPr>
          <a:xfrm>
            <a:off x="4494060" y="3456000"/>
            <a:ext cx="3204000" cy="1764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pic>
        <p:nvPicPr>
          <p:cNvPr id="22" name="Picture 21" descr="FaLayerGroup_13294B.png"/>
          <p:cNvPicPr>
            <a:picLocks noChangeAspect="1"/>
          </p:cNvPicPr>
          <p:nvPr/>
        </p:nvPicPr>
        <p:blipFill>
          <a:blip r:embed="rId4"/>
          <a:stretch>
            <a:fillRect/>
          </a:stretch>
        </p:blipFill>
        <p:spPr>
          <a:xfrm>
            <a:off x="5826060" y="3636000"/>
            <a:ext cx="540000" cy="540000"/>
          </a:xfrm>
          <a:prstGeom prst="rect">
            <a:avLst/>
          </a:prstGeom>
        </p:spPr>
      </p:pic>
      <p:sp>
        <p:nvSpPr>
          <p:cNvPr id="23" name="TextBox 22"/>
          <p:cNvSpPr txBox="1"/>
          <p:nvPr/>
        </p:nvSpPr>
        <p:spPr>
          <a:xfrm>
            <a:off x="4602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첨단 패키징</a:t>
            </a:r>
          </a:p>
        </p:txBody>
      </p:sp>
      <p:sp>
        <p:nvSpPr>
          <p:cNvPr id="24" name="TextBox 23"/>
          <p:cNvSpPr txBox="1"/>
          <p:nvPr/>
        </p:nvSpPr>
        <p:spPr>
          <a:xfrm>
            <a:off x="4602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다이 분할 · 적층 · 연결</a:t>
            </a:r>
          </a:p>
        </p:txBody>
      </p:sp>
      <p:cxnSp>
        <p:nvCxnSpPr>
          <p:cNvPr id="25" name="Connector 24"/>
          <p:cNvCxnSpPr/>
          <p:nvPr/>
        </p:nvCxnSpPr>
        <p:spPr>
          <a:xfrm>
            <a:off x="7788060" y="4338000"/>
            <a:ext cx="540000" cy="0"/>
          </a:xfrm>
          <a:prstGeom prst="line">
            <a:avLst/>
          </a:prstGeom>
          <a:ln w="31750">
            <a:solidFill>
              <a:srgbClr val="13294B"/>
            </a:solidFill>
            <a:tailEnd type="triangle" w="med" len="med"/>
          </a:ln>
        </p:spPr>
      </p:cxnSp>
      <p:sp>
        <p:nvSpPr>
          <p:cNvPr id="26" name="Rounded Rectangle 25"/>
          <p:cNvSpPr/>
          <p:nvPr/>
        </p:nvSpPr>
        <p:spPr>
          <a:xfrm>
            <a:off x="8418060" y="3456000"/>
            <a:ext cx="3204000" cy="1764000"/>
          </a:xfrm>
          <a:prstGeom prst="roundRect">
            <a:avLst>
              <a:gd name="adj" fmla="val 6000"/>
            </a:avLst>
          </a:prstGeom>
          <a:solidFill>
            <a:srgbClr val="FFFFFF"/>
          </a:solidFill>
          <a:ln w="12700">
            <a:solidFill>
              <a:srgbClr val="13294B"/>
            </a:solidFill>
          </a:ln>
        </p:spPr>
        <p:txBody>
          <a:bodyPr rtlCol="0" anchor="ctr" lIns="36000" rIns="36000" tIns="36000" bIns="36000"/>
          <a:lstStyle/>
          <a:p>
            <a:pPr algn="ctr"/>
          </a:p>
        </p:txBody>
      </p:sp>
      <p:pic>
        <p:nvPicPr>
          <p:cNvPr id="27" name="Picture 26" descr="FaLink_13294B.png"/>
          <p:cNvPicPr>
            <a:picLocks noChangeAspect="1"/>
          </p:cNvPicPr>
          <p:nvPr/>
        </p:nvPicPr>
        <p:blipFill>
          <a:blip r:embed="rId5"/>
          <a:stretch>
            <a:fillRect/>
          </a:stretch>
        </p:blipFill>
        <p:spPr>
          <a:xfrm>
            <a:off x="9750060" y="3636000"/>
            <a:ext cx="540000" cy="540000"/>
          </a:xfrm>
          <a:prstGeom prst="rect">
            <a:avLst/>
          </a:prstGeom>
        </p:spPr>
      </p:pic>
      <p:sp>
        <p:nvSpPr>
          <p:cNvPr id="28" name="TextBox 27"/>
          <p:cNvSpPr txBox="1"/>
          <p:nvPr/>
        </p:nvSpPr>
        <p:spPr>
          <a:xfrm>
            <a:off x="8526060" y="4248000"/>
            <a:ext cx="2988000" cy="360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공정 단계 간 상호의존</a:t>
            </a:r>
          </a:p>
        </p:txBody>
      </p:sp>
      <p:sp>
        <p:nvSpPr>
          <p:cNvPr id="29" name="TextBox 28"/>
          <p:cNvSpPr txBox="1"/>
          <p:nvPr/>
        </p:nvSpPr>
        <p:spPr>
          <a:xfrm>
            <a:off x="8526060" y="4626000"/>
            <a:ext cx="2988000" cy="684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한 단계의 성능이</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다른 단계의 공정 역량에 의존</a:t>
            </a:r>
          </a:p>
        </p:txBody>
      </p:sp>
      <p:sp>
        <p:nvSpPr>
          <p:cNvPr id="30" name="Source"/>
          <p:cNvSpPr txBox="1"/>
          <p:nvPr/>
        </p:nvSpPr>
        <p:spPr>
          <a:xfrm>
            <a:off x="540000" y="540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(2013); Macher &amp; Mowery (2004); Arden et al. (2010); Khan et al. (2018)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후공정의 목표를 위해 전공정의 역량이 필요해졌다: 두 공정 단계의 경계가 흔들린다</a:t>
            </a:r>
          </a:p>
        </p:txBody>
      </p:sp>
      <p:sp>
        <p:nvSpPr>
          <p:cNvPr id="4" name="Rounded Rectangle 3"/>
          <p:cNvSpPr/>
          <p:nvPr/>
        </p:nvSpPr>
        <p:spPr>
          <a:xfrm>
            <a:off x="3816000" y="936000"/>
            <a:ext cx="4572000" cy="370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3816000" y="990000"/>
            <a:ext cx="4572000" cy="30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솔더 범프 접합과 하이브리드 본딩 (개념도)</a:t>
            </a:r>
          </a:p>
        </p:txBody>
      </p:sp>
      <p:sp>
        <p:nvSpPr>
          <p:cNvPr id="6" name="TextBox 5"/>
          <p:cNvSpPr txBox="1"/>
          <p:nvPr/>
        </p:nvSpPr>
        <p:spPr>
          <a:xfrm>
            <a:off x="3996000" y="1350000"/>
            <a:ext cx="1854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기존: 솔더 범프</a:t>
            </a:r>
          </a:p>
        </p:txBody>
      </p:sp>
      <p:sp>
        <p:nvSpPr>
          <p:cNvPr id="7" name="Rectangle 6"/>
          <p:cNvSpPr/>
          <p:nvPr/>
        </p:nvSpPr>
        <p:spPr>
          <a:xfrm>
            <a:off x="3996000" y="1692000"/>
            <a:ext cx="1854000" cy="540000"/>
          </a:xfrm>
          <a:prstGeom prst="rect">
            <a:avLst/>
          </a:prstGeom>
          <a:solidFill>
            <a:srgbClr val="8A97AD"/>
          </a:solidFill>
          <a:ln>
            <a:noFill/>
          </a:ln>
        </p:spPr>
        <p:txBody>
          <a:bodyPr rtlCol="0" anchor="ctr" lIns="36000" rIns="36000" tIns="36000" bIns="36000"/>
          <a:lstStyle/>
          <a:p>
            <a:pPr algn="ctr"/>
          </a:p>
        </p:txBody>
      </p:sp>
      <p:sp>
        <p:nvSpPr>
          <p:cNvPr id="8" name="Oval 7"/>
          <p:cNvSpPr/>
          <p:nvPr/>
        </p:nvSpPr>
        <p:spPr>
          <a:xfrm>
            <a:off x="4194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9" name="Oval 8"/>
          <p:cNvSpPr/>
          <p:nvPr/>
        </p:nvSpPr>
        <p:spPr>
          <a:xfrm>
            <a:off x="4482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0" name="Oval 9"/>
          <p:cNvSpPr/>
          <p:nvPr/>
        </p:nvSpPr>
        <p:spPr>
          <a:xfrm>
            <a:off x="4770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1" name="Oval 10"/>
          <p:cNvSpPr/>
          <p:nvPr/>
        </p:nvSpPr>
        <p:spPr>
          <a:xfrm>
            <a:off x="5058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2" name="Oval 11"/>
          <p:cNvSpPr/>
          <p:nvPr/>
        </p:nvSpPr>
        <p:spPr>
          <a:xfrm>
            <a:off x="5346000" y="2224800"/>
            <a:ext cx="306000" cy="302400"/>
          </a:xfrm>
          <a:prstGeom prst="ellipse">
            <a:avLst/>
          </a:prstGeom>
          <a:solidFill>
            <a:srgbClr val="A9AFBA"/>
          </a:solidFill>
          <a:ln w="9525">
            <a:solidFill>
              <a:srgbClr val="7D8594"/>
            </a:solidFill>
          </a:ln>
        </p:spPr>
        <p:txBody>
          <a:bodyPr rtlCol="0" anchor="ctr" lIns="36000" rIns="36000" tIns="36000" bIns="36000"/>
          <a:lstStyle/>
          <a:p>
            <a:pPr algn="ctr"/>
          </a:p>
        </p:txBody>
      </p:sp>
      <p:sp>
        <p:nvSpPr>
          <p:cNvPr id="13" name="Rectangle 12"/>
          <p:cNvSpPr/>
          <p:nvPr/>
        </p:nvSpPr>
        <p:spPr>
          <a:xfrm>
            <a:off x="3996000" y="2520000"/>
            <a:ext cx="1854000" cy="540000"/>
          </a:xfrm>
          <a:prstGeom prst="rect">
            <a:avLst/>
          </a:prstGeom>
          <a:solidFill>
            <a:srgbClr val="5E6C85"/>
          </a:solidFill>
          <a:ln>
            <a:noFill/>
          </a:ln>
        </p:spPr>
        <p:txBody>
          <a:bodyPr rtlCol="0" anchor="ctr" lIns="36000" rIns="36000" tIns="36000" bIns="36000"/>
          <a:lstStyle/>
          <a:p>
            <a:pPr algn="ctr"/>
          </a:p>
        </p:txBody>
      </p:sp>
      <p:sp>
        <p:nvSpPr>
          <p:cNvPr id="14" name="TextBox 13"/>
          <p:cNvSpPr txBox="1"/>
          <p:nvPr/>
        </p:nvSpPr>
        <p:spPr>
          <a:xfrm>
            <a:off x="3996000" y="3132000"/>
            <a:ext cx="1854000" cy="27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연결 간격 축소에 한계</a:t>
            </a:r>
          </a:p>
        </p:txBody>
      </p:sp>
      <p:sp>
        <p:nvSpPr>
          <p:cNvPr id="15" name="TextBox 14"/>
          <p:cNvSpPr txBox="1"/>
          <p:nvPr/>
        </p:nvSpPr>
        <p:spPr>
          <a:xfrm>
            <a:off x="6354000" y="1350000"/>
            <a:ext cx="1854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하이브리드 본딩</a:t>
            </a:r>
          </a:p>
        </p:txBody>
      </p:sp>
      <p:sp>
        <p:nvSpPr>
          <p:cNvPr id="16" name="Rectangle 15"/>
          <p:cNvSpPr/>
          <p:nvPr/>
        </p:nvSpPr>
        <p:spPr>
          <a:xfrm>
            <a:off x="6354000" y="1692000"/>
            <a:ext cx="1854000" cy="540000"/>
          </a:xfrm>
          <a:prstGeom prst="rect">
            <a:avLst/>
          </a:prstGeom>
          <a:solidFill>
            <a:srgbClr val="8A97AD"/>
          </a:solidFill>
          <a:ln>
            <a:noFill/>
          </a:ln>
        </p:spPr>
        <p:txBody>
          <a:bodyPr rtlCol="0" anchor="ctr" lIns="36000" rIns="36000" tIns="36000" bIns="36000"/>
          <a:lstStyle/>
          <a:p>
            <a:pPr algn="ctr"/>
          </a:p>
        </p:txBody>
      </p:sp>
      <p:sp>
        <p:nvSpPr>
          <p:cNvPr id="17" name="Rectangle 16"/>
          <p:cNvSpPr/>
          <p:nvPr/>
        </p:nvSpPr>
        <p:spPr>
          <a:xfrm>
            <a:off x="6354000" y="2095200"/>
            <a:ext cx="1854000" cy="136800"/>
          </a:xfrm>
          <a:prstGeom prst="rect">
            <a:avLst/>
          </a:prstGeom>
          <a:solidFill>
            <a:srgbClr val="BFE3E6"/>
          </a:solidFill>
          <a:ln>
            <a:noFill/>
          </a:ln>
        </p:spPr>
        <p:txBody>
          <a:bodyPr rtlCol="0" anchor="ctr" lIns="36000" rIns="36000" tIns="36000" bIns="36000"/>
          <a:lstStyle/>
          <a:p>
            <a:pPr algn="ctr"/>
          </a:p>
        </p:txBody>
      </p:sp>
      <p:sp>
        <p:nvSpPr>
          <p:cNvPr id="18" name="Rectangle 17"/>
          <p:cNvSpPr/>
          <p:nvPr/>
        </p:nvSpPr>
        <p:spPr>
          <a:xfrm>
            <a:off x="6354000" y="2268000"/>
            <a:ext cx="1854000" cy="136800"/>
          </a:xfrm>
          <a:prstGeom prst="rect">
            <a:avLst/>
          </a:prstGeom>
          <a:solidFill>
            <a:srgbClr val="BFE3E6"/>
          </a:solidFill>
          <a:ln>
            <a:noFill/>
          </a:ln>
        </p:spPr>
        <p:txBody>
          <a:bodyPr rtlCol="0" anchor="ctr" lIns="36000" rIns="36000" tIns="36000" bIns="36000"/>
          <a:lstStyle/>
          <a:p>
            <a:pPr algn="ctr"/>
          </a:p>
        </p:txBody>
      </p:sp>
      <p:sp>
        <p:nvSpPr>
          <p:cNvPr id="19" name="Rectangle 18"/>
          <p:cNvSpPr/>
          <p:nvPr/>
        </p:nvSpPr>
        <p:spPr>
          <a:xfrm>
            <a:off x="6516000" y="2095200"/>
            <a:ext cx="252000" cy="136800"/>
          </a:xfrm>
          <a:prstGeom prst="rect">
            <a:avLst/>
          </a:prstGeom>
          <a:solidFill>
            <a:srgbClr val="EA7A28"/>
          </a:solidFill>
          <a:ln>
            <a:noFill/>
          </a:ln>
        </p:spPr>
        <p:txBody>
          <a:bodyPr rtlCol="0" anchor="ctr" lIns="36000" rIns="36000" tIns="36000" bIns="36000"/>
          <a:lstStyle/>
          <a:p>
            <a:pPr algn="ctr"/>
          </a:p>
        </p:txBody>
      </p:sp>
      <p:sp>
        <p:nvSpPr>
          <p:cNvPr id="20" name="Rectangle 19"/>
          <p:cNvSpPr/>
          <p:nvPr/>
        </p:nvSpPr>
        <p:spPr>
          <a:xfrm>
            <a:off x="6516000" y="2268000"/>
            <a:ext cx="252000" cy="136800"/>
          </a:xfrm>
          <a:prstGeom prst="rect">
            <a:avLst/>
          </a:prstGeom>
          <a:solidFill>
            <a:srgbClr val="EA7A28"/>
          </a:solidFill>
          <a:ln>
            <a:noFill/>
          </a:ln>
        </p:spPr>
        <p:txBody>
          <a:bodyPr rtlCol="0" anchor="ctr" lIns="36000" rIns="36000" tIns="36000" bIns="36000"/>
          <a:lstStyle/>
          <a:p>
            <a:pPr algn="ctr"/>
          </a:p>
        </p:txBody>
      </p:sp>
      <p:sp>
        <p:nvSpPr>
          <p:cNvPr id="21" name="Rectangle 20"/>
          <p:cNvSpPr/>
          <p:nvPr/>
        </p:nvSpPr>
        <p:spPr>
          <a:xfrm>
            <a:off x="6771600" y="2095200"/>
            <a:ext cx="252000" cy="136800"/>
          </a:xfrm>
          <a:prstGeom prst="rect">
            <a:avLst/>
          </a:prstGeom>
          <a:solidFill>
            <a:srgbClr val="EA7A28"/>
          </a:solidFill>
          <a:ln>
            <a:noFill/>
          </a:ln>
        </p:spPr>
        <p:txBody>
          <a:bodyPr rtlCol="0" anchor="ctr" lIns="36000" rIns="36000" tIns="36000" bIns="36000"/>
          <a:lstStyle/>
          <a:p>
            <a:pPr algn="ctr"/>
          </a:p>
        </p:txBody>
      </p:sp>
      <p:sp>
        <p:nvSpPr>
          <p:cNvPr id="22" name="Rectangle 21"/>
          <p:cNvSpPr/>
          <p:nvPr/>
        </p:nvSpPr>
        <p:spPr>
          <a:xfrm>
            <a:off x="6771600" y="2268000"/>
            <a:ext cx="252000" cy="1368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027200" y="2095200"/>
            <a:ext cx="252000" cy="136800"/>
          </a:xfrm>
          <a:prstGeom prst="rect">
            <a:avLst/>
          </a:prstGeom>
          <a:solidFill>
            <a:srgbClr val="EA7A28"/>
          </a:solidFill>
          <a:ln>
            <a:noFill/>
          </a:ln>
        </p:spPr>
        <p:txBody>
          <a:bodyPr rtlCol="0" anchor="ctr" lIns="36000" rIns="36000" tIns="36000" bIns="36000"/>
          <a:lstStyle/>
          <a:p>
            <a:pPr algn="ctr"/>
          </a:p>
        </p:txBody>
      </p:sp>
      <p:sp>
        <p:nvSpPr>
          <p:cNvPr id="24" name="Rectangle 23"/>
          <p:cNvSpPr/>
          <p:nvPr/>
        </p:nvSpPr>
        <p:spPr>
          <a:xfrm>
            <a:off x="7027200" y="2268000"/>
            <a:ext cx="252000" cy="136800"/>
          </a:xfrm>
          <a:prstGeom prst="rect">
            <a:avLst/>
          </a:prstGeom>
          <a:solidFill>
            <a:srgbClr val="EA7A28"/>
          </a:solidFill>
          <a:ln>
            <a:noFill/>
          </a:ln>
        </p:spPr>
        <p:txBody>
          <a:bodyPr rtlCol="0" anchor="ctr" lIns="36000" rIns="36000" tIns="36000" bIns="36000"/>
          <a:lstStyle/>
          <a:p>
            <a:pPr algn="ctr"/>
          </a:p>
        </p:txBody>
      </p:sp>
      <p:sp>
        <p:nvSpPr>
          <p:cNvPr id="25" name="Rectangle 24"/>
          <p:cNvSpPr/>
          <p:nvPr/>
        </p:nvSpPr>
        <p:spPr>
          <a:xfrm>
            <a:off x="7282800" y="2095200"/>
            <a:ext cx="252000" cy="136800"/>
          </a:xfrm>
          <a:prstGeom prst="rect">
            <a:avLst/>
          </a:prstGeom>
          <a:solidFill>
            <a:srgbClr val="EA7A28"/>
          </a:solidFill>
          <a:ln>
            <a:noFill/>
          </a:ln>
        </p:spPr>
        <p:txBody>
          <a:bodyPr rtlCol="0" anchor="ctr" lIns="36000" rIns="36000" tIns="36000" bIns="36000"/>
          <a:lstStyle/>
          <a:p>
            <a:pPr algn="ctr"/>
          </a:p>
        </p:txBody>
      </p:sp>
      <p:sp>
        <p:nvSpPr>
          <p:cNvPr id="26" name="Rectangle 25"/>
          <p:cNvSpPr/>
          <p:nvPr/>
        </p:nvSpPr>
        <p:spPr>
          <a:xfrm>
            <a:off x="7282800" y="2268000"/>
            <a:ext cx="252000" cy="136800"/>
          </a:xfrm>
          <a:prstGeom prst="rect">
            <a:avLst/>
          </a:prstGeom>
          <a:solidFill>
            <a:srgbClr val="EA7A28"/>
          </a:solidFill>
          <a:ln>
            <a:noFill/>
          </a:ln>
        </p:spPr>
        <p:txBody>
          <a:bodyPr rtlCol="0" anchor="ctr" lIns="36000" rIns="36000" tIns="36000" bIns="36000"/>
          <a:lstStyle/>
          <a:p>
            <a:pPr algn="ctr"/>
          </a:p>
        </p:txBody>
      </p:sp>
      <p:sp>
        <p:nvSpPr>
          <p:cNvPr id="27" name="Rectangle 26"/>
          <p:cNvSpPr/>
          <p:nvPr/>
        </p:nvSpPr>
        <p:spPr>
          <a:xfrm>
            <a:off x="7538400" y="2095200"/>
            <a:ext cx="252000" cy="136800"/>
          </a:xfrm>
          <a:prstGeom prst="rect">
            <a:avLst/>
          </a:prstGeom>
          <a:solidFill>
            <a:srgbClr val="EA7A28"/>
          </a:solidFill>
          <a:ln>
            <a:noFill/>
          </a:ln>
        </p:spPr>
        <p:txBody>
          <a:bodyPr rtlCol="0" anchor="ctr" lIns="36000" rIns="36000" tIns="36000" bIns="36000"/>
          <a:lstStyle/>
          <a:p>
            <a:pPr algn="ctr"/>
          </a:p>
        </p:txBody>
      </p:sp>
      <p:sp>
        <p:nvSpPr>
          <p:cNvPr id="28" name="Rectangle 27"/>
          <p:cNvSpPr/>
          <p:nvPr/>
        </p:nvSpPr>
        <p:spPr>
          <a:xfrm>
            <a:off x="7538400" y="2268000"/>
            <a:ext cx="252000" cy="136800"/>
          </a:xfrm>
          <a:prstGeom prst="rect">
            <a:avLst/>
          </a:prstGeom>
          <a:solidFill>
            <a:srgbClr val="EA7A28"/>
          </a:solidFill>
          <a:ln>
            <a:noFill/>
          </a:ln>
        </p:spPr>
        <p:txBody>
          <a:bodyPr rtlCol="0" anchor="ctr" lIns="36000" rIns="36000" tIns="36000" bIns="36000"/>
          <a:lstStyle/>
          <a:p>
            <a:pPr algn="ctr"/>
          </a:p>
        </p:txBody>
      </p:sp>
      <p:sp>
        <p:nvSpPr>
          <p:cNvPr id="29" name="Rectangle 28"/>
          <p:cNvSpPr/>
          <p:nvPr/>
        </p:nvSpPr>
        <p:spPr>
          <a:xfrm>
            <a:off x="7794000" y="2095200"/>
            <a:ext cx="252000" cy="136800"/>
          </a:xfrm>
          <a:prstGeom prst="rect">
            <a:avLst/>
          </a:prstGeom>
          <a:solidFill>
            <a:srgbClr val="EA7A28"/>
          </a:solidFill>
          <a:ln>
            <a:noFill/>
          </a:ln>
        </p:spPr>
        <p:txBody>
          <a:bodyPr rtlCol="0" anchor="ctr" lIns="36000" rIns="36000" tIns="36000" bIns="36000"/>
          <a:lstStyle/>
          <a:p>
            <a:pPr algn="ctr"/>
          </a:p>
        </p:txBody>
      </p:sp>
      <p:sp>
        <p:nvSpPr>
          <p:cNvPr id="30" name="Rectangle 29"/>
          <p:cNvSpPr/>
          <p:nvPr/>
        </p:nvSpPr>
        <p:spPr>
          <a:xfrm>
            <a:off x="7794000" y="2268000"/>
            <a:ext cx="252000" cy="136800"/>
          </a:xfrm>
          <a:prstGeom prst="rect">
            <a:avLst/>
          </a:prstGeom>
          <a:solidFill>
            <a:srgbClr val="EA7A28"/>
          </a:solidFill>
          <a:ln>
            <a:noFill/>
          </a:ln>
        </p:spPr>
        <p:txBody>
          <a:bodyPr rtlCol="0" anchor="ctr" lIns="36000" rIns="36000" tIns="36000" bIns="36000"/>
          <a:lstStyle/>
          <a:p>
            <a:pPr algn="ctr"/>
          </a:p>
        </p:txBody>
      </p:sp>
      <p:sp>
        <p:nvSpPr>
          <p:cNvPr id="31" name="Rectangle 30"/>
          <p:cNvSpPr/>
          <p:nvPr/>
        </p:nvSpPr>
        <p:spPr>
          <a:xfrm>
            <a:off x="6354000" y="2232000"/>
            <a:ext cx="1854000" cy="36000"/>
          </a:xfrm>
          <a:prstGeom prst="rect">
            <a:avLst/>
          </a:prstGeom>
          <a:solidFill>
            <a:srgbClr val="7C3AED"/>
          </a:solidFill>
          <a:ln>
            <a:noFill/>
          </a:ln>
        </p:spPr>
        <p:txBody>
          <a:bodyPr rtlCol="0" anchor="ctr" lIns="36000" rIns="36000" tIns="36000" bIns="36000"/>
          <a:lstStyle/>
          <a:p>
            <a:pPr algn="ctr"/>
          </a:p>
        </p:txBody>
      </p:sp>
      <p:sp>
        <p:nvSpPr>
          <p:cNvPr id="32" name="Rectangle 31"/>
          <p:cNvSpPr/>
          <p:nvPr/>
        </p:nvSpPr>
        <p:spPr>
          <a:xfrm>
            <a:off x="6354000" y="2404800"/>
            <a:ext cx="1854000" cy="540000"/>
          </a:xfrm>
          <a:prstGeom prst="rect">
            <a:avLst/>
          </a:prstGeom>
          <a:solidFill>
            <a:srgbClr val="5E6C85"/>
          </a:solidFill>
          <a:ln>
            <a:noFill/>
          </a:ln>
        </p:spPr>
        <p:txBody>
          <a:bodyPr rtlCol="0" anchor="ctr" lIns="36000" rIns="36000" tIns="36000" bIns="36000"/>
          <a:lstStyle/>
          <a:p>
            <a:pPr algn="ctr"/>
          </a:p>
        </p:txBody>
      </p:sp>
      <p:sp>
        <p:nvSpPr>
          <p:cNvPr id="33" name="TextBox 32"/>
          <p:cNvSpPr txBox="1"/>
          <p:nvPr/>
        </p:nvSpPr>
        <p:spPr>
          <a:xfrm>
            <a:off x="6354000" y="3016800"/>
            <a:ext cx="1854000" cy="270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10 µm 이하 연결 간격</a:t>
            </a:r>
          </a:p>
        </p:txBody>
      </p:sp>
      <p:cxnSp>
        <p:nvCxnSpPr>
          <p:cNvPr id="34" name="Connector 33"/>
          <p:cNvCxnSpPr/>
          <p:nvPr/>
        </p:nvCxnSpPr>
        <p:spPr>
          <a:xfrm>
            <a:off x="5940000" y="2304000"/>
            <a:ext cx="324000" cy="0"/>
          </a:xfrm>
          <a:prstGeom prst="line">
            <a:avLst/>
          </a:prstGeom>
          <a:ln w="31750">
            <a:solidFill>
              <a:srgbClr val="7C3AED"/>
            </a:solidFill>
            <a:tailEnd type="triangle" w="med" len="med"/>
          </a:ln>
        </p:spPr>
      </p:cxnSp>
      <p:sp>
        <p:nvSpPr>
          <p:cNvPr id="35" name="Rectangle 34"/>
          <p:cNvSpPr/>
          <p:nvPr/>
        </p:nvSpPr>
        <p:spPr>
          <a:xfrm>
            <a:off x="4140000" y="3438000"/>
            <a:ext cx="151200" cy="151200"/>
          </a:xfrm>
          <a:prstGeom prst="rect">
            <a:avLst/>
          </a:prstGeom>
          <a:solidFill>
            <a:srgbClr val="A9AFBA"/>
          </a:solidFill>
          <a:ln>
            <a:noFill/>
          </a:ln>
        </p:spPr>
        <p:txBody>
          <a:bodyPr rtlCol="0" anchor="ctr" lIns="36000" rIns="36000" tIns="36000" bIns="36000"/>
          <a:lstStyle/>
          <a:p>
            <a:pPr algn="ctr"/>
          </a:p>
        </p:txBody>
      </p:sp>
      <p:sp>
        <p:nvSpPr>
          <p:cNvPr id="36" name="TextBox 35"/>
          <p:cNvSpPr txBox="1"/>
          <p:nvPr/>
        </p:nvSpPr>
        <p:spPr>
          <a:xfrm>
            <a:off x="4338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솔더 범프</a:t>
            </a:r>
          </a:p>
        </p:txBody>
      </p:sp>
      <p:sp>
        <p:nvSpPr>
          <p:cNvPr id="37" name="Rectangle 36"/>
          <p:cNvSpPr/>
          <p:nvPr/>
        </p:nvSpPr>
        <p:spPr>
          <a:xfrm>
            <a:off x="5166000" y="3438000"/>
            <a:ext cx="151200" cy="151200"/>
          </a:xfrm>
          <a:prstGeom prst="rect">
            <a:avLst/>
          </a:prstGeom>
          <a:solidFill>
            <a:srgbClr val="BFE3E6"/>
          </a:solidFill>
          <a:ln>
            <a:noFill/>
          </a:ln>
        </p:spPr>
        <p:txBody>
          <a:bodyPr rtlCol="0" anchor="ctr" lIns="36000" rIns="36000" tIns="36000" bIns="36000"/>
          <a:lstStyle/>
          <a:p>
            <a:pPr algn="ctr"/>
          </a:p>
        </p:txBody>
      </p:sp>
      <p:sp>
        <p:nvSpPr>
          <p:cNvPr id="38" name="TextBox 37"/>
          <p:cNvSpPr txBox="1"/>
          <p:nvPr/>
        </p:nvSpPr>
        <p:spPr>
          <a:xfrm>
            <a:off x="5364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산화막</a:t>
            </a:r>
          </a:p>
        </p:txBody>
      </p:sp>
      <p:sp>
        <p:nvSpPr>
          <p:cNvPr id="39" name="Rectangle 38"/>
          <p:cNvSpPr/>
          <p:nvPr/>
        </p:nvSpPr>
        <p:spPr>
          <a:xfrm>
            <a:off x="6192000" y="3438000"/>
            <a:ext cx="151200" cy="151200"/>
          </a:xfrm>
          <a:prstGeom prst="rect">
            <a:avLst/>
          </a:prstGeom>
          <a:solidFill>
            <a:srgbClr val="EA7A28"/>
          </a:solidFill>
          <a:ln>
            <a:noFill/>
          </a:ln>
        </p:spPr>
        <p:txBody>
          <a:bodyPr rtlCol="0" anchor="ctr" lIns="36000" rIns="36000" tIns="36000" bIns="36000"/>
          <a:lstStyle/>
          <a:p>
            <a:pPr algn="ctr"/>
          </a:p>
        </p:txBody>
      </p:sp>
      <p:sp>
        <p:nvSpPr>
          <p:cNvPr id="40" name="TextBox 39"/>
          <p:cNvSpPr txBox="1"/>
          <p:nvPr/>
        </p:nvSpPr>
        <p:spPr>
          <a:xfrm>
            <a:off x="6390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구리 패드</a:t>
            </a:r>
          </a:p>
        </p:txBody>
      </p:sp>
      <p:sp>
        <p:nvSpPr>
          <p:cNvPr id="41" name="Rectangle 40"/>
          <p:cNvSpPr/>
          <p:nvPr/>
        </p:nvSpPr>
        <p:spPr>
          <a:xfrm>
            <a:off x="7218000" y="3438000"/>
            <a:ext cx="151200" cy="151200"/>
          </a:xfrm>
          <a:prstGeom prst="rect">
            <a:avLst/>
          </a:prstGeom>
          <a:solidFill>
            <a:srgbClr val="7C3AED"/>
          </a:solidFill>
          <a:ln>
            <a:noFill/>
          </a:ln>
        </p:spPr>
        <p:txBody>
          <a:bodyPr rtlCol="0" anchor="ctr" lIns="36000" rIns="36000" tIns="36000" bIns="36000"/>
          <a:lstStyle/>
          <a:p>
            <a:pPr algn="ctr"/>
          </a:p>
        </p:txBody>
      </p:sp>
      <p:sp>
        <p:nvSpPr>
          <p:cNvPr id="42" name="TextBox 41"/>
          <p:cNvSpPr txBox="1"/>
          <p:nvPr/>
        </p:nvSpPr>
        <p:spPr>
          <a:xfrm>
            <a:off x="7416000" y="3387600"/>
            <a:ext cx="792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계면</a:t>
            </a:r>
          </a:p>
        </p:txBody>
      </p:sp>
      <p:sp>
        <p:nvSpPr>
          <p:cNvPr id="43" name="TextBox 42"/>
          <p:cNvSpPr txBox="1"/>
          <p:nvPr/>
        </p:nvSpPr>
        <p:spPr>
          <a:xfrm>
            <a:off x="3888000" y="3726000"/>
            <a:ext cx="4428000" cy="828000"/>
          </a:xfrm>
          <a:prstGeom prst="rect">
            <a:avLst/>
          </a:prstGeom>
          <a:noFill/>
        </p:spPr>
        <p:txBody>
          <a:bodyPr wrap="square" lIns="0" rIns="0" tIns="0" bIns="0" anchor="ctr">
            <a:noAutofit/>
          </a:bodyPr>
          <a:lstStyle/>
          <a:p>
            <a:pPr algn="ctr" marL="0" indent="0">
              <a:lnSpc>
                <a:spcPts val="1560"/>
              </a:lnSpc>
              <a:spcBef>
                <a:spcPts val="0"/>
              </a:spcBef>
              <a:spcAft>
                <a:spcPts val="400"/>
              </a:spcAft>
              <a:buNone/>
            </a:pPr>
            <a:r>
              <a:rPr sz="1300" b="1" i="0" lang="ko-KR" altLang="en-US">
                <a:solidFill>
                  <a:srgbClr val="1E2532"/>
                </a:solidFill>
                <a:latin typeface="맑은 고딕"/>
                <a:ea typeface="맑은 고딕"/>
                <a:cs typeface="맑은 고딕"/>
              </a:rPr>
              <a:t>솔더 범프 없이 구리–구리, 산화막–산화막을 직접 접합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비유: 접착제(솔더)로 붙이기 → 거울처럼 평평한 두 면을 그대로 맞붙이기</a:t>
            </a:r>
          </a:p>
        </p:txBody>
      </p:sp>
      <p:sp>
        <p:nvSpPr>
          <p:cNvPr id="44" name="Rounded Rectangle 43"/>
          <p:cNvSpPr/>
          <p:nvPr/>
        </p:nvSpPr>
        <p:spPr>
          <a:xfrm>
            <a:off x="540000" y="936000"/>
            <a:ext cx="2988000" cy="414000"/>
          </a:xfrm>
          <a:prstGeom prst="roundRect">
            <a:avLst>
              <a:gd name="adj" fmla="val 25000"/>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필수 역량 · 전공정</a:t>
            </a:r>
          </a:p>
        </p:txBody>
      </p:sp>
      <p:sp>
        <p:nvSpPr>
          <p:cNvPr id="45" name="Rounded Rectangle 44"/>
          <p:cNvSpPr/>
          <p:nvPr/>
        </p:nvSpPr>
        <p:spPr>
          <a:xfrm>
            <a:off x="540000" y="1494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CMP 평탄화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나노미터 수준의 표면</a:t>
            </a:r>
          </a:p>
        </p:txBody>
      </p:sp>
      <p:sp>
        <p:nvSpPr>
          <p:cNvPr id="46" name="Rounded Rectangle 45"/>
          <p:cNvSpPr/>
          <p:nvPr/>
        </p:nvSpPr>
        <p:spPr>
          <a:xfrm>
            <a:off x="540000" y="2232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표면 활성화</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플라즈마 처리</a:t>
            </a:r>
          </a:p>
        </p:txBody>
      </p:sp>
      <p:sp>
        <p:nvSpPr>
          <p:cNvPr id="47" name="Rounded Rectangle 46"/>
          <p:cNvSpPr/>
          <p:nvPr/>
        </p:nvSpPr>
        <p:spPr>
          <a:xfrm>
            <a:off x="540000" y="2970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파티클 제어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세정 · 오염 관리</a:t>
            </a:r>
          </a:p>
        </p:txBody>
      </p:sp>
      <p:sp>
        <p:nvSpPr>
          <p:cNvPr id="48" name="Rounded Rectangle 47"/>
          <p:cNvSpPr/>
          <p:nvPr/>
        </p:nvSpPr>
        <p:spPr>
          <a:xfrm>
            <a:off x="540000" y="3708000"/>
            <a:ext cx="2988000" cy="63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정밀 정렬</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패드 간 위치 정합</a:t>
            </a:r>
          </a:p>
        </p:txBody>
      </p:sp>
      <p:sp>
        <p:nvSpPr>
          <p:cNvPr id="49" name="TextBox 48"/>
          <p:cNvSpPr txBox="1"/>
          <p:nvPr/>
        </p:nvSpPr>
        <p:spPr>
          <a:xfrm>
            <a:off x="540000" y="4464000"/>
            <a:ext cx="2988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H01L21 (제조공정)</a:t>
            </a:r>
          </a:p>
        </p:txBody>
      </p:sp>
      <p:sp>
        <p:nvSpPr>
          <p:cNvPr id="50" name="Rounded Rectangle 49"/>
          <p:cNvSpPr/>
          <p:nvPr/>
        </p:nvSpPr>
        <p:spPr>
          <a:xfrm>
            <a:off x="8532000" y="936000"/>
            <a:ext cx="3120120" cy="414000"/>
          </a:xfrm>
          <a:prstGeom prst="roundRect">
            <a:avLst>
              <a:gd name="adj" fmla="val 25000"/>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목표 · 후공정</a:t>
            </a:r>
          </a:p>
        </p:txBody>
      </p:sp>
      <p:sp>
        <p:nvSpPr>
          <p:cNvPr id="51" name="Rounded Rectangle 50"/>
          <p:cNvSpPr/>
          <p:nvPr/>
        </p:nvSpPr>
        <p:spPr>
          <a:xfrm>
            <a:off x="8532000" y="149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10 µm 이하 연결 간격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연구 단계에서는 1 µm 이하</a:t>
            </a:r>
          </a:p>
        </p:txBody>
      </p:sp>
      <p:sp>
        <p:nvSpPr>
          <p:cNvPr id="52" name="Rounded Rectangle 51"/>
          <p:cNvSpPr/>
          <p:nvPr/>
        </p:nvSpPr>
        <p:spPr>
          <a:xfrm>
            <a:off x="8532000" y="248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다이 · 웨이퍼의 직접 적층</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W2W · D2W</a:t>
            </a:r>
          </a:p>
        </p:txBody>
      </p:sp>
      <p:sp>
        <p:nvSpPr>
          <p:cNvPr id="53" name="Rounded Rectangle 52"/>
          <p:cNvSpPr/>
          <p:nvPr/>
        </p:nvSpPr>
        <p:spPr>
          <a:xfrm>
            <a:off x="8532000" y="3474000"/>
            <a:ext cx="3120120" cy="864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HBM · 칩렛 · 3D 로직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CMOS 이미지센서 · 3D NAND에서 먼저 상용화</a:t>
            </a:r>
          </a:p>
        </p:txBody>
      </p:sp>
      <p:sp>
        <p:nvSpPr>
          <p:cNvPr id="54" name="TextBox 53"/>
          <p:cNvSpPr txBox="1"/>
          <p:nvPr/>
        </p:nvSpPr>
        <p:spPr>
          <a:xfrm>
            <a:off x="8532000" y="4464000"/>
            <a:ext cx="312012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H01L24 (접합 · 인터커넥트)</a:t>
            </a:r>
          </a:p>
        </p:txBody>
      </p:sp>
      <p:sp>
        <p:nvSpPr>
          <p:cNvPr id="55" name="Rounded Rectangle 54"/>
          <p:cNvSpPr/>
          <p:nvPr/>
        </p:nvSpPr>
        <p:spPr>
          <a:xfrm>
            <a:off x="540000" y="4824000"/>
            <a:ext cx="11112120" cy="99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6" name="TextBox 55"/>
          <p:cNvSpPr txBox="1"/>
          <p:nvPr/>
        </p:nvSpPr>
        <p:spPr>
          <a:xfrm>
            <a:off x="828000" y="4824000"/>
            <a:ext cx="10536120" cy="990000"/>
          </a:xfrm>
          <a:prstGeom prst="rect">
            <a:avLst/>
          </a:prstGeom>
          <a:noFill/>
        </p:spPr>
        <p:txBody>
          <a:bodyPr wrap="square" lIns="0" rIns="0" tIns="0" bIns="0" anchor="ctr">
            <a:noAutofit/>
          </a:bodyPr>
          <a:lstStyle/>
          <a:p>
            <a:pPr algn="ctr" marL="0" indent="0">
              <a:lnSpc>
                <a:spcPts val="1800"/>
              </a:lnSpc>
              <a:spcBef>
                <a:spcPts val="0"/>
              </a:spcBef>
              <a:spcAft>
                <a:spcPts val="400"/>
              </a:spcAft>
              <a:buNone/>
            </a:pPr>
            <a:r>
              <a:rPr sz="1500" b="1" i="0" lang="ko-KR" altLang="en-US">
                <a:solidFill>
                  <a:srgbClr val="FFFFFF"/>
                </a:solidFill>
                <a:latin typeface="맑은 고딕"/>
                <a:ea typeface="맑은 고딕"/>
                <a:cs typeface="맑은 고딕"/>
              </a:rPr>
              <a:t>반세기의 분업은 두 단계 사이의 인터페이스가 안정적이라는 전제 위에 있었다.</a:t>
            </a:r>
          </a:p>
          <a:p>
            <a:pPr algn="ctr" marL="0" indent="0">
              <a:lnSpc>
                <a:spcPts val="1800"/>
              </a:lnSpc>
              <a:spcBef>
                <a:spcPts val="0"/>
              </a:spcBef>
              <a:spcAft>
                <a:spcPts val="0"/>
              </a:spcAft>
              <a:buNone/>
            </a:pPr>
            <a:r>
              <a:rPr sz="1500" b="1" i="0" lang="ko-KR" altLang="en-US">
                <a:solidFill>
                  <a:srgbClr val="D4A72C"/>
                </a:solidFill>
                <a:latin typeface="맑은 고딕"/>
                <a:ea typeface="맑은 고딕"/>
                <a:cs typeface="맑은 고딕"/>
              </a:rPr>
              <a:t>하이브리드 본딩은 후공정 기술의 성패를 전공정의 제조공정 역량에 의존하게 만든다.</a:t>
            </a:r>
          </a:p>
        </p:txBody>
      </p:sp>
      <p:sp>
        <p:nvSpPr>
          <p:cNvPr id="57" name="Source"/>
          <p:cNvSpPr txBox="1"/>
          <p:nvPr/>
        </p:nvSpPr>
        <p:spPr>
          <a:xfrm>
            <a:off x="540000" y="5886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Lau (2021, 2022); KnowMade (2024)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1  </a:t>
            </a:r>
            <a:r>
              <a:rPr sz="2200" b="1" i="0" lang="ko-KR" altLang="en-US">
                <a:solidFill>
                  <a:srgbClr val="13294B"/>
                </a:solidFill>
                <a:latin typeface="맑은 고딕"/>
                <a:ea typeface="맑은 고딕"/>
                <a:cs typeface="맑은 고딕"/>
              </a:rPr>
              <a:t>서론</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산업의 공정 단계 사이에서 일어나는 융합을, 개별 특허 수준에서, 시간에 따라 분석한다</a:t>
            </a:r>
          </a:p>
        </p:txBody>
      </p:sp>
      <p:sp>
        <p:nvSpPr>
          <p:cNvPr id="4" name="Rectangle 3"/>
          <p:cNvSpPr/>
          <p:nvPr/>
        </p:nvSpPr>
        <p:spPr>
          <a:xfrm>
            <a:off x="684000" y="1116000"/>
            <a:ext cx="4788000" cy="4680000"/>
          </a:xfrm>
          <a:prstGeom prst="rect">
            <a:avLst/>
          </a:prstGeom>
          <a:noFill/>
          <a:ln w="12700">
            <a:solidFill>
              <a:srgbClr val="5B6475"/>
            </a:solidFill>
            <a:prstDash val="dash"/>
          </a:ln>
        </p:spPr>
        <p:txBody>
          <a:bodyPr rtlCol="0" anchor="ctr" lIns="36000" rIns="36000" tIns="36000" bIns="36000"/>
          <a:lstStyle/>
          <a:p>
            <a:pPr algn="ctr"/>
          </a:p>
        </p:txBody>
      </p:sp>
      <p:sp>
        <p:nvSpPr>
          <p:cNvPr id="5" name="Rectangle 4"/>
          <p:cNvSpPr/>
          <p:nvPr/>
        </p:nvSpPr>
        <p:spPr>
          <a:xfrm>
            <a:off x="1782000" y="936000"/>
            <a:ext cx="2592000" cy="360000"/>
          </a:xfrm>
          <a:prstGeom prst="rect">
            <a:avLst/>
          </a:prstGeom>
          <a:solidFill>
            <a:srgbClr val="5B6475"/>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기존 기술융합 연구</a:t>
            </a:r>
          </a:p>
        </p:txBody>
      </p:sp>
      <p:sp>
        <p:nvSpPr>
          <p:cNvPr id="6" name="Rounded Rectangle 5"/>
          <p:cNvSpPr/>
          <p:nvPr/>
        </p:nvSpPr>
        <p:spPr>
          <a:xfrm>
            <a:off x="864000" y="1476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7" name="Picture 6" descr="FaSitemap_5B6475.png"/>
          <p:cNvPicPr>
            <a:picLocks noChangeAspect="1"/>
          </p:cNvPicPr>
          <p:nvPr/>
        </p:nvPicPr>
        <p:blipFill>
          <a:blip r:embed="rId3"/>
          <a:stretch>
            <a:fillRect/>
          </a:stretch>
        </p:blipFill>
        <p:spPr>
          <a:xfrm>
            <a:off x="1026000" y="1602000"/>
            <a:ext cx="324000" cy="324000"/>
          </a:xfrm>
          <a:prstGeom prst="rect">
            <a:avLst/>
          </a:prstGeom>
        </p:spPr>
      </p:pic>
      <p:sp>
        <p:nvSpPr>
          <p:cNvPr id="8" name="TextBox 7"/>
          <p:cNvSpPr txBox="1"/>
          <p:nvPr/>
        </p:nvSpPr>
        <p:spPr>
          <a:xfrm>
            <a:off x="144000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분석 범위</a:t>
            </a:r>
          </a:p>
        </p:txBody>
      </p:sp>
      <p:sp>
        <p:nvSpPr>
          <p:cNvPr id="9" name="TextBox 8"/>
          <p:cNvSpPr txBox="1"/>
          <p:nvPr/>
        </p:nvSpPr>
        <p:spPr>
          <a:xfrm>
            <a:off x="102600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서로 다른 산업 · 기술 분야 사이</a:t>
            </a:r>
          </a:p>
        </p:txBody>
      </p:sp>
      <p:sp>
        <p:nvSpPr>
          <p:cNvPr id="10" name="TextBox 9"/>
          <p:cNvSpPr txBox="1"/>
          <p:nvPr/>
        </p:nvSpPr>
        <p:spPr>
          <a:xfrm>
            <a:off x="102600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ICT–가전, 식품–제약, 나노–바이오</a:t>
            </a:r>
          </a:p>
        </p:txBody>
      </p:sp>
      <p:sp>
        <p:nvSpPr>
          <p:cNvPr id="11" name="Rounded Rectangle 10"/>
          <p:cNvSpPr/>
          <p:nvPr/>
        </p:nvSpPr>
        <p:spPr>
          <a:xfrm>
            <a:off x="864000" y="2880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2" name="Picture 11" descr="FaFileLines_5B6475.png"/>
          <p:cNvPicPr>
            <a:picLocks noChangeAspect="1"/>
          </p:cNvPicPr>
          <p:nvPr/>
        </p:nvPicPr>
        <p:blipFill>
          <a:blip r:embed="rId4"/>
          <a:stretch>
            <a:fillRect/>
          </a:stretch>
        </p:blipFill>
        <p:spPr>
          <a:xfrm>
            <a:off x="1026000" y="3006000"/>
            <a:ext cx="324000" cy="324000"/>
          </a:xfrm>
          <a:prstGeom prst="rect">
            <a:avLst/>
          </a:prstGeom>
        </p:spPr>
      </p:pic>
      <p:sp>
        <p:nvSpPr>
          <p:cNvPr id="13" name="TextBox 12"/>
          <p:cNvSpPr txBox="1"/>
          <p:nvPr/>
        </p:nvSpPr>
        <p:spPr>
          <a:xfrm>
            <a:off x="144000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측정 단위</a:t>
            </a:r>
          </a:p>
        </p:txBody>
      </p:sp>
      <p:sp>
        <p:nvSpPr>
          <p:cNvPr id="14" name="TextBox 13"/>
          <p:cNvSpPr txBox="1"/>
          <p:nvPr/>
        </p:nvSpPr>
        <p:spPr>
          <a:xfrm>
            <a:off x="102600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분야 수준의 공동분류 · 인용 지수</a:t>
            </a:r>
          </a:p>
        </p:txBody>
      </p:sp>
      <p:sp>
        <p:nvSpPr>
          <p:cNvPr id="15" name="TextBox 14"/>
          <p:cNvSpPr txBox="1"/>
          <p:nvPr/>
        </p:nvSpPr>
        <p:spPr>
          <a:xfrm>
            <a:off x="102600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융합을 담는지 설명 어려움</a:t>
            </a:r>
          </a:p>
        </p:txBody>
      </p:sp>
      <p:sp>
        <p:nvSpPr>
          <p:cNvPr id="16" name="Rounded Rectangle 15"/>
          <p:cNvSpPr/>
          <p:nvPr/>
        </p:nvSpPr>
        <p:spPr>
          <a:xfrm>
            <a:off x="864000" y="4284000"/>
            <a:ext cx="4428000" cy="1224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7" name="Picture 16" descr="FaClockRotateLeft_5B6475.png"/>
          <p:cNvPicPr>
            <a:picLocks noChangeAspect="1"/>
          </p:cNvPicPr>
          <p:nvPr/>
        </p:nvPicPr>
        <p:blipFill>
          <a:blip r:embed="rId5"/>
          <a:stretch>
            <a:fillRect/>
          </a:stretch>
        </p:blipFill>
        <p:spPr>
          <a:xfrm>
            <a:off x="1026000" y="4410000"/>
            <a:ext cx="324000" cy="324000"/>
          </a:xfrm>
          <a:prstGeom prst="rect">
            <a:avLst/>
          </a:prstGeom>
        </p:spPr>
      </p:pic>
      <p:sp>
        <p:nvSpPr>
          <p:cNvPr id="18" name="TextBox 17"/>
          <p:cNvSpPr txBox="1"/>
          <p:nvPr/>
        </p:nvSpPr>
        <p:spPr>
          <a:xfrm>
            <a:off x="144000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5B6475"/>
                </a:solidFill>
                <a:latin typeface="맑은 고딕"/>
                <a:ea typeface="맑은 고딕"/>
                <a:cs typeface="맑은 고딕"/>
              </a:rPr>
              <a:t>시간 관점</a:t>
            </a:r>
          </a:p>
        </p:txBody>
      </p:sp>
      <p:sp>
        <p:nvSpPr>
          <p:cNvPr id="19" name="TextBox 18"/>
          <p:cNvSpPr txBox="1"/>
          <p:nvPr/>
        </p:nvSpPr>
        <p:spPr>
          <a:xfrm>
            <a:off x="102600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E2532"/>
                </a:solidFill>
                <a:latin typeface="맑은 고딕"/>
                <a:ea typeface="맑은 고딕"/>
                <a:cs typeface="맑은 고딕"/>
              </a:rPr>
              <a:t>융합 정도의 증가 추세 확인</a:t>
            </a:r>
          </a:p>
        </p:txBody>
      </p:sp>
      <p:sp>
        <p:nvSpPr>
          <p:cNvPr id="20" name="TextBox 19"/>
          <p:cNvSpPr txBox="1"/>
          <p:nvPr/>
        </p:nvSpPr>
        <p:spPr>
          <a:xfrm>
            <a:off x="102600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이론(단계적 과정)과의 간극</a:t>
            </a:r>
          </a:p>
        </p:txBody>
      </p:sp>
      <p:sp>
        <p:nvSpPr>
          <p:cNvPr id="21" name="Rectangle 20"/>
          <p:cNvSpPr/>
          <p:nvPr/>
        </p:nvSpPr>
        <p:spPr>
          <a:xfrm>
            <a:off x="6720120" y="1116000"/>
            <a:ext cx="4788000" cy="4680000"/>
          </a:xfrm>
          <a:prstGeom prst="rect">
            <a:avLst/>
          </a:prstGeom>
          <a:noFill/>
          <a:ln w="12700">
            <a:solidFill>
              <a:srgbClr val="13294B"/>
            </a:solidFill>
            <a:prstDash val="dash"/>
          </a:ln>
        </p:spPr>
        <p:txBody>
          <a:bodyPr rtlCol="0" anchor="ctr" lIns="36000" rIns="36000" tIns="36000" bIns="36000"/>
          <a:lstStyle/>
          <a:p>
            <a:pPr algn="ctr"/>
          </a:p>
        </p:txBody>
      </p:sp>
      <p:sp>
        <p:nvSpPr>
          <p:cNvPr id="22" name="Rectangle 21"/>
          <p:cNvSpPr/>
          <p:nvPr/>
        </p:nvSpPr>
        <p:spPr>
          <a:xfrm>
            <a:off x="7818120" y="936000"/>
            <a:ext cx="2592000" cy="360000"/>
          </a:xfrm>
          <a:prstGeom prst="rect">
            <a:avLst/>
          </a:prstGeom>
          <a:solidFill>
            <a:srgbClr val="13294B"/>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본 연구</a:t>
            </a:r>
          </a:p>
        </p:txBody>
      </p:sp>
      <p:sp>
        <p:nvSpPr>
          <p:cNvPr id="23" name="Rounded Rectangle 22"/>
          <p:cNvSpPr/>
          <p:nvPr/>
        </p:nvSpPr>
        <p:spPr>
          <a:xfrm>
            <a:off x="6900120" y="1476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4" name="Picture 23" descr="FaSitemap_13294B.png"/>
          <p:cNvPicPr>
            <a:picLocks noChangeAspect="1"/>
          </p:cNvPicPr>
          <p:nvPr/>
        </p:nvPicPr>
        <p:blipFill>
          <a:blip r:embed="rId6"/>
          <a:stretch>
            <a:fillRect/>
          </a:stretch>
        </p:blipFill>
        <p:spPr>
          <a:xfrm>
            <a:off x="7062120" y="1602000"/>
            <a:ext cx="324000" cy="324000"/>
          </a:xfrm>
          <a:prstGeom prst="rect">
            <a:avLst/>
          </a:prstGeom>
        </p:spPr>
      </p:pic>
      <p:sp>
        <p:nvSpPr>
          <p:cNvPr id="25" name="TextBox 24"/>
          <p:cNvSpPr txBox="1"/>
          <p:nvPr/>
        </p:nvSpPr>
        <p:spPr>
          <a:xfrm>
            <a:off x="7476120" y="1584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분석 범위</a:t>
            </a:r>
          </a:p>
        </p:txBody>
      </p:sp>
      <p:sp>
        <p:nvSpPr>
          <p:cNvPr id="26" name="TextBox 25"/>
          <p:cNvSpPr txBox="1"/>
          <p:nvPr/>
        </p:nvSpPr>
        <p:spPr>
          <a:xfrm>
            <a:off x="7062120" y="1962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한 산업 안, 공정 단계 사이</a:t>
            </a:r>
          </a:p>
        </p:txBody>
      </p:sp>
      <p:sp>
        <p:nvSpPr>
          <p:cNvPr id="27" name="TextBox 26"/>
          <p:cNvSpPr txBox="1"/>
          <p:nvPr/>
        </p:nvSpPr>
        <p:spPr>
          <a:xfrm>
            <a:off x="7062120" y="2322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전공정 제조공정 ↔ 후공정 접합</a:t>
            </a:r>
          </a:p>
        </p:txBody>
      </p:sp>
      <p:sp>
        <p:nvSpPr>
          <p:cNvPr id="28" name="Rounded Rectangle 27"/>
          <p:cNvSpPr/>
          <p:nvPr/>
        </p:nvSpPr>
        <p:spPr>
          <a:xfrm>
            <a:off x="6900120" y="2880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9" name="Picture 28" descr="FaFileLines_13294B.png"/>
          <p:cNvPicPr>
            <a:picLocks noChangeAspect="1"/>
          </p:cNvPicPr>
          <p:nvPr/>
        </p:nvPicPr>
        <p:blipFill>
          <a:blip r:embed="rId7"/>
          <a:stretch>
            <a:fillRect/>
          </a:stretch>
        </p:blipFill>
        <p:spPr>
          <a:xfrm>
            <a:off x="7062120" y="3006000"/>
            <a:ext cx="324000" cy="324000"/>
          </a:xfrm>
          <a:prstGeom prst="rect">
            <a:avLst/>
          </a:prstGeom>
        </p:spPr>
      </p:pic>
      <p:sp>
        <p:nvSpPr>
          <p:cNvPr id="30" name="TextBox 29"/>
          <p:cNvSpPr txBox="1"/>
          <p:nvPr/>
        </p:nvSpPr>
        <p:spPr>
          <a:xfrm>
            <a:off x="7476120" y="2988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측정 단위</a:t>
            </a:r>
          </a:p>
        </p:txBody>
      </p:sp>
      <p:sp>
        <p:nvSpPr>
          <p:cNvPr id="31" name="TextBox 30"/>
          <p:cNvSpPr txBox="1"/>
          <p:nvPr/>
        </p:nvSpPr>
        <p:spPr>
          <a:xfrm>
            <a:off x="7062120" y="3366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개별 특허의 공동분류 유형</a:t>
            </a:r>
          </a:p>
        </p:txBody>
      </p:sp>
      <p:sp>
        <p:nvSpPr>
          <p:cNvPr id="32" name="TextBox 31"/>
          <p:cNvSpPr txBox="1"/>
          <p:nvPr/>
        </p:nvSpPr>
        <p:spPr>
          <a:xfrm>
            <a:off x="7062120" y="3726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어떤 발명이 경계를 넘는지 추정</a:t>
            </a:r>
          </a:p>
        </p:txBody>
      </p:sp>
      <p:sp>
        <p:nvSpPr>
          <p:cNvPr id="33" name="Rounded Rectangle 32"/>
          <p:cNvSpPr/>
          <p:nvPr/>
        </p:nvSpPr>
        <p:spPr>
          <a:xfrm>
            <a:off x="6900120" y="4284000"/>
            <a:ext cx="4428000" cy="1224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ClockRotateLeft_13294B.png"/>
          <p:cNvPicPr>
            <a:picLocks noChangeAspect="1"/>
          </p:cNvPicPr>
          <p:nvPr/>
        </p:nvPicPr>
        <p:blipFill>
          <a:blip r:embed="rId8"/>
          <a:stretch>
            <a:fillRect/>
          </a:stretch>
        </p:blipFill>
        <p:spPr>
          <a:xfrm>
            <a:off x="7062120" y="4410000"/>
            <a:ext cx="324000" cy="324000"/>
          </a:xfrm>
          <a:prstGeom prst="rect">
            <a:avLst/>
          </a:prstGeom>
        </p:spPr>
      </p:pic>
      <p:sp>
        <p:nvSpPr>
          <p:cNvPr id="35" name="TextBox 34"/>
          <p:cNvSpPr txBox="1"/>
          <p:nvPr/>
        </p:nvSpPr>
        <p:spPr>
          <a:xfrm>
            <a:off x="7476120" y="4392000"/>
            <a:ext cx="3708000" cy="34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시간 관점</a:t>
            </a:r>
          </a:p>
        </p:txBody>
      </p:sp>
      <p:sp>
        <p:nvSpPr>
          <p:cNvPr id="36" name="TextBox 35"/>
          <p:cNvSpPr txBox="1"/>
          <p:nvPr/>
        </p:nvSpPr>
        <p:spPr>
          <a:xfrm>
            <a:off x="7062120" y="4770000"/>
            <a:ext cx="4104000" cy="360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융합의 내용과 중심의 변화</a:t>
            </a:r>
          </a:p>
        </p:txBody>
      </p:sp>
      <p:sp>
        <p:nvSpPr>
          <p:cNvPr id="37" name="TextBox 36"/>
          <p:cNvSpPr txBox="1"/>
          <p:nvPr/>
        </p:nvSpPr>
        <p:spPr>
          <a:xfrm>
            <a:off x="7062120" y="5130000"/>
            <a:ext cx="410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 · 확산 · 재편의 추적</a:t>
            </a:r>
          </a:p>
        </p:txBody>
      </p:sp>
      <p:sp>
        <p:nvSpPr>
          <p:cNvPr id="38" name="Right Arrow 37"/>
          <p:cNvSpPr/>
          <p:nvPr/>
        </p:nvSpPr>
        <p:spPr>
          <a:xfrm>
            <a:off x="5670000" y="3024000"/>
            <a:ext cx="852120" cy="864000"/>
          </a:xfrm>
          <a:prstGeom prst="rightArrow">
            <a:avLst/>
          </a:prstGeom>
          <a:solidFill>
            <a:srgbClr val="13294B"/>
          </a:solidFill>
          <a:ln>
            <a:noFill/>
          </a:ln>
        </p:spPr>
        <p:txBody>
          <a:bodyPr rtlCol="0" anchor="ctr" lIns="36000" rIns="36000" tIns="36000" bIns="36000"/>
          <a:lstStyle/>
          <a:p>
            <a:pPr algn="ctr"/>
          </a:p>
        </p:txBody>
      </p:sp>
      <p:sp>
        <p:nvSpPr>
          <p:cNvPr id="39" name="Source"/>
          <p:cNvSpPr txBox="1"/>
          <p:nvPr/>
        </p:nvSpPr>
        <p:spPr>
          <a:xfrm>
            <a:off x="540000" y="5868000"/>
            <a:ext cx="11112120" cy="180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Curran &amp; Leker (2011); Bröring et al. (2006); No &amp; Park (2010); Karvonen &amp; Kässi (2012)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기술융합의 개념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 = 기술융합의 고전적 개념을 한 산업 내부의 공정 경계에 적용한 것</a:t>
            </a:r>
          </a:p>
        </p:txBody>
      </p:sp>
      <p:sp>
        <p:nvSpPr>
          <p:cNvPr id="4" name="Rounded Rectangle 3"/>
          <p:cNvSpPr/>
          <p:nvPr/>
        </p:nvSpPr>
        <p:spPr>
          <a:xfrm>
            <a:off x="5376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기술적 수렴</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Technological Convergence</a:t>
            </a:r>
          </a:p>
        </p:txBody>
      </p:sp>
      <p:sp>
        <p:nvSpPr>
          <p:cNvPr id="5" name="TextBox 4"/>
          <p:cNvSpPr txBox="1"/>
          <p:nvPr/>
        </p:nvSpPr>
        <p:spPr>
          <a:xfrm>
            <a:off x="5376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Rosenberg (1963)</a:t>
            </a:r>
          </a:p>
        </p:txBody>
      </p:sp>
      <p:sp>
        <p:nvSpPr>
          <p:cNvPr id="6" name="Rounded Rectangle 5"/>
          <p:cNvSpPr/>
          <p:nvPr/>
        </p:nvSpPr>
        <p:spPr>
          <a:xfrm>
            <a:off x="5376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816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공통의 생산공정을 통해 가공 기술이</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산업 경계를 넘어 확산</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 공작기계 산업의 등장</a:t>
            </a:r>
          </a:p>
        </p:txBody>
      </p:sp>
      <p:cxnSp>
        <p:nvCxnSpPr>
          <p:cNvPr id="8" name="Connector 7"/>
          <p:cNvCxnSpPr/>
          <p:nvPr/>
        </p:nvCxnSpPr>
        <p:spPr>
          <a:xfrm>
            <a:off x="2157660" y="3690000"/>
            <a:ext cx="0" cy="288000"/>
          </a:xfrm>
          <a:prstGeom prst="line">
            <a:avLst/>
          </a:prstGeom>
          <a:ln w="25400">
            <a:solidFill>
              <a:srgbClr val="13294B"/>
            </a:solidFill>
            <a:tailEnd type="triangle" w="med" len="med"/>
          </a:ln>
        </p:spPr>
      </p:cxnSp>
      <p:sp>
        <p:nvSpPr>
          <p:cNvPr id="9" name="Rounded Rectangle 8"/>
          <p:cNvSpPr/>
          <p:nvPr/>
        </p:nvSpPr>
        <p:spPr>
          <a:xfrm>
            <a:off x="5376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0" name="TextBox 9"/>
          <p:cNvSpPr txBox="1"/>
          <p:nvPr/>
        </p:nvSpPr>
        <p:spPr>
          <a:xfrm>
            <a:off x="6816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11" name="TextBox 10"/>
          <p:cNvSpPr txBox="1"/>
          <p:nvPr/>
        </p:nvSpPr>
        <p:spPr>
          <a:xfrm>
            <a:off x="6816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공정 단계가 증착 · 식각 · 도금 · CMP</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공정과 장비를 공유</a:t>
            </a:r>
          </a:p>
        </p:txBody>
      </p:sp>
      <p:cxnSp>
        <p:nvCxnSpPr>
          <p:cNvPr id="12" name="Connector 11"/>
          <p:cNvCxnSpPr/>
          <p:nvPr/>
        </p:nvCxnSpPr>
        <p:spPr>
          <a:xfrm>
            <a:off x="3867660" y="1386000"/>
            <a:ext cx="518400" cy="0"/>
          </a:xfrm>
          <a:prstGeom prst="line">
            <a:avLst/>
          </a:prstGeom>
          <a:ln w="25400">
            <a:solidFill>
              <a:srgbClr val="13294B"/>
            </a:solidFill>
            <a:tailEnd type="triangle" w="med" len="med"/>
          </a:ln>
        </p:spPr>
      </p:cxnSp>
      <p:sp>
        <p:nvSpPr>
          <p:cNvPr id="13" name="Rounded Rectangle 12"/>
          <p:cNvSpPr/>
          <p:nvPr/>
        </p:nvSpPr>
        <p:spPr>
          <a:xfrm>
            <a:off x="44760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기술융합</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Technology Fusion</a:t>
            </a:r>
          </a:p>
        </p:txBody>
      </p:sp>
      <p:sp>
        <p:nvSpPr>
          <p:cNvPr id="14" name="TextBox 13"/>
          <p:cNvSpPr txBox="1"/>
          <p:nvPr/>
        </p:nvSpPr>
        <p:spPr>
          <a:xfrm>
            <a:off x="44760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Kodama (1992)</a:t>
            </a:r>
          </a:p>
        </p:txBody>
      </p:sp>
      <p:sp>
        <p:nvSpPr>
          <p:cNvPr id="15" name="Rounded Rectangle 14"/>
          <p:cNvSpPr/>
          <p:nvPr/>
        </p:nvSpPr>
        <p:spPr>
          <a:xfrm>
            <a:off x="44760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46200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분리된 기술 분야의 결합으로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어느 한 분야도 갖지 못한</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역량을 창출</a:t>
            </a:r>
          </a:p>
        </p:txBody>
      </p:sp>
      <p:cxnSp>
        <p:nvCxnSpPr>
          <p:cNvPr id="17" name="Connector 16"/>
          <p:cNvCxnSpPr/>
          <p:nvPr/>
        </p:nvCxnSpPr>
        <p:spPr>
          <a:xfrm>
            <a:off x="6096060" y="3690000"/>
            <a:ext cx="0" cy="288000"/>
          </a:xfrm>
          <a:prstGeom prst="line">
            <a:avLst/>
          </a:prstGeom>
          <a:ln w="25400">
            <a:solidFill>
              <a:srgbClr val="13294B"/>
            </a:solidFill>
            <a:tailEnd type="triangle" w="med" len="med"/>
          </a:ln>
        </p:spPr>
      </p:cxnSp>
      <p:sp>
        <p:nvSpPr>
          <p:cNvPr id="18" name="Rounded Rectangle 17"/>
          <p:cNvSpPr/>
          <p:nvPr/>
        </p:nvSpPr>
        <p:spPr>
          <a:xfrm>
            <a:off x="44760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46200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0" name="TextBox 19"/>
          <p:cNvSpPr txBox="1"/>
          <p:nvPr/>
        </p:nvSpPr>
        <p:spPr>
          <a:xfrm>
            <a:off x="46200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10 µm 이하 연결 간격은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두 영역의 결합으로만 달성</a:t>
            </a:r>
          </a:p>
        </p:txBody>
      </p:sp>
      <p:cxnSp>
        <p:nvCxnSpPr>
          <p:cNvPr id="21" name="Connector 20"/>
          <p:cNvCxnSpPr/>
          <p:nvPr/>
        </p:nvCxnSpPr>
        <p:spPr>
          <a:xfrm>
            <a:off x="7806060" y="1386000"/>
            <a:ext cx="518400" cy="0"/>
          </a:xfrm>
          <a:prstGeom prst="line">
            <a:avLst/>
          </a:prstGeom>
          <a:ln w="25400">
            <a:solidFill>
              <a:srgbClr val="13294B"/>
            </a:solidFill>
            <a:tailEnd type="triangle" w="med" len="med"/>
          </a:ln>
        </p:spPr>
      </p:cxnSp>
      <p:sp>
        <p:nvSpPr>
          <p:cNvPr id="22" name="Rounded Rectangle 21"/>
          <p:cNvSpPr/>
          <p:nvPr/>
        </p:nvSpPr>
        <p:spPr>
          <a:xfrm>
            <a:off x="8414460" y="972000"/>
            <a:ext cx="3240000" cy="828000"/>
          </a:xfrm>
          <a:prstGeom prst="roundRect">
            <a:avLst>
              <a:gd name="adj" fmla="val 18000"/>
            </a:avLst>
          </a:prstGeom>
          <a:solidFill>
            <a:srgbClr val="FFFFFF"/>
          </a:solidFill>
          <a:ln w="25400">
            <a:solidFill>
              <a:srgbClr val="13294B"/>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단계 모형</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Stage Model of Convergence</a:t>
            </a:r>
          </a:p>
        </p:txBody>
      </p:sp>
      <p:sp>
        <p:nvSpPr>
          <p:cNvPr id="23" name="TextBox 22"/>
          <p:cNvSpPr txBox="1"/>
          <p:nvPr/>
        </p:nvSpPr>
        <p:spPr>
          <a:xfrm>
            <a:off x="8414460" y="1836000"/>
            <a:ext cx="3240000" cy="27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Hacklin et al. (2009, 2010)</a:t>
            </a:r>
          </a:p>
        </p:txBody>
      </p:sp>
      <p:sp>
        <p:nvSpPr>
          <p:cNvPr id="24" name="Rounded Rectangle 23"/>
          <p:cNvSpPr/>
          <p:nvPr/>
        </p:nvSpPr>
        <p:spPr>
          <a:xfrm>
            <a:off x="8414460" y="2160000"/>
            <a:ext cx="324000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5" name="TextBox 24"/>
          <p:cNvSpPr txBox="1"/>
          <p:nvPr/>
        </p:nvSpPr>
        <p:spPr>
          <a:xfrm>
            <a:off x="8558460" y="2160000"/>
            <a:ext cx="2952000" cy="1476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지식 → 기술 → 응용 → 산업 융합</a:t>
            </a:r>
          </a:p>
          <a:p>
            <a:pPr algn="ctr" marL="0" indent="0">
              <a:lnSpc>
                <a:spcPts val="1680"/>
              </a:lnSpc>
              <a:spcBef>
                <a:spcPts val="0"/>
              </a:spcBef>
              <a:spcAft>
                <a:spcPts val="0"/>
              </a:spcAft>
              <a:buNone/>
            </a:pPr>
            <a:r>
              <a:rPr sz="1400" b="0" i="0" lang="ko-KR" altLang="en-US">
                <a:solidFill>
                  <a:srgbClr val="1E2532"/>
                </a:solidFill>
                <a:latin typeface="맑은 고딕"/>
                <a:ea typeface="맑은 고딕"/>
                <a:cs typeface="맑은 고딕"/>
              </a:rPr>
              <a:t>단계 사이의 공진화적 순환</a:t>
            </a:r>
          </a:p>
        </p:txBody>
      </p:sp>
      <p:cxnSp>
        <p:nvCxnSpPr>
          <p:cNvPr id="26" name="Connector 25"/>
          <p:cNvCxnSpPr/>
          <p:nvPr/>
        </p:nvCxnSpPr>
        <p:spPr>
          <a:xfrm>
            <a:off x="10034460" y="3690000"/>
            <a:ext cx="0" cy="288000"/>
          </a:xfrm>
          <a:prstGeom prst="line">
            <a:avLst/>
          </a:prstGeom>
          <a:ln w="25400">
            <a:solidFill>
              <a:srgbClr val="13294B"/>
            </a:solidFill>
            <a:tailEnd type="triangle" w="med" len="med"/>
          </a:ln>
        </p:spPr>
      </p:cxnSp>
      <p:sp>
        <p:nvSpPr>
          <p:cNvPr id="27" name="Rounded Rectangle 26"/>
          <p:cNvSpPr/>
          <p:nvPr/>
        </p:nvSpPr>
        <p:spPr>
          <a:xfrm>
            <a:off x="8414460" y="4032000"/>
            <a:ext cx="3240000" cy="12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8" name="TextBox 27"/>
          <p:cNvSpPr txBox="1"/>
          <p:nvPr/>
        </p:nvSpPr>
        <p:spPr>
          <a:xfrm>
            <a:off x="8558460" y="4086000"/>
            <a:ext cx="295200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하이브리드 본딩에서는</a:t>
            </a:r>
          </a:p>
        </p:txBody>
      </p:sp>
      <p:sp>
        <p:nvSpPr>
          <p:cNvPr id="29" name="TextBox 28"/>
          <p:cNvSpPr txBox="1"/>
          <p:nvPr/>
        </p:nvSpPr>
        <p:spPr>
          <a:xfrm>
            <a:off x="8558460" y="4338000"/>
            <a:ext cx="2952000" cy="86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특허로 관찰할 수 있는 것은</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융합" 단계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2.1  </a:t>
            </a:r>
            <a:r>
              <a:rPr sz="2200" b="1" i="0" lang="ko-KR" altLang="en-US">
                <a:solidFill>
                  <a:srgbClr val="13294B"/>
                </a:solidFill>
                <a:latin typeface="맑은 고딕"/>
                <a:ea typeface="맑은 고딕"/>
                <a:cs typeface="맑은 고딕"/>
              </a:rPr>
              <a:t>융합의 단계 모형과 하이브리드 본딩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본 연구가 특허 공동분류로 측정하는 것은 "기술 융합" 단계이다</a:t>
            </a:r>
          </a:p>
        </p:txBody>
      </p:sp>
      <p:sp>
        <p:nvSpPr>
          <p:cNvPr id="4" name="Pentagon 3"/>
          <p:cNvSpPr/>
          <p:nvPr/>
        </p:nvSpPr>
        <p:spPr>
          <a:xfrm>
            <a:off x="577260" y="1044000"/>
            <a:ext cx="2772000" cy="864000"/>
          </a:xfrm>
          <a:prstGeom prst="homePlate">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지식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Knowledge</a:t>
            </a:r>
          </a:p>
        </p:txBody>
      </p:sp>
      <p:sp>
        <p:nvSpPr>
          <p:cNvPr id="5" name="Rounded Rectangle 4"/>
          <p:cNvSpPr/>
          <p:nvPr/>
        </p:nvSpPr>
        <p:spPr>
          <a:xfrm>
            <a:off x="6132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392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제조공정 지식이 칩 연결 문제에 적용</a:t>
            </a:r>
          </a:p>
        </p:txBody>
      </p:sp>
      <p:cxnSp>
        <p:nvCxnSpPr>
          <p:cNvPr id="7" name="Connector 6"/>
          <p:cNvCxnSpPr/>
          <p:nvPr/>
        </p:nvCxnSpPr>
        <p:spPr>
          <a:xfrm>
            <a:off x="1009260" y="3330000"/>
            <a:ext cx="1782000" cy="0"/>
          </a:xfrm>
          <a:prstGeom prst="line">
            <a:avLst/>
          </a:prstGeom>
          <a:ln w="12700">
            <a:solidFill>
              <a:srgbClr val="D5DBE3"/>
            </a:solidFill>
          </a:ln>
        </p:spPr>
      </p:cxnSp>
      <p:sp>
        <p:nvSpPr>
          <p:cNvPr id="8" name="TextBox 7"/>
          <p:cNvSpPr txBox="1"/>
          <p:nvPr/>
        </p:nvSpPr>
        <p:spPr>
          <a:xfrm>
            <a:off x="7392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평탄화 · 표면 활성화 · 웨이퍼 직접 접합</a:t>
            </a:r>
          </a:p>
        </p:txBody>
      </p:sp>
      <p:sp>
        <p:nvSpPr>
          <p:cNvPr id="9" name="Rounded Rectangle 8"/>
          <p:cNvSpPr/>
          <p:nvPr/>
        </p:nvSpPr>
        <p:spPr>
          <a:xfrm>
            <a:off x="7212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형성의 출발점</a:t>
            </a:r>
          </a:p>
        </p:txBody>
      </p:sp>
      <p:sp>
        <p:nvSpPr>
          <p:cNvPr id="10" name="Chevron 9"/>
          <p:cNvSpPr/>
          <p:nvPr/>
        </p:nvSpPr>
        <p:spPr>
          <a:xfrm>
            <a:off x="3374460" y="1044000"/>
            <a:ext cx="2772000" cy="864000"/>
          </a:xfrm>
          <a:prstGeom prst="chevron">
            <a:avLst>
              <a:gd name="adj" fmla="val 28000"/>
            </a:avLst>
          </a:prstGeom>
          <a:solidFill>
            <a:srgbClr val="13294B"/>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FFFFFF"/>
                </a:solidFill>
                <a:latin typeface="맑은 고딕"/>
                <a:ea typeface="맑은 고딕"/>
                <a:cs typeface="맑은 고딕"/>
              </a:rPr>
              <a:t>기술 융합</a:t>
            </a:r>
          </a:p>
          <a:p>
            <a:pPr algn="ctr" marL="0" indent="0">
              <a:lnSpc>
                <a:spcPts val="1320"/>
              </a:lnSpc>
              <a:spcBef>
                <a:spcPts val="0"/>
              </a:spcBef>
              <a:spcAft>
                <a:spcPts val="0"/>
              </a:spcAft>
              <a:buNone/>
            </a:pPr>
            <a:r>
              <a:rPr sz="1100" b="0" i="0" lang="ko-KR" altLang="en-US">
                <a:solidFill>
                  <a:srgbClr val="C8D3E6"/>
                </a:solidFill>
                <a:latin typeface="맑은 고딕"/>
                <a:ea typeface="맑은 고딕"/>
                <a:cs typeface="맑은 고딕"/>
              </a:rPr>
              <a:t>Technological</a:t>
            </a:r>
          </a:p>
        </p:txBody>
      </p:sp>
      <p:sp>
        <p:nvSpPr>
          <p:cNvPr id="11" name="Rounded Rectangle 10"/>
          <p:cNvSpPr/>
          <p:nvPr/>
        </p:nvSpPr>
        <p:spPr>
          <a:xfrm>
            <a:off x="3410460" y="2088000"/>
            <a:ext cx="2574000" cy="2160000"/>
          </a:xfrm>
          <a:prstGeom prst="roundRect">
            <a:avLst>
              <a:gd name="adj" fmla="val 6000"/>
            </a:avLst>
          </a:prstGeom>
          <a:solidFill>
            <a:srgbClr val="EAF0FA"/>
          </a:solidFill>
          <a:ln w="12700">
            <a:solidFill>
              <a:srgbClr val="13294B"/>
            </a:solidFill>
          </a:ln>
        </p:spPr>
        <p:txBody>
          <a:bodyPr rtlCol="0" anchor="ctr" lIns="36000" rIns="36000" tIns="36000" bIns="36000"/>
          <a:lstStyle/>
          <a:p>
            <a:pPr algn="ctr"/>
          </a:p>
        </p:txBody>
      </p:sp>
      <p:sp>
        <p:nvSpPr>
          <p:cNvPr id="12" name="TextBox 11"/>
          <p:cNvSpPr txBox="1"/>
          <p:nvPr/>
        </p:nvSpPr>
        <p:spPr>
          <a:xfrm>
            <a:off x="35364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그 지식이 접합 구조 · 연결 방법과 하나의 발명 안에서 결합</a:t>
            </a:r>
          </a:p>
        </p:txBody>
      </p:sp>
      <p:cxnSp>
        <p:nvCxnSpPr>
          <p:cNvPr id="13" name="Connector 12"/>
          <p:cNvCxnSpPr/>
          <p:nvPr/>
        </p:nvCxnSpPr>
        <p:spPr>
          <a:xfrm>
            <a:off x="3806460" y="3330000"/>
            <a:ext cx="1782000" cy="0"/>
          </a:xfrm>
          <a:prstGeom prst="line">
            <a:avLst/>
          </a:prstGeom>
          <a:ln w="12700">
            <a:solidFill>
              <a:srgbClr val="D5DBE3"/>
            </a:solidFill>
          </a:ln>
        </p:spPr>
      </p:cxnSp>
      <p:sp>
        <p:nvSpPr>
          <p:cNvPr id="14" name="TextBox 13"/>
          <p:cNvSpPr txBox="1"/>
          <p:nvPr/>
        </p:nvSpPr>
        <p:spPr>
          <a:xfrm>
            <a:off x="35364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공동분류로 관찰</a:t>
            </a:r>
          </a:p>
        </p:txBody>
      </p:sp>
      <p:sp>
        <p:nvSpPr>
          <p:cNvPr id="15" name="Rounded Rectangle 14"/>
          <p:cNvSpPr/>
          <p:nvPr/>
        </p:nvSpPr>
        <p:spPr>
          <a:xfrm>
            <a:off x="3518460" y="4446000"/>
            <a:ext cx="2358000" cy="46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특허 공동분류로 직접 관찰</a:t>
            </a:r>
          </a:p>
        </p:txBody>
      </p:sp>
      <p:sp>
        <p:nvSpPr>
          <p:cNvPr id="16" name="Chevron 15"/>
          <p:cNvSpPr/>
          <p:nvPr/>
        </p:nvSpPr>
        <p:spPr>
          <a:xfrm>
            <a:off x="61716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응용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Applicational</a:t>
            </a:r>
          </a:p>
        </p:txBody>
      </p:sp>
      <p:sp>
        <p:nvSpPr>
          <p:cNvPr id="17" name="Rounded Rectangle 16"/>
          <p:cNvSpPr/>
          <p:nvPr/>
        </p:nvSpPr>
        <p:spPr>
          <a:xfrm>
            <a:off x="62076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8" name="TextBox 17"/>
          <p:cNvSpPr txBox="1"/>
          <p:nvPr/>
        </p:nvSpPr>
        <p:spPr>
          <a:xfrm>
            <a:off x="63336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결합된 기술이 제품으로 구현</a:t>
            </a:r>
          </a:p>
        </p:txBody>
      </p:sp>
      <p:cxnSp>
        <p:nvCxnSpPr>
          <p:cNvPr id="19" name="Connector 18"/>
          <p:cNvCxnSpPr/>
          <p:nvPr/>
        </p:nvCxnSpPr>
        <p:spPr>
          <a:xfrm>
            <a:off x="6603660" y="3330000"/>
            <a:ext cx="1782000" cy="0"/>
          </a:xfrm>
          <a:prstGeom prst="line">
            <a:avLst/>
          </a:prstGeom>
          <a:ln w="12700">
            <a:solidFill>
              <a:srgbClr val="D5DBE3"/>
            </a:solidFill>
          </a:ln>
        </p:spPr>
      </p:cxnSp>
      <p:sp>
        <p:nvSpPr>
          <p:cNvPr id="20" name="TextBox 19"/>
          <p:cNvSpPr txBox="1"/>
          <p:nvPr/>
        </p:nvSpPr>
        <p:spPr>
          <a:xfrm>
            <a:off x="63336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이미지센서 · 3D NAND · HBM · 칩렛</a:t>
            </a:r>
          </a:p>
        </p:txBody>
      </p:sp>
      <p:sp>
        <p:nvSpPr>
          <p:cNvPr id="21" name="Rounded Rectangle 20"/>
          <p:cNvSpPr/>
          <p:nvPr/>
        </p:nvSpPr>
        <p:spPr>
          <a:xfrm>
            <a:off x="6315660" y="4446000"/>
            <a:ext cx="2358000" cy="468000"/>
          </a:xfrm>
          <a:prstGeom prst="roundRect">
            <a:avLst>
              <a:gd name="adj" fmla="val 5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RQ3에서 간접적으로</a:t>
            </a:r>
          </a:p>
        </p:txBody>
      </p:sp>
      <p:sp>
        <p:nvSpPr>
          <p:cNvPr id="22" name="Chevron 21"/>
          <p:cNvSpPr/>
          <p:nvPr/>
        </p:nvSpPr>
        <p:spPr>
          <a:xfrm>
            <a:off x="8968860" y="1044000"/>
            <a:ext cx="2772000" cy="864000"/>
          </a:xfrm>
          <a:prstGeom prst="chevron">
            <a:avLst>
              <a:gd name="adj" fmla="val 28000"/>
            </a:avLst>
          </a:prstGeom>
          <a:solidFill>
            <a:srgbClr val="E8EEF7"/>
          </a:solidFill>
          <a:ln>
            <a:no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산업 융합</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Industrial</a:t>
            </a:r>
          </a:p>
        </p:txBody>
      </p:sp>
      <p:sp>
        <p:nvSpPr>
          <p:cNvPr id="23" name="Rounded Rectangle 22"/>
          <p:cNvSpPr/>
          <p:nvPr/>
        </p:nvSpPr>
        <p:spPr>
          <a:xfrm>
            <a:off x="9004860" y="2088000"/>
            <a:ext cx="2574000" cy="21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TextBox 23"/>
          <p:cNvSpPr txBox="1"/>
          <p:nvPr/>
        </p:nvSpPr>
        <p:spPr>
          <a:xfrm>
            <a:off x="9130860" y="2214000"/>
            <a:ext cx="2322000" cy="104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단계 간 분업 구조의 재편</a:t>
            </a:r>
          </a:p>
        </p:txBody>
      </p:sp>
      <p:cxnSp>
        <p:nvCxnSpPr>
          <p:cNvPr id="25" name="Connector 24"/>
          <p:cNvCxnSpPr/>
          <p:nvPr/>
        </p:nvCxnSpPr>
        <p:spPr>
          <a:xfrm>
            <a:off x="9400860" y="3330000"/>
            <a:ext cx="1782000" cy="0"/>
          </a:xfrm>
          <a:prstGeom prst="line">
            <a:avLst/>
          </a:prstGeom>
          <a:ln w="12700">
            <a:solidFill>
              <a:srgbClr val="D5DBE3"/>
            </a:solidFill>
          </a:ln>
        </p:spPr>
      </p:cxnSp>
      <p:sp>
        <p:nvSpPr>
          <p:cNvPr id="26" name="TextBox 25"/>
          <p:cNvSpPr txBox="1"/>
          <p:nvPr/>
        </p:nvSpPr>
        <p:spPr>
          <a:xfrm>
            <a:off x="9130860" y="3402000"/>
            <a:ext cx="2322000" cy="7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파운드리의 첨단 패키징 내재화</a:t>
            </a:r>
          </a:p>
        </p:txBody>
      </p:sp>
      <p:sp>
        <p:nvSpPr>
          <p:cNvPr id="27" name="Rounded Rectangle 26"/>
          <p:cNvSpPr/>
          <p:nvPr/>
        </p:nvSpPr>
        <p:spPr>
          <a:xfrm>
            <a:off x="9112860" y="4446000"/>
            <a:ext cx="2358000" cy="468000"/>
          </a:xfrm>
          <a:prstGeom prst="roundRect">
            <a:avLst>
              <a:gd name="adj" fmla="val 50000"/>
            </a:avLst>
          </a:prstGeom>
          <a:solidFill>
            <a:srgbClr val="EEF0F3"/>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분석 범위 밖</a:t>
            </a:r>
          </a:p>
        </p:txBody>
      </p:sp>
      <p:sp>
        <p:nvSpPr>
          <p:cNvPr id="28" name="TextBox 27"/>
          <p:cNvSpPr txBox="1"/>
          <p:nvPr/>
        </p:nvSpPr>
        <p:spPr>
          <a:xfrm>
            <a:off x="540000" y="5112000"/>
            <a:ext cx="1111212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공동분류는 서로 다른 분야의 기술이 하나의 발명 안에서 결합되는 "기술 융합" 단계를 관찰하는 데 적합하다</a:t>
            </a:r>
          </a:p>
        </p:txBody>
      </p:sp>
      <p:sp>
        <p:nvSpPr>
          <p:cNvPr id="29" name="Source"/>
          <p:cNvSpPr txBox="1"/>
          <p:nvPr/>
        </p:nvSpPr>
        <p:spPr>
          <a:xfrm>
            <a:off x="540000" y="5508000"/>
            <a:ext cx="11112120" cy="180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(2010); Curran &amp; Leker (2011); Lau (2022); KnowMade (2024)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2.2  </a:t>
            </a:r>
            <a:r>
              <a:rPr sz="2200" b="1" i="0" lang="ko-KR" altLang="en-US">
                <a:solidFill>
                  <a:srgbClr val="13294B"/>
                </a:solidFill>
                <a:latin typeface="맑은 고딕"/>
                <a:ea typeface="맑은 고딕"/>
                <a:cs typeface="맑은 고딕"/>
              </a:rPr>
              <a:t>수직 전문화와 지식 경계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인터페이스가 불안정해지면, 지식의 결합은 조직보다 먼저 발명에서 나타난다</a:t>
            </a:r>
          </a:p>
        </p:txBody>
      </p:sp>
      <p:sp>
        <p:nvSpPr>
          <p:cNvPr id="4" name="Rounded Rectangle 3"/>
          <p:cNvSpPr/>
          <p:nvPr/>
        </p:nvSpPr>
        <p:spPr>
          <a:xfrm>
            <a:off x="756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cxnSp>
        <p:nvCxnSpPr>
          <p:cNvPr id="5" name="Connector 4"/>
          <p:cNvCxnSpPr/>
          <p:nvPr/>
        </p:nvCxnSpPr>
        <p:spPr>
          <a:xfrm>
            <a:off x="3427200" y="1728000"/>
            <a:ext cx="201600" cy="0"/>
          </a:xfrm>
          <a:prstGeom prst="line">
            <a:avLst/>
          </a:prstGeom>
          <a:ln w="25400">
            <a:solidFill>
              <a:srgbClr val="13294B"/>
            </a:solidFill>
            <a:tailEnd type="triangle" w="med" len="med"/>
          </a:ln>
        </p:spPr>
      </p:cxnSp>
      <p:sp>
        <p:nvSpPr>
          <p:cNvPr id="6" name="Rounded Rectangle 5"/>
          <p:cNvSpPr/>
          <p:nvPr/>
        </p:nvSpPr>
        <p:spPr>
          <a:xfrm>
            <a:off x="3672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제조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종합반도체기업 · 파운드리</a:t>
            </a:r>
          </a:p>
        </p:txBody>
      </p:sp>
      <p:cxnSp>
        <p:nvCxnSpPr>
          <p:cNvPr id="7" name="Connector 6"/>
          <p:cNvCxnSpPr/>
          <p:nvPr/>
        </p:nvCxnSpPr>
        <p:spPr>
          <a:xfrm>
            <a:off x="6343200" y="1728000"/>
            <a:ext cx="201600" cy="0"/>
          </a:xfrm>
          <a:prstGeom prst="line">
            <a:avLst/>
          </a:prstGeom>
          <a:ln w="25400">
            <a:solidFill>
              <a:srgbClr val="13294B"/>
            </a:solidFill>
            <a:tailEnd type="triangle" w="med" len="med"/>
          </a:ln>
        </p:spPr>
      </p:cxnSp>
      <p:sp>
        <p:nvSpPr>
          <p:cNvPr id="8" name="Rounded Rectangle 7"/>
          <p:cNvSpPr/>
          <p:nvPr/>
        </p:nvSpPr>
        <p:spPr>
          <a:xfrm>
            <a:off x="6588000" y="1260000"/>
            <a:ext cx="2628000" cy="936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13294B"/>
                </a:solidFill>
                <a:latin typeface="맑은 고딕"/>
                <a:ea typeface="맑은 고딕"/>
                <a:cs typeface="맑은 고딕"/>
              </a:rPr>
              <a:t>조립 · 테스트</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조립·테스트 전문업체</a:t>
            </a:r>
          </a:p>
        </p:txBody>
      </p:sp>
      <p:sp>
        <p:nvSpPr>
          <p:cNvPr id="9" name="Rounded Rectangle 8"/>
          <p:cNvSpPr/>
          <p:nvPr/>
        </p:nvSpPr>
        <p:spPr>
          <a:xfrm>
            <a:off x="3564000" y="1116000"/>
            <a:ext cx="2844000" cy="1224000"/>
          </a:xfrm>
          <a:prstGeom prst="roundRect">
            <a:avLst>
              <a:gd name="adj" fmla="val 8000"/>
            </a:avLst>
          </a:prstGeom>
          <a:noFill/>
          <a:ln w="31750">
            <a:solidFill>
              <a:srgbClr val="2563C9"/>
            </a:solidFill>
          </a:ln>
        </p:spPr>
        <p:txBody>
          <a:bodyPr rtlCol="0" anchor="ctr" lIns="36000" rIns="36000" tIns="36000" bIns="36000"/>
          <a:lstStyle/>
          <a:p>
            <a:pPr algn="ctr"/>
          </a:p>
        </p:txBody>
      </p:sp>
      <p:sp>
        <p:nvSpPr>
          <p:cNvPr id="10" name="TextBox 9"/>
          <p:cNvSpPr txBox="1"/>
          <p:nvPr/>
        </p:nvSpPr>
        <p:spPr>
          <a:xfrm>
            <a:off x="3564000" y="2376000"/>
            <a:ext cx="284400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생산의 경계</a:t>
            </a:r>
          </a:p>
        </p:txBody>
      </p:sp>
      <p:sp>
        <p:nvSpPr>
          <p:cNvPr id="11" name="Rounded Rectangle 10"/>
          <p:cNvSpPr/>
          <p:nvPr/>
        </p:nvSpPr>
        <p:spPr>
          <a:xfrm>
            <a:off x="3474000" y="918000"/>
            <a:ext cx="5139000" cy="1908000"/>
          </a:xfrm>
          <a:prstGeom prst="roundRect">
            <a:avLst>
              <a:gd name="adj" fmla="val 6000"/>
            </a:avLst>
          </a:prstGeom>
          <a:noFill/>
          <a:ln w="31750">
            <a:solidFill>
              <a:srgbClr val="7C3AED"/>
            </a:solidFill>
            <a:prstDash val="dash"/>
          </a:ln>
        </p:spPr>
        <p:txBody>
          <a:bodyPr rtlCol="0" anchor="ctr" lIns="36000" rIns="36000" tIns="36000" bIns="36000"/>
          <a:lstStyle/>
          <a:p>
            <a:pPr algn="ctr"/>
          </a:p>
        </p:txBody>
      </p:sp>
      <p:sp>
        <p:nvSpPr>
          <p:cNvPr id="12" name="TextBox 11"/>
          <p:cNvSpPr txBox="1"/>
          <p:nvPr/>
        </p:nvSpPr>
        <p:spPr>
          <a:xfrm>
            <a:off x="6813000" y="2574000"/>
            <a:ext cx="1728000" cy="25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지식의 경계</a:t>
            </a:r>
          </a:p>
        </p:txBody>
      </p:sp>
      <p:sp>
        <p:nvSpPr>
          <p:cNvPr id="13" name="Rounded Rectangle 12"/>
          <p:cNvSpPr/>
          <p:nvPr/>
        </p:nvSpPr>
        <p:spPr>
          <a:xfrm>
            <a:off x="9540000" y="972000"/>
            <a:ext cx="2112120" cy="212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9684000" y="972000"/>
            <a:ext cx="1824120" cy="2124000"/>
          </a:xfrm>
          <a:prstGeom prst="rect">
            <a:avLst/>
          </a:prstGeom>
          <a:noFill/>
        </p:spPr>
        <p:txBody>
          <a:bodyPr wrap="square" lIns="0" rIns="0" tIns="0" bIns="0" anchor="ctr">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생산의 경계</a:t>
            </a:r>
          </a:p>
          <a:p>
            <a:pPr algn="ctr"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a:t>
            </a:r>
          </a:p>
          <a:p>
            <a:pPr algn="ctr" marL="0" indent="0">
              <a:lnSpc>
                <a:spcPts val="2160"/>
              </a:lnSpc>
              <a:spcBef>
                <a:spcPts val="0"/>
              </a:spcBef>
              <a:spcAft>
                <a:spcPts val="0"/>
              </a:spcAft>
              <a:buNone/>
            </a:pPr>
            <a:r>
              <a:rPr sz="1800" b="1" i="0" lang="ko-KR" altLang="en-US">
                <a:solidFill>
                  <a:srgbClr val="7C3AED"/>
                </a:solidFill>
                <a:latin typeface="맑은 고딕"/>
                <a:ea typeface="맑은 고딕"/>
                <a:cs typeface="맑은 고딕"/>
              </a:rPr>
              <a:t>지식의 경계</a:t>
            </a:r>
          </a:p>
        </p:txBody>
      </p:sp>
      <p:sp>
        <p:nvSpPr>
          <p:cNvPr id="15" name="Rounded Rectangle 14"/>
          <p:cNvSpPr/>
          <p:nvPr/>
        </p:nvSpPr>
        <p:spPr>
          <a:xfrm>
            <a:off x="54000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0200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Kapoor &amp; Adner (2012)</a:t>
            </a:r>
          </a:p>
        </p:txBody>
      </p:sp>
      <p:sp>
        <p:nvSpPr>
          <p:cNvPr id="17" name="TextBox 16"/>
          <p:cNvSpPr txBox="1"/>
          <p:nvPr/>
        </p:nvSpPr>
        <p:spPr>
          <a:xfrm>
            <a:off x="70200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DRAM 산업 12개 제품 세대(1974–2005): 외주화한 부품의 지식까지 보유한 비통합 기업이 기술 전환에서 성과 우위</a:t>
            </a:r>
          </a:p>
        </p:txBody>
      </p:sp>
      <p:sp>
        <p:nvSpPr>
          <p:cNvPr id="18" name="Rounded Rectangle 17"/>
          <p:cNvSpPr/>
          <p:nvPr/>
        </p:nvSpPr>
        <p:spPr>
          <a:xfrm>
            <a:off x="431604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447804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Brusoni et al. (2001)</a:t>
            </a:r>
          </a:p>
        </p:txBody>
      </p:sp>
      <p:sp>
        <p:nvSpPr>
          <p:cNvPr id="20" name="TextBox 19"/>
          <p:cNvSpPr txBox="1"/>
          <p:nvPr/>
        </p:nvSpPr>
        <p:spPr>
          <a:xfrm>
            <a:off x="447804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구성요소 사이의 상호의존을 예측하기 어려울수록 직접 생산하는 범위보다 넓은 지식이 필요</a:t>
            </a:r>
          </a:p>
        </p:txBody>
      </p:sp>
      <p:sp>
        <p:nvSpPr>
          <p:cNvPr id="21" name="Rounded Rectangle 20"/>
          <p:cNvSpPr/>
          <p:nvPr/>
        </p:nvSpPr>
        <p:spPr>
          <a:xfrm>
            <a:off x="8092080" y="3456000"/>
            <a:ext cx="3560040" cy="180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8254080" y="3546000"/>
            <a:ext cx="323604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Jacobides et al. (2006)</a:t>
            </a:r>
          </a:p>
        </p:txBody>
      </p:sp>
      <p:sp>
        <p:nvSpPr>
          <p:cNvPr id="23" name="TextBox 22"/>
          <p:cNvSpPr txBox="1"/>
          <p:nvPr/>
        </p:nvSpPr>
        <p:spPr>
          <a:xfrm>
            <a:off x="8254080" y="3870000"/>
            <a:ext cx="3236040" cy="1332000"/>
          </a:xfrm>
          <a:prstGeom prst="rect">
            <a:avLst/>
          </a:prstGeom>
          <a:noFill/>
        </p:spPr>
        <p:txBody>
          <a:bodyPr wrap="square" lIns="0" rIns="0" tIns="0" bIns="0" anchor="t">
            <a:noAutofit/>
          </a:bodyPr>
          <a:lstStyle/>
          <a:p>
            <a:pPr algn="l" marL="0" indent="0">
              <a:lnSpc>
                <a:spcPts val="1780"/>
              </a:lnSpc>
              <a:spcBef>
                <a:spcPts val="0"/>
              </a:spcBef>
              <a:spcAft>
                <a:spcPts val="0"/>
              </a:spcAft>
              <a:buNone/>
            </a:pPr>
            <a:r>
              <a:rPr sz="1350" b="0" i="0" lang="ko-KR" altLang="en-US">
                <a:solidFill>
                  <a:srgbClr val="1E2532"/>
                </a:solidFill>
                <a:latin typeface="맑은 고딕"/>
                <a:ea typeface="맑은 고딕"/>
                <a:cs typeface="맑은 고딕"/>
              </a:rPr>
              <a:t>산업 아키텍처(누가 무엇을 하고 가치를 어떻게 나누는가)는 기술 변화에 따라 재편될 수 있음</a:t>
            </a:r>
          </a:p>
        </p:txBody>
      </p:sp>
      <p:sp>
        <p:nvSpPr>
          <p:cNvPr id="24" name="Source"/>
          <p:cNvSpPr txBox="1"/>
          <p:nvPr/>
        </p:nvSpPr>
        <p:spPr>
          <a:xfrm>
            <a:off x="540000" y="549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Macher &amp; Mowery (2004); Brown &amp; Linden (2009); Kapoor (2013)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2.3  </a:t>
            </a:r>
            <a:r>
              <a:rPr sz="2200" b="1" i="0" lang="ko-KR" altLang="en-US">
                <a:solidFill>
                  <a:srgbClr val="13294B"/>
                </a:solidFill>
                <a:latin typeface="맑은 고딕"/>
                <a:ea typeface="맑은 고딕"/>
                <a:cs typeface="맑은 고딕"/>
              </a:rPr>
              <a:t>기술 순환 모형과 핵심–주변 구조</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설계가 자리 잡으면, 새로운 결합은 핵심이 아닌 주변에서 일어난다</a:t>
            </a:r>
          </a:p>
        </p:txBody>
      </p:sp>
      <p:sp>
        <p:nvSpPr>
          <p:cNvPr id="4" name="Rounded Rectangle 3"/>
          <p:cNvSpPr/>
          <p:nvPr/>
        </p:nvSpPr>
        <p:spPr>
          <a:xfrm>
            <a:off x="642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기술적 불연속</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새로운 기술 원리</a:t>
            </a:r>
          </a:p>
        </p:txBody>
      </p:sp>
      <p:cxnSp>
        <p:nvCxnSpPr>
          <p:cNvPr id="5" name="Connector 4"/>
          <p:cNvCxnSpPr/>
          <p:nvPr/>
        </p:nvCxnSpPr>
        <p:spPr>
          <a:xfrm>
            <a:off x="3072060" y="1404000"/>
            <a:ext cx="360000" cy="0"/>
          </a:xfrm>
          <a:prstGeom prst="line">
            <a:avLst/>
          </a:prstGeom>
          <a:ln w="25400">
            <a:solidFill>
              <a:srgbClr val="13294B"/>
            </a:solidFill>
            <a:tailEnd type="triangle" w="med" len="med"/>
          </a:ln>
        </p:spPr>
      </p:cxnSp>
      <p:sp>
        <p:nvSpPr>
          <p:cNvPr id="6" name="Rounded Rectangle 5"/>
          <p:cNvSpPr/>
          <p:nvPr/>
        </p:nvSpPr>
        <p:spPr>
          <a:xfrm>
            <a:off x="3486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격동기</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여러 설계의 경쟁</a:t>
            </a:r>
          </a:p>
        </p:txBody>
      </p:sp>
      <p:cxnSp>
        <p:nvCxnSpPr>
          <p:cNvPr id="7" name="Connector 6"/>
          <p:cNvCxnSpPr/>
          <p:nvPr/>
        </p:nvCxnSpPr>
        <p:spPr>
          <a:xfrm>
            <a:off x="5916060" y="1404000"/>
            <a:ext cx="360000" cy="0"/>
          </a:xfrm>
          <a:prstGeom prst="line">
            <a:avLst/>
          </a:prstGeom>
          <a:ln w="25400">
            <a:solidFill>
              <a:srgbClr val="13294B"/>
            </a:solidFill>
            <a:tailEnd type="triangle" w="med" len="med"/>
          </a:ln>
        </p:spPr>
      </p:cxnSp>
      <p:sp>
        <p:nvSpPr>
          <p:cNvPr id="8" name="Rounded Rectangle 7"/>
          <p:cNvSpPr/>
          <p:nvPr/>
        </p:nvSpPr>
        <p:spPr>
          <a:xfrm>
            <a:off x="6330060" y="1008000"/>
            <a:ext cx="2376000" cy="792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지배적 설계</a:t>
            </a:r>
          </a:p>
          <a:p>
            <a:pPr algn="ctr" marL="0" indent="0">
              <a:lnSpc>
                <a:spcPts val="1440"/>
              </a:lnSpc>
              <a:spcBef>
                <a:spcPts val="0"/>
              </a:spcBef>
              <a:spcAft>
                <a:spcPts val="0"/>
              </a:spcAft>
              <a:buNone/>
            </a:pPr>
            <a:r>
              <a:rPr sz="1200" b="0" i="0" lang="ko-KR" altLang="en-US">
                <a:solidFill>
                  <a:srgbClr val="C8D3E6"/>
                </a:solidFill>
                <a:latin typeface="맑은 고딕"/>
                <a:ea typeface="맑은 고딕"/>
                <a:cs typeface="맑은 고딕"/>
              </a:rPr>
              <a:t>핵심 요소의 설계 안정</a:t>
            </a:r>
          </a:p>
        </p:txBody>
      </p:sp>
      <p:cxnSp>
        <p:nvCxnSpPr>
          <p:cNvPr id="9" name="Connector 8"/>
          <p:cNvCxnSpPr/>
          <p:nvPr/>
        </p:nvCxnSpPr>
        <p:spPr>
          <a:xfrm>
            <a:off x="8760060" y="1404000"/>
            <a:ext cx="360000" cy="0"/>
          </a:xfrm>
          <a:prstGeom prst="line">
            <a:avLst/>
          </a:prstGeom>
          <a:ln w="25400">
            <a:solidFill>
              <a:srgbClr val="13294B"/>
            </a:solidFill>
            <a:tailEnd type="triangle" w="med" len="med"/>
          </a:ln>
        </p:spPr>
      </p:cxnSp>
      <p:sp>
        <p:nvSpPr>
          <p:cNvPr id="10" name="Rounded Rectangle 9"/>
          <p:cNvSpPr/>
          <p:nvPr/>
        </p:nvSpPr>
        <p:spPr>
          <a:xfrm>
            <a:off x="9174060" y="1008000"/>
            <a:ext cx="2376000" cy="792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점진적 변화</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정해진 설계의 정교화</a:t>
            </a:r>
          </a:p>
        </p:txBody>
      </p:sp>
      <p:sp>
        <p:nvSpPr>
          <p:cNvPr id="11" name="TextBox 10"/>
          <p:cNvSpPr txBox="1"/>
          <p:nvPr/>
        </p:nvSpPr>
        <p:spPr>
          <a:xfrm>
            <a:off x="642060" y="1836000"/>
            <a:ext cx="10908000" cy="252000"/>
          </a:xfrm>
          <a:prstGeom prst="rect">
            <a:avLst/>
          </a:prstGeom>
          <a:noFill/>
        </p:spPr>
        <p:txBody>
          <a:bodyPr wrap="square" lIns="0" rIns="0" tIns="0" bIns="0" anchor="ctr">
            <a:noAutofit/>
          </a:bodyPr>
          <a:lstStyle/>
          <a:p>
            <a:pPr algn="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기술 순환 모형 (Anderson &amp; Tushman, 1990)</a:t>
            </a:r>
          </a:p>
        </p:txBody>
      </p:sp>
      <p:sp>
        <p:nvSpPr>
          <p:cNvPr id="12" name="Rounded Rectangle 11"/>
          <p:cNvSpPr/>
          <p:nvPr/>
        </p:nvSpPr>
        <p:spPr>
          <a:xfrm>
            <a:off x="540000" y="2232000"/>
            <a:ext cx="5760000" cy="3204000"/>
          </a:xfrm>
          <a:prstGeom prst="roundRect">
            <a:avLst>
              <a:gd name="adj" fmla="val 6000"/>
            </a:avLst>
          </a:prstGeom>
          <a:solidFill>
            <a:srgbClr val="F2F5FA"/>
          </a:solidFill>
          <a:ln>
            <a:noFill/>
          </a:ln>
        </p:spPr>
        <p:txBody>
          <a:bodyPr rtlCol="0" anchor="ctr" lIns="36000" rIns="36000" tIns="36000" bIns="36000"/>
          <a:lstStyle/>
          <a:p>
            <a:pPr algn="ctr"/>
          </a:p>
        </p:txBody>
      </p:sp>
      <p:cxnSp>
        <p:nvCxnSpPr>
          <p:cNvPr id="13" name="Connector 12"/>
          <p:cNvCxnSpPr/>
          <p:nvPr/>
        </p:nvCxnSpPr>
        <p:spPr>
          <a:xfrm flipV="1">
            <a:off x="3384000" y="2844000"/>
            <a:ext cx="0" cy="1080000"/>
          </a:xfrm>
          <a:prstGeom prst="line">
            <a:avLst/>
          </a:prstGeom>
          <a:ln w="19050">
            <a:solidFill>
              <a:srgbClr val="9AA6B8"/>
            </a:solidFill>
          </a:ln>
        </p:spPr>
      </p:cxnSp>
      <p:sp>
        <p:nvSpPr>
          <p:cNvPr id="14" name="Oval 13"/>
          <p:cNvSpPr/>
          <p:nvPr/>
        </p:nvSpPr>
        <p:spPr>
          <a:xfrm>
            <a:off x="3024000" y="262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5" name="Connector 14"/>
          <p:cNvCxnSpPr/>
          <p:nvPr/>
        </p:nvCxnSpPr>
        <p:spPr>
          <a:xfrm flipH="1" flipV="1">
            <a:off x="1949862" y="3384000"/>
            <a:ext cx="1434138" cy="540000"/>
          </a:xfrm>
          <a:prstGeom prst="line">
            <a:avLst/>
          </a:prstGeom>
          <a:ln w="19050">
            <a:solidFill>
              <a:srgbClr val="9AA6B8"/>
            </a:solidFill>
          </a:ln>
        </p:spPr>
      </p:cxnSp>
      <p:sp>
        <p:nvSpPr>
          <p:cNvPr id="16" name="Oval 15"/>
          <p:cNvSpPr/>
          <p:nvPr/>
        </p:nvSpPr>
        <p:spPr>
          <a:xfrm>
            <a:off x="1589862"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7" name="Connector 16"/>
          <p:cNvCxnSpPr/>
          <p:nvPr/>
        </p:nvCxnSpPr>
        <p:spPr>
          <a:xfrm flipH="1">
            <a:off x="1949862" y="3924000"/>
            <a:ext cx="1434138" cy="540000"/>
          </a:xfrm>
          <a:prstGeom prst="line">
            <a:avLst/>
          </a:prstGeom>
          <a:ln w="19050">
            <a:solidFill>
              <a:srgbClr val="9AA6B8"/>
            </a:solidFill>
          </a:ln>
        </p:spPr>
      </p:cxnSp>
      <p:sp>
        <p:nvSpPr>
          <p:cNvPr id="18" name="Oval 17"/>
          <p:cNvSpPr/>
          <p:nvPr/>
        </p:nvSpPr>
        <p:spPr>
          <a:xfrm>
            <a:off x="1589862"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19" name="Connector 18"/>
          <p:cNvCxnSpPr/>
          <p:nvPr/>
        </p:nvCxnSpPr>
        <p:spPr>
          <a:xfrm>
            <a:off x="3384000" y="3924000"/>
            <a:ext cx="0" cy="1080000"/>
          </a:xfrm>
          <a:prstGeom prst="line">
            <a:avLst/>
          </a:prstGeom>
          <a:ln w="19050">
            <a:solidFill>
              <a:srgbClr val="9AA6B8"/>
            </a:solidFill>
          </a:ln>
        </p:spPr>
      </p:cxnSp>
      <p:sp>
        <p:nvSpPr>
          <p:cNvPr id="20" name="Oval 19"/>
          <p:cNvSpPr/>
          <p:nvPr/>
        </p:nvSpPr>
        <p:spPr>
          <a:xfrm>
            <a:off x="3024000" y="478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1" name="Connector 20"/>
          <p:cNvCxnSpPr/>
          <p:nvPr/>
        </p:nvCxnSpPr>
        <p:spPr>
          <a:xfrm>
            <a:off x="3384000" y="3924000"/>
            <a:ext cx="1434138" cy="540000"/>
          </a:xfrm>
          <a:prstGeom prst="line">
            <a:avLst/>
          </a:prstGeom>
          <a:ln w="19050">
            <a:solidFill>
              <a:srgbClr val="9AA6B8"/>
            </a:solidFill>
          </a:ln>
        </p:spPr>
      </p:cxnSp>
      <p:sp>
        <p:nvSpPr>
          <p:cNvPr id="22" name="Oval 21"/>
          <p:cNvSpPr/>
          <p:nvPr/>
        </p:nvSpPr>
        <p:spPr>
          <a:xfrm>
            <a:off x="4458138" y="424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cxnSp>
        <p:nvCxnSpPr>
          <p:cNvPr id="23" name="Connector 22"/>
          <p:cNvCxnSpPr/>
          <p:nvPr/>
        </p:nvCxnSpPr>
        <p:spPr>
          <a:xfrm flipV="1">
            <a:off x="3384000" y="3384000"/>
            <a:ext cx="1434138" cy="540000"/>
          </a:xfrm>
          <a:prstGeom prst="line">
            <a:avLst/>
          </a:prstGeom>
          <a:ln w="19050">
            <a:solidFill>
              <a:srgbClr val="9AA6B8"/>
            </a:solidFill>
          </a:ln>
        </p:spPr>
      </p:cxnSp>
      <p:sp>
        <p:nvSpPr>
          <p:cNvPr id="24" name="Oval 23"/>
          <p:cNvSpPr/>
          <p:nvPr/>
        </p:nvSpPr>
        <p:spPr>
          <a:xfrm>
            <a:off x="4458138" y="3160800"/>
            <a:ext cx="720000" cy="446400"/>
          </a:xfrm>
          <a:prstGeom prst="ellipse">
            <a:avLst/>
          </a:prstGeom>
          <a:solidFill>
            <a:srgbClr val="FFFFFF"/>
          </a:solidFill>
          <a:ln w="15875">
            <a:solidFill>
              <a:srgbClr val="9AA6B8"/>
            </a:solidFill>
          </a:ln>
        </p:spPr>
        <p:txBody>
          <a:bodyPr rtlCol="0" anchor="ctr" lIns="7200" rIns="7200" tIns="18000" bIns="18000" wrap="square">
            <a:noAutofit/>
          </a:bodyPr>
          <a:lstStyle/>
          <a:p>
            <a:pPr algn="ctr" marL="0" indent="0">
              <a:lnSpc>
                <a:spcPts val="1320"/>
              </a:lnSpc>
              <a:spcBef>
                <a:spcPts val="0"/>
              </a:spcBef>
              <a:spcAft>
                <a:spcPts val="0"/>
              </a:spcAft>
              <a:buNone/>
            </a:pPr>
            <a:r>
              <a:rPr sz="1100" b="1" i="0" lang="ko-KR" altLang="en-US">
                <a:solidFill>
                  <a:srgbClr val="5B6475"/>
                </a:solidFill>
                <a:latin typeface="맑은 고딕"/>
                <a:ea typeface="맑은 고딕"/>
                <a:cs typeface="맑은 고딕"/>
              </a:rPr>
              <a:t>주변</a:t>
            </a:r>
          </a:p>
        </p:txBody>
      </p:sp>
      <p:sp>
        <p:nvSpPr>
          <p:cNvPr id="25" name="Oval 24"/>
          <p:cNvSpPr/>
          <p:nvPr/>
        </p:nvSpPr>
        <p:spPr>
          <a:xfrm>
            <a:off x="2772000" y="3546000"/>
            <a:ext cx="1224000" cy="756000"/>
          </a:xfrm>
          <a:prstGeom prst="ellipse">
            <a:avLst/>
          </a:prstGeom>
          <a:solidFill>
            <a:srgbClr val="13294B"/>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요소</a:t>
            </a:r>
          </a:p>
        </p:txBody>
      </p:sp>
      <p:sp>
        <p:nvSpPr>
          <p:cNvPr id="26" name="TextBox 25"/>
          <p:cNvSpPr txBox="1"/>
          <p:nvPr/>
        </p:nvSpPr>
        <p:spPr>
          <a:xfrm>
            <a:off x="684000" y="2286000"/>
            <a:ext cx="252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a:t>
            </a:r>
          </a:p>
        </p:txBody>
      </p:sp>
      <p:sp>
        <p:nvSpPr>
          <p:cNvPr id="27" name="Rounded Rectangle 26"/>
          <p:cNvSpPr/>
          <p:nvPr/>
        </p:nvSpPr>
        <p:spPr>
          <a:xfrm>
            <a:off x="6516000" y="223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28" name="TextBox 27"/>
          <p:cNvSpPr txBox="1"/>
          <p:nvPr/>
        </p:nvSpPr>
        <p:spPr>
          <a:xfrm>
            <a:off x="6678000" y="230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Murmann &amp; Frenken (2006)</a:t>
            </a:r>
          </a:p>
        </p:txBody>
      </p:sp>
      <p:sp>
        <p:nvSpPr>
          <p:cNvPr id="29" name="TextBox 28"/>
          <p:cNvSpPr txBox="1"/>
          <p:nvPr/>
        </p:nvSpPr>
        <p:spPr>
          <a:xfrm>
            <a:off x="6678000" y="257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지배적 설계 = 다른 요소와 안정된 인터페이스 역할을 하는 핵심 요소의 안정된 설계 → 이후의 변화는 주변 요소에서</a:t>
            </a:r>
          </a:p>
        </p:txBody>
      </p:sp>
      <p:sp>
        <p:nvSpPr>
          <p:cNvPr id="30" name="Rounded Rectangle 29"/>
          <p:cNvSpPr/>
          <p:nvPr/>
        </p:nvSpPr>
        <p:spPr>
          <a:xfrm>
            <a:off x="6516000" y="3312000"/>
            <a:ext cx="5136120" cy="990000"/>
          </a:xfrm>
          <a:prstGeom prst="roundRect">
            <a:avLst>
              <a:gd name="adj" fmla="val 6000"/>
            </a:avLst>
          </a:prstGeom>
          <a:solidFill>
            <a:srgbClr val="FFFFFF"/>
          </a:solidFill>
          <a:ln w="12700">
            <a:solidFill>
              <a:srgbClr val="C9D2E0"/>
            </a:solidFill>
          </a:ln>
        </p:spPr>
        <p:txBody>
          <a:bodyPr rtlCol="0" anchor="ctr" lIns="36000" rIns="36000" tIns="36000" bIns="36000"/>
          <a:lstStyle/>
          <a:p>
            <a:pPr algn="ctr"/>
          </a:p>
        </p:txBody>
      </p:sp>
      <p:sp>
        <p:nvSpPr>
          <p:cNvPr id="31" name="TextBox 30"/>
          <p:cNvSpPr txBox="1"/>
          <p:nvPr/>
        </p:nvSpPr>
        <p:spPr>
          <a:xfrm>
            <a:off x="6678000" y="3384000"/>
            <a:ext cx="4812120" cy="27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Henderson &amp; Clark (1990)</a:t>
            </a:r>
          </a:p>
        </p:txBody>
      </p:sp>
      <p:sp>
        <p:nvSpPr>
          <p:cNvPr id="32" name="TextBox 31"/>
          <p:cNvSpPr txBox="1"/>
          <p:nvPr/>
        </p:nvSpPr>
        <p:spPr>
          <a:xfrm>
            <a:off x="6678000" y="3654000"/>
            <a:ext cx="4812120" cy="630000"/>
          </a:xfrm>
          <a:prstGeom prst="rect">
            <a:avLst/>
          </a:prstGeom>
          <a:noFill/>
        </p:spPr>
        <p:txBody>
          <a:bodyPr wrap="square" lIns="0" rIns="0" tIns="0" bIns="0" anchor="t">
            <a:noAutofit/>
          </a:bodyPr>
          <a:lstStyle/>
          <a:p>
            <a:pPr algn="l" marL="0" indent="0">
              <a:lnSpc>
                <a:spcPts val="1720"/>
              </a:lnSpc>
              <a:spcBef>
                <a:spcPts val="0"/>
              </a:spcBef>
              <a:spcAft>
                <a:spcPts val="0"/>
              </a:spcAft>
              <a:buNone/>
            </a:pPr>
            <a:r>
              <a:rPr sz="1300" b="0" i="0" lang="ko-KR" altLang="en-US">
                <a:solidFill>
                  <a:srgbClr val="1E2532"/>
                </a:solidFill>
                <a:latin typeface="맑은 고딕"/>
                <a:ea typeface="맑은 고딕"/>
                <a:cs typeface="맑은 고딕"/>
              </a:rPr>
              <a:t>확립된 아키텍처 지식은 조직의 의사소통 경로와 문제 해결 방식에 내재되어 당연한 전제가 됨</a:t>
            </a:r>
          </a:p>
        </p:txBody>
      </p:sp>
      <p:sp>
        <p:nvSpPr>
          <p:cNvPr id="33" name="Rounded Rectangle 32"/>
          <p:cNvSpPr/>
          <p:nvPr/>
        </p:nvSpPr>
        <p:spPr>
          <a:xfrm>
            <a:off x="6516000" y="4428000"/>
            <a:ext cx="5136120" cy="100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4" name="Picture 33" descr="FaRoad_13294B.png"/>
          <p:cNvPicPr>
            <a:picLocks noChangeAspect="1"/>
          </p:cNvPicPr>
          <p:nvPr/>
        </p:nvPicPr>
        <p:blipFill>
          <a:blip r:embed="rId3"/>
          <a:stretch>
            <a:fillRect/>
          </a:stretch>
        </p:blipFill>
        <p:spPr>
          <a:xfrm>
            <a:off x="6696000" y="4590000"/>
            <a:ext cx="468000" cy="468000"/>
          </a:xfrm>
          <a:prstGeom prst="rect">
            <a:avLst/>
          </a:prstGeom>
        </p:spPr>
      </p:pic>
      <p:sp>
        <p:nvSpPr>
          <p:cNvPr id="35" name="TextBox 34"/>
          <p:cNvSpPr txBox="1"/>
          <p:nvPr/>
        </p:nvSpPr>
        <p:spPr>
          <a:xfrm>
            <a:off x="7308000" y="4464000"/>
            <a:ext cx="4200120" cy="936000"/>
          </a:xfrm>
          <a:prstGeom prst="rect">
            <a:avLst/>
          </a:prstGeom>
          <a:noFill/>
        </p:spPr>
        <p:txBody>
          <a:bodyPr wrap="square" lIns="0" rIns="0" tIns="0" bIns="0" anchor="ctr">
            <a:noAutofit/>
          </a:bodyPr>
          <a:lstStyle/>
          <a:p>
            <a:pPr algn="l" marL="0" indent="0">
              <a:lnSpc>
                <a:spcPts val="1620"/>
              </a:lnSpc>
              <a:spcBef>
                <a:spcPts val="0"/>
              </a:spcBef>
              <a:spcAft>
                <a:spcPts val="300"/>
              </a:spcAft>
              <a:buNone/>
            </a:pPr>
            <a:r>
              <a:rPr sz="1350" b="1" i="0" lang="ko-KR" altLang="en-US">
                <a:solidFill>
                  <a:srgbClr val="13294B"/>
                </a:solidFill>
                <a:latin typeface="맑은 고딕"/>
                <a:ea typeface="맑은 고딕"/>
                <a:cs typeface="맑은 고딕"/>
              </a:rPr>
              <a:t>비유: 도로의 규격</a:t>
            </a:r>
          </a:p>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규격이 정해지기 전에는 설계와 시공이 한 몸처럼 움직이지만, 정해진 뒤에는 각자 규격을 전제로 일한다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2  Summary</a:t>
            </a:r>
          </a:p>
        </p:txBody>
      </p:sp>
      <p:sp>
        <p:nvSpPr>
          <p:cNvPr id="3" name="Rectangle 2"/>
          <p:cNvSpPr/>
          <p:nvPr/>
        </p:nvSpPr>
        <p:spPr>
          <a:xfrm>
            <a:off x="58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4" name="Rounded Rectangle 3"/>
          <p:cNvSpPr/>
          <p:nvPr/>
        </p:nvSpPr>
        <p:spPr>
          <a:xfrm>
            <a:off x="80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기술융합 · 단계 모형</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Rosenberg · Kodama · Hacklin</a:t>
            </a:r>
          </a:p>
        </p:txBody>
      </p:sp>
      <p:cxnSp>
        <p:nvCxnSpPr>
          <p:cNvPr id="5" name="Connector 4"/>
          <p:cNvCxnSpPr/>
          <p:nvPr/>
        </p:nvCxnSpPr>
        <p:spPr>
          <a:xfrm>
            <a:off x="2316060" y="1980000"/>
            <a:ext cx="0" cy="306000"/>
          </a:xfrm>
          <a:prstGeom prst="line">
            <a:avLst/>
          </a:prstGeom>
          <a:ln w="25400">
            <a:solidFill>
              <a:srgbClr val="13294B"/>
            </a:solidFill>
            <a:tailEnd type="triangle" w="med" len="med"/>
          </a:ln>
        </p:spPr>
      </p:cxnSp>
      <p:sp>
        <p:nvSpPr>
          <p:cNvPr id="6" name="Rounded Rectangle 5"/>
          <p:cNvSpPr/>
          <p:nvPr/>
        </p:nvSpPr>
        <p:spPr>
          <a:xfrm>
            <a:off x="94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a:t>
            </a:r>
          </a:p>
        </p:txBody>
      </p:sp>
      <p:cxnSp>
        <p:nvCxnSpPr>
          <p:cNvPr id="7" name="Connector 6"/>
          <p:cNvCxnSpPr/>
          <p:nvPr/>
        </p:nvCxnSpPr>
        <p:spPr>
          <a:xfrm>
            <a:off x="2316060" y="3186000"/>
            <a:ext cx="0" cy="216000"/>
          </a:xfrm>
          <a:prstGeom prst="line">
            <a:avLst/>
          </a:prstGeom>
          <a:ln w="25400">
            <a:solidFill>
              <a:srgbClr val="13294B"/>
            </a:solidFill>
          </a:ln>
        </p:spPr>
      </p:cxnSp>
      <p:cxnSp>
        <p:nvCxnSpPr>
          <p:cNvPr id="8" name="Connector 7"/>
          <p:cNvCxnSpPr/>
          <p:nvPr/>
        </p:nvCxnSpPr>
        <p:spPr>
          <a:xfrm>
            <a:off x="1434060" y="3402000"/>
            <a:ext cx="1764000" cy="0"/>
          </a:xfrm>
          <a:prstGeom prst="line">
            <a:avLst/>
          </a:prstGeom>
          <a:ln w="25400">
            <a:solidFill>
              <a:srgbClr val="13294B"/>
            </a:solidFill>
          </a:ln>
        </p:spPr>
      </p:cxnSp>
      <p:cxnSp>
        <p:nvCxnSpPr>
          <p:cNvPr id="9" name="Connector 8"/>
          <p:cNvCxnSpPr/>
          <p:nvPr/>
        </p:nvCxnSpPr>
        <p:spPr>
          <a:xfrm>
            <a:off x="1488060" y="3402000"/>
            <a:ext cx="0" cy="288000"/>
          </a:xfrm>
          <a:prstGeom prst="line">
            <a:avLst/>
          </a:prstGeom>
          <a:ln w="25400">
            <a:solidFill>
              <a:srgbClr val="13294B"/>
            </a:solidFill>
            <a:tailEnd type="triangle" w="med" len="med"/>
          </a:ln>
        </p:spPr>
      </p:cxnSp>
      <p:sp>
        <p:nvSpPr>
          <p:cNvPr id="10" name="Rounded Rectangle 9"/>
          <p:cNvSpPr/>
          <p:nvPr/>
        </p:nvSpPr>
        <p:spPr>
          <a:xfrm>
            <a:off x="75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특허로 관찰하는</a:t>
            </a:r>
          </a:p>
        </p:txBody>
      </p:sp>
      <p:cxnSp>
        <p:nvCxnSpPr>
          <p:cNvPr id="11" name="Connector 10"/>
          <p:cNvCxnSpPr/>
          <p:nvPr/>
        </p:nvCxnSpPr>
        <p:spPr>
          <a:xfrm>
            <a:off x="3144060" y="3402000"/>
            <a:ext cx="0" cy="288000"/>
          </a:xfrm>
          <a:prstGeom prst="line">
            <a:avLst/>
          </a:prstGeom>
          <a:ln w="25400">
            <a:solidFill>
              <a:srgbClr val="13294B"/>
            </a:solidFill>
            <a:tailEnd type="triangle" w="med" len="med"/>
          </a:ln>
        </p:spPr>
      </p:cxnSp>
      <p:sp>
        <p:nvSpPr>
          <p:cNvPr id="12" name="Rounded Rectangle 11"/>
          <p:cNvSpPr/>
          <p:nvPr/>
        </p:nvSpPr>
        <p:spPr>
          <a:xfrm>
            <a:off x="240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"기술 융합" 단계</a:t>
            </a:r>
          </a:p>
        </p:txBody>
      </p:sp>
      <p:sp>
        <p:nvSpPr>
          <p:cNvPr id="13" name="Rounded Rectangle 12"/>
          <p:cNvSpPr/>
          <p:nvPr/>
        </p:nvSpPr>
        <p:spPr>
          <a:xfrm>
            <a:off x="152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연구의 관점</a:t>
            </a:r>
          </a:p>
        </p:txBody>
      </p:sp>
      <p:sp>
        <p:nvSpPr>
          <p:cNvPr id="14" name="Rectangle 13"/>
          <p:cNvSpPr/>
          <p:nvPr/>
        </p:nvSpPr>
        <p:spPr>
          <a:xfrm>
            <a:off x="436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15" name="Rounded Rectangle 14"/>
          <p:cNvSpPr/>
          <p:nvPr/>
        </p:nvSpPr>
        <p:spPr>
          <a:xfrm>
            <a:off x="458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수직 전문화 · 지식 경계</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Kapoor &amp; Adner · Brusoni</a:t>
            </a:r>
          </a:p>
        </p:txBody>
      </p:sp>
      <p:cxnSp>
        <p:nvCxnSpPr>
          <p:cNvPr id="16" name="Connector 15"/>
          <p:cNvCxnSpPr/>
          <p:nvPr/>
        </p:nvCxnSpPr>
        <p:spPr>
          <a:xfrm>
            <a:off x="6096060" y="1980000"/>
            <a:ext cx="0" cy="306000"/>
          </a:xfrm>
          <a:prstGeom prst="line">
            <a:avLst/>
          </a:prstGeom>
          <a:ln w="25400">
            <a:solidFill>
              <a:srgbClr val="13294B"/>
            </a:solidFill>
            <a:tailEnd type="triangle" w="med" len="med"/>
          </a:ln>
        </p:spPr>
      </p:cxnSp>
      <p:sp>
        <p:nvSpPr>
          <p:cNvPr id="17" name="Rounded Rectangle 16"/>
          <p:cNvSpPr/>
          <p:nvPr/>
        </p:nvSpPr>
        <p:spPr>
          <a:xfrm>
            <a:off x="472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cxnSp>
        <p:nvCxnSpPr>
          <p:cNvPr id="18" name="Connector 17"/>
          <p:cNvCxnSpPr/>
          <p:nvPr/>
        </p:nvCxnSpPr>
        <p:spPr>
          <a:xfrm>
            <a:off x="6096060" y="3186000"/>
            <a:ext cx="0" cy="216000"/>
          </a:xfrm>
          <a:prstGeom prst="line">
            <a:avLst/>
          </a:prstGeom>
          <a:ln w="25400">
            <a:solidFill>
              <a:srgbClr val="13294B"/>
            </a:solidFill>
          </a:ln>
        </p:spPr>
      </p:cxnSp>
      <p:cxnSp>
        <p:nvCxnSpPr>
          <p:cNvPr id="19" name="Connector 18"/>
          <p:cNvCxnSpPr/>
          <p:nvPr/>
        </p:nvCxnSpPr>
        <p:spPr>
          <a:xfrm>
            <a:off x="5214060" y="3402000"/>
            <a:ext cx="1764000" cy="0"/>
          </a:xfrm>
          <a:prstGeom prst="line">
            <a:avLst/>
          </a:prstGeom>
          <a:ln w="25400">
            <a:solidFill>
              <a:srgbClr val="13294B"/>
            </a:solidFill>
          </a:ln>
        </p:spPr>
      </p:cxnSp>
      <p:cxnSp>
        <p:nvCxnSpPr>
          <p:cNvPr id="20" name="Connector 19"/>
          <p:cNvCxnSpPr/>
          <p:nvPr/>
        </p:nvCxnSpPr>
        <p:spPr>
          <a:xfrm>
            <a:off x="5268060" y="3402000"/>
            <a:ext cx="0" cy="288000"/>
          </a:xfrm>
          <a:prstGeom prst="line">
            <a:avLst/>
          </a:prstGeom>
          <a:ln w="25400">
            <a:solidFill>
              <a:srgbClr val="13294B"/>
            </a:solidFill>
            <a:tailEnd type="triangle" w="med" len="med"/>
          </a:ln>
        </p:spPr>
      </p:cxnSp>
      <p:sp>
        <p:nvSpPr>
          <p:cNvPr id="21" name="Rounded Rectangle 20"/>
          <p:cNvSpPr/>
          <p:nvPr/>
        </p:nvSpPr>
        <p:spPr>
          <a:xfrm>
            <a:off x="453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불안정한 인터페이스</a:t>
            </a:r>
          </a:p>
        </p:txBody>
      </p:sp>
      <p:cxnSp>
        <p:nvCxnSpPr>
          <p:cNvPr id="22" name="Connector 21"/>
          <p:cNvCxnSpPr/>
          <p:nvPr/>
        </p:nvCxnSpPr>
        <p:spPr>
          <a:xfrm>
            <a:off x="6924060" y="3402000"/>
            <a:ext cx="0" cy="288000"/>
          </a:xfrm>
          <a:prstGeom prst="line">
            <a:avLst/>
          </a:prstGeom>
          <a:ln w="25400">
            <a:solidFill>
              <a:srgbClr val="13294B"/>
            </a:solidFill>
            <a:tailEnd type="triangle" w="med" len="med"/>
          </a:ln>
        </p:spPr>
      </p:cxnSp>
      <p:sp>
        <p:nvSpPr>
          <p:cNvPr id="23" name="Rounded Rectangle 22"/>
          <p:cNvSpPr/>
          <p:nvPr/>
        </p:nvSpPr>
        <p:spPr>
          <a:xfrm>
            <a:off x="618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경계를 넘는 발명</a:t>
            </a:r>
          </a:p>
        </p:txBody>
      </p:sp>
      <p:sp>
        <p:nvSpPr>
          <p:cNvPr id="24" name="Rounded Rectangle 23"/>
          <p:cNvSpPr/>
          <p:nvPr/>
        </p:nvSpPr>
        <p:spPr>
          <a:xfrm>
            <a:off x="530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5" name="Rectangle 24"/>
          <p:cNvSpPr/>
          <p:nvPr/>
        </p:nvSpPr>
        <p:spPr>
          <a:xfrm>
            <a:off x="8148060" y="918000"/>
            <a:ext cx="3456000" cy="5220000"/>
          </a:xfrm>
          <a:prstGeom prst="rect">
            <a:avLst/>
          </a:prstGeom>
          <a:noFill/>
          <a:ln w="12700">
            <a:solidFill>
              <a:srgbClr val="9AA6B8"/>
            </a:solidFill>
            <a:prstDash val="dash"/>
          </a:ln>
        </p:spPr>
        <p:txBody>
          <a:bodyPr rtlCol="0" anchor="ctr" lIns="36000" rIns="36000" tIns="36000" bIns="36000"/>
          <a:lstStyle/>
          <a:p>
            <a:pPr algn="ctr"/>
          </a:p>
        </p:txBody>
      </p:sp>
      <p:sp>
        <p:nvSpPr>
          <p:cNvPr id="26" name="Rounded Rectangle 25"/>
          <p:cNvSpPr/>
          <p:nvPr/>
        </p:nvSpPr>
        <p:spPr>
          <a:xfrm>
            <a:off x="8364060" y="1116000"/>
            <a:ext cx="3024000" cy="828000"/>
          </a:xfrm>
          <a:prstGeom prst="roundRect">
            <a:avLst>
              <a:gd name="adj" fmla="val 18000"/>
            </a:avLst>
          </a:prstGeom>
          <a:solidFill>
            <a:srgbClr val="13294B"/>
          </a:solidFill>
          <a:ln w="22225">
            <a:solidFill>
              <a:srgbClr val="13294B"/>
            </a:solidFill>
          </a:ln>
        </p:spPr>
        <p:txBody>
          <a:bodyPr rtlCol="0" anchor="ctr" lIns="54000" rIns="54000" tIns="18000" bIns="18000" wrap="square">
            <a:noAutofit/>
          </a:bodyPr>
          <a:lstStyle/>
          <a:p>
            <a:pPr algn="ctr" marL="0" indent="0">
              <a:lnSpc>
                <a:spcPts val="2039"/>
              </a:lnSpc>
              <a:spcBef>
                <a:spcPts val="0"/>
              </a:spcBef>
              <a:spcAft>
                <a:spcPts val="0"/>
              </a:spcAft>
              <a:buNone/>
            </a:pPr>
            <a:r>
              <a:rPr sz="1700" b="1" i="0" lang="ko-KR" altLang="en-US">
                <a:solidFill>
                  <a:srgbClr val="FFFFFF"/>
                </a:solidFill>
                <a:latin typeface="맑은 고딕"/>
                <a:ea typeface="맑은 고딕"/>
                <a:cs typeface="맑은 고딕"/>
              </a:rPr>
              <a:t>기술 순환 · 핵심–주변</a:t>
            </a:r>
          </a:p>
          <a:p>
            <a:pPr algn="ctr" marL="0" indent="0">
              <a:lnSpc>
                <a:spcPts val="1260"/>
              </a:lnSpc>
              <a:spcBef>
                <a:spcPts val="0"/>
              </a:spcBef>
              <a:spcAft>
                <a:spcPts val="0"/>
              </a:spcAft>
              <a:buNone/>
            </a:pPr>
            <a:r>
              <a:rPr sz="1050" b="0" i="0" lang="ko-KR" altLang="en-US">
                <a:solidFill>
                  <a:srgbClr val="C8D3E6"/>
                </a:solidFill>
                <a:latin typeface="맑은 고딕"/>
                <a:ea typeface="맑은 고딕"/>
                <a:cs typeface="맑은 고딕"/>
              </a:rPr>
              <a:t>Anderson &amp; Tushman · Murmann &amp; Frenken</a:t>
            </a:r>
          </a:p>
        </p:txBody>
      </p:sp>
      <p:cxnSp>
        <p:nvCxnSpPr>
          <p:cNvPr id="27" name="Connector 26"/>
          <p:cNvCxnSpPr/>
          <p:nvPr/>
        </p:nvCxnSpPr>
        <p:spPr>
          <a:xfrm>
            <a:off x="9876060" y="1980000"/>
            <a:ext cx="0" cy="306000"/>
          </a:xfrm>
          <a:prstGeom prst="line">
            <a:avLst/>
          </a:prstGeom>
          <a:ln w="25400">
            <a:solidFill>
              <a:srgbClr val="13294B"/>
            </a:solidFill>
            <a:tailEnd type="triangle" w="med" len="med"/>
          </a:ln>
        </p:spPr>
      </p:cxnSp>
      <p:sp>
        <p:nvSpPr>
          <p:cNvPr id="28" name="Rounded Rectangle 27"/>
          <p:cNvSpPr/>
          <p:nvPr/>
        </p:nvSpPr>
        <p:spPr>
          <a:xfrm>
            <a:off x="8508060" y="2322000"/>
            <a:ext cx="2736000" cy="828000"/>
          </a:xfrm>
          <a:prstGeom prst="roundRect">
            <a:avLst>
              <a:gd name="adj" fmla="val 18000"/>
            </a:avLst>
          </a:prstGeom>
          <a:solidFill>
            <a:srgbClr val="FFFFFF"/>
          </a:solidFill>
          <a:ln w="22225">
            <a:solidFill>
              <a:srgbClr val="13294B"/>
            </a:solidFill>
          </a:ln>
        </p:spPr>
        <p:txBody>
          <a:bodyPr rtlCol="0" anchor="ctr" lIns="54000" rIns="5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지배적 설계의 고착화</a:t>
            </a:r>
          </a:p>
        </p:txBody>
      </p:sp>
      <p:cxnSp>
        <p:nvCxnSpPr>
          <p:cNvPr id="29" name="Connector 28"/>
          <p:cNvCxnSpPr/>
          <p:nvPr/>
        </p:nvCxnSpPr>
        <p:spPr>
          <a:xfrm>
            <a:off x="9876060" y="3186000"/>
            <a:ext cx="0" cy="216000"/>
          </a:xfrm>
          <a:prstGeom prst="line">
            <a:avLst/>
          </a:prstGeom>
          <a:ln w="25400">
            <a:solidFill>
              <a:srgbClr val="13294B"/>
            </a:solidFill>
          </a:ln>
        </p:spPr>
      </p:cxnSp>
      <p:cxnSp>
        <p:nvCxnSpPr>
          <p:cNvPr id="30" name="Connector 29"/>
          <p:cNvCxnSpPr/>
          <p:nvPr/>
        </p:nvCxnSpPr>
        <p:spPr>
          <a:xfrm>
            <a:off x="8994060" y="3402000"/>
            <a:ext cx="1764000" cy="0"/>
          </a:xfrm>
          <a:prstGeom prst="line">
            <a:avLst/>
          </a:prstGeom>
          <a:ln w="25400">
            <a:solidFill>
              <a:srgbClr val="13294B"/>
            </a:solidFill>
          </a:ln>
        </p:spPr>
      </p:cxnSp>
      <p:cxnSp>
        <p:nvCxnSpPr>
          <p:cNvPr id="31" name="Connector 30"/>
          <p:cNvCxnSpPr/>
          <p:nvPr/>
        </p:nvCxnSpPr>
        <p:spPr>
          <a:xfrm>
            <a:off x="9048060" y="3402000"/>
            <a:ext cx="0" cy="288000"/>
          </a:xfrm>
          <a:prstGeom prst="line">
            <a:avLst/>
          </a:prstGeom>
          <a:ln w="25400">
            <a:solidFill>
              <a:srgbClr val="13294B"/>
            </a:solidFill>
            <a:tailEnd type="triangle" w="med" len="med"/>
          </a:ln>
        </p:spPr>
      </p:cxnSp>
      <p:sp>
        <p:nvSpPr>
          <p:cNvPr id="32" name="Rounded Rectangle 31"/>
          <p:cNvSpPr/>
          <p:nvPr/>
        </p:nvSpPr>
        <p:spPr>
          <a:xfrm>
            <a:off x="8310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핵심 기술</a:t>
            </a:r>
          </a:p>
        </p:txBody>
      </p:sp>
      <p:cxnSp>
        <p:nvCxnSpPr>
          <p:cNvPr id="33" name="Connector 32"/>
          <p:cNvCxnSpPr/>
          <p:nvPr/>
        </p:nvCxnSpPr>
        <p:spPr>
          <a:xfrm>
            <a:off x="10704060" y="3402000"/>
            <a:ext cx="0" cy="288000"/>
          </a:xfrm>
          <a:prstGeom prst="line">
            <a:avLst/>
          </a:prstGeom>
          <a:ln w="25400">
            <a:solidFill>
              <a:srgbClr val="13294B"/>
            </a:solidFill>
            <a:tailEnd type="triangle" w="med" len="med"/>
          </a:ln>
        </p:spPr>
      </p:cxnSp>
      <p:sp>
        <p:nvSpPr>
          <p:cNvPr id="34" name="Rounded Rectangle 33"/>
          <p:cNvSpPr/>
          <p:nvPr/>
        </p:nvSpPr>
        <p:spPr>
          <a:xfrm>
            <a:off x="9966060" y="3726000"/>
            <a:ext cx="1476000" cy="1080000"/>
          </a:xfrm>
          <a:prstGeom prst="roundRect">
            <a:avLst>
              <a:gd name="adj" fmla="val 18000"/>
            </a:avLst>
          </a:prstGeom>
          <a:solidFill>
            <a:srgbClr val="E8EEF7"/>
          </a:solidFill>
          <a:ln w="15875">
            <a:solidFill>
              <a:srgbClr val="13294B"/>
            </a:solidFill>
          </a:ln>
        </p:spPr>
        <p:txBody>
          <a:bodyPr rtlCol="0" anchor="ctr" lIns="54000" rIns="54000" tIns="18000" bIns="18000" wrap="square">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주변 공정</a:t>
            </a:r>
          </a:p>
        </p:txBody>
      </p:sp>
      <p:cxnSp>
        <p:nvCxnSpPr>
          <p:cNvPr id="35" name="Connector 34"/>
          <p:cNvCxnSpPr/>
          <p:nvPr/>
        </p:nvCxnSpPr>
        <p:spPr>
          <a:xfrm>
            <a:off x="9804060" y="4266000"/>
            <a:ext cx="144000" cy="0"/>
          </a:xfrm>
          <a:prstGeom prst="line">
            <a:avLst/>
          </a:prstGeom>
          <a:ln w="31750">
            <a:solidFill>
              <a:srgbClr val="7C3AED"/>
            </a:solidFill>
            <a:tailEnd type="triangle" w="med" len="med"/>
          </a:ln>
        </p:spPr>
      </p:cxnSp>
      <p:sp>
        <p:nvSpPr>
          <p:cNvPr id="36" name="Rounded Rectangle 35"/>
          <p:cNvSpPr/>
          <p:nvPr/>
        </p:nvSpPr>
        <p:spPr>
          <a:xfrm>
            <a:off x="9084060" y="5238000"/>
            <a:ext cx="1584000" cy="414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 · RQ3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RQ1) 공정 단계 간 융합의 수준과 유형</a:t>
            </a:r>
          </a:p>
        </p:txBody>
      </p:sp>
      <p:sp>
        <p:nvSpPr>
          <p:cNvPr id="3" name="Rounded Rectangle 2"/>
          <p:cNvSpPr/>
          <p:nvPr/>
        </p:nvSpPr>
        <p:spPr>
          <a:xfrm>
            <a:off x="684000" y="1080000"/>
            <a:ext cx="2808000" cy="108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2563C9"/>
                </a:solidFill>
                <a:latin typeface="맑은 고딕"/>
                <a:ea typeface="맑은 고딕"/>
                <a:cs typeface="맑은 고딕"/>
              </a:rPr>
              <a:t>제조공정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H01L21</a:t>
            </a:r>
          </a:p>
        </p:txBody>
      </p:sp>
      <p:sp>
        <p:nvSpPr>
          <p:cNvPr id="4" name="Rounded Rectangle 3"/>
          <p:cNvSpPr/>
          <p:nvPr/>
        </p:nvSpPr>
        <p:spPr>
          <a:xfrm>
            <a:off x="4356000" y="1080000"/>
            <a:ext cx="2808000" cy="1080000"/>
          </a:xfrm>
          <a:prstGeom prst="roundRect">
            <a:avLst>
              <a:gd name="adj" fmla="val 18000"/>
            </a:avLst>
          </a:prstGeom>
          <a:solidFill>
            <a:srgbClr val="FDEBDD"/>
          </a:solidFill>
          <a:ln w="22225">
            <a:solidFill>
              <a:srgbClr val="EA7A28"/>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EA7A28"/>
                </a:solidFill>
                <a:latin typeface="맑은 고딕"/>
                <a:ea typeface="맑은 고딕"/>
                <a:cs typeface="맑은 고딕"/>
              </a:rPr>
              <a:t>접합·인터커넥트 기술</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CPC H01L24</a:t>
            </a:r>
          </a:p>
        </p:txBody>
      </p:sp>
      <p:cxnSp>
        <p:nvCxnSpPr>
          <p:cNvPr id="5" name="Connector 4"/>
          <p:cNvCxnSpPr/>
          <p:nvPr/>
        </p:nvCxnSpPr>
        <p:spPr>
          <a:xfrm flipH="1">
            <a:off x="3762000" y="1008000"/>
            <a:ext cx="162000" cy="324000"/>
          </a:xfrm>
          <a:prstGeom prst="line">
            <a:avLst/>
          </a:prstGeom>
          <a:ln w="31750">
            <a:solidFill>
              <a:srgbClr val="C0392B"/>
            </a:solidFill>
          </a:ln>
        </p:spPr>
      </p:cxnSp>
      <p:cxnSp>
        <p:nvCxnSpPr>
          <p:cNvPr id="6" name="Connector 5"/>
          <p:cNvCxnSpPr/>
          <p:nvPr/>
        </p:nvCxnSpPr>
        <p:spPr>
          <a:xfrm>
            <a:off x="3762000" y="1332000"/>
            <a:ext cx="324000" cy="288000"/>
          </a:xfrm>
          <a:prstGeom prst="line">
            <a:avLst/>
          </a:prstGeom>
          <a:ln w="31750">
            <a:solidFill>
              <a:srgbClr val="C0392B"/>
            </a:solidFill>
          </a:ln>
        </p:spPr>
      </p:cxnSp>
      <p:cxnSp>
        <p:nvCxnSpPr>
          <p:cNvPr id="7" name="Connector 6"/>
          <p:cNvCxnSpPr/>
          <p:nvPr/>
        </p:nvCxnSpPr>
        <p:spPr>
          <a:xfrm flipH="1">
            <a:off x="3762000" y="1620000"/>
            <a:ext cx="324000" cy="288000"/>
          </a:xfrm>
          <a:prstGeom prst="line">
            <a:avLst/>
          </a:prstGeom>
          <a:ln w="31750">
            <a:solidFill>
              <a:srgbClr val="C0392B"/>
            </a:solidFill>
          </a:ln>
        </p:spPr>
      </p:cxnSp>
      <p:cxnSp>
        <p:nvCxnSpPr>
          <p:cNvPr id="8" name="Connector 7"/>
          <p:cNvCxnSpPr/>
          <p:nvPr/>
        </p:nvCxnSpPr>
        <p:spPr>
          <a:xfrm>
            <a:off x="3762000" y="1908000"/>
            <a:ext cx="162000" cy="324000"/>
          </a:xfrm>
          <a:prstGeom prst="line">
            <a:avLst/>
          </a:prstGeom>
          <a:ln w="31750">
            <a:solidFill>
              <a:srgbClr val="C0392B"/>
            </a:solidFill>
          </a:ln>
        </p:spPr>
      </p:cxnSp>
      <p:sp>
        <p:nvSpPr>
          <p:cNvPr id="9" name="TextBox 8"/>
          <p:cNvSpPr txBox="1"/>
          <p:nvPr/>
        </p:nvSpPr>
        <p:spPr>
          <a:xfrm>
            <a:off x="2844000" y="2268000"/>
            <a:ext cx="2160000" cy="288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C0392B"/>
                </a:solidFill>
                <a:latin typeface="맑은 고딕"/>
                <a:ea typeface="맑은 고딕"/>
                <a:cs typeface="맑은 고딕"/>
              </a:rPr>
              <a:t>불안정해진 인터페이스</a:t>
            </a:r>
          </a:p>
        </p:txBody>
      </p:sp>
      <p:cxnSp>
        <p:nvCxnSpPr>
          <p:cNvPr id="10" name="Connector 9"/>
          <p:cNvCxnSpPr/>
          <p:nvPr/>
        </p:nvCxnSpPr>
        <p:spPr>
          <a:xfrm>
            <a:off x="2088000" y="2214000"/>
            <a:ext cx="972000" cy="810000"/>
          </a:xfrm>
          <a:prstGeom prst="line">
            <a:avLst/>
          </a:prstGeom>
          <a:ln w="31750">
            <a:solidFill>
              <a:srgbClr val="2563C9"/>
            </a:solidFill>
            <a:tailEnd type="triangle" w="med" len="med"/>
          </a:ln>
        </p:spPr>
      </p:cxnSp>
      <p:cxnSp>
        <p:nvCxnSpPr>
          <p:cNvPr id="11" name="Connector 10"/>
          <p:cNvCxnSpPr/>
          <p:nvPr/>
        </p:nvCxnSpPr>
        <p:spPr>
          <a:xfrm flipH="1">
            <a:off x="4788000" y="2214000"/>
            <a:ext cx="972000" cy="810000"/>
          </a:xfrm>
          <a:prstGeom prst="line">
            <a:avLst/>
          </a:prstGeom>
          <a:ln w="31750">
            <a:solidFill>
              <a:srgbClr val="EA7A28"/>
            </a:solidFill>
            <a:tailEnd type="triangle" w="med" len="med"/>
          </a:ln>
        </p:spPr>
      </p:cxnSp>
      <p:sp>
        <p:nvSpPr>
          <p:cNvPr id="12" name="Rounded Rectangle 11"/>
          <p:cNvSpPr/>
          <p:nvPr/>
        </p:nvSpPr>
        <p:spPr>
          <a:xfrm>
            <a:off x="2052000" y="3096000"/>
            <a:ext cx="3600000" cy="1080000"/>
          </a:xfrm>
          <a:prstGeom prst="roundRect">
            <a:avLst>
              <a:gd name="adj" fmla="val 18000"/>
            </a:avLst>
          </a:prstGeom>
          <a:solidFill>
            <a:srgbClr val="EEE6FD"/>
          </a:solidFill>
          <a:ln w="22225">
            <a:solidFill>
              <a:srgbClr val="7C3AED"/>
            </a:solidFill>
          </a:ln>
        </p:spPr>
        <p:txBody>
          <a:bodyPr rtlCol="0" anchor="ctr" lIns="54000" rIns="54000" tIns="18000" bIns="18000" wrap="square">
            <a:noAutofit/>
          </a:bodyPr>
          <a:lstStyle/>
          <a:p>
            <a:pPr algn="ctr" marL="0" indent="0">
              <a:lnSpc>
                <a:spcPts val="2280"/>
              </a:lnSpc>
              <a:spcBef>
                <a:spcPts val="0"/>
              </a:spcBef>
              <a:spcAft>
                <a:spcPts val="0"/>
              </a:spcAft>
              <a:buNone/>
            </a:pPr>
            <a:r>
              <a:rPr sz="1900" b="1" i="0" lang="ko-KR" altLang="en-US">
                <a:solidFill>
                  <a:srgbClr val="7C3AED"/>
                </a:solidFill>
                <a:latin typeface="맑은 고딕"/>
                <a:ea typeface="맑은 고딕"/>
                <a:cs typeface="맑은 고딕"/>
              </a:rPr>
              <a:t>두 영역을 함께 담은 발명</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경계를 넘는 발명 (통합형)</a:t>
            </a:r>
          </a:p>
        </p:txBody>
      </p:sp>
      <p:sp>
        <p:nvSpPr>
          <p:cNvPr id="13" name="TextBox 12"/>
          <p:cNvSpPr txBox="1"/>
          <p:nvPr/>
        </p:nvSpPr>
        <p:spPr>
          <a:xfrm>
            <a:off x="540000" y="4320000"/>
            <a:ext cx="6768000" cy="972000"/>
          </a:xfrm>
          <a:prstGeom prst="rect">
            <a:avLst/>
          </a:prstGeom>
          <a:noFill/>
        </p:spPr>
        <p:txBody>
          <a:bodyPr wrap="square" lIns="0" rIns="0" tIns="0" bIns="0" anchor="t">
            <a:noAutofit/>
          </a:bodyPr>
          <a:lstStyle/>
          <a:p>
            <a:pPr algn="ctr" marL="0" indent="0">
              <a:lnSpc>
                <a:spcPts val="1560"/>
              </a:lnSpc>
              <a:spcBef>
                <a:spcPts val="0"/>
              </a:spcBef>
              <a:spcAft>
                <a:spcPts val="300"/>
              </a:spcAft>
              <a:buNone/>
            </a:pPr>
            <a:r>
              <a:rPr sz="1300" b="0" i="0" lang="ko-KR" altLang="en-US">
                <a:solidFill>
                  <a:srgbClr val="5B6475"/>
                </a:solidFill>
                <a:latin typeface="맑은 고딕"/>
                <a:ea typeface="맑은 고딕"/>
                <a:cs typeface="맑은 고딕"/>
              </a:rPr>
              <a:t>발명 = 기존 지식 요소의 새로운 조합 (Fleming, 2001)</a:t>
            </a:r>
          </a:p>
          <a:p>
            <a:pPr algn="ctr" marL="0" indent="0">
              <a:lnSpc>
                <a:spcPts val="1560"/>
              </a:lnSpc>
              <a:spcBef>
                <a:spcPts val="0"/>
              </a:spcBef>
              <a:spcAft>
                <a:spcPts val="0"/>
              </a:spcAft>
              <a:buNone/>
            </a:pPr>
            <a:r>
              <a:rPr sz="1300" b="0" i="0" lang="ko-KR" altLang="en-US">
                <a:solidFill>
                  <a:srgbClr val="5B6475"/>
                </a:solidFill>
                <a:latin typeface="맑은 고딕"/>
                <a:ea typeface="맑은 고딕"/>
                <a:cs typeface="맑은 고딕"/>
              </a:rPr>
              <a:t>특허 범위 = 포괄하는 분류의 수 (Lerner, 1994)</a:t>
            </a:r>
          </a:p>
        </p:txBody>
      </p:sp>
      <p:sp>
        <p:nvSpPr>
          <p:cNvPr id="14" name="TextBox 13"/>
          <p:cNvSpPr txBox="1"/>
          <p:nvPr/>
        </p:nvSpPr>
        <p:spPr>
          <a:xfrm>
            <a:off x="7740000" y="1008000"/>
            <a:ext cx="391212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이론적 기대</a:t>
            </a:r>
          </a:p>
        </p:txBody>
      </p:sp>
      <p:sp>
        <p:nvSpPr>
          <p:cNvPr id="15" name="Rounded Rectangle 14"/>
          <p:cNvSpPr/>
          <p:nvPr/>
        </p:nvSpPr>
        <p:spPr>
          <a:xfrm>
            <a:off x="7740000" y="14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6" name="Rounded Rectangle 15"/>
          <p:cNvSpPr/>
          <p:nvPr/>
        </p:nvSpPr>
        <p:spPr>
          <a:xfrm>
            <a:off x="7920000" y="16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①</a:t>
            </a:r>
          </a:p>
        </p:txBody>
      </p:sp>
      <p:sp>
        <p:nvSpPr>
          <p:cNvPr id="17" name="TextBox 16"/>
          <p:cNvSpPr txBox="1"/>
          <p:nvPr/>
        </p:nvSpPr>
        <p:spPr>
          <a:xfrm>
            <a:off x="7920000" y="20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두 영역의 기술을 함께 포함하는 발명이 예외적이지 않은 비중으로 나타난다</a:t>
            </a:r>
          </a:p>
        </p:txBody>
      </p:sp>
      <p:sp>
        <p:nvSpPr>
          <p:cNvPr id="18" name="Rounded Rectangle 17"/>
          <p:cNvSpPr/>
          <p:nvPr/>
        </p:nvSpPr>
        <p:spPr>
          <a:xfrm>
            <a:off x="7740000" y="3240000"/>
            <a:ext cx="3912120" cy="1584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Rounded Rectangle 18"/>
          <p:cNvSpPr/>
          <p:nvPr/>
        </p:nvSpPr>
        <p:spPr>
          <a:xfrm>
            <a:off x="7920000" y="3402000"/>
            <a:ext cx="936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기대 ②</a:t>
            </a:r>
          </a:p>
        </p:txBody>
      </p:sp>
      <p:sp>
        <p:nvSpPr>
          <p:cNvPr id="20" name="TextBox 19"/>
          <p:cNvSpPr txBox="1"/>
          <p:nvPr/>
        </p:nvSpPr>
        <p:spPr>
          <a:xfrm>
            <a:off x="7920000" y="3816000"/>
            <a:ext cx="3552120" cy="936000"/>
          </a:xfrm>
          <a:prstGeom prst="rect">
            <a:avLst/>
          </a:prstGeom>
          <a:noFill/>
        </p:spPr>
        <p:txBody>
          <a:bodyPr wrap="square" lIns="0" rIns="0" tIns="0" bIns="0" anchor="t">
            <a:noAutofit/>
          </a:bodyPr>
          <a:lstStyle/>
          <a:p>
            <a:pPr algn="l" marL="0" indent="0">
              <a:lnSpc>
                <a:spcPts val="2080"/>
              </a:lnSpc>
              <a:spcBef>
                <a:spcPts val="0"/>
              </a:spcBef>
              <a:spcAft>
                <a:spcPts val="0"/>
              </a:spcAft>
              <a:buNone/>
            </a:pPr>
            <a:r>
              <a:rPr sz="1550" b="1" i="0" lang="ko-KR" altLang="en-US">
                <a:solidFill>
                  <a:srgbClr val="13294B"/>
                </a:solidFill>
                <a:latin typeface="맑은 고딕"/>
                <a:ea typeface="맑은 고딕"/>
                <a:cs typeface="맑은 고딕"/>
              </a:rPr>
              <a:t>그러한 발명은 한 영역에 머무는 발명보다 더 다양한 세부 기술을 포함한다</a:t>
            </a:r>
          </a:p>
        </p:txBody>
      </p:sp>
      <p:sp>
        <p:nvSpPr>
          <p:cNvPr id="21"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Kapoor &amp; Adner (2012); Brusoni et al. (2001); Jacobides et al. (2006)</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RQ1</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하이브리드 본딩 기술에서 제조공정과 접합 기술 간의 융합이 어느 정도로, 어떠한 형태로 나타나는가?</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RQ2) 공정 단계 간 융합의 시간적 변화</a:t>
            </a:r>
          </a:p>
        </p:txBody>
      </p:sp>
      <p:sp>
        <p:nvSpPr>
          <p:cNvPr id="3" name="Right Arrow 2"/>
          <p:cNvSpPr/>
          <p:nvPr/>
        </p:nvSpPr>
        <p:spPr>
          <a:xfrm>
            <a:off x="678060" y="1080000"/>
            <a:ext cx="10836000" cy="576000"/>
          </a:xfrm>
          <a:prstGeom prst="rightArrow">
            <a:avLst/>
          </a:prstGeom>
          <a:solidFill>
            <a:srgbClr val="E8EEF7"/>
          </a:solidFill>
          <a:ln>
            <a:noFill/>
          </a:ln>
        </p:spPr>
        <p:txBody>
          <a:bodyPr rtlCol="0" anchor="ctr" lIns="36000" rIns="36000" tIns="36000" bIns="36000"/>
          <a:lstStyle/>
          <a:p>
            <a:pPr algn="ctr"/>
          </a:p>
        </p:txBody>
      </p:sp>
      <p:sp>
        <p:nvSpPr>
          <p:cNvPr id="4" name="TextBox 3"/>
          <p:cNvSpPr txBox="1"/>
          <p:nvPr/>
        </p:nvSpPr>
        <p:spPr>
          <a:xfrm>
            <a:off x="750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형성</a:t>
            </a:r>
            <a:r>
              <a:rPr sz="1250" b="0" i="0" lang="ko-KR" altLang="en-US">
                <a:solidFill>
                  <a:srgbClr val="5B6475"/>
                </a:solidFill>
                <a:latin typeface="맑은 고딕"/>
                <a:ea typeface="맑은 고딕"/>
                <a:cs typeface="맑은 고딕"/>
              </a:rPr>
              <a:t>  (격동기)</a:t>
            </a:r>
          </a:p>
        </p:txBody>
      </p:sp>
      <p:sp>
        <p:nvSpPr>
          <p:cNvPr id="5" name="Rounded Rectangle 4"/>
          <p:cNvSpPr/>
          <p:nvPr/>
        </p:nvSpPr>
        <p:spPr>
          <a:xfrm>
            <a:off x="750060" y="1800000"/>
            <a:ext cx="334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858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예상되는 발명</a:t>
            </a:r>
          </a:p>
        </p:txBody>
      </p:sp>
      <p:sp>
        <p:nvSpPr>
          <p:cNvPr id="7" name="TextBox 6"/>
          <p:cNvSpPr txBox="1"/>
          <p:nvPr/>
        </p:nvSpPr>
        <p:spPr>
          <a:xfrm>
            <a:off x="858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직접 접합을 가능하게 하는</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발명이 주를 이룸</a:t>
            </a:r>
          </a:p>
        </p:txBody>
      </p:sp>
      <p:sp>
        <p:nvSpPr>
          <p:cNvPr id="8" name="Rounded Rectangle 7"/>
          <p:cNvSpPr/>
          <p:nvPr/>
        </p:nvSpPr>
        <p:spPr>
          <a:xfrm>
            <a:off x="1560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단계 모형: 지식 융합</a:t>
            </a:r>
          </a:p>
        </p:txBody>
      </p:sp>
      <p:sp>
        <p:nvSpPr>
          <p:cNvPr id="9" name="TextBox 8"/>
          <p:cNvSpPr txBox="1"/>
          <p:nvPr/>
        </p:nvSpPr>
        <p:spPr>
          <a:xfrm>
            <a:off x="4422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기술 확산</a:t>
            </a:r>
            <a:r>
              <a:rPr sz="1250" b="0" i="0" lang="ko-KR" altLang="en-US">
                <a:solidFill>
                  <a:srgbClr val="5B6475"/>
                </a:solidFill>
                <a:latin typeface="맑은 고딕"/>
                <a:ea typeface="맑은 고딕"/>
                <a:cs typeface="맑은 고딕"/>
              </a:rPr>
              <a:t>  (설계의 수렴)</a:t>
            </a:r>
          </a:p>
        </p:txBody>
      </p:sp>
      <p:sp>
        <p:nvSpPr>
          <p:cNvPr id="10" name="Rounded Rectangle 9"/>
          <p:cNvSpPr/>
          <p:nvPr/>
        </p:nvSpPr>
        <p:spPr>
          <a:xfrm>
            <a:off x="4422060" y="1800000"/>
            <a:ext cx="334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4530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예상되는 발명</a:t>
            </a:r>
          </a:p>
        </p:txBody>
      </p:sp>
      <p:sp>
        <p:nvSpPr>
          <p:cNvPr id="12" name="TextBox 11"/>
          <p:cNvSpPr txBox="1"/>
          <p:nvPr/>
        </p:nvSpPr>
        <p:spPr>
          <a:xfrm>
            <a:off x="4530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공정 지식이 접합 발명과</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결합하는 사례가 증가</a:t>
            </a:r>
          </a:p>
        </p:txBody>
      </p:sp>
      <p:sp>
        <p:nvSpPr>
          <p:cNvPr id="13" name="Rounded Rectangle 12"/>
          <p:cNvSpPr/>
          <p:nvPr/>
        </p:nvSpPr>
        <p:spPr>
          <a:xfrm>
            <a:off x="5232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단계 모형: 기술 융합</a:t>
            </a:r>
          </a:p>
        </p:txBody>
      </p:sp>
      <p:sp>
        <p:nvSpPr>
          <p:cNvPr id="14" name="TextBox 13"/>
          <p:cNvSpPr txBox="1"/>
          <p:nvPr/>
        </p:nvSpPr>
        <p:spPr>
          <a:xfrm>
            <a:off x="8094060" y="1080000"/>
            <a:ext cx="3348000" cy="576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지배적 설계 이후</a:t>
            </a:r>
            <a:r>
              <a:rPr sz="1250" b="0" i="0" lang="ko-KR" altLang="en-US">
                <a:solidFill>
                  <a:srgbClr val="5B6475"/>
                </a:solidFill>
                <a:latin typeface="맑은 고딕"/>
                <a:ea typeface="맑은 고딕"/>
                <a:cs typeface="맑은 고딕"/>
              </a:rPr>
              <a:t>  (점진적 변화)</a:t>
            </a:r>
          </a:p>
        </p:txBody>
      </p:sp>
      <p:sp>
        <p:nvSpPr>
          <p:cNvPr id="15" name="Rounded Rectangle 14"/>
          <p:cNvSpPr/>
          <p:nvPr/>
        </p:nvSpPr>
        <p:spPr>
          <a:xfrm>
            <a:off x="8094060" y="1800000"/>
            <a:ext cx="3348000" cy="165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8202060" y="1854000"/>
            <a:ext cx="3132000" cy="288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EA7A28"/>
                </a:solidFill>
                <a:latin typeface="맑은 고딕"/>
                <a:ea typeface="맑은 고딕"/>
                <a:cs typeface="맑은 고딕"/>
              </a:rPr>
              <a:t>예상되는 발명</a:t>
            </a:r>
          </a:p>
        </p:txBody>
      </p:sp>
      <p:sp>
        <p:nvSpPr>
          <p:cNvPr id="17" name="TextBox 16"/>
          <p:cNvSpPr txBox="1"/>
          <p:nvPr/>
        </p:nvSpPr>
        <p:spPr>
          <a:xfrm>
            <a:off x="8202060" y="2124000"/>
            <a:ext cx="3132000" cy="864000"/>
          </a:xfrm>
          <a:prstGeom prst="rect">
            <a:avLst/>
          </a:prstGeom>
          <a:noFill/>
        </p:spPr>
        <p:txBody>
          <a:bodyPr wrap="square" lIns="0" rIns="0" tIns="0" bIns="0" anchor="ctr">
            <a:noAutofit/>
          </a:bodyPr>
          <a:lstStyle/>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두 기술의 결합이 응용에</a:t>
            </a:r>
          </a:p>
          <a:p>
            <a:pPr algn="ctr" marL="0" indent="0">
              <a:lnSpc>
                <a:spcPts val="1860"/>
              </a:lnSpc>
              <a:spcBef>
                <a:spcPts val="0"/>
              </a:spcBef>
              <a:spcAft>
                <a:spcPts val="0"/>
              </a:spcAft>
              <a:buNone/>
            </a:pPr>
            <a:r>
              <a:rPr sz="1550" b="1" i="0" lang="ko-KR" altLang="en-US">
                <a:solidFill>
                  <a:srgbClr val="1E2532"/>
                </a:solidFill>
                <a:latin typeface="맑은 고딕"/>
                <a:ea typeface="맑은 고딕"/>
                <a:cs typeface="맑은 고딕"/>
              </a:rPr>
              <a:t>필요한 주변 공정으로 이동</a:t>
            </a:r>
          </a:p>
        </p:txBody>
      </p:sp>
      <p:sp>
        <p:nvSpPr>
          <p:cNvPr id="18" name="Rounded Rectangle 17"/>
          <p:cNvSpPr/>
          <p:nvPr/>
        </p:nvSpPr>
        <p:spPr>
          <a:xfrm>
            <a:off x="8904060" y="3042000"/>
            <a:ext cx="1728000" cy="342000"/>
          </a:xfrm>
          <a:prstGeom prst="roundRect">
            <a:avLst>
              <a:gd name="adj" fmla="val 50000"/>
            </a:avLst>
          </a:prstGeom>
          <a:solidFill>
            <a:srgbClr val="FFFFFF"/>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단계 모형: 응용 융합</a:t>
            </a:r>
          </a:p>
        </p:txBody>
      </p:sp>
      <p:sp>
        <p:nvSpPr>
          <p:cNvPr id="19" name="Rounded Rectangle 18"/>
          <p:cNvSpPr/>
          <p:nvPr/>
        </p:nvSpPr>
        <p:spPr>
          <a:xfrm>
            <a:off x="540000" y="3636000"/>
            <a:ext cx="11112120" cy="16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TextBox 19"/>
          <p:cNvSpPr txBox="1"/>
          <p:nvPr/>
        </p:nvSpPr>
        <p:spPr>
          <a:xfrm>
            <a:off x="756000" y="3726000"/>
            <a:ext cx="360000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하이브리드 본딩의 실제 전개</a:t>
            </a:r>
          </a:p>
        </p:txBody>
      </p:sp>
      <p:sp>
        <p:nvSpPr>
          <p:cNvPr id="21" name="Rounded Rectangle 20"/>
          <p:cNvSpPr/>
          <p:nvPr/>
        </p:nvSpPr>
        <p:spPr>
          <a:xfrm>
            <a:off x="756000" y="4086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적용 범위</a:t>
            </a:r>
          </a:p>
        </p:txBody>
      </p:sp>
      <p:sp>
        <p:nvSpPr>
          <p:cNvPr id="22" name="TextBox 21"/>
          <p:cNvSpPr txBox="1"/>
          <p:nvPr/>
        </p:nvSpPr>
        <p:spPr>
          <a:xfrm>
            <a:off x="2088000" y="4086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웨이퍼 단위(W2W): CMOS 이미지센서 · 3D NAND</a:t>
            </a:r>
          </a:p>
        </p:txBody>
      </p:sp>
      <p:cxnSp>
        <p:nvCxnSpPr>
          <p:cNvPr id="23" name="Connector 22"/>
          <p:cNvCxnSpPr/>
          <p:nvPr/>
        </p:nvCxnSpPr>
        <p:spPr>
          <a:xfrm>
            <a:off x="6336000" y="4273200"/>
            <a:ext cx="540000" cy="0"/>
          </a:xfrm>
          <a:prstGeom prst="line">
            <a:avLst/>
          </a:prstGeom>
          <a:ln w="25400">
            <a:solidFill>
              <a:srgbClr val="13294B"/>
            </a:solidFill>
            <a:tailEnd type="triangle" w="med" len="med"/>
          </a:ln>
        </p:spPr>
      </p:cxnSp>
      <p:sp>
        <p:nvSpPr>
          <p:cNvPr id="24" name="TextBox 23"/>
          <p:cNvSpPr txBox="1"/>
          <p:nvPr/>
        </p:nvSpPr>
        <p:spPr>
          <a:xfrm>
            <a:off x="7020000" y="4086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다이 단위(D2W): HBM · 칩렛 · 3D 로직</a:t>
            </a:r>
          </a:p>
        </p:txBody>
      </p:sp>
      <p:sp>
        <p:nvSpPr>
          <p:cNvPr id="25" name="Rounded Rectangle 24"/>
          <p:cNvSpPr/>
          <p:nvPr/>
        </p:nvSpPr>
        <p:spPr>
          <a:xfrm>
            <a:off x="756000" y="4644000"/>
            <a:ext cx="118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발명의 중심</a:t>
            </a:r>
          </a:p>
        </p:txBody>
      </p:sp>
      <p:sp>
        <p:nvSpPr>
          <p:cNvPr id="26" name="TextBox 25"/>
          <p:cNvSpPr txBox="1"/>
          <p:nvPr/>
        </p:nvSpPr>
        <p:spPr>
          <a:xfrm>
            <a:off x="2088000" y="4644000"/>
            <a:ext cx="417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표면 준비 · 저온 어닐링 · 평탄화 (공정)</a:t>
            </a:r>
          </a:p>
        </p:txBody>
      </p:sp>
      <p:cxnSp>
        <p:nvCxnSpPr>
          <p:cNvPr id="27" name="Connector 26"/>
          <p:cNvCxnSpPr/>
          <p:nvPr/>
        </p:nvCxnSpPr>
        <p:spPr>
          <a:xfrm>
            <a:off x="6336000" y="4831200"/>
            <a:ext cx="540000" cy="0"/>
          </a:xfrm>
          <a:prstGeom prst="line">
            <a:avLst/>
          </a:prstGeom>
          <a:ln w="25400">
            <a:solidFill>
              <a:srgbClr val="13294B"/>
            </a:solidFill>
            <a:tailEnd type="triangle" w="med" len="med"/>
          </a:ln>
        </p:spPr>
      </p:cxnSp>
      <p:sp>
        <p:nvSpPr>
          <p:cNvPr id="28" name="TextBox 27"/>
          <p:cNvSpPr txBox="1"/>
          <p:nvPr/>
        </p:nvSpPr>
        <p:spPr>
          <a:xfrm>
            <a:off x="7020000" y="4644000"/>
            <a:ext cx="453600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접합 구조 · 적층</a:t>
            </a:r>
          </a:p>
        </p:txBody>
      </p:sp>
      <p:sp>
        <p:nvSpPr>
          <p:cNvPr id="29" name="Source"/>
          <p:cNvSpPr txBox="1"/>
          <p:nvPr/>
        </p:nvSpPr>
        <p:spPr>
          <a:xfrm>
            <a:off x="540000" y="5418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Hacklin et al. (2009, 2010); Anderson &amp; Tushman (1990); Jeong et al. (2015); Yun &amp; Geum (2019); Lau (2021, 2022)</a:t>
            </a:r>
          </a:p>
        </p:txBody>
      </p:sp>
      <p:sp>
        <p:nvSpPr>
          <p:cNvPr id="30"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31" name="Rounded Rectangle 30"/>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RQ2</a:t>
            </a:r>
          </a:p>
        </p:txBody>
      </p:sp>
      <p:sp>
        <p:nvSpPr>
          <p:cNvPr id="32" name="TextBox 31"/>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기술융합은 시간에 따라 어떻게 변화해 왔는가?</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RQ3) 공정 단계 간 융합의 구조적 중심 변화</a:t>
            </a:r>
          </a:p>
        </p:txBody>
      </p:sp>
      <p:sp>
        <p:nvSpPr>
          <p:cNvPr id="3" name="Rounded Rectangle 2"/>
          <p:cNvSpPr/>
          <p:nvPr/>
        </p:nvSpPr>
        <p:spPr>
          <a:xfrm>
            <a:off x="54000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2000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인터페이스가 확정되기 전</a:t>
            </a:r>
            <a:r>
              <a:rPr sz="1250" b="0" i="0" lang="ko-KR" altLang="en-US">
                <a:solidFill>
                  <a:srgbClr val="5B6475"/>
                </a:solidFill>
                <a:latin typeface="맑은 고딕"/>
                <a:ea typeface="맑은 고딕"/>
                <a:cs typeface="맑은 고딕"/>
              </a:rPr>
              <a:t>  (격동기)</a:t>
            </a:r>
          </a:p>
        </p:txBody>
      </p:sp>
      <p:cxnSp>
        <p:nvCxnSpPr>
          <p:cNvPr id="5" name="Connector 4"/>
          <p:cNvCxnSpPr/>
          <p:nvPr/>
        </p:nvCxnSpPr>
        <p:spPr>
          <a:xfrm flipH="1" flipV="1">
            <a:off x="1620000" y="2178000"/>
            <a:ext cx="1368000" cy="828000"/>
          </a:xfrm>
          <a:prstGeom prst="line">
            <a:avLst/>
          </a:prstGeom>
          <a:ln w="76200">
            <a:solidFill>
              <a:srgbClr val="2563C9"/>
            </a:solidFill>
          </a:ln>
        </p:spPr>
      </p:cxnSp>
      <p:sp>
        <p:nvSpPr>
          <p:cNvPr id="6" name="Rounded Rectangle 5"/>
          <p:cNvSpPr/>
          <p:nvPr/>
        </p:nvSpPr>
        <p:spPr>
          <a:xfrm>
            <a:off x="648000" y="1674000"/>
            <a:ext cx="1872000" cy="720000"/>
          </a:xfrm>
          <a:prstGeom prst="roundRect">
            <a:avLst>
              <a:gd name="adj" fmla="val 18000"/>
            </a:avLst>
          </a:prstGeom>
          <a:solidFill>
            <a:srgbClr val="E3ECFB"/>
          </a:solidFill>
          <a:ln w="22225">
            <a:solidFill>
              <a:srgbClr val="2563C9"/>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평탄화 · 웨이퍼 접합</a:t>
            </a:r>
          </a:p>
        </p:txBody>
      </p:sp>
      <p:sp>
        <p:nvSpPr>
          <p:cNvPr id="7" name="TextBox 6"/>
          <p:cNvSpPr txBox="1"/>
          <p:nvPr/>
        </p:nvSpPr>
        <p:spPr>
          <a:xfrm>
            <a:off x="72000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핵심 기술의 발명이 경계 반대편의 지식을</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함께 다루어야 함</a:t>
            </a:r>
          </a:p>
        </p:txBody>
      </p:sp>
      <p:sp>
        <p:nvSpPr>
          <p:cNvPr id="8" name="Oval 7"/>
          <p:cNvSpPr/>
          <p:nvPr/>
        </p:nvSpPr>
        <p:spPr>
          <a:xfrm>
            <a:off x="248400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9" name="Rounded Rectangle 8"/>
          <p:cNvSpPr/>
          <p:nvPr/>
        </p:nvSpPr>
        <p:spPr>
          <a:xfrm>
            <a:off x="6396120" y="990000"/>
            <a:ext cx="5256000" cy="385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576120" y="1098000"/>
            <a:ext cx="489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설계가 고착화된 후</a:t>
            </a:r>
            <a:r>
              <a:rPr sz="1250" b="0" i="0" lang="ko-KR" altLang="en-US">
                <a:solidFill>
                  <a:srgbClr val="5B6475"/>
                </a:solidFill>
                <a:latin typeface="맑은 고딕"/>
                <a:ea typeface="맑은 고딕"/>
                <a:cs typeface="맑은 고딕"/>
              </a:rPr>
              <a:t>  (지배적 설계 이후)</a:t>
            </a:r>
          </a:p>
        </p:txBody>
      </p:sp>
      <p:cxnSp>
        <p:nvCxnSpPr>
          <p:cNvPr id="11" name="Connector 10"/>
          <p:cNvCxnSpPr/>
          <p:nvPr/>
        </p:nvCxnSpPr>
        <p:spPr>
          <a:xfrm flipH="1" flipV="1">
            <a:off x="7476120" y="2178000"/>
            <a:ext cx="1368000" cy="828000"/>
          </a:xfrm>
          <a:prstGeom prst="line">
            <a:avLst/>
          </a:prstGeom>
          <a:ln w="15875">
            <a:solidFill>
              <a:srgbClr val="9AA6B8"/>
            </a:solidFill>
            <a:prstDash val="dash"/>
          </a:ln>
        </p:spPr>
      </p:cxnSp>
      <p:sp>
        <p:nvSpPr>
          <p:cNvPr id="12" name="Rounded Rectangle 11"/>
          <p:cNvSpPr/>
          <p:nvPr/>
        </p:nvSpPr>
        <p:spPr>
          <a:xfrm>
            <a:off x="6504120" y="1674000"/>
            <a:ext cx="1872000" cy="720000"/>
          </a:xfrm>
          <a:prstGeom prst="roundRect">
            <a:avLst>
              <a:gd name="adj" fmla="val 18000"/>
            </a:avLst>
          </a:prstGeom>
          <a:solidFill>
            <a:srgbClr val="FFFFFF"/>
          </a:solidFill>
          <a:ln w="22225">
            <a:solidFill>
              <a:srgbClr val="9AA6B8"/>
            </a:solidFill>
          </a:ln>
        </p:spPr>
        <p:txBody>
          <a:bodyPr rtlCol="0" anchor="ctr" lIns="54000" rIns="54000" tIns="18000" bIns="18000" wrap="square">
            <a:noAutofit/>
          </a:bodyPr>
          <a:lstStyle/>
          <a:p>
            <a:pPr algn="ctr" marL="0" indent="0">
              <a:lnSpc>
                <a:spcPts val="1680"/>
              </a:lnSpc>
              <a:spcBef>
                <a:spcPts val="0"/>
              </a:spcBef>
              <a:spcAft>
                <a:spcPts val="0"/>
              </a:spcAft>
              <a:buNone/>
            </a:pPr>
            <a:r>
              <a:rPr sz="1400" b="1" i="0" lang="ko-KR" altLang="en-US">
                <a:solidFill>
                  <a:srgbClr val="5B6475"/>
                </a:solidFill>
                <a:latin typeface="맑은 고딕"/>
                <a:ea typeface="맑은 고딕"/>
                <a:cs typeface="맑은 고딕"/>
              </a:rPr>
              <a:t>제조공정 지식</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주어진 조건으로 전제</a:t>
            </a:r>
          </a:p>
        </p:txBody>
      </p:sp>
      <p:cxnSp>
        <p:nvCxnSpPr>
          <p:cNvPr id="13" name="Connector 12"/>
          <p:cNvCxnSpPr/>
          <p:nvPr/>
        </p:nvCxnSpPr>
        <p:spPr>
          <a:xfrm flipV="1">
            <a:off x="9600120" y="2070000"/>
            <a:ext cx="360000" cy="828000"/>
          </a:xfrm>
          <a:prstGeom prst="line">
            <a:avLst/>
          </a:prstGeom>
          <a:ln w="63500">
            <a:solidFill>
              <a:srgbClr val="10A39A"/>
            </a:solidFill>
          </a:ln>
        </p:spPr>
      </p:cxnSp>
      <p:sp>
        <p:nvSpPr>
          <p:cNvPr id="14" name="Rounded Rectangle 13"/>
          <p:cNvSpPr/>
          <p:nvPr/>
        </p:nvSpPr>
        <p:spPr>
          <a:xfrm>
            <a:off x="9960120" y="17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다이 지지 · 적층</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cxnSp>
        <p:nvCxnSpPr>
          <p:cNvPr id="15" name="Connector 14"/>
          <p:cNvCxnSpPr/>
          <p:nvPr/>
        </p:nvCxnSpPr>
        <p:spPr>
          <a:xfrm>
            <a:off x="9600120" y="3114000"/>
            <a:ext cx="360000" cy="756000"/>
          </a:xfrm>
          <a:prstGeom prst="line">
            <a:avLst/>
          </a:prstGeom>
          <a:ln w="63500">
            <a:solidFill>
              <a:srgbClr val="10A39A"/>
            </a:solidFill>
          </a:ln>
        </p:spPr>
      </p:cxnSp>
      <p:sp>
        <p:nvSpPr>
          <p:cNvPr id="16" name="Rounded Rectangle 15"/>
          <p:cNvSpPr/>
          <p:nvPr/>
        </p:nvSpPr>
        <p:spPr>
          <a:xfrm>
            <a:off x="9960120" y="3528000"/>
            <a:ext cx="1764000" cy="684000"/>
          </a:xfrm>
          <a:prstGeom prst="roundRect">
            <a:avLst>
              <a:gd name="adj" fmla="val 18000"/>
            </a:avLst>
          </a:prstGeom>
          <a:solidFill>
            <a:srgbClr val="E2F5F3"/>
          </a:solidFill>
          <a:ln w="22225">
            <a:solidFill>
              <a:srgbClr val="10A39A"/>
            </a:solidFill>
          </a:ln>
        </p:spPr>
        <p:txBody>
          <a:bodyPr rtlCol="0" anchor="ctr" lIns="54000" rIns="54000" tIns="18000" bIns="18000" wrap="square">
            <a:noAutofit/>
          </a:bodyPr>
          <a:lstStyle/>
          <a:p>
            <a:pPr algn="ctr" marL="0" indent="0">
              <a:lnSpc>
                <a:spcPts val="1620"/>
              </a:lnSpc>
              <a:spcBef>
                <a:spcPts val="0"/>
              </a:spcBef>
              <a:spcAft>
                <a:spcPts val="0"/>
              </a:spcAft>
              <a:buNone/>
            </a:pPr>
            <a:r>
              <a:rPr sz="1350" b="1" i="0" lang="ko-KR" altLang="en-US">
                <a:solidFill>
                  <a:srgbClr val="10A39A"/>
                </a:solidFill>
                <a:latin typeface="맑은 고딕"/>
                <a:ea typeface="맑은 고딕"/>
                <a:cs typeface="맑은 고딕"/>
              </a:rPr>
              <a:t>봉지 · 패키지 완성</a:t>
            </a:r>
          </a:p>
          <a:p>
            <a:pPr algn="ctr" marL="0" indent="0">
              <a:lnSpc>
                <a:spcPts val="1260"/>
              </a:lnSpc>
              <a:spcBef>
                <a:spcPts val="0"/>
              </a:spcBef>
              <a:spcAft>
                <a:spcPts val="0"/>
              </a:spcAft>
              <a:buNone/>
            </a:pPr>
            <a:r>
              <a:rPr sz="1050" b="0" i="0" lang="ko-KR" altLang="en-US">
                <a:solidFill>
                  <a:srgbClr val="5B6475"/>
                </a:solidFill>
                <a:latin typeface="맑은 고딕"/>
                <a:ea typeface="맑은 고딕"/>
                <a:cs typeface="맑은 고딕"/>
              </a:rPr>
              <a:t>주변 공정</a:t>
            </a:r>
          </a:p>
        </p:txBody>
      </p:sp>
      <p:sp>
        <p:nvSpPr>
          <p:cNvPr id="17" name="TextBox 16"/>
          <p:cNvSpPr txBox="1"/>
          <p:nvPr/>
        </p:nvSpPr>
        <p:spPr>
          <a:xfrm>
            <a:off x="6576120" y="4086000"/>
            <a:ext cx="4896000" cy="64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새로운 결합은 핵심의 인터페이스를 전제로</a:t>
            </a:r>
          </a:p>
          <a:p>
            <a:pPr algn="ctr" marL="0" indent="0">
              <a:lnSpc>
                <a:spcPts val="1620"/>
              </a:lnSpc>
              <a:spcBef>
                <a:spcPts val="0"/>
              </a:spcBef>
              <a:spcAft>
                <a:spcPts val="0"/>
              </a:spcAft>
              <a:buNone/>
            </a:pPr>
            <a:r>
              <a:rPr sz="1350" b="1" i="0" lang="ko-KR" altLang="en-US">
                <a:solidFill>
                  <a:srgbClr val="1E2532"/>
                </a:solidFill>
                <a:latin typeface="맑은 고딕"/>
                <a:ea typeface="맑은 고딕"/>
                <a:cs typeface="맑은 고딕"/>
              </a:rPr>
              <a:t>주변 공정에서 일어남</a:t>
            </a:r>
          </a:p>
        </p:txBody>
      </p:sp>
      <p:sp>
        <p:nvSpPr>
          <p:cNvPr id="18" name="Oval 17"/>
          <p:cNvSpPr/>
          <p:nvPr/>
        </p:nvSpPr>
        <p:spPr>
          <a:xfrm>
            <a:off x="8340120" y="2574000"/>
            <a:ext cx="1368000" cy="864000"/>
          </a:xfrm>
          <a:prstGeom prst="ellipse">
            <a:avLst/>
          </a:prstGeom>
          <a:solidFill>
            <a:srgbClr val="EA7A28"/>
          </a:solidFill>
          <a:ln>
            <a:noFill/>
          </a:ln>
        </p:spPr>
        <p:txBody>
          <a:bodyPr rtlCol="0" anchor="ctr" lIns="7200" rIns="72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핵심 기술</a:t>
            </a:r>
          </a:p>
          <a:p>
            <a:pPr algn="ctr" marL="0" indent="0">
              <a:lnSpc>
                <a:spcPts val="1200"/>
              </a:lnSpc>
              <a:spcBef>
                <a:spcPts val="0"/>
              </a:spcBef>
              <a:spcAft>
                <a:spcPts val="0"/>
              </a:spcAft>
              <a:buNone/>
            </a:pPr>
            <a:r>
              <a:rPr sz="1000" b="0" i="0" lang="ko-KR" altLang="en-US">
                <a:solidFill>
                  <a:srgbClr val="FFFFFF"/>
                </a:solidFill>
                <a:latin typeface="맑은 고딕"/>
                <a:ea typeface="맑은 고딕"/>
                <a:cs typeface="맑은 고딕"/>
              </a:rPr>
              <a:t>접합 패드 직접 연결</a:t>
            </a:r>
          </a:p>
        </p:txBody>
      </p:sp>
      <p:sp>
        <p:nvSpPr>
          <p:cNvPr id="19" name="Right Arrow 18"/>
          <p:cNvSpPr/>
          <p:nvPr/>
        </p:nvSpPr>
        <p:spPr>
          <a:xfrm>
            <a:off x="5922000" y="2592000"/>
            <a:ext cx="348120" cy="648000"/>
          </a:xfrm>
          <a:prstGeom prst="rightArrow">
            <a:avLst/>
          </a:prstGeom>
          <a:solidFill>
            <a:srgbClr val="13294B"/>
          </a:solidFill>
          <a:ln>
            <a:noFill/>
          </a:ln>
        </p:spPr>
        <p:txBody>
          <a:bodyPr rtlCol="0" anchor="ctr" lIns="36000" rIns="36000" tIns="36000" bIns="36000"/>
          <a:lstStyle/>
          <a:p>
            <a:pPr algn="ctr"/>
          </a:p>
        </p:txBody>
      </p:sp>
      <p:sp>
        <p:nvSpPr>
          <p:cNvPr id="20" name="Source"/>
          <p:cNvSpPr txBox="1"/>
          <p:nvPr/>
        </p:nvSpPr>
        <p:spPr>
          <a:xfrm>
            <a:off x="540000" y="4950000"/>
            <a:ext cx="11112120" cy="180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Murmann &amp; Frenken (2006); Henderson &amp; Clark (1990); Brusoni et al. (2001); Anderson &amp; Tushman (1990)</a:t>
            </a:r>
          </a:p>
        </p:txBody>
      </p:sp>
      <p:sp>
        <p:nvSpPr>
          <p:cNvPr id="21" name="TextBox 20"/>
          <p:cNvSpPr txBox="1"/>
          <p:nvPr/>
        </p:nvSpPr>
        <p:spPr>
          <a:xfrm>
            <a:off x="540000" y="5148000"/>
            <a:ext cx="11112120" cy="468000"/>
          </a:xfrm>
          <a:prstGeom prst="rect">
            <a:avLst/>
          </a:prstGeom>
          <a:noFill/>
        </p:spPr>
        <p:txBody>
          <a:bodyPr wrap="square" lIns="0" rIns="0" tIns="0" bIns="0" anchor="ctr">
            <a:noAutofit/>
          </a:bodyPr>
          <a:lstStyle/>
          <a:p>
            <a:pPr algn="ctr" marL="0" indent="0">
              <a:lnSpc>
                <a:spcPts val="1720"/>
              </a:lnSpc>
              <a:spcBef>
                <a:spcPts val="0"/>
              </a:spcBef>
              <a:spcAft>
                <a:spcPts val="0"/>
              </a:spcAft>
              <a:buNone/>
            </a:pPr>
            <a:r>
              <a:rPr sz="1300" b="1" i="0" lang="ko-KR" altLang="en-US">
                <a:solidFill>
                  <a:srgbClr val="13294B"/>
                </a:solidFill>
                <a:latin typeface="맑은 고딕"/>
                <a:ea typeface="맑은 고딕"/>
                <a:cs typeface="맑은 고딕"/>
              </a:rPr>
              <a:t>기대: 핵심 기술을 포함한 발명이 제조공정 지식을 함께 포함하는 정도는 시기에 따라 줄고, 접합과 결합하는 제조공정의 중심은 웨이퍼 제조공정에서 주변 공정으로 이동할 것이다</a:t>
            </a:r>
          </a:p>
        </p:txBody>
      </p:sp>
      <p:sp>
        <p:nvSpPr>
          <p:cNvPr id="22" name="Research question"/>
          <p:cNvSpPr/>
          <p:nvPr/>
        </p:nvSpPr>
        <p:spPr>
          <a:xfrm>
            <a:off x="540000" y="5706000"/>
            <a:ext cx="11112120" cy="738000"/>
          </a:xfrm>
          <a:prstGeom prst="roundRect">
            <a:avLst>
              <a:gd name="adj" fmla="val 18000"/>
            </a:avLst>
          </a:prstGeom>
          <a:solidFill>
            <a:srgbClr val="13294B"/>
          </a:solidFill>
          <a:ln>
            <a:noFill/>
          </a:ln>
        </p:spPr>
        <p:txBody>
          <a:bodyPr rtlCol="0" anchor="ctr" lIns="36000" rIns="36000" tIns="36000" bIns="36000"/>
          <a:lstStyle/>
          <a:p>
            <a:pPr algn="ctr"/>
          </a:p>
        </p:txBody>
      </p:sp>
      <p:sp>
        <p:nvSpPr>
          <p:cNvPr id="23" name="Rounded Rectangle 22"/>
          <p:cNvSpPr/>
          <p:nvPr/>
        </p:nvSpPr>
        <p:spPr>
          <a:xfrm>
            <a:off x="702000" y="5914800"/>
            <a:ext cx="864000" cy="324000"/>
          </a:xfrm>
          <a:prstGeom prst="roundRect">
            <a:avLst>
              <a:gd name="adj" fmla="val 50000"/>
            </a:avLst>
          </a:prstGeom>
          <a:solidFill>
            <a:srgbClr val="D4A72C"/>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RQ3</a:t>
            </a:r>
          </a:p>
        </p:txBody>
      </p:sp>
      <p:sp>
        <p:nvSpPr>
          <p:cNvPr id="24" name="TextBox 23"/>
          <p:cNvSpPr txBox="1"/>
          <p:nvPr/>
        </p:nvSpPr>
        <p:spPr>
          <a:xfrm>
            <a:off x="1692000" y="5706000"/>
            <a:ext cx="9816120" cy="738000"/>
          </a:xfrm>
          <a:prstGeom prst="rect">
            <a:avLst/>
          </a:prstGeom>
          <a:noFill/>
        </p:spPr>
        <p:txBody>
          <a:bodyPr wrap="square" lIns="0" rIns="0" tIns="0" bIns="0" anchor="ctr">
            <a:noAutofit/>
          </a:bodyPr>
          <a:lstStyle/>
          <a:p>
            <a:pPr algn="l" marL="0" indent="0">
              <a:lnSpc>
                <a:spcPts val="2110"/>
              </a:lnSpc>
              <a:spcBef>
                <a:spcPts val="0"/>
              </a:spcBef>
              <a:spcAft>
                <a:spcPts val="0"/>
              </a:spcAft>
              <a:buNone/>
            </a:pPr>
            <a:r>
              <a:rPr sz="1600" b="1" i="0" lang="ko-KR" altLang="en-US">
                <a:solidFill>
                  <a:srgbClr val="FFFFFF"/>
                </a:solidFill>
                <a:latin typeface="맑은 고딕"/>
                <a:ea typeface="맑은 고딕"/>
                <a:cs typeface="맑은 고딕"/>
              </a:rPr>
              <a:t>공정 단계 간 기술융합의 중심이 핵심 기술과 주변 기술 사이에서 시기에 따라 어떻게 재편되는가?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3.1  </a:t>
            </a:r>
            <a:r>
              <a:rPr sz="2200" b="1" i="0" lang="ko-KR" altLang="en-US">
                <a:solidFill>
                  <a:srgbClr val="13294B"/>
                </a:solidFill>
                <a:latin typeface="맑은 고딕"/>
                <a:ea typeface="맑은 고딕"/>
                <a:cs typeface="맑은 고딕"/>
              </a:rPr>
              <a:t>연구 질문과 이론적 기대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이론적 기대는 통계적 가설이 아니라, 결과를 해석하는 기준으로 사용한다</a:t>
            </a:r>
          </a:p>
        </p:txBody>
      </p:sp>
      <p:sp>
        <p:nvSpPr>
          <p:cNvPr id="4" name="TextBox 3"/>
          <p:cNvSpPr txBox="1"/>
          <p:nvPr/>
        </p:nvSpPr>
        <p:spPr>
          <a:xfrm>
            <a:off x="6084000" y="882000"/>
            <a:ext cx="5400000" cy="216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이론적 기대</a:t>
            </a:r>
          </a:p>
        </p:txBody>
      </p:sp>
      <p:sp>
        <p:nvSpPr>
          <p:cNvPr id="5" name="Rounded Rectangle 4"/>
          <p:cNvSpPr/>
          <p:nvPr/>
        </p:nvSpPr>
        <p:spPr>
          <a:xfrm>
            <a:off x="540000" y="1116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Rounded Rectangle 5"/>
          <p:cNvSpPr/>
          <p:nvPr/>
        </p:nvSpPr>
        <p:spPr>
          <a:xfrm>
            <a:off x="702000" y="1260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RQ1</a:t>
            </a:r>
          </a:p>
        </p:txBody>
      </p:sp>
      <p:sp>
        <p:nvSpPr>
          <p:cNvPr id="7" name="TextBox 6"/>
          <p:cNvSpPr txBox="1"/>
          <p:nvPr/>
        </p:nvSpPr>
        <p:spPr>
          <a:xfrm>
            <a:off x="1530000" y="1260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수준과 유형</a:t>
            </a:r>
          </a:p>
        </p:txBody>
      </p:sp>
      <p:sp>
        <p:nvSpPr>
          <p:cNvPr id="8" name="TextBox 7"/>
          <p:cNvSpPr txBox="1"/>
          <p:nvPr/>
        </p:nvSpPr>
        <p:spPr>
          <a:xfrm>
            <a:off x="702000" y="1656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하이브리드 본딩 기술에서 제조공정과 접합 기술 간의 융합이 어느 정도로, 어떠한 형태로 나타나는가?</a:t>
            </a:r>
          </a:p>
        </p:txBody>
      </p:sp>
      <p:sp>
        <p:nvSpPr>
          <p:cNvPr id="9" name="Right Arrow 8"/>
          <p:cNvSpPr/>
          <p:nvPr/>
        </p:nvSpPr>
        <p:spPr>
          <a:xfrm>
            <a:off x="5850000" y="1692000"/>
            <a:ext cx="288000" cy="360000"/>
          </a:xfrm>
          <a:prstGeom prst="rightArrow">
            <a:avLst/>
          </a:prstGeom>
          <a:solidFill>
            <a:srgbClr val="C9D2E0"/>
          </a:solidFill>
          <a:ln>
            <a:noFill/>
          </a:ln>
        </p:spPr>
        <p:txBody>
          <a:bodyPr rtlCol="0" anchor="ctr" lIns="36000" rIns="36000" tIns="36000" bIns="36000"/>
          <a:lstStyle/>
          <a:p>
            <a:pPr algn="ctr"/>
          </a:p>
        </p:txBody>
      </p:sp>
      <p:sp>
        <p:nvSpPr>
          <p:cNvPr id="10" name="TextBox 9"/>
          <p:cNvSpPr txBox="1"/>
          <p:nvPr/>
        </p:nvSpPr>
        <p:spPr>
          <a:xfrm>
            <a:off x="6228000" y="1224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인터페이스가 불안정해진 공정 단계 사이에서 두 영역을 함께 포함하는 발명이 예외적이지 않은 비중으로 나타나고, 더 다양한 세부 기술을 포함한다</a:t>
            </a:r>
          </a:p>
        </p:txBody>
      </p:sp>
      <p:sp>
        <p:nvSpPr>
          <p:cNvPr id="11" name="TextBox 10"/>
          <p:cNvSpPr txBox="1"/>
          <p:nvPr/>
        </p:nvSpPr>
        <p:spPr>
          <a:xfrm>
            <a:off x="6228000" y="2268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지식 경계 · 산업 아키텍처 · 재조합</a:t>
            </a:r>
          </a:p>
        </p:txBody>
      </p:sp>
      <p:sp>
        <p:nvSpPr>
          <p:cNvPr id="12" name="Rounded Rectangle 11"/>
          <p:cNvSpPr/>
          <p:nvPr/>
        </p:nvSpPr>
        <p:spPr>
          <a:xfrm>
            <a:off x="540000" y="2754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3" name="Rounded Rectangle 12"/>
          <p:cNvSpPr/>
          <p:nvPr/>
        </p:nvSpPr>
        <p:spPr>
          <a:xfrm>
            <a:off x="702000" y="2898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RQ2</a:t>
            </a:r>
          </a:p>
        </p:txBody>
      </p:sp>
      <p:sp>
        <p:nvSpPr>
          <p:cNvPr id="14" name="TextBox 13"/>
          <p:cNvSpPr txBox="1"/>
          <p:nvPr/>
        </p:nvSpPr>
        <p:spPr>
          <a:xfrm>
            <a:off x="1530000" y="2898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시간적 변화</a:t>
            </a:r>
          </a:p>
        </p:txBody>
      </p:sp>
      <p:sp>
        <p:nvSpPr>
          <p:cNvPr id="15" name="TextBox 14"/>
          <p:cNvSpPr txBox="1"/>
          <p:nvPr/>
        </p:nvSpPr>
        <p:spPr>
          <a:xfrm>
            <a:off x="702000" y="3294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기술융합은 시간에 따라 어떻게 변화해 왔는가?</a:t>
            </a:r>
          </a:p>
        </p:txBody>
      </p:sp>
      <p:sp>
        <p:nvSpPr>
          <p:cNvPr id="16" name="Right Arrow 15"/>
          <p:cNvSpPr/>
          <p:nvPr/>
        </p:nvSpPr>
        <p:spPr>
          <a:xfrm>
            <a:off x="5850000" y="3330000"/>
            <a:ext cx="288000" cy="360000"/>
          </a:xfrm>
          <a:prstGeom prst="rightArrow">
            <a:avLst/>
          </a:prstGeom>
          <a:solidFill>
            <a:srgbClr val="C9D2E0"/>
          </a:solidFill>
          <a:ln>
            <a:noFill/>
          </a:ln>
        </p:spPr>
        <p:txBody>
          <a:bodyPr rtlCol="0" anchor="ctr" lIns="36000" rIns="36000" tIns="36000" bIns="36000"/>
          <a:lstStyle/>
          <a:p>
            <a:pPr algn="ctr"/>
          </a:p>
        </p:txBody>
      </p:sp>
      <p:sp>
        <p:nvSpPr>
          <p:cNvPr id="17" name="TextBox 16"/>
          <p:cNvSpPr txBox="1"/>
          <p:nvPr/>
        </p:nvSpPr>
        <p:spPr>
          <a:xfrm>
            <a:off x="6228000" y="2862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융합은 단선적으로 확대되기보다 발전 단계에 따라 수준이 달라지고, 출원의 구성은 제조공정 중심에서 접합 중심으로 이동한다</a:t>
            </a:r>
          </a:p>
        </p:txBody>
      </p:sp>
      <p:sp>
        <p:nvSpPr>
          <p:cNvPr id="18" name="TextBox 17"/>
          <p:cNvSpPr txBox="1"/>
          <p:nvPr/>
        </p:nvSpPr>
        <p:spPr>
          <a:xfrm>
            <a:off x="6228000" y="3906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단계 모형 · 기술 순환 모형</a:t>
            </a:r>
          </a:p>
        </p:txBody>
      </p:sp>
      <p:sp>
        <p:nvSpPr>
          <p:cNvPr id="19" name="Rounded Rectangle 18"/>
          <p:cNvSpPr/>
          <p:nvPr/>
        </p:nvSpPr>
        <p:spPr>
          <a:xfrm>
            <a:off x="540000" y="4392000"/>
            <a:ext cx="11112120" cy="151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702000" y="4536000"/>
            <a:ext cx="720000" cy="342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RQ3</a:t>
            </a:r>
          </a:p>
        </p:txBody>
      </p:sp>
      <p:sp>
        <p:nvSpPr>
          <p:cNvPr id="21" name="TextBox 20"/>
          <p:cNvSpPr txBox="1"/>
          <p:nvPr/>
        </p:nvSpPr>
        <p:spPr>
          <a:xfrm>
            <a:off x="1530000" y="4536000"/>
            <a:ext cx="4248000" cy="342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구조적 중심 변화</a:t>
            </a:r>
          </a:p>
        </p:txBody>
      </p:sp>
      <p:sp>
        <p:nvSpPr>
          <p:cNvPr id="22" name="TextBox 21"/>
          <p:cNvSpPr txBox="1"/>
          <p:nvPr/>
        </p:nvSpPr>
        <p:spPr>
          <a:xfrm>
            <a:off x="702000" y="4932000"/>
            <a:ext cx="5076000" cy="900000"/>
          </a:xfrm>
          <a:prstGeom prst="rect">
            <a:avLst/>
          </a:prstGeom>
          <a:noFill/>
        </p:spPr>
        <p:txBody>
          <a:bodyPr wrap="square" lIns="0" rIns="0" tIns="0" bIns="0" anchor="ctr">
            <a:noAutofit/>
          </a:bodyPr>
          <a:lstStyle/>
          <a:p>
            <a:pPr algn="l" marL="0" indent="0">
              <a:lnSpc>
                <a:spcPts val="1850"/>
              </a:lnSpc>
              <a:spcBef>
                <a:spcPts val="0"/>
              </a:spcBef>
              <a:spcAft>
                <a:spcPts val="0"/>
              </a:spcAft>
              <a:buNone/>
            </a:pPr>
            <a:r>
              <a:rPr sz="1400" b="1" i="0" lang="ko-KR" altLang="en-US">
                <a:solidFill>
                  <a:srgbClr val="1E2532"/>
                </a:solidFill>
                <a:latin typeface="맑은 고딕"/>
                <a:ea typeface="맑은 고딕"/>
                <a:cs typeface="맑은 고딕"/>
              </a:rPr>
              <a:t>공정 단계 간 기술융합의 중심이 핵심 기술과 주변 기술 사이에서 시기에 따라 어떻게 재편되는가?</a:t>
            </a:r>
          </a:p>
        </p:txBody>
      </p:sp>
      <p:sp>
        <p:nvSpPr>
          <p:cNvPr id="23" name="Right Arrow 22"/>
          <p:cNvSpPr/>
          <p:nvPr/>
        </p:nvSpPr>
        <p:spPr>
          <a:xfrm>
            <a:off x="5850000" y="4968000"/>
            <a:ext cx="288000" cy="360000"/>
          </a:xfrm>
          <a:prstGeom prst="rightArrow">
            <a:avLst/>
          </a:prstGeom>
          <a:solidFill>
            <a:srgbClr val="C9D2E0"/>
          </a:solidFill>
          <a:ln>
            <a:noFill/>
          </a:ln>
        </p:spPr>
        <p:txBody>
          <a:bodyPr rtlCol="0" anchor="ctr" lIns="36000" rIns="36000" tIns="36000" bIns="36000"/>
          <a:lstStyle/>
          <a:p>
            <a:pPr algn="ctr"/>
          </a:p>
        </p:txBody>
      </p:sp>
      <p:sp>
        <p:nvSpPr>
          <p:cNvPr id="24" name="TextBox 23"/>
          <p:cNvSpPr txBox="1"/>
          <p:nvPr/>
        </p:nvSpPr>
        <p:spPr>
          <a:xfrm>
            <a:off x="6228000" y="4500000"/>
            <a:ext cx="5280120" cy="1044000"/>
          </a:xfrm>
          <a:prstGeom prst="rect">
            <a:avLst/>
          </a:prstGeom>
          <a:noFill/>
        </p:spPr>
        <p:txBody>
          <a:bodyPr wrap="square" lIns="0" rIns="0" tIns="0" bIns="0" anchor="ctr">
            <a:noAutofit/>
          </a:bodyPr>
          <a:lstStyle/>
          <a:p>
            <a:pPr algn="l" marL="0" indent="0">
              <a:lnSpc>
                <a:spcPts val="1720"/>
              </a:lnSpc>
              <a:spcBef>
                <a:spcPts val="0"/>
              </a:spcBef>
              <a:spcAft>
                <a:spcPts val="0"/>
              </a:spcAft>
              <a:buNone/>
            </a:pPr>
            <a:r>
              <a:rPr sz="1300" b="0" i="0" lang="ko-KR" altLang="en-US">
                <a:solidFill>
                  <a:srgbClr val="13294B"/>
                </a:solidFill>
                <a:latin typeface="맑은 고딕"/>
                <a:ea typeface="맑은 고딕"/>
                <a:cs typeface="맑은 고딕"/>
              </a:rPr>
              <a:t>핵심 설계가 고착화되면 핵심 기술의 제조공정 지식 포함 우위가 줄고, 융합의 중심은 응용에 필요한 주변 공정으로 이동한다</a:t>
            </a:r>
          </a:p>
        </p:txBody>
      </p:sp>
      <p:sp>
        <p:nvSpPr>
          <p:cNvPr id="25" name="TextBox 24"/>
          <p:cNvSpPr txBox="1"/>
          <p:nvPr/>
        </p:nvSpPr>
        <p:spPr>
          <a:xfrm>
            <a:off x="6228000" y="5544000"/>
            <a:ext cx="5280120" cy="288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근거: 핵심–주변 구조 · 아키텍처 지식</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대상: 하이브리드 본딩 기술과 산업</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하이브리드 본딩은 기술적 · 산업적으로 두 공정 단계에 걸쳐 있다</a:t>
            </a:r>
          </a:p>
        </p:txBody>
      </p:sp>
      <p:sp>
        <p:nvSpPr>
          <p:cNvPr id="4" name="Rounded Rectangle 3"/>
          <p:cNvSpPr/>
          <p:nvPr/>
        </p:nvSpPr>
        <p:spPr>
          <a:xfrm>
            <a:off x="540000" y="936000"/>
            <a:ext cx="5364000" cy="99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5" name="TextBox 4"/>
          <p:cNvSpPr txBox="1"/>
          <p:nvPr/>
        </p:nvSpPr>
        <p:spPr>
          <a:xfrm>
            <a:off x="666000" y="979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기반 공정</a:t>
            </a:r>
            <a:r>
              <a:rPr sz="1100" b="0" i="0" lang="ko-KR" altLang="en-US">
                <a:solidFill>
                  <a:srgbClr val="5B6475"/>
                </a:solidFill>
                <a:latin typeface="맑은 고딕"/>
                <a:ea typeface="맑은 고딕"/>
                <a:cs typeface="맑은 고딕"/>
              </a:rPr>
              <a:t>  CPC H01L21</a:t>
            </a:r>
          </a:p>
        </p:txBody>
      </p:sp>
      <p:sp>
        <p:nvSpPr>
          <p:cNvPr id="6" name="Rounded Rectangle 5"/>
          <p:cNvSpPr/>
          <p:nvPr/>
        </p:nvSpPr>
        <p:spPr>
          <a:xfrm>
            <a:off x="6660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CMP 평탄화</a:t>
            </a:r>
          </a:p>
        </p:txBody>
      </p:sp>
      <p:sp>
        <p:nvSpPr>
          <p:cNvPr id="7" name="Rounded Rectangle 6"/>
          <p:cNvSpPr/>
          <p:nvPr/>
        </p:nvSpPr>
        <p:spPr>
          <a:xfrm>
            <a:off x="17028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세정·오염 제어</a:t>
            </a:r>
          </a:p>
        </p:txBody>
      </p:sp>
      <p:sp>
        <p:nvSpPr>
          <p:cNvPr id="8" name="Rounded Rectangle 7"/>
          <p:cNvSpPr/>
          <p:nvPr/>
        </p:nvSpPr>
        <p:spPr>
          <a:xfrm>
            <a:off x="27396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 활성화</a:t>
            </a:r>
          </a:p>
        </p:txBody>
      </p:sp>
      <p:sp>
        <p:nvSpPr>
          <p:cNvPr id="9" name="Rounded Rectangle 8"/>
          <p:cNvSpPr/>
          <p:nvPr/>
        </p:nvSpPr>
        <p:spPr>
          <a:xfrm>
            <a:off x="37764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정렬</a:t>
            </a:r>
          </a:p>
        </p:txBody>
      </p:sp>
      <p:sp>
        <p:nvSpPr>
          <p:cNvPr id="10" name="Rounded Rectangle 9"/>
          <p:cNvSpPr/>
          <p:nvPr/>
        </p:nvSpPr>
        <p:spPr>
          <a:xfrm>
            <a:off x="4813200" y="1314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저온 어닐링</a:t>
            </a:r>
          </a:p>
        </p:txBody>
      </p:sp>
      <p:sp>
        <p:nvSpPr>
          <p:cNvPr id="11" name="TextBox 10"/>
          <p:cNvSpPr txBox="1"/>
          <p:nvPr/>
        </p:nvSpPr>
        <p:spPr>
          <a:xfrm>
            <a:off x="540000" y="1915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2" name="Rounded Rectangle 11"/>
          <p:cNvSpPr/>
          <p:nvPr/>
        </p:nvSpPr>
        <p:spPr>
          <a:xfrm>
            <a:off x="540000" y="2142000"/>
            <a:ext cx="5364000" cy="99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3" name="TextBox 12"/>
          <p:cNvSpPr txBox="1"/>
          <p:nvPr/>
        </p:nvSpPr>
        <p:spPr>
          <a:xfrm>
            <a:off x="666000" y="2185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접합 형태</a:t>
            </a:r>
            <a:r>
              <a:rPr sz="1100" b="0" i="0" lang="ko-KR" altLang="en-US">
                <a:solidFill>
                  <a:srgbClr val="5B6475"/>
                </a:solidFill>
                <a:latin typeface="맑은 고딕"/>
                <a:ea typeface="맑은 고딕"/>
                <a:cs typeface="맑은 고딕"/>
              </a:rPr>
              <a:t>  CPC H01L24</a:t>
            </a:r>
          </a:p>
        </p:txBody>
      </p:sp>
      <p:sp>
        <p:nvSpPr>
          <p:cNvPr id="14" name="Rounded Rectangle 13"/>
          <p:cNvSpPr/>
          <p:nvPr/>
        </p:nvSpPr>
        <p:spPr>
          <a:xfrm>
            <a:off x="666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W2W</a:t>
            </a:r>
          </a:p>
        </p:txBody>
      </p:sp>
      <p:sp>
        <p:nvSpPr>
          <p:cNvPr id="15" name="Rounded Rectangle 14"/>
          <p:cNvSpPr/>
          <p:nvPr/>
        </p:nvSpPr>
        <p:spPr>
          <a:xfrm>
            <a:off x="2394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D2W</a:t>
            </a:r>
          </a:p>
        </p:txBody>
      </p:sp>
      <p:sp>
        <p:nvSpPr>
          <p:cNvPr id="16" name="Rounded Rectangle 15"/>
          <p:cNvSpPr/>
          <p:nvPr/>
        </p:nvSpPr>
        <p:spPr>
          <a:xfrm>
            <a:off x="4122000" y="2520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D2D</a:t>
            </a:r>
          </a:p>
        </p:txBody>
      </p:sp>
      <p:sp>
        <p:nvSpPr>
          <p:cNvPr id="17" name="TextBox 16"/>
          <p:cNvSpPr txBox="1"/>
          <p:nvPr/>
        </p:nvSpPr>
        <p:spPr>
          <a:xfrm>
            <a:off x="540000" y="3121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18" name="Rounded Rectangle 17"/>
          <p:cNvSpPr/>
          <p:nvPr/>
        </p:nvSpPr>
        <p:spPr>
          <a:xfrm>
            <a:off x="540000" y="3348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9" name="TextBox 18"/>
          <p:cNvSpPr txBox="1"/>
          <p:nvPr/>
        </p:nvSpPr>
        <p:spPr>
          <a:xfrm>
            <a:off x="666000" y="3391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소자 구조</a:t>
            </a:r>
            <a:r>
              <a:rPr sz="1100" b="0" i="0" lang="ko-KR" altLang="en-US">
                <a:solidFill>
                  <a:srgbClr val="5B6475"/>
                </a:solidFill>
                <a:latin typeface="맑은 고딕"/>
                <a:ea typeface="맑은 고딕"/>
                <a:cs typeface="맑은 고딕"/>
              </a:rPr>
              <a:t/>
            </a:r>
          </a:p>
        </p:txBody>
      </p:sp>
      <p:sp>
        <p:nvSpPr>
          <p:cNvPr id="20" name="Rounded Rectangle 19"/>
          <p:cNvSpPr/>
          <p:nvPr/>
        </p:nvSpPr>
        <p:spPr>
          <a:xfrm>
            <a:off x="666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적층 다이</a:t>
            </a:r>
          </a:p>
        </p:txBody>
      </p:sp>
      <p:sp>
        <p:nvSpPr>
          <p:cNvPr id="21" name="Rounded Rectangle 20"/>
          <p:cNvSpPr/>
          <p:nvPr/>
        </p:nvSpPr>
        <p:spPr>
          <a:xfrm>
            <a:off x="2394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칩렛 집적</a:t>
            </a:r>
          </a:p>
        </p:txBody>
      </p:sp>
      <p:sp>
        <p:nvSpPr>
          <p:cNvPr id="22" name="Rounded Rectangle 21"/>
          <p:cNvSpPr/>
          <p:nvPr/>
        </p:nvSpPr>
        <p:spPr>
          <a:xfrm>
            <a:off x="4122000" y="3726000"/>
            <a:ext cx="16560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메모리-온-로직</a:t>
            </a:r>
          </a:p>
        </p:txBody>
      </p:sp>
      <p:sp>
        <p:nvSpPr>
          <p:cNvPr id="23" name="TextBox 22"/>
          <p:cNvSpPr txBox="1"/>
          <p:nvPr/>
        </p:nvSpPr>
        <p:spPr>
          <a:xfrm>
            <a:off x="540000" y="4327200"/>
            <a:ext cx="5364000" cy="234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a:t>
            </a:r>
          </a:p>
        </p:txBody>
      </p:sp>
      <p:sp>
        <p:nvSpPr>
          <p:cNvPr id="24" name="Rounded Rectangle 23"/>
          <p:cNvSpPr/>
          <p:nvPr/>
        </p:nvSpPr>
        <p:spPr>
          <a:xfrm>
            <a:off x="540000" y="4554000"/>
            <a:ext cx="5364000" cy="990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25" name="TextBox 24"/>
          <p:cNvSpPr txBox="1"/>
          <p:nvPr/>
        </p:nvSpPr>
        <p:spPr>
          <a:xfrm>
            <a:off x="666000" y="4597200"/>
            <a:ext cx="2160000" cy="28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적용 제품</a:t>
            </a:r>
            <a:r>
              <a:rPr sz="1100" b="0" i="0" lang="ko-KR" altLang="en-US">
                <a:solidFill>
                  <a:srgbClr val="5B6475"/>
                </a:solidFill>
                <a:latin typeface="맑은 고딕"/>
                <a:ea typeface="맑은 고딕"/>
                <a:cs typeface="맑은 고딕"/>
              </a:rPr>
              <a:t/>
            </a:r>
          </a:p>
        </p:txBody>
      </p:sp>
      <p:sp>
        <p:nvSpPr>
          <p:cNvPr id="26" name="Rounded Rectangle 25"/>
          <p:cNvSpPr/>
          <p:nvPr/>
        </p:nvSpPr>
        <p:spPr>
          <a:xfrm>
            <a:off x="6660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CIS</a:t>
            </a:r>
          </a:p>
        </p:txBody>
      </p:sp>
      <p:sp>
        <p:nvSpPr>
          <p:cNvPr id="27" name="Rounded Rectangle 26"/>
          <p:cNvSpPr/>
          <p:nvPr/>
        </p:nvSpPr>
        <p:spPr>
          <a:xfrm>
            <a:off x="17028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3D NAND</a:t>
            </a:r>
          </a:p>
        </p:txBody>
      </p:sp>
      <p:sp>
        <p:nvSpPr>
          <p:cNvPr id="28" name="Rounded Rectangle 27"/>
          <p:cNvSpPr/>
          <p:nvPr/>
        </p:nvSpPr>
        <p:spPr>
          <a:xfrm>
            <a:off x="27396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HBM</a:t>
            </a:r>
          </a:p>
        </p:txBody>
      </p:sp>
      <p:sp>
        <p:nvSpPr>
          <p:cNvPr id="29" name="Rounded Rectangle 28"/>
          <p:cNvSpPr/>
          <p:nvPr/>
        </p:nvSpPr>
        <p:spPr>
          <a:xfrm>
            <a:off x="37764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로직 적층</a:t>
            </a:r>
          </a:p>
        </p:txBody>
      </p:sp>
      <p:sp>
        <p:nvSpPr>
          <p:cNvPr id="30" name="Rounded Rectangle 29"/>
          <p:cNvSpPr/>
          <p:nvPr/>
        </p:nvSpPr>
        <p:spPr>
          <a:xfrm>
            <a:off x="4813200" y="4932000"/>
            <a:ext cx="964800" cy="486000"/>
          </a:xfrm>
          <a:prstGeom prst="roundRect">
            <a:avLst>
              <a:gd name="adj" fmla="val 20000"/>
            </a:avLst>
          </a:prstGeom>
          <a:solidFill>
            <a:srgbClr val="FFFFFF"/>
          </a:solidFill>
          <a:ln w="12700">
            <a:solidFill>
              <a:srgbClr val="C9D2E0"/>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MicroLED</a:t>
            </a:r>
          </a:p>
        </p:txBody>
      </p:sp>
      <p:sp>
        <p:nvSpPr>
          <p:cNvPr id="31" name="Rectangle 30"/>
          <p:cNvSpPr/>
          <p:nvPr/>
        </p:nvSpPr>
        <p:spPr>
          <a:xfrm>
            <a:off x="6336000" y="936000"/>
            <a:ext cx="5172120" cy="3309176"/>
          </a:xfrm>
          <a:prstGeom prst="rect">
            <a:avLst/>
          </a:prstGeom>
          <a:solidFill>
            <a:srgbClr val="FFFFFF"/>
          </a:solidFill>
          <a:ln w="12700">
            <a:solidFill>
              <a:srgbClr val="C9D2E0"/>
            </a:solidFill>
          </a:ln>
        </p:spPr>
        <p:txBody>
          <a:bodyPr rtlCol="0" anchor="ctr" lIns="36000" rIns="36000" tIns="36000" bIns="36000"/>
          <a:lstStyle/>
          <a:p>
            <a:pPr algn="ctr"/>
          </a:p>
        </p:txBody>
      </p:sp>
      <p:pic>
        <p:nvPicPr>
          <p:cNvPr id="32" name="Picture 31" descr="d2w_flow_amat.png"/>
          <p:cNvPicPr>
            <a:picLocks noChangeAspect="1"/>
          </p:cNvPicPr>
          <p:nvPr/>
        </p:nvPicPr>
        <p:blipFill>
          <a:blip r:embed="rId3"/>
          <a:stretch>
            <a:fillRect/>
          </a:stretch>
        </p:blipFill>
        <p:spPr>
          <a:xfrm>
            <a:off x="6372000" y="972000"/>
            <a:ext cx="5100120" cy="3237176"/>
          </a:xfrm>
          <a:prstGeom prst="rect">
            <a:avLst/>
          </a:prstGeom>
        </p:spPr>
      </p:pic>
      <p:sp>
        <p:nvSpPr>
          <p:cNvPr id="33" name="TextBox 32"/>
          <p:cNvSpPr txBox="1"/>
          <p:nvPr/>
        </p:nvSpPr>
        <p:spPr>
          <a:xfrm>
            <a:off x="6192000" y="4263176"/>
            <a:ext cx="5460120" cy="198000"/>
          </a:xfrm>
          <a:prstGeom prst="rect">
            <a:avLst/>
          </a:prstGeom>
          <a:noFill/>
        </p:spPr>
        <p:txBody>
          <a:bodyPr wrap="square" lIns="0" rIns="0" tIns="0" bIns="0" anchor="ctr">
            <a:noAutofit/>
          </a:bodyPr>
          <a:lstStyle/>
          <a:p>
            <a:pPr algn="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D2W 공정 흐름과 장비: Applied Materials (2025) · 출원인: KnowMade (2024)</a:t>
            </a:r>
          </a:p>
        </p:txBody>
      </p:sp>
      <p:sp>
        <p:nvSpPr>
          <p:cNvPr id="34" name="TextBox 33"/>
          <p:cNvSpPr txBox="1"/>
          <p:nvPr/>
        </p:nvSpPr>
        <p:spPr>
          <a:xfrm>
            <a:off x="6192000" y="4515176"/>
            <a:ext cx="5460120" cy="486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1" i="0" lang="ko-KR" altLang="en-US">
                <a:solidFill>
                  <a:srgbClr val="1E2532"/>
                </a:solidFill>
                <a:latin typeface="맑은 고딕"/>
                <a:ea typeface="맑은 고딕"/>
                <a:cs typeface="맑은 고딕"/>
              </a:rPr>
              <a:t>다이 절단 전까지 절연막 증착 → 다마신 식각 → Cu 배리어·시드 증착 → Cu 도금 → CMP: </a:t>
            </a:r>
            <a:r>
              <a:rPr sz="1200" b="1" i="0" lang="ko-KR" altLang="en-US">
                <a:solidFill>
                  <a:srgbClr val="2563C9"/>
                </a:solidFill>
                <a:latin typeface="맑은 고딕"/>
                <a:ea typeface="맑은 고딕"/>
                <a:cs typeface="맑은 고딕"/>
              </a:rPr>
              <a:t>모두 전공정의 공정과 장비</a:t>
            </a:r>
          </a:p>
        </p:txBody>
      </p:sp>
      <p:sp>
        <p:nvSpPr>
          <p:cNvPr id="35" name="TextBox 34"/>
          <p:cNvSpPr txBox="1"/>
          <p:nvPr/>
        </p:nvSpPr>
        <p:spPr>
          <a:xfrm>
            <a:off x="6192000" y="5055176"/>
            <a:ext cx="108000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주요 출원인</a:t>
            </a:r>
          </a:p>
        </p:txBody>
      </p:sp>
      <p:sp>
        <p:nvSpPr>
          <p:cNvPr id="36" name="Rounded Rectangle 35"/>
          <p:cNvSpPr/>
          <p:nvPr/>
        </p:nvSpPr>
        <p:spPr>
          <a:xfrm>
            <a:off x="7272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TSMC</a:t>
            </a:r>
          </a:p>
        </p:txBody>
      </p:sp>
      <p:sp>
        <p:nvSpPr>
          <p:cNvPr id="37" name="Rounded Rectangle 36"/>
          <p:cNvSpPr/>
          <p:nvPr/>
        </p:nvSpPr>
        <p:spPr>
          <a:xfrm>
            <a:off x="7956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Adeia</a:t>
            </a:r>
          </a:p>
        </p:txBody>
      </p:sp>
      <p:sp>
        <p:nvSpPr>
          <p:cNvPr id="38" name="Rounded Rectangle 37"/>
          <p:cNvSpPr/>
          <p:nvPr/>
        </p:nvSpPr>
        <p:spPr>
          <a:xfrm>
            <a:off x="8640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YMTC</a:t>
            </a:r>
          </a:p>
        </p:txBody>
      </p:sp>
      <p:sp>
        <p:nvSpPr>
          <p:cNvPr id="39" name="Rounded Rectangle 38"/>
          <p:cNvSpPr/>
          <p:nvPr/>
        </p:nvSpPr>
        <p:spPr>
          <a:xfrm>
            <a:off x="9324000" y="5062376"/>
            <a:ext cx="630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Intel</a:t>
            </a:r>
          </a:p>
        </p:txBody>
      </p:sp>
      <p:sp>
        <p:nvSpPr>
          <p:cNvPr id="40" name="Rounded Rectangle 39"/>
          <p:cNvSpPr/>
          <p:nvPr/>
        </p:nvSpPr>
        <p:spPr>
          <a:xfrm>
            <a:off x="10008000" y="5062376"/>
            <a:ext cx="828000" cy="270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13294B"/>
                </a:solidFill>
                <a:latin typeface="맑은 고딕"/>
                <a:ea typeface="맑은 고딕"/>
                <a:cs typeface="맑은 고딕"/>
              </a:rPr>
              <a:t>Samsung</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분석 데이터: PATSTAT 하이브리드 본딩 관련 출원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1968–2024년에 출원된 하이브리드 본딩 관련 특허출원 928건을 분석</a:t>
            </a:r>
          </a:p>
        </p:txBody>
      </p:sp>
      <p:sp>
        <p:nvSpPr>
          <p:cNvPr id="4" name="Rounded Rectangle 3"/>
          <p:cNvSpPr/>
          <p:nvPr/>
        </p:nvSpPr>
        <p:spPr>
          <a:xfrm>
            <a:off x="540000" y="990000"/>
            <a:ext cx="4392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EPO PATSTAT Global</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유럽특허청 특허 데이터베이스</a:t>
            </a:r>
          </a:p>
        </p:txBody>
      </p:sp>
      <p:sp>
        <p:nvSpPr>
          <p:cNvPr id="5" name="TextBox 4"/>
          <p:cNvSpPr txBox="1"/>
          <p:nvPr/>
        </p:nvSpPr>
        <p:spPr>
          <a:xfrm>
            <a:off x="540000" y="1872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6" name="Rounded Rectangle 5"/>
          <p:cNvSpPr/>
          <p:nvPr/>
        </p:nvSpPr>
        <p:spPr>
          <a:xfrm>
            <a:off x="756000" y="2088000"/>
            <a:ext cx="3960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1차: CPC 분류</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H01L21(제조공정) 또는 H01L24(접합)</a:t>
            </a:r>
          </a:p>
        </p:txBody>
      </p:sp>
      <p:sp>
        <p:nvSpPr>
          <p:cNvPr id="7" name="TextBox 6"/>
          <p:cNvSpPr txBox="1"/>
          <p:nvPr/>
        </p:nvSpPr>
        <p:spPr>
          <a:xfrm>
            <a:off x="540000" y="2970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8" name="Rounded Rectangle 7"/>
          <p:cNvSpPr/>
          <p:nvPr/>
        </p:nvSpPr>
        <p:spPr>
          <a:xfrm>
            <a:off x="972000" y="3186000"/>
            <a:ext cx="3528000" cy="882000"/>
          </a:xfrm>
          <a:prstGeom prst="roundRect">
            <a:avLst>
              <a:gd name="adj" fmla="val 10000"/>
            </a:avLst>
          </a:prstGeom>
          <a:solidFill>
            <a:srgbClr val="E8EEF7"/>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2차: 제목 키워드</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hybrid bonding · direct bonding · Cu–Cu ·</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copper to copper · metal-oxide bond</a:t>
            </a:r>
          </a:p>
        </p:txBody>
      </p:sp>
      <p:sp>
        <p:nvSpPr>
          <p:cNvPr id="9" name="TextBox 8"/>
          <p:cNvSpPr txBox="1"/>
          <p:nvPr/>
        </p:nvSpPr>
        <p:spPr>
          <a:xfrm>
            <a:off x="540000" y="4068000"/>
            <a:ext cx="4392000" cy="216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13294B"/>
                </a:solidFill>
                <a:latin typeface="맑은 고딕"/>
                <a:ea typeface="맑은 고딕"/>
                <a:cs typeface="맑은 고딕"/>
              </a:rPr>
              <a:t>▼</a:t>
            </a:r>
          </a:p>
        </p:txBody>
      </p:sp>
      <p:sp>
        <p:nvSpPr>
          <p:cNvPr id="10" name="Rounded Rectangle 9"/>
          <p:cNvSpPr/>
          <p:nvPr/>
        </p:nvSpPr>
        <p:spPr>
          <a:xfrm>
            <a:off x="1332000" y="4284000"/>
            <a:ext cx="2808000" cy="936000"/>
          </a:xfrm>
          <a:prstGeom prst="roundRect">
            <a:avLst>
              <a:gd name="adj" fmla="val 10000"/>
            </a:avLst>
          </a:prstGeom>
          <a:solidFill>
            <a:srgbClr val="13294B"/>
          </a:solidFill>
          <a:ln>
            <a:noFill/>
          </a:ln>
        </p:spPr>
        <p:txBody>
          <a:bodyPr rtlCol="0" anchor="ctr" lIns="54000" rIns="54000" tIns="18000" bIns="18000" wrap="square">
            <a:noAutofit/>
          </a:bodyPr>
          <a:lstStyle/>
          <a:p>
            <a:pPr algn="ctr" marL="0" indent="0">
              <a:lnSpc>
                <a:spcPts val="3600"/>
              </a:lnSpc>
              <a:spcBef>
                <a:spcPts val="0"/>
              </a:spcBef>
              <a:spcAft>
                <a:spcPts val="0"/>
              </a:spcAft>
              <a:buNone/>
            </a:pPr>
            <a:r>
              <a:rPr sz="3000" b="1" i="0" lang="ko-KR" altLang="en-US">
                <a:solidFill>
                  <a:srgbClr val="FFFFFF"/>
                </a:solidFill>
                <a:latin typeface="맑은 고딕"/>
                <a:ea typeface="맑은 고딕"/>
                <a:cs typeface="맑은 고딕"/>
              </a:rPr>
              <a:t>928건</a:t>
            </a:r>
          </a:p>
          <a:p>
            <a:pPr algn="ctr" marL="0" indent="0">
              <a:lnSpc>
                <a:spcPts val="1560"/>
              </a:lnSpc>
              <a:spcBef>
                <a:spcPts val="0"/>
              </a:spcBef>
              <a:spcAft>
                <a:spcPts val="0"/>
              </a:spcAft>
              <a:buNone/>
            </a:pPr>
            <a:r>
              <a:rPr sz="1300" b="0" i="0" lang="ko-KR" altLang="en-US">
                <a:solidFill>
                  <a:srgbClr val="DCE3EE"/>
                </a:solidFill>
                <a:latin typeface="맑은 고딕"/>
                <a:ea typeface="맑은 고딕"/>
                <a:cs typeface="맑은 고딕"/>
              </a:rPr>
              <a:t>1968–2024년 출원</a:t>
            </a:r>
          </a:p>
        </p:txBody>
      </p:sp>
      <p:sp>
        <p:nvSpPr>
          <p:cNvPr id="11" name="TextBox 10"/>
          <p:cNvSpPr txBox="1"/>
          <p:nvPr/>
        </p:nvSpPr>
        <p:spPr>
          <a:xfrm>
            <a:off x="540000" y="5274000"/>
            <a:ext cx="4392000" cy="21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출원–CPC 쌍 5,277건 · 서브그룹 기호 262개</a:t>
            </a:r>
          </a:p>
        </p:txBody>
      </p:sp>
      <p:graphicFrame>
        <p:nvGraphicFramePr>
          <p:cNvPr id="12" name="Chart 11"/>
          <p:cNvGraphicFramePr>
            <a:graphicFrameLocks noGrp="1"/>
          </p:cNvGraphicFramePr>
          <p:nvPr/>
        </p:nvGraphicFramePr>
        <p:xfrm>
          <a:off x="5256000" y="936000"/>
          <a:ext cx="6396120" cy="4896000"/>
        </p:xfrm>
        <a:graphic>
          <a:graphicData uri="http://schemas.openxmlformats.org/drawingml/2006/chart">
            <c:chart xmlns:c="http://schemas.openxmlformats.org/drawingml/2006/chart" r:id="rId3"/>
          </a:graphicData>
        </a:graphic>
      </p:graphicFrame>
      <p:sp>
        <p:nvSpPr>
          <p:cNvPr id="13" name="Rounded Rectangle 12"/>
          <p:cNvSpPr/>
          <p:nvPr/>
        </p:nvSpPr>
        <p:spPr>
          <a:xfrm>
            <a:off x="9708120" y="1080000"/>
            <a:ext cx="1584000" cy="306000"/>
          </a:xfrm>
          <a:prstGeom prst="roundRect">
            <a:avLst>
              <a:gd name="adj" fmla="val 50000"/>
            </a:avLst>
          </a:prstGeom>
          <a:solidFill>
            <a:srgbClr val="E8EEF7"/>
          </a:solidFill>
          <a:ln>
            <a:noFill/>
          </a:ln>
        </p:spPr>
        <p:txBody>
          <a:bodyPr rtlCol="0" anchor="ctr" lIns="28800" rIns="28800" tIns="18000" bIns="18000" wrap="square">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2023–24: 공개 시차</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3.2  </a:t>
            </a:r>
            <a:r>
              <a:rPr sz="2200" b="1" i="0" lang="ko-KR" altLang="en-US">
                <a:solidFill>
                  <a:srgbClr val="13294B"/>
                </a:solidFill>
                <a:latin typeface="맑은 고딕"/>
                <a:ea typeface="맑은 고딕"/>
                <a:cs typeface="맑은 고딕"/>
              </a:rPr>
              <a:t>검색 전략과 자료의 특성</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두 단계 검색으로 표본을 구성하고, 표본의 특성은 강건성 검증에 활용</a:t>
            </a:r>
          </a:p>
        </p:txBody>
      </p:sp>
      <p:graphicFrame>
        <p:nvGraphicFramePr>
          <p:cNvPr id="4" name="Table 3"/>
          <p:cNvGraphicFramePr>
            <a:graphicFrameLocks noGrp="1"/>
          </p:cNvGraphicFramePr>
          <p:nvPr/>
        </p:nvGraphicFramePr>
        <p:xfrm>
          <a:off x="540000" y="954000"/>
          <a:ext cx="11112120" cy="1872000"/>
        </p:xfrm>
        <a:graphic>
          <a:graphicData uri="http://schemas.openxmlformats.org/drawingml/2006/table">
            <a:tbl>
              <a:tblPr firstRow="1">
                <a:tableStyleId>{2D5ABB26-0587-4C30-8999-92F81FD0307C}</a:tableStyleId>
              </a:tblPr>
              <a:tblGrid>
                <a:gridCol w="1224000"/>
                <a:gridCol w="936000"/>
                <a:gridCol w="8952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단계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조건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720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제조공정. 웨이퍼 직접 접합(21/18, 21/20), 소자 분리·배선·TSV(21/76), 기판·절연층 처리(21/02), CMP(21/30–21/32);</a:t>
                      </a:r>
                    </a:p>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패키징 단계 제조공정(21/48, 21/50–21/58, 21/60, 21/78)과 공정 장치(21/67–21/68) 포함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1차: CPC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H01L24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반도체 · 고체소자의 연결을 위한 커넥터 구조, 범프 · 층 · 와이어 연결, 관련 연결 방법 및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414000">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2차: 키워드</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제목</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 direct bonding · Cu–Cu · copper to copper · metal-oxide bond 가운데 하나 이상</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Rounded Rectangle 4"/>
          <p:cNvSpPr/>
          <p:nvPr/>
        </p:nvSpPr>
        <p:spPr>
          <a:xfrm>
            <a:off x="540000" y="2970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a:t>
            </a:r>
          </a:p>
        </p:txBody>
      </p:sp>
      <p:sp>
        <p:nvSpPr>
          <p:cNvPr id="6" name="TextBox 5"/>
          <p:cNvSpPr txBox="1"/>
          <p:nvPr/>
        </p:nvSpPr>
        <p:spPr>
          <a:xfrm>
            <a:off x="2520000" y="2970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 928건 (1968–2024) · 출원–CPC 쌍 5,277건 · 서브그룹 기호 262개 (H01L21 202개, H01L24 60개)</a:t>
            </a:r>
          </a:p>
        </p:txBody>
      </p:sp>
      <p:sp>
        <p:nvSpPr>
          <p:cNvPr id="7" name="Rounded Rectangle 6"/>
          <p:cNvSpPr/>
          <p:nvPr/>
        </p:nvSpPr>
        <p:spPr>
          <a:xfrm>
            <a:off x="540000" y="34668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hybrid bonding 표본</a:t>
            </a:r>
          </a:p>
        </p:txBody>
      </p:sp>
      <p:sp>
        <p:nvSpPr>
          <p:cNvPr id="8" name="TextBox 7"/>
          <p:cNvSpPr txBox="1"/>
          <p:nvPr/>
        </p:nvSpPr>
        <p:spPr>
          <a:xfrm>
            <a:off x="2520000" y="34668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제목에 hybrid bonding이 포함된 467건 → 재추정 (부록 4)</a:t>
            </a:r>
          </a:p>
        </p:txBody>
      </p:sp>
      <p:sp>
        <p:nvSpPr>
          <p:cNvPr id="9" name="Rounded Rectangle 8"/>
          <p:cNvSpPr/>
          <p:nvPr/>
        </p:nvSpPr>
        <p:spPr>
          <a:xfrm>
            <a:off x="540000" y="39636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무관 용법</a:t>
            </a:r>
          </a:p>
        </p:txBody>
      </p:sp>
      <p:sp>
        <p:nvSpPr>
          <p:cNvPr id="10" name="TextBox 9"/>
          <p:cNvSpPr txBox="1"/>
          <p:nvPr/>
        </p:nvSpPr>
        <p:spPr>
          <a:xfrm>
            <a:off x="2520000" y="39636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68건 (direct bonding 63건 · hybrid bonding 5건): DBC 기판, 구리 합금, 전력 모듈 등</a:t>
            </a:r>
          </a:p>
        </p:txBody>
      </p:sp>
      <p:sp>
        <p:nvSpPr>
          <p:cNvPr id="11" name="Rounded Rectangle 10"/>
          <p:cNvSpPr/>
          <p:nvPr/>
        </p:nvSpPr>
        <p:spPr>
          <a:xfrm>
            <a:off x="540000" y="44604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동일 제목</a:t>
            </a:r>
          </a:p>
        </p:txBody>
      </p:sp>
      <p:sp>
        <p:nvSpPr>
          <p:cNvPr id="12" name="TextBox 11"/>
          <p:cNvSpPr txBox="1"/>
          <p:nvPr/>
        </p:nvSpPr>
        <p:spPr>
          <a:xfrm>
            <a:off x="2520000" y="44604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고유 제목 473개 · 이 중 149개는 둘 이상의 출원청에 출원 → 제목당 1건 표본, 군집 표준오차</a:t>
            </a:r>
          </a:p>
        </p:txBody>
      </p:sp>
      <p:sp>
        <p:nvSpPr>
          <p:cNvPr id="13" name="Rounded Rectangle 12"/>
          <p:cNvSpPr/>
          <p:nvPr/>
        </p:nvSpPr>
        <p:spPr>
          <a:xfrm>
            <a:off x="540000" y="49572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H01L21 기호 1,636건</a:t>
            </a:r>
          </a:p>
        </p:txBody>
      </p:sp>
      <p:sp>
        <p:nvSpPr>
          <p:cNvPr id="14" name="TextBox 13"/>
          <p:cNvSpPr txBox="1"/>
          <p:nvPr/>
        </p:nvSpPr>
        <p:spPr>
          <a:xfrm>
            <a:off x="2520000" y="49572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웨이퍼 제조공정 905 (55.3%) · 공정 장치 328 (20.0%) · 패키징 단계 공정 403 (24.6%)</a:t>
            </a:r>
          </a:p>
        </p:txBody>
      </p:sp>
      <p:sp>
        <p:nvSpPr>
          <p:cNvPr id="15" name="Rounded Rectangle 14"/>
          <p:cNvSpPr/>
          <p:nvPr/>
        </p:nvSpPr>
        <p:spPr>
          <a:xfrm>
            <a:off x="540000" y="5454000"/>
            <a:ext cx="1872000" cy="3888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출원청</a:t>
            </a:r>
          </a:p>
        </p:txBody>
      </p:sp>
      <p:sp>
        <p:nvSpPr>
          <p:cNvPr id="16" name="TextBox 15"/>
          <p:cNvSpPr txBox="1"/>
          <p:nvPr/>
        </p:nvSpPr>
        <p:spPr>
          <a:xfrm>
            <a:off x="2520000" y="5454000"/>
            <a:ext cx="9132120" cy="3888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US 382 · CN 175 · WO(PCT) 113 · EP 83 · TW 75 · KR 58 · JP 26 · 기타 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두 CPC 클래스의 공동분류</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H01L21과 H01L24를 함께 가진 출원 = 공정 단계의 경계를 넘는 "통합형"</a:t>
            </a:r>
          </a:p>
        </p:txBody>
      </p:sp>
      <p:sp>
        <p:nvSpPr>
          <p:cNvPr id="4" name="Oval 3"/>
          <p:cNvSpPr/>
          <p:nvPr/>
        </p:nvSpPr>
        <p:spPr>
          <a:xfrm>
            <a:off x="2964060" y="936000"/>
            <a:ext cx="3816000" cy="3816000"/>
          </a:xfrm>
          <a:prstGeom prst="ellipse">
            <a:avLst/>
          </a:prstGeom>
          <a:solidFill>
            <a:srgbClr val="2563C9">
              <a:alpha val="16000"/>
            </a:srgbClr>
          </a:solidFill>
          <a:ln w="25400">
            <a:solidFill>
              <a:srgbClr val="2563C9"/>
            </a:solidFill>
          </a:ln>
        </p:spPr>
        <p:txBody>
          <a:bodyPr rtlCol="0" anchor="ctr" lIns="36000" rIns="36000" tIns="36000" bIns="36000"/>
          <a:lstStyle/>
          <a:p>
            <a:pPr algn="ctr"/>
          </a:p>
        </p:txBody>
      </p:sp>
      <p:sp>
        <p:nvSpPr>
          <p:cNvPr id="5" name="Oval 4"/>
          <p:cNvSpPr/>
          <p:nvPr/>
        </p:nvSpPr>
        <p:spPr>
          <a:xfrm>
            <a:off x="5412060" y="936000"/>
            <a:ext cx="3816000" cy="3816000"/>
          </a:xfrm>
          <a:prstGeom prst="ellipse">
            <a:avLst/>
          </a:prstGeom>
          <a:solidFill>
            <a:srgbClr val="EA7A28">
              <a:alpha val="16000"/>
            </a:srgbClr>
          </a:solidFill>
          <a:ln w="25400">
            <a:solidFill>
              <a:srgbClr val="EA7A28"/>
            </a:solidFill>
          </a:ln>
        </p:spPr>
        <p:txBody>
          <a:bodyPr rtlCol="0" anchor="ctr" lIns="36000" rIns="36000" tIns="36000" bIns="36000"/>
          <a:lstStyle/>
          <a:p>
            <a:pPr algn="ctr"/>
          </a:p>
        </p:txBody>
      </p:sp>
      <p:sp>
        <p:nvSpPr>
          <p:cNvPr id="6" name="TextBox 5"/>
          <p:cNvSpPr txBox="1"/>
          <p:nvPr/>
        </p:nvSpPr>
        <p:spPr>
          <a:xfrm>
            <a:off x="3144060" y="1476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2563C9"/>
                </a:solidFill>
                <a:latin typeface="맑은 고딕"/>
                <a:ea typeface="맑은 고딕"/>
                <a:cs typeface="맑은 고딕"/>
              </a:rPr>
              <a:t>H01L21</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반도체 제조공정</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웨이퍼 접합 · CMP</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절연층 처리</a:t>
            </a:r>
          </a:p>
        </p:txBody>
      </p:sp>
      <p:sp>
        <p:nvSpPr>
          <p:cNvPr id="7" name="TextBox 6"/>
          <p:cNvSpPr txBox="1"/>
          <p:nvPr/>
        </p:nvSpPr>
        <p:spPr>
          <a:xfrm>
            <a:off x="7284060" y="1476000"/>
            <a:ext cx="1764000" cy="1296000"/>
          </a:xfrm>
          <a:prstGeom prst="rect">
            <a:avLst/>
          </a:prstGeom>
          <a:noFill/>
        </p:spPr>
        <p:txBody>
          <a:bodyPr wrap="square" lIns="0" rIns="0" tIns="0" bIns="0" anchor="ctr">
            <a:noAutofit/>
          </a:bodyPr>
          <a:lstStyle/>
          <a:p>
            <a:pPr algn="ctr" marL="0" indent="0">
              <a:lnSpc>
                <a:spcPts val="2880"/>
              </a:lnSpc>
              <a:spcBef>
                <a:spcPts val="0"/>
              </a:spcBef>
              <a:spcAft>
                <a:spcPts val="0"/>
              </a:spcAft>
              <a:buNone/>
            </a:pPr>
            <a:r>
              <a:rPr sz="2400" b="1" i="0" lang="ko-KR" altLang="en-US">
                <a:solidFill>
                  <a:srgbClr val="EA7A28"/>
                </a:solidFill>
                <a:latin typeface="맑은 고딕"/>
                <a:ea typeface="맑은 고딕"/>
                <a:cs typeface="맑은 고딕"/>
              </a:rPr>
              <a:t>H01L24</a:t>
            </a:r>
          </a:p>
          <a:p>
            <a:pPr algn="ctr"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접합 · 인터커넥트</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범프 · 와이어</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패드 구조</a:t>
            </a:r>
          </a:p>
        </p:txBody>
      </p:sp>
      <p:sp>
        <p:nvSpPr>
          <p:cNvPr id="8" name="Rounded Rectangle 7"/>
          <p:cNvSpPr/>
          <p:nvPr/>
        </p:nvSpPr>
        <p:spPr>
          <a:xfrm>
            <a:off x="3198060" y="2952000"/>
            <a:ext cx="1656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공정 단독형</a:t>
            </a:r>
          </a:p>
        </p:txBody>
      </p:sp>
      <p:sp>
        <p:nvSpPr>
          <p:cNvPr id="9" name="Rounded Rectangle 8"/>
          <p:cNvSpPr/>
          <p:nvPr/>
        </p:nvSpPr>
        <p:spPr>
          <a:xfrm>
            <a:off x="7338060" y="2952000"/>
            <a:ext cx="1656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680"/>
              </a:lnSpc>
              <a:spcBef>
                <a:spcPts val="0"/>
              </a:spcBef>
              <a:spcAft>
                <a:spcPts val="0"/>
              </a:spcAft>
              <a:buNone/>
            </a:pPr>
            <a:r>
              <a:rPr sz="1400" b="1" i="0" lang="ko-KR" altLang="en-US">
                <a:solidFill>
                  <a:srgbClr val="FFFFFF"/>
                </a:solidFill>
                <a:latin typeface="맑은 고딕"/>
                <a:ea typeface="맑은 고딕"/>
                <a:cs typeface="맑은 고딕"/>
              </a:rPr>
              <a:t>접합 단독형</a:t>
            </a:r>
          </a:p>
        </p:txBody>
      </p:sp>
      <p:sp>
        <p:nvSpPr>
          <p:cNvPr id="10" name="Rounded Rectangle 9"/>
          <p:cNvSpPr/>
          <p:nvPr/>
        </p:nvSpPr>
        <p:spPr>
          <a:xfrm>
            <a:off x="5466060" y="2466000"/>
            <a:ext cx="1260000" cy="432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통합형</a:t>
            </a:r>
          </a:p>
        </p:txBody>
      </p:sp>
      <p:sp>
        <p:nvSpPr>
          <p:cNvPr id="11" name="TextBox 10"/>
          <p:cNvSpPr txBox="1"/>
          <p:nvPr/>
        </p:nvSpPr>
        <p:spPr>
          <a:xfrm>
            <a:off x="5412060" y="2934000"/>
            <a:ext cx="1368000" cy="468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두 클래스를</a:t>
            </a:r>
          </a:p>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함께 보유</a:t>
            </a:r>
          </a:p>
        </p:txBody>
      </p:sp>
      <p:sp>
        <p:nvSpPr>
          <p:cNvPr id="12" name="TextBox 11"/>
          <p:cNvSpPr txBox="1"/>
          <p:nvPr/>
        </p:nvSpPr>
        <p:spPr>
          <a:xfrm>
            <a:off x="540000" y="4950000"/>
            <a:ext cx="11112120" cy="46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한 출원에 두 클래스의 기호가 함께 부여 = 두 영역의 지식이 하나의 발명 안에서 결합된 흔적</a:t>
            </a:r>
          </a:p>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CPC 기호는 심사관이 기술 내용에 따라 부여: 대리측정치이며 법적 청구범위의 측정이 아님 (Curran &amp; Leker, 2011; Fleming, 2001)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실제 출원의 CPC 기호</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실제 출원에 부여된 CPC 기호의 조합으로 세 유형을 구분한다</a:t>
            </a:r>
          </a:p>
        </p:txBody>
      </p:sp>
      <p:sp>
        <p:nvSpPr>
          <p:cNvPr id="4" name="Rounded Rectangle 3"/>
          <p:cNvSpPr/>
          <p:nvPr/>
        </p:nvSpPr>
        <p:spPr>
          <a:xfrm>
            <a:off x="73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5" name="TextBox 4"/>
          <p:cNvSpPr txBox="1"/>
          <p:nvPr/>
        </p:nvSpPr>
        <p:spPr>
          <a:xfrm>
            <a:off x="87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TW · 2019</a:t>
            </a:r>
          </a:p>
        </p:txBody>
      </p:sp>
      <p:sp>
        <p:nvSpPr>
          <p:cNvPr id="6" name="TextBox 5"/>
          <p:cNvSpPr txBox="1"/>
          <p:nvPr/>
        </p:nvSpPr>
        <p:spPr>
          <a:xfrm>
            <a:off x="87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DIRECT BONDING OF</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HETEROGENEOUS SUBSTRATES</a:t>
            </a:r>
          </a:p>
        </p:txBody>
      </p:sp>
      <p:sp>
        <p:nvSpPr>
          <p:cNvPr id="7" name="TextBox 6"/>
          <p:cNvSpPr txBox="1"/>
          <p:nvPr/>
        </p:nvSpPr>
        <p:spPr>
          <a:xfrm>
            <a:off x="73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8" name="Rounded Rectangle 7"/>
          <p:cNvSpPr/>
          <p:nvPr/>
        </p:nvSpPr>
        <p:spPr>
          <a:xfrm>
            <a:off x="649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21/2007</a:t>
            </a:r>
          </a:p>
        </p:txBody>
      </p:sp>
      <p:sp>
        <p:nvSpPr>
          <p:cNvPr id="9" name="Rounded Rectangle 8"/>
          <p:cNvSpPr/>
          <p:nvPr/>
        </p:nvSpPr>
        <p:spPr>
          <a:xfrm>
            <a:off x="1495260" y="2772000"/>
            <a:ext cx="8028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21/4803</a:t>
            </a:r>
          </a:p>
        </p:txBody>
      </p:sp>
      <p:sp>
        <p:nvSpPr>
          <p:cNvPr id="10" name="Rounded Rectangle 9"/>
          <p:cNvSpPr/>
          <p:nvPr/>
        </p:nvSpPr>
        <p:spPr>
          <a:xfrm>
            <a:off x="23412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21/76251</a:t>
            </a:r>
          </a:p>
        </p:txBody>
      </p:sp>
      <p:sp>
        <p:nvSpPr>
          <p:cNvPr id="11" name="Rounded Rectangle 10"/>
          <p:cNvSpPr/>
          <p:nvPr/>
        </p:nvSpPr>
        <p:spPr>
          <a:xfrm>
            <a:off x="3273660" y="2772000"/>
            <a:ext cx="8892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21/76275</a:t>
            </a:r>
          </a:p>
        </p:txBody>
      </p:sp>
      <p:cxnSp>
        <p:nvCxnSpPr>
          <p:cNvPr id="12" name="Connector 11"/>
          <p:cNvCxnSpPr/>
          <p:nvPr/>
        </p:nvCxnSpPr>
        <p:spPr>
          <a:xfrm>
            <a:off x="2406060" y="3204000"/>
            <a:ext cx="0" cy="306000"/>
          </a:xfrm>
          <a:prstGeom prst="line">
            <a:avLst/>
          </a:prstGeom>
          <a:ln w="31750">
            <a:solidFill>
              <a:srgbClr val="2563C9"/>
            </a:solidFill>
            <a:tailEnd type="triangle" w="med" len="med"/>
          </a:ln>
        </p:spPr>
      </p:cxnSp>
      <p:sp>
        <p:nvSpPr>
          <p:cNvPr id="13" name="Rounded Rectangle 12"/>
          <p:cNvSpPr/>
          <p:nvPr/>
        </p:nvSpPr>
        <p:spPr>
          <a:xfrm>
            <a:off x="732060" y="3564000"/>
            <a:ext cx="3348000" cy="936000"/>
          </a:xfrm>
          <a:prstGeom prst="roundRect">
            <a:avLst>
              <a:gd name="adj" fmla="val 18000"/>
            </a:avLst>
          </a:prstGeom>
          <a:solidFill>
            <a:srgbClr val="E3ECFB"/>
          </a:solidFill>
          <a:ln w="19050">
            <a:solidFill>
              <a:srgbClr val="2563C9"/>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2563C9"/>
                </a:solidFill>
                <a:latin typeface="맑은 고딕"/>
                <a:ea typeface="맑은 고딕"/>
                <a:cs typeface="맑은 고딕"/>
              </a:rPr>
              <a:t>공정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Process-only  ·  H01L21만 보유</a:t>
            </a:r>
          </a:p>
        </p:txBody>
      </p:sp>
      <p:sp>
        <p:nvSpPr>
          <p:cNvPr id="14" name="Rounded Rectangle 13"/>
          <p:cNvSpPr/>
          <p:nvPr/>
        </p:nvSpPr>
        <p:spPr>
          <a:xfrm>
            <a:off x="4422060" y="972000"/>
            <a:ext cx="3348000" cy="1440000"/>
          </a:xfrm>
          <a:prstGeom prst="roundRect">
            <a:avLst>
              <a:gd name="adj" fmla="val 6000"/>
            </a:avLst>
          </a:prstGeom>
          <a:solidFill>
            <a:srgbClr val="4B3C7A"/>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15" name="TextBox 14"/>
          <p:cNvSpPr txBox="1"/>
          <p:nvPr/>
        </p:nvSpPr>
        <p:spPr>
          <a:xfrm>
            <a:off x="456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16" name="TextBox 15"/>
          <p:cNvSpPr txBox="1"/>
          <p:nvPr/>
        </p:nvSpPr>
        <p:spPr>
          <a:xfrm>
            <a:off x="456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Metal-metal direct</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bonding method</a:t>
            </a:r>
          </a:p>
        </p:txBody>
      </p:sp>
      <p:sp>
        <p:nvSpPr>
          <p:cNvPr id="17" name="TextBox 16"/>
          <p:cNvSpPr txBox="1"/>
          <p:nvPr/>
        </p:nvSpPr>
        <p:spPr>
          <a:xfrm>
            <a:off x="442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18" name="Rounded Rectangle 17"/>
          <p:cNvSpPr/>
          <p:nvPr/>
        </p:nvSpPr>
        <p:spPr>
          <a:xfrm>
            <a:off x="50214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21/185</a:t>
            </a:r>
          </a:p>
        </p:txBody>
      </p:sp>
      <p:sp>
        <p:nvSpPr>
          <p:cNvPr id="19" name="Rounded Rectangle 18"/>
          <p:cNvSpPr/>
          <p:nvPr/>
        </p:nvSpPr>
        <p:spPr>
          <a:xfrm>
            <a:off x="5781060" y="2772000"/>
            <a:ext cx="716400" cy="342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21/187</a:t>
            </a:r>
          </a:p>
        </p:txBody>
      </p:sp>
      <p:sp>
        <p:nvSpPr>
          <p:cNvPr id="20" name="Rounded Rectangle 19"/>
          <p:cNvSpPr/>
          <p:nvPr/>
        </p:nvSpPr>
        <p:spPr>
          <a:xfrm>
            <a:off x="6540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cxnSp>
        <p:nvCxnSpPr>
          <p:cNvPr id="21" name="Connector 20"/>
          <p:cNvCxnSpPr/>
          <p:nvPr/>
        </p:nvCxnSpPr>
        <p:spPr>
          <a:xfrm>
            <a:off x="6096060" y="3204000"/>
            <a:ext cx="0" cy="306000"/>
          </a:xfrm>
          <a:prstGeom prst="line">
            <a:avLst/>
          </a:prstGeom>
          <a:ln w="31750">
            <a:solidFill>
              <a:srgbClr val="7C3AED"/>
            </a:solidFill>
            <a:tailEnd type="triangle" w="med" len="med"/>
          </a:ln>
        </p:spPr>
      </p:cxnSp>
      <p:sp>
        <p:nvSpPr>
          <p:cNvPr id="22" name="Rounded Rectangle 21"/>
          <p:cNvSpPr/>
          <p:nvPr/>
        </p:nvSpPr>
        <p:spPr>
          <a:xfrm>
            <a:off x="4422060" y="3564000"/>
            <a:ext cx="3348000" cy="936000"/>
          </a:xfrm>
          <a:prstGeom prst="roundRect">
            <a:avLst>
              <a:gd name="adj" fmla="val 18000"/>
            </a:avLst>
          </a:prstGeom>
          <a:solidFill>
            <a:srgbClr val="EEE6FD"/>
          </a:solidFill>
          <a:ln w="31750">
            <a:solidFill>
              <a:srgbClr val="7C3AED"/>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7C3AED"/>
                </a:solidFill>
                <a:latin typeface="맑은 고딕"/>
                <a:ea typeface="맑은 고딕"/>
                <a:cs typeface="맑은 고딕"/>
              </a:rPr>
              <a:t>통합형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Integrated  ·  H01L21 + H01L24</a:t>
            </a:r>
          </a:p>
        </p:txBody>
      </p:sp>
      <p:sp>
        <p:nvSpPr>
          <p:cNvPr id="23" name="Rounded Rectangle 22"/>
          <p:cNvSpPr/>
          <p:nvPr/>
        </p:nvSpPr>
        <p:spPr>
          <a:xfrm>
            <a:off x="8112060" y="972000"/>
            <a:ext cx="3348000" cy="1440000"/>
          </a:xfrm>
          <a:prstGeom prst="roundRect">
            <a:avLst>
              <a:gd name="adj" fmla="val 6000"/>
            </a:avLst>
          </a:prstGeom>
          <a:solidFill>
            <a:srgbClr val="5B6475"/>
          </a:solidFill>
          <a:ln>
            <a:noFill/>
          </a:ln>
          <a:effectLst>
            <a:outerShdw blurRad="127000" dist="25400" dir="5400000" algn="t" rotWithShape="0">
              <a:srgbClr val="1E2532">
                <a:alpha val="16000"/>
              </a:srgbClr>
            </a:outerShdw>
          </a:effectLst>
        </p:spPr>
        <p:txBody>
          <a:bodyPr rtlCol="0" anchor="ctr" lIns="36000" rIns="36000" tIns="36000" bIns="36000"/>
          <a:lstStyle/>
          <a:p>
            <a:pPr algn="ctr"/>
          </a:p>
        </p:txBody>
      </p:sp>
      <p:sp>
        <p:nvSpPr>
          <p:cNvPr id="24" name="TextBox 23"/>
          <p:cNvSpPr txBox="1"/>
          <p:nvPr/>
        </p:nvSpPr>
        <p:spPr>
          <a:xfrm>
            <a:off x="8256060" y="1026000"/>
            <a:ext cx="306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DCE3EE"/>
                </a:solidFill>
                <a:latin typeface="맑은 고딕"/>
                <a:ea typeface="맑은 고딕"/>
                <a:cs typeface="맑은 고딕"/>
              </a:rPr>
              <a:t>실제 출원 예시  ·  US · 2017</a:t>
            </a:r>
          </a:p>
        </p:txBody>
      </p:sp>
      <p:sp>
        <p:nvSpPr>
          <p:cNvPr id="25" name="TextBox 24"/>
          <p:cNvSpPr txBox="1"/>
          <p:nvPr/>
        </p:nvSpPr>
        <p:spPr>
          <a:xfrm>
            <a:off x="8256060" y="1278000"/>
            <a:ext cx="3060000" cy="104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Hybrid bond pad</a:t>
            </a:r>
          </a:p>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structure</a:t>
            </a:r>
          </a:p>
        </p:txBody>
      </p:sp>
      <p:sp>
        <p:nvSpPr>
          <p:cNvPr id="26" name="TextBox 25"/>
          <p:cNvSpPr txBox="1"/>
          <p:nvPr/>
        </p:nvSpPr>
        <p:spPr>
          <a:xfrm>
            <a:off x="8112060" y="2484000"/>
            <a:ext cx="3348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부여된 CPC 기호 (H01L 생략)</a:t>
            </a:r>
          </a:p>
        </p:txBody>
      </p:sp>
      <p:sp>
        <p:nvSpPr>
          <p:cNvPr id="27" name="Rounded Rectangle 26"/>
          <p:cNvSpPr/>
          <p:nvPr/>
        </p:nvSpPr>
        <p:spPr>
          <a:xfrm>
            <a:off x="84612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24/00</a:t>
            </a:r>
          </a:p>
        </p:txBody>
      </p:sp>
      <p:sp>
        <p:nvSpPr>
          <p:cNvPr id="28" name="Rounded Rectangle 27"/>
          <p:cNvSpPr/>
          <p:nvPr/>
        </p:nvSpPr>
        <p:spPr>
          <a:xfrm>
            <a:off x="91344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24/05</a:t>
            </a:r>
          </a:p>
        </p:txBody>
      </p:sp>
      <p:sp>
        <p:nvSpPr>
          <p:cNvPr id="29" name="Rounded Rectangle 28"/>
          <p:cNvSpPr/>
          <p:nvPr/>
        </p:nvSpPr>
        <p:spPr>
          <a:xfrm>
            <a:off x="98076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24/08</a:t>
            </a:r>
          </a:p>
        </p:txBody>
      </p:sp>
      <p:sp>
        <p:nvSpPr>
          <p:cNvPr id="30" name="Rounded Rectangle 29"/>
          <p:cNvSpPr/>
          <p:nvPr/>
        </p:nvSpPr>
        <p:spPr>
          <a:xfrm>
            <a:off x="10480860" y="2772000"/>
            <a:ext cx="630000" cy="342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20"/>
              </a:lnSpc>
              <a:spcBef>
                <a:spcPts val="0"/>
              </a:spcBef>
              <a:spcAft>
                <a:spcPts val="0"/>
              </a:spcAft>
              <a:buNone/>
            </a:pPr>
            <a:r>
              <a:rPr sz="1100" b="1" i="0" lang="ko-KR" altLang="en-US">
                <a:solidFill>
                  <a:srgbClr val="EA7A28"/>
                </a:solidFill>
                <a:latin typeface="맑은 고딕"/>
                <a:ea typeface="맑은 고딕"/>
                <a:cs typeface="맑은 고딕"/>
              </a:rPr>
              <a:t>24/80</a:t>
            </a:r>
          </a:p>
        </p:txBody>
      </p:sp>
      <p:cxnSp>
        <p:nvCxnSpPr>
          <p:cNvPr id="31" name="Connector 30"/>
          <p:cNvCxnSpPr/>
          <p:nvPr/>
        </p:nvCxnSpPr>
        <p:spPr>
          <a:xfrm>
            <a:off x="9786060" y="3204000"/>
            <a:ext cx="0" cy="306000"/>
          </a:xfrm>
          <a:prstGeom prst="line">
            <a:avLst/>
          </a:prstGeom>
          <a:ln w="31750">
            <a:solidFill>
              <a:srgbClr val="EA7A28"/>
            </a:solidFill>
            <a:tailEnd type="triangle" w="med" len="med"/>
          </a:ln>
        </p:spPr>
      </p:cxnSp>
      <p:sp>
        <p:nvSpPr>
          <p:cNvPr id="32" name="Rounded Rectangle 31"/>
          <p:cNvSpPr/>
          <p:nvPr/>
        </p:nvSpPr>
        <p:spPr>
          <a:xfrm>
            <a:off x="8112060" y="3564000"/>
            <a:ext cx="3348000" cy="936000"/>
          </a:xfrm>
          <a:prstGeom prst="roundRect">
            <a:avLst>
              <a:gd name="adj" fmla="val 18000"/>
            </a:avLst>
          </a:prstGeom>
          <a:solidFill>
            <a:srgbClr val="FDEBDD"/>
          </a:solidFill>
          <a:ln w="19050">
            <a:solidFill>
              <a:srgbClr val="EA7A28"/>
            </a:solidFill>
          </a:ln>
        </p:spPr>
        <p:txBody>
          <a:bodyPr rtlCol="0" anchor="ctr" lIns="54000" rIns="54000" tIns="18000" bIns="18000" wrap="square">
            <a:noAutofit/>
          </a:bodyPr>
          <a:lstStyle/>
          <a:p>
            <a:pPr algn="ctr" marL="0" indent="0">
              <a:lnSpc>
                <a:spcPts val="2400"/>
              </a:lnSpc>
              <a:spcBef>
                <a:spcPts val="0"/>
              </a:spcBef>
              <a:spcAft>
                <a:spcPts val="0"/>
              </a:spcAft>
              <a:buNone/>
            </a:pPr>
            <a:r>
              <a:rPr sz="2000" b="1" i="0" lang="ko-KR" altLang="en-US">
                <a:solidFill>
                  <a:srgbClr val="EA7A28"/>
                </a:solidFill>
                <a:latin typeface="맑은 고딕"/>
                <a:ea typeface="맑은 고딕"/>
                <a:cs typeface="맑은 고딕"/>
              </a:rPr>
              <a:t>접합 단독형</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Bonding-only  ·  H01L24만 보유</a:t>
            </a:r>
          </a:p>
        </p:txBody>
      </p:sp>
      <p:sp>
        <p:nvSpPr>
          <p:cNvPr id="33" name="Rounded Rectangle 32"/>
          <p:cNvSpPr/>
          <p:nvPr/>
        </p:nvSpPr>
        <p:spPr>
          <a:xfrm>
            <a:off x="540000" y="4752000"/>
            <a:ext cx="11112120" cy="106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4" name="TextBox 33"/>
          <p:cNvSpPr txBox="1"/>
          <p:nvPr/>
        </p:nvSpPr>
        <p:spPr>
          <a:xfrm>
            <a:off x="75600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이론적 개념</a:t>
            </a:r>
          </a:p>
        </p:txBody>
      </p:sp>
      <p:sp>
        <p:nvSpPr>
          <p:cNvPr id="35" name="TextBox 34"/>
          <p:cNvSpPr txBox="1"/>
          <p:nvPr/>
        </p:nvSpPr>
        <p:spPr>
          <a:xfrm>
            <a:off x="75600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공정 단계 간 기술융합</a:t>
            </a:r>
          </a:p>
        </p:txBody>
      </p:sp>
      <p:cxnSp>
        <p:nvCxnSpPr>
          <p:cNvPr id="36" name="Connector 35"/>
          <p:cNvCxnSpPr/>
          <p:nvPr/>
        </p:nvCxnSpPr>
        <p:spPr>
          <a:xfrm>
            <a:off x="4082040" y="5202000"/>
            <a:ext cx="324000" cy="0"/>
          </a:xfrm>
          <a:prstGeom prst="line">
            <a:avLst/>
          </a:prstGeom>
          <a:ln w="25400">
            <a:solidFill>
              <a:srgbClr val="13294B"/>
            </a:solidFill>
            <a:tailEnd type="triangle" w="med" len="med"/>
          </a:ln>
        </p:spPr>
      </p:cxnSp>
      <p:sp>
        <p:nvSpPr>
          <p:cNvPr id="37" name="TextBox 36"/>
          <p:cNvSpPr txBox="1"/>
          <p:nvPr/>
        </p:nvSpPr>
        <p:spPr>
          <a:xfrm>
            <a:off x="446004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관찰 현상</a:t>
            </a:r>
          </a:p>
        </p:txBody>
      </p:sp>
      <p:sp>
        <p:nvSpPr>
          <p:cNvPr id="38" name="TextBox 37"/>
          <p:cNvSpPr txBox="1"/>
          <p:nvPr/>
        </p:nvSpPr>
        <p:spPr>
          <a:xfrm>
            <a:off x="446004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두 기술이 한 출원에 함께 포함</a:t>
            </a:r>
          </a:p>
        </p:txBody>
      </p:sp>
      <p:cxnSp>
        <p:nvCxnSpPr>
          <p:cNvPr id="39" name="Connector 38"/>
          <p:cNvCxnSpPr/>
          <p:nvPr/>
        </p:nvCxnSpPr>
        <p:spPr>
          <a:xfrm>
            <a:off x="7786080" y="5202000"/>
            <a:ext cx="324000" cy="0"/>
          </a:xfrm>
          <a:prstGeom prst="line">
            <a:avLst/>
          </a:prstGeom>
          <a:ln w="25400">
            <a:solidFill>
              <a:srgbClr val="13294B"/>
            </a:solidFill>
            <a:tailEnd type="triangle" w="med" len="med"/>
          </a:ln>
        </p:spPr>
      </p:cxnSp>
      <p:sp>
        <p:nvSpPr>
          <p:cNvPr id="40" name="TextBox 39"/>
          <p:cNvSpPr txBox="1"/>
          <p:nvPr/>
        </p:nvSpPr>
        <p:spPr>
          <a:xfrm>
            <a:off x="8164080" y="4806000"/>
            <a:ext cx="3272040" cy="252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조작적 지표 (H01L21–H01L24)</a:t>
            </a:r>
          </a:p>
        </p:txBody>
      </p:sp>
      <p:sp>
        <p:nvSpPr>
          <p:cNvPr id="41" name="TextBox 40"/>
          <p:cNvSpPr txBox="1"/>
          <p:nvPr/>
        </p:nvSpPr>
        <p:spPr>
          <a:xfrm>
            <a:off x="8164080" y="5040000"/>
            <a:ext cx="3272040" cy="324000"/>
          </a:xfrm>
          <a:prstGeom prst="rect">
            <a:avLst/>
          </a:prstGeom>
          <a:noFill/>
        </p:spPr>
        <p:txBody>
          <a:bodyPr wrap="square" lIns="0" rIns="0" tIns="0" bIns="0" anchor="ctr">
            <a:noAutofit/>
          </a:bodyPr>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공동분류 = 대리측정치</a:t>
            </a:r>
          </a:p>
        </p:txBody>
      </p:sp>
      <p:sp>
        <p:nvSpPr>
          <p:cNvPr id="42" name="TextBox 41"/>
          <p:cNvSpPr txBox="1"/>
          <p:nvPr/>
        </p:nvSpPr>
        <p:spPr>
          <a:xfrm>
            <a:off x="756000" y="5418000"/>
            <a:ext cx="10680120" cy="324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CPC 기호는 심사관이 기술 내용에 따라 부여 → 법적 청구범위의 측정이 아님 (Curran &amp; Leker, 2011; Fleming, 2001)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기술 클러스터와 기술 네트워크</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 빈도와 연결 강도가 모두 접합 패드와 직접 접합 기호에 집중된다</a:t>
            </a:r>
          </a:p>
        </p:txBody>
      </p:sp>
      <p:graphicFrame>
        <p:nvGraphicFramePr>
          <p:cNvPr id="4" name="Table 3"/>
          <p:cNvGraphicFramePr>
            <a:graphicFrameLocks noGrp="1"/>
          </p:cNvGraphicFramePr>
          <p:nvPr/>
        </p:nvGraphicFramePr>
        <p:xfrm>
          <a:off x="540000" y="954000"/>
          <a:ext cx="6372000" cy="4186800"/>
        </p:xfrm>
        <a:graphic>
          <a:graphicData uri="http://schemas.openxmlformats.org/drawingml/2006/table">
            <a:tbl>
              <a:tblPr firstRow="1">
                <a:tableStyleId>{2D5ABB26-0587-4C30-8999-92F81FD0307C}</a:tableStyleId>
              </a:tblPr>
              <a:tblGrid>
                <a:gridCol w="504000"/>
                <a:gridCol w="1188000"/>
                <a:gridCol w="3240000"/>
                <a:gridCol w="720000"/>
                <a:gridCol w="720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순위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공식 정의(요약)</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도전성 표면끼리의 직접 접합 (구리–구리)</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504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54.3%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절연성 표면끼리의 직접 접합 (산화막)</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488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52.6%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2224/08145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범프 없는 적층 칩 사이의 접합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 조립체의 다단계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연결 전 개별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25/0657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소자의 적층 배치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2224/05647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구리를 주성분으로 하는 접합 패드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24/03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2224/80357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표면과 같은 높이의 접합 계면</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graphicFrame>
        <p:nvGraphicFramePr>
          <p:cNvPr id="5" name="Table 4"/>
          <p:cNvGraphicFramePr>
            <a:graphicFrameLocks noGrp="1"/>
          </p:cNvGraphicFramePr>
          <p:nvPr/>
        </p:nvGraphicFramePr>
        <p:xfrm>
          <a:off x="7164000" y="954000"/>
          <a:ext cx="4488120" cy="2070000"/>
        </p:xfrm>
        <a:graphic>
          <a:graphicData uri="http://schemas.openxmlformats.org/drawingml/2006/table">
            <a:tbl>
              <a:tblPr firstRow="1">
                <a:tableStyleId>{2D5ABB26-0587-4C30-8999-92F81FD0307C}</a:tableStyleId>
              </a:tblPr>
              <a:tblGrid>
                <a:gridCol w="3552120"/>
                <a:gridCol w="936000"/>
              </a:tblGrid>
              <a:tr h="306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기호 쌍 (상위 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출원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2224/80895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24/08 – 2224/80895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528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24/80 – 2224/80896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418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7164000" y="3204000"/>
            <a:ext cx="4488120" cy="2016000"/>
          </a:xfrm>
          <a:prstGeom prst="rect">
            <a:avLst/>
          </a:prstGeom>
          <a:noFill/>
        </p:spPr>
        <p:txBody>
          <a:bodyPr wrap="square" lIns="0" rIns="0" tIns="0" bIns="0" anchor="t">
            <a:noAutofit/>
          </a:bodyPr>
          <a:lstStyle/>
          <a:p>
            <a:pPr algn="l" marL="0" indent="0">
              <a:lnSpc>
                <a:spcPts val="1500"/>
              </a:lnSpc>
              <a:spcBef>
                <a:spcPts val="0"/>
              </a:spcBef>
              <a:spcAft>
                <a:spcPts val="500"/>
              </a:spcAft>
              <a:buNone/>
            </a:pPr>
            <a:r>
              <a:rPr sz="1250" b="1" i="0" lang="ko-KR" altLang="en-US">
                <a:solidFill>
                  <a:srgbClr val="13294B"/>
                </a:solidFill>
                <a:latin typeface="맑은 고딕"/>
                <a:ea typeface="맑은 고딕"/>
                <a:cs typeface="맑은 고딕"/>
              </a:rPr>
              <a:t>강조한 네 기호 = 회귀 자료의 핵심 기술</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회귀 자료 네트워크의 연결 강도: 24/80 3,235 · 24/08 3,140 · 24/05 2,518 · 24/03 1,778 (상위 4개)</a:t>
            </a:r>
          </a:p>
          <a:p>
            <a:pPr algn="l" marL="180000" indent="-180000">
              <a:lnSpc>
                <a:spcPts val="1440"/>
              </a:lnSpc>
              <a:spcBef>
                <a:spcPts val="0"/>
              </a:spcBef>
              <a:spcAft>
                <a:spcPts val="400"/>
              </a:spcAft>
              <a:buClr>
                <a:srgbClr val="13294B"/>
              </a:buClr>
              <a:buSzPct val="70000"/>
              <a:buFont typeface="Arial"/>
              <a:buChar char="■"/>
            </a:pPr>
            <a:r>
              <a:rPr sz="1200" b="0" i="0" lang="ko-KR" altLang="en-US">
                <a:solidFill>
                  <a:srgbClr val="1E2532"/>
                </a:solidFill>
                <a:latin typeface="맑은 고딕"/>
                <a:ea typeface="맑은 고딕"/>
                <a:cs typeface="맑은 고딕"/>
              </a:rPr>
              <a:t>네 기호의 6개 쌍(186–439건)이 가장 강한 6개 연결</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다섯째 24/83(층 형태 커넥터)은 164건으로 기준 미달</a:t>
            </a:r>
          </a:p>
        </p:txBody>
      </p:sp>
      <p:sp>
        <p:nvSpPr>
          <p:cNvPr id="7" name="TextBox 6"/>
          <p:cNvSpPr txBox="1"/>
          <p:nvPr/>
        </p:nvSpPr>
        <p:spPr>
          <a:xfrm>
            <a:off x="540000" y="5400000"/>
            <a:ext cx="648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N = 928 · 기호 앞 H01L 생략 · 2224, 25 계열은 같은 출원의 전체 CPC를 별도 집계</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3.3  </a:t>
            </a:r>
            <a:r>
              <a:rPr sz="2200" b="1" i="0" lang="ko-KR" altLang="en-US">
                <a:solidFill>
                  <a:srgbClr val="13294B"/>
                </a:solidFill>
                <a:latin typeface="맑은 고딕"/>
                <a:ea typeface="맑은 고딕"/>
                <a:cs typeface="맑은 고딕"/>
              </a:rPr>
              <a:t>측정: 핵심 기술의 식별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접합 패드에 관한 기호 4개(24/03 · 24/05 · 24/08 · 24/80)를 하이브리드 본딩의 핵심 기술로 정의</a:t>
            </a:r>
          </a:p>
        </p:txBody>
      </p:sp>
      <p:pic>
        <p:nvPicPr>
          <p:cNvPr id="4" name="Picture 3" descr="network_ko.png"/>
          <p:cNvPicPr>
            <a:picLocks noChangeAspect="1"/>
          </p:cNvPicPr>
          <p:nvPr/>
        </p:nvPicPr>
        <p:blipFill>
          <a:blip r:embed="rId3"/>
          <a:stretch>
            <a:fillRect/>
          </a:stretch>
        </p:blipFill>
        <p:spPr>
          <a:xfrm>
            <a:off x="540000" y="882000"/>
            <a:ext cx="5040000" cy="4160000"/>
          </a:xfrm>
          <a:prstGeom prst="rect">
            <a:avLst/>
          </a:prstGeom>
        </p:spPr>
      </p:pic>
      <p:sp>
        <p:nvSpPr>
          <p:cNvPr id="5" name="TextBox 4"/>
          <p:cNvSpPr txBox="1"/>
          <p:nvPr/>
        </p:nvSpPr>
        <p:spPr>
          <a:xfrm>
            <a:off x="540000" y="5006000"/>
            <a:ext cx="5040000" cy="198000"/>
          </a:xfrm>
          <a:prstGeom prst="rect">
            <a:avLst/>
          </a:prstGeom>
          <a:noFill/>
        </p:spPr>
        <p:txBody>
          <a:bodyPr wrap="square" lIns="0" rIns="0" tIns="0" bIns="0" anchor="ctr">
            <a:noAutofit/>
          </a:bodyPr>
          <a:lstStyle/>
          <a:p>
            <a:pPr algn="ctr"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회귀 자료의 기술 네트워크 (출원 30건 이상 기호, 논문 그림 4)</a:t>
            </a:r>
          </a:p>
        </p:txBody>
      </p:sp>
      <p:sp>
        <p:nvSpPr>
          <p:cNvPr id="6" name="TextBox 5"/>
          <p:cNvSpPr txBox="1"/>
          <p:nvPr/>
        </p:nvSpPr>
        <p:spPr>
          <a:xfrm>
            <a:off x="5904000" y="936000"/>
            <a:ext cx="574812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핵심 기술: 출원 200건 이상에 부여된 접합 기호</a:t>
            </a:r>
          </a:p>
        </p:txBody>
      </p:sp>
      <p:graphicFrame>
        <p:nvGraphicFramePr>
          <p:cNvPr id="7" name="Table 6"/>
          <p:cNvGraphicFramePr>
            <a:graphicFrameLocks noGrp="1"/>
          </p:cNvGraphicFramePr>
          <p:nvPr/>
        </p:nvGraphicFramePr>
        <p:xfrm>
          <a:off x="5904000" y="1296000"/>
          <a:ext cx="5748120" cy="1854000"/>
        </p:xfrm>
        <a:graphic>
          <a:graphicData uri="http://schemas.openxmlformats.org/drawingml/2006/table">
            <a:tbl>
              <a:tblPr firstRow="1">
                <a:tableStyleId>{2D5ABB26-0587-4C30-8999-92F81FD0307C}</a:tableStyleId>
              </a:tblPr>
              <a:tblGrid>
                <a:gridCol w="1404000"/>
                <a:gridCol w="3048120"/>
                <a:gridCol w="1296000"/>
              </a:tblGrid>
              <a:tr h="342000">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CPC 기호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출원 수(비중)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24/80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패드를 이용한 연결 방법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529 (57.0%)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513 (55.3%)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전 접합 패드의 구조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350 (37.7%)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H01L 24/03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접합 패드의 제조 방법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222 (23.9%)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Rounded Rectangle 7"/>
          <p:cNvSpPr/>
          <p:nvPr/>
        </p:nvSpPr>
        <p:spPr>
          <a:xfrm>
            <a:off x="5904000" y="3330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클러스터</a:t>
            </a:r>
          </a:p>
        </p:txBody>
      </p:sp>
      <p:sp>
        <p:nvSpPr>
          <p:cNvPr id="9" name="TextBox 8"/>
          <p:cNvSpPr txBox="1"/>
          <p:nvPr/>
        </p:nvSpPr>
        <p:spPr>
          <a:xfrm>
            <a:off x="7020000" y="3330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네 기호는 출원 200건 이상에 부여된 H01L24 기호 전부</a:t>
            </a:r>
          </a:p>
        </p:txBody>
      </p:sp>
      <p:sp>
        <p:nvSpPr>
          <p:cNvPr id="10" name="Rounded Rectangle 9"/>
          <p:cNvSpPr/>
          <p:nvPr/>
        </p:nvSpPr>
        <p:spPr>
          <a:xfrm>
            <a:off x="5904000" y="3852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네트워크</a:t>
            </a:r>
          </a:p>
        </p:txBody>
      </p:sp>
      <p:sp>
        <p:nvSpPr>
          <p:cNvPr id="11" name="TextBox 10"/>
          <p:cNvSpPr txBox="1"/>
          <p:nvPr/>
        </p:nvSpPr>
        <p:spPr>
          <a:xfrm>
            <a:off x="7020000" y="3852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연결 강도 상위 4개 기호 = 이 네 기호, 네 기호의 6개 쌍 = 가장 강한 6개 연결</a:t>
            </a:r>
          </a:p>
        </p:txBody>
      </p:sp>
      <p:sp>
        <p:nvSpPr>
          <p:cNvPr id="12" name="Rounded Rectangle 11"/>
          <p:cNvSpPr/>
          <p:nvPr/>
        </p:nvSpPr>
        <p:spPr>
          <a:xfrm>
            <a:off x="5904000" y="4374000"/>
            <a:ext cx="1008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CPC 체계</a:t>
            </a:r>
          </a:p>
        </p:txBody>
      </p:sp>
      <p:sp>
        <p:nvSpPr>
          <p:cNvPr id="13" name="TextBox 12"/>
          <p:cNvSpPr txBox="1"/>
          <p:nvPr/>
        </p:nvSpPr>
        <p:spPr>
          <a:xfrm>
            <a:off x="7020000" y="4374000"/>
            <a:ext cx="4632120" cy="37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모두 접합 패드 그룹: 범프 · 층 · 와이어 없이 패드끼리 연결</a:t>
            </a:r>
          </a:p>
        </p:txBody>
      </p:sp>
      <p:sp>
        <p:nvSpPr>
          <p:cNvPr id="14" name="Rounded Rectangle 13"/>
          <p:cNvSpPr/>
          <p:nvPr/>
        </p:nvSpPr>
        <p:spPr>
          <a:xfrm>
            <a:off x="5904000" y="4986000"/>
            <a:ext cx="5748120" cy="774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15" name="TextBox 14"/>
          <p:cNvSpPr txBox="1"/>
          <p:nvPr/>
        </p:nvSpPr>
        <p:spPr>
          <a:xfrm>
            <a:off x="6048000" y="4986000"/>
            <a:ext cx="5460120" cy="774000"/>
          </a:xfrm>
          <a:prstGeom prst="rect">
            <a:avLst/>
          </a:prstGeom>
          <a:noFill/>
        </p:spPr>
        <p:txBody>
          <a:bodyPr wrap="square" lIns="0" rIns="0" tIns="0" bIns="0" anchor="ctr">
            <a:noAutofit/>
          </a:bodyPr>
          <a:lstStyle/>
          <a:p>
            <a:pPr algn="ctr"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763건 중 620건(81.3%)이 핵심 기술 포함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3.4  </a:t>
            </a:r>
            <a:r>
              <a:rPr sz="2200" b="1" i="0" lang="ko-KR" altLang="en-US">
                <a:solidFill>
                  <a:srgbClr val="13294B"/>
                </a:solidFill>
                <a:latin typeface="맑은 고딕"/>
                <a:ea typeface="맑은 고딕"/>
                <a:cs typeface="맑은 고딕"/>
              </a:rPr>
              <a:t>분석 방법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모든 모형에 출원청을 통제하고, 계수는 인과효과가 아닌 조건부 연관으로 해석한다</a:t>
            </a:r>
          </a:p>
        </p:txBody>
      </p:sp>
      <p:sp>
        <p:nvSpPr>
          <p:cNvPr id="4" name="Rectangle 3"/>
          <p:cNvSpPr/>
          <p:nvPr/>
        </p:nvSpPr>
        <p:spPr>
          <a:xfrm>
            <a:off x="642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5" name="Rectangle 4"/>
          <p:cNvSpPr/>
          <p:nvPr/>
        </p:nvSpPr>
        <p:spPr>
          <a:xfrm>
            <a:off x="822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1 · 다항 로짓 (주모형)</a:t>
            </a:r>
          </a:p>
        </p:txBody>
      </p:sp>
      <p:sp>
        <p:nvSpPr>
          <p:cNvPr id="6" name="TextBox 5"/>
          <p:cNvSpPr txBox="1"/>
          <p:nvPr/>
        </p:nvSpPr>
        <p:spPr>
          <a:xfrm>
            <a:off x="786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공동분류 유형 (기준 = 접합 단독형)</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상대위험비(RRR) · 예측확률</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7" name="Rounded Rectangle 6"/>
          <p:cNvSpPr/>
          <p:nvPr/>
        </p:nvSpPr>
        <p:spPr>
          <a:xfrm>
            <a:off x="2910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8" name="Rectangle 7"/>
          <p:cNvSpPr/>
          <p:nvPr/>
        </p:nvSpPr>
        <p:spPr>
          <a:xfrm>
            <a:off x="4368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9" name="Rectangle 8"/>
          <p:cNvSpPr/>
          <p:nvPr/>
        </p:nvSpPr>
        <p:spPr>
          <a:xfrm>
            <a:off x="4548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2 · 이항 로짓 (보완)</a:t>
            </a:r>
          </a:p>
        </p:txBody>
      </p:sp>
      <p:sp>
        <p:nvSpPr>
          <p:cNvPr id="10" name="TextBox 9"/>
          <p:cNvSpPr txBox="1"/>
          <p:nvPr/>
        </p:nvSpPr>
        <p:spPr>
          <a:xfrm>
            <a:off x="4512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제조공정 분류 보유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기술범위, 출원연도</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928건</a:t>
            </a:r>
          </a:p>
        </p:txBody>
      </p:sp>
      <p:sp>
        <p:nvSpPr>
          <p:cNvPr id="11" name="Rounded Rectangle 10"/>
          <p:cNvSpPr/>
          <p:nvPr/>
        </p:nvSpPr>
        <p:spPr>
          <a:xfrm>
            <a:off x="6636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RQ1 · RQ2</a:t>
            </a:r>
          </a:p>
        </p:txBody>
      </p:sp>
      <p:sp>
        <p:nvSpPr>
          <p:cNvPr id="12" name="Rectangle 11"/>
          <p:cNvSpPr/>
          <p:nvPr/>
        </p:nvSpPr>
        <p:spPr>
          <a:xfrm>
            <a:off x="8094060" y="1134000"/>
            <a:ext cx="3456000" cy="2592000"/>
          </a:xfrm>
          <a:prstGeom prst="rect">
            <a:avLst/>
          </a:prstGeom>
          <a:solidFill>
            <a:srgbClr val="FFFFFF"/>
          </a:solidFill>
          <a:ln w="15875">
            <a:solidFill>
              <a:srgbClr val="13294B"/>
            </a:solidFill>
          </a:ln>
        </p:spPr>
        <p:txBody>
          <a:bodyPr rtlCol="0" anchor="ctr" lIns="36000" rIns="36000" tIns="36000" bIns="36000"/>
          <a:lstStyle/>
          <a:p>
            <a:pPr algn="ctr"/>
          </a:p>
        </p:txBody>
      </p:sp>
      <p:sp>
        <p:nvSpPr>
          <p:cNvPr id="13" name="Rectangle 12"/>
          <p:cNvSpPr/>
          <p:nvPr/>
        </p:nvSpPr>
        <p:spPr>
          <a:xfrm>
            <a:off x="8274060" y="972000"/>
            <a:ext cx="3096000" cy="324000"/>
          </a:xfrm>
          <a:prstGeom prst="rect">
            <a:avLst/>
          </a:prstGeom>
          <a:solidFill>
            <a:srgbClr val="13294B"/>
          </a:solidFill>
          <a:ln>
            <a:noFill/>
          </a:ln>
        </p:spPr>
        <p:txBody>
          <a:bodyPr rtlCol="0" anchor="ctr" lIns="18000" rIns="180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모형 3 · 이항 로짓</a:t>
            </a:r>
          </a:p>
        </p:txBody>
      </p:sp>
      <p:sp>
        <p:nvSpPr>
          <p:cNvPr id="14" name="TextBox 13"/>
          <p:cNvSpPr txBox="1"/>
          <p:nvPr/>
        </p:nvSpPr>
        <p:spPr>
          <a:xfrm>
            <a:off x="8238060" y="1386000"/>
            <a:ext cx="3168000" cy="2268000"/>
          </a:xfrm>
          <a:prstGeom prst="rect">
            <a:avLst/>
          </a:prstGeom>
          <a:noFill/>
        </p:spPr>
        <p:txBody>
          <a:bodyPr wrap="square" lIns="0" rIns="0" tIns="0" bIns="0" anchor="t">
            <a:noAutofit/>
          </a:bodyPr>
          <a:lstStyle/>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종속변수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통합형 여부</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설명변수</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핵심 기술 × 출원 시기</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보고</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시기별 승산비(OR)</a:t>
            </a:r>
          </a:p>
          <a:p>
            <a:pPr algn="l"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표본</a:t>
            </a:r>
          </a:p>
          <a:p>
            <a:pPr algn="l" marL="0" indent="0">
              <a:lnSpc>
                <a:spcPts val="1739"/>
              </a:lnSpc>
              <a:spcBef>
                <a:spcPts val="0"/>
              </a:spcBef>
              <a:spcAft>
                <a:spcPts val="700"/>
              </a:spcAft>
              <a:buNone/>
            </a:pPr>
            <a:r>
              <a:rPr sz="1450" b="1" i="0" lang="ko-KR" altLang="en-US">
                <a:solidFill>
                  <a:srgbClr val="1E2532"/>
                </a:solidFill>
                <a:latin typeface="맑은 고딕"/>
                <a:ea typeface="맑은 고딕"/>
                <a:cs typeface="맑은 고딕"/>
              </a:rPr>
              <a:t>접합 출원 763건</a:t>
            </a:r>
          </a:p>
        </p:txBody>
      </p:sp>
      <p:sp>
        <p:nvSpPr>
          <p:cNvPr id="15" name="Rounded Rectangle 14"/>
          <p:cNvSpPr/>
          <p:nvPr/>
        </p:nvSpPr>
        <p:spPr>
          <a:xfrm>
            <a:off x="10362060" y="3330000"/>
            <a:ext cx="1044000" cy="288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RQ3</a:t>
            </a:r>
          </a:p>
        </p:txBody>
      </p:sp>
      <p:sp>
        <p:nvSpPr>
          <p:cNvPr id="16" name="Rounded Rectangle 15"/>
          <p:cNvSpPr/>
          <p:nvPr/>
        </p:nvSpPr>
        <p:spPr>
          <a:xfrm>
            <a:off x="54000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Rounded Rectangle 16"/>
          <p:cNvSpPr/>
          <p:nvPr/>
        </p:nvSpPr>
        <p:spPr>
          <a:xfrm>
            <a:off x="66600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a:t>
            </a:r>
          </a:p>
        </p:txBody>
      </p:sp>
      <p:sp>
        <p:nvSpPr>
          <p:cNvPr id="18" name="TextBox 17"/>
          <p:cNvSpPr txBox="1"/>
          <p:nvPr/>
        </p:nvSpPr>
        <p:spPr>
          <a:xfrm>
            <a:off x="225000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두 클래스 안의 서로 다른 CPC 서브그룹 수 (평균 5.69)</a:t>
            </a:r>
          </a:p>
        </p:txBody>
      </p:sp>
      <p:sp>
        <p:nvSpPr>
          <p:cNvPr id="19" name="Rounded Rectangle 18"/>
          <p:cNvSpPr/>
          <p:nvPr/>
        </p:nvSpPr>
        <p:spPr>
          <a:xfrm>
            <a:off x="6204060" y="396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Rounded Rectangle 19"/>
          <p:cNvSpPr/>
          <p:nvPr/>
        </p:nvSpPr>
        <p:spPr>
          <a:xfrm>
            <a:off x="6330060" y="412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p:txBody>
      </p:sp>
      <p:sp>
        <p:nvSpPr>
          <p:cNvPr id="21" name="TextBox 20"/>
          <p:cNvSpPr txBox="1"/>
          <p:nvPr/>
        </p:nvSpPr>
        <p:spPr>
          <a:xfrm>
            <a:off x="7914060" y="396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–2014 · 2015–2019 · 2020–2024 (첫 시기: 출원 희소)</a:t>
            </a:r>
          </a:p>
        </p:txBody>
      </p:sp>
      <p:sp>
        <p:nvSpPr>
          <p:cNvPr id="22" name="Rounded Rectangle 21"/>
          <p:cNvSpPr/>
          <p:nvPr/>
        </p:nvSpPr>
        <p:spPr>
          <a:xfrm>
            <a:off x="54000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3" name="Rounded Rectangle 22"/>
          <p:cNvSpPr/>
          <p:nvPr/>
        </p:nvSpPr>
        <p:spPr>
          <a:xfrm>
            <a:off x="66600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통제변수</a:t>
            </a:r>
          </a:p>
        </p:txBody>
      </p:sp>
      <p:sp>
        <p:nvSpPr>
          <p:cNvPr id="24" name="TextBox 23"/>
          <p:cNvSpPr txBox="1"/>
          <p:nvPr/>
        </p:nvSpPr>
        <p:spPr>
          <a:xfrm>
            <a:off x="225000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출원청 8개 (US · CN · KR · TW · JP · EP · WO · 기타)</a:t>
            </a:r>
          </a:p>
        </p:txBody>
      </p:sp>
      <p:sp>
        <p:nvSpPr>
          <p:cNvPr id="25" name="Rounded Rectangle 24"/>
          <p:cNvSpPr/>
          <p:nvPr/>
        </p:nvSpPr>
        <p:spPr>
          <a:xfrm>
            <a:off x="6204060" y="4770000"/>
            <a:ext cx="5448060" cy="7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Rounded Rectangle 25"/>
          <p:cNvSpPr/>
          <p:nvPr/>
        </p:nvSpPr>
        <p:spPr>
          <a:xfrm>
            <a:off x="6330060" y="4932000"/>
            <a:ext cx="1476000" cy="378000"/>
          </a:xfrm>
          <a:prstGeom prst="roundRect">
            <a:avLst>
              <a:gd name="adj" fmla="val 50000"/>
            </a:avLst>
          </a:prstGeom>
          <a:solidFill>
            <a:srgbClr val="13294B"/>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보조 지표 (RQ3)</a:t>
            </a:r>
          </a:p>
        </p:txBody>
      </p:sp>
      <p:sp>
        <p:nvSpPr>
          <p:cNvPr id="27" name="TextBox 26"/>
          <p:cNvSpPr txBox="1"/>
          <p:nvPr/>
        </p:nvSpPr>
        <p:spPr>
          <a:xfrm>
            <a:off x="7914060" y="4770000"/>
            <a:ext cx="3630060" cy="702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Jaccard 계수(영역별 결합 강도) · 매개 중심성(연결 기호)</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수준</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두 공정 단계를 함께 담은 통합형이 가장 많았다: 공정 단계 간 융합은 예외가 아니다</a:t>
            </a:r>
          </a:p>
        </p:txBody>
      </p:sp>
      <p:graphicFrame>
        <p:nvGraphicFramePr>
          <p:cNvPr id="4" name="Chart 3"/>
          <p:cNvGraphicFramePr>
            <a:graphicFrameLocks noGrp="1"/>
          </p:cNvGraphicFramePr>
          <p:nvPr/>
        </p:nvGraphicFramePr>
        <p:xfrm>
          <a:off x="612000" y="918000"/>
          <a:ext cx="4176000" cy="4680000"/>
        </p:xfrm>
        <a:graphic>
          <a:graphicData uri="http://schemas.openxmlformats.org/drawingml/2006/chart">
            <c:chart xmlns:c="http://schemas.openxmlformats.org/drawingml/2006/chart" r:id="rId3"/>
          </a:graphicData>
        </a:graphic>
      </p:graphicFrame>
      <p:sp>
        <p:nvSpPr>
          <p:cNvPr id="5" name="TextBox 4"/>
          <p:cNvSpPr txBox="1"/>
          <p:nvPr/>
        </p:nvSpPr>
        <p:spPr>
          <a:xfrm>
            <a:off x="612000" y="2718000"/>
            <a:ext cx="4176000" cy="1080000"/>
          </a:xfrm>
          <a:prstGeom prst="rect">
            <a:avLst/>
          </a:prstGeom>
          <a:noFill/>
        </p:spPr>
        <p:txBody>
          <a:bodyPr wrap="square" lIns="0" rIns="0" tIns="0" bIns="0" anchor="ctr">
            <a:noAutofit/>
          </a:bodyPr>
          <a:lstStyle/>
          <a:p>
            <a:pPr algn="ctr" marL="0" indent="0">
              <a:lnSpc>
                <a:spcPts val="2400"/>
              </a:lnSpc>
              <a:spcBef>
                <a:spcPts val="0"/>
              </a:spcBef>
              <a:spcAft>
                <a:spcPts val="0"/>
              </a:spcAft>
              <a:buNone/>
            </a:pPr>
            <a:r>
              <a:rPr sz="2000" b="1" i="0" lang="ko-KR" altLang="en-US">
                <a:solidFill>
                  <a:srgbClr val="13294B"/>
                </a:solidFill>
                <a:latin typeface="맑은 고딕"/>
                <a:ea typeface="맑은 고딕"/>
                <a:cs typeface="맑은 고딕"/>
              </a:rPr>
              <a:t>N = 928</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출원</a:t>
            </a:r>
          </a:p>
        </p:txBody>
      </p:sp>
      <p:sp>
        <p:nvSpPr>
          <p:cNvPr id="6" name="Rounded Rectangle 5"/>
          <p:cNvSpPr/>
          <p:nvPr/>
        </p:nvSpPr>
        <p:spPr>
          <a:xfrm>
            <a:off x="5004000" y="1566000"/>
            <a:ext cx="198000" cy="756000"/>
          </a:xfrm>
          <a:prstGeom prst="roundRect">
            <a:avLst>
              <a:gd name="adj" fmla="val 30000"/>
            </a:avLst>
          </a:prstGeom>
          <a:solidFill>
            <a:srgbClr val="7C3AED"/>
          </a:solidFill>
          <a:ln>
            <a:noFill/>
          </a:ln>
        </p:spPr>
        <p:txBody>
          <a:bodyPr rtlCol="0" anchor="ctr" lIns="36000" rIns="36000" tIns="36000" bIns="36000"/>
          <a:lstStyle/>
          <a:p>
            <a:pPr algn="ctr"/>
          </a:p>
        </p:txBody>
      </p:sp>
      <p:sp>
        <p:nvSpPr>
          <p:cNvPr id="7" name="TextBox 6"/>
          <p:cNvSpPr txBox="1"/>
          <p:nvPr/>
        </p:nvSpPr>
        <p:spPr>
          <a:xfrm>
            <a:off x="5328000" y="1512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통합형</a:t>
            </a:r>
          </a:p>
        </p:txBody>
      </p:sp>
      <p:sp>
        <p:nvSpPr>
          <p:cNvPr id="8" name="TextBox 7"/>
          <p:cNvSpPr txBox="1"/>
          <p:nvPr/>
        </p:nvSpPr>
        <p:spPr>
          <a:xfrm>
            <a:off x="5328000" y="1836000"/>
            <a:ext cx="2160000" cy="504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ltLang="en-US">
                <a:solidFill>
                  <a:srgbClr val="1E2532"/>
                </a:solidFill>
                <a:latin typeface="맑은 고딕"/>
                <a:ea typeface="맑은 고딕"/>
                <a:cs typeface="맑은 고딕"/>
              </a:rPr>
              <a:t>45.8%</a:t>
            </a:r>
            <a:r>
              <a:rPr sz="1300" b="0" i="0" lang="ko-KR" altLang="en-US">
                <a:solidFill>
                  <a:srgbClr val="5B6475"/>
                </a:solidFill>
                <a:latin typeface="맑은 고딕"/>
                <a:ea typeface="맑은 고딕"/>
                <a:cs typeface="맑은 고딕"/>
              </a:rPr>
              <a:t>  425건</a:t>
            </a:r>
          </a:p>
        </p:txBody>
      </p:sp>
      <p:sp>
        <p:nvSpPr>
          <p:cNvPr id="9" name="Rounded Rectangle 8"/>
          <p:cNvSpPr/>
          <p:nvPr/>
        </p:nvSpPr>
        <p:spPr>
          <a:xfrm>
            <a:off x="5004000" y="2718000"/>
            <a:ext cx="198000" cy="756000"/>
          </a:xfrm>
          <a:prstGeom prst="roundRect">
            <a:avLst>
              <a:gd name="adj" fmla="val 30000"/>
            </a:avLst>
          </a:prstGeom>
          <a:solidFill>
            <a:srgbClr val="EA7A28"/>
          </a:solidFill>
          <a:ln>
            <a:noFill/>
          </a:ln>
        </p:spPr>
        <p:txBody>
          <a:bodyPr rtlCol="0" anchor="ctr" lIns="36000" rIns="36000" tIns="36000" bIns="36000"/>
          <a:lstStyle/>
          <a:p>
            <a:pPr algn="ctr"/>
          </a:p>
        </p:txBody>
      </p:sp>
      <p:sp>
        <p:nvSpPr>
          <p:cNvPr id="10" name="TextBox 9"/>
          <p:cNvSpPr txBox="1"/>
          <p:nvPr/>
        </p:nvSpPr>
        <p:spPr>
          <a:xfrm>
            <a:off x="5328000" y="2664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a:t>
            </a:r>
          </a:p>
        </p:txBody>
      </p:sp>
      <p:sp>
        <p:nvSpPr>
          <p:cNvPr id="11" name="TextBox 10"/>
          <p:cNvSpPr txBox="1"/>
          <p:nvPr/>
        </p:nvSpPr>
        <p:spPr>
          <a:xfrm>
            <a:off x="5328000" y="2988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36.4%</a:t>
            </a:r>
            <a:r>
              <a:rPr sz="1300" b="0" i="0" lang="ko-KR" altLang="en-US">
                <a:solidFill>
                  <a:srgbClr val="5B6475"/>
                </a:solidFill>
                <a:latin typeface="맑은 고딕"/>
                <a:ea typeface="맑은 고딕"/>
                <a:cs typeface="맑은 고딕"/>
              </a:rPr>
              <a:t>  338건</a:t>
            </a:r>
          </a:p>
        </p:txBody>
      </p:sp>
      <p:sp>
        <p:nvSpPr>
          <p:cNvPr id="12" name="Rounded Rectangle 11"/>
          <p:cNvSpPr/>
          <p:nvPr/>
        </p:nvSpPr>
        <p:spPr>
          <a:xfrm>
            <a:off x="5004000" y="3870000"/>
            <a:ext cx="198000" cy="756000"/>
          </a:xfrm>
          <a:prstGeom prst="roundRect">
            <a:avLst>
              <a:gd name="adj" fmla="val 30000"/>
            </a:avLst>
          </a:prstGeom>
          <a:solidFill>
            <a:srgbClr val="2563C9"/>
          </a:solidFill>
          <a:ln>
            <a:noFill/>
          </a:ln>
        </p:spPr>
        <p:txBody>
          <a:bodyPr rtlCol="0" anchor="ctr" lIns="36000" rIns="36000" tIns="36000" bIns="36000"/>
          <a:lstStyle/>
          <a:p>
            <a:pPr algn="ctr"/>
          </a:p>
        </p:txBody>
      </p:sp>
      <p:sp>
        <p:nvSpPr>
          <p:cNvPr id="13" name="TextBox 12"/>
          <p:cNvSpPr txBox="1"/>
          <p:nvPr/>
        </p:nvSpPr>
        <p:spPr>
          <a:xfrm>
            <a:off x="5328000" y="3816000"/>
            <a:ext cx="2160000" cy="324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2563C9"/>
                </a:solidFill>
                <a:latin typeface="맑은 고딕"/>
                <a:ea typeface="맑은 고딕"/>
                <a:cs typeface="맑은 고딕"/>
              </a:rPr>
              <a:t>공정 단독형</a:t>
            </a:r>
          </a:p>
        </p:txBody>
      </p:sp>
      <p:sp>
        <p:nvSpPr>
          <p:cNvPr id="14" name="TextBox 13"/>
          <p:cNvSpPr txBox="1"/>
          <p:nvPr/>
        </p:nvSpPr>
        <p:spPr>
          <a:xfrm>
            <a:off x="5328000" y="4140000"/>
            <a:ext cx="2160000" cy="504000"/>
          </a:xfrm>
          <a:prstGeom prst="rect">
            <a:avLst/>
          </a:prstGeom>
          <a:noFill/>
        </p:spPr>
        <p:txBody>
          <a:bodyPr wrap="square" lIns="0" rIns="0" tIns="0" bIns="0" anchor="ctr">
            <a:noAutofit/>
          </a:bodyPr>
          <a:lstStyle/>
          <a:p>
            <a:pPr algn="l" marL="0" indent="0">
              <a:lnSpc>
                <a:spcPts val="2640"/>
              </a:lnSpc>
              <a:spcBef>
                <a:spcPts val="0"/>
              </a:spcBef>
              <a:spcAft>
                <a:spcPts val="0"/>
              </a:spcAft>
              <a:buNone/>
            </a:pPr>
            <a:r>
              <a:rPr sz="2200" b="1" i="0" lang="ko-KR" altLang="en-US">
                <a:solidFill>
                  <a:srgbClr val="1E2532"/>
                </a:solidFill>
                <a:latin typeface="맑은 고딕"/>
                <a:ea typeface="맑은 고딕"/>
                <a:cs typeface="맑은 고딕"/>
              </a:rPr>
              <a:t>17.8%</a:t>
            </a:r>
            <a:r>
              <a:rPr sz="1300" b="0" i="0" lang="ko-KR" altLang="en-US">
                <a:solidFill>
                  <a:srgbClr val="5B6475"/>
                </a:solidFill>
                <a:latin typeface="맑은 고딕"/>
                <a:ea typeface="맑은 고딕"/>
                <a:cs typeface="맑은 고딕"/>
              </a:rPr>
              <a:t>  165건</a:t>
            </a:r>
          </a:p>
        </p:txBody>
      </p:sp>
      <p:sp>
        <p:nvSpPr>
          <p:cNvPr id="15" name="Rounded Rectangle 14"/>
          <p:cNvSpPr/>
          <p:nvPr/>
        </p:nvSpPr>
        <p:spPr>
          <a:xfrm>
            <a:off x="7524000" y="990000"/>
            <a:ext cx="412812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704000" y="1116000"/>
            <a:ext cx="376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17" name="TextBox 16"/>
          <p:cNvSpPr txBox="1"/>
          <p:nvPr/>
        </p:nvSpPr>
        <p:spPr>
          <a:xfrm>
            <a:off x="7704000" y="1422000"/>
            <a:ext cx="3768120" cy="684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8" name="Connector 17"/>
          <p:cNvCxnSpPr/>
          <p:nvPr/>
        </p:nvCxnSpPr>
        <p:spPr>
          <a:xfrm>
            <a:off x="7704000" y="2160000"/>
            <a:ext cx="3768120" cy="0"/>
          </a:xfrm>
          <a:prstGeom prst="line">
            <a:avLst/>
          </a:prstGeom>
          <a:ln w="12700">
            <a:solidFill>
              <a:srgbClr val="D5DBE3"/>
            </a:solidFill>
          </a:ln>
        </p:spPr>
      </p:cxnSp>
      <p:sp>
        <p:nvSpPr>
          <p:cNvPr id="19" name="TextBox 18"/>
          <p:cNvSpPr txBox="1"/>
          <p:nvPr/>
        </p:nvSpPr>
        <p:spPr>
          <a:xfrm>
            <a:off x="7704000" y="2232000"/>
            <a:ext cx="3768120" cy="2124000"/>
          </a:xfrm>
          <a:prstGeom prst="rect">
            <a:avLst/>
          </a:prstGeom>
          <a:noFill/>
        </p:spPr>
        <p:txBody>
          <a:bodyPr wrap="square" lIns="0" rIns="0" tIns="0" bIns="0" anchor="t">
            <a:noAutofit/>
          </a:bodyPr>
          <a:lstStyle/>
          <a:p>
            <a:pPr algn="l" marL="0" indent="0">
              <a:lnSpc>
                <a:spcPts val="1920"/>
              </a:lnSpc>
              <a:spcBef>
                <a:spcPts val="0"/>
              </a:spcBef>
              <a:spcAft>
                <a:spcPts val="800"/>
              </a:spcAft>
              <a:buNone/>
            </a:pPr>
            <a:r>
              <a:rPr sz="1600" b="1" i="0" lang="ko-KR" altLang="en-US">
                <a:solidFill>
                  <a:srgbClr val="13294B"/>
                </a:solidFill>
                <a:latin typeface="맑은 고딕"/>
                <a:ea typeface="맑은 고딕"/>
                <a:cs typeface="맑은 고딕"/>
              </a:rPr>
              <a:t>통합형 45.8% — 가장 큰 비중</a:t>
            </a:r>
          </a:p>
          <a:p>
            <a:pPr algn="l" marL="180000" indent="-180000">
              <a:lnSpc>
                <a:spcPts val="1620"/>
              </a:lnSpc>
              <a:spcBef>
                <a:spcPts val="0"/>
              </a:spcBef>
              <a:spcAft>
                <a:spcPts val="500"/>
              </a:spcAft>
              <a:buClr>
                <a:srgbClr val="13294B"/>
              </a:buClr>
              <a:buSzPct val="70000"/>
              <a:buFont typeface="Arial"/>
              <a:buChar char="■"/>
            </a:pPr>
            <a:r>
              <a:rPr sz="1350" b="1" i="0" lang="ko-KR" altLang="en-US">
                <a:solidFill>
                  <a:srgbClr val="1E2532"/>
                </a:solidFill>
                <a:latin typeface="맑은 고딕"/>
                <a:ea typeface="맑은 고딕"/>
                <a:cs typeface="맑은 고딕"/>
              </a:rPr>
              <a:t>좁은 정의(패키징 단계 공정 제외)에서도 37.2%</a:t>
            </a:r>
          </a:p>
          <a:p>
            <a:pPr algn="l" marL="180000" indent="-180000">
              <a:lnSpc>
                <a:spcPts val="1620"/>
              </a:lnSpc>
              <a:spcBef>
                <a:spcPts val="0"/>
              </a:spcBef>
              <a:spcAft>
                <a:spcPts val="500"/>
              </a:spcAft>
              <a:buClr>
                <a:srgbClr val="13294B"/>
              </a:buClr>
              <a:buSzPct val="70000"/>
              <a:buFont typeface="Arial"/>
              <a:buChar char="■"/>
            </a:pPr>
            <a:r>
              <a:rPr sz="1350" b="0" i="0" lang="ko-KR" altLang="en-US">
                <a:solidFill>
                  <a:srgbClr val="1E2532"/>
                </a:solidFill>
                <a:latin typeface="맑은 고딕"/>
                <a:ea typeface="맑은 고딕"/>
                <a:cs typeface="맑은 고딕"/>
              </a:rPr>
              <a:t>제조공정 기호 보유 출원 590건 (63.6%)</a:t>
            </a:r>
          </a:p>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 공정 단계 간 융합은 예외가 아님</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4.1  </a:t>
            </a:r>
            <a:r>
              <a:rPr sz="2200" b="1" i="0" lang="ko-KR" altLang="en-US">
                <a:solidFill>
                  <a:srgbClr val="13294B"/>
                </a:solidFill>
                <a:latin typeface="맑은 고딕"/>
                <a:ea typeface="맑은 고딕"/>
                <a:cs typeface="맑은 고딕"/>
              </a:rPr>
              <a:t>RQ1) 융합의 형태: 기술범위와 통합형</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세부 기술을 더 다양하게 포함한 출원일수록 통합형일 가능성이 높았다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1764000"/>
        </p:xfrm>
        <a:graphic>
          <a:graphicData uri="http://schemas.openxmlformats.org/drawingml/2006/table">
            <a:tbl>
              <a:tblPr firstRow="1">
                <a:tableStyleId>{2D5ABB26-0587-4C30-8999-92F81FD0307C}</a:tableStyleId>
              </a:tblPr>
              <a:tblGrid>
                <a:gridCol w="990000"/>
                <a:gridCol w="2454120"/>
                <a:gridCol w="1440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모형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관계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rowSpan="2">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다항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RRR 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vMerge="1">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RRR 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이항 로짓</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기술범위 →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OR 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0000">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예측확률</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통합형: 범위 3 →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0.26 → 0.68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6" name="TextBox 5"/>
          <p:cNvSpPr txBox="1"/>
          <p:nvPr/>
        </p:nvSpPr>
        <p:spPr>
          <a:xfrm>
            <a:off x="6768000" y="279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 p &lt; 0.01, ** p &lt; 0.05 · 다항 로짓 기준 범주 = 접합 단독형 · 출원청 통제</a:t>
            </a:r>
          </a:p>
        </p:txBody>
      </p:sp>
      <p:sp>
        <p:nvSpPr>
          <p:cNvPr id="7" name="Rounded Rectangle 6"/>
          <p:cNvSpPr/>
          <p:nvPr/>
        </p:nvSpPr>
        <p:spPr>
          <a:xfrm>
            <a:off x="6768000" y="3078000"/>
            <a:ext cx="4884120" cy="282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20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p>
        </p:txBody>
      </p:sp>
      <p:sp>
        <p:nvSpPr>
          <p:cNvPr id="9" name="TextBox 8"/>
          <p:cNvSpPr txBox="1"/>
          <p:nvPr/>
        </p:nvSpPr>
        <p:spPr>
          <a:xfrm>
            <a:off x="6948000" y="351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하이브리드 본딩 기술에서 제조공정과 접합 기술 간의 융합이 어느 정도로, 어떠한 형태로 나타나는가?</a:t>
            </a:r>
          </a:p>
        </p:txBody>
      </p:sp>
      <p:cxnSp>
        <p:nvCxnSpPr>
          <p:cNvPr id="10" name="Connector 9"/>
          <p:cNvCxnSpPr/>
          <p:nvPr/>
        </p:nvCxnSpPr>
        <p:spPr>
          <a:xfrm>
            <a:off x="6948000" y="4140000"/>
            <a:ext cx="4524120" cy="0"/>
          </a:xfrm>
          <a:prstGeom prst="line">
            <a:avLst/>
          </a:prstGeom>
          <a:ln w="12700">
            <a:solidFill>
              <a:srgbClr val="D5DBE3"/>
            </a:solidFill>
          </a:ln>
        </p:spPr>
      </p:cxnSp>
      <p:sp>
        <p:nvSpPr>
          <p:cNvPr id="11" name="TextBox 10"/>
          <p:cNvSpPr txBox="1"/>
          <p:nvPr/>
        </p:nvSpPr>
        <p:spPr>
          <a:xfrm>
            <a:off x="6948000" y="4212000"/>
            <a:ext cx="4524120" cy="1602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세부 분류 1개 증가 → 통합형 상대위험 +40%</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정의상 최소 기호 수 차이를 뺀 지표로도 RRR 1.262 (방향 유지)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융합의 시간적 변화: 세 국면</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융합은 단선적으로 늘지 않았다: 형성기 → 확산기 → 재편기의 세 국면</a:t>
            </a:r>
          </a:p>
        </p:txBody>
      </p:sp>
      <p:graphicFrame>
        <p:nvGraphicFramePr>
          <p:cNvPr id="4" name="Chart 3"/>
          <p:cNvGraphicFramePr>
            <a:graphicFrameLocks noGrp="1"/>
          </p:cNvGraphicFramePr>
          <p:nvPr/>
        </p:nvGraphicFramePr>
        <p:xfrm>
          <a:off x="540000" y="900000"/>
          <a:ext cx="6264000" cy="5076000"/>
        </p:xfrm>
        <a:graphic>
          <a:graphicData uri="http://schemas.openxmlformats.org/drawingml/2006/chart">
            <c:chart xmlns:c="http://schemas.openxmlformats.org/drawingml/2006/chart" r:id="rId3"/>
          </a:graphicData>
        </a:graphic>
      </p:graphicFrame>
      <p:sp>
        <p:nvSpPr>
          <p:cNvPr id="5" name="Rounded Rectangle 4"/>
          <p:cNvSpPr/>
          <p:nvPr/>
        </p:nvSpPr>
        <p:spPr>
          <a:xfrm>
            <a:off x="7092000" y="990000"/>
            <a:ext cx="4560120" cy="1152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6" name="TextBox 5"/>
          <p:cNvSpPr txBox="1"/>
          <p:nvPr/>
        </p:nvSpPr>
        <p:spPr>
          <a:xfrm>
            <a:off x="7254000" y="1062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2563C9"/>
                </a:solidFill>
                <a:latin typeface="맑은 고딕"/>
                <a:ea typeface="맑은 고딕"/>
                <a:cs typeface="맑은 고딕"/>
              </a:rPr>
              <a:t>형성기</a:t>
            </a:r>
          </a:p>
        </p:txBody>
      </p:sp>
      <p:sp>
        <p:nvSpPr>
          <p:cNvPr id="7" name="TextBox 6"/>
          <p:cNvSpPr txBox="1"/>
          <p:nvPr/>
        </p:nvSpPr>
        <p:spPr>
          <a:xfrm>
            <a:off x="7254000" y="1386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–2014</a:t>
            </a:r>
          </a:p>
        </p:txBody>
      </p:sp>
      <p:sp>
        <p:nvSpPr>
          <p:cNvPr id="8" name="TextBox 7"/>
          <p:cNvSpPr txBox="1"/>
          <p:nvPr/>
        </p:nvSpPr>
        <p:spPr>
          <a:xfrm>
            <a:off x="8748000" y="1080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공정 단독형 43.6%로 최다</a:t>
            </a:r>
          </a:p>
        </p:txBody>
      </p:sp>
      <p:sp>
        <p:nvSpPr>
          <p:cNvPr id="9" name="TextBox 8"/>
          <p:cNvSpPr txBox="1"/>
          <p:nvPr/>
        </p:nvSpPr>
        <p:spPr>
          <a:xfrm>
            <a:off x="8748000" y="1548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직접 접합을 가능하게 하는 공정 발명이 단독으로</a:t>
            </a:r>
          </a:p>
        </p:txBody>
      </p:sp>
      <p:sp>
        <p:nvSpPr>
          <p:cNvPr id="10" name="Rounded Rectangle 9"/>
          <p:cNvSpPr/>
          <p:nvPr/>
        </p:nvSpPr>
        <p:spPr>
          <a:xfrm>
            <a:off x="7092000" y="2268000"/>
            <a:ext cx="4560120" cy="115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254000" y="2340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7C3AED"/>
                </a:solidFill>
                <a:latin typeface="맑은 고딕"/>
                <a:ea typeface="맑은 고딕"/>
                <a:cs typeface="맑은 고딕"/>
              </a:rPr>
              <a:t>확산기</a:t>
            </a:r>
          </a:p>
        </p:txBody>
      </p:sp>
      <p:sp>
        <p:nvSpPr>
          <p:cNvPr id="12" name="TextBox 11"/>
          <p:cNvSpPr txBox="1"/>
          <p:nvPr/>
        </p:nvSpPr>
        <p:spPr>
          <a:xfrm>
            <a:off x="7254000" y="2664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2015–2019</a:t>
            </a:r>
          </a:p>
        </p:txBody>
      </p:sp>
      <p:sp>
        <p:nvSpPr>
          <p:cNvPr id="13" name="TextBox 12"/>
          <p:cNvSpPr txBox="1"/>
          <p:nvPr/>
        </p:nvSpPr>
        <p:spPr>
          <a:xfrm>
            <a:off x="8748000" y="2358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통합형 62.2%로 정점</a:t>
            </a:r>
          </a:p>
        </p:txBody>
      </p:sp>
      <p:sp>
        <p:nvSpPr>
          <p:cNvPr id="14" name="TextBox 13"/>
          <p:cNvSpPr txBox="1"/>
          <p:nvPr/>
        </p:nvSpPr>
        <p:spPr>
          <a:xfrm>
            <a:off x="8748000" y="2826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두 공정의 기술을 하나의 발명에 함께</a:t>
            </a:r>
          </a:p>
        </p:txBody>
      </p:sp>
      <p:sp>
        <p:nvSpPr>
          <p:cNvPr id="15" name="Rounded Rectangle 14"/>
          <p:cNvSpPr/>
          <p:nvPr/>
        </p:nvSpPr>
        <p:spPr>
          <a:xfrm>
            <a:off x="7092000" y="3546000"/>
            <a:ext cx="4560120" cy="115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16" name="TextBox 15"/>
          <p:cNvSpPr txBox="1"/>
          <p:nvPr/>
        </p:nvSpPr>
        <p:spPr>
          <a:xfrm>
            <a:off x="7254000" y="3618000"/>
            <a:ext cx="158400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EA7A28"/>
                </a:solidFill>
                <a:latin typeface="맑은 고딕"/>
                <a:ea typeface="맑은 고딕"/>
                <a:cs typeface="맑은 고딕"/>
              </a:rPr>
              <a:t>재편기</a:t>
            </a:r>
          </a:p>
        </p:txBody>
      </p:sp>
      <p:sp>
        <p:nvSpPr>
          <p:cNvPr id="17" name="TextBox 16"/>
          <p:cNvSpPr txBox="1"/>
          <p:nvPr/>
        </p:nvSpPr>
        <p:spPr>
          <a:xfrm>
            <a:off x="7254000" y="3942000"/>
            <a:ext cx="1584000" cy="288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2020–2024</a:t>
            </a:r>
          </a:p>
        </p:txBody>
      </p:sp>
      <p:sp>
        <p:nvSpPr>
          <p:cNvPr id="18" name="TextBox 17"/>
          <p:cNvSpPr txBox="1"/>
          <p:nvPr/>
        </p:nvSpPr>
        <p:spPr>
          <a:xfrm>
            <a:off x="8748000" y="3636000"/>
            <a:ext cx="2760120" cy="468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E2532"/>
                </a:solidFill>
                <a:latin typeface="맑은 고딕"/>
                <a:ea typeface="맑은 고딕"/>
                <a:cs typeface="맑은 고딕"/>
              </a:rPr>
              <a:t>접합 단독형 45.4% ≈ 통합형 44.3%</a:t>
            </a:r>
          </a:p>
        </p:txBody>
      </p:sp>
      <p:sp>
        <p:nvSpPr>
          <p:cNvPr id="19" name="TextBox 18"/>
          <p:cNvSpPr txBox="1"/>
          <p:nvPr/>
        </p:nvSpPr>
        <p:spPr>
          <a:xfrm>
            <a:off x="8748000" y="4104000"/>
            <a:ext cx="2760120" cy="468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통합형 감소 · 접합 단독형 증가</a:t>
            </a:r>
          </a:p>
        </p:txBody>
      </p:sp>
      <p:sp>
        <p:nvSpPr>
          <p:cNvPr id="20" name="Rounded Rectangle 19"/>
          <p:cNvSpPr/>
          <p:nvPr/>
        </p:nvSpPr>
        <p:spPr>
          <a:xfrm>
            <a:off x="7092000" y="4842000"/>
            <a:ext cx="4560120" cy="1116000"/>
          </a:xfrm>
          <a:prstGeom prst="roundRect">
            <a:avLst>
              <a:gd name="adj" fmla="val 6000"/>
            </a:avLst>
          </a:prstGeom>
          <a:solidFill>
            <a:srgbClr val="FFF0C2"/>
          </a:solidFill>
          <a:ln>
            <a:noFill/>
          </a:ln>
        </p:spPr>
        <p:txBody>
          <a:bodyPr rtlCol="0" anchor="ctr" lIns="36000" rIns="36000" tIns="36000" bIns="36000"/>
          <a:lstStyle/>
          <a:p>
            <a:pPr algn="ctr"/>
          </a:p>
        </p:txBody>
      </p:sp>
      <p:sp>
        <p:nvSpPr>
          <p:cNvPr id="21" name="TextBox 20"/>
          <p:cNvSpPr txBox="1"/>
          <p:nvPr/>
        </p:nvSpPr>
        <p:spPr>
          <a:xfrm>
            <a:off x="7254000" y="4860000"/>
            <a:ext cx="4236120" cy="1080000"/>
          </a:xfrm>
          <a:prstGeom prst="rect">
            <a:avLst/>
          </a:prstGeom>
          <a:noFill/>
        </p:spPr>
        <p:txBody>
          <a:bodyPr wrap="square" lIns="0" rIns="0" tIns="0" bIns="0" anchor="ctr">
            <a:noAutofit/>
          </a:bodyPr>
          <a:lstStyle/>
          <a:p>
            <a:pPr algn="l" marL="0" indent="0">
              <a:lnSpc>
                <a:spcPts val="1620"/>
              </a:lnSpc>
              <a:spcBef>
                <a:spcPts val="0"/>
              </a:spcBef>
              <a:spcAft>
                <a:spcPts val="400"/>
              </a:spcAft>
              <a:buNone/>
            </a:pPr>
            <a:r>
              <a:rPr sz="1350" b="1" i="0" lang="ko-KR" altLang="en-US">
                <a:solidFill>
                  <a:srgbClr val="13294B"/>
                </a:solidFill>
                <a:latin typeface="맑은 고딕"/>
                <a:ea typeface="맑은 고딕"/>
                <a:cs typeface="맑은 고딕"/>
              </a:rPr>
              <a:t>출원연도 → 공정 단독형 RRR 0.913*** (연 8.7% 감소)</a:t>
            </a:r>
          </a:p>
          <a:p>
            <a:pPr algn="l" marL="0" indent="0">
              <a:lnSpc>
                <a:spcPts val="1440"/>
              </a:lnSpc>
              <a:spcBef>
                <a:spcPts val="0"/>
              </a:spcBef>
              <a:spcAft>
                <a:spcPts val="300"/>
              </a:spcAft>
              <a:buNone/>
            </a:pPr>
            <a:r>
              <a:rPr sz="1200" b="0" i="0" lang="ko-KR" altLang="en-US">
                <a:solidFill>
                  <a:srgbClr val="1E2532"/>
                </a:solidFill>
                <a:latin typeface="맑은 고딕"/>
                <a:ea typeface="맑은 고딕"/>
                <a:cs typeface="맑은 고딕"/>
              </a:rPr>
              <a:t>예측확률 2010 → 2022: 공정 단독형 0.27 → 0.12, 접합 단독형 0.31 → 0.40</a:t>
            </a:r>
          </a:p>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첫 시기는 47년간 179건 &lt; 이후 5년간 209건 → 하나로 묶음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4.2  </a:t>
            </a:r>
            <a:r>
              <a:rPr sz="2200" b="1" i="0" lang="ko-KR" altLang="en-US">
                <a:solidFill>
                  <a:srgbClr val="13294B"/>
                </a:solidFill>
                <a:latin typeface="맑은 고딕"/>
                <a:ea typeface="맑은 고딕"/>
                <a:cs typeface="맑은 고딕"/>
              </a:rPr>
              <a:t>RQ2) 출원의 무게중심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출원의 무게중심은 제조공정에서 접합 쪽으로 이동하였다</a:t>
            </a:r>
          </a:p>
        </p:txBody>
      </p:sp>
      <p:graphicFrame>
        <p:nvGraphicFramePr>
          <p:cNvPr id="4" name="Chart 3"/>
          <p:cNvGraphicFramePr>
            <a:graphicFrameLocks noGrp="1"/>
          </p:cNvGraphicFramePr>
          <p:nvPr/>
        </p:nvGraphicFramePr>
        <p:xfrm>
          <a:off x="540000" y="900000"/>
          <a:ext cx="5976000" cy="5040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6768000" y="990000"/>
          <a:ext cx="4884120" cy="2124000"/>
        </p:xfrm>
        <a:graphic>
          <a:graphicData uri="http://schemas.openxmlformats.org/drawingml/2006/table">
            <a:tbl>
              <a:tblPr firstRow="1">
                <a:tableStyleId>{2D5ABB26-0587-4C30-8999-92F81FD0307C}</a:tableStyleId>
              </a:tblPr>
              <a:tblGrid>
                <a:gridCol w="2580120"/>
                <a:gridCol w="230400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분석</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효과비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공정 단독형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RRR 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 통합형 (연간)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RRR 0.993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공정 단독형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1" i="0" lang="ko-KR" altLang="en-US">
                          <a:solidFill>
                            <a:srgbClr val="13294B"/>
                          </a:solidFill>
                          <a:latin typeface="맑은 고딕"/>
                          <a:ea typeface="맑은 고딕"/>
                          <a:cs typeface="맑은 고딕"/>
                        </a:rPr>
                        <a:t>0.273*** / 0.101***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통합형 (기간 더미)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1.707* / 0.762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0000">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기술범위 → 통합형 (국면별)</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1.179 · 1.513 · 1.414***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6" name="TextBox 5"/>
          <p:cNvSpPr txBox="1"/>
          <p:nvPr/>
        </p:nvSpPr>
        <p:spPr>
          <a:xfrm>
            <a:off x="6768000" y="3150000"/>
            <a:ext cx="488412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기간 더미의 기준 = 2014년 이전 · *** p &lt; 0.01, * p &lt; 0.10</a:t>
            </a:r>
          </a:p>
        </p:txBody>
      </p:sp>
      <p:sp>
        <p:nvSpPr>
          <p:cNvPr id="7" name="Rounded Rectangle 6"/>
          <p:cNvSpPr/>
          <p:nvPr/>
        </p:nvSpPr>
        <p:spPr>
          <a:xfrm>
            <a:off x="6768000" y="3438000"/>
            <a:ext cx="4884120" cy="246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8" name="TextBox 7"/>
          <p:cNvSpPr txBox="1"/>
          <p:nvPr/>
        </p:nvSpPr>
        <p:spPr>
          <a:xfrm>
            <a:off x="6948000" y="3564000"/>
            <a:ext cx="45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p>
        </p:txBody>
      </p:sp>
      <p:sp>
        <p:nvSpPr>
          <p:cNvPr id="9" name="TextBox 8"/>
          <p:cNvSpPr txBox="1"/>
          <p:nvPr/>
        </p:nvSpPr>
        <p:spPr>
          <a:xfrm>
            <a:off x="6948000" y="3870000"/>
            <a:ext cx="4524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기술융합은 시간에 따라 어떻게 변화해 왔는가?</a:t>
            </a:r>
          </a:p>
        </p:txBody>
      </p:sp>
      <p:cxnSp>
        <p:nvCxnSpPr>
          <p:cNvPr id="10" name="Connector 9"/>
          <p:cNvCxnSpPr/>
          <p:nvPr/>
        </p:nvCxnSpPr>
        <p:spPr>
          <a:xfrm>
            <a:off x="6948000" y="4500000"/>
            <a:ext cx="4524120" cy="0"/>
          </a:xfrm>
          <a:prstGeom prst="line">
            <a:avLst/>
          </a:prstGeom>
          <a:ln w="12700">
            <a:solidFill>
              <a:srgbClr val="D5DBE3"/>
            </a:solidFill>
          </a:ln>
        </p:spPr>
      </p:cxnSp>
      <p:sp>
        <p:nvSpPr>
          <p:cNvPr id="11" name="TextBox 10"/>
          <p:cNvSpPr txBox="1"/>
          <p:nvPr/>
        </p:nvSpPr>
        <p:spPr>
          <a:xfrm>
            <a:off x="6948000" y="4572000"/>
            <a:ext cx="4524120" cy="1242000"/>
          </a:xfrm>
          <a:prstGeom prst="rect">
            <a:avLst/>
          </a:prstGeom>
          <a:noFill/>
        </p:spPr>
        <p:txBody>
          <a:bodyPr wrap="square" lIns="0" rIns="0" tIns="0" bIns="0" anchor="t">
            <a:noAutofit/>
          </a:bodyPr>
          <a:lstStyle/>
          <a:p>
            <a:pPr algn="l" marL="0" indent="0">
              <a:lnSpc>
                <a:spcPts val="1680"/>
              </a:lnSpc>
              <a:spcBef>
                <a:spcPts val="0"/>
              </a:spcBef>
              <a:spcAft>
                <a:spcPts val="500"/>
              </a:spcAft>
              <a:buNone/>
            </a:pPr>
            <a:r>
              <a:rPr sz="1400" b="1" i="0" lang="ko-KR" altLang="en-US">
                <a:solidFill>
                  <a:srgbClr val="13294B"/>
                </a:solidFill>
                <a:latin typeface="맑은 고딕"/>
                <a:ea typeface="맑은 고딕"/>
                <a:cs typeface="맑은 고딕"/>
              </a:rPr>
              <a:t>공정 단독형 상대위험 연 8.7% 감소</a:t>
            </a:r>
          </a:p>
          <a:p>
            <a:pPr algn="l" marL="180000" indent="-180000">
              <a:lnSpc>
                <a:spcPts val="150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2010 → 2022 예측확률: 공정 단독형 0.27 → 0.12, 접합 단독형 0.31 → 0.40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형성기: 전공정 지식의 축적</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형성기: 핵심 기술을 발명하려면 제조공정 지식을 함께 다루어야 했다</a:t>
            </a:r>
          </a:p>
        </p:txBody>
      </p:sp>
      <p:sp>
        <p:nvSpPr>
          <p:cNvPr id="4" name="Pentagon 3"/>
          <p:cNvSpPr/>
          <p:nvPr/>
        </p:nvSpPr>
        <p:spPr>
          <a:xfrm>
            <a:off x="540000" y="900000"/>
            <a:ext cx="3776040" cy="432000"/>
          </a:xfrm>
          <a:prstGeom prst="homePlate">
            <a:avLst/>
          </a:prstGeom>
          <a:solidFill>
            <a:srgbClr val="2563C9"/>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1  형성기</a:t>
            </a:r>
            <a:r>
              <a:rPr sz="1200" b="0" i="0" lang="ko-KR" altLang="en-US">
                <a:solidFill>
                  <a:srgbClr val="FFFFFF"/>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179</a:t>
            </a:r>
          </a:p>
        </p:txBody>
      </p:sp>
      <p:sp>
        <p:nvSpPr>
          <p:cNvPr id="8" name="Rectangle 7"/>
          <p:cNvSpPr/>
          <p:nvPr/>
        </p:nvSpPr>
        <p:spPr>
          <a:xfrm>
            <a:off x="540000" y="1800000"/>
            <a:ext cx="2762496"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43.6%</a:t>
            </a:r>
          </a:p>
        </p:txBody>
      </p:sp>
      <p:sp>
        <p:nvSpPr>
          <p:cNvPr id="9" name="Rectangle 8"/>
          <p:cNvSpPr/>
          <p:nvPr/>
        </p:nvSpPr>
        <p:spPr>
          <a:xfrm>
            <a:off x="3302496" y="1800000"/>
            <a:ext cx="1983168"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31.3%</a:t>
            </a:r>
          </a:p>
        </p:txBody>
      </p:sp>
      <p:sp>
        <p:nvSpPr>
          <p:cNvPr id="10" name="Rectangle 9"/>
          <p:cNvSpPr/>
          <p:nvPr/>
        </p:nvSpPr>
        <p:spPr>
          <a:xfrm>
            <a:off x="5285664" y="1800000"/>
            <a:ext cx="1590336"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25.1%</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공정 단독형 43.6%로 최다</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직접 접합을 가능하게 하는 제조공정 발명이 단독으로 출원</a:t>
            </a:r>
          </a:p>
        </p:txBody>
      </p:sp>
      <p:sp>
        <p:nvSpPr>
          <p:cNvPr id="21" name="Rounded Rectangle 20"/>
          <p:cNvSpPr/>
          <p:nvPr/>
        </p:nvSpPr>
        <p:spPr>
          <a:xfrm>
            <a:off x="3798000" y="2682000"/>
            <a:ext cx="3078000" cy="165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2563C9"/>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핵심 기술 보유 접합 출원의 79.6%가 통합형</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핵심 기술이 없는 접합 출원은 27.7%</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53.6%)</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2563C9"/>
                </a:solidFill>
                <a:latin typeface="맑은 고딕"/>
                <a:ea typeface="맑은 고딕"/>
                <a:cs typeface="맑은 고딕"/>
              </a:rPr>
              <a:t>지식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47년간 179건: 이후 5년간 209건보다 적어 하나의 시기로 묶음</a:t>
            </a:r>
          </a:p>
        </p:txBody>
      </p:sp>
      <p:sp>
        <p:nvSpPr>
          <p:cNvPr id="27" name="Rectangle 26"/>
          <p:cNvSpPr/>
          <p:nvPr/>
        </p:nvSpPr>
        <p:spPr>
          <a:xfrm>
            <a:off x="7164000" y="1512000"/>
            <a:ext cx="4488120" cy="4338000"/>
          </a:xfrm>
          <a:prstGeom prst="rect">
            <a:avLst/>
          </a:prstGeom>
          <a:solidFill>
            <a:srgbClr val="FFFFFF"/>
          </a:solidFill>
          <a:ln w="38100">
            <a:solidFill>
              <a:srgbClr val="2563C9"/>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2563C9"/>
                </a:solidFill>
                <a:latin typeface="맑은 고딕"/>
                <a:ea typeface="맑은 고딕"/>
                <a:cs typeface="맑은 고딕"/>
              </a:rPr>
              <a:t>11.07</a:t>
            </a:r>
            <a:r>
              <a:rPr sz="2600" b="1" i="0" lang="ko-KR" altLang="en-US">
                <a:solidFill>
                  <a:srgbClr val="2563C9"/>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4.211–29.107 · p &lt; 0.01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인터페이스가 확정되기 전</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직접 접합 패드를 발명하려면 평탄화 · 웨이퍼 접합 같은 제조공정 지식을 함께 다루어야 했던 시기</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확산기: 두 지식의 결합</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확산기: 두 공정의 지식이 하나의 발명 안에서 가장 활발히 결합되었다</a:t>
            </a:r>
          </a:p>
        </p:txBody>
      </p:sp>
      <p:sp>
        <p:nvSpPr>
          <p:cNvPr id="4" name="Pentagon 3"/>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5" name="Chevron 4"/>
          <p:cNvSpPr/>
          <p:nvPr/>
        </p:nvSpPr>
        <p:spPr>
          <a:xfrm>
            <a:off x="4262040" y="900000"/>
            <a:ext cx="3776040" cy="432000"/>
          </a:xfrm>
          <a:prstGeom prst="chevron">
            <a:avLst/>
          </a:prstGeom>
          <a:solidFill>
            <a:srgbClr val="7C3AED"/>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2  확산기</a:t>
            </a:r>
            <a:r>
              <a:rPr sz="1200" b="0" i="0" lang="ko-KR" altLang="en-US">
                <a:solidFill>
                  <a:srgbClr val="FFFFFF"/>
                </a:solidFill>
                <a:latin typeface="맑은 고딕"/>
                <a:ea typeface="맑은 고딕"/>
                <a:cs typeface="맑은 고딕"/>
              </a:rPr>
              <a:t>   2015–2019</a:t>
            </a:r>
          </a:p>
        </p:txBody>
      </p:sp>
      <p:sp>
        <p:nvSpPr>
          <p:cNvPr id="6" name="Chevron 5"/>
          <p:cNvSpPr/>
          <p:nvPr/>
        </p:nvSpPr>
        <p:spPr>
          <a:xfrm>
            <a:off x="798408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3  재편기</a:t>
            </a:r>
            <a:r>
              <a:rPr sz="1200" b="0" i="0" lang="ko-KR" altLang="en-US">
                <a:solidFill>
                  <a:srgbClr val="5B6475"/>
                </a:solidFill>
                <a:latin typeface="맑은 고딕"/>
                <a:ea typeface="맑은 고딕"/>
                <a:cs typeface="맑은 고딕"/>
              </a:rPr>
              <a:t>   2020–2024</a:t>
            </a:r>
          </a:p>
        </p:txBody>
      </p:sp>
      <p:sp>
        <p:nvSpPr>
          <p:cNvPr id="7" name="TextBox 6"/>
          <p:cNvSpPr txBox="1"/>
          <p:nvPr/>
        </p:nvSpPr>
        <p:spPr>
          <a:xfrm>
            <a:off x="540000" y="1512000"/>
            <a:ext cx="6336000" cy="2520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5B6475"/>
                </a:solidFill>
                <a:latin typeface="맑은 고딕"/>
                <a:ea typeface="맑은 고딕"/>
                <a:cs typeface="맑은 고딕"/>
              </a:rPr>
              <a:t>유형 구성</a:t>
            </a:r>
            <a:r>
              <a:rPr sz="1150" b="0" i="0" lang="ko-KR" altLang="en-US">
                <a:solidFill>
                  <a:srgbClr val="5B6475"/>
                </a:solidFill>
                <a:latin typeface="맑은 고딕"/>
                <a:ea typeface="맑은 고딕"/>
                <a:cs typeface="맑은 고딕"/>
              </a:rPr>
              <a:t>   N = 209</a:t>
            </a:r>
          </a:p>
        </p:txBody>
      </p:sp>
      <p:sp>
        <p:nvSpPr>
          <p:cNvPr id="8" name="Rectangle 7"/>
          <p:cNvSpPr/>
          <p:nvPr/>
        </p:nvSpPr>
        <p:spPr>
          <a:xfrm>
            <a:off x="540000" y="1800000"/>
            <a:ext cx="937728" cy="450000"/>
          </a:xfrm>
          <a:prstGeom prst="rect">
            <a:avLst/>
          </a:prstGeom>
          <a:solidFill>
            <a:srgbClr val="2563C9"/>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14.8%</a:t>
            </a:r>
          </a:p>
        </p:txBody>
      </p:sp>
      <p:sp>
        <p:nvSpPr>
          <p:cNvPr id="9" name="Rectangle 8"/>
          <p:cNvSpPr/>
          <p:nvPr/>
        </p:nvSpPr>
        <p:spPr>
          <a:xfrm>
            <a:off x="1477728" y="1800000"/>
            <a:ext cx="3940992" cy="450000"/>
          </a:xfrm>
          <a:prstGeom prst="rect">
            <a:avLst/>
          </a:prstGeom>
          <a:solidFill>
            <a:srgbClr val="7C3AED"/>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62.2%</a:t>
            </a:r>
          </a:p>
        </p:txBody>
      </p:sp>
      <p:sp>
        <p:nvSpPr>
          <p:cNvPr id="10" name="Rectangle 9"/>
          <p:cNvSpPr/>
          <p:nvPr/>
        </p:nvSpPr>
        <p:spPr>
          <a:xfrm>
            <a:off x="5418720" y="1800000"/>
            <a:ext cx="1457280" cy="450000"/>
          </a:xfrm>
          <a:prstGeom prst="rect">
            <a:avLst/>
          </a:prstGeom>
          <a:solidFill>
            <a:srgbClr val="EA7A28"/>
          </a:solidFill>
          <a:ln>
            <a:noFill/>
          </a:ln>
        </p:spPr>
        <p:txBody>
          <a:bodyPr rtlCol="0" anchor="ctr" lIns="7200" rIns="7200" tIns="18000" bIns="18000" wrap="square">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23.0%</a:t>
            </a:r>
          </a:p>
        </p:txBody>
      </p:sp>
      <p:sp>
        <p:nvSpPr>
          <p:cNvPr id="11" name="Rectangle 10"/>
          <p:cNvSpPr/>
          <p:nvPr/>
        </p:nvSpPr>
        <p:spPr>
          <a:xfrm>
            <a:off x="540000" y="2358000"/>
            <a:ext cx="136800" cy="136800"/>
          </a:xfrm>
          <a:prstGeom prst="rect">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720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공정 단독형</a:t>
            </a:r>
          </a:p>
        </p:txBody>
      </p:sp>
      <p:sp>
        <p:nvSpPr>
          <p:cNvPr id="13" name="Rectangle 12"/>
          <p:cNvSpPr/>
          <p:nvPr/>
        </p:nvSpPr>
        <p:spPr>
          <a:xfrm>
            <a:off x="1836000" y="2358000"/>
            <a:ext cx="136800" cy="136800"/>
          </a:xfrm>
          <a:prstGeom prst="rect">
            <a:avLst/>
          </a:prstGeom>
          <a:solidFill>
            <a:srgbClr val="7C3AED"/>
          </a:solidFill>
          <a:ln>
            <a:noFill/>
          </a:ln>
        </p:spPr>
        <p:txBody>
          <a:bodyPr rtlCol="0" anchor="ctr" lIns="36000" rIns="36000" tIns="36000" bIns="36000"/>
          <a:lstStyle/>
          <a:p>
            <a:pPr algn="ctr"/>
          </a:p>
        </p:txBody>
      </p:sp>
      <p:sp>
        <p:nvSpPr>
          <p:cNvPr id="14" name="TextBox 13"/>
          <p:cNvSpPr txBox="1"/>
          <p:nvPr/>
        </p:nvSpPr>
        <p:spPr>
          <a:xfrm>
            <a:off x="2016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통합형</a:t>
            </a:r>
          </a:p>
        </p:txBody>
      </p:sp>
      <p:sp>
        <p:nvSpPr>
          <p:cNvPr id="15" name="Rectangle 14"/>
          <p:cNvSpPr/>
          <p:nvPr/>
        </p:nvSpPr>
        <p:spPr>
          <a:xfrm>
            <a:off x="3132000" y="2358000"/>
            <a:ext cx="136800" cy="136800"/>
          </a:xfrm>
          <a:prstGeom prst="rect">
            <a:avLst/>
          </a:prstGeom>
          <a:solidFill>
            <a:srgbClr val="EA7A28"/>
          </a:solidFill>
          <a:ln>
            <a:noFill/>
          </a:ln>
        </p:spPr>
        <p:txBody>
          <a:bodyPr rtlCol="0" anchor="ctr" lIns="36000" rIns="36000" tIns="36000" bIns="36000"/>
          <a:lstStyle/>
          <a:p>
            <a:pPr algn="ctr"/>
          </a:p>
        </p:txBody>
      </p:sp>
      <p:sp>
        <p:nvSpPr>
          <p:cNvPr id="16" name="TextBox 15"/>
          <p:cNvSpPr txBox="1"/>
          <p:nvPr/>
        </p:nvSpPr>
        <p:spPr>
          <a:xfrm>
            <a:off x="3312000" y="2304000"/>
            <a:ext cx="1188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단독형</a:t>
            </a:r>
          </a:p>
        </p:txBody>
      </p:sp>
      <p:sp>
        <p:nvSpPr>
          <p:cNvPr id="17" name="Rounded Rectangle 16"/>
          <p:cNvSpPr/>
          <p:nvPr/>
        </p:nvSpPr>
        <p:spPr>
          <a:xfrm>
            <a:off x="540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8" name="TextBox 17"/>
          <p:cNvSpPr txBox="1"/>
          <p:nvPr/>
        </p:nvSpPr>
        <p:spPr>
          <a:xfrm>
            <a:off x="702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1</a:t>
            </a:r>
          </a:p>
        </p:txBody>
      </p:sp>
      <p:sp>
        <p:nvSpPr>
          <p:cNvPr id="19" name="TextBox 18"/>
          <p:cNvSpPr txBox="1"/>
          <p:nvPr/>
        </p:nvSpPr>
        <p:spPr>
          <a:xfrm>
            <a:off x="702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통합형 62.2%로 정점</a:t>
            </a:r>
          </a:p>
        </p:txBody>
      </p:sp>
      <p:sp>
        <p:nvSpPr>
          <p:cNvPr id="20" name="TextBox 19"/>
          <p:cNvSpPr txBox="1"/>
          <p:nvPr/>
        </p:nvSpPr>
        <p:spPr>
          <a:xfrm>
            <a:off x="702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두 공정의 기술을 하나의 발명에 함께 담은 출원이 가장 많음</a:t>
            </a:r>
          </a:p>
        </p:txBody>
      </p:sp>
      <p:sp>
        <p:nvSpPr>
          <p:cNvPr id="21" name="Rounded Rectangle 20"/>
          <p:cNvSpPr/>
          <p:nvPr/>
        </p:nvSpPr>
        <p:spPr>
          <a:xfrm>
            <a:off x="3798000" y="2682000"/>
            <a:ext cx="3078000" cy="165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3960000" y="2736000"/>
            <a:ext cx="275400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1" i="0" lang="ko-KR" altLang="en-US">
                <a:solidFill>
                  <a:srgbClr val="7C3AED"/>
                </a:solidFill>
                <a:latin typeface="맑은 고딕"/>
                <a:ea typeface="맑은 고딕"/>
                <a:cs typeface="맑은 고딕"/>
              </a:rPr>
              <a:t>특징 2</a:t>
            </a:r>
          </a:p>
        </p:txBody>
      </p:sp>
      <p:sp>
        <p:nvSpPr>
          <p:cNvPr id="23" name="TextBox 22"/>
          <p:cNvSpPr txBox="1"/>
          <p:nvPr/>
        </p:nvSpPr>
        <p:spPr>
          <a:xfrm>
            <a:off x="3960000" y="2988000"/>
            <a:ext cx="2754000" cy="576000"/>
          </a:xfrm>
          <a:prstGeom prst="rect">
            <a:avLst/>
          </a:prstGeom>
          <a:noFill/>
        </p:spPr>
        <p:txBody>
          <a:bodyPr wrap="square" lIns="0" rIns="0" tIns="0" bIns="0" anchor="ctr">
            <a:noAutofit/>
          </a:bodyPr>
          <a:lstStyle/>
          <a:p>
            <a:pPr algn="l" marL="0" indent="0">
              <a:lnSpc>
                <a:spcPts val="1950"/>
              </a:lnSpc>
              <a:spcBef>
                <a:spcPts val="0"/>
              </a:spcBef>
              <a:spcAft>
                <a:spcPts val="0"/>
              </a:spcAft>
              <a:buNone/>
            </a:pPr>
            <a:r>
              <a:rPr sz="1550" b="1" i="0" lang="ko-KR" altLang="en-US">
                <a:solidFill>
                  <a:srgbClr val="13294B"/>
                </a:solidFill>
                <a:latin typeface="맑은 고딕"/>
                <a:ea typeface="맑은 고딕"/>
                <a:cs typeface="맑은 고딕"/>
              </a:rPr>
              <a:t>웨이퍼 제조공정과의 결합 최고</a:t>
            </a:r>
          </a:p>
        </p:txBody>
      </p:sp>
      <p:sp>
        <p:nvSpPr>
          <p:cNvPr id="24" name="TextBox 23"/>
          <p:cNvSpPr txBox="1"/>
          <p:nvPr/>
        </p:nvSpPr>
        <p:spPr>
          <a:xfrm>
            <a:off x="3960000" y="3582000"/>
            <a:ext cx="2754000" cy="702000"/>
          </a:xfrm>
          <a:prstGeom prst="rect">
            <a:avLst/>
          </a:prstGeom>
          <a:noFill/>
        </p:spPr>
        <p:txBody>
          <a:bodyPr wrap="square" lIns="0" rIns="0" tIns="0" bIns="0" anchor="t">
            <a:noAutofit/>
          </a:bodyPr>
          <a:lstStyle/>
          <a:p>
            <a:pPr algn="l" marL="0" indent="0">
              <a:lnSpc>
                <a:spcPts val="1650"/>
              </a:lnSpc>
              <a:spcBef>
                <a:spcPts val="0"/>
              </a:spcBef>
              <a:spcAft>
                <a:spcPts val="0"/>
              </a:spcAft>
              <a:buNone/>
            </a:pPr>
            <a:r>
              <a:rPr sz="1250" b="0" i="0" lang="ko-KR" altLang="en-US">
                <a:solidFill>
                  <a:srgbClr val="1E2532"/>
                </a:solidFill>
                <a:latin typeface="맑은 고딕"/>
                <a:ea typeface="맑은 고딕"/>
                <a:cs typeface="맑은 고딕"/>
              </a:rPr>
              <a:t>접합 기호와의 Jaccard 계수 0.598 · 함께 부여: 21/187 반도체 몸체끼리의 접합</a:t>
            </a:r>
          </a:p>
        </p:txBody>
      </p:sp>
      <p:sp>
        <p:nvSpPr>
          <p:cNvPr id="25" name="Rounded Rectangle 24"/>
          <p:cNvSpPr/>
          <p:nvPr/>
        </p:nvSpPr>
        <p:spPr>
          <a:xfrm>
            <a:off x="540000" y="4464000"/>
            <a:ext cx="6336000" cy="138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6" name="TextBox 25"/>
          <p:cNvSpPr txBox="1"/>
          <p:nvPr/>
        </p:nvSpPr>
        <p:spPr>
          <a:xfrm>
            <a:off x="720000" y="4500000"/>
            <a:ext cx="5976000" cy="1314000"/>
          </a:xfrm>
          <a:prstGeom prst="rect">
            <a:avLst/>
          </a:prstGeom>
          <a:noFill/>
        </p:spPr>
        <p:txBody>
          <a:bodyPr wrap="square" lIns="0" rIns="0" tIns="0" bIns="0" anchor="ctr">
            <a:noAutofit/>
          </a:bodyPr>
          <a:lstStyle/>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결합 중심  </a:t>
            </a:r>
            <a:r>
              <a:rPr sz="1350" b="1" i="0" lang="ko-KR" altLang="en-US">
                <a:solidFill>
                  <a:srgbClr val="13294B"/>
                </a:solidFill>
                <a:latin typeface="맑은 고딕"/>
                <a:ea typeface="맑은 고딕"/>
                <a:cs typeface="맑은 고딕"/>
              </a:rPr>
              <a:t>웨이퍼 제조공정 (매개 중심성 42.5%)</a:t>
            </a:r>
          </a:p>
          <a:p>
            <a:pPr algn="l" marL="0" indent="0">
              <a:lnSpc>
                <a:spcPts val="1620"/>
              </a:lnSpc>
              <a:spcBef>
                <a:spcPts val="0"/>
              </a:spcBef>
              <a:spcAft>
                <a:spcPts val="600"/>
              </a:spcAft>
              <a:buNone/>
            </a:pPr>
            <a:r>
              <a:rPr sz="1250" b="1" i="0" lang="ko-KR" altLang="en-US">
                <a:solidFill>
                  <a:srgbClr val="5B6475"/>
                </a:solidFill>
                <a:latin typeface="맑은 고딕"/>
                <a:ea typeface="맑은 고딕"/>
                <a:cs typeface="맑은 고딕"/>
              </a:rPr>
              <a:t>단계 모형  </a:t>
            </a:r>
            <a:r>
              <a:rPr sz="1350" b="1" i="0" lang="ko-KR" altLang="en-US">
                <a:solidFill>
                  <a:srgbClr val="7C3AED"/>
                </a:solidFill>
                <a:latin typeface="맑은 고딕"/>
                <a:ea typeface="맑은 고딕"/>
                <a:cs typeface="맑은 고딕"/>
              </a:rPr>
              <a:t>기술 융합</a:t>
            </a:r>
          </a:p>
          <a:p>
            <a:pPr algn="l" marL="0" indent="0">
              <a:lnSpc>
                <a:spcPts val="1390"/>
              </a:lnSpc>
              <a:spcBef>
                <a:spcPts val="0"/>
              </a:spcBef>
              <a:spcAft>
                <a:spcPts val="0"/>
              </a:spcAft>
              <a:buNone/>
            </a:pPr>
            <a:r>
              <a:rPr sz="1100" b="0" i="0" lang="ko-KR" altLang="en-US">
                <a:solidFill>
                  <a:srgbClr val="5B6475"/>
                </a:solidFill>
                <a:latin typeface="맑은 고딕"/>
                <a:ea typeface="맑은 고딕"/>
                <a:cs typeface="맑은 고딕"/>
              </a:rPr>
              <a:t>확산기의 승산비는 군집 표준오차 · 무관 용법 제외 표본에서 유의성을 잃음</a:t>
            </a:r>
          </a:p>
        </p:txBody>
      </p:sp>
      <p:sp>
        <p:nvSpPr>
          <p:cNvPr id="27" name="Rectangle 26"/>
          <p:cNvSpPr/>
          <p:nvPr/>
        </p:nvSpPr>
        <p:spPr>
          <a:xfrm>
            <a:off x="7164000" y="1512000"/>
            <a:ext cx="4488120" cy="4338000"/>
          </a:xfrm>
          <a:prstGeom prst="rect">
            <a:avLst/>
          </a:prstGeom>
          <a:solidFill>
            <a:srgbClr val="FFFFFF"/>
          </a:solidFill>
          <a:ln w="38100">
            <a:solidFill>
              <a:srgbClr val="7C3AED"/>
            </a:solidFill>
          </a:ln>
        </p:spPr>
        <p:txBody>
          <a:bodyPr rtlCol="0" anchor="ctr" lIns="36000" rIns="36000" tIns="36000" bIns="36000"/>
          <a:lstStyle/>
          <a:p>
            <a:pPr algn="ctr"/>
          </a:p>
        </p:txBody>
      </p:sp>
      <p:sp>
        <p:nvSpPr>
          <p:cNvPr id="28" name="TextBox 27"/>
          <p:cNvSpPr txBox="1"/>
          <p:nvPr/>
        </p:nvSpPr>
        <p:spPr>
          <a:xfrm>
            <a:off x="7416000" y="1656000"/>
            <a:ext cx="3984120" cy="36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핵심 기술의 승산비</a:t>
            </a:r>
          </a:p>
        </p:txBody>
      </p:sp>
      <p:sp>
        <p:nvSpPr>
          <p:cNvPr id="29" name="TextBox 28"/>
          <p:cNvSpPr txBox="1"/>
          <p:nvPr/>
        </p:nvSpPr>
        <p:spPr>
          <a:xfrm>
            <a:off x="7416000" y="1998000"/>
            <a:ext cx="398412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접합 출원 중 통합형일 승산 · 핵심 기술 보유 vs 없음</a:t>
            </a:r>
          </a:p>
        </p:txBody>
      </p:sp>
      <p:sp>
        <p:nvSpPr>
          <p:cNvPr id="30" name="TextBox 29"/>
          <p:cNvSpPr txBox="1"/>
          <p:nvPr/>
        </p:nvSpPr>
        <p:spPr>
          <a:xfrm>
            <a:off x="7416000" y="2304000"/>
            <a:ext cx="3984120" cy="1044000"/>
          </a:xfrm>
          <a:prstGeom prst="rect">
            <a:avLst/>
          </a:prstGeom>
          <a:noFill/>
        </p:spPr>
        <p:txBody>
          <a:bodyPr wrap="square" lIns="0" rIns="0" tIns="0" bIns="0" anchor="ctr">
            <a:noAutofit/>
          </a:bodyPr>
          <a:lstStyle/>
          <a:p>
            <a:pPr algn="l" marL="0" indent="0">
              <a:lnSpc>
                <a:spcPts val="7200"/>
              </a:lnSpc>
              <a:spcBef>
                <a:spcPts val="0"/>
              </a:spcBef>
              <a:spcAft>
                <a:spcPts val="0"/>
              </a:spcAft>
              <a:buNone/>
            </a:pPr>
            <a:r>
              <a:rPr sz="6000" b="1" i="0" lang="ko-KR" altLang="en-US">
                <a:solidFill>
                  <a:srgbClr val="7C3AED"/>
                </a:solidFill>
                <a:latin typeface="맑은 고딕"/>
                <a:ea typeface="맑은 고딕"/>
                <a:cs typeface="맑은 고딕"/>
              </a:rPr>
              <a:t>2.45</a:t>
            </a:r>
            <a:r>
              <a:rPr sz="2600" b="1" i="0" lang="ko-KR" altLang="en-US">
                <a:solidFill>
                  <a:srgbClr val="7C3AED"/>
                </a:solidFill>
                <a:latin typeface="맑은 고딕"/>
                <a:ea typeface="맑은 고딕"/>
                <a:cs typeface="맑은 고딕"/>
              </a:rPr>
              <a:t>배</a:t>
            </a:r>
          </a:p>
        </p:txBody>
      </p:sp>
      <p:sp>
        <p:nvSpPr>
          <p:cNvPr id="31" name="TextBox 30"/>
          <p:cNvSpPr txBox="1"/>
          <p:nvPr/>
        </p:nvSpPr>
        <p:spPr>
          <a:xfrm>
            <a:off x="7416000" y="3348000"/>
            <a:ext cx="3984120" cy="252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95% CI 1.158–5.194 · p &lt; 0.05 · 출원청 통제</a:t>
            </a:r>
          </a:p>
        </p:txBody>
      </p:sp>
      <p:cxnSp>
        <p:nvCxnSpPr>
          <p:cNvPr id="32" name="Connector 31"/>
          <p:cNvCxnSpPr/>
          <p:nvPr/>
        </p:nvCxnSpPr>
        <p:spPr>
          <a:xfrm>
            <a:off x="7416000" y="3708000"/>
            <a:ext cx="3984120" cy="0"/>
          </a:xfrm>
          <a:prstGeom prst="line">
            <a:avLst/>
          </a:prstGeom>
          <a:ln w="12700">
            <a:solidFill>
              <a:srgbClr val="D5DBE3"/>
            </a:solidFill>
          </a:ln>
        </p:spPr>
      </p:cxnSp>
      <p:sp>
        <p:nvSpPr>
          <p:cNvPr id="33" name="TextBox 32"/>
          <p:cNvSpPr txBox="1"/>
          <p:nvPr/>
        </p:nvSpPr>
        <p:spPr>
          <a:xfrm>
            <a:off x="7416000" y="3816000"/>
            <a:ext cx="3984120" cy="1944000"/>
          </a:xfrm>
          <a:prstGeom prst="rect">
            <a:avLst/>
          </a:prstGeom>
          <a:noFill/>
        </p:spPr>
        <p:txBody>
          <a:bodyPr wrap="square" lIns="0" rIns="0" tIns="0" bIns="0" anchor="t">
            <a:noAutofit/>
          </a:bodyPr>
          <a:lstStyle/>
          <a:p>
            <a:pPr algn="l" marL="0" indent="0">
              <a:lnSpc>
                <a:spcPts val="1930"/>
              </a:lnSpc>
              <a:spcBef>
                <a:spcPts val="0"/>
              </a:spcBef>
              <a:spcAft>
                <a:spcPts val="800"/>
              </a:spcAft>
              <a:buNone/>
            </a:pPr>
            <a:r>
              <a:rPr sz="1400" b="1" i="0" lang="ko-KR" altLang="en-US">
                <a:solidFill>
                  <a:srgbClr val="1E2532"/>
                </a:solidFill>
                <a:latin typeface="맑은 고딕"/>
                <a:ea typeface="맑은 고딕"/>
                <a:cs typeface="맑은 고딕"/>
              </a:rPr>
              <a:t>우위는 줄었지만 유지</a:t>
            </a:r>
          </a:p>
          <a:p>
            <a:pPr algn="l" marL="0" indent="0">
              <a:lnSpc>
                <a:spcPts val="1930"/>
              </a:lnSpc>
              <a:spcBef>
                <a:spcPts val="0"/>
              </a:spcBef>
              <a:spcAft>
                <a:spcPts val="800"/>
              </a:spcAft>
              <a:buNone/>
            </a:pPr>
            <a:r>
              <a:rPr sz="1400" b="0" i="0" lang="ko-KR" altLang="en-US">
                <a:solidFill>
                  <a:srgbClr val="1E2532"/>
                </a:solidFill>
                <a:latin typeface="맑은 고딕"/>
                <a:ea typeface="맑은 고딕"/>
                <a:cs typeface="맑은 고딕"/>
              </a:rPr>
              <a:t>접합 출원 중 핵심 기술 비중 53.5% → 78.7%: 핵심 설계로 수렴하는 중</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재편기: 융합이 줄어든 역설</a:t>
            </a:r>
          </a:p>
        </p:txBody>
      </p:sp>
      <p:sp>
        <p:nvSpPr>
          <p:cNvPr id="3" name="Pentagon 2"/>
          <p:cNvSpPr/>
          <p:nvPr/>
        </p:nvSpPr>
        <p:spPr>
          <a:xfrm>
            <a:off x="540000" y="900000"/>
            <a:ext cx="3776040" cy="432000"/>
          </a:xfrm>
          <a:prstGeom prst="homePlate">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1  형성기</a:t>
            </a:r>
            <a:r>
              <a:rPr sz="1200" b="0" i="0" lang="ko-KR" altLang="en-US">
                <a:solidFill>
                  <a:srgbClr val="5B6475"/>
                </a:solidFill>
                <a:latin typeface="맑은 고딕"/>
                <a:ea typeface="맑은 고딕"/>
                <a:cs typeface="맑은 고딕"/>
              </a:rPr>
              <a:t>   –2014</a:t>
            </a:r>
          </a:p>
        </p:txBody>
      </p:sp>
      <p:sp>
        <p:nvSpPr>
          <p:cNvPr id="4" name="Chevron 3"/>
          <p:cNvSpPr/>
          <p:nvPr/>
        </p:nvSpPr>
        <p:spPr>
          <a:xfrm>
            <a:off x="4262040" y="900000"/>
            <a:ext cx="3776040" cy="432000"/>
          </a:xfrm>
          <a:prstGeom prst="chevron">
            <a:avLst/>
          </a:prstGeom>
          <a:solidFill>
            <a:srgbClr val="E4E8EF"/>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5B6475"/>
                </a:solidFill>
                <a:latin typeface="맑은 고딕"/>
                <a:ea typeface="맑은 고딕"/>
                <a:cs typeface="맑은 고딕"/>
              </a:rPr>
              <a:t>국면 2  확산기</a:t>
            </a:r>
            <a:r>
              <a:rPr sz="1200" b="0" i="0" lang="ko-KR" altLang="en-US">
                <a:solidFill>
                  <a:srgbClr val="5B6475"/>
                </a:solidFill>
                <a:latin typeface="맑은 고딕"/>
                <a:ea typeface="맑은 고딕"/>
                <a:cs typeface="맑은 고딕"/>
              </a:rPr>
              <a:t>   2015–2019</a:t>
            </a:r>
          </a:p>
        </p:txBody>
      </p:sp>
      <p:sp>
        <p:nvSpPr>
          <p:cNvPr id="5" name="Chevron 4"/>
          <p:cNvSpPr/>
          <p:nvPr/>
        </p:nvSpPr>
        <p:spPr>
          <a:xfrm>
            <a:off x="7984080" y="900000"/>
            <a:ext cx="3776040" cy="432000"/>
          </a:xfrm>
          <a:prstGeom prst="chevron">
            <a:avLst/>
          </a:prstGeom>
          <a:solidFill>
            <a:srgbClr val="EA7A28"/>
          </a:solidFill>
          <a:ln>
            <a:noFill/>
          </a:ln>
        </p:spPr>
        <p:txBody>
          <a:bodyPr rtlCol="0" anchor="ctr" lIns="54000" rIns="54000" tIns="18000" bIns="18000" wrap="square">
            <a:noAutofit/>
          </a:bodyPr>
          <a:lstStyle/>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국면 3  재편기</a:t>
            </a:r>
            <a:r>
              <a:rPr sz="1200" b="0" i="0" lang="ko-KR" altLang="en-US">
                <a:solidFill>
                  <a:srgbClr val="FFFFFF"/>
                </a:solidFill>
                <a:latin typeface="맑은 고딕"/>
                <a:ea typeface="맑은 고딕"/>
                <a:cs typeface="맑은 고딕"/>
              </a:rPr>
              <a:t>   2020–2024</a:t>
            </a:r>
          </a:p>
        </p:txBody>
      </p:sp>
      <p:graphicFrame>
        <p:nvGraphicFramePr>
          <p:cNvPr id="6" name="Chart 5"/>
          <p:cNvGraphicFramePr>
            <a:graphicFrameLocks noGrp="1"/>
          </p:cNvGraphicFramePr>
          <p:nvPr/>
        </p:nvGraphicFramePr>
        <p:xfrm>
          <a:off x="540000" y="1440000"/>
          <a:ext cx="6336000" cy="3240000"/>
        </p:xfrm>
        <a:graphic>
          <a:graphicData uri="http://schemas.openxmlformats.org/drawingml/2006/chart">
            <c:chart xmlns:c="http://schemas.openxmlformats.org/drawingml/2006/chart" r:id="rId3"/>
          </a:graphicData>
        </a:graphic>
      </p:graphicFrame>
      <p:sp>
        <p:nvSpPr>
          <p:cNvPr id="7" name="Rounded Rectangle 6"/>
          <p:cNvSpPr/>
          <p:nvPr/>
        </p:nvSpPr>
        <p:spPr>
          <a:xfrm>
            <a:off x="7164000" y="1476000"/>
            <a:ext cx="4488120" cy="972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8" name="TextBox 7"/>
          <p:cNvSpPr txBox="1"/>
          <p:nvPr/>
        </p:nvSpPr>
        <p:spPr>
          <a:xfrm>
            <a:off x="7344000" y="153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EA7A28"/>
                </a:solidFill>
                <a:latin typeface="맑은 고딕"/>
                <a:ea typeface="맑은 고딕"/>
                <a:cs typeface="맑은 고딕"/>
              </a:rPr>
              <a:t>접합 단독형 45.4% ≈ 통합형 44.3%</a:t>
            </a:r>
          </a:p>
        </p:txBody>
      </p:sp>
      <p:sp>
        <p:nvSpPr>
          <p:cNvPr id="9" name="TextBox 8"/>
          <p:cNvSpPr txBox="1"/>
          <p:nvPr/>
        </p:nvSpPr>
        <p:spPr>
          <a:xfrm>
            <a:off x="7344000" y="192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통합형은 정점에서 내려오고 접합 단독형이 늘어남</a:t>
            </a:r>
          </a:p>
        </p:txBody>
      </p:sp>
      <p:sp>
        <p:nvSpPr>
          <p:cNvPr id="10" name="Rounded Rectangle 9"/>
          <p:cNvSpPr/>
          <p:nvPr/>
        </p:nvSpPr>
        <p:spPr>
          <a:xfrm>
            <a:off x="7164000" y="2556000"/>
            <a:ext cx="4488120" cy="972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11" name="TextBox 10"/>
          <p:cNvSpPr txBox="1"/>
          <p:nvPr/>
        </p:nvSpPr>
        <p:spPr>
          <a:xfrm>
            <a:off x="7344000" y="261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7C3AED"/>
                </a:solidFill>
                <a:latin typeface="맑은 고딕"/>
                <a:ea typeface="맑은 고딕"/>
                <a:cs typeface="맑은 고딕"/>
              </a:rPr>
              <a:t>핵심 기술의 승산비 0.66 (비유의)</a:t>
            </a:r>
          </a:p>
        </p:txBody>
      </p:sp>
      <p:sp>
        <p:nvSpPr>
          <p:cNvPr id="12" name="TextBox 11"/>
          <p:cNvSpPr txBox="1"/>
          <p:nvPr/>
        </p:nvSpPr>
        <p:spPr>
          <a:xfrm>
            <a:off x="7344000" y="300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95% CI 0.374–1.160: 핵심 기술의 "경계 넘기" 우위가 확인되지 않음</a:t>
            </a:r>
          </a:p>
        </p:txBody>
      </p:sp>
      <p:sp>
        <p:nvSpPr>
          <p:cNvPr id="13" name="Rounded Rectangle 12"/>
          <p:cNvSpPr/>
          <p:nvPr/>
        </p:nvSpPr>
        <p:spPr>
          <a:xfrm>
            <a:off x="7164000" y="3636000"/>
            <a:ext cx="4488120" cy="972000"/>
          </a:xfrm>
          <a:prstGeom prst="roundRect">
            <a:avLst>
              <a:gd name="adj" fmla="val 6000"/>
            </a:avLst>
          </a:prstGeom>
          <a:solidFill>
            <a:srgbClr val="E8EEF7"/>
          </a:solidFill>
          <a:ln>
            <a:noFill/>
          </a:ln>
        </p:spPr>
        <p:txBody>
          <a:bodyPr rtlCol="0" anchor="ctr" lIns="36000" rIns="36000" tIns="36000" bIns="36000"/>
          <a:lstStyle/>
          <a:p>
            <a:pPr algn="ctr"/>
          </a:p>
        </p:txBody>
      </p:sp>
      <p:sp>
        <p:nvSpPr>
          <p:cNvPr id="14" name="TextBox 13"/>
          <p:cNvSpPr txBox="1"/>
          <p:nvPr/>
        </p:nvSpPr>
        <p:spPr>
          <a:xfrm>
            <a:off x="7344000" y="3690000"/>
            <a:ext cx="4128120" cy="39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접합 출원 중 핵심 기술 비중 88.0%</a:t>
            </a:r>
          </a:p>
        </p:txBody>
      </p:sp>
      <p:sp>
        <p:nvSpPr>
          <p:cNvPr id="15" name="TextBox 14"/>
          <p:cNvSpPr txBox="1"/>
          <p:nvPr/>
        </p:nvSpPr>
        <p:spPr>
          <a:xfrm>
            <a:off x="7344000" y="4086000"/>
            <a:ext cx="4128120" cy="468000"/>
          </a:xfrm>
          <a:prstGeom prst="rect">
            <a:avLst/>
          </a:prstGeom>
          <a:noFill/>
        </p:spPr>
        <p:txBody>
          <a:bodyPr wrap="square" lIns="0" rIns="0" tIns="0" bIns="0" anchor="ctr">
            <a:noAutofit/>
          </a:bodyPr>
          <a:lstStyle/>
          <a:p>
            <a:pPr algn="l" marL="0" indent="0">
              <a:lnSpc>
                <a:spcPts val="1510"/>
              </a:lnSpc>
              <a:spcBef>
                <a:spcPts val="0"/>
              </a:spcBef>
              <a:spcAft>
                <a:spcPts val="0"/>
              </a:spcAft>
              <a:buNone/>
            </a:pPr>
            <a:r>
              <a:rPr sz="1200" b="0" i="0" lang="ko-KR" altLang="en-US">
                <a:solidFill>
                  <a:srgbClr val="1E2532"/>
                </a:solidFill>
                <a:latin typeface="맑은 고딕"/>
                <a:ea typeface="맑은 고딕"/>
                <a:cs typeface="맑은 고딕"/>
              </a:rPr>
              <a:t>출원 540건으로 가장 많은 시기 · 발명이 하나의 핵심 설계로 수렴</a:t>
            </a:r>
          </a:p>
        </p:txBody>
      </p:sp>
      <p:sp>
        <p:nvSpPr>
          <p:cNvPr id="16" name="Rounded Rectangle 15"/>
          <p:cNvSpPr/>
          <p:nvPr/>
        </p:nvSpPr>
        <p:spPr>
          <a:xfrm>
            <a:off x="540000" y="4842000"/>
            <a:ext cx="11112120" cy="1080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17" name="TextBox 16"/>
          <p:cNvSpPr txBox="1"/>
          <p:nvPr/>
        </p:nvSpPr>
        <p:spPr>
          <a:xfrm>
            <a:off x="900000" y="4842000"/>
            <a:ext cx="10392120" cy="1080000"/>
          </a:xfrm>
          <a:prstGeom prst="rect">
            <a:avLst/>
          </a:prstGeom>
          <a:noFill/>
        </p:spPr>
        <p:txBody>
          <a:bodyPr wrap="square" lIns="0" rIns="0" tIns="0" bIns="0" anchor="ctr">
            <a:noAutofit/>
          </a:bodyPr>
          <a:lstStyle/>
          <a:p>
            <a:pPr algn="ctr" marL="0" indent="0">
              <a:lnSpc>
                <a:spcPts val="2640"/>
              </a:lnSpc>
              <a:spcBef>
                <a:spcPts val="0"/>
              </a:spcBef>
              <a:spcAft>
                <a:spcPts val="0"/>
              </a:spcAft>
              <a:buNone/>
            </a:pPr>
            <a:r>
              <a:rPr sz="2200" b="1" i="0" lang="ko-KR" altLang="en-US">
                <a:solidFill>
                  <a:srgbClr val="FFFFFF"/>
                </a:solidFill>
                <a:latin typeface="맑은 고딕"/>
                <a:ea typeface="맑은 고딕"/>
                <a:cs typeface="맑은 고딕"/>
              </a:rPr>
              <a:t>출원이 가장 많아진 시기에, 왜 경계를 넘는 발명의 비중은 줄고</a:t>
            </a:r>
          </a:p>
          <a:p>
            <a:pPr algn="ctr" marL="0" indent="0">
              <a:lnSpc>
                <a:spcPts val="2640"/>
              </a:lnSpc>
              <a:spcBef>
                <a:spcPts val="0"/>
              </a:spcBef>
              <a:spcAft>
                <a:spcPts val="0"/>
              </a:spcAft>
              <a:buNone/>
            </a:pPr>
            <a:r>
              <a:rPr sz="2200" b="1" i="0" lang="ko-KR" altLang="en-US">
                <a:solidFill>
                  <a:srgbClr val="D4A72C"/>
                </a:solidFill>
                <a:latin typeface="맑은 고딕"/>
                <a:ea typeface="맑은 고딕"/>
                <a:cs typeface="맑은 고딕"/>
              </a:rPr>
              <a:t>접합 발명은 다시 단독으로 출원되기 시작했을까?</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4.3  </a:t>
            </a:r>
            <a:r>
              <a:rPr sz="2200" b="1" i="0" lang="ko-KR" altLang="en-US">
                <a:solidFill>
                  <a:srgbClr val="13294B"/>
                </a:solidFill>
                <a:latin typeface="맑은 고딕"/>
                <a:ea typeface="맑은 고딕"/>
                <a:cs typeface="맑은 고딕"/>
              </a:rPr>
              <a:t>RQ3) 핵심 기술의 경계 넘기 우위</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기술의 "경계 넘기" 우위는 형성기에 뚜렷했으나 재편기에는 확인되지 않았다</a:t>
            </a:r>
          </a:p>
        </p:txBody>
      </p:sp>
      <p:graphicFrame>
        <p:nvGraphicFramePr>
          <p:cNvPr id="4" name="Table 3"/>
          <p:cNvGraphicFramePr>
            <a:graphicFrameLocks noGrp="1"/>
          </p:cNvGraphicFramePr>
          <p:nvPr/>
        </p:nvGraphicFramePr>
        <p:xfrm>
          <a:off x="540000" y="990000"/>
          <a:ext cx="6840000" cy="1674000"/>
        </p:xfrm>
        <a:graphic>
          <a:graphicData uri="http://schemas.openxmlformats.org/drawingml/2006/table">
            <a:tbl>
              <a:tblPr firstRow="1">
                <a:tableStyleId>{2D5ABB26-0587-4C30-8999-92F81FD0307C}</a:tableStyleId>
              </a:tblPr>
              <a:tblGrid>
                <a:gridCol w="1800000"/>
                <a:gridCol w="1224000"/>
                <a:gridCol w="1224000"/>
                <a:gridCol w="1152000"/>
                <a:gridCol w="14400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보유</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 비중</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없음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기술의</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형성기 (–2014)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확산기 (2015–19)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재편기 (2020–24)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r>
            </a:tbl>
          </a:graphicData>
        </a:graphic>
      </p:graphicFrame>
      <p:sp>
        <p:nvSpPr>
          <p:cNvPr id="5" name="TextBox 4"/>
          <p:cNvSpPr txBox="1"/>
          <p:nvPr/>
        </p:nvSpPr>
        <p:spPr>
          <a:xfrm>
            <a:off x="540000" y="2700000"/>
            <a:ext cx="6840000" cy="216000"/>
          </a:xfrm>
          <a:prstGeom prst="rect">
            <a:avLst/>
          </a:prstGeom>
          <a:noFill/>
        </p:spPr>
        <p:txBody>
          <a:bodyPr wrap="square" lIns="0" rIns="0" tIns="0" bIns="0" anchor="ctr">
            <a:noAutofit/>
          </a:bodyPr>
          <a:lstStyle/>
          <a:p>
            <a:pPr algn="l" marL="0" indent="0">
              <a:lnSpc>
                <a:spcPts val="1200"/>
              </a:lnSpc>
              <a:spcBef>
                <a:spcPts val="0"/>
              </a:spcBef>
              <a:spcAft>
                <a:spcPts val="0"/>
              </a:spcAft>
              <a:buNone/>
            </a:pPr>
            <a:r>
              <a:rPr sz="1000" b="0" i="0" lang="ko-KR" altLang="en-US">
                <a:solidFill>
                  <a:srgbClr val="5B6475"/>
                </a:solidFill>
                <a:latin typeface="맑은 고딕"/>
                <a:ea typeface="맑은 고딕"/>
                <a:cs typeface="맑은 고딕"/>
              </a:rPr>
              <a:t>접합 출원 N = 763 · 종속변수: 통합형 여부 · 출원청 통제 · *** p &lt; 0.01, ** p &lt; 0.05</a:t>
            </a:r>
          </a:p>
        </p:txBody>
      </p:sp>
      <p:sp>
        <p:nvSpPr>
          <p:cNvPr id="6" name="Rounded Rectangle 5"/>
          <p:cNvSpPr/>
          <p:nvPr/>
        </p:nvSpPr>
        <p:spPr>
          <a:xfrm>
            <a:off x="540000" y="3006000"/>
            <a:ext cx="6840000" cy="284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720000" y="3060000"/>
            <a:ext cx="648000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시기별 핵심 기술의 승산비 (95% 신뢰구간)</a:t>
            </a:r>
          </a:p>
        </p:txBody>
      </p:sp>
      <p:cxnSp>
        <p:nvCxnSpPr>
          <p:cNvPr id="8" name="Connector 7"/>
          <p:cNvCxnSpPr/>
          <p:nvPr/>
        </p:nvCxnSpPr>
        <p:spPr>
          <a:xfrm>
            <a:off x="3301714" y="3402000"/>
            <a:ext cx="0" cy="1386000"/>
          </a:xfrm>
          <a:prstGeom prst="line">
            <a:avLst/>
          </a:prstGeom>
          <a:ln w="19050">
            <a:solidFill>
              <a:srgbClr val="9AA3B2"/>
            </a:solidFill>
            <a:prstDash val="dash"/>
          </a:ln>
        </p:spPr>
      </p:cxnSp>
      <p:sp>
        <p:nvSpPr>
          <p:cNvPr id="9" name="TextBox 8"/>
          <p:cNvSpPr txBox="1"/>
          <p:nvPr/>
        </p:nvSpPr>
        <p:spPr>
          <a:xfrm>
            <a:off x="720000" y="34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2563C9"/>
                </a:solidFill>
                <a:latin typeface="맑은 고딕"/>
                <a:ea typeface="맑은 고딕"/>
                <a:cs typeface="맑은 고딕"/>
              </a:rPr>
              <a:t>형성기</a:t>
            </a:r>
          </a:p>
        </p:txBody>
      </p:sp>
      <p:cxnSp>
        <p:nvCxnSpPr>
          <p:cNvPr id="10" name="Connector 9"/>
          <p:cNvCxnSpPr/>
          <p:nvPr/>
        </p:nvCxnSpPr>
        <p:spPr>
          <a:xfrm>
            <a:off x="4859114" y="3600000"/>
            <a:ext cx="2094240" cy="0"/>
          </a:xfrm>
          <a:prstGeom prst="line">
            <a:avLst/>
          </a:prstGeom>
          <a:ln w="44450">
            <a:solidFill>
              <a:srgbClr val="2563C9"/>
            </a:solidFill>
          </a:ln>
        </p:spPr>
      </p:cxnSp>
      <p:sp>
        <p:nvSpPr>
          <p:cNvPr id="11" name="Oval 10"/>
          <p:cNvSpPr/>
          <p:nvPr/>
        </p:nvSpPr>
        <p:spPr>
          <a:xfrm>
            <a:off x="5809023" y="3502800"/>
            <a:ext cx="194400" cy="194400"/>
          </a:xfrm>
          <a:prstGeom prst="ellipse">
            <a:avLst/>
          </a:prstGeom>
          <a:solidFill>
            <a:srgbClr val="2563C9"/>
          </a:solidFill>
          <a:ln>
            <a:noFill/>
          </a:ln>
        </p:spPr>
        <p:txBody>
          <a:bodyPr rtlCol="0" anchor="ctr" lIns="36000" rIns="36000" tIns="36000" bIns="36000"/>
          <a:lstStyle/>
          <a:p>
            <a:pPr algn="ctr"/>
          </a:p>
        </p:txBody>
      </p:sp>
      <p:sp>
        <p:nvSpPr>
          <p:cNvPr id="12" name="TextBox 11"/>
          <p:cNvSpPr txBox="1"/>
          <p:nvPr/>
        </p:nvSpPr>
        <p:spPr>
          <a:xfrm>
            <a:off x="4322223" y="3240000"/>
            <a:ext cx="1404000" cy="216000"/>
          </a:xfrm>
          <a:prstGeom prst="rect">
            <a:avLst/>
          </a:prstGeom>
          <a:noFill/>
        </p:spPr>
        <p:txBody>
          <a:bodyPr wrap="square" lIns="0" rIns="0" tIns="0" bIns="0" anchor="ctr">
            <a:noAutofit/>
          </a:bodyPr>
          <a:lstStyle/>
          <a:p>
            <a:pPr algn="r" marL="0" indent="0">
              <a:lnSpc>
                <a:spcPts val="1500"/>
              </a:lnSpc>
              <a:spcBef>
                <a:spcPts val="0"/>
              </a:spcBef>
              <a:spcAft>
                <a:spcPts val="0"/>
              </a:spcAft>
              <a:buNone/>
            </a:pPr>
            <a:r>
              <a:rPr sz="1250" b="1" i="0" lang="ko-KR" altLang="en-US">
                <a:solidFill>
                  <a:srgbClr val="2563C9"/>
                </a:solidFill>
                <a:latin typeface="맑은 고딕"/>
                <a:ea typeface="맑은 고딕"/>
                <a:cs typeface="맑은 고딕"/>
              </a:rPr>
              <a:t>11.07***</a:t>
            </a:r>
          </a:p>
        </p:txBody>
      </p:sp>
      <p:sp>
        <p:nvSpPr>
          <p:cNvPr id="13" name="TextBox 12"/>
          <p:cNvSpPr txBox="1"/>
          <p:nvPr/>
        </p:nvSpPr>
        <p:spPr>
          <a:xfrm>
            <a:off x="720000" y="388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7C3AED"/>
                </a:solidFill>
                <a:latin typeface="맑은 고딕"/>
                <a:ea typeface="맑은 고딕"/>
                <a:cs typeface="맑은 고딕"/>
              </a:rPr>
              <a:t>확산기</a:t>
            </a:r>
          </a:p>
        </p:txBody>
      </p:sp>
      <p:cxnSp>
        <p:nvCxnSpPr>
          <p:cNvPr id="14" name="Connector 13"/>
          <p:cNvCxnSpPr/>
          <p:nvPr/>
        </p:nvCxnSpPr>
        <p:spPr>
          <a:xfrm>
            <a:off x="3460622" y="4050000"/>
            <a:ext cx="1625764" cy="0"/>
          </a:xfrm>
          <a:prstGeom prst="line">
            <a:avLst/>
          </a:prstGeom>
          <a:ln w="44450">
            <a:solidFill>
              <a:srgbClr val="7C3AED"/>
            </a:solidFill>
          </a:ln>
        </p:spPr>
      </p:cxnSp>
      <p:sp>
        <p:nvSpPr>
          <p:cNvPr id="15" name="Oval 14"/>
          <p:cNvSpPr/>
          <p:nvPr/>
        </p:nvSpPr>
        <p:spPr>
          <a:xfrm>
            <a:off x="4176093" y="3952800"/>
            <a:ext cx="194400" cy="194400"/>
          </a:xfrm>
          <a:prstGeom prst="ellipse">
            <a:avLst/>
          </a:prstGeom>
          <a:solidFill>
            <a:srgbClr val="7C3AED"/>
          </a:solidFill>
          <a:ln>
            <a:noFill/>
          </a:ln>
        </p:spPr>
        <p:txBody>
          <a:bodyPr rtlCol="0" anchor="ctr" lIns="36000" rIns="36000" tIns="36000" bIns="36000"/>
          <a:lstStyle/>
          <a:p>
            <a:pPr algn="ctr"/>
          </a:p>
        </p:txBody>
      </p:sp>
      <p:sp>
        <p:nvSpPr>
          <p:cNvPr id="16" name="TextBox 15"/>
          <p:cNvSpPr txBox="1"/>
          <p:nvPr/>
        </p:nvSpPr>
        <p:spPr>
          <a:xfrm>
            <a:off x="5176386" y="393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7C3AED"/>
                </a:solidFill>
                <a:latin typeface="맑은 고딕"/>
                <a:ea typeface="맑은 고딕"/>
                <a:cs typeface="맑은 고딕"/>
              </a:rPr>
              <a:t>2.45**</a:t>
            </a:r>
          </a:p>
        </p:txBody>
      </p:sp>
      <p:sp>
        <p:nvSpPr>
          <p:cNvPr id="17" name="TextBox 16"/>
          <p:cNvSpPr txBox="1"/>
          <p:nvPr/>
        </p:nvSpPr>
        <p:spPr>
          <a:xfrm>
            <a:off x="720000" y="4338000"/>
            <a:ext cx="936000" cy="324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EA7A28"/>
                </a:solidFill>
                <a:latin typeface="맑은 고딕"/>
                <a:ea typeface="맑은 고딕"/>
                <a:cs typeface="맑은 고딕"/>
              </a:rPr>
              <a:t>재편기</a:t>
            </a:r>
          </a:p>
        </p:txBody>
      </p:sp>
      <p:cxnSp>
        <p:nvCxnSpPr>
          <p:cNvPr id="18" name="Connector 17"/>
          <p:cNvCxnSpPr/>
          <p:nvPr/>
        </p:nvCxnSpPr>
        <p:spPr>
          <a:xfrm>
            <a:off x="2236331" y="4500000"/>
            <a:ext cx="1226160" cy="0"/>
          </a:xfrm>
          <a:prstGeom prst="line">
            <a:avLst/>
          </a:prstGeom>
          <a:ln w="44450">
            <a:solidFill>
              <a:srgbClr val="EA7A28"/>
            </a:solidFill>
          </a:ln>
        </p:spPr>
      </p:cxnSp>
      <p:sp>
        <p:nvSpPr>
          <p:cNvPr id="19" name="Oval 18"/>
          <p:cNvSpPr/>
          <p:nvPr/>
        </p:nvSpPr>
        <p:spPr>
          <a:xfrm>
            <a:off x="2751116" y="4402800"/>
            <a:ext cx="194400" cy="194400"/>
          </a:xfrm>
          <a:prstGeom prst="ellipse">
            <a:avLst/>
          </a:prstGeom>
          <a:solidFill>
            <a:srgbClr val="EA7A28"/>
          </a:solidFill>
          <a:ln>
            <a:noFill/>
          </a:ln>
        </p:spPr>
        <p:txBody>
          <a:bodyPr rtlCol="0" anchor="ctr" lIns="36000" rIns="36000" tIns="36000" bIns="36000"/>
          <a:lstStyle/>
          <a:p>
            <a:pPr algn="ctr"/>
          </a:p>
        </p:txBody>
      </p:sp>
      <p:sp>
        <p:nvSpPr>
          <p:cNvPr id="20" name="TextBox 19"/>
          <p:cNvSpPr txBox="1"/>
          <p:nvPr/>
        </p:nvSpPr>
        <p:spPr>
          <a:xfrm>
            <a:off x="3552491" y="4384800"/>
            <a:ext cx="1656000" cy="230400"/>
          </a:xfrm>
          <a:prstGeom prst="rect">
            <a:avLst/>
          </a:prstGeom>
          <a:noFill/>
        </p:spPr>
        <p:txBody>
          <a:bodyPr wrap="square" lIns="0" rIns="0" tIns="0" bIns="0" anchor="ctr">
            <a:noAutofit/>
          </a:bodyPr>
          <a:lstStyle/>
          <a:p>
            <a:pPr algn="l" marL="0" indent="0">
              <a:lnSpc>
                <a:spcPts val="1500"/>
              </a:lnSpc>
              <a:spcBef>
                <a:spcPts val="0"/>
              </a:spcBef>
              <a:spcAft>
                <a:spcPts val="0"/>
              </a:spcAft>
              <a:buNone/>
            </a:pPr>
            <a:r>
              <a:rPr sz="1250" b="1" i="0" lang="ko-KR" altLang="en-US">
                <a:solidFill>
                  <a:srgbClr val="EA7A28"/>
                </a:solidFill>
                <a:latin typeface="맑은 고딕"/>
                <a:ea typeface="맑은 고딕"/>
                <a:cs typeface="맑은 고딕"/>
              </a:rPr>
              <a:t>0.66 (비유의)</a:t>
            </a:r>
          </a:p>
        </p:txBody>
      </p:sp>
      <p:cxnSp>
        <p:nvCxnSpPr>
          <p:cNvPr id="21" name="Connector 20"/>
          <p:cNvCxnSpPr/>
          <p:nvPr/>
        </p:nvCxnSpPr>
        <p:spPr>
          <a:xfrm>
            <a:off x="1800000" y="4824000"/>
            <a:ext cx="5256000" cy="0"/>
          </a:xfrm>
          <a:prstGeom prst="line">
            <a:avLst/>
          </a:prstGeom>
          <a:ln w="15875">
            <a:solidFill>
              <a:srgbClr val="9AA3B2"/>
            </a:solidFill>
          </a:ln>
        </p:spPr>
      </p:cxnSp>
      <p:cxnSp>
        <p:nvCxnSpPr>
          <p:cNvPr id="22" name="Connector 21"/>
          <p:cNvCxnSpPr/>
          <p:nvPr/>
        </p:nvCxnSpPr>
        <p:spPr>
          <a:xfrm>
            <a:off x="1800000" y="4824000"/>
            <a:ext cx="0" cy="54000"/>
          </a:xfrm>
          <a:prstGeom prst="line">
            <a:avLst/>
          </a:prstGeom>
          <a:ln w="15875">
            <a:solidFill>
              <a:srgbClr val="9AA3B2"/>
            </a:solidFill>
          </a:ln>
        </p:spPr>
      </p:cxnSp>
      <p:sp>
        <p:nvSpPr>
          <p:cNvPr id="23" name="TextBox 22"/>
          <p:cNvSpPr txBox="1"/>
          <p:nvPr/>
        </p:nvSpPr>
        <p:spPr>
          <a:xfrm>
            <a:off x="1512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0.25</a:t>
            </a:r>
          </a:p>
        </p:txBody>
      </p:sp>
      <p:cxnSp>
        <p:nvCxnSpPr>
          <p:cNvPr id="24" name="Connector 23"/>
          <p:cNvCxnSpPr/>
          <p:nvPr/>
        </p:nvCxnSpPr>
        <p:spPr>
          <a:xfrm>
            <a:off x="2550857" y="4824000"/>
            <a:ext cx="0" cy="54000"/>
          </a:xfrm>
          <a:prstGeom prst="line">
            <a:avLst/>
          </a:prstGeom>
          <a:ln w="15875">
            <a:solidFill>
              <a:srgbClr val="9AA3B2"/>
            </a:solidFill>
          </a:ln>
        </p:spPr>
      </p:cxnSp>
      <p:sp>
        <p:nvSpPr>
          <p:cNvPr id="25" name="TextBox 24"/>
          <p:cNvSpPr txBox="1"/>
          <p:nvPr/>
        </p:nvSpPr>
        <p:spPr>
          <a:xfrm>
            <a:off x="2262857"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0.5</a:t>
            </a:r>
          </a:p>
        </p:txBody>
      </p:sp>
      <p:cxnSp>
        <p:nvCxnSpPr>
          <p:cNvPr id="26" name="Connector 25"/>
          <p:cNvCxnSpPr/>
          <p:nvPr/>
        </p:nvCxnSpPr>
        <p:spPr>
          <a:xfrm>
            <a:off x="3301714" y="4824000"/>
            <a:ext cx="0" cy="54000"/>
          </a:xfrm>
          <a:prstGeom prst="line">
            <a:avLst/>
          </a:prstGeom>
          <a:ln w="15875">
            <a:solidFill>
              <a:srgbClr val="9AA3B2"/>
            </a:solidFill>
          </a:ln>
        </p:spPr>
      </p:cxnSp>
      <p:sp>
        <p:nvSpPr>
          <p:cNvPr id="27" name="TextBox 26"/>
          <p:cNvSpPr txBox="1"/>
          <p:nvPr/>
        </p:nvSpPr>
        <p:spPr>
          <a:xfrm>
            <a:off x="3013714"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a:t>
            </a:r>
          </a:p>
        </p:txBody>
      </p:sp>
      <p:cxnSp>
        <p:nvCxnSpPr>
          <p:cNvPr id="28" name="Connector 27"/>
          <p:cNvCxnSpPr/>
          <p:nvPr/>
        </p:nvCxnSpPr>
        <p:spPr>
          <a:xfrm>
            <a:off x="4052571" y="4824000"/>
            <a:ext cx="0" cy="54000"/>
          </a:xfrm>
          <a:prstGeom prst="line">
            <a:avLst/>
          </a:prstGeom>
          <a:ln w="15875">
            <a:solidFill>
              <a:srgbClr val="9AA3B2"/>
            </a:solidFill>
          </a:ln>
        </p:spPr>
      </p:cxnSp>
      <p:sp>
        <p:nvSpPr>
          <p:cNvPr id="29" name="TextBox 28"/>
          <p:cNvSpPr txBox="1"/>
          <p:nvPr/>
        </p:nvSpPr>
        <p:spPr>
          <a:xfrm>
            <a:off x="3764571"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2</a:t>
            </a:r>
          </a:p>
        </p:txBody>
      </p:sp>
      <p:cxnSp>
        <p:nvCxnSpPr>
          <p:cNvPr id="30" name="Connector 29"/>
          <p:cNvCxnSpPr/>
          <p:nvPr/>
        </p:nvCxnSpPr>
        <p:spPr>
          <a:xfrm>
            <a:off x="4803429" y="4824000"/>
            <a:ext cx="0" cy="54000"/>
          </a:xfrm>
          <a:prstGeom prst="line">
            <a:avLst/>
          </a:prstGeom>
          <a:ln w="15875">
            <a:solidFill>
              <a:srgbClr val="9AA3B2"/>
            </a:solidFill>
          </a:ln>
        </p:spPr>
      </p:cxnSp>
      <p:sp>
        <p:nvSpPr>
          <p:cNvPr id="31" name="TextBox 30"/>
          <p:cNvSpPr txBox="1"/>
          <p:nvPr/>
        </p:nvSpPr>
        <p:spPr>
          <a:xfrm>
            <a:off x="4515429"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4</a:t>
            </a:r>
          </a:p>
        </p:txBody>
      </p:sp>
      <p:cxnSp>
        <p:nvCxnSpPr>
          <p:cNvPr id="32" name="Connector 31"/>
          <p:cNvCxnSpPr/>
          <p:nvPr/>
        </p:nvCxnSpPr>
        <p:spPr>
          <a:xfrm>
            <a:off x="5554286" y="4824000"/>
            <a:ext cx="0" cy="54000"/>
          </a:xfrm>
          <a:prstGeom prst="line">
            <a:avLst/>
          </a:prstGeom>
          <a:ln w="15875">
            <a:solidFill>
              <a:srgbClr val="9AA3B2"/>
            </a:solidFill>
          </a:ln>
        </p:spPr>
      </p:cxnSp>
      <p:sp>
        <p:nvSpPr>
          <p:cNvPr id="33" name="TextBox 32"/>
          <p:cNvSpPr txBox="1"/>
          <p:nvPr/>
        </p:nvSpPr>
        <p:spPr>
          <a:xfrm>
            <a:off x="5266286"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8</a:t>
            </a:r>
          </a:p>
        </p:txBody>
      </p:sp>
      <p:cxnSp>
        <p:nvCxnSpPr>
          <p:cNvPr id="34" name="Connector 33"/>
          <p:cNvCxnSpPr/>
          <p:nvPr/>
        </p:nvCxnSpPr>
        <p:spPr>
          <a:xfrm>
            <a:off x="6305143" y="4824000"/>
            <a:ext cx="0" cy="54000"/>
          </a:xfrm>
          <a:prstGeom prst="line">
            <a:avLst/>
          </a:prstGeom>
          <a:ln w="15875">
            <a:solidFill>
              <a:srgbClr val="9AA3B2"/>
            </a:solidFill>
          </a:ln>
        </p:spPr>
      </p:cxnSp>
      <p:sp>
        <p:nvSpPr>
          <p:cNvPr id="35" name="TextBox 34"/>
          <p:cNvSpPr txBox="1"/>
          <p:nvPr/>
        </p:nvSpPr>
        <p:spPr>
          <a:xfrm>
            <a:off x="6017143"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16</a:t>
            </a:r>
          </a:p>
        </p:txBody>
      </p:sp>
      <p:cxnSp>
        <p:nvCxnSpPr>
          <p:cNvPr id="36" name="Connector 35"/>
          <p:cNvCxnSpPr/>
          <p:nvPr/>
        </p:nvCxnSpPr>
        <p:spPr>
          <a:xfrm>
            <a:off x="7056000" y="4824000"/>
            <a:ext cx="0" cy="54000"/>
          </a:xfrm>
          <a:prstGeom prst="line">
            <a:avLst/>
          </a:prstGeom>
          <a:ln w="15875">
            <a:solidFill>
              <a:srgbClr val="9AA3B2"/>
            </a:solidFill>
          </a:ln>
        </p:spPr>
      </p:cxnSp>
      <p:sp>
        <p:nvSpPr>
          <p:cNvPr id="37" name="TextBox 36"/>
          <p:cNvSpPr txBox="1"/>
          <p:nvPr/>
        </p:nvSpPr>
        <p:spPr>
          <a:xfrm>
            <a:off x="6768000" y="4878000"/>
            <a:ext cx="576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32</a:t>
            </a:r>
          </a:p>
        </p:txBody>
      </p:sp>
      <p:sp>
        <p:nvSpPr>
          <p:cNvPr id="38" name="TextBox 37"/>
          <p:cNvSpPr txBox="1"/>
          <p:nvPr/>
        </p:nvSpPr>
        <p:spPr>
          <a:xfrm>
            <a:off x="2041714" y="5076000"/>
            <a:ext cx="2520000" cy="198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0" i="0" lang="ko-KR" altLang="en-US">
                <a:solidFill>
                  <a:srgbClr val="5B6475"/>
                </a:solidFill>
                <a:latin typeface="맑은 고딕"/>
                <a:ea typeface="맑은 고딕"/>
                <a:cs typeface="맑은 고딕"/>
              </a:rPr>
              <a:t>승산비 (로그 척도, 1 = 차이 없음)</a:t>
            </a:r>
          </a:p>
        </p:txBody>
      </p:sp>
      <p:sp>
        <p:nvSpPr>
          <p:cNvPr id="39" name="Rounded Rectangle 38"/>
          <p:cNvSpPr/>
          <p:nvPr/>
        </p:nvSpPr>
        <p:spPr>
          <a:xfrm>
            <a:off x="7668000" y="990000"/>
            <a:ext cx="3984120" cy="486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0" name="TextBox 39"/>
          <p:cNvSpPr txBox="1"/>
          <p:nvPr/>
        </p:nvSpPr>
        <p:spPr>
          <a:xfrm>
            <a:off x="7848000" y="1116000"/>
            <a:ext cx="3624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41" name="TextBox 40"/>
          <p:cNvSpPr txBox="1"/>
          <p:nvPr/>
        </p:nvSpPr>
        <p:spPr>
          <a:xfrm>
            <a:off x="7848000" y="1422000"/>
            <a:ext cx="3624120" cy="70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42" name="Connector 41"/>
          <p:cNvCxnSpPr/>
          <p:nvPr/>
        </p:nvCxnSpPr>
        <p:spPr>
          <a:xfrm>
            <a:off x="7848000" y="2178000"/>
            <a:ext cx="3624120" cy="0"/>
          </a:xfrm>
          <a:prstGeom prst="line">
            <a:avLst/>
          </a:prstGeom>
          <a:ln w="12700">
            <a:solidFill>
              <a:srgbClr val="D5DBE3"/>
            </a:solidFill>
          </a:ln>
        </p:spPr>
      </p:cxnSp>
      <p:sp>
        <p:nvSpPr>
          <p:cNvPr id="43" name="TextBox 42"/>
          <p:cNvSpPr txBox="1"/>
          <p:nvPr/>
        </p:nvSpPr>
        <p:spPr>
          <a:xfrm>
            <a:off x="7848000" y="2250000"/>
            <a:ext cx="3624120" cy="3510000"/>
          </a:xfrm>
          <a:prstGeom prst="rect">
            <a:avLst/>
          </a:prstGeom>
          <a:noFill/>
        </p:spPr>
        <p:txBody>
          <a:bodyPr wrap="square" lIns="0" rIns="0" tIns="0" bIns="0" anchor="t">
            <a:noAutofit/>
          </a:bodyPr>
          <a:lstStyle/>
          <a:p>
            <a:pPr algn="l" marL="0" indent="0">
              <a:lnSpc>
                <a:spcPts val="1680"/>
              </a:lnSpc>
              <a:spcBef>
                <a:spcPts val="0"/>
              </a:spcBef>
              <a:spcAft>
                <a:spcPts val="600"/>
              </a:spcAft>
              <a:buNone/>
            </a:pPr>
            <a:r>
              <a:rPr sz="1400" b="1" i="0" lang="ko-KR" altLang="en-US">
                <a:solidFill>
                  <a:srgbClr val="13294B"/>
                </a:solidFill>
                <a:latin typeface="맑은 고딕"/>
                <a:ea typeface="맑은 고딕"/>
                <a:cs typeface="맑은 고딕"/>
              </a:rPr>
              <a:t>형성기 11.1 → 확산기 2.5 → 재편기 0.66</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2014년 이전 대비 배수 (상호작용)</a:t>
            </a:r>
          </a:p>
          <a:p>
            <a:pPr algn="l" marL="0" indent="0">
              <a:lnSpc>
                <a:spcPts val="1560"/>
              </a:lnSpc>
              <a:spcBef>
                <a:spcPts val="0"/>
              </a:spcBef>
              <a:spcAft>
                <a:spcPts val="800"/>
              </a:spcAft>
              <a:buNone/>
            </a:pPr>
            <a:r>
              <a:rPr sz="1300" b="1" i="0" lang="ko-KR" altLang="en-US">
                <a:solidFill>
                  <a:srgbClr val="1E2532"/>
                </a:solidFill>
                <a:latin typeface="맑은 고딕"/>
                <a:ea typeface="맑은 고딕"/>
                <a:cs typeface="맑은 고딕"/>
              </a:rPr>
              <a:t>2015–19: 0.221** · 2020–24: 0.059***</a:t>
            </a:r>
          </a:p>
          <a:p>
            <a:pPr algn="l" marL="0" indent="0">
              <a:lnSpc>
                <a:spcPts val="1440"/>
              </a:lnSpc>
              <a:spcBef>
                <a:spcPts val="0"/>
              </a:spcBef>
              <a:spcAft>
                <a:spcPts val="200"/>
              </a:spcAft>
              <a:buNone/>
            </a:pPr>
            <a:r>
              <a:rPr sz="1200" b="1" i="0" lang="ko-KR" altLang="en-US">
                <a:solidFill>
                  <a:srgbClr val="5B6475"/>
                </a:solidFill>
                <a:latin typeface="맑은 고딕"/>
                <a:ea typeface="맑은 고딕"/>
                <a:cs typeface="맑은 고딕"/>
              </a:rPr>
              <a:t>접합 출원 중 핵심 기술 비중</a:t>
            </a:r>
          </a:p>
          <a:p>
            <a:pPr algn="l" marL="0" indent="0">
              <a:lnSpc>
                <a:spcPts val="1800"/>
              </a:lnSpc>
              <a:spcBef>
                <a:spcPts val="0"/>
              </a:spcBef>
              <a:spcAft>
                <a:spcPts val="800"/>
              </a:spcAft>
              <a:buNone/>
            </a:pPr>
            <a:r>
              <a:rPr sz="1500" b="1" i="0" lang="ko-KR" altLang="en-US">
                <a:solidFill>
                  <a:srgbClr val="1E2532"/>
                </a:solidFill>
                <a:latin typeface="맑은 고딕"/>
                <a:ea typeface="맑은 고딕"/>
                <a:cs typeface="맑은 고딕"/>
              </a:rPr>
              <a:t>53.5% → 78.7% → 88.0%</a:t>
            </a:r>
          </a:p>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 발명이 하나의 핵심 설계로 수렴</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4.4  </a:t>
            </a:r>
            <a:r>
              <a:rPr sz="2200" b="1" i="0" lang="ko-KR" altLang="en-US">
                <a:solidFill>
                  <a:srgbClr val="13294B"/>
                </a:solidFill>
                <a:latin typeface="맑은 고딕"/>
                <a:ea typeface="맑은 고딕"/>
                <a:cs typeface="맑은 고딕"/>
              </a:rPr>
              <a:t>해석: 지배적 설계의 고착화와 인터페이스 안정화</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설계가 고착화되자, 발명은 경계 반대편의 지식을 매번 함께 다룰 필요가 줄었다</a:t>
            </a:r>
          </a:p>
        </p:txBody>
      </p:sp>
      <p:sp>
        <p:nvSpPr>
          <p:cNvPr id="4" name="Rounded Rectangle 3"/>
          <p:cNvSpPr/>
          <p:nvPr/>
        </p:nvSpPr>
        <p:spPr>
          <a:xfrm>
            <a:off x="540000" y="936000"/>
            <a:ext cx="11112120" cy="504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5" name="TextBox 4"/>
          <p:cNvSpPr txBox="1"/>
          <p:nvPr/>
        </p:nvSpPr>
        <p:spPr>
          <a:xfrm>
            <a:off x="828000" y="936000"/>
            <a:ext cx="10536120" cy="50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FFFFFF"/>
                </a:solidFill>
                <a:latin typeface="맑은 고딕"/>
                <a:ea typeface="맑은 고딕"/>
                <a:cs typeface="맑은 고딕"/>
              </a:rPr>
              <a:t>재편기: 출원이 가장 많아진 시기에 왜 통합형의 비중은 줄고 접합 단독형이 늘었을까?</a:t>
            </a:r>
          </a:p>
        </p:txBody>
      </p:sp>
      <p:sp>
        <p:nvSpPr>
          <p:cNvPr id="6" name="Rounded Rectangle 5"/>
          <p:cNvSpPr/>
          <p:nvPr/>
        </p:nvSpPr>
        <p:spPr>
          <a:xfrm>
            <a:off x="540000" y="1548000"/>
            <a:ext cx="5160060" cy="2700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7" name="TextBox 6"/>
          <p:cNvSpPr txBox="1"/>
          <p:nvPr/>
        </p:nvSpPr>
        <p:spPr>
          <a:xfrm>
            <a:off x="75600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2563C9"/>
                </a:solidFill>
                <a:latin typeface="맑은 고딕"/>
                <a:ea typeface="맑은 고딕"/>
                <a:cs typeface="맑은 고딕"/>
              </a:rPr>
              <a:t>인터페이스 불안정기</a:t>
            </a:r>
          </a:p>
        </p:txBody>
      </p:sp>
      <p:sp>
        <p:nvSpPr>
          <p:cNvPr id="8" name="TextBox 7"/>
          <p:cNvSpPr txBox="1"/>
          <p:nvPr/>
        </p:nvSpPr>
        <p:spPr>
          <a:xfrm>
            <a:off x="75600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형성기 · 확산기  (격동기)</a:t>
            </a:r>
          </a:p>
        </p:txBody>
      </p:sp>
      <p:sp>
        <p:nvSpPr>
          <p:cNvPr id="9" name="Rectangle 8"/>
          <p:cNvSpPr/>
          <p:nvPr/>
        </p:nvSpPr>
        <p:spPr>
          <a:xfrm>
            <a:off x="756000" y="2304000"/>
            <a:ext cx="864000" cy="1656000"/>
          </a:xfrm>
          <a:prstGeom prst="rect">
            <a:avLst/>
          </a:prstGeom>
          <a:solidFill>
            <a:srgbClr val="EA7A28"/>
          </a:solidFill>
          <a:ln>
            <a:noFill/>
          </a:ln>
        </p:spPr>
        <p:txBody>
          <a:bodyPr rtlCol="0" anchor="ctr" lIns="36000" rIns="36000" tIns="36000" bIns="36000"/>
          <a:lstStyle/>
          <a:p>
            <a:pPr algn="ctr"/>
          </a:p>
        </p:txBody>
      </p:sp>
      <p:sp>
        <p:nvSpPr>
          <p:cNvPr id="10" name="Rectangle 9"/>
          <p:cNvSpPr/>
          <p:nvPr/>
        </p:nvSpPr>
        <p:spPr>
          <a:xfrm>
            <a:off x="1908000" y="2304000"/>
            <a:ext cx="864000" cy="1656000"/>
          </a:xfrm>
          <a:prstGeom prst="rect">
            <a:avLst/>
          </a:prstGeom>
          <a:solidFill>
            <a:srgbClr val="2563C9"/>
          </a:solidFill>
          <a:ln>
            <a:noFill/>
          </a:ln>
        </p:spPr>
        <p:txBody>
          <a:bodyPr rtlCol="0" anchor="ctr" lIns="36000" rIns="36000" tIns="36000" bIns="36000"/>
          <a:lstStyle/>
          <a:p>
            <a:pPr algn="ctr"/>
          </a:p>
        </p:txBody>
      </p:sp>
      <p:sp>
        <p:nvSpPr>
          <p:cNvPr id="11" name="TextBox 10"/>
          <p:cNvSpPr txBox="1"/>
          <p:nvPr/>
        </p:nvSpPr>
        <p:spPr>
          <a:xfrm>
            <a:off x="756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12" name="TextBox 11"/>
          <p:cNvSpPr txBox="1"/>
          <p:nvPr/>
        </p:nvSpPr>
        <p:spPr>
          <a:xfrm>
            <a:off x="190800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13" name="Connector 12"/>
          <p:cNvCxnSpPr/>
          <p:nvPr/>
        </p:nvCxnSpPr>
        <p:spPr>
          <a:xfrm>
            <a:off x="1620000" y="2484000"/>
            <a:ext cx="288000" cy="648000"/>
          </a:xfrm>
          <a:prstGeom prst="line">
            <a:avLst/>
          </a:prstGeom>
          <a:ln w="25400">
            <a:solidFill>
              <a:srgbClr val="7C3AED"/>
            </a:solidFill>
          </a:ln>
        </p:spPr>
      </p:cxnSp>
      <p:cxnSp>
        <p:nvCxnSpPr>
          <p:cNvPr id="14" name="Connector 13"/>
          <p:cNvCxnSpPr/>
          <p:nvPr/>
        </p:nvCxnSpPr>
        <p:spPr>
          <a:xfrm flipV="1">
            <a:off x="1620000" y="2484000"/>
            <a:ext cx="288000" cy="324000"/>
          </a:xfrm>
          <a:prstGeom prst="line">
            <a:avLst/>
          </a:prstGeom>
          <a:ln w="25400">
            <a:solidFill>
              <a:srgbClr val="5B6475"/>
            </a:solidFill>
          </a:ln>
        </p:spPr>
      </p:cxnSp>
      <p:cxnSp>
        <p:nvCxnSpPr>
          <p:cNvPr id="15" name="Connector 14"/>
          <p:cNvCxnSpPr/>
          <p:nvPr/>
        </p:nvCxnSpPr>
        <p:spPr>
          <a:xfrm>
            <a:off x="1620000" y="3132000"/>
            <a:ext cx="288000" cy="324000"/>
          </a:xfrm>
          <a:prstGeom prst="line">
            <a:avLst/>
          </a:prstGeom>
          <a:ln w="25400">
            <a:solidFill>
              <a:srgbClr val="EA7A28"/>
            </a:solidFill>
          </a:ln>
        </p:spPr>
      </p:cxnSp>
      <p:cxnSp>
        <p:nvCxnSpPr>
          <p:cNvPr id="16" name="Connector 15"/>
          <p:cNvCxnSpPr/>
          <p:nvPr/>
        </p:nvCxnSpPr>
        <p:spPr>
          <a:xfrm flipV="1">
            <a:off x="1620000" y="2808000"/>
            <a:ext cx="288000" cy="648000"/>
          </a:xfrm>
          <a:prstGeom prst="line">
            <a:avLst/>
          </a:prstGeom>
          <a:ln w="25400">
            <a:solidFill>
              <a:srgbClr val="2563C9"/>
            </a:solidFill>
          </a:ln>
        </p:spPr>
      </p:cxnSp>
      <p:cxnSp>
        <p:nvCxnSpPr>
          <p:cNvPr id="17" name="Connector 16"/>
          <p:cNvCxnSpPr/>
          <p:nvPr/>
        </p:nvCxnSpPr>
        <p:spPr>
          <a:xfrm>
            <a:off x="1620000" y="3780000"/>
            <a:ext cx="288000" cy="0"/>
          </a:xfrm>
          <a:prstGeom prst="line">
            <a:avLst/>
          </a:prstGeom>
          <a:ln w="25400">
            <a:solidFill>
              <a:srgbClr val="9AA6B8"/>
            </a:solidFill>
          </a:ln>
        </p:spPr>
      </p:cxnSp>
      <p:sp>
        <p:nvSpPr>
          <p:cNvPr id="18" name="TextBox 17"/>
          <p:cNvSpPr txBox="1"/>
          <p:nvPr/>
        </p:nvSpPr>
        <p:spPr>
          <a:xfrm>
            <a:off x="291600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핵심 접합 패드를 발명할 때마다</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평탄화 · 표면 화학 · 웨이퍼 접합</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지식을 함께 다룸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통합형 · 핵심 기술의 우위</a:t>
            </a:r>
          </a:p>
        </p:txBody>
      </p:sp>
      <p:sp>
        <p:nvSpPr>
          <p:cNvPr id="19" name="Rounded Rectangle 18"/>
          <p:cNvSpPr/>
          <p:nvPr/>
        </p:nvSpPr>
        <p:spPr>
          <a:xfrm>
            <a:off x="6492060" y="1548000"/>
            <a:ext cx="5160060" cy="2700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20" name="TextBox 19"/>
          <p:cNvSpPr txBox="1"/>
          <p:nvPr/>
        </p:nvSpPr>
        <p:spPr>
          <a:xfrm>
            <a:off x="6708060" y="1638000"/>
            <a:ext cx="4728060" cy="342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EA7A28"/>
                </a:solidFill>
                <a:latin typeface="맑은 고딕"/>
                <a:ea typeface="맑은 고딕"/>
                <a:cs typeface="맑은 고딕"/>
              </a:rPr>
              <a:t>지배적 설계의 고착화</a:t>
            </a:r>
          </a:p>
        </p:txBody>
      </p:sp>
      <p:sp>
        <p:nvSpPr>
          <p:cNvPr id="21" name="TextBox 20"/>
          <p:cNvSpPr txBox="1"/>
          <p:nvPr/>
        </p:nvSpPr>
        <p:spPr>
          <a:xfrm>
            <a:off x="6708060" y="1962000"/>
            <a:ext cx="4728060" cy="216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재편기  (점진적 변화)</a:t>
            </a:r>
          </a:p>
        </p:txBody>
      </p:sp>
      <p:sp>
        <p:nvSpPr>
          <p:cNvPr id="22" name="Rectangle 21"/>
          <p:cNvSpPr/>
          <p:nvPr/>
        </p:nvSpPr>
        <p:spPr>
          <a:xfrm>
            <a:off x="6708060" y="2304000"/>
            <a:ext cx="864000" cy="1656000"/>
          </a:xfrm>
          <a:prstGeom prst="rect">
            <a:avLst/>
          </a:prstGeom>
          <a:solidFill>
            <a:srgbClr val="EA7A28"/>
          </a:solidFill>
          <a:ln>
            <a:noFill/>
          </a:ln>
        </p:spPr>
        <p:txBody>
          <a:bodyPr rtlCol="0" anchor="ctr" lIns="36000" rIns="36000" tIns="36000" bIns="36000"/>
          <a:lstStyle/>
          <a:p>
            <a:pPr algn="ctr"/>
          </a:p>
        </p:txBody>
      </p:sp>
      <p:sp>
        <p:nvSpPr>
          <p:cNvPr id="23" name="Rectangle 22"/>
          <p:cNvSpPr/>
          <p:nvPr/>
        </p:nvSpPr>
        <p:spPr>
          <a:xfrm>
            <a:off x="7860060" y="2304000"/>
            <a:ext cx="864000" cy="1656000"/>
          </a:xfrm>
          <a:prstGeom prst="rect">
            <a:avLst/>
          </a:prstGeom>
          <a:solidFill>
            <a:srgbClr val="2563C9"/>
          </a:solidFill>
          <a:ln>
            <a:noFill/>
          </a:ln>
        </p:spPr>
        <p:txBody>
          <a:bodyPr rtlCol="0" anchor="ctr" lIns="36000" rIns="36000" tIns="36000" bIns="36000"/>
          <a:lstStyle/>
          <a:p>
            <a:pPr algn="ctr"/>
          </a:p>
        </p:txBody>
      </p:sp>
      <p:sp>
        <p:nvSpPr>
          <p:cNvPr id="24" name="TextBox 23"/>
          <p:cNvSpPr txBox="1"/>
          <p:nvPr/>
        </p:nvSpPr>
        <p:spPr>
          <a:xfrm>
            <a:off x="6708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접합</a:t>
            </a:r>
          </a:p>
        </p:txBody>
      </p:sp>
      <p:sp>
        <p:nvSpPr>
          <p:cNvPr id="25" name="TextBox 24"/>
          <p:cNvSpPr txBox="1"/>
          <p:nvPr/>
        </p:nvSpPr>
        <p:spPr>
          <a:xfrm>
            <a:off x="7860060" y="2304000"/>
            <a:ext cx="864000" cy="1656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제조공정</a:t>
            </a:r>
          </a:p>
        </p:txBody>
      </p:sp>
      <p:cxnSp>
        <p:nvCxnSpPr>
          <p:cNvPr id="26" name="Connector 25"/>
          <p:cNvCxnSpPr/>
          <p:nvPr/>
        </p:nvCxnSpPr>
        <p:spPr>
          <a:xfrm>
            <a:off x="7572060" y="2484000"/>
            <a:ext cx="288000" cy="0"/>
          </a:xfrm>
          <a:prstGeom prst="line">
            <a:avLst/>
          </a:prstGeom>
          <a:ln w="38100">
            <a:solidFill>
              <a:srgbClr val="7C3AED"/>
            </a:solidFill>
          </a:ln>
        </p:spPr>
      </p:cxnSp>
      <p:cxnSp>
        <p:nvCxnSpPr>
          <p:cNvPr id="27" name="Connector 26"/>
          <p:cNvCxnSpPr/>
          <p:nvPr/>
        </p:nvCxnSpPr>
        <p:spPr>
          <a:xfrm>
            <a:off x="7572060" y="2808000"/>
            <a:ext cx="288000" cy="0"/>
          </a:xfrm>
          <a:prstGeom prst="line">
            <a:avLst/>
          </a:prstGeom>
          <a:ln w="38100">
            <a:solidFill>
              <a:srgbClr val="7C3AED"/>
            </a:solidFill>
          </a:ln>
        </p:spPr>
      </p:cxnSp>
      <p:cxnSp>
        <p:nvCxnSpPr>
          <p:cNvPr id="28" name="Connector 27"/>
          <p:cNvCxnSpPr/>
          <p:nvPr/>
        </p:nvCxnSpPr>
        <p:spPr>
          <a:xfrm>
            <a:off x="7572060" y="3132000"/>
            <a:ext cx="288000" cy="0"/>
          </a:xfrm>
          <a:prstGeom prst="line">
            <a:avLst/>
          </a:prstGeom>
          <a:ln w="38100">
            <a:solidFill>
              <a:srgbClr val="7C3AED"/>
            </a:solidFill>
          </a:ln>
        </p:spPr>
      </p:cxnSp>
      <p:cxnSp>
        <p:nvCxnSpPr>
          <p:cNvPr id="29" name="Connector 28"/>
          <p:cNvCxnSpPr/>
          <p:nvPr/>
        </p:nvCxnSpPr>
        <p:spPr>
          <a:xfrm>
            <a:off x="7572060" y="3456000"/>
            <a:ext cx="288000" cy="0"/>
          </a:xfrm>
          <a:prstGeom prst="line">
            <a:avLst/>
          </a:prstGeom>
          <a:ln w="38100">
            <a:solidFill>
              <a:srgbClr val="7C3AED"/>
            </a:solidFill>
          </a:ln>
        </p:spPr>
      </p:cxnSp>
      <p:cxnSp>
        <p:nvCxnSpPr>
          <p:cNvPr id="30" name="Connector 29"/>
          <p:cNvCxnSpPr/>
          <p:nvPr/>
        </p:nvCxnSpPr>
        <p:spPr>
          <a:xfrm>
            <a:off x="7572060" y="3780000"/>
            <a:ext cx="288000" cy="0"/>
          </a:xfrm>
          <a:prstGeom prst="line">
            <a:avLst/>
          </a:prstGeom>
          <a:ln w="38100">
            <a:solidFill>
              <a:srgbClr val="7C3AED"/>
            </a:solidFill>
          </a:ln>
        </p:spPr>
      </p:cxnSp>
      <p:sp>
        <p:nvSpPr>
          <p:cNvPr id="31" name="TextBox 30"/>
          <p:cNvSpPr txBox="1"/>
          <p:nvPr/>
        </p:nvSpPr>
        <p:spPr>
          <a:xfrm>
            <a:off x="8868060" y="2196000"/>
            <a:ext cx="2640060" cy="1872000"/>
          </a:xfrm>
          <a:prstGeom prst="rect">
            <a:avLst/>
          </a:prstGeom>
          <a:noFill/>
        </p:spPr>
        <p:txBody>
          <a:bodyPr wrap="square" lIns="0" rIns="0" tIns="0" bIns="0" anchor="ctr">
            <a:noAutofit/>
          </a:bodyPr>
          <a:lstStyle/>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직접 접합의 원리가</a:t>
            </a:r>
          </a:p>
          <a:p>
            <a:pPr algn="l" marL="0" indent="0">
              <a:lnSpc>
                <a:spcPts val="1750"/>
              </a:lnSpc>
              <a:spcBef>
                <a:spcPts val="0"/>
              </a:spcBef>
              <a:spcAft>
                <a:spcPts val="0"/>
              </a:spcAft>
              <a:buNone/>
            </a:pPr>
            <a:r>
              <a:rPr sz="1350" b="0" i="0" lang="ko-KR" altLang="en-US">
                <a:solidFill>
                  <a:srgbClr val="1E2532"/>
                </a:solidFill>
                <a:latin typeface="맑은 고딕"/>
                <a:ea typeface="맑은 고딕"/>
                <a:cs typeface="맑은 고딕"/>
              </a:rPr>
              <a:t>"주어진 조건"이 됨</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핵심 기술의 우위 소멸</a:t>
            </a:r>
          </a:p>
          <a:p>
            <a:pPr algn="l" marL="0" indent="0">
              <a:lnSpc>
                <a:spcPts val="1750"/>
              </a:lnSpc>
              <a:spcBef>
                <a:spcPts val="0"/>
              </a:spcBef>
              <a:spcAft>
                <a:spcPts val="0"/>
              </a:spcAft>
              <a:buNone/>
            </a:pPr>
            <a:r>
              <a:rPr sz="1350" b="1" i="0" lang="ko-KR" altLang="en-US">
                <a:solidFill>
                  <a:srgbClr val="13294B"/>
                </a:solidFill>
                <a:latin typeface="맑은 고딕"/>
                <a:ea typeface="맑은 고딕"/>
                <a:cs typeface="맑은 고딕"/>
              </a:rPr>
              <a:t>→ 새로운 결합은 주변 공정에서</a:t>
            </a:r>
          </a:p>
        </p:txBody>
      </p:sp>
      <p:sp>
        <p:nvSpPr>
          <p:cNvPr id="32" name="Right Arrow 31"/>
          <p:cNvSpPr/>
          <p:nvPr/>
        </p:nvSpPr>
        <p:spPr>
          <a:xfrm>
            <a:off x="5826060" y="2628000"/>
            <a:ext cx="540000" cy="540000"/>
          </a:xfrm>
          <a:prstGeom prst="rightArrow">
            <a:avLst/>
          </a:prstGeom>
          <a:solidFill>
            <a:srgbClr val="13294B"/>
          </a:solidFill>
          <a:ln>
            <a:noFill/>
          </a:ln>
        </p:spPr>
        <p:txBody>
          <a:bodyPr rtlCol="0" anchor="ctr" lIns="36000" rIns="36000" tIns="36000" bIns="36000"/>
          <a:lstStyle/>
          <a:p>
            <a:pPr algn="ctr"/>
          </a:p>
        </p:txBody>
      </p:sp>
      <p:cxnSp>
        <p:nvCxnSpPr>
          <p:cNvPr id="33" name="Connector 32"/>
          <p:cNvCxnSpPr/>
          <p:nvPr/>
        </p:nvCxnSpPr>
        <p:spPr>
          <a:xfrm>
            <a:off x="540000" y="4446000"/>
            <a:ext cx="11112120" cy="0"/>
          </a:xfrm>
          <a:prstGeom prst="line">
            <a:avLst/>
          </a:prstGeom>
          <a:ln w="25400">
            <a:solidFill>
              <a:srgbClr val="9AA3B2"/>
            </a:solidFill>
            <a:tailEnd type="triangle" w="med" len="med"/>
          </a:ln>
        </p:spPr>
      </p:cxnSp>
      <p:sp>
        <p:nvSpPr>
          <p:cNvPr id="34" name="Oval 33"/>
          <p:cNvSpPr/>
          <p:nvPr/>
        </p:nvSpPr>
        <p:spPr>
          <a:xfrm>
            <a:off x="2330820" y="4384800"/>
            <a:ext cx="122400" cy="122400"/>
          </a:xfrm>
          <a:prstGeom prst="ellipse">
            <a:avLst/>
          </a:prstGeom>
          <a:solidFill>
            <a:srgbClr val="13294B"/>
          </a:solidFill>
          <a:ln>
            <a:noFill/>
          </a:ln>
        </p:spPr>
        <p:txBody>
          <a:bodyPr rtlCol="0" anchor="ctr" lIns="36000" rIns="36000" tIns="36000" bIns="36000"/>
          <a:lstStyle/>
          <a:p>
            <a:pPr algn="ctr"/>
          </a:p>
        </p:txBody>
      </p:sp>
      <p:sp>
        <p:nvSpPr>
          <p:cNvPr id="35" name="TextBox 34"/>
          <p:cNvSpPr txBox="1"/>
          <p:nvPr/>
        </p:nvSpPr>
        <p:spPr>
          <a:xfrm>
            <a:off x="131202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격동기</a:t>
            </a:r>
          </a:p>
        </p:txBody>
      </p:sp>
      <p:sp>
        <p:nvSpPr>
          <p:cNvPr id="36" name="Oval 35"/>
          <p:cNvSpPr/>
          <p:nvPr/>
        </p:nvSpPr>
        <p:spPr>
          <a:xfrm>
            <a:off x="6034860" y="4384800"/>
            <a:ext cx="122400" cy="122400"/>
          </a:xfrm>
          <a:prstGeom prst="ellipse">
            <a:avLst/>
          </a:prstGeom>
          <a:solidFill>
            <a:srgbClr val="13294B"/>
          </a:solidFill>
          <a:ln>
            <a:noFill/>
          </a:ln>
        </p:spPr>
        <p:txBody>
          <a:bodyPr rtlCol="0" anchor="ctr" lIns="36000" rIns="36000" tIns="36000" bIns="36000"/>
          <a:lstStyle/>
          <a:p>
            <a:pPr algn="ctr"/>
          </a:p>
        </p:txBody>
      </p:sp>
      <p:sp>
        <p:nvSpPr>
          <p:cNvPr id="37" name="TextBox 36"/>
          <p:cNvSpPr txBox="1"/>
          <p:nvPr/>
        </p:nvSpPr>
        <p:spPr>
          <a:xfrm>
            <a:off x="501606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지배적 설계</a:t>
            </a:r>
          </a:p>
        </p:txBody>
      </p:sp>
      <p:sp>
        <p:nvSpPr>
          <p:cNvPr id="38" name="Oval 37"/>
          <p:cNvSpPr/>
          <p:nvPr/>
        </p:nvSpPr>
        <p:spPr>
          <a:xfrm>
            <a:off x="9738900" y="4384800"/>
            <a:ext cx="122400" cy="122400"/>
          </a:xfrm>
          <a:prstGeom prst="ellipse">
            <a:avLst/>
          </a:prstGeom>
          <a:solidFill>
            <a:srgbClr val="13294B"/>
          </a:solidFill>
          <a:ln>
            <a:noFill/>
          </a:ln>
        </p:spPr>
        <p:txBody>
          <a:bodyPr rtlCol="0" anchor="ctr" lIns="36000" rIns="36000" tIns="36000" bIns="36000"/>
          <a:lstStyle/>
          <a:p>
            <a:pPr algn="ctr"/>
          </a:p>
        </p:txBody>
      </p:sp>
      <p:sp>
        <p:nvSpPr>
          <p:cNvPr id="39" name="TextBox 38"/>
          <p:cNvSpPr txBox="1"/>
          <p:nvPr/>
        </p:nvSpPr>
        <p:spPr>
          <a:xfrm>
            <a:off x="8720100" y="4518000"/>
            <a:ext cx="2160000" cy="216000"/>
          </a:xfrm>
          <a:prstGeom prst="rect">
            <a:avLst/>
          </a:prstGeom>
          <a:noFill/>
        </p:spPr>
        <p:txBody>
          <a:bodyPr wrap="square" lIns="0" rIns="0" tIns="0" bIns="0" anchor="ctr">
            <a:noAutofit/>
          </a:bodyPr>
          <a:lstStyle/>
          <a:p>
            <a:pPr algn="ctr" marL="0" indent="0">
              <a:lnSpc>
                <a:spcPts val="1380"/>
              </a:lnSpc>
              <a:spcBef>
                <a:spcPts val="0"/>
              </a:spcBef>
              <a:spcAft>
                <a:spcPts val="0"/>
              </a:spcAft>
              <a:buNone/>
            </a:pPr>
            <a:r>
              <a:rPr sz="1150" b="1" i="0" lang="ko-KR" altLang="en-US">
                <a:solidFill>
                  <a:srgbClr val="5B6475"/>
                </a:solidFill>
                <a:latin typeface="맑은 고딕"/>
                <a:ea typeface="맑은 고딕"/>
                <a:cs typeface="맑은 고딕"/>
              </a:rPr>
              <a:t>점진적 변화</a:t>
            </a:r>
          </a:p>
        </p:txBody>
      </p:sp>
      <p:sp>
        <p:nvSpPr>
          <p:cNvPr id="40" name="TextBox 39"/>
          <p:cNvSpPr txBox="1"/>
          <p:nvPr/>
        </p:nvSpPr>
        <p:spPr>
          <a:xfrm>
            <a:off x="540000" y="4806000"/>
            <a:ext cx="11112120" cy="756000"/>
          </a:xfrm>
          <a:prstGeom prst="rect">
            <a:avLst/>
          </a:prstGeom>
          <a:noFill/>
        </p:spPr>
        <p:txBody>
          <a:bodyPr wrap="square" lIns="0" rIns="0" tIns="0" bIns="0" anchor="ctr">
            <a:noAutofit/>
          </a:bodyPr>
          <a:lstStyle/>
          <a:p>
            <a:pPr algn="ctr" marL="0" indent="0">
              <a:lnSpc>
                <a:spcPts val="1560"/>
              </a:lnSpc>
              <a:spcBef>
                <a:spcPts val="0"/>
              </a:spcBef>
              <a:spcAft>
                <a:spcPts val="300"/>
              </a:spcAft>
              <a:buNone/>
            </a:pPr>
            <a:r>
              <a:rPr sz="1300" b="1" i="0" lang="ko-KR" altLang="en-US">
                <a:solidFill>
                  <a:srgbClr val="13294B"/>
                </a:solidFill>
                <a:latin typeface="맑은 고딕"/>
                <a:ea typeface="맑은 고딕"/>
                <a:cs typeface="맑은 고딕"/>
              </a:rPr>
              <a:t>핵심 요소가 다른 요소와 안정된 인터페이스가 되면, 이후의 변화는 주변 요소에서 일어난다 (Anderson &amp; Tushman, 1990; Murmann &amp; Frenken, 2006)</a:t>
            </a:r>
          </a:p>
          <a:p>
            <a:pPr algn="ctr"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해석: 출원 시기는 지배적 설계의 근사이며, 인과를 검정한 것은 아님</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중심의 이동</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허브로 남고, 접합과 제조공정을 잇는 연결은 공정 장치 · 패키징 단계 공정으로 옮겨 갔다</a:t>
            </a:r>
          </a:p>
        </p:txBody>
      </p:sp>
      <p:sp>
        <p:nvSpPr>
          <p:cNvPr id="4" name="Rounded Rectangle 3"/>
          <p:cNvSpPr/>
          <p:nvPr/>
        </p:nvSpPr>
        <p:spPr>
          <a:xfrm>
            <a:off x="54000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TextBox 4"/>
          <p:cNvSpPr txBox="1"/>
          <p:nvPr/>
        </p:nvSpPr>
        <p:spPr>
          <a:xfrm>
            <a:off x="68400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2563C9"/>
                </a:solidFill>
                <a:latin typeface="맑은 고딕"/>
                <a:ea typeface="맑은 고딕"/>
                <a:cs typeface="맑은 고딕"/>
              </a:rPr>
              <a:t>형성기</a:t>
            </a:r>
            <a:r>
              <a:rPr sz="1150" b="0" i="0" lang="ko-KR" altLang="en-US">
                <a:solidFill>
                  <a:srgbClr val="5B6475"/>
                </a:solidFill>
                <a:latin typeface="맑은 고딕"/>
                <a:ea typeface="맑은 고딕"/>
                <a:cs typeface="맑은 고딕"/>
              </a:rPr>
              <a:t>  –2014</a:t>
            </a:r>
          </a:p>
        </p:txBody>
      </p:sp>
      <p:cxnSp>
        <p:nvCxnSpPr>
          <p:cNvPr id="6" name="Connector 5"/>
          <p:cNvCxnSpPr/>
          <p:nvPr/>
        </p:nvCxnSpPr>
        <p:spPr>
          <a:xfrm flipH="1" flipV="1">
            <a:off x="1242000" y="2142000"/>
            <a:ext cx="1096020" cy="936000"/>
          </a:xfrm>
          <a:prstGeom prst="line">
            <a:avLst/>
          </a:prstGeom>
          <a:ln w="101041">
            <a:solidFill>
              <a:srgbClr val="2563C9"/>
            </a:solidFill>
          </a:ln>
        </p:spPr>
      </p:cxnSp>
      <p:cxnSp>
        <p:nvCxnSpPr>
          <p:cNvPr id="7" name="Connector 6"/>
          <p:cNvCxnSpPr/>
          <p:nvPr/>
        </p:nvCxnSpPr>
        <p:spPr>
          <a:xfrm flipV="1">
            <a:off x="2338020" y="2142000"/>
            <a:ext cx="1096020" cy="936000"/>
          </a:xfrm>
          <a:prstGeom prst="line">
            <a:avLst/>
          </a:prstGeom>
          <a:ln w="15189">
            <a:solidFill>
              <a:srgbClr val="10A39A"/>
            </a:solidFill>
          </a:ln>
        </p:spPr>
      </p:cxnSp>
      <p:cxnSp>
        <p:nvCxnSpPr>
          <p:cNvPr id="8" name="Connector 7"/>
          <p:cNvCxnSpPr/>
          <p:nvPr/>
        </p:nvCxnSpPr>
        <p:spPr>
          <a:xfrm>
            <a:off x="2338020" y="3078000"/>
            <a:ext cx="0" cy="936000"/>
          </a:xfrm>
          <a:prstGeom prst="line">
            <a:avLst/>
          </a:prstGeom>
          <a:ln w="64058">
            <a:solidFill>
              <a:srgbClr val="E0A100"/>
            </a:solidFill>
          </a:ln>
        </p:spPr>
      </p:cxnSp>
      <p:sp>
        <p:nvSpPr>
          <p:cNvPr id="9" name="Oval 8"/>
          <p:cNvSpPr/>
          <p:nvPr/>
        </p:nvSpPr>
        <p:spPr>
          <a:xfrm>
            <a:off x="726264" y="1626264"/>
            <a:ext cx="1031472" cy="1031472"/>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10" name="TextBox 9"/>
          <p:cNvSpPr txBox="1"/>
          <p:nvPr/>
        </p:nvSpPr>
        <p:spPr>
          <a:xfrm>
            <a:off x="522000" y="13814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53.6%</a:t>
            </a:r>
          </a:p>
        </p:txBody>
      </p:sp>
      <p:sp>
        <p:nvSpPr>
          <p:cNvPr id="11" name="Oval 10"/>
          <p:cNvSpPr/>
          <p:nvPr/>
        </p:nvSpPr>
        <p:spPr>
          <a:xfrm>
            <a:off x="3227040" y="1935000"/>
            <a:ext cx="414000" cy="414000"/>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12" name="TextBox 11"/>
          <p:cNvSpPr txBox="1"/>
          <p:nvPr/>
        </p:nvSpPr>
        <p:spPr>
          <a:xfrm>
            <a:off x="2714040" y="16902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0.0%</a:t>
            </a:r>
          </a:p>
        </p:txBody>
      </p:sp>
      <p:sp>
        <p:nvSpPr>
          <p:cNvPr id="13" name="Oval 12"/>
          <p:cNvSpPr/>
          <p:nvPr/>
        </p:nvSpPr>
        <p:spPr>
          <a:xfrm>
            <a:off x="2129292" y="3805272"/>
            <a:ext cx="417456" cy="41745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14" name="TextBox 13"/>
          <p:cNvSpPr txBox="1"/>
          <p:nvPr/>
        </p:nvSpPr>
        <p:spPr>
          <a:xfrm>
            <a:off x="26007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0.3%</a:t>
            </a:r>
          </a:p>
        </p:txBody>
      </p:sp>
      <p:sp>
        <p:nvSpPr>
          <p:cNvPr id="15" name="Rounded Rectangle 14"/>
          <p:cNvSpPr/>
          <p:nvPr/>
        </p:nvSpPr>
        <p:spPr>
          <a:xfrm>
            <a:off x="148009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0.306</a:t>
            </a:r>
          </a:p>
        </p:txBody>
      </p:sp>
      <p:sp>
        <p:nvSpPr>
          <p:cNvPr id="16" name="Rounded Rectangle 15"/>
          <p:cNvSpPr/>
          <p:nvPr/>
        </p:nvSpPr>
        <p:spPr>
          <a:xfrm>
            <a:off x="261995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0.046</a:t>
            </a:r>
          </a:p>
        </p:txBody>
      </p:sp>
      <p:sp>
        <p:nvSpPr>
          <p:cNvPr id="17" name="Rounded Rectangle 16"/>
          <p:cNvSpPr/>
          <p:nvPr/>
        </p:nvSpPr>
        <p:spPr>
          <a:xfrm>
            <a:off x="205002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0.194</a:t>
            </a:r>
          </a:p>
        </p:txBody>
      </p:sp>
      <p:sp>
        <p:nvSpPr>
          <p:cNvPr id="18" name="Oval 17"/>
          <p:cNvSpPr/>
          <p:nvPr/>
        </p:nvSpPr>
        <p:spPr>
          <a:xfrm>
            <a:off x="196002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19" name="TextBox 18"/>
          <p:cNvSpPr txBox="1"/>
          <p:nvPr/>
        </p:nvSpPr>
        <p:spPr>
          <a:xfrm>
            <a:off x="196002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20" name="Rounded Rectangle 19"/>
          <p:cNvSpPr/>
          <p:nvPr/>
        </p:nvSpPr>
        <p:spPr>
          <a:xfrm>
            <a:off x="429804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1" name="TextBox 20"/>
          <p:cNvSpPr txBox="1"/>
          <p:nvPr/>
        </p:nvSpPr>
        <p:spPr>
          <a:xfrm>
            <a:off x="444204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7C3AED"/>
                </a:solidFill>
                <a:latin typeface="맑은 고딕"/>
                <a:ea typeface="맑은 고딕"/>
                <a:cs typeface="맑은 고딕"/>
              </a:rPr>
              <a:t>확산기</a:t>
            </a:r>
            <a:r>
              <a:rPr sz="1150" b="0" i="0" lang="ko-KR" altLang="en-US">
                <a:solidFill>
                  <a:srgbClr val="5B6475"/>
                </a:solidFill>
                <a:latin typeface="맑은 고딕"/>
                <a:ea typeface="맑은 고딕"/>
                <a:cs typeface="맑은 고딕"/>
              </a:rPr>
              <a:t>  2015–2019</a:t>
            </a:r>
          </a:p>
        </p:txBody>
      </p:sp>
      <p:cxnSp>
        <p:nvCxnSpPr>
          <p:cNvPr id="22" name="Connector 21"/>
          <p:cNvCxnSpPr/>
          <p:nvPr/>
        </p:nvCxnSpPr>
        <p:spPr>
          <a:xfrm flipH="1" flipV="1">
            <a:off x="5000040" y="2142000"/>
            <a:ext cx="1096020" cy="936000"/>
          </a:xfrm>
          <a:prstGeom prst="line">
            <a:avLst/>
          </a:prstGeom>
          <a:ln w="197459">
            <a:solidFill>
              <a:srgbClr val="2563C9"/>
            </a:solidFill>
          </a:ln>
        </p:spPr>
      </p:cxnSp>
      <p:cxnSp>
        <p:nvCxnSpPr>
          <p:cNvPr id="23" name="Connector 22"/>
          <p:cNvCxnSpPr/>
          <p:nvPr/>
        </p:nvCxnSpPr>
        <p:spPr>
          <a:xfrm flipV="1">
            <a:off x="6096060" y="2142000"/>
            <a:ext cx="1096020" cy="936000"/>
          </a:xfrm>
          <a:prstGeom prst="line">
            <a:avLst/>
          </a:prstGeom>
          <a:ln w="19481">
            <a:solidFill>
              <a:srgbClr val="10A39A"/>
            </a:solidFill>
          </a:ln>
        </p:spPr>
      </p:cxnSp>
      <p:cxnSp>
        <p:nvCxnSpPr>
          <p:cNvPr id="24" name="Connector 23"/>
          <p:cNvCxnSpPr/>
          <p:nvPr/>
        </p:nvCxnSpPr>
        <p:spPr>
          <a:xfrm>
            <a:off x="6096060" y="3078000"/>
            <a:ext cx="0" cy="936000"/>
          </a:xfrm>
          <a:prstGeom prst="line">
            <a:avLst/>
          </a:prstGeom>
          <a:ln w="77266">
            <a:solidFill>
              <a:srgbClr val="E0A100"/>
            </a:solidFill>
          </a:ln>
        </p:spPr>
      </p:cxnSp>
      <p:sp>
        <p:nvSpPr>
          <p:cNvPr id="25" name="Oval 24"/>
          <p:cNvSpPr/>
          <p:nvPr/>
        </p:nvSpPr>
        <p:spPr>
          <a:xfrm>
            <a:off x="4548240" y="1690200"/>
            <a:ext cx="903600" cy="90360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26" name="TextBox 25"/>
          <p:cNvSpPr txBox="1"/>
          <p:nvPr/>
        </p:nvSpPr>
        <p:spPr>
          <a:xfrm>
            <a:off x="4280040" y="144540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42.5%</a:t>
            </a:r>
          </a:p>
        </p:txBody>
      </p:sp>
      <p:sp>
        <p:nvSpPr>
          <p:cNvPr id="27" name="Oval 26"/>
          <p:cNvSpPr/>
          <p:nvPr/>
        </p:nvSpPr>
        <p:spPr>
          <a:xfrm>
            <a:off x="6974712" y="1924632"/>
            <a:ext cx="434736" cy="434736"/>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28" name="TextBox 27"/>
          <p:cNvSpPr txBox="1"/>
          <p:nvPr/>
        </p:nvSpPr>
        <p:spPr>
          <a:xfrm>
            <a:off x="6472080" y="1679832"/>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1.8%</a:t>
            </a:r>
          </a:p>
        </p:txBody>
      </p:sp>
      <p:sp>
        <p:nvSpPr>
          <p:cNvPr id="29" name="Oval 28"/>
          <p:cNvSpPr/>
          <p:nvPr/>
        </p:nvSpPr>
        <p:spPr>
          <a:xfrm>
            <a:off x="5885604" y="3803544"/>
            <a:ext cx="420912" cy="420912"/>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30" name="TextBox 29"/>
          <p:cNvSpPr txBox="1"/>
          <p:nvPr/>
        </p:nvSpPr>
        <p:spPr>
          <a:xfrm>
            <a:off x="6360516"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0.6%</a:t>
            </a:r>
          </a:p>
        </p:txBody>
      </p:sp>
      <p:sp>
        <p:nvSpPr>
          <p:cNvPr id="31" name="Rounded Rectangle 30"/>
          <p:cNvSpPr/>
          <p:nvPr/>
        </p:nvSpPr>
        <p:spPr>
          <a:xfrm>
            <a:off x="523813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0.598</a:t>
            </a:r>
          </a:p>
        </p:txBody>
      </p:sp>
      <p:sp>
        <p:nvSpPr>
          <p:cNvPr id="32" name="Rounded Rectangle 31"/>
          <p:cNvSpPr/>
          <p:nvPr/>
        </p:nvSpPr>
        <p:spPr>
          <a:xfrm>
            <a:off x="637799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0.059</a:t>
            </a:r>
          </a:p>
        </p:txBody>
      </p:sp>
      <p:sp>
        <p:nvSpPr>
          <p:cNvPr id="33" name="Rounded Rectangle 32"/>
          <p:cNvSpPr/>
          <p:nvPr/>
        </p:nvSpPr>
        <p:spPr>
          <a:xfrm>
            <a:off x="580806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0.234</a:t>
            </a:r>
          </a:p>
        </p:txBody>
      </p:sp>
      <p:sp>
        <p:nvSpPr>
          <p:cNvPr id="34" name="Oval 33"/>
          <p:cNvSpPr/>
          <p:nvPr/>
        </p:nvSpPr>
        <p:spPr>
          <a:xfrm>
            <a:off x="571806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35" name="TextBox 34"/>
          <p:cNvSpPr txBox="1"/>
          <p:nvPr/>
        </p:nvSpPr>
        <p:spPr>
          <a:xfrm>
            <a:off x="571806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36" name="Rounded Rectangle 35"/>
          <p:cNvSpPr/>
          <p:nvPr/>
        </p:nvSpPr>
        <p:spPr>
          <a:xfrm>
            <a:off x="8056080" y="936000"/>
            <a:ext cx="3596040" cy="345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37" name="TextBox 36"/>
          <p:cNvSpPr txBox="1"/>
          <p:nvPr/>
        </p:nvSpPr>
        <p:spPr>
          <a:xfrm>
            <a:off x="8200080" y="990000"/>
            <a:ext cx="3308040" cy="324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ltLang="en-US">
                <a:solidFill>
                  <a:srgbClr val="EA7A28"/>
                </a:solidFill>
                <a:latin typeface="맑은 고딕"/>
                <a:ea typeface="맑은 고딕"/>
                <a:cs typeface="맑은 고딕"/>
              </a:rPr>
              <a:t>재편기</a:t>
            </a:r>
            <a:r>
              <a:rPr sz="1150" b="0" i="0" lang="ko-KR" altLang="en-US">
                <a:solidFill>
                  <a:srgbClr val="5B6475"/>
                </a:solidFill>
                <a:latin typeface="맑은 고딕"/>
                <a:ea typeface="맑은 고딕"/>
                <a:cs typeface="맑은 고딕"/>
              </a:rPr>
              <a:t>  2020–2024</a:t>
            </a:r>
          </a:p>
        </p:txBody>
      </p:sp>
      <p:cxnSp>
        <p:nvCxnSpPr>
          <p:cNvPr id="38" name="Connector 37"/>
          <p:cNvCxnSpPr/>
          <p:nvPr/>
        </p:nvCxnSpPr>
        <p:spPr>
          <a:xfrm flipH="1" flipV="1">
            <a:off x="8758080" y="2142000"/>
            <a:ext cx="1096020" cy="936000"/>
          </a:xfrm>
          <a:prstGeom prst="line">
            <a:avLst/>
          </a:prstGeom>
          <a:ln w="52501">
            <a:solidFill>
              <a:srgbClr val="2563C9"/>
            </a:solidFill>
          </a:ln>
        </p:spPr>
      </p:cxnSp>
      <p:cxnSp>
        <p:nvCxnSpPr>
          <p:cNvPr id="39" name="Connector 38"/>
          <p:cNvCxnSpPr/>
          <p:nvPr/>
        </p:nvCxnSpPr>
        <p:spPr>
          <a:xfrm flipV="1">
            <a:off x="9854100" y="2142000"/>
            <a:ext cx="1096020" cy="936000"/>
          </a:xfrm>
          <a:prstGeom prst="line">
            <a:avLst/>
          </a:prstGeom>
          <a:ln w="58115">
            <a:solidFill>
              <a:srgbClr val="10A39A"/>
            </a:solidFill>
          </a:ln>
        </p:spPr>
      </p:cxnSp>
      <p:cxnSp>
        <p:nvCxnSpPr>
          <p:cNvPr id="40" name="Connector 39"/>
          <p:cNvCxnSpPr/>
          <p:nvPr/>
        </p:nvCxnSpPr>
        <p:spPr>
          <a:xfrm>
            <a:off x="9854100" y="3078000"/>
            <a:ext cx="0" cy="936000"/>
          </a:xfrm>
          <a:prstGeom prst="line">
            <a:avLst/>
          </a:prstGeom>
          <a:ln w="88493">
            <a:solidFill>
              <a:srgbClr val="E0A100"/>
            </a:solidFill>
          </a:ln>
        </p:spPr>
      </p:cxnSp>
      <p:sp>
        <p:nvSpPr>
          <p:cNvPr id="41" name="Oval 40"/>
          <p:cNvSpPr/>
          <p:nvPr/>
        </p:nvSpPr>
        <p:spPr>
          <a:xfrm>
            <a:off x="8499240" y="1883160"/>
            <a:ext cx="517680" cy="517680"/>
          </a:xfrm>
          <a:prstGeom prst="ellipse">
            <a:avLst/>
          </a:prstGeom>
          <a:solidFill>
            <a:srgbClr val="2563C9"/>
          </a:solidFill>
          <a:ln w="19050">
            <a:solidFill>
              <a:srgbClr val="FFFFFF"/>
            </a:solidFill>
          </a:ln>
        </p:spPr>
        <p:txBody>
          <a:bodyPr rtlCol="0" anchor="ctr" lIns="36000" rIns="36000" tIns="36000" bIns="36000"/>
          <a:lstStyle/>
          <a:p>
            <a:pPr algn="ctr"/>
          </a:p>
        </p:txBody>
      </p:sp>
      <p:sp>
        <p:nvSpPr>
          <p:cNvPr id="42" name="TextBox 41"/>
          <p:cNvSpPr txBox="1"/>
          <p:nvPr/>
        </p:nvSpPr>
        <p:spPr>
          <a:xfrm>
            <a:off x="8038080" y="1638360"/>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2563C9"/>
                </a:solidFill>
                <a:latin typeface="맑은 고딕"/>
                <a:ea typeface="맑은 고딕"/>
                <a:cs typeface="맑은 고딕"/>
              </a:rPr>
              <a:t>매개 9.0%</a:t>
            </a:r>
          </a:p>
        </p:txBody>
      </p:sp>
      <p:sp>
        <p:nvSpPr>
          <p:cNvPr id="43" name="Oval 42"/>
          <p:cNvSpPr/>
          <p:nvPr/>
        </p:nvSpPr>
        <p:spPr>
          <a:xfrm>
            <a:off x="10592784" y="1784664"/>
            <a:ext cx="714672" cy="714672"/>
          </a:xfrm>
          <a:prstGeom prst="ellipse">
            <a:avLst/>
          </a:prstGeom>
          <a:solidFill>
            <a:srgbClr val="10A39A"/>
          </a:solidFill>
          <a:ln w="19050">
            <a:solidFill>
              <a:srgbClr val="FFFFFF"/>
            </a:solidFill>
          </a:ln>
        </p:spPr>
        <p:txBody>
          <a:bodyPr rtlCol="0" anchor="ctr" lIns="36000" rIns="36000" tIns="36000" bIns="36000"/>
          <a:lstStyle/>
          <a:p>
            <a:pPr algn="ctr"/>
          </a:p>
        </p:txBody>
      </p:sp>
      <p:sp>
        <p:nvSpPr>
          <p:cNvPr id="44" name="TextBox 43"/>
          <p:cNvSpPr txBox="1"/>
          <p:nvPr/>
        </p:nvSpPr>
        <p:spPr>
          <a:xfrm>
            <a:off x="10230120" y="1539864"/>
            <a:ext cx="1440000" cy="252000"/>
          </a:xfrm>
          <a:prstGeom prst="rect">
            <a:avLst/>
          </a:prstGeom>
          <a:noFill/>
        </p:spPr>
        <p:txBody>
          <a:bodyPr wrap="square" lIns="0" rIns="0" tIns="0" bIns="0" anchor="ctr">
            <a:noAutofit/>
          </a:bodyPr>
          <a:lstStyle/>
          <a:p>
            <a:pPr algn="ctr" marL="0" indent="0">
              <a:lnSpc>
                <a:spcPts val="1320"/>
              </a:lnSpc>
              <a:spcBef>
                <a:spcPts val="0"/>
              </a:spcBef>
              <a:spcAft>
                <a:spcPts val="0"/>
              </a:spcAft>
              <a:buNone/>
            </a:pPr>
            <a:r>
              <a:rPr sz="1100" b="1" i="0" lang="ko-KR" altLang="en-US">
                <a:solidFill>
                  <a:srgbClr val="10A39A"/>
                </a:solidFill>
                <a:latin typeface="맑은 고딕"/>
                <a:ea typeface="맑은 고딕"/>
                <a:cs typeface="맑은 고딕"/>
              </a:rPr>
              <a:t>매개 26.1%</a:t>
            </a:r>
          </a:p>
        </p:txBody>
      </p:sp>
      <p:sp>
        <p:nvSpPr>
          <p:cNvPr id="45" name="Oval 44"/>
          <p:cNvSpPr/>
          <p:nvPr/>
        </p:nvSpPr>
        <p:spPr>
          <a:xfrm>
            <a:off x="9605052" y="3764952"/>
            <a:ext cx="498096" cy="498096"/>
          </a:xfrm>
          <a:prstGeom prst="ellipse">
            <a:avLst/>
          </a:prstGeom>
          <a:solidFill>
            <a:srgbClr val="E0A100"/>
          </a:solidFill>
          <a:ln w="19050">
            <a:solidFill>
              <a:srgbClr val="FFFFFF"/>
            </a:solidFill>
          </a:ln>
        </p:spPr>
        <p:txBody>
          <a:bodyPr rtlCol="0" anchor="ctr" lIns="36000" rIns="36000" tIns="36000" bIns="36000"/>
          <a:lstStyle/>
          <a:p>
            <a:pPr algn="ctr"/>
          </a:p>
        </p:txBody>
      </p:sp>
      <p:sp>
        <p:nvSpPr>
          <p:cNvPr id="46" name="TextBox 45"/>
          <p:cNvSpPr txBox="1"/>
          <p:nvPr/>
        </p:nvSpPr>
        <p:spPr>
          <a:xfrm>
            <a:off x="10157148" y="3888000"/>
            <a:ext cx="1440000" cy="252000"/>
          </a:xfrm>
          <a:prstGeom prst="rect">
            <a:avLst/>
          </a:prstGeom>
          <a:noFill/>
        </p:spPr>
        <p:txBody>
          <a:bodyPr wrap="square" lIns="0" rIns="0" tIns="0" bIns="0" anchor="ctr">
            <a:noAutofit/>
          </a:bodyPr>
          <a:lstStyle/>
          <a:p>
            <a:pPr algn="l" marL="0" indent="0">
              <a:lnSpc>
                <a:spcPts val="1320"/>
              </a:lnSpc>
              <a:spcBef>
                <a:spcPts val="0"/>
              </a:spcBef>
              <a:spcAft>
                <a:spcPts val="0"/>
              </a:spcAft>
              <a:buNone/>
            </a:pPr>
            <a:r>
              <a:rPr sz="1100" b="1" i="0" lang="ko-KR" altLang="en-US">
                <a:solidFill>
                  <a:srgbClr val="E0A100"/>
                </a:solidFill>
                <a:latin typeface="맑은 고딕"/>
                <a:ea typeface="맑은 고딕"/>
                <a:cs typeface="맑은 고딕"/>
              </a:rPr>
              <a:t>매개 7.3%</a:t>
            </a:r>
          </a:p>
        </p:txBody>
      </p:sp>
      <p:sp>
        <p:nvSpPr>
          <p:cNvPr id="47" name="Rounded Rectangle 46"/>
          <p:cNvSpPr/>
          <p:nvPr/>
        </p:nvSpPr>
        <p:spPr>
          <a:xfrm>
            <a:off x="8996170" y="2483280"/>
            <a:ext cx="576000" cy="216000"/>
          </a:xfrm>
          <a:prstGeom prst="roundRect">
            <a:avLst>
              <a:gd name="adj" fmla="val 3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2563C9"/>
                </a:solidFill>
                <a:latin typeface="맑은 고딕"/>
                <a:ea typeface="맑은 고딕"/>
                <a:cs typeface="맑은 고딕"/>
              </a:rPr>
              <a:t>0.159</a:t>
            </a:r>
          </a:p>
        </p:txBody>
      </p:sp>
      <p:sp>
        <p:nvSpPr>
          <p:cNvPr id="48" name="Rounded Rectangle 47"/>
          <p:cNvSpPr/>
          <p:nvPr/>
        </p:nvSpPr>
        <p:spPr>
          <a:xfrm>
            <a:off x="10136030" y="2483280"/>
            <a:ext cx="576000" cy="216000"/>
          </a:xfrm>
          <a:prstGeom prst="roundRect">
            <a:avLst>
              <a:gd name="adj" fmla="val 3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10A39A"/>
                </a:solidFill>
                <a:latin typeface="맑은 고딕"/>
                <a:ea typeface="맑은 고딕"/>
                <a:cs typeface="맑은 고딕"/>
              </a:rPr>
              <a:t>0.176</a:t>
            </a:r>
          </a:p>
        </p:txBody>
      </p:sp>
      <p:sp>
        <p:nvSpPr>
          <p:cNvPr id="49" name="Rounded Rectangle 48"/>
          <p:cNvSpPr/>
          <p:nvPr/>
        </p:nvSpPr>
        <p:spPr>
          <a:xfrm>
            <a:off x="9566100" y="3456720"/>
            <a:ext cx="576000" cy="216000"/>
          </a:xfrm>
          <a:prstGeom prst="roundRect">
            <a:avLst>
              <a:gd name="adj" fmla="val 30000"/>
            </a:avLst>
          </a:prstGeom>
          <a:solidFill>
            <a:srgbClr val="FFFFFF"/>
          </a:solidFill>
          <a:ln w="12700">
            <a:solidFill>
              <a:srgbClr val="E0A100"/>
            </a:solidFill>
          </a:ln>
        </p:spPr>
        <p:txBody>
          <a:bodyPr rtlCol="0" anchor="ctr" lIns="28800" rIns="28800" tIns="18000" bIns="18000" wrap="square">
            <a:noAutofit/>
          </a:bodyPr>
          <a:lstStyle/>
          <a:p>
            <a:pPr algn="ctr" marL="0" indent="0">
              <a:lnSpc>
                <a:spcPts val="1260"/>
              </a:lnSpc>
              <a:spcBef>
                <a:spcPts val="0"/>
              </a:spcBef>
              <a:spcAft>
                <a:spcPts val="0"/>
              </a:spcAft>
              <a:buNone/>
            </a:pPr>
            <a:r>
              <a:rPr sz="1050" b="1" i="0" lang="ko-KR" altLang="en-US">
                <a:solidFill>
                  <a:srgbClr val="E0A100"/>
                </a:solidFill>
                <a:latin typeface="맑은 고딕"/>
                <a:ea typeface="맑은 고딕"/>
                <a:cs typeface="맑은 고딕"/>
              </a:rPr>
              <a:t>0.268</a:t>
            </a:r>
          </a:p>
        </p:txBody>
      </p:sp>
      <p:sp>
        <p:nvSpPr>
          <p:cNvPr id="50" name="Oval 49"/>
          <p:cNvSpPr/>
          <p:nvPr/>
        </p:nvSpPr>
        <p:spPr>
          <a:xfrm>
            <a:off x="9476100" y="2700000"/>
            <a:ext cx="756000" cy="756000"/>
          </a:xfrm>
          <a:prstGeom prst="ellipse">
            <a:avLst/>
          </a:prstGeom>
          <a:solidFill>
            <a:srgbClr val="B5441B"/>
          </a:solidFill>
          <a:ln w="19050">
            <a:solidFill>
              <a:srgbClr val="FFFFFF"/>
            </a:solidFill>
          </a:ln>
        </p:spPr>
        <p:txBody>
          <a:bodyPr rtlCol="0" anchor="ctr" lIns="36000" rIns="36000" tIns="36000" bIns="36000"/>
          <a:lstStyle/>
          <a:p>
            <a:pPr algn="ctr"/>
          </a:p>
        </p:txBody>
      </p:sp>
      <p:sp>
        <p:nvSpPr>
          <p:cNvPr id="51" name="TextBox 50"/>
          <p:cNvSpPr txBox="1"/>
          <p:nvPr/>
        </p:nvSpPr>
        <p:spPr>
          <a:xfrm>
            <a:off x="9476100" y="2700000"/>
            <a:ext cx="756000" cy="756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a:t>
            </a:r>
          </a:p>
        </p:txBody>
      </p:sp>
      <p:sp>
        <p:nvSpPr>
          <p:cNvPr id="52" name="TextBox 51"/>
          <p:cNvSpPr txBox="1"/>
          <p:nvPr/>
        </p:nvSpPr>
        <p:spPr>
          <a:xfrm>
            <a:off x="540000" y="4410000"/>
            <a:ext cx="11112120" cy="252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2563C9"/>
                </a:solidFill>
                <a:latin typeface="맑은 고딕"/>
                <a:ea typeface="맑은 고딕"/>
                <a:cs typeface="맑은 고딕"/>
              </a:rPr>
              <a:t>●</a:t>
            </a:r>
            <a:r>
              <a:rPr sz="1100" b="1" i="0" lang="ko-KR" altLang="en-US">
                <a:solidFill>
                  <a:srgbClr val="1E2532"/>
                </a:solidFill>
                <a:latin typeface="맑은 고딕"/>
                <a:ea typeface="맑은 고딕"/>
                <a:cs typeface="맑은 고딕"/>
              </a:rPr>
              <a:t> 웨이퍼 제조공정    </a:t>
            </a:r>
            <a:r>
              <a:rPr sz="1300" b="1" i="0" lang="ko-KR" altLang="en-US">
                <a:solidFill>
                  <a:srgbClr val="10A39A"/>
                </a:solidFill>
                <a:latin typeface="맑은 고딕"/>
                <a:ea typeface="맑은 고딕"/>
                <a:cs typeface="맑은 고딕"/>
              </a:rPr>
              <a:t>●</a:t>
            </a:r>
            <a:r>
              <a:rPr sz="1100" b="1" i="0" lang="ko-KR" altLang="en-US">
                <a:solidFill>
                  <a:srgbClr val="1E2532"/>
                </a:solidFill>
                <a:latin typeface="맑은 고딕"/>
                <a:ea typeface="맑은 고딕"/>
                <a:cs typeface="맑은 고딕"/>
              </a:rPr>
              <a:t> 공정 장치    </a:t>
            </a:r>
            <a:r>
              <a:rPr sz="1300" b="1" i="0" lang="ko-KR" altLang="en-US">
                <a:solidFill>
                  <a:srgbClr val="E0A100"/>
                </a:solidFill>
                <a:latin typeface="맑은 고딕"/>
                <a:ea typeface="맑은 고딕"/>
                <a:cs typeface="맑은 고딕"/>
              </a:rPr>
              <a:t>●</a:t>
            </a:r>
            <a:r>
              <a:rPr sz="1100" b="1" i="0" lang="ko-KR" altLang="en-US">
                <a:solidFill>
                  <a:srgbClr val="1E2532"/>
                </a:solidFill>
                <a:latin typeface="맑은 고딕"/>
                <a:ea typeface="맑은 고딕"/>
                <a:cs typeface="맑은 고딕"/>
              </a:rPr>
              <a:t> 패키징 단계 공정    </a:t>
            </a:r>
            <a:r>
              <a:rPr sz="1300" b="1" i="0" lang="ko-KR" altLang="en-US">
                <a:solidFill>
                  <a:srgbClr val="B5441B"/>
                </a:solidFill>
                <a:latin typeface="맑은 고딕"/>
                <a:ea typeface="맑은 고딕"/>
                <a:cs typeface="맑은 고딕"/>
              </a:rPr>
              <a:t>●</a:t>
            </a:r>
            <a:r>
              <a:rPr sz="1100" b="1" i="0" lang="ko-KR" altLang="en-US">
                <a:solidFill>
                  <a:srgbClr val="1E2532"/>
                </a:solidFill>
                <a:latin typeface="맑은 고딕"/>
                <a:ea typeface="맑은 고딕"/>
                <a:cs typeface="맑은 고딕"/>
              </a:rPr>
              <a:t> 핵심 기술(접합 패드 기호 4개)    </a:t>
            </a:r>
            <a:r>
              <a:rPr sz="1050" b="0" i="0" lang="ko-KR" altLang="en-US">
                <a:solidFill>
                  <a:srgbClr val="5B6475"/>
                </a:solidFill>
                <a:latin typeface="맑은 고딕"/>
                <a:ea typeface="맑은 고딕"/>
                <a:cs typeface="맑은 고딕"/>
              </a:rPr>
              <a:t>선 굵기 · 숫자 = Jaccard 계수,  원 크기 = 매개 중심성</a:t>
            </a:r>
          </a:p>
        </p:txBody>
      </p:sp>
      <p:sp>
        <p:nvSpPr>
          <p:cNvPr id="53" name="Rounded Rectangle 52"/>
          <p:cNvSpPr/>
          <p:nvPr/>
        </p:nvSpPr>
        <p:spPr>
          <a:xfrm>
            <a:off x="540000" y="4680000"/>
            <a:ext cx="11112120" cy="1224000"/>
          </a:xfrm>
          <a:prstGeom prst="roundRect">
            <a:avLst>
              <a:gd name="adj" fmla="val 6000"/>
            </a:avLst>
          </a:prstGeom>
          <a:solidFill>
            <a:srgbClr val="FFFFFF"/>
          </a:solidFill>
          <a:ln w="12700">
            <a:solidFill>
              <a:srgbClr val="D5DBE3"/>
            </a:solidFill>
          </a:ln>
        </p:spPr>
        <p:txBody>
          <a:bodyPr rtlCol="0" anchor="ctr" lIns="36000" rIns="36000" tIns="36000" bIns="36000"/>
          <a:lstStyle/>
          <a:p>
            <a:pPr algn="ctr"/>
          </a:p>
        </p:txBody>
      </p:sp>
      <p:sp>
        <p:nvSpPr>
          <p:cNvPr id="54" name="TextBox 53"/>
          <p:cNvSpPr txBox="1"/>
          <p:nvPr/>
        </p:nvSpPr>
        <p:spPr>
          <a:xfrm>
            <a:off x="756000" y="4716000"/>
            <a:ext cx="5040000" cy="360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13294B"/>
                </a:solidFill>
                <a:latin typeface="맑은 고딕"/>
                <a:ea typeface="맑은 고딕"/>
                <a:cs typeface="맑은 고딕"/>
              </a:rPr>
              <a:t>핵심 기술과 함께 부여된 제조공정 기호</a:t>
            </a:r>
          </a:p>
        </p:txBody>
      </p:sp>
      <p:sp>
        <p:nvSpPr>
          <p:cNvPr id="55" name="Rounded Rectangle 54"/>
          <p:cNvSpPr/>
          <p:nvPr/>
        </p:nvSpPr>
        <p:spPr>
          <a:xfrm>
            <a:off x="756000" y="5148000"/>
            <a:ext cx="864000" cy="378000"/>
          </a:xfrm>
          <a:prstGeom prst="roundRect">
            <a:avLst>
              <a:gd name="adj" fmla="val 50000"/>
            </a:avLst>
          </a:prstGeom>
          <a:solidFill>
            <a:srgbClr val="7C3AED"/>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56" name="TextBox 55"/>
          <p:cNvSpPr txBox="1"/>
          <p:nvPr/>
        </p:nvSpPr>
        <p:spPr>
          <a:xfrm>
            <a:off x="176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21/187</a:t>
            </a:r>
          </a:p>
        </p:txBody>
      </p:sp>
      <p:sp>
        <p:nvSpPr>
          <p:cNvPr id="57" name="TextBox 56"/>
          <p:cNvSpPr txBox="1"/>
          <p:nvPr/>
        </p:nvSpPr>
        <p:spPr>
          <a:xfrm>
            <a:off x="176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58" name="TextBox 57"/>
          <p:cNvSpPr txBox="1"/>
          <p:nvPr/>
        </p:nvSpPr>
        <p:spPr>
          <a:xfrm>
            <a:off x="3924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7C3AED"/>
                </a:solidFill>
                <a:latin typeface="맑은 고딕"/>
                <a:ea typeface="맑은 고딕"/>
                <a:cs typeface="맑은 고딕"/>
              </a:rPr>
              <a:t>21/76898</a:t>
            </a:r>
          </a:p>
        </p:txBody>
      </p:sp>
      <p:sp>
        <p:nvSpPr>
          <p:cNvPr id="59" name="TextBox 58"/>
          <p:cNvSpPr txBox="1"/>
          <p:nvPr/>
        </p:nvSpPr>
        <p:spPr>
          <a:xfrm>
            <a:off x="3924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cxnSp>
        <p:nvCxnSpPr>
          <p:cNvPr id="60" name="Connector 59"/>
          <p:cNvCxnSpPr/>
          <p:nvPr/>
        </p:nvCxnSpPr>
        <p:spPr>
          <a:xfrm>
            <a:off x="6012000" y="5335200"/>
            <a:ext cx="288000" cy="0"/>
          </a:xfrm>
          <a:prstGeom prst="line">
            <a:avLst/>
          </a:prstGeom>
          <a:ln w="31750">
            <a:solidFill>
              <a:srgbClr val="13294B"/>
            </a:solidFill>
            <a:tailEnd type="triangle" w="med" len="med"/>
          </a:ln>
        </p:spPr>
      </p:cxnSp>
      <p:sp>
        <p:nvSpPr>
          <p:cNvPr id="61" name="Rounded Rectangle 60"/>
          <p:cNvSpPr/>
          <p:nvPr/>
        </p:nvSpPr>
        <p:spPr>
          <a:xfrm>
            <a:off x="6372000" y="5148000"/>
            <a:ext cx="864000" cy="378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62" name="TextBox 61"/>
          <p:cNvSpPr txBox="1"/>
          <p:nvPr/>
        </p:nvSpPr>
        <p:spPr>
          <a:xfrm>
            <a:off x="738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21/6835</a:t>
            </a:r>
          </a:p>
        </p:txBody>
      </p:sp>
      <p:sp>
        <p:nvSpPr>
          <p:cNvPr id="63" name="TextBox 62"/>
          <p:cNvSpPr txBox="1"/>
          <p:nvPr/>
        </p:nvSpPr>
        <p:spPr>
          <a:xfrm>
            <a:off x="738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64" name="TextBox 63"/>
          <p:cNvSpPr txBox="1"/>
          <p:nvPr/>
        </p:nvSpPr>
        <p:spPr>
          <a:xfrm>
            <a:off x="9540000" y="5040000"/>
            <a:ext cx="2124000" cy="270000"/>
          </a:xfrm>
          <a:prstGeom prst="rect">
            <a:avLst/>
          </a:prstGeom>
          <a:noFill/>
        </p:spPr>
        <p:txBody>
          <a:bodyPr wrap="square" lIns="0" rIns="0" tIns="0" bIns="0" anchor="ctr">
            <a:noAutofit/>
          </a:bodyPr>
          <a:lstStyle/>
          <a:p>
            <a:pPr algn="l" marL="0" indent="0">
              <a:lnSpc>
                <a:spcPts val="1560"/>
              </a:lnSpc>
              <a:spcBef>
                <a:spcPts val="0"/>
              </a:spcBef>
              <a:spcAft>
                <a:spcPts val="0"/>
              </a:spcAft>
              <a:buNone/>
            </a:pPr>
            <a:r>
              <a:rPr sz="1300" b="1" i="0" lang="ko-KR" altLang="en-US">
                <a:solidFill>
                  <a:srgbClr val="EA7A28"/>
                </a:solidFill>
                <a:latin typeface="맑은 고딕"/>
                <a:ea typeface="맑은 고딕"/>
                <a:cs typeface="맑은 고딕"/>
              </a:rPr>
              <a:t>21/568</a:t>
            </a:r>
          </a:p>
        </p:txBody>
      </p:sp>
      <p:sp>
        <p:nvSpPr>
          <p:cNvPr id="65" name="TextBox 64"/>
          <p:cNvSpPr txBox="1"/>
          <p:nvPr/>
        </p:nvSpPr>
        <p:spPr>
          <a:xfrm>
            <a:off x="9540000" y="5292000"/>
            <a:ext cx="2124000" cy="270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4.5  </a:t>
            </a:r>
            <a:r>
              <a:rPr sz="2200" b="1" i="0" lang="ko-KR" altLang="en-US">
                <a:solidFill>
                  <a:srgbClr val="13294B"/>
                </a:solidFill>
                <a:latin typeface="맑은 고딕"/>
                <a:ea typeface="맑은 고딕"/>
                <a:cs typeface="맑은 고딕"/>
              </a:rPr>
              <a:t>RQ3) 결합 강도와 매개 중심성</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핵심 기술은 중심에 남고, 접합과 제조공정을 잇는 연결은 공정 장치 · 패키징 단계 공정으로 이동하였다</a:t>
            </a:r>
          </a:p>
        </p:txBody>
      </p:sp>
      <p:graphicFrame>
        <p:nvGraphicFramePr>
          <p:cNvPr id="4" name="Chart 3"/>
          <p:cNvGraphicFramePr>
            <a:graphicFrameLocks noGrp="1"/>
          </p:cNvGraphicFramePr>
          <p:nvPr/>
        </p:nvGraphicFramePr>
        <p:xfrm>
          <a:off x="540000" y="900000"/>
          <a:ext cx="5256000" cy="345600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40000" y="4446000"/>
          <a:ext cx="5256000" cy="1476000"/>
        </p:xfrm>
        <a:graphic>
          <a:graphicData uri="http://schemas.openxmlformats.org/drawingml/2006/table">
            <a:tbl>
              <a:tblPr firstRow="1">
                <a:tableStyleId>{2D5ABB26-0587-4C30-8999-92F81FD0307C}</a:tableStyleId>
              </a:tblPr>
              <a:tblGrid>
                <a:gridCol w="1872000"/>
                <a:gridCol w="1116000"/>
                <a:gridCol w="1116000"/>
                <a:gridCol w="1152000"/>
              </a:tblGrid>
              <a:tr h="2952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매개 중심성 비중</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형성기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확산기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재편기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웨이퍼 제조공정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53.6%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42.5%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9.0%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공정 장치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26.1%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패키징 단계 공정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0.6%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95200">
                <a:tc>
                  <a:txBody>
                    <a:bodyPr wrap="square"/>
                    <a:lstStyle/>
                    <a:p>
                      <a:pPr algn="l" marL="0" indent="0">
                        <a:lnSpc>
                          <a:spcPts val="1440"/>
                        </a:lnSpc>
                        <a:spcBef>
                          <a:spcPts val="0"/>
                        </a:spcBef>
                        <a:spcAft>
                          <a:spcPts val="0"/>
                        </a:spcAft>
                        <a:buNone/>
                      </a:pPr>
                      <a:r>
                        <a:rPr sz="1200" b="1" i="0" lang="ko-KR" altLang="en-US">
                          <a:solidFill>
                            <a:srgbClr val="1E2532"/>
                          </a:solidFill>
                          <a:latin typeface="맑은 고딕"/>
                          <a:ea typeface="맑은 고딕"/>
                          <a:cs typeface="맑은 고딕"/>
                        </a:rPr>
                        <a:t>접합 기호(H01L24)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57.6%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6" name="Rounded Rectangle 5"/>
          <p:cNvSpPr/>
          <p:nvPr/>
        </p:nvSpPr>
        <p:spPr>
          <a:xfrm>
            <a:off x="6084000" y="990000"/>
            <a:ext cx="5568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7" name="TextBox 6"/>
          <p:cNvSpPr txBox="1"/>
          <p:nvPr/>
        </p:nvSpPr>
        <p:spPr>
          <a:xfrm>
            <a:off x="6264000" y="1062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 기술과 함께 부여된 제조공정 기호</a:t>
            </a:r>
          </a:p>
        </p:txBody>
      </p:sp>
      <p:sp>
        <p:nvSpPr>
          <p:cNvPr id="8" name="Rounded Rectangle 7"/>
          <p:cNvSpPr/>
          <p:nvPr/>
        </p:nvSpPr>
        <p:spPr>
          <a:xfrm>
            <a:off x="6264000" y="1530000"/>
            <a:ext cx="864000" cy="396000"/>
          </a:xfrm>
          <a:prstGeom prst="roundRect">
            <a:avLst>
              <a:gd name="adj" fmla="val 50000"/>
            </a:avLst>
          </a:prstGeom>
          <a:solidFill>
            <a:srgbClr val="2563C9"/>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확산기</a:t>
            </a:r>
          </a:p>
        </p:txBody>
      </p:sp>
      <p:sp>
        <p:nvSpPr>
          <p:cNvPr id="9" name="TextBox 8"/>
          <p:cNvSpPr txBox="1"/>
          <p:nvPr/>
        </p:nvSpPr>
        <p:spPr>
          <a:xfrm>
            <a:off x="723600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21/187</a:t>
            </a:r>
          </a:p>
        </p:txBody>
      </p:sp>
      <p:sp>
        <p:nvSpPr>
          <p:cNvPr id="10" name="TextBox 9"/>
          <p:cNvSpPr txBox="1"/>
          <p:nvPr/>
        </p:nvSpPr>
        <p:spPr>
          <a:xfrm>
            <a:off x="723600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반도체 몸체끼리의 접합</a:t>
            </a:r>
          </a:p>
        </p:txBody>
      </p:sp>
      <p:sp>
        <p:nvSpPr>
          <p:cNvPr id="11" name="TextBox 10"/>
          <p:cNvSpPr txBox="1"/>
          <p:nvPr/>
        </p:nvSpPr>
        <p:spPr>
          <a:xfrm>
            <a:off x="9354060" y="1440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2563C9"/>
                </a:solidFill>
                <a:latin typeface="맑은 고딕"/>
                <a:ea typeface="맑은 고딕"/>
                <a:cs typeface="맑은 고딕"/>
              </a:rPr>
              <a:t>21/76898</a:t>
            </a:r>
          </a:p>
        </p:txBody>
      </p:sp>
      <p:sp>
        <p:nvSpPr>
          <p:cNvPr id="12" name="TextBox 11"/>
          <p:cNvSpPr txBox="1"/>
          <p:nvPr/>
        </p:nvSpPr>
        <p:spPr>
          <a:xfrm>
            <a:off x="9354060" y="1710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기판 관통 배선</a:t>
            </a:r>
          </a:p>
        </p:txBody>
      </p:sp>
      <p:sp>
        <p:nvSpPr>
          <p:cNvPr id="13" name="Rounded Rectangle 12"/>
          <p:cNvSpPr/>
          <p:nvPr/>
        </p:nvSpPr>
        <p:spPr>
          <a:xfrm>
            <a:off x="6264000" y="2286000"/>
            <a:ext cx="864000" cy="396000"/>
          </a:xfrm>
          <a:prstGeom prst="roundRect">
            <a:avLst>
              <a:gd name="adj" fmla="val 50000"/>
            </a:avLst>
          </a:prstGeom>
          <a:solidFill>
            <a:srgbClr val="EA7A28"/>
          </a:solidFill>
          <a:ln>
            <a:noFill/>
          </a:ln>
        </p:spPr>
        <p:txBody>
          <a:bodyPr rtlCol="0" anchor="ctr" lIns="28800" rIns="28800" tIns="18000" bIns="18000" wrap="square">
            <a:noAutofit/>
          </a:bodyPr>
          <a:lstStyle/>
          <a:p>
            <a:pPr algn="ctr" marL="0" indent="0">
              <a:lnSpc>
                <a:spcPts val="1500"/>
              </a:lnSpc>
              <a:spcBef>
                <a:spcPts val="0"/>
              </a:spcBef>
              <a:spcAft>
                <a:spcPts val="0"/>
              </a:spcAft>
              <a:buNone/>
            </a:pPr>
            <a:r>
              <a:rPr sz="1250" b="1" i="0" lang="ko-KR" altLang="en-US">
                <a:solidFill>
                  <a:srgbClr val="FFFFFF"/>
                </a:solidFill>
                <a:latin typeface="맑은 고딕"/>
                <a:ea typeface="맑은 고딕"/>
                <a:cs typeface="맑은 고딕"/>
              </a:rPr>
              <a:t>재편기</a:t>
            </a:r>
          </a:p>
        </p:txBody>
      </p:sp>
      <p:sp>
        <p:nvSpPr>
          <p:cNvPr id="14" name="TextBox 13"/>
          <p:cNvSpPr txBox="1"/>
          <p:nvPr/>
        </p:nvSpPr>
        <p:spPr>
          <a:xfrm>
            <a:off x="723600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21/6835</a:t>
            </a:r>
          </a:p>
        </p:txBody>
      </p:sp>
      <p:sp>
        <p:nvSpPr>
          <p:cNvPr id="15" name="TextBox 14"/>
          <p:cNvSpPr txBox="1"/>
          <p:nvPr/>
        </p:nvSpPr>
        <p:spPr>
          <a:xfrm>
            <a:off x="723600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임시 기판을 이용한 지지</a:t>
            </a:r>
          </a:p>
        </p:txBody>
      </p:sp>
      <p:sp>
        <p:nvSpPr>
          <p:cNvPr id="16" name="TextBox 15"/>
          <p:cNvSpPr txBox="1"/>
          <p:nvPr/>
        </p:nvSpPr>
        <p:spPr>
          <a:xfrm>
            <a:off x="9354060" y="2196000"/>
            <a:ext cx="2118060" cy="288000"/>
          </a:xfrm>
          <a:prstGeom prst="rect">
            <a:avLst/>
          </a:prstGeom>
          <a:noFill/>
        </p:spPr>
        <p:txBody>
          <a:bodyPr wrap="square" lIns="0" rIns="0" tIns="0" bIns="0" anchor="ctr">
            <a:noAutofit/>
          </a:bodyPr>
          <a:lstStyle/>
          <a:p>
            <a:pPr algn="l" marL="0" indent="0">
              <a:lnSpc>
                <a:spcPts val="1620"/>
              </a:lnSpc>
              <a:spcBef>
                <a:spcPts val="0"/>
              </a:spcBef>
              <a:spcAft>
                <a:spcPts val="0"/>
              </a:spcAft>
              <a:buNone/>
            </a:pPr>
            <a:r>
              <a:rPr sz="1350" b="1" i="0" lang="ko-KR" altLang="en-US">
                <a:solidFill>
                  <a:srgbClr val="EA7A28"/>
                </a:solidFill>
                <a:latin typeface="맑은 고딕"/>
                <a:ea typeface="맑은 고딕"/>
                <a:cs typeface="맑은 고딕"/>
              </a:rPr>
              <a:t>21/568</a:t>
            </a:r>
          </a:p>
        </p:txBody>
      </p:sp>
      <p:sp>
        <p:nvSpPr>
          <p:cNvPr id="17" name="TextBox 16"/>
          <p:cNvSpPr txBox="1"/>
          <p:nvPr/>
        </p:nvSpPr>
        <p:spPr>
          <a:xfrm>
            <a:off x="9354060" y="2466000"/>
            <a:ext cx="2118060" cy="288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봉지 공정용 임시 기판</a:t>
            </a:r>
          </a:p>
        </p:txBody>
      </p:sp>
      <p:sp>
        <p:nvSpPr>
          <p:cNvPr id="18" name="Rounded Rectangle 17"/>
          <p:cNvSpPr/>
          <p:nvPr/>
        </p:nvSpPr>
        <p:spPr>
          <a:xfrm>
            <a:off x="6084000" y="3114000"/>
            <a:ext cx="5568120" cy="117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9" name="TextBox 18"/>
          <p:cNvSpPr txBox="1"/>
          <p:nvPr/>
        </p:nvSpPr>
        <p:spPr>
          <a:xfrm>
            <a:off x="6264000" y="3168000"/>
            <a:ext cx="5208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 네트워크의 허브와 연결 기호</a:t>
            </a:r>
          </a:p>
        </p:txBody>
      </p:sp>
      <p:sp>
        <p:nvSpPr>
          <p:cNvPr id="20" name="TextBox 19"/>
          <p:cNvSpPr txBox="1"/>
          <p:nvPr/>
        </p:nvSpPr>
        <p:spPr>
          <a:xfrm>
            <a:off x="6264000" y="3456000"/>
            <a:ext cx="5208120" cy="828000"/>
          </a:xfrm>
          <a:prstGeom prst="rect">
            <a:avLst/>
          </a:prstGeom>
          <a:noFill/>
        </p:spPr>
        <p:txBody>
          <a:bodyPr wrap="square" lIns="0" rIns="0" tIns="0" bIns="0" anchor="t">
            <a:noAutofit/>
          </a:bodyPr>
          <a:lstStyle/>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허브(연결 강도 상위 3개): 세 시기 모두 핵심 기호 24/80 · 24/08 · 24/05</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연결 기호(매개 중심성 최대 제조공정 기호): 21/187 → 21/67121 · 21/67766 (공정 장치)</a:t>
            </a:r>
          </a:p>
        </p:txBody>
      </p:sp>
      <p:sp>
        <p:nvSpPr>
          <p:cNvPr id="21" name="Rounded Rectangle 20"/>
          <p:cNvSpPr/>
          <p:nvPr/>
        </p:nvSpPr>
        <p:spPr>
          <a:xfrm>
            <a:off x="6084000" y="4392000"/>
            <a:ext cx="5568120" cy="147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2" name="TextBox 21"/>
          <p:cNvSpPr txBox="1"/>
          <p:nvPr/>
        </p:nvSpPr>
        <p:spPr>
          <a:xfrm>
            <a:off x="6264000" y="4518000"/>
            <a:ext cx="5208120" cy="288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p>
        </p:txBody>
      </p:sp>
      <p:sp>
        <p:nvSpPr>
          <p:cNvPr id="23" name="TextBox 22"/>
          <p:cNvSpPr txBox="1"/>
          <p:nvPr/>
        </p:nvSpPr>
        <p:spPr>
          <a:xfrm>
            <a:off x="6264000" y="4824000"/>
            <a:ext cx="5208120" cy="576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50" b="0" i="0" lang="ko-KR" altLang="en-US">
                <a:solidFill>
                  <a:srgbClr val="5B6475"/>
                </a:solidFill>
                <a:latin typeface="맑은 고딕"/>
                <a:ea typeface="맑은 고딕"/>
                <a:cs typeface="맑은 고딕"/>
              </a:rPr>
              <a:t>공정 단계 간 기술융합의 중심이 핵심 기술과 주변 기술 사이에서 시기에 따라 어떻게 재편되는가?</a:t>
            </a:r>
          </a:p>
        </p:txBody>
      </p:sp>
      <p:cxnSp>
        <p:nvCxnSpPr>
          <p:cNvPr id="24" name="Connector 23"/>
          <p:cNvCxnSpPr/>
          <p:nvPr/>
        </p:nvCxnSpPr>
        <p:spPr>
          <a:xfrm>
            <a:off x="6264000" y="5454000"/>
            <a:ext cx="5208120" cy="0"/>
          </a:xfrm>
          <a:prstGeom prst="line">
            <a:avLst/>
          </a:prstGeom>
          <a:ln w="12700">
            <a:solidFill>
              <a:srgbClr val="D5DBE3"/>
            </a:solidFill>
          </a:ln>
        </p:spPr>
      </p:cxnSp>
      <p:sp>
        <p:nvSpPr>
          <p:cNvPr id="25" name="TextBox 24"/>
          <p:cNvSpPr txBox="1"/>
          <p:nvPr/>
        </p:nvSpPr>
        <p:spPr>
          <a:xfrm>
            <a:off x="6264000" y="5526000"/>
            <a:ext cx="5208120" cy="252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융합의 중심: 웨이퍼 제조공정 → 공정 장치 · 패키징 단계 공정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4.6  </a:t>
            </a:r>
            <a:r>
              <a:rPr sz="2200" b="1" i="0" lang="ko-KR" altLang="en-US">
                <a:solidFill>
                  <a:srgbClr val="13294B"/>
                </a:solidFill>
                <a:latin typeface="맑은 고딕"/>
                <a:ea typeface="맑은 고딕"/>
                <a:cs typeface="맑은 고딕"/>
              </a:rPr>
              <a:t>강건성 검증</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RQ1 · RQ3는 모든 재추정에서, RQ2는 hybrid bonding 표본을 제외한 모든 재추정에서 유지되었다</a:t>
            </a:r>
          </a:p>
        </p:txBody>
      </p:sp>
      <p:graphicFrame>
        <p:nvGraphicFramePr>
          <p:cNvPr id="4" name="Table 3"/>
          <p:cNvGraphicFramePr>
            <a:graphicFrameLocks noGrp="1"/>
          </p:cNvGraphicFramePr>
          <p:nvPr/>
        </p:nvGraphicFramePr>
        <p:xfrm>
          <a:off x="540000" y="954000"/>
          <a:ext cx="11113200" cy="3538800"/>
        </p:xfrm>
        <a:graphic>
          <a:graphicData uri="http://schemas.openxmlformats.org/drawingml/2006/table">
            <a:tbl>
              <a:tblPr firstRow="1">
                <a:tableStyleId>{2D5ABB26-0587-4C30-8999-92F81FD0307C}</a:tableStyleId>
              </a:tblPr>
              <a:tblGrid>
                <a:gridCol w="3744000"/>
                <a:gridCol w="1296000"/>
                <a:gridCol w="1944000"/>
                <a:gridCol w="2196000"/>
                <a:gridCol w="193320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RQ1</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기술범위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RQ2</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RQ3</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 / 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 / 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검색어의 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 / 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추정하지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16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5B6475"/>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4932000"/>
            <a:ext cx="11112120" cy="972000"/>
          </a:xfrm>
          <a:prstGeom prst="rect">
            <a:avLst/>
          </a:prstGeom>
          <a:noFill/>
        </p:spPr>
        <p:txBody>
          <a:bodyPr wrap="square" lIns="0" rIns="0" tIns="0" bIns="0" anchor="t">
            <a:noAutofit/>
          </a:bodyPr>
          <a:lstStyle/>
          <a:p>
            <a:pPr algn="l" marL="0" indent="0">
              <a:lnSpc>
                <a:spcPts val="1320"/>
              </a:lnSpc>
              <a:spcBef>
                <a:spcPts val="0"/>
              </a:spcBef>
              <a:spcAft>
                <a:spcPts val="400"/>
              </a:spcAft>
              <a:buNone/>
            </a:pPr>
            <a:r>
              <a:rPr sz="1100" b="0" i="0" lang="ko-KR" altLang="en-US">
                <a:solidFill>
                  <a:srgbClr val="5B6475"/>
                </a:solidFill>
                <a:latin typeface="맑은 고딕"/>
                <a:ea typeface="맑은 고딕"/>
                <a:cs typeface="맑은 고딕"/>
              </a:rPr>
              <a:t>RQ1 · RQ2: 다항 로짓 상대위험비 (N 왼쪽) · RQ3: 핵심 기술 모형의 2014년 이전 대비 배수 (N 오른쪽) · *** p &lt; 0.01, ** p &lt; 0.05</a:t>
            </a:r>
          </a:p>
          <a:p>
            <a:pPr algn="l" marL="180000" indent="-180000">
              <a:lnSpc>
                <a:spcPts val="1440"/>
              </a:lnSpc>
              <a:spcBef>
                <a:spcPts val="0"/>
              </a:spcBef>
              <a:spcAft>
                <a:spcPts val="300"/>
              </a:spcAft>
              <a:buClr>
                <a:srgbClr val="13294B"/>
              </a:buClr>
              <a:buSzPct val="70000"/>
              <a:buFont typeface="Arial"/>
              <a:buChar char="■"/>
            </a:pPr>
            <a:r>
              <a:rPr sz="1200" b="0" i="0" lang="ko-KR" altLang="en-US">
                <a:solidFill>
                  <a:srgbClr val="1E2532"/>
                </a:solidFill>
                <a:latin typeface="맑은 고딕"/>
                <a:ea typeface="맑은 고딕"/>
                <a:cs typeface="맑은 고딕"/>
              </a:rPr>
              <a:t>hybrid bonding 표본은 2014년 이전 출원이 30건뿐이어서 시간 추세를 식별할 수 없고, 2019년 이전 핵심 기술 없는 접합 출원이 12건이라 RQ3 모형은 추정하지 않음</a:t>
            </a:r>
          </a:p>
          <a:p>
            <a:pPr algn="l" marL="180000" indent="-180000">
              <a:lnSpc>
                <a:spcPts val="1440"/>
              </a:lnSpc>
              <a:spcBef>
                <a:spcPts val="0"/>
              </a:spcBef>
              <a:spcAft>
                <a:spcPts val="0"/>
              </a:spcAft>
              <a:buClr>
                <a:srgbClr val="13294B"/>
              </a:buClr>
              <a:buSzPct val="70000"/>
              <a:buFont typeface="Arial"/>
              <a:buChar char="■"/>
            </a:pPr>
            <a:r>
              <a:rPr sz="1200" b="0" i="0" lang="ko-KR" altLang="en-US">
                <a:solidFill>
                  <a:srgbClr val="1E2532"/>
                </a:solidFill>
                <a:latin typeface="맑은 고딕"/>
                <a:ea typeface="맑은 고딕"/>
                <a:cs typeface="맑은 고딕"/>
              </a:rPr>
              <a:t>확산기의 승산비는 군집 표준오차와 무관 용법 제외 표본에서 유의성을 잃으므로, 우위가 사라진 시점(확산기/재편기)은 확정하지 않음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2200" b="1" i="0" lang="ko-KR" altLang="en-US">
                <a:solidFill>
                  <a:srgbClr val="13294B"/>
                </a:solidFill>
                <a:latin typeface="맑은 고딕"/>
                <a:ea typeface="맑은 고딕"/>
                <a:cs typeface="맑은 고딕"/>
              </a:rPr>
              <a:t>Chapter 4  Summary</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공정 단계 간 융합은 국면에 따라 내용과 중심이 재편되는 동태적 과정이었다</a:t>
            </a:r>
          </a:p>
        </p:txBody>
      </p:sp>
      <p:sp>
        <p:nvSpPr>
          <p:cNvPr id="4" name="TextBox 3"/>
          <p:cNvSpPr txBox="1"/>
          <p:nvPr/>
        </p:nvSpPr>
        <p:spPr>
          <a:xfrm>
            <a:off x="540000" y="1656000"/>
            <a:ext cx="2124000" cy="630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가장 두드러진 유형</a:t>
            </a:r>
          </a:p>
        </p:txBody>
      </p:sp>
      <p:sp>
        <p:nvSpPr>
          <p:cNvPr id="5" name="TextBox 4"/>
          <p:cNvSpPr txBox="1"/>
          <p:nvPr/>
        </p:nvSpPr>
        <p:spPr>
          <a:xfrm>
            <a:off x="540000" y="23508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핵심 기술의 승산비</a:t>
            </a:r>
          </a:p>
        </p:txBody>
      </p:sp>
      <p:sp>
        <p:nvSpPr>
          <p:cNvPr id="6" name="TextBox 5"/>
          <p:cNvSpPr txBox="1"/>
          <p:nvPr/>
        </p:nvSpPr>
        <p:spPr>
          <a:xfrm>
            <a:off x="540000" y="29376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 출원 중 핵심 기술 비중</a:t>
            </a:r>
          </a:p>
        </p:txBody>
      </p:sp>
      <p:sp>
        <p:nvSpPr>
          <p:cNvPr id="7" name="TextBox 6"/>
          <p:cNvSpPr txBox="1"/>
          <p:nvPr/>
        </p:nvSpPr>
        <p:spPr>
          <a:xfrm>
            <a:off x="540000" y="3524400"/>
            <a:ext cx="2124000" cy="738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접합과 결합한 제조공정의 중심</a:t>
            </a:r>
          </a:p>
        </p:txBody>
      </p:sp>
      <p:sp>
        <p:nvSpPr>
          <p:cNvPr id="8" name="TextBox 7"/>
          <p:cNvSpPr txBox="1"/>
          <p:nvPr/>
        </p:nvSpPr>
        <p:spPr>
          <a:xfrm>
            <a:off x="540000" y="4327200"/>
            <a:ext cx="2124000" cy="522000"/>
          </a:xfrm>
          <a:prstGeom prst="rect">
            <a:avLst/>
          </a:prstGeom>
          <a:noFill/>
        </p:spPr>
        <p:txBody>
          <a:bodyPr wrap="square" lIns="0" rIns="0" tIns="0" bIns="0" anchor="ctr">
            <a:noAutofit/>
          </a:bodyPr>
          <a:lstStyle/>
          <a:p>
            <a:pPr algn="r" marL="0" indent="0">
              <a:lnSpc>
                <a:spcPts val="1560"/>
              </a:lnSpc>
              <a:spcBef>
                <a:spcPts val="0"/>
              </a:spcBef>
              <a:spcAft>
                <a:spcPts val="0"/>
              </a:spcAft>
              <a:buNone/>
            </a:pPr>
            <a:r>
              <a:rPr sz="1300" b="1" i="0" lang="ko-KR" altLang="en-US">
                <a:solidFill>
                  <a:srgbClr val="5B6475"/>
                </a:solidFill>
                <a:latin typeface="맑은 고딕"/>
                <a:ea typeface="맑은 고딕"/>
                <a:cs typeface="맑은 고딕"/>
              </a:rPr>
              <a:t>단계 모형과의 대응</a:t>
            </a:r>
          </a:p>
        </p:txBody>
      </p:sp>
      <p:sp>
        <p:nvSpPr>
          <p:cNvPr id="9" name="Pentagon 8"/>
          <p:cNvSpPr/>
          <p:nvPr/>
        </p:nvSpPr>
        <p:spPr>
          <a:xfrm>
            <a:off x="2772000" y="972000"/>
            <a:ext cx="3002040" cy="558000"/>
          </a:xfrm>
          <a:prstGeom prst="homePlate">
            <a:avLst/>
          </a:prstGeom>
          <a:solidFill>
            <a:srgbClr val="2563C9"/>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형성기</a:t>
            </a:r>
            <a:r>
              <a:rPr sz="1250" b="0" i="0" lang="ko-KR" altLang="en-US">
                <a:solidFill>
                  <a:srgbClr val="FFFFFF"/>
                </a:solidFill>
                <a:latin typeface="맑은 고딕"/>
                <a:ea typeface="맑은 고딕"/>
                <a:cs typeface="맑은 고딕"/>
              </a:rPr>
              <a:t>  –2014</a:t>
            </a:r>
          </a:p>
        </p:txBody>
      </p:sp>
      <p:sp>
        <p:nvSpPr>
          <p:cNvPr id="10" name="Rounded Rectangle 9"/>
          <p:cNvSpPr/>
          <p:nvPr/>
        </p:nvSpPr>
        <p:spPr>
          <a:xfrm>
            <a:off x="2772000" y="1620000"/>
            <a:ext cx="2840040" cy="3276000"/>
          </a:xfrm>
          <a:prstGeom prst="roundRect">
            <a:avLst>
              <a:gd name="adj" fmla="val 6000"/>
            </a:avLst>
          </a:prstGeom>
          <a:solidFill>
            <a:srgbClr val="E3ECFB"/>
          </a:solidFill>
          <a:ln>
            <a:noFill/>
          </a:ln>
        </p:spPr>
        <p:txBody>
          <a:bodyPr rtlCol="0" anchor="ctr" lIns="36000" rIns="36000" tIns="36000" bIns="36000"/>
          <a:lstStyle/>
          <a:p>
            <a:pPr algn="ctr"/>
          </a:p>
        </p:txBody>
      </p:sp>
      <p:sp>
        <p:nvSpPr>
          <p:cNvPr id="11" name="TextBox 10"/>
          <p:cNvSpPr txBox="1"/>
          <p:nvPr/>
        </p:nvSpPr>
        <p:spPr>
          <a:xfrm>
            <a:off x="288000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공정 단독형 43.6% (최다)</a:t>
            </a:r>
          </a:p>
        </p:txBody>
      </p:sp>
      <p:cxnSp>
        <p:nvCxnSpPr>
          <p:cNvPr id="12" name="Connector 11"/>
          <p:cNvCxnSpPr/>
          <p:nvPr/>
        </p:nvCxnSpPr>
        <p:spPr>
          <a:xfrm>
            <a:off x="2988000" y="2318400"/>
            <a:ext cx="2408040" cy="0"/>
          </a:xfrm>
          <a:prstGeom prst="line">
            <a:avLst/>
          </a:prstGeom>
          <a:ln w="19050">
            <a:solidFill>
              <a:srgbClr val="FFFFFF"/>
            </a:solidFill>
          </a:ln>
        </p:spPr>
      </p:cxnSp>
      <p:sp>
        <p:nvSpPr>
          <p:cNvPr id="13" name="TextBox 12"/>
          <p:cNvSpPr txBox="1"/>
          <p:nvPr/>
        </p:nvSpPr>
        <p:spPr>
          <a:xfrm>
            <a:off x="288000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11.07***</a:t>
            </a:r>
          </a:p>
        </p:txBody>
      </p:sp>
      <p:cxnSp>
        <p:nvCxnSpPr>
          <p:cNvPr id="14" name="Connector 13"/>
          <p:cNvCxnSpPr/>
          <p:nvPr/>
        </p:nvCxnSpPr>
        <p:spPr>
          <a:xfrm>
            <a:off x="2988000" y="2905200"/>
            <a:ext cx="2408040" cy="0"/>
          </a:xfrm>
          <a:prstGeom prst="line">
            <a:avLst/>
          </a:prstGeom>
          <a:ln w="19050">
            <a:solidFill>
              <a:srgbClr val="FFFFFF"/>
            </a:solidFill>
          </a:ln>
        </p:spPr>
      </p:cxnSp>
      <p:sp>
        <p:nvSpPr>
          <p:cNvPr id="15" name="TextBox 14"/>
          <p:cNvSpPr txBox="1"/>
          <p:nvPr/>
        </p:nvSpPr>
        <p:spPr>
          <a:xfrm>
            <a:off x="288000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53.5%</a:t>
            </a:r>
          </a:p>
        </p:txBody>
      </p:sp>
      <p:cxnSp>
        <p:nvCxnSpPr>
          <p:cNvPr id="16" name="Connector 15"/>
          <p:cNvCxnSpPr/>
          <p:nvPr/>
        </p:nvCxnSpPr>
        <p:spPr>
          <a:xfrm>
            <a:off x="2988000" y="3492000"/>
            <a:ext cx="2408040" cy="0"/>
          </a:xfrm>
          <a:prstGeom prst="line">
            <a:avLst/>
          </a:prstGeom>
          <a:ln w="19050">
            <a:solidFill>
              <a:srgbClr val="FFFFFF"/>
            </a:solidFill>
          </a:ln>
        </p:spPr>
      </p:cxnSp>
      <p:sp>
        <p:nvSpPr>
          <p:cNvPr id="17" name="TextBox 16"/>
          <p:cNvSpPr txBox="1"/>
          <p:nvPr/>
        </p:nvSpPr>
        <p:spPr>
          <a:xfrm>
            <a:off x="288000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p:txBody>
      </p:sp>
      <p:cxnSp>
        <p:nvCxnSpPr>
          <p:cNvPr id="18" name="Connector 17"/>
          <p:cNvCxnSpPr/>
          <p:nvPr/>
        </p:nvCxnSpPr>
        <p:spPr>
          <a:xfrm>
            <a:off x="2988000" y="4294800"/>
            <a:ext cx="2408040" cy="0"/>
          </a:xfrm>
          <a:prstGeom prst="line">
            <a:avLst/>
          </a:prstGeom>
          <a:ln w="19050">
            <a:solidFill>
              <a:srgbClr val="FFFFFF"/>
            </a:solidFill>
          </a:ln>
        </p:spPr>
      </p:cxnSp>
      <p:sp>
        <p:nvSpPr>
          <p:cNvPr id="19" name="TextBox 18"/>
          <p:cNvSpPr txBox="1"/>
          <p:nvPr/>
        </p:nvSpPr>
        <p:spPr>
          <a:xfrm>
            <a:off x="288000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2563C9"/>
                </a:solidFill>
                <a:latin typeface="맑은 고딕"/>
                <a:ea typeface="맑은 고딕"/>
                <a:cs typeface="맑은 고딕"/>
              </a:rPr>
              <a:t>지식 융합</a:t>
            </a:r>
          </a:p>
        </p:txBody>
      </p:sp>
      <p:sp>
        <p:nvSpPr>
          <p:cNvPr id="20" name="Pentagon 19"/>
          <p:cNvSpPr/>
          <p:nvPr/>
        </p:nvSpPr>
        <p:spPr>
          <a:xfrm>
            <a:off x="5792040" y="972000"/>
            <a:ext cx="3002040" cy="558000"/>
          </a:xfrm>
          <a:prstGeom prst="homePlate">
            <a:avLst/>
          </a:prstGeom>
          <a:solidFill>
            <a:srgbClr val="7C3AED"/>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확산기</a:t>
            </a:r>
            <a:r>
              <a:rPr sz="1250" b="0" i="0" lang="ko-KR" altLang="en-US">
                <a:solidFill>
                  <a:srgbClr val="FFFFFF"/>
                </a:solidFill>
                <a:latin typeface="맑은 고딕"/>
                <a:ea typeface="맑은 고딕"/>
                <a:cs typeface="맑은 고딕"/>
              </a:rPr>
              <a:t>  2015–2019</a:t>
            </a:r>
          </a:p>
        </p:txBody>
      </p:sp>
      <p:sp>
        <p:nvSpPr>
          <p:cNvPr id="21" name="Rounded Rectangle 20"/>
          <p:cNvSpPr/>
          <p:nvPr/>
        </p:nvSpPr>
        <p:spPr>
          <a:xfrm>
            <a:off x="5792040" y="1620000"/>
            <a:ext cx="2840040" cy="3276000"/>
          </a:xfrm>
          <a:prstGeom prst="roundRect">
            <a:avLst>
              <a:gd name="adj" fmla="val 6000"/>
            </a:avLst>
          </a:prstGeom>
          <a:solidFill>
            <a:srgbClr val="EEE6FD"/>
          </a:solidFill>
          <a:ln>
            <a:noFill/>
          </a:ln>
        </p:spPr>
        <p:txBody>
          <a:bodyPr rtlCol="0" anchor="ctr" lIns="36000" rIns="36000" tIns="36000" bIns="36000"/>
          <a:lstStyle/>
          <a:p>
            <a:pPr algn="ctr"/>
          </a:p>
        </p:txBody>
      </p:sp>
      <p:sp>
        <p:nvSpPr>
          <p:cNvPr id="22" name="TextBox 21"/>
          <p:cNvSpPr txBox="1"/>
          <p:nvPr/>
        </p:nvSpPr>
        <p:spPr>
          <a:xfrm>
            <a:off x="590004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62.2% (정점)</a:t>
            </a:r>
          </a:p>
        </p:txBody>
      </p:sp>
      <p:cxnSp>
        <p:nvCxnSpPr>
          <p:cNvPr id="23" name="Connector 22"/>
          <p:cNvCxnSpPr/>
          <p:nvPr/>
        </p:nvCxnSpPr>
        <p:spPr>
          <a:xfrm>
            <a:off x="6008040" y="2318400"/>
            <a:ext cx="2408040" cy="0"/>
          </a:xfrm>
          <a:prstGeom prst="line">
            <a:avLst/>
          </a:prstGeom>
          <a:ln w="19050">
            <a:solidFill>
              <a:srgbClr val="FFFFFF"/>
            </a:solidFill>
          </a:ln>
        </p:spPr>
      </p:cxnSp>
      <p:sp>
        <p:nvSpPr>
          <p:cNvPr id="24" name="TextBox 23"/>
          <p:cNvSpPr txBox="1"/>
          <p:nvPr/>
        </p:nvSpPr>
        <p:spPr>
          <a:xfrm>
            <a:off x="590004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2.45**</a:t>
            </a:r>
          </a:p>
        </p:txBody>
      </p:sp>
      <p:cxnSp>
        <p:nvCxnSpPr>
          <p:cNvPr id="25" name="Connector 24"/>
          <p:cNvCxnSpPr/>
          <p:nvPr/>
        </p:nvCxnSpPr>
        <p:spPr>
          <a:xfrm>
            <a:off x="6008040" y="2905200"/>
            <a:ext cx="2408040" cy="0"/>
          </a:xfrm>
          <a:prstGeom prst="line">
            <a:avLst/>
          </a:prstGeom>
          <a:ln w="19050">
            <a:solidFill>
              <a:srgbClr val="FFFFFF"/>
            </a:solidFill>
          </a:ln>
        </p:spPr>
      </p:cxnSp>
      <p:sp>
        <p:nvSpPr>
          <p:cNvPr id="26" name="TextBox 25"/>
          <p:cNvSpPr txBox="1"/>
          <p:nvPr/>
        </p:nvSpPr>
        <p:spPr>
          <a:xfrm>
            <a:off x="590004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78.7%</a:t>
            </a:r>
          </a:p>
        </p:txBody>
      </p:sp>
      <p:cxnSp>
        <p:nvCxnSpPr>
          <p:cNvPr id="27" name="Connector 26"/>
          <p:cNvCxnSpPr/>
          <p:nvPr/>
        </p:nvCxnSpPr>
        <p:spPr>
          <a:xfrm>
            <a:off x="6008040" y="3492000"/>
            <a:ext cx="2408040" cy="0"/>
          </a:xfrm>
          <a:prstGeom prst="line">
            <a:avLst/>
          </a:prstGeom>
          <a:ln w="19050">
            <a:solidFill>
              <a:srgbClr val="FFFFFF"/>
            </a:solidFill>
          </a:ln>
        </p:spPr>
      </p:cxnSp>
      <p:sp>
        <p:nvSpPr>
          <p:cNvPr id="28" name="TextBox 27"/>
          <p:cNvSpPr txBox="1"/>
          <p:nvPr/>
        </p:nvSpPr>
        <p:spPr>
          <a:xfrm>
            <a:off x="590004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웨이퍼 제조공정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(21/187 · 21/76898)</a:t>
            </a:r>
          </a:p>
        </p:txBody>
      </p:sp>
      <p:cxnSp>
        <p:nvCxnSpPr>
          <p:cNvPr id="29" name="Connector 28"/>
          <p:cNvCxnSpPr/>
          <p:nvPr/>
        </p:nvCxnSpPr>
        <p:spPr>
          <a:xfrm>
            <a:off x="6008040" y="4294800"/>
            <a:ext cx="2408040" cy="0"/>
          </a:xfrm>
          <a:prstGeom prst="line">
            <a:avLst/>
          </a:prstGeom>
          <a:ln w="19050">
            <a:solidFill>
              <a:srgbClr val="FFFFFF"/>
            </a:solidFill>
          </a:ln>
        </p:spPr>
      </p:cxnSp>
      <p:sp>
        <p:nvSpPr>
          <p:cNvPr id="30" name="TextBox 29"/>
          <p:cNvSpPr txBox="1"/>
          <p:nvPr/>
        </p:nvSpPr>
        <p:spPr>
          <a:xfrm>
            <a:off x="590004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7C3AED"/>
                </a:solidFill>
                <a:latin typeface="맑은 고딕"/>
                <a:ea typeface="맑은 고딕"/>
                <a:cs typeface="맑은 고딕"/>
              </a:rPr>
              <a:t>기술 융합</a:t>
            </a:r>
          </a:p>
        </p:txBody>
      </p:sp>
      <p:sp>
        <p:nvSpPr>
          <p:cNvPr id="31" name="Rectangle 30"/>
          <p:cNvSpPr/>
          <p:nvPr/>
        </p:nvSpPr>
        <p:spPr>
          <a:xfrm>
            <a:off x="8812080" y="972000"/>
            <a:ext cx="2840040" cy="558000"/>
          </a:xfrm>
          <a:prstGeom prst="rect">
            <a:avLst/>
          </a:prstGeom>
          <a:solidFill>
            <a:srgbClr val="EA7A28"/>
          </a:solidFill>
          <a:ln>
            <a:noFill/>
          </a:ln>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재편기</a:t>
            </a:r>
            <a:r>
              <a:rPr sz="1250" b="0" i="0" lang="ko-KR" altLang="en-US">
                <a:solidFill>
                  <a:srgbClr val="FFFFFF"/>
                </a:solidFill>
                <a:latin typeface="맑은 고딕"/>
                <a:ea typeface="맑은 고딕"/>
                <a:cs typeface="맑은 고딕"/>
              </a:rPr>
              <a:t>  2020–2024</a:t>
            </a:r>
          </a:p>
        </p:txBody>
      </p:sp>
      <p:sp>
        <p:nvSpPr>
          <p:cNvPr id="32" name="Rounded Rectangle 31"/>
          <p:cNvSpPr/>
          <p:nvPr/>
        </p:nvSpPr>
        <p:spPr>
          <a:xfrm>
            <a:off x="8812080" y="1620000"/>
            <a:ext cx="2840040" cy="3276000"/>
          </a:xfrm>
          <a:prstGeom prst="roundRect">
            <a:avLst>
              <a:gd name="adj" fmla="val 6000"/>
            </a:avLst>
          </a:prstGeom>
          <a:solidFill>
            <a:srgbClr val="FDEBDD"/>
          </a:solidFill>
          <a:ln>
            <a:noFill/>
          </a:ln>
        </p:spPr>
        <p:txBody>
          <a:bodyPr rtlCol="0" anchor="ctr" lIns="36000" rIns="36000" tIns="36000" bIns="36000"/>
          <a:lstStyle/>
          <a:p>
            <a:pPr algn="ctr"/>
          </a:p>
        </p:txBody>
      </p:sp>
      <p:sp>
        <p:nvSpPr>
          <p:cNvPr id="33" name="TextBox 32"/>
          <p:cNvSpPr txBox="1"/>
          <p:nvPr/>
        </p:nvSpPr>
        <p:spPr>
          <a:xfrm>
            <a:off x="8920080" y="1656000"/>
            <a:ext cx="2624040" cy="630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접합 단독형 45.4%</a:t>
            </a:r>
          </a:p>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44.3%</a:t>
            </a:r>
          </a:p>
        </p:txBody>
      </p:sp>
      <p:cxnSp>
        <p:nvCxnSpPr>
          <p:cNvPr id="34" name="Connector 33"/>
          <p:cNvCxnSpPr/>
          <p:nvPr/>
        </p:nvCxnSpPr>
        <p:spPr>
          <a:xfrm>
            <a:off x="9028080" y="2318400"/>
            <a:ext cx="2408040" cy="0"/>
          </a:xfrm>
          <a:prstGeom prst="line">
            <a:avLst/>
          </a:prstGeom>
          <a:ln w="19050">
            <a:solidFill>
              <a:srgbClr val="FFFFFF"/>
            </a:solidFill>
          </a:ln>
        </p:spPr>
      </p:cxnSp>
      <p:sp>
        <p:nvSpPr>
          <p:cNvPr id="35" name="TextBox 34"/>
          <p:cNvSpPr txBox="1"/>
          <p:nvPr/>
        </p:nvSpPr>
        <p:spPr>
          <a:xfrm>
            <a:off x="8920080" y="23508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0.66 (비유의)</a:t>
            </a:r>
          </a:p>
        </p:txBody>
      </p:sp>
      <p:cxnSp>
        <p:nvCxnSpPr>
          <p:cNvPr id="36" name="Connector 35"/>
          <p:cNvCxnSpPr/>
          <p:nvPr/>
        </p:nvCxnSpPr>
        <p:spPr>
          <a:xfrm>
            <a:off x="9028080" y="2905200"/>
            <a:ext cx="2408040" cy="0"/>
          </a:xfrm>
          <a:prstGeom prst="line">
            <a:avLst/>
          </a:prstGeom>
          <a:ln w="19050">
            <a:solidFill>
              <a:srgbClr val="FFFFFF"/>
            </a:solidFill>
          </a:ln>
        </p:spPr>
      </p:cxnSp>
      <p:sp>
        <p:nvSpPr>
          <p:cNvPr id="37" name="TextBox 36"/>
          <p:cNvSpPr txBox="1"/>
          <p:nvPr/>
        </p:nvSpPr>
        <p:spPr>
          <a:xfrm>
            <a:off x="8920080" y="2937600"/>
            <a:ext cx="2624040" cy="522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88.0%</a:t>
            </a:r>
          </a:p>
        </p:txBody>
      </p:sp>
      <p:cxnSp>
        <p:nvCxnSpPr>
          <p:cNvPr id="38" name="Connector 37"/>
          <p:cNvCxnSpPr/>
          <p:nvPr/>
        </p:nvCxnSpPr>
        <p:spPr>
          <a:xfrm>
            <a:off x="9028080" y="3492000"/>
            <a:ext cx="2408040" cy="0"/>
          </a:xfrm>
          <a:prstGeom prst="line">
            <a:avLst/>
          </a:prstGeom>
          <a:ln w="19050">
            <a:solidFill>
              <a:srgbClr val="FFFFFF"/>
            </a:solidFill>
          </a:ln>
        </p:spPr>
      </p:cxnSp>
      <p:sp>
        <p:nvSpPr>
          <p:cNvPr id="39" name="TextBox 38"/>
          <p:cNvSpPr txBox="1"/>
          <p:nvPr/>
        </p:nvSpPr>
        <p:spPr>
          <a:xfrm>
            <a:off x="8920080" y="3524400"/>
            <a:ext cx="2624040" cy="738000"/>
          </a:xfrm>
          <a:prstGeom prst="rect">
            <a:avLst/>
          </a:prstGeom>
          <a:noFill/>
        </p:spPr>
        <p:txBody>
          <a:bodyPr wrap="square" lIns="0" rIns="0" tIns="0" bIns="0" anchor="ctr">
            <a:noAutofit/>
          </a:bodyPr>
          <a:lstStyle/>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공정 장치 · 패키징 단계 공정</a:t>
            </a:r>
          </a:p>
          <a:p>
            <a:pPr algn="ctr" marL="0" indent="0">
              <a:lnSpc>
                <a:spcPts val="1620"/>
              </a:lnSpc>
              <a:spcBef>
                <a:spcPts val="0"/>
              </a:spcBef>
              <a:spcAft>
                <a:spcPts val="0"/>
              </a:spcAft>
              <a:buNone/>
            </a:pPr>
            <a:r>
              <a:rPr sz="1350" b="0" i="0" lang="ko-KR" altLang="en-US">
                <a:solidFill>
                  <a:srgbClr val="1E2532"/>
                </a:solidFill>
                <a:latin typeface="맑은 고딕"/>
                <a:ea typeface="맑은 고딕"/>
                <a:cs typeface="맑은 고딕"/>
              </a:rPr>
              <a:t>(21/6835 · 21/568)</a:t>
            </a:r>
          </a:p>
        </p:txBody>
      </p:sp>
      <p:cxnSp>
        <p:nvCxnSpPr>
          <p:cNvPr id="40" name="Connector 39"/>
          <p:cNvCxnSpPr/>
          <p:nvPr/>
        </p:nvCxnSpPr>
        <p:spPr>
          <a:xfrm>
            <a:off x="9028080" y="4294800"/>
            <a:ext cx="2408040" cy="0"/>
          </a:xfrm>
          <a:prstGeom prst="line">
            <a:avLst/>
          </a:prstGeom>
          <a:ln w="19050">
            <a:solidFill>
              <a:srgbClr val="FFFFFF"/>
            </a:solidFill>
          </a:ln>
        </p:spPr>
      </p:cxnSp>
      <p:sp>
        <p:nvSpPr>
          <p:cNvPr id="41" name="TextBox 40"/>
          <p:cNvSpPr txBox="1"/>
          <p:nvPr/>
        </p:nvSpPr>
        <p:spPr>
          <a:xfrm>
            <a:off x="8920080" y="4327200"/>
            <a:ext cx="2624040" cy="522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EA7A28"/>
                </a:solidFill>
                <a:latin typeface="맑은 고딕"/>
                <a:ea typeface="맑은 고딕"/>
                <a:cs typeface="맑은 고딕"/>
              </a:rPr>
              <a:t>응용 융합으로 이행</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5.1  </a:t>
            </a:r>
            <a:r>
              <a:rPr sz="2200" b="1" i="0" lang="ko-KR" altLang="en-US">
                <a:solidFill>
                  <a:srgbClr val="13294B"/>
                </a:solidFill>
                <a:latin typeface="맑은 고딕"/>
                <a:ea typeface="맑은 고딕"/>
                <a:cs typeface="맑은 고딕"/>
              </a:rPr>
              <a:t>연구 결과 요약 및 이론적 함의</a:t>
            </a:r>
          </a:p>
        </p:txBody>
      </p:sp>
      <p:sp>
        <p:nvSpPr>
          <p:cNvPr id="3" name="Rounded Rectangle 2"/>
          <p:cNvSpPr/>
          <p:nvPr/>
        </p:nvSpPr>
        <p:spPr>
          <a:xfrm>
            <a:off x="54000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4" name="TextBox 3"/>
          <p:cNvSpPr txBox="1"/>
          <p:nvPr/>
        </p:nvSpPr>
        <p:spPr>
          <a:xfrm>
            <a:off x="75600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1</a:t>
            </a:r>
            <a:r>
              <a:rPr sz="1250" b="0" i="0" lang="ko-KR" altLang="en-US">
                <a:solidFill>
                  <a:srgbClr val="5B6475"/>
                </a:solidFill>
                <a:latin typeface="맑은 고딕"/>
                <a:ea typeface="맑은 고딕"/>
                <a:cs typeface="맑은 고딕"/>
              </a:rPr>
              <a:t>   융합의 수준과 유형</a:t>
            </a:r>
          </a:p>
        </p:txBody>
      </p:sp>
      <p:sp>
        <p:nvSpPr>
          <p:cNvPr id="5" name="TextBox 4"/>
          <p:cNvSpPr txBox="1"/>
          <p:nvPr/>
        </p:nvSpPr>
        <p:spPr>
          <a:xfrm>
            <a:off x="75600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통합형 45.8% (좁은 정의 37.2%)</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세부 기술이 다양할수록 통합형</a:t>
            </a:r>
          </a:p>
        </p:txBody>
      </p:sp>
      <p:cxnSp>
        <p:nvCxnSpPr>
          <p:cNvPr id="6" name="Connector 5"/>
          <p:cNvCxnSpPr/>
          <p:nvPr/>
        </p:nvCxnSpPr>
        <p:spPr>
          <a:xfrm>
            <a:off x="756000" y="2358000"/>
            <a:ext cx="5052060" cy="0"/>
          </a:xfrm>
          <a:prstGeom prst="line">
            <a:avLst/>
          </a:prstGeom>
          <a:ln w="12700">
            <a:solidFill>
              <a:srgbClr val="D5DBE3"/>
            </a:solidFill>
          </a:ln>
        </p:spPr>
      </p:cxnSp>
      <p:sp>
        <p:nvSpPr>
          <p:cNvPr id="7" name="Rounded Rectangle 6"/>
          <p:cNvSpPr/>
          <p:nvPr/>
        </p:nvSpPr>
        <p:spPr>
          <a:xfrm>
            <a:off x="75600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8" name="TextBox 7"/>
          <p:cNvSpPr txBox="1"/>
          <p:nvPr/>
        </p:nvSpPr>
        <p:spPr>
          <a:xfrm>
            <a:off x="75600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기술융합 연구의 범위를 산업 간에서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공정 단계 간으로 확장</a:t>
            </a:r>
          </a:p>
        </p:txBody>
      </p:sp>
      <p:sp>
        <p:nvSpPr>
          <p:cNvPr id="9" name="Rounded Rectangle 8"/>
          <p:cNvSpPr/>
          <p:nvPr/>
        </p:nvSpPr>
        <p:spPr>
          <a:xfrm>
            <a:off x="6168060" y="936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6384060" y="1062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2</a:t>
            </a:r>
            <a:r>
              <a:rPr sz="1250" b="0" i="0" lang="ko-KR" altLang="en-US">
                <a:solidFill>
                  <a:srgbClr val="5B6475"/>
                </a:solidFill>
                <a:latin typeface="맑은 고딕"/>
                <a:ea typeface="맑은 고딕"/>
                <a:cs typeface="맑은 고딕"/>
              </a:rPr>
              <a:t>   융합의 시간적 변화</a:t>
            </a:r>
          </a:p>
        </p:txBody>
      </p:sp>
      <p:sp>
        <p:nvSpPr>
          <p:cNvPr id="11" name="TextBox 10"/>
          <p:cNvSpPr txBox="1"/>
          <p:nvPr/>
        </p:nvSpPr>
        <p:spPr>
          <a:xfrm>
            <a:off x="6384060" y="1422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형성기 → 확산기 → 재편기</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출원의 무게중심: 제조공정 → 접합</a:t>
            </a:r>
          </a:p>
        </p:txBody>
      </p:sp>
      <p:cxnSp>
        <p:nvCxnSpPr>
          <p:cNvPr id="12" name="Connector 11"/>
          <p:cNvCxnSpPr/>
          <p:nvPr/>
        </p:nvCxnSpPr>
        <p:spPr>
          <a:xfrm>
            <a:off x="6384060" y="2358000"/>
            <a:ext cx="5052060" cy="0"/>
          </a:xfrm>
          <a:prstGeom prst="line">
            <a:avLst/>
          </a:prstGeom>
          <a:ln w="12700">
            <a:solidFill>
              <a:srgbClr val="D5DBE3"/>
            </a:solidFill>
          </a:ln>
        </p:spPr>
      </p:cxnSp>
      <p:sp>
        <p:nvSpPr>
          <p:cNvPr id="13" name="Rounded Rectangle 12"/>
          <p:cNvSpPr/>
          <p:nvPr/>
        </p:nvSpPr>
        <p:spPr>
          <a:xfrm>
            <a:off x="6384060" y="2484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14" name="TextBox 13"/>
          <p:cNvSpPr txBox="1"/>
          <p:nvPr/>
        </p:nvSpPr>
        <p:spPr>
          <a:xfrm>
            <a:off x="6384060" y="2826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융합은 정태적 결합이 아닌</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유형별 구성이 바뀌는 동태적 과정</a:t>
            </a:r>
          </a:p>
        </p:txBody>
      </p:sp>
      <p:sp>
        <p:nvSpPr>
          <p:cNvPr id="15" name="Rounded Rectangle 14"/>
          <p:cNvSpPr/>
          <p:nvPr/>
        </p:nvSpPr>
        <p:spPr>
          <a:xfrm>
            <a:off x="540000" y="3582000"/>
            <a:ext cx="5484060" cy="2502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6" name="TextBox 15"/>
          <p:cNvSpPr txBox="1"/>
          <p:nvPr/>
        </p:nvSpPr>
        <p:spPr>
          <a:xfrm>
            <a:off x="75600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Research Question 3</a:t>
            </a:r>
            <a:r>
              <a:rPr sz="1250" b="0" i="0" lang="ko-KR" altLang="en-US">
                <a:solidFill>
                  <a:srgbClr val="5B6475"/>
                </a:solidFill>
                <a:latin typeface="맑은 고딕"/>
                <a:ea typeface="맑은 고딕"/>
                <a:cs typeface="맑은 고딕"/>
              </a:rPr>
              <a:t>   융합의 구조적 중심 변화</a:t>
            </a:r>
          </a:p>
        </p:txBody>
      </p:sp>
      <p:sp>
        <p:nvSpPr>
          <p:cNvPr id="17" name="TextBox 16"/>
          <p:cNvSpPr txBox="1"/>
          <p:nvPr/>
        </p:nvSpPr>
        <p:spPr>
          <a:xfrm>
            <a:off x="756000" y="4068000"/>
            <a:ext cx="5052060" cy="828000"/>
          </a:xfrm>
          <a:prstGeom prst="rect">
            <a:avLst/>
          </a:prstGeom>
          <a:noFill/>
        </p:spPr>
        <p:txBody>
          <a:bodyPr wrap="square" lIns="0" rIns="0" tIns="0" bIns="0" anchor="ctr">
            <a:noAutofit/>
          </a:bodyPr>
          <a:lstStyle/>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핵심 기술의 우위: 11.1 → 0.66 (비유의)</a:t>
            </a:r>
          </a:p>
          <a:p>
            <a:pPr algn="l" marL="0" indent="0">
              <a:lnSpc>
                <a:spcPts val="1739"/>
              </a:lnSpc>
              <a:spcBef>
                <a:spcPts val="0"/>
              </a:spcBef>
              <a:spcAft>
                <a:spcPts val="0"/>
              </a:spcAft>
              <a:buNone/>
            </a:pPr>
            <a:r>
              <a:rPr sz="1450" b="1" i="0" lang="ko-KR" altLang="en-US">
                <a:solidFill>
                  <a:srgbClr val="1E2532"/>
                </a:solidFill>
                <a:latin typeface="맑은 고딕"/>
                <a:ea typeface="맑은 고딕"/>
                <a:cs typeface="맑은 고딕"/>
              </a:rPr>
              <a:t>결합 중심: 웨이퍼 제조공정 → 장치 · 패키징</a:t>
            </a:r>
          </a:p>
        </p:txBody>
      </p:sp>
      <p:cxnSp>
        <p:nvCxnSpPr>
          <p:cNvPr id="18" name="Connector 17"/>
          <p:cNvCxnSpPr/>
          <p:nvPr/>
        </p:nvCxnSpPr>
        <p:spPr>
          <a:xfrm>
            <a:off x="756000" y="5004000"/>
            <a:ext cx="5052060" cy="0"/>
          </a:xfrm>
          <a:prstGeom prst="line">
            <a:avLst/>
          </a:prstGeom>
          <a:ln w="12700">
            <a:solidFill>
              <a:srgbClr val="D5DBE3"/>
            </a:solidFill>
          </a:ln>
        </p:spPr>
      </p:cxnSp>
      <p:sp>
        <p:nvSpPr>
          <p:cNvPr id="19" name="Rounded Rectangle 18"/>
          <p:cNvSpPr/>
          <p:nvPr/>
        </p:nvSpPr>
        <p:spPr>
          <a:xfrm>
            <a:off x="756000" y="5130000"/>
            <a:ext cx="1152000" cy="306000"/>
          </a:xfrm>
          <a:prstGeom prst="roundRect">
            <a:avLst>
              <a:gd name="adj" fmla="val 50000"/>
            </a:avLst>
          </a:prstGeom>
          <a:solidFill>
            <a:srgbClr val="FFF0C2"/>
          </a:solidFill>
          <a:ln>
            <a:noFill/>
          </a:ln>
        </p:spPr>
        <p:txBody>
          <a:bodyPr rtlCol="0" anchor="ctr" lIns="28800" rIns="28800" tIns="18000" bIns="18000" wrap="square">
            <a:noAutofit/>
          </a:bodyPr>
          <a:lstStyle/>
          <a:p>
            <a:pPr algn="ctr" marL="0" indent="0">
              <a:lnSpc>
                <a:spcPts val="1440"/>
              </a:lnSpc>
              <a:spcBef>
                <a:spcPts val="0"/>
              </a:spcBef>
              <a:spcAft>
                <a:spcPts val="0"/>
              </a:spcAft>
              <a:buNone/>
            </a:pPr>
            <a:r>
              <a:rPr sz="1200" b="1" i="0" lang="ko-KR" altLang="en-US">
                <a:solidFill>
                  <a:srgbClr val="13294B"/>
                </a:solidFill>
                <a:latin typeface="맑은 고딕"/>
                <a:ea typeface="맑은 고딕"/>
                <a:cs typeface="맑은 고딕"/>
              </a:rPr>
              <a:t>이론적 함의</a:t>
            </a:r>
          </a:p>
        </p:txBody>
      </p:sp>
      <p:sp>
        <p:nvSpPr>
          <p:cNvPr id="20" name="TextBox 19"/>
          <p:cNvSpPr txBox="1"/>
          <p:nvPr/>
        </p:nvSpPr>
        <p:spPr>
          <a:xfrm>
            <a:off x="756000" y="5472000"/>
            <a:ext cx="5052060" cy="55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핵심–주변 구조와 기술 순환으로</a:t>
            </a:r>
          </a:p>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융합의 전개를 설명</a:t>
            </a:r>
          </a:p>
        </p:txBody>
      </p:sp>
      <p:sp>
        <p:nvSpPr>
          <p:cNvPr id="21" name="Rounded Rectangle 20"/>
          <p:cNvSpPr/>
          <p:nvPr/>
        </p:nvSpPr>
        <p:spPr>
          <a:xfrm>
            <a:off x="6168060" y="3582000"/>
            <a:ext cx="5484060" cy="2502000"/>
          </a:xfrm>
          <a:prstGeom prst="roundRect">
            <a:avLst>
              <a:gd name="adj" fmla="val 6000"/>
            </a:avLst>
          </a:prstGeom>
          <a:solidFill>
            <a:srgbClr val="13294B"/>
          </a:solidFill>
          <a:ln>
            <a:noFill/>
          </a:ln>
        </p:spPr>
        <p:txBody>
          <a:bodyPr rtlCol="0" anchor="ctr" lIns="36000" rIns="36000" tIns="36000" bIns="36000"/>
          <a:lstStyle/>
          <a:p>
            <a:pPr algn="ctr"/>
          </a:p>
        </p:txBody>
      </p:sp>
      <p:sp>
        <p:nvSpPr>
          <p:cNvPr id="22" name="TextBox 21"/>
          <p:cNvSpPr txBox="1"/>
          <p:nvPr/>
        </p:nvSpPr>
        <p:spPr>
          <a:xfrm>
            <a:off x="6384060" y="3708000"/>
            <a:ext cx="5052060" cy="324000"/>
          </a:xfrm>
          <a:prstGeom prst="rect">
            <a:avLst/>
          </a:prstGeom>
          <a:noFill/>
        </p:spPr>
        <p:txBody>
          <a:bodyPr wrap="square" lIns="0" rIns="0" tIns="0" bIns="0" anchor="ctr">
            <a:noAutofit/>
          </a:bodyPr>
          <a:lstStyle/>
          <a:p>
            <a:pPr algn="l" marL="0" indent="0">
              <a:lnSpc>
                <a:spcPts val="2160"/>
              </a:lnSpc>
              <a:spcBef>
                <a:spcPts val="0"/>
              </a:spcBef>
              <a:spcAft>
                <a:spcPts val="0"/>
              </a:spcAft>
              <a:buNone/>
            </a:pPr>
            <a:r>
              <a:rPr sz="1800" b="1" i="0" lang="ko-KR" altLang="en-US">
                <a:solidFill>
                  <a:srgbClr val="D4A72C"/>
                </a:solidFill>
                <a:latin typeface="맑은 고딕"/>
                <a:ea typeface="맑은 고딕"/>
                <a:cs typeface="맑은 고딕"/>
              </a:rPr>
              <a:t>결론</a:t>
            </a:r>
          </a:p>
        </p:txBody>
      </p:sp>
      <p:sp>
        <p:nvSpPr>
          <p:cNvPr id="23" name="TextBox 22"/>
          <p:cNvSpPr txBox="1"/>
          <p:nvPr/>
        </p:nvSpPr>
        <p:spPr>
          <a:xfrm>
            <a:off x="6384060" y="4068000"/>
            <a:ext cx="5052060" cy="1908000"/>
          </a:xfrm>
          <a:prstGeom prst="rect">
            <a:avLst/>
          </a:prstGeom>
          <a:noFill/>
        </p:spPr>
        <p:txBody>
          <a:bodyPr wrap="square" lIns="0" rIns="0" tIns="0" bIns="0" anchor="t">
            <a:noAutofit/>
          </a:bodyPr>
          <a:lstStyle/>
          <a:p>
            <a:pPr algn="l" marL="0" indent="0">
              <a:lnSpc>
                <a:spcPts val="2140"/>
              </a:lnSpc>
              <a:spcBef>
                <a:spcPts val="0"/>
              </a:spcBef>
              <a:spcAft>
                <a:spcPts val="800"/>
              </a:spcAft>
              <a:buNone/>
            </a:pPr>
            <a:r>
              <a:rPr sz="1550" b="1" i="0" lang="ko-KR" altLang="en-US">
                <a:solidFill>
                  <a:srgbClr val="FFFFFF"/>
                </a:solidFill>
                <a:latin typeface="맑은 고딕"/>
                <a:ea typeface="맑은 고딕"/>
                <a:cs typeface="맑은 고딕"/>
              </a:rPr>
              <a:t>공정 단계 간 기술융합은 한 방향으로 축적된 과정이라기보다, 핵심 기술 설계의 고착화와 함께 융합의 중심이 핵심에서 주변으로 이동한 동태적 과정이었다</a:t>
            </a:r>
          </a:p>
          <a:p>
            <a:pPr algn="l" marL="0" indent="0">
              <a:lnSpc>
                <a:spcPts val="1580"/>
              </a:lnSpc>
              <a:spcBef>
                <a:spcPts val="0"/>
              </a:spcBef>
              <a:spcAft>
                <a:spcPts val="0"/>
              </a:spcAft>
              <a:buNone/>
            </a:pPr>
            <a:r>
              <a:rPr sz="1200" b="0" i="0" lang="ko-KR" altLang="en-US">
                <a:solidFill>
                  <a:srgbClr val="B9C6DD"/>
                </a:solidFill>
                <a:latin typeface="맑은 고딕"/>
                <a:ea typeface="맑은 고딕"/>
                <a:cs typeface="맑은 고딕"/>
              </a:rPr>
              <a:t>공정 장치가 연결의 중심에 선 것은 장비를 매개로 한 공정 지식의 확산(Rosenberg, 1963)과도 맥을 같이함</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5.2  </a:t>
            </a:r>
            <a:r>
              <a:rPr sz="2200" b="1" i="0" lang="ko-KR" altLang="en-US">
                <a:solidFill>
                  <a:srgbClr val="13294B"/>
                </a:solidFill>
                <a:latin typeface="맑은 고딕"/>
                <a:ea typeface="맑은 고딕"/>
                <a:cs typeface="맑은 고딕"/>
              </a:rPr>
              <a:t>산업적 함의: 흔들리는 분업의 인터페이스</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경계와 지식의 경계는 다르다: 인터페이스가 흔들리면 지식 경계가 먼저 넓어진다</a:t>
            </a:r>
          </a:p>
        </p:txBody>
      </p:sp>
      <p:sp>
        <p:nvSpPr>
          <p:cNvPr id="4" name="Rectangle 3"/>
          <p:cNvSpPr/>
          <p:nvPr/>
        </p:nvSpPr>
        <p:spPr>
          <a:xfrm>
            <a:off x="540000" y="1008000"/>
            <a:ext cx="2664000" cy="1872000"/>
          </a:xfrm>
          <a:prstGeom prst="rect">
            <a:avLst/>
          </a:prstGeom>
          <a:solidFill>
            <a:srgbClr val="FFFFFF"/>
          </a:solidFill>
          <a:ln w="22225">
            <a:solidFill>
              <a:srgbClr val="13294B"/>
            </a:solid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13294B"/>
                </a:solidFill>
                <a:latin typeface="맑은 고딕"/>
                <a:ea typeface="맑은 고딕"/>
                <a:cs typeface="맑은 고딕"/>
              </a:rPr>
              <a:t>설계</a:t>
            </a:r>
          </a:p>
          <a:p>
            <a:pPr algn="ctr" marL="0" indent="0">
              <a:lnSpc>
                <a:spcPts val="1440"/>
              </a:lnSpc>
              <a:spcBef>
                <a:spcPts val="0"/>
              </a:spcBef>
              <a:spcAft>
                <a:spcPts val="0"/>
              </a:spcAft>
              <a:buNone/>
            </a:pPr>
            <a:r>
              <a:rPr sz="1200" b="0" i="0" lang="ko-KR" altLang="en-US">
                <a:solidFill>
                  <a:srgbClr val="5B6475"/>
                </a:solidFill>
                <a:latin typeface="맑은 고딕"/>
                <a:ea typeface="맑은 고딕"/>
                <a:cs typeface="맑은 고딕"/>
              </a:rPr>
              <a:t>팹리스</a:t>
            </a:r>
          </a:p>
        </p:txBody>
      </p:sp>
      <p:sp>
        <p:nvSpPr>
          <p:cNvPr id="5" name="Rectangle 4"/>
          <p:cNvSpPr/>
          <p:nvPr/>
        </p:nvSpPr>
        <p:spPr>
          <a:xfrm>
            <a:off x="3924000" y="1008000"/>
            <a:ext cx="3240000" cy="1872000"/>
          </a:xfrm>
          <a:prstGeom prst="rect">
            <a:avLst/>
          </a:prstGeom>
          <a:solidFill>
            <a:srgbClr val="2563C9"/>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제조 · 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종합반도체기업(IDM) · 파운드리</a:t>
            </a:r>
          </a:p>
        </p:txBody>
      </p:sp>
      <p:sp>
        <p:nvSpPr>
          <p:cNvPr id="6" name="Rectangle 5"/>
          <p:cNvSpPr/>
          <p:nvPr/>
        </p:nvSpPr>
        <p:spPr>
          <a:xfrm>
            <a:off x="8316000" y="1008000"/>
            <a:ext cx="3337200" cy="1872000"/>
          </a:xfrm>
          <a:prstGeom prst="rect">
            <a:avLst/>
          </a:prstGeom>
          <a:solidFill>
            <a:srgbClr val="EA7A28"/>
          </a:solidFill>
          <a:ln>
            <a:noFill/>
          </a:ln>
          <a:effectLst>
            <a:outerShdw blurRad="127000" dist="25400" dir="5400000" algn="t" rotWithShape="0">
              <a:srgbClr val="1E2532">
                <a:alpha val="16000"/>
              </a:srgbClr>
            </a:outerShdw>
          </a:effectLst>
        </p:spPr>
        <p:txBody>
          <a:bodyPr rtlCol="0" anchor="ctr" lIns="54000" rIns="54000" tIns="18000" bIns="18000" wrap="square">
            <a:noAutofit/>
          </a:bodyPr>
          <a:lstStyle/>
          <a:p>
            <a:pPr algn="ctr" marL="0" indent="0">
              <a:lnSpc>
                <a:spcPts val="2160"/>
              </a:lnSpc>
              <a:spcBef>
                <a:spcPts val="0"/>
              </a:spcBef>
              <a:spcAft>
                <a:spcPts val="0"/>
              </a:spcAft>
              <a:buNone/>
            </a:pPr>
            <a:r>
              <a:rPr sz="1800" b="1" i="0" lang="ko-KR" altLang="en-US">
                <a:solidFill>
                  <a:srgbClr val="FFFFFF"/>
                </a:solidFill>
                <a:latin typeface="맑은 고딕"/>
                <a:ea typeface="맑은 고딕"/>
                <a:cs typeface="맑은 고딕"/>
              </a:rPr>
              <a:t>조립 · 테스트 · 후공정</a:t>
            </a:r>
          </a:p>
          <a:p>
            <a:pPr algn="ctr" marL="0" indent="0">
              <a:lnSpc>
                <a:spcPts val="1440"/>
              </a:lnSpc>
              <a:spcBef>
                <a:spcPts val="0"/>
              </a:spcBef>
              <a:spcAft>
                <a:spcPts val="0"/>
              </a:spcAft>
              <a:buNone/>
            </a:pPr>
            <a:r>
              <a:rPr sz="1200" b="0" i="0" lang="ko-KR" altLang="en-US">
                <a:solidFill>
                  <a:srgbClr val="FFFFFF"/>
                </a:solidFill>
                <a:latin typeface="맑은 고딕"/>
                <a:ea typeface="맑은 고딕"/>
                <a:cs typeface="맑은 고딕"/>
              </a:rPr>
              <a:t>조립 · 테스트 전문업체(OSAT)</a:t>
            </a:r>
          </a:p>
        </p:txBody>
      </p:sp>
      <p:cxnSp>
        <p:nvCxnSpPr>
          <p:cNvPr id="7" name="Connector 6"/>
          <p:cNvCxnSpPr/>
          <p:nvPr/>
        </p:nvCxnSpPr>
        <p:spPr>
          <a:xfrm>
            <a:off x="3276000" y="1944000"/>
            <a:ext cx="576000" cy="0"/>
          </a:xfrm>
          <a:prstGeom prst="line">
            <a:avLst/>
          </a:prstGeom>
          <a:ln w="31750">
            <a:solidFill>
              <a:srgbClr val="13294B"/>
            </a:solidFill>
            <a:tailEnd type="triangle" w="med" len="med"/>
          </a:ln>
        </p:spPr>
      </p:cxnSp>
      <p:sp>
        <p:nvSpPr>
          <p:cNvPr id="8" name="Rectangle 7"/>
          <p:cNvSpPr/>
          <p:nvPr/>
        </p:nvSpPr>
        <p:spPr>
          <a:xfrm>
            <a:off x="7416000" y="864000"/>
            <a:ext cx="576000" cy="2160000"/>
          </a:xfrm>
          <a:prstGeom prst="rect">
            <a:avLst/>
          </a:prstGeom>
          <a:solidFill>
            <a:srgbClr val="C9CED6"/>
          </a:solidFill>
          <a:ln w="12700">
            <a:solidFill>
              <a:srgbClr val="9AA3B2"/>
            </a:solidFill>
          </a:ln>
        </p:spPr>
        <p:txBody>
          <a:bodyPr rtlCol="0" anchor="ctr" lIns="36000" rIns="36000" tIns="36000" bIns="36000"/>
          <a:lstStyle/>
          <a:p>
            <a:pPr algn="ctr"/>
          </a:p>
        </p:txBody>
      </p:sp>
      <p:cxnSp>
        <p:nvCxnSpPr>
          <p:cNvPr id="9" name="Connector 8"/>
          <p:cNvCxnSpPr/>
          <p:nvPr/>
        </p:nvCxnSpPr>
        <p:spPr>
          <a:xfrm>
            <a:off x="7488000" y="1224000"/>
            <a:ext cx="288000" cy="180000"/>
          </a:xfrm>
          <a:prstGeom prst="line">
            <a:avLst/>
          </a:prstGeom>
          <a:ln w="19050">
            <a:solidFill>
              <a:srgbClr val="7D8594"/>
            </a:solidFill>
          </a:ln>
        </p:spPr>
      </p:cxnSp>
      <p:cxnSp>
        <p:nvCxnSpPr>
          <p:cNvPr id="10" name="Connector 9"/>
          <p:cNvCxnSpPr/>
          <p:nvPr/>
        </p:nvCxnSpPr>
        <p:spPr>
          <a:xfrm flipH="1">
            <a:off x="7596000" y="1404000"/>
            <a:ext cx="180000" cy="180000"/>
          </a:xfrm>
          <a:prstGeom prst="line">
            <a:avLst/>
          </a:prstGeom>
          <a:ln w="19050">
            <a:solidFill>
              <a:srgbClr val="7D8594"/>
            </a:solidFill>
          </a:ln>
        </p:spPr>
      </p:cxnSp>
      <p:cxnSp>
        <p:nvCxnSpPr>
          <p:cNvPr id="11" name="Connector 10"/>
          <p:cNvCxnSpPr/>
          <p:nvPr/>
        </p:nvCxnSpPr>
        <p:spPr>
          <a:xfrm>
            <a:off x="7488000" y="1656000"/>
            <a:ext cx="288000" cy="180000"/>
          </a:xfrm>
          <a:prstGeom prst="line">
            <a:avLst/>
          </a:prstGeom>
          <a:ln w="19050">
            <a:solidFill>
              <a:srgbClr val="7D8594"/>
            </a:solidFill>
          </a:ln>
        </p:spPr>
      </p:cxnSp>
      <p:cxnSp>
        <p:nvCxnSpPr>
          <p:cNvPr id="12" name="Connector 11"/>
          <p:cNvCxnSpPr/>
          <p:nvPr/>
        </p:nvCxnSpPr>
        <p:spPr>
          <a:xfrm flipH="1">
            <a:off x="7596000" y="1836000"/>
            <a:ext cx="180000" cy="180000"/>
          </a:xfrm>
          <a:prstGeom prst="line">
            <a:avLst/>
          </a:prstGeom>
          <a:ln w="19050">
            <a:solidFill>
              <a:srgbClr val="7D8594"/>
            </a:solidFill>
          </a:ln>
        </p:spPr>
      </p:cxnSp>
      <p:cxnSp>
        <p:nvCxnSpPr>
          <p:cNvPr id="13" name="Connector 12"/>
          <p:cNvCxnSpPr/>
          <p:nvPr/>
        </p:nvCxnSpPr>
        <p:spPr>
          <a:xfrm>
            <a:off x="7488000" y="2088000"/>
            <a:ext cx="288000" cy="180000"/>
          </a:xfrm>
          <a:prstGeom prst="line">
            <a:avLst/>
          </a:prstGeom>
          <a:ln w="19050">
            <a:solidFill>
              <a:srgbClr val="7D8594"/>
            </a:solidFill>
          </a:ln>
        </p:spPr>
      </p:cxnSp>
      <p:cxnSp>
        <p:nvCxnSpPr>
          <p:cNvPr id="14" name="Connector 13"/>
          <p:cNvCxnSpPr/>
          <p:nvPr/>
        </p:nvCxnSpPr>
        <p:spPr>
          <a:xfrm flipH="1">
            <a:off x="7596000" y="2268000"/>
            <a:ext cx="180000" cy="180000"/>
          </a:xfrm>
          <a:prstGeom prst="line">
            <a:avLst/>
          </a:prstGeom>
          <a:ln w="19050">
            <a:solidFill>
              <a:srgbClr val="7D8594"/>
            </a:solidFill>
          </a:ln>
        </p:spPr>
      </p:cxnSp>
      <p:cxnSp>
        <p:nvCxnSpPr>
          <p:cNvPr id="15" name="Connector 14"/>
          <p:cNvCxnSpPr/>
          <p:nvPr/>
        </p:nvCxnSpPr>
        <p:spPr>
          <a:xfrm>
            <a:off x="7488000" y="2520000"/>
            <a:ext cx="288000" cy="180000"/>
          </a:xfrm>
          <a:prstGeom prst="line">
            <a:avLst/>
          </a:prstGeom>
          <a:ln w="19050">
            <a:solidFill>
              <a:srgbClr val="7D8594"/>
            </a:solidFill>
          </a:ln>
        </p:spPr>
      </p:cxnSp>
      <p:cxnSp>
        <p:nvCxnSpPr>
          <p:cNvPr id="16" name="Connector 15"/>
          <p:cNvCxnSpPr/>
          <p:nvPr/>
        </p:nvCxnSpPr>
        <p:spPr>
          <a:xfrm flipH="1">
            <a:off x="7596000" y="2700000"/>
            <a:ext cx="180000" cy="180000"/>
          </a:xfrm>
          <a:prstGeom prst="line">
            <a:avLst/>
          </a:prstGeom>
          <a:ln w="19050">
            <a:solidFill>
              <a:srgbClr val="7D8594"/>
            </a:solidFill>
          </a:ln>
        </p:spPr>
      </p:cxnSp>
      <p:cxnSp>
        <p:nvCxnSpPr>
          <p:cNvPr id="17" name="Connector 16"/>
          <p:cNvCxnSpPr/>
          <p:nvPr/>
        </p:nvCxnSpPr>
        <p:spPr>
          <a:xfrm>
            <a:off x="7200000" y="1944000"/>
            <a:ext cx="1080000" cy="0"/>
          </a:xfrm>
          <a:prstGeom prst="line">
            <a:avLst/>
          </a:prstGeom>
          <a:ln w="44450">
            <a:solidFill>
              <a:srgbClr val="7C3AED"/>
            </a:solidFill>
            <a:tailEnd type="triangle" w="med" len="med"/>
          </a:ln>
        </p:spPr>
      </p:cxnSp>
      <p:sp>
        <p:nvSpPr>
          <p:cNvPr id="18" name="TextBox 17"/>
          <p:cNvSpPr txBox="1"/>
          <p:nvPr/>
        </p:nvSpPr>
        <p:spPr>
          <a:xfrm>
            <a:off x="6840000" y="3060000"/>
            <a:ext cx="1728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인터페이스</a:t>
            </a:r>
          </a:p>
        </p:txBody>
      </p:sp>
      <p:sp>
        <p:nvSpPr>
          <p:cNvPr id="19" name="Rounded Rectangle 18"/>
          <p:cNvSpPr/>
          <p:nvPr/>
        </p:nvSpPr>
        <p:spPr>
          <a:xfrm>
            <a:off x="54000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0" name="Oval 19"/>
          <p:cNvSpPr/>
          <p:nvPr/>
        </p:nvSpPr>
        <p:spPr>
          <a:xfrm>
            <a:off x="720000" y="3618000"/>
            <a:ext cx="198000" cy="198000"/>
          </a:xfrm>
          <a:prstGeom prst="ellipse">
            <a:avLst/>
          </a:prstGeom>
          <a:solidFill>
            <a:srgbClr val="2563C9"/>
          </a:solidFill>
          <a:ln>
            <a:noFill/>
          </a:ln>
        </p:spPr>
        <p:txBody>
          <a:bodyPr rtlCol="0" anchor="ctr" lIns="36000" rIns="36000" tIns="36000" bIns="36000"/>
          <a:lstStyle/>
          <a:p>
            <a:pPr algn="ctr"/>
          </a:p>
        </p:txBody>
      </p:sp>
      <p:sp>
        <p:nvSpPr>
          <p:cNvPr id="21" name="TextBox 20"/>
          <p:cNvSpPr txBox="1"/>
          <p:nvPr/>
        </p:nvSpPr>
        <p:spPr>
          <a:xfrm>
            <a:off x="100800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흔들리는 인터페이스</a:t>
            </a:r>
          </a:p>
        </p:txBody>
      </p:sp>
      <p:sp>
        <p:nvSpPr>
          <p:cNvPr id="22" name="TextBox 21"/>
          <p:cNvSpPr txBox="1"/>
          <p:nvPr/>
        </p:nvSpPr>
        <p:spPr>
          <a:xfrm>
            <a:off x="72000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반세기의 분업은 두 단계 사이의 안정적 인터페이스를 전제로 했다. 하이브리드 본딩은 후공정 기술의 성패를 전공정 역량에 의존하게 한다.</a:t>
            </a:r>
          </a:p>
        </p:txBody>
      </p:sp>
      <p:sp>
        <p:nvSpPr>
          <p:cNvPr id="23" name="Rounded Rectangle 22"/>
          <p:cNvSpPr/>
          <p:nvPr/>
        </p:nvSpPr>
        <p:spPr>
          <a:xfrm>
            <a:off x="431604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4" name="Oval 23"/>
          <p:cNvSpPr/>
          <p:nvPr/>
        </p:nvSpPr>
        <p:spPr>
          <a:xfrm>
            <a:off x="4496040" y="3618000"/>
            <a:ext cx="198000" cy="198000"/>
          </a:xfrm>
          <a:prstGeom prst="ellipse">
            <a:avLst/>
          </a:prstGeom>
          <a:solidFill>
            <a:srgbClr val="7C3AED"/>
          </a:solidFill>
          <a:ln>
            <a:noFill/>
          </a:ln>
        </p:spPr>
        <p:txBody>
          <a:bodyPr rtlCol="0" anchor="ctr" lIns="36000" rIns="36000" tIns="36000" bIns="36000"/>
          <a:lstStyle/>
          <a:p>
            <a:pPr algn="ctr"/>
          </a:p>
        </p:txBody>
      </p:sp>
      <p:sp>
        <p:nvSpPr>
          <p:cNvPr id="25" name="TextBox 24"/>
          <p:cNvSpPr txBox="1"/>
          <p:nvPr/>
        </p:nvSpPr>
        <p:spPr>
          <a:xfrm>
            <a:off x="478404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생산의 경계 ≠ 지식의 경계</a:t>
            </a:r>
          </a:p>
        </p:txBody>
      </p:sp>
      <p:sp>
        <p:nvSpPr>
          <p:cNvPr id="26" name="TextBox 25"/>
          <p:cNvSpPr txBox="1"/>
          <p:nvPr/>
        </p:nvSpPr>
        <p:spPr>
          <a:xfrm>
            <a:off x="449604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직접 생산하는 범위보다 넓은 지식을 보유한 기업이 기술 전환에서 성과 우위를 얻었다 (Kapoor &amp; Adner, 2012).</a:t>
            </a:r>
          </a:p>
        </p:txBody>
      </p:sp>
      <p:sp>
        <p:nvSpPr>
          <p:cNvPr id="27" name="Rounded Rectangle 26"/>
          <p:cNvSpPr/>
          <p:nvPr/>
        </p:nvSpPr>
        <p:spPr>
          <a:xfrm>
            <a:off x="8092080" y="3456000"/>
            <a:ext cx="3560040" cy="239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28" name="Oval 27"/>
          <p:cNvSpPr/>
          <p:nvPr/>
        </p:nvSpPr>
        <p:spPr>
          <a:xfrm>
            <a:off x="8272080" y="3618000"/>
            <a:ext cx="198000" cy="198000"/>
          </a:xfrm>
          <a:prstGeom prst="ellipse">
            <a:avLst/>
          </a:prstGeom>
          <a:solidFill>
            <a:srgbClr val="EA7A28"/>
          </a:solidFill>
          <a:ln>
            <a:noFill/>
          </a:ln>
        </p:spPr>
        <p:txBody>
          <a:bodyPr rtlCol="0" anchor="ctr" lIns="36000" rIns="36000" tIns="36000" bIns="36000"/>
          <a:lstStyle/>
          <a:p>
            <a:pPr algn="ctr"/>
          </a:p>
        </p:txBody>
      </p:sp>
      <p:sp>
        <p:nvSpPr>
          <p:cNvPr id="29" name="TextBox 28"/>
          <p:cNvSpPr txBox="1"/>
          <p:nvPr/>
        </p:nvSpPr>
        <p:spPr>
          <a:xfrm>
            <a:off x="8560080" y="3546000"/>
            <a:ext cx="2948040" cy="342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발명이 먼저 보여 준 징후</a:t>
            </a:r>
          </a:p>
        </p:txBody>
      </p:sp>
      <p:sp>
        <p:nvSpPr>
          <p:cNvPr id="30" name="TextBox 29"/>
          <p:cNvSpPr txBox="1"/>
          <p:nvPr/>
        </p:nvSpPr>
        <p:spPr>
          <a:xfrm>
            <a:off x="8272080" y="3996000"/>
            <a:ext cx="3200040" cy="1800000"/>
          </a:xfrm>
          <a:prstGeom prst="rect">
            <a:avLst/>
          </a:prstGeom>
          <a:noFill/>
        </p:spPr>
        <p:txBody>
          <a:bodyPr wrap="square" lIns="0" rIns="0" tIns="0" bIns="0" anchor="t">
            <a:noAutofit/>
          </a:bodyPr>
          <a:lstStyle/>
          <a:p>
            <a:pPr algn="l" marL="0" indent="0">
              <a:lnSpc>
                <a:spcPts val="2250"/>
              </a:lnSpc>
              <a:spcBef>
                <a:spcPts val="0"/>
              </a:spcBef>
              <a:spcAft>
                <a:spcPts val="0"/>
              </a:spcAft>
              <a:buNone/>
            </a:pPr>
            <a:r>
              <a:rPr sz="1500" b="0" i="0" lang="ko-KR" altLang="en-US">
                <a:solidFill>
                  <a:srgbClr val="1E2532"/>
                </a:solidFill>
                <a:latin typeface="맑은 고딕"/>
                <a:ea typeface="맑은 고딕"/>
                <a:cs typeface="맑은 고딕"/>
              </a:rPr>
              <a:t>인터페이스가 흔들린 징후는 조직이나 산업 구조보다 먼저, 두 단계의 지식을 함께 담은 발명(통합형 45.8%)으로 나타났다.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5.3  </a:t>
            </a:r>
            <a:r>
              <a:rPr sz="2200" b="1" i="0" lang="ko-KR" altLang="en-US">
                <a:solidFill>
                  <a:srgbClr val="13294B"/>
                </a:solidFill>
                <a:latin typeface="맑은 고딕"/>
                <a:ea typeface="맑은 고딕"/>
                <a:cs typeface="맑은 고딕"/>
              </a:rPr>
              <a:t>실무적 시사점: 차세대 패키징을 준비하는 기업에</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패키징 경쟁력은 접합 원리 하나에 좌우되지 않을 수 있다</a:t>
            </a:r>
          </a:p>
        </p:txBody>
      </p:sp>
      <p:sp>
        <p:nvSpPr>
          <p:cNvPr id="4" name="Rounded Rectangle 3"/>
          <p:cNvSpPr/>
          <p:nvPr/>
        </p:nvSpPr>
        <p:spPr>
          <a:xfrm>
            <a:off x="54000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5" name="Oval 4"/>
          <p:cNvSpPr/>
          <p:nvPr/>
        </p:nvSpPr>
        <p:spPr>
          <a:xfrm>
            <a:off x="1780020" y="1224000"/>
            <a:ext cx="1080000" cy="1080000"/>
          </a:xfrm>
          <a:prstGeom prst="ellipse">
            <a:avLst/>
          </a:prstGeom>
          <a:solidFill>
            <a:srgbClr val="2563C9"/>
          </a:solidFill>
          <a:ln>
            <a:noFill/>
          </a:ln>
        </p:spPr>
        <p:txBody>
          <a:bodyPr rtlCol="0" anchor="ctr" lIns="36000" rIns="36000" tIns="36000" bIns="36000"/>
          <a:lstStyle/>
          <a:p>
            <a:pPr algn="ctr"/>
          </a:p>
        </p:txBody>
      </p:sp>
      <p:pic>
        <p:nvPicPr>
          <p:cNvPr id="6" name="Picture 5" descr="FaLayerGroup_FFFFFF.png"/>
          <p:cNvPicPr>
            <a:picLocks noChangeAspect="1"/>
          </p:cNvPicPr>
          <p:nvPr/>
        </p:nvPicPr>
        <p:blipFill>
          <a:blip r:embed="rId3"/>
          <a:stretch>
            <a:fillRect/>
          </a:stretch>
        </p:blipFill>
        <p:spPr>
          <a:xfrm>
            <a:off x="2050020" y="1494000"/>
            <a:ext cx="540000" cy="540000"/>
          </a:xfrm>
          <a:prstGeom prst="rect">
            <a:avLst/>
          </a:prstGeom>
        </p:spPr>
      </p:pic>
      <p:sp>
        <p:nvSpPr>
          <p:cNvPr id="7" name="TextBox 6"/>
          <p:cNvSpPr txBox="1"/>
          <p:nvPr/>
        </p:nvSpPr>
        <p:spPr>
          <a:xfrm>
            <a:off x="68400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접합 기술만으로는 부족할 수 있다</a:t>
            </a:r>
          </a:p>
        </p:txBody>
      </p:sp>
      <p:sp>
        <p:nvSpPr>
          <p:cNvPr id="8" name="Rounded Rectangle 7"/>
          <p:cNvSpPr/>
          <p:nvPr/>
        </p:nvSpPr>
        <p:spPr>
          <a:xfrm>
            <a:off x="1276020" y="3042000"/>
            <a:ext cx="2088000" cy="306000"/>
          </a:xfrm>
          <a:prstGeom prst="roundRect">
            <a:avLst>
              <a:gd name="adj" fmla="val 50000"/>
            </a:avLst>
          </a:prstGeom>
          <a:solidFill>
            <a:srgbClr val="FFFFFF"/>
          </a:solidFill>
          <a:ln w="12700">
            <a:solidFill>
              <a:srgbClr val="2563C9"/>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2563C9"/>
                </a:solidFill>
                <a:latin typeface="맑은 고딕"/>
                <a:ea typeface="맑은 고딕"/>
                <a:cs typeface="맑은 고딕"/>
              </a:rPr>
              <a:t>근거: RQ1 융합의 수준</a:t>
            </a:r>
          </a:p>
        </p:txBody>
      </p:sp>
      <p:sp>
        <p:nvSpPr>
          <p:cNvPr id="9" name="TextBox 8"/>
          <p:cNvSpPr txBox="1"/>
          <p:nvPr/>
        </p:nvSpPr>
        <p:spPr>
          <a:xfrm>
            <a:off x="79200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상당수 출원이 제조공정과 접합 기술을 함께 담음 → 평탄화 · 오염 제어 · 표면 화학 · 정렬을 아우르는 인접 공정 지식이 중요</a:t>
            </a:r>
          </a:p>
        </p:txBody>
      </p:sp>
      <p:sp>
        <p:nvSpPr>
          <p:cNvPr id="10" name="Rounded Rectangle 9"/>
          <p:cNvSpPr/>
          <p:nvPr/>
        </p:nvSpPr>
        <p:spPr>
          <a:xfrm>
            <a:off x="431604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1" name="Oval 10"/>
          <p:cNvSpPr/>
          <p:nvPr/>
        </p:nvSpPr>
        <p:spPr>
          <a:xfrm>
            <a:off x="5556060" y="1224000"/>
            <a:ext cx="1080000" cy="1080000"/>
          </a:xfrm>
          <a:prstGeom prst="ellipse">
            <a:avLst/>
          </a:prstGeom>
          <a:solidFill>
            <a:srgbClr val="EA7A28"/>
          </a:solidFill>
          <a:ln>
            <a:noFill/>
          </a:ln>
        </p:spPr>
        <p:txBody>
          <a:bodyPr rtlCol="0" anchor="ctr" lIns="36000" rIns="36000" tIns="36000" bIns="36000"/>
          <a:lstStyle/>
          <a:p>
            <a:pPr algn="ctr"/>
          </a:p>
        </p:txBody>
      </p:sp>
      <p:pic>
        <p:nvPicPr>
          <p:cNvPr id="12" name="Picture 11" descr="FaMemory_FFFFFF.png"/>
          <p:cNvPicPr>
            <a:picLocks noChangeAspect="1"/>
          </p:cNvPicPr>
          <p:nvPr/>
        </p:nvPicPr>
        <p:blipFill>
          <a:blip r:embed="rId4"/>
          <a:stretch>
            <a:fillRect/>
          </a:stretch>
        </p:blipFill>
        <p:spPr>
          <a:xfrm>
            <a:off x="5826060" y="1494000"/>
            <a:ext cx="540000" cy="540000"/>
          </a:xfrm>
          <a:prstGeom prst="rect">
            <a:avLst/>
          </a:prstGeom>
        </p:spPr>
      </p:pic>
      <p:sp>
        <p:nvSpPr>
          <p:cNvPr id="13" name="TextBox 12"/>
          <p:cNvSpPr txBox="1"/>
          <p:nvPr/>
        </p:nvSpPr>
        <p:spPr>
          <a:xfrm>
            <a:off x="446004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주변 공정에 주목하라</a:t>
            </a:r>
          </a:p>
        </p:txBody>
      </p:sp>
      <p:sp>
        <p:nvSpPr>
          <p:cNvPr id="14" name="Rounded Rectangle 13"/>
          <p:cNvSpPr/>
          <p:nvPr/>
        </p:nvSpPr>
        <p:spPr>
          <a:xfrm>
            <a:off x="5052060" y="3042000"/>
            <a:ext cx="2088000" cy="306000"/>
          </a:xfrm>
          <a:prstGeom prst="roundRect">
            <a:avLst>
              <a:gd name="adj" fmla="val 50000"/>
            </a:avLst>
          </a:prstGeom>
          <a:solidFill>
            <a:srgbClr val="FFFFFF"/>
          </a:solidFill>
          <a:ln w="12700">
            <a:solidFill>
              <a:srgbClr val="EA7A28"/>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EA7A28"/>
                </a:solidFill>
                <a:latin typeface="맑은 고딕"/>
                <a:ea typeface="맑은 고딕"/>
                <a:cs typeface="맑은 고딕"/>
              </a:rPr>
              <a:t>근거: RQ3 결합 중심</a:t>
            </a:r>
          </a:p>
        </p:txBody>
      </p:sp>
      <p:sp>
        <p:nvSpPr>
          <p:cNvPr id="15" name="TextBox 14"/>
          <p:cNvSpPr txBox="1"/>
          <p:nvPr/>
        </p:nvSpPr>
        <p:spPr>
          <a:xfrm>
            <a:off x="456804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재편기의 결합은 다이 지지 · 봉지 공정으로 → 차세대 HBM에는 얇은 다이를 다루고 적층하는 공정 역량까지 필요할 수 있음</a:t>
            </a:r>
          </a:p>
        </p:txBody>
      </p:sp>
      <p:sp>
        <p:nvSpPr>
          <p:cNvPr id="16" name="Rounded Rectangle 15"/>
          <p:cNvSpPr/>
          <p:nvPr/>
        </p:nvSpPr>
        <p:spPr>
          <a:xfrm>
            <a:off x="8092080" y="972000"/>
            <a:ext cx="3560040" cy="4950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7" name="Oval 16"/>
          <p:cNvSpPr/>
          <p:nvPr/>
        </p:nvSpPr>
        <p:spPr>
          <a:xfrm>
            <a:off x="9332100" y="1224000"/>
            <a:ext cx="1080000" cy="1080000"/>
          </a:xfrm>
          <a:prstGeom prst="ellipse">
            <a:avLst/>
          </a:prstGeom>
          <a:solidFill>
            <a:srgbClr val="10A39A"/>
          </a:solidFill>
          <a:ln>
            <a:noFill/>
          </a:ln>
        </p:spPr>
        <p:txBody>
          <a:bodyPr rtlCol="0" anchor="ctr" lIns="36000" rIns="36000" tIns="36000" bIns="36000"/>
          <a:lstStyle/>
          <a:p>
            <a:pPr algn="ctr"/>
          </a:p>
        </p:txBody>
      </p:sp>
      <p:pic>
        <p:nvPicPr>
          <p:cNvPr id="18" name="Picture 17" descr="FaGears_FFFFFF.png"/>
          <p:cNvPicPr>
            <a:picLocks noChangeAspect="1"/>
          </p:cNvPicPr>
          <p:nvPr/>
        </p:nvPicPr>
        <p:blipFill>
          <a:blip r:embed="rId5"/>
          <a:stretch>
            <a:fillRect/>
          </a:stretch>
        </p:blipFill>
        <p:spPr>
          <a:xfrm>
            <a:off x="9602100" y="1494000"/>
            <a:ext cx="540000" cy="540000"/>
          </a:xfrm>
          <a:prstGeom prst="rect">
            <a:avLst/>
          </a:prstGeom>
        </p:spPr>
      </p:pic>
      <p:sp>
        <p:nvSpPr>
          <p:cNvPr id="19" name="TextBox 18"/>
          <p:cNvSpPr txBox="1"/>
          <p:nvPr/>
        </p:nvSpPr>
        <p:spPr>
          <a:xfrm>
            <a:off x="8236080" y="2430000"/>
            <a:ext cx="3272040" cy="540000"/>
          </a:xfrm>
          <a:prstGeom prst="rect">
            <a:avLst/>
          </a:prstGeom>
          <a:noFill/>
        </p:spPr>
        <p:txBody>
          <a:bodyPr wrap="square" lIns="0" rIns="0" tIns="0" bIns="0" anchor="ctr">
            <a:noAutofit/>
          </a:bodyPr>
          <a:lstStyle/>
          <a:p>
            <a:pPr algn="ctr"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장비를 통한 지식의 흐름</a:t>
            </a:r>
          </a:p>
        </p:txBody>
      </p:sp>
      <p:sp>
        <p:nvSpPr>
          <p:cNvPr id="20" name="Rounded Rectangle 19"/>
          <p:cNvSpPr/>
          <p:nvPr/>
        </p:nvSpPr>
        <p:spPr>
          <a:xfrm>
            <a:off x="8828100" y="3042000"/>
            <a:ext cx="2088000" cy="306000"/>
          </a:xfrm>
          <a:prstGeom prst="roundRect">
            <a:avLst>
              <a:gd name="adj" fmla="val 50000"/>
            </a:avLst>
          </a:prstGeom>
          <a:solidFill>
            <a:srgbClr val="FFFFFF"/>
          </a:solidFill>
          <a:ln w="12700">
            <a:solidFill>
              <a:srgbClr val="10A39A"/>
            </a:solidFill>
          </a:ln>
        </p:spPr>
        <p:txBody>
          <a:bodyPr rtlCol="0" anchor="ctr" lIns="28800" rIns="28800" tIns="18000" bIns="18000" wrap="square">
            <a:noAutofit/>
          </a:bodyPr>
          <a:lstStyle/>
          <a:p>
            <a:pPr algn="ctr" marL="0" indent="0">
              <a:lnSpc>
                <a:spcPts val="1380"/>
              </a:lnSpc>
              <a:spcBef>
                <a:spcPts val="0"/>
              </a:spcBef>
              <a:spcAft>
                <a:spcPts val="0"/>
              </a:spcAft>
              <a:buNone/>
            </a:pPr>
            <a:r>
              <a:rPr sz="1150" b="1" i="0" lang="ko-KR" altLang="en-US">
                <a:solidFill>
                  <a:srgbClr val="10A39A"/>
                </a:solidFill>
                <a:latin typeface="맑은 고딕"/>
                <a:ea typeface="맑은 고딕"/>
                <a:cs typeface="맑은 고딕"/>
              </a:rPr>
              <a:t>근거: RQ3 연결 기호</a:t>
            </a:r>
          </a:p>
        </p:txBody>
      </p:sp>
      <p:sp>
        <p:nvSpPr>
          <p:cNvPr id="21" name="TextBox 20"/>
          <p:cNvSpPr txBox="1"/>
          <p:nvPr/>
        </p:nvSpPr>
        <p:spPr>
          <a:xfrm>
            <a:off x="8344080" y="3492000"/>
            <a:ext cx="3056040" cy="2340000"/>
          </a:xfrm>
          <a:prstGeom prst="rect">
            <a:avLst/>
          </a:prstGeom>
          <a:noFill/>
        </p:spPr>
        <p:txBody>
          <a:bodyPr wrap="square" lIns="0" rIns="0" tIns="0" bIns="0" anchor="t">
            <a:noAutofit/>
          </a:bodyPr>
          <a:lstStyle/>
          <a:p>
            <a:pPr algn="l" marL="0" indent="0">
              <a:lnSpc>
                <a:spcPts val="2420"/>
              </a:lnSpc>
              <a:spcBef>
                <a:spcPts val="0"/>
              </a:spcBef>
              <a:spcAft>
                <a:spcPts val="0"/>
              </a:spcAft>
              <a:buNone/>
            </a:pPr>
            <a:r>
              <a:rPr sz="1550" b="0" i="0" lang="ko-KR" altLang="en-US">
                <a:solidFill>
                  <a:srgbClr val="1E2532"/>
                </a:solidFill>
                <a:latin typeface="맑은 고딕"/>
                <a:ea typeface="맑은 고딕"/>
                <a:cs typeface="맑은 고딕"/>
              </a:rPr>
              <a:t>재편기에 접합과 제조공정을 잇는 기호가 공정 장치로 바뀜 → 장비를 매개로 공정 지식이 확산되는 경로(Rosenberg, 1963)에 주목</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640"/>
              </a:lnSpc>
              <a:spcBef>
                <a:spcPts val="0"/>
              </a:spcBef>
              <a:spcAft>
                <a:spcPts val="0"/>
              </a:spcAft>
              <a:buNone/>
            </a:pPr>
            <a:r>
              <a:rPr sz="1600" b="0" i="0" lang="ko-KR" altLang="en-US">
                <a:solidFill>
                  <a:srgbClr val="5B6475"/>
                </a:solidFill>
                <a:latin typeface="맑은 고딕"/>
                <a:ea typeface="맑은 고딕"/>
                <a:cs typeface="맑은 고딕"/>
              </a:rPr>
              <a:t>5.4  </a:t>
            </a:r>
            <a:r>
              <a:rPr sz="2200" b="1" i="0" lang="ko-KR" altLang="en-US">
                <a:solidFill>
                  <a:srgbClr val="13294B"/>
                </a:solidFill>
                <a:latin typeface="맑은 고딕"/>
                <a:ea typeface="맑은 고딕"/>
                <a:cs typeface="맑은 고딕"/>
              </a:rPr>
              <a:t>한계점과 향후 연구 방향</a:t>
            </a:r>
          </a:p>
        </p:txBody>
      </p:sp>
      <p:sp>
        <p:nvSpPr>
          <p:cNvPr id="3" name="Takeaway"/>
          <p:cNvSpPr/>
          <p:nvPr/>
        </p:nvSpPr>
        <p:spPr>
          <a:xfrm>
            <a:off x="540000" y="6102000"/>
            <a:ext cx="11112120" cy="378000"/>
          </a:xfrm>
          <a:prstGeom prst="roundRect">
            <a:avLst>
              <a:gd name="adj" fmla="val 50000"/>
            </a:avLst>
          </a:prstGeom>
          <a:solidFill>
            <a:srgbClr val="E8EEF7"/>
          </a:solidFill>
          <a:ln>
            <a:noFill/>
          </a:ln>
        </p:spPr>
        <p:txBody>
          <a:bodyPr rtlCol="0" anchor="ctr" lIns="144000" rIns="144000" tIns="18000" bIns="18000" wrap="square">
            <a:noAutofit/>
          </a:bodyPr>
          <a:lstStyle/>
          <a:p>
            <a:pPr algn="ctr" marL="0" indent="0">
              <a:lnSpc>
                <a:spcPts val="1920"/>
              </a:lnSpc>
              <a:spcBef>
                <a:spcPts val="0"/>
              </a:spcBef>
              <a:spcAft>
                <a:spcPts val="0"/>
              </a:spcAft>
              <a:buNone/>
            </a:pPr>
            <a:r>
              <a:rPr sz="1600" b="1" i="0" lang="ko-KR" altLang="en-US">
                <a:solidFill>
                  <a:srgbClr val="13294B"/>
                </a:solidFill>
                <a:latin typeface="맑은 고딕"/>
                <a:ea typeface="맑은 고딕"/>
                <a:cs typeface="맑은 고딕"/>
              </a:rPr>
              <a:t>다른 공정기술 사례와 비교하여 형성–확산–재편의 일반성을 검증하는 것이 다음 과제이다</a:t>
            </a:r>
          </a:p>
        </p:txBody>
      </p:sp>
      <p:sp>
        <p:nvSpPr>
          <p:cNvPr id="4" name="TextBox 3"/>
          <p:cNvSpPr txBox="1"/>
          <p:nvPr/>
        </p:nvSpPr>
        <p:spPr>
          <a:xfrm>
            <a:off x="540000" y="900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한계</a:t>
            </a:r>
          </a:p>
        </p:txBody>
      </p:sp>
      <p:sp>
        <p:nvSpPr>
          <p:cNvPr id="5" name="Rounded Rectangle 4"/>
          <p:cNvSpPr/>
          <p:nvPr/>
        </p:nvSpPr>
        <p:spPr>
          <a:xfrm>
            <a:off x="5400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6" name="Picture 5" descr="FaTags_13294B.png"/>
          <p:cNvPicPr>
            <a:picLocks noChangeAspect="1"/>
          </p:cNvPicPr>
          <p:nvPr/>
        </p:nvPicPr>
        <p:blipFill>
          <a:blip r:embed="rId3"/>
          <a:stretch>
            <a:fillRect/>
          </a:stretch>
        </p:blipFill>
        <p:spPr>
          <a:xfrm>
            <a:off x="1530000" y="1386000"/>
            <a:ext cx="612000" cy="612000"/>
          </a:xfrm>
          <a:prstGeom prst="rect">
            <a:avLst/>
          </a:prstGeom>
        </p:spPr>
      </p:pic>
      <p:sp>
        <p:nvSpPr>
          <p:cNvPr id="7" name="TextBox 6"/>
          <p:cNvSpPr txBox="1"/>
          <p:nvPr/>
        </p:nvSpPr>
        <p:spPr>
          <a:xfrm>
            <a:off x="5400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Measurement</a:t>
            </a:r>
          </a:p>
        </p:txBody>
      </p:sp>
      <p:sp>
        <p:nvSpPr>
          <p:cNvPr id="8" name="TextBox 7"/>
          <p:cNvSpPr txBox="1"/>
          <p:nvPr/>
        </p:nvSpPr>
        <p:spPr>
          <a:xfrm>
            <a:off x="6480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공동분류는 대리측정치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CPC 소급 재분류 가능성</a:t>
            </a:r>
          </a:p>
        </p:txBody>
      </p:sp>
      <p:sp>
        <p:nvSpPr>
          <p:cNvPr id="9" name="Rounded Rectangle 8"/>
          <p:cNvSpPr/>
          <p:nvPr/>
        </p:nvSpPr>
        <p:spPr>
          <a:xfrm>
            <a:off x="33804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0" name="Picture 9" descr="FaFilter_13294B.png"/>
          <p:cNvPicPr>
            <a:picLocks noChangeAspect="1"/>
          </p:cNvPicPr>
          <p:nvPr/>
        </p:nvPicPr>
        <p:blipFill>
          <a:blip r:embed="rId4"/>
          <a:stretch>
            <a:fillRect/>
          </a:stretch>
        </p:blipFill>
        <p:spPr>
          <a:xfrm>
            <a:off x="4370400" y="1386000"/>
            <a:ext cx="612000" cy="612000"/>
          </a:xfrm>
          <a:prstGeom prst="rect">
            <a:avLst/>
          </a:prstGeom>
        </p:spPr>
      </p:pic>
      <p:sp>
        <p:nvSpPr>
          <p:cNvPr id="11" name="TextBox 10"/>
          <p:cNvSpPr txBox="1"/>
          <p:nvPr/>
        </p:nvSpPr>
        <p:spPr>
          <a:xfrm>
            <a:off x="33804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Sampling</a:t>
            </a:r>
          </a:p>
        </p:txBody>
      </p:sp>
      <p:sp>
        <p:nvSpPr>
          <p:cNvPr id="12" name="TextBox 11"/>
          <p:cNvSpPr txBox="1"/>
          <p:nvPr/>
        </p:nvSpPr>
        <p:spPr>
          <a:xfrm>
            <a:off x="34884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제목 키워드 검색</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관련어 없는 출원 누락</a:t>
            </a:r>
          </a:p>
        </p:txBody>
      </p:sp>
      <p:sp>
        <p:nvSpPr>
          <p:cNvPr id="13" name="Rounded Rectangle 12"/>
          <p:cNvSpPr/>
          <p:nvPr/>
        </p:nvSpPr>
        <p:spPr>
          <a:xfrm>
            <a:off x="62208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4" name="Picture 13" descr="FaCopy_13294B.png"/>
          <p:cNvPicPr>
            <a:picLocks noChangeAspect="1"/>
          </p:cNvPicPr>
          <p:nvPr/>
        </p:nvPicPr>
        <p:blipFill>
          <a:blip r:embed="rId5"/>
          <a:stretch>
            <a:fillRect/>
          </a:stretch>
        </p:blipFill>
        <p:spPr>
          <a:xfrm>
            <a:off x="7210800" y="1386000"/>
            <a:ext cx="612000" cy="612000"/>
          </a:xfrm>
          <a:prstGeom prst="rect">
            <a:avLst/>
          </a:prstGeom>
        </p:spPr>
      </p:pic>
      <p:sp>
        <p:nvSpPr>
          <p:cNvPr id="15" name="TextBox 14"/>
          <p:cNvSpPr txBox="1"/>
          <p:nvPr/>
        </p:nvSpPr>
        <p:spPr>
          <a:xfrm>
            <a:off x="62208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Patent Family</a:t>
            </a:r>
          </a:p>
        </p:txBody>
      </p:sp>
      <p:sp>
        <p:nvSpPr>
          <p:cNvPr id="16" name="TextBox 15"/>
          <p:cNvSpPr txBox="1"/>
          <p:nvPr/>
        </p:nvSpPr>
        <p:spPr>
          <a:xfrm>
            <a:off x="63288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패밀리 식별자 없음</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동일 제목으로 근사</a:t>
            </a:r>
          </a:p>
        </p:txBody>
      </p:sp>
      <p:sp>
        <p:nvSpPr>
          <p:cNvPr id="17" name="Rounded Rectangle 16"/>
          <p:cNvSpPr/>
          <p:nvPr/>
        </p:nvSpPr>
        <p:spPr>
          <a:xfrm>
            <a:off x="9061200" y="1242000"/>
            <a:ext cx="2592000" cy="2016000"/>
          </a:xfrm>
          <a:prstGeom prst="roundRect">
            <a:avLst>
              <a:gd name="adj" fmla="val 6000"/>
            </a:avLst>
          </a:prstGeom>
          <a:solidFill>
            <a:srgbClr val="F2F5FA"/>
          </a:solidFill>
          <a:ln>
            <a:noFill/>
          </a:ln>
        </p:spPr>
        <p:txBody>
          <a:bodyPr rtlCol="0" anchor="ctr" lIns="36000" rIns="36000" tIns="36000" bIns="36000"/>
          <a:lstStyle/>
          <a:p>
            <a:pPr algn="ctr"/>
          </a:p>
        </p:txBody>
      </p:sp>
      <p:pic>
        <p:nvPicPr>
          <p:cNvPr id="18" name="Picture 17" descr="FaScaleBalanced_13294B.png"/>
          <p:cNvPicPr>
            <a:picLocks noChangeAspect="1"/>
          </p:cNvPicPr>
          <p:nvPr/>
        </p:nvPicPr>
        <p:blipFill>
          <a:blip r:embed="rId6"/>
          <a:stretch>
            <a:fillRect/>
          </a:stretch>
        </p:blipFill>
        <p:spPr>
          <a:xfrm>
            <a:off x="10051200" y="1386000"/>
            <a:ext cx="612000" cy="612000"/>
          </a:xfrm>
          <a:prstGeom prst="rect">
            <a:avLst/>
          </a:prstGeom>
        </p:spPr>
      </p:pic>
      <p:sp>
        <p:nvSpPr>
          <p:cNvPr id="19" name="TextBox 18"/>
          <p:cNvSpPr txBox="1"/>
          <p:nvPr/>
        </p:nvSpPr>
        <p:spPr>
          <a:xfrm>
            <a:off x="9061200" y="2052000"/>
            <a:ext cx="2592000" cy="288000"/>
          </a:xfrm>
          <a:prstGeom prst="rect">
            <a:avLst/>
          </a:prstGeom>
          <a:noFill/>
        </p:spPr>
        <p:txBody>
          <a:bodyPr wrap="square" lIns="0" rIns="0" tIns="0" bIns="0" anchor="ctr">
            <a:noAutofit/>
          </a:bodyPr>
          <a:lstStyle/>
          <a:p>
            <a:pPr algn="ctr" marL="0" indent="0">
              <a:lnSpc>
                <a:spcPts val="1739"/>
              </a:lnSpc>
              <a:spcBef>
                <a:spcPts val="0"/>
              </a:spcBef>
              <a:spcAft>
                <a:spcPts val="0"/>
              </a:spcAft>
              <a:buNone/>
            </a:pPr>
            <a:r>
              <a:rPr sz="1450" b="1" i="0" lang="ko-KR" altLang="en-US">
                <a:solidFill>
                  <a:srgbClr val="13294B"/>
                </a:solidFill>
                <a:latin typeface="맑은 고딕"/>
                <a:ea typeface="맑은 고딕"/>
                <a:cs typeface="맑은 고딕"/>
              </a:rPr>
              <a:t>Causality</a:t>
            </a:r>
          </a:p>
        </p:txBody>
      </p:sp>
      <p:sp>
        <p:nvSpPr>
          <p:cNvPr id="20" name="TextBox 19"/>
          <p:cNvSpPr txBox="1"/>
          <p:nvPr/>
        </p:nvSpPr>
        <p:spPr>
          <a:xfrm>
            <a:off x="9169200" y="2358000"/>
            <a:ext cx="2376000" cy="82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조건부 연관 · 누락변수</a:t>
            </a:r>
          </a:p>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시기 = 지배적 설계의 근사</a:t>
            </a:r>
          </a:p>
        </p:txBody>
      </p:sp>
      <p:sp>
        <p:nvSpPr>
          <p:cNvPr id="21" name="TextBox 20"/>
          <p:cNvSpPr txBox="1"/>
          <p:nvPr/>
        </p:nvSpPr>
        <p:spPr>
          <a:xfrm>
            <a:off x="540000" y="3402000"/>
            <a:ext cx="2880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ltLang="en-US">
                <a:solidFill>
                  <a:srgbClr val="13294B"/>
                </a:solidFill>
                <a:latin typeface="맑은 고딕"/>
                <a:ea typeface="맑은 고딕"/>
                <a:cs typeface="맑은 고딕"/>
              </a:rPr>
              <a:t>향후 연구</a:t>
            </a:r>
          </a:p>
        </p:txBody>
      </p:sp>
      <p:sp>
        <p:nvSpPr>
          <p:cNvPr id="22" name="Rounded Rectangle 21"/>
          <p:cNvSpPr/>
          <p:nvPr/>
        </p:nvSpPr>
        <p:spPr>
          <a:xfrm>
            <a:off x="54000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3" name="Picture 22" descr="FaUsers_13294B.png"/>
          <p:cNvPicPr>
            <a:picLocks noChangeAspect="1"/>
          </p:cNvPicPr>
          <p:nvPr/>
        </p:nvPicPr>
        <p:blipFill>
          <a:blip r:embed="rId7"/>
          <a:stretch>
            <a:fillRect/>
          </a:stretch>
        </p:blipFill>
        <p:spPr>
          <a:xfrm>
            <a:off x="738000" y="3906000"/>
            <a:ext cx="540000" cy="540000"/>
          </a:xfrm>
          <a:prstGeom prst="rect">
            <a:avLst/>
          </a:prstGeom>
        </p:spPr>
      </p:pic>
      <p:sp>
        <p:nvSpPr>
          <p:cNvPr id="24" name="TextBox 23"/>
          <p:cNvSpPr txBox="1"/>
          <p:nvPr/>
        </p:nvSpPr>
        <p:spPr>
          <a:xfrm>
            <a:off x="140400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Applicant &amp; Family</a:t>
            </a:r>
          </a:p>
        </p:txBody>
      </p:sp>
      <p:sp>
        <p:nvSpPr>
          <p:cNvPr id="25" name="TextBox 24"/>
          <p:cNvSpPr txBox="1"/>
          <p:nvPr/>
        </p:nvSpPr>
        <p:spPr>
          <a:xfrm>
            <a:off x="73800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출원인 · 패밀리 정보를 결합한 재분석</a:t>
            </a:r>
          </a:p>
        </p:txBody>
      </p:sp>
      <p:sp>
        <p:nvSpPr>
          <p:cNvPr id="26" name="Rounded Rectangle 25"/>
          <p:cNvSpPr/>
          <p:nvPr/>
        </p:nvSpPr>
        <p:spPr>
          <a:xfrm>
            <a:off x="432684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27" name="Picture 26" descr="FaShuffle_13294B.png"/>
          <p:cNvPicPr>
            <a:picLocks noChangeAspect="1"/>
          </p:cNvPicPr>
          <p:nvPr/>
        </p:nvPicPr>
        <p:blipFill>
          <a:blip r:embed="rId8"/>
          <a:stretch>
            <a:fillRect/>
          </a:stretch>
        </p:blipFill>
        <p:spPr>
          <a:xfrm>
            <a:off x="4524840" y="3906000"/>
            <a:ext cx="540000" cy="540000"/>
          </a:xfrm>
          <a:prstGeom prst="rect">
            <a:avLst/>
          </a:prstGeom>
        </p:spPr>
      </p:pic>
      <p:sp>
        <p:nvSpPr>
          <p:cNvPr id="28" name="TextBox 27"/>
          <p:cNvSpPr txBox="1"/>
          <p:nvPr/>
        </p:nvSpPr>
        <p:spPr>
          <a:xfrm>
            <a:off x="519084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Other Industries</a:t>
            </a:r>
          </a:p>
        </p:txBody>
      </p:sp>
      <p:sp>
        <p:nvSpPr>
          <p:cNvPr id="29" name="TextBox 28"/>
          <p:cNvSpPr txBox="1"/>
          <p:nvPr/>
        </p:nvSpPr>
        <p:spPr>
          <a:xfrm>
            <a:off x="452484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디스플레이 리소그래피 · 배터리 셀-투-팩 · 항공우주 적층제조와 비교</a:t>
            </a:r>
          </a:p>
        </p:txBody>
      </p:sp>
      <p:sp>
        <p:nvSpPr>
          <p:cNvPr id="30" name="Rounded Rectangle 29"/>
          <p:cNvSpPr/>
          <p:nvPr/>
        </p:nvSpPr>
        <p:spPr>
          <a:xfrm>
            <a:off x="8113680" y="3744000"/>
            <a:ext cx="3538440" cy="2178000"/>
          </a:xfrm>
          <a:prstGeom prst="roundRect">
            <a:avLst>
              <a:gd name="adj" fmla="val 6000"/>
            </a:avLst>
          </a:prstGeom>
          <a:solidFill>
            <a:srgbClr val="E8EEF7"/>
          </a:solidFill>
          <a:ln>
            <a:noFill/>
          </a:ln>
        </p:spPr>
        <p:txBody>
          <a:bodyPr rtlCol="0" anchor="ctr" lIns="36000" rIns="36000" tIns="36000" bIns="36000"/>
          <a:lstStyle/>
          <a:p>
            <a:pPr algn="ctr"/>
          </a:p>
        </p:txBody>
      </p:sp>
      <p:pic>
        <p:nvPicPr>
          <p:cNvPr id="31" name="Picture 30" descr="FaCircleNodes_13294B.png"/>
          <p:cNvPicPr>
            <a:picLocks noChangeAspect="1"/>
          </p:cNvPicPr>
          <p:nvPr/>
        </p:nvPicPr>
        <p:blipFill>
          <a:blip r:embed="rId9"/>
          <a:stretch>
            <a:fillRect/>
          </a:stretch>
        </p:blipFill>
        <p:spPr>
          <a:xfrm>
            <a:off x="8311680" y="3906000"/>
            <a:ext cx="540000" cy="540000"/>
          </a:xfrm>
          <a:prstGeom prst="rect">
            <a:avLst/>
          </a:prstGeom>
        </p:spPr>
      </p:pic>
      <p:sp>
        <p:nvSpPr>
          <p:cNvPr id="32" name="TextBox 31"/>
          <p:cNvSpPr txBox="1"/>
          <p:nvPr/>
        </p:nvSpPr>
        <p:spPr>
          <a:xfrm>
            <a:off x="8977680" y="3888000"/>
            <a:ext cx="2530440" cy="576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ltLang="en-US">
                <a:solidFill>
                  <a:srgbClr val="13294B"/>
                </a:solidFill>
                <a:latin typeface="맑은 고딕"/>
                <a:ea typeface="맑은 고딕"/>
                <a:cs typeface="맑은 고딕"/>
              </a:rPr>
              <a:t>Generality</a:t>
            </a:r>
          </a:p>
        </p:txBody>
      </p:sp>
      <p:sp>
        <p:nvSpPr>
          <p:cNvPr id="33" name="TextBox 32"/>
          <p:cNvSpPr txBox="1"/>
          <p:nvPr/>
        </p:nvSpPr>
        <p:spPr>
          <a:xfrm>
            <a:off x="8311680" y="4608000"/>
            <a:ext cx="3142440" cy="1224000"/>
          </a:xfrm>
          <a:prstGeom prst="rect">
            <a:avLst/>
          </a:prstGeom>
          <a:noFill/>
        </p:spPr>
        <p:txBody>
          <a:bodyPr wrap="square" lIns="0" rIns="0" tIns="0" bIns="0" anchor="t">
            <a:noAutofit/>
          </a:bodyPr>
          <a:lstStyle/>
          <a:p>
            <a:pPr algn="l" marL="0" indent="0">
              <a:lnSpc>
                <a:spcPts val="1880"/>
              </a:lnSpc>
              <a:spcBef>
                <a:spcPts val="0"/>
              </a:spcBef>
              <a:spcAft>
                <a:spcPts val="0"/>
              </a:spcAft>
              <a:buNone/>
            </a:pPr>
            <a:r>
              <a:rPr sz="1400" b="0" i="0" lang="ko-KR" altLang="en-US">
                <a:solidFill>
                  <a:srgbClr val="1E2532"/>
                </a:solidFill>
                <a:latin typeface="맑은 고딕"/>
                <a:ea typeface="맑은 고딕"/>
                <a:cs typeface="맑은 고딕"/>
              </a:rPr>
              <a:t>고차 공출현 · 일반성 지수로 범용기술적 성격 검정 (Petralia, 2020)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circuit.png"/>
          <p:cNvPicPr>
            <a:picLocks noChangeAspect="1"/>
          </p:cNvPicPr>
          <p:nvPr/>
        </p:nvPicPr>
        <p:blipFill>
          <a:blip r:embed="rId2"/>
          <a:stretch>
            <a:fillRect/>
          </a:stretch>
        </p:blipFill>
        <p:spPr>
          <a:xfrm>
            <a:off x="0" y="0"/>
            <a:ext cx="12192120" cy="6858000"/>
          </a:xfrm>
          <a:prstGeom prst="rect">
            <a:avLst/>
          </a:prstGeom>
        </p:spPr>
      </p:pic>
      <p:sp>
        <p:nvSpPr>
          <p:cNvPr id="3" name="Rectangle 2"/>
          <p:cNvSpPr/>
          <p:nvPr/>
        </p:nvSpPr>
        <p:spPr>
          <a:xfrm>
            <a:off x="0" y="0"/>
            <a:ext cx="12192120" cy="6858000"/>
          </a:xfrm>
          <a:prstGeom prst="rect">
            <a:avLst/>
          </a:prstGeom>
          <a:solidFill>
            <a:srgbClr val="05070B">
              <a:alpha val="82000"/>
            </a:srgbClr>
          </a:solidFill>
          <a:ln>
            <a:noFill/>
          </a:ln>
        </p:spPr>
        <p:txBody>
          <a:bodyPr rtlCol="0" anchor="ctr" lIns="36000" rIns="36000" tIns="36000" bIns="36000"/>
          <a:lstStyle/>
          <a:p>
            <a:pPr algn="ctr"/>
          </a:p>
        </p:txBody>
      </p:sp>
      <p:sp>
        <p:nvSpPr>
          <p:cNvPr id="4" name="Rectangle 3"/>
          <p:cNvSpPr/>
          <p:nvPr/>
        </p:nvSpPr>
        <p:spPr>
          <a:xfrm>
            <a:off x="1584000" y="1512000"/>
            <a:ext cx="9024120" cy="2736000"/>
          </a:xfrm>
          <a:prstGeom prst="rect">
            <a:avLst/>
          </a:prstGeom>
          <a:noFill/>
          <a:ln w="19050">
            <a:solidFill>
              <a:srgbClr val="FFFFFF"/>
            </a:solidFill>
          </a:ln>
        </p:spPr>
        <p:txBody>
          <a:bodyPr rtlCol="0" anchor="ctr" lIns="36000" rIns="36000" tIns="36000" bIns="36000"/>
          <a:lstStyle/>
          <a:p>
            <a:pPr algn="ctr"/>
          </a:p>
        </p:txBody>
      </p:sp>
      <p:sp>
        <p:nvSpPr>
          <p:cNvPr id="5" name="TextBox 4"/>
          <p:cNvSpPr txBox="1"/>
          <p:nvPr/>
        </p:nvSpPr>
        <p:spPr>
          <a:xfrm>
            <a:off x="1944000" y="1620000"/>
            <a:ext cx="8304120" cy="2520000"/>
          </a:xfrm>
          <a:prstGeom prst="rect">
            <a:avLst/>
          </a:prstGeom>
          <a:noFill/>
        </p:spPr>
        <p:txBody>
          <a:bodyPr wrap="square" lIns="0" rIns="0" tIns="0" bIns="0" anchor="ctr">
            <a:noAutofit/>
          </a:bodyPr>
          <a:lstStyle/>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“공정 단계 간 기술융합은 한 번 결합하고 멈추는 사건이 아니라,</a:t>
            </a:r>
          </a:p>
          <a:p>
            <a:pPr algn="ctr" marL="0" indent="0">
              <a:lnSpc>
                <a:spcPts val="2880"/>
              </a:lnSpc>
              <a:spcBef>
                <a:spcPts val="0"/>
              </a:spcBef>
              <a:spcAft>
                <a:spcPts val="400"/>
              </a:spcAft>
              <a:buNone/>
            </a:pPr>
            <a:r>
              <a:rPr sz="2400" b="1" i="0" lang="ko-KR" altLang="en-US">
                <a:solidFill>
                  <a:srgbClr val="FFFFFF"/>
                </a:solidFill>
                <a:latin typeface="맑은 고딕"/>
                <a:ea typeface="맑은 고딕"/>
                <a:cs typeface="맑은 고딕"/>
              </a:rPr>
              <a:t>핵심 설계의 고착화와 함께 그 중심이</a:t>
            </a:r>
          </a:p>
          <a:p>
            <a:pPr algn="ctr" marL="0" indent="0">
              <a:lnSpc>
                <a:spcPts val="2880"/>
              </a:lnSpc>
              <a:spcBef>
                <a:spcPts val="0"/>
              </a:spcBef>
              <a:spcAft>
                <a:spcPts val="0"/>
              </a:spcAft>
              <a:buNone/>
            </a:pPr>
            <a:r>
              <a:rPr sz="2400" b="1" i="0" lang="ko-KR" altLang="en-US">
                <a:solidFill>
                  <a:srgbClr val="D4A72C"/>
                </a:solidFill>
                <a:latin typeface="맑은 고딕"/>
                <a:ea typeface="맑은 고딕"/>
                <a:cs typeface="맑은 고딕"/>
              </a:rPr>
              <a:t>핵심에서 주변으로 옮겨 가는 과정이다.”</a:t>
            </a:r>
          </a:p>
        </p:txBody>
      </p:sp>
      <p:sp>
        <p:nvSpPr>
          <p:cNvPr id="6" name="TextBox 5"/>
          <p:cNvSpPr txBox="1"/>
          <p:nvPr/>
        </p:nvSpPr>
        <p:spPr>
          <a:xfrm>
            <a:off x="1584000" y="4500000"/>
            <a:ext cx="9024120" cy="720000"/>
          </a:xfrm>
          <a:prstGeom prst="rect">
            <a:avLst/>
          </a:prstGeom>
          <a:noFill/>
        </p:spPr>
        <p:txBody>
          <a:bodyPr wrap="square" lIns="0" rIns="0" tIns="0" bIns="0" anchor="ctr">
            <a:noAutofit/>
          </a:bodyPr>
          <a:lstStyle/>
          <a:p>
            <a:pPr algn="ctr" marL="0" indent="0">
              <a:lnSpc>
                <a:spcPts val="1680"/>
              </a:lnSpc>
              <a:spcBef>
                <a:spcPts val="0"/>
              </a:spcBef>
              <a:spcAft>
                <a:spcPts val="400"/>
              </a:spcAft>
              <a:buNone/>
            </a:pPr>
            <a:r>
              <a:rPr sz="1400" b="0" i="0" lang="ko-KR" altLang="en-US">
                <a:solidFill>
                  <a:srgbClr val="B9C6DD"/>
                </a:solidFill>
                <a:latin typeface="맑은 고딕"/>
                <a:ea typeface="맑은 고딕"/>
                <a:cs typeface="맑은 고딕"/>
              </a:rPr>
              <a:t>하이브리드 본딩 특허 928건(1968–2024)의 종단 분석</a:t>
            </a:r>
          </a:p>
          <a:p>
            <a:pPr algn="ctr" marL="0" indent="0">
              <a:lnSpc>
                <a:spcPts val="1800"/>
              </a:lnSpc>
              <a:spcBef>
                <a:spcPts val="0"/>
              </a:spcBef>
              <a:spcAft>
                <a:spcPts val="0"/>
              </a:spcAft>
              <a:buNone/>
            </a:pPr>
            <a:r>
              <a:rPr sz="1500" b="1" i="0" lang="ko-KR" altLang="en-US">
                <a:solidFill>
                  <a:srgbClr val="FFFFFF"/>
                </a:solidFill>
                <a:latin typeface="맑은 고딕"/>
                <a:ea typeface="맑은 고딕"/>
                <a:cs typeface="맑은 고딕"/>
              </a:rPr>
              <a:t>다음 경쟁은 핵심 원리보다 주변 공정과의 결합에서 일어날 수 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Background image" descr="wafer.png"/>
          <p:cNvPicPr>
            <a:picLocks noChangeAspect="1"/>
          </p:cNvPicPr>
          <p:nvPr/>
        </p:nvPicPr>
        <p:blipFill>
          <a:blip r:embed="rId2"/>
          <a:stretch>
            <a:fillRect/>
          </a:stretch>
        </p:blipFill>
        <p:spPr>
          <a:xfrm>
            <a:off x="0" y="0"/>
            <a:ext cx="12192120" cy="6858000"/>
          </a:xfrm>
          <a:prstGeom prst="rect">
            <a:avLst/>
          </a:prstGeom>
        </p:spPr>
      </p:pic>
      <p:sp>
        <p:nvSpPr>
          <p:cNvPr id="3" name="Freeform 2"/>
          <p:cNvSpPr/>
          <p:nvPr/>
        </p:nvSpPr>
        <p:spPr>
          <a:xfrm>
            <a:off x="2160000" y="0"/>
            <a:ext cx="10032120" cy="6858000"/>
          </a:xfrm>
          <a:custGeom>
            <a:avLst/>
            <a:gdLst/>
            <a:ahLst/>
            <a:cxnLst/>
            <a:rect l="l" t="t" r="r" b="b"/>
            <a:pathLst>
              <a:path w="10032120" h="6858000">
                <a:moveTo>
                  <a:pt x="2160000" y="0"/>
                </a:moveTo>
                <a:lnTo>
                  <a:pt x="10032120" y="0"/>
                </a:lnTo>
                <a:lnTo>
                  <a:pt x="10032120" y="6858000"/>
                </a:lnTo>
                <a:lnTo>
                  <a:pt x="0" y="6858000"/>
                </a:lnTo>
                <a:lnTo>
                  <a:pt x="2160000" y="0"/>
                </a:lnTo>
                <a:close/>
              </a:path>
            </a:pathLst>
          </a:custGeom>
          <a:solidFill>
            <a:srgbClr val="05070B"/>
          </a:solidFill>
          <a:ln>
            <a:noFill/>
          </a:ln>
        </p:spPr>
        <p:txBody>
          <a:bodyPr rtlCol="0" anchor="ctr"/>
          <a:lstStyle/>
          <a:p>
            <a:pPr algn="ctr"/>
          </a:p>
        </p:txBody>
      </p:sp>
      <p:sp>
        <p:nvSpPr>
          <p:cNvPr id="4" name="Rectangle 3"/>
          <p:cNvSpPr/>
          <p:nvPr/>
        </p:nvSpPr>
        <p:spPr>
          <a:xfrm>
            <a:off x="3240000" y="1512000"/>
            <a:ext cx="7200000" cy="3816000"/>
          </a:xfrm>
          <a:prstGeom prst="rect">
            <a:avLst/>
          </a:prstGeom>
          <a:noFill/>
          <a:ln w="31750">
            <a:solidFill>
              <a:srgbClr val="FFFFFF"/>
            </a:solidFill>
          </a:ln>
        </p:spPr>
        <p:txBody>
          <a:bodyPr rtlCol="0" anchor="ctr" lIns="36000" rIns="36000" tIns="36000" bIns="36000"/>
          <a:lstStyle/>
          <a:p>
            <a:pPr algn="ctr"/>
          </a:p>
        </p:txBody>
      </p:sp>
      <p:sp>
        <p:nvSpPr>
          <p:cNvPr id="5" name="TextBox 4"/>
          <p:cNvSpPr txBox="1"/>
          <p:nvPr/>
        </p:nvSpPr>
        <p:spPr>
          <a:xfrm>
            <a:off x="3240000" y="1872000"/>
            <a:ext cx="7200000" cy="1152000"/>
          </a:xfrm>
          <a:prstGeom prst="rect">
            <a:avLst/>
          </a:prstGeom>
          <a:noFill/>
        </p:spPr>
        <p:txBody>
          <a:bodyPr wrap="square" lIns="0" rIns="0" tIns="0" bIns="0" anchor="ctr">
            <a:noAutofit/>
          </a:bodyPr>
          <a:lstStyle/>
          <a:p>
            <a:pPr algn="ctr" marL="0" indent="0">
              <a:lnSpc>
                <a:spcPts val="6480"/>
              </a:lnSpc>
              <a:spcBef>
                <a:spcPts val="0"/>
              </a:spcBef>
              <a:spcAft>
                <a:spcPts val="0"/>
              </a:spcAft>
              <a:buNone/>
            </a:pPr>
            <a:r>
              <a:rPr sz="5400" b="1" i="0" lang="ko-KR" altLang="en-US">
                <a:solidFill>
                  <a:srgbClr val="FFFFFF"/>
                </a:solidFill>
                <a:latin typeface="맑은 고딕"/>
                <a:ea typeface="맑은 고딕"/>
                <a:cs typeface="맑은 고딕"/>
              </a:rPr>
              <a:t>Q&amp;A</a:t>
            </a:r>
          </a:p>
        </p:txBody>
      </p:sp>
      <p:sp>
        <p:nvSpPr>
          <p:cNvPr id="6" name="TextBox 5"/>
          <p:cNvSpPr txBox="1"/>
          <p:nvPr/>
        </p:nvSpPr>
        <p:spPr>
          <a:xfrm>
            <a:off x="3240000" y="3024000"/>
            <a:ext cx="7200000" cy="576000"/>
          </a:xfrm>
          <a:prstGeom prst="rect">
            <a:avLst/>
          </a:prstGeom>
          <a:noFill/>
        </p:spPr>
        <p:txBody>
          <a:bodyPr wrap="square" lIns="0" rIns="0" tIns="0" bIns="0" anchor="ctr">
            <a:noAutofit/>
          </a:bodyPr>
          <a:lstStyle/>
          <a:p>
            <a:pPr algn="ctr" marL="0" indent="0">
              <a:lnSpc>
                <a:spcPts val="3360"/>
              </a:lnSpc>
              <a:spcBef>
                <a:spcPts val="0"/>
              </a:spcBef>
              <a:spcAft>
                <a:spcPts val="0"/>
              </a:spcAft>
              <a:buNone/>
            </a:pPr>
            <a:r>
              <a:rPr sz="2800" b="1" i="0" lang="ko-KR" altLang="en-US">
                <a:solidFill>
                  <a:srgbClr val="FFFFFF"/>
                </a:solidFill>
                <a:latin typeface="맑은 고딕"/>
                <a:ea typeface="맑은 고딕"/>
                <a:cs typeface="맑은 고딕"/>
              </a:rPr>
              <a:t>Thanks for Listening</a:t>
            </a:r>
          </a:p>
        </p:txBody>
      </p:sp>
      <p:sp>
        <p:nvSpPr>
          <p:cNvPr id="7" name="TextBox 6"/>
          <p:cNvSpPr txBox="1"/>
          <p:nvPr/>
        </p:nvSpPr>
        <p:spPr>
          <a:xfrm>
            <a:off x="3240000" y="3816000"/>
            <a:ext cx="7200000" cy="432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0" i="0" lang="ko-KR" altLang="en-US">
                <a:solidFill>
                  <a:srgbClr val="B9C6DD"/>
                </a:solidFill>
                <a:latin typeface="맑은 고딕"/>
                <a:ea typeface="맑은 고딕"/>
                <a:cs typeface="맑은 고딕"/>
              </a:rPr>
              <a:t>경청해 주셔서 감사합니다</a:t>
            </a:r>
          </a:p>
        </p:txBody>
      </p:sp>
      <p:sp>
        <p:nvSpPr>
          <p:cNvPr id="8" name="TextBox 7"/>
          <p:cNvSpPr txBox="1"/>
          <p:nvPr/>
        </p:nvSpPr>
        <p:spPr>
          <a:xfrm>
            <a:off x="3240000" y="4392000"/>
            <a:ext cx="7200000" cy="360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0" i="0" lang="ko-KR" altLang="en-US">
                <a:solidFill>
                  <a:srgbClr val="B9C6DD"/>
                </a:solidFill>
                <a:latin typeface="맑은 고딕"/>
                <a:ea typeface="맑은 고딕"/>
                <a:cs typeface="맑은 고딕"/>
              </a:rPr>
              <a:t>이형규 · 한양대학교 기술경영전문대학원 기술경영학과</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1  </a:t>
            </a:r>
            <a:r>
              <a:rPr sz="2000" b="1" i="0" lang="ko-KR" altLang="en-US">
                <a:solidFill>
                  <a:srgbClr val="13294B"/>
                </a:solidFill>
                <a:latin typeface="맑은 고딕"/>
                <a:ea typeface="맑은 고딕"/>
                <a:cs typeface="맑은 고딕"/>
              </a:rPr>
              <a:t>변수 정의와 기술통계</a:t>
            </a:r>
          </a:p>
        </p:txBody>
      </p:sp>
      <p:graphicFrame>
        <p:nvGraphicFramePr>
          <p:cNvPr id="3" name="Table 2"/>
          <p:cNvGraphicFramePr>
            <a:graphicFrameLocks noGrp="1"/>
          </p:cNvGraphicFramePr>
          <p:nvPr/>
        </p:nvGraphicFramePr>
        <p:xfrm>
          <a:off x="540000" y="954000"/>
          <a:ext cx="11112120" cy="3434400"/>
        </p:xfrm>
        <a:graphic>
          <a:graphicData uri="http://schemas.openxmlformats.org/drawingml/2006/table">
            <a:tbl>
              <a:tblPr firstRow="1">
                <a:tableStyleId>{2D5ABB26-0587-4C30-8999-92F81FD0307C}</a:tableStyleId>
              </a:tblPr>
              <a:tblGrid>
                <a:gridCol w="1404000"/>
                <a:gridCol w="4176000"/>
                <a:gridCol w="1224000"/>
                <a:gridCol w="4308120"/>
              </a:tblGrid>
              <a:tr h="324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유형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해석상 주의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 H01L24 안의 서로 다른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1–21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두 클래스 내부의 기술적 다양성 (법적 청구범위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breadth_adj</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보유 클래스마다 최소 1개 기호를 뺀 추가 서브그룹 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카운트, 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탐색적 지표 (유형 정보 이용)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tech_cat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접합 단독형 / 통합형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분류의 조합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has_process</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H01L21 기호를 하나라도 가지면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전공정 자체가 아닌 제조공정 분류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yc</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출원연도 (1968년 = 0), 평균 49.7 (2017.7년)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정수, 0–56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기술 성숙의 직접 측정치 아님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period</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–2014(기준) · 2015–2019 · 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첫 시기가 이후 두 시기보다 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core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핵심 접합 기호(24/03 · 05 · 08 · 80) 보유 시 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이항</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H01L24 보유 출원(N = 763)에서만 정의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88800">
                <a:tc>
                  <a:txBody>
                    <a:bodyPr wrap="square"/>
                    <a:lstStyle/>
                    <a:p>
                      <a:pPr algn="ctr" marL="0" indent="0">
                        <a:lnSpc>
                          <a:spcPts val="1380"/>
                        </a:lnSpc>
                        <a:spcBef>
                          <a:spcPts val="0"/>
                        </a:spcBef>
                        <a:spcAft>
                          <a:spcPts val="0"/>
                        </a:spcAft>
                        <a:buNone/>
                      </a:pPr>
                      <a:r>
                        <a:rPr sz="1150" b="1" i="0" lang="ko-KR" altLang="en-US">
                          <a:solidFill>
                            <a:srgbClr val="1E2532"/>
                          </a:solidFill>
                          <a:latin typeface="맑은 고딕"/>
                          <a:ea typeface="맑은 고딕"/>
                          <a:cs typeface="맑은 고딕"/>
                        </a:rPr>
                        <a:t>ccode</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US(기준) · CN · KR · TW · JP · EP · WO · 기타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범주, 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l" marL="0" indent="0">
                        <a:lnSpc>
                          <a:spcPts val="1380"/>
                        </a:lnSpc>
                        <a:spcBef>
                          <a:spcPts val="0"/>
                        </a:spcBef>
                        <a:spcAft>
                          <a:spcPts val="0"/>
                        </a:spcAft>
                        <a:buNone/>
                      </a:pPr>
                      <a:r>
                        <a:rPr sz="1150" b="0" i="0" lang="ko-KR" altLang="en-US">
                          <a:solidFill>
                            <a:srgbClr val="1E2532"/>
                          </a:solidFill>
                          <a:latin typeface="맑은 고딕"/>
                          <a:ea typeface="맑은 고딕"/>
                          <a:cs typeface="맑은 고딕"/>
                        </a:rPr>
                        <a:t>통제변수 (해석하지 않음)</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4" name="TextBox 3"/>
          <p:cNvSpPr txBox="1"/>
          <p:nvPr/>
        </p:nvSpPr>
        <p:spPr>
          <a:xfrm>
            <a:off x="540000" y="4554000"/>
            <a:ext cx="11112120" cy="936000"/>
          </a:xfrm>
          <a:prstGeom prst="rect">
            <a:avLst/>
          </a:prstGeom>
          <a:noFill/>
        </p:spPr>
        <p:txBody>
          <a:bodyPr wrap="square" lIns="0" rIns="0" tIns="0" bIns="0" anchor="t">
            <a:noAutofit/>
          </a:bodyPr>
          <a:lstStyle/>
          <a:p>
            <a:pPr algn="l" marL="180000" indent="-180000">
              <a:lnSpc>
                <a:spcPts val="1560"/>
              </a:lnSpc>
              <a:spcBef>
                <a:spcPts val="0"/>
              </a:spcBef>
              <a:spcAft>
                <a:spcPts val="400"/>
              </a:spcAft>
              <a:buClr>
                <a:srgbClr val="13294B"/>
              </a:buClr>
              <a:buSzPct val="70000"/>
              <a:buFont typeface="Arial"/>
              <a:buChar char="■"/>
            </a:pPr>
            <a:r>
              <a:rPr sz="1300" b="0" i="0" lang="ko-KR" altLang="en-US">
                <a:solidFill>
                  <a:srgbClr val="1E2532"/>
                </a:solidFill>
                <a:latin typeface="맑은 고딕"/>
                <a:ea typeface="맑은 고딕"/>
                <a:cs typeface="맑은 고딕"/>
              </a:rPr>
              <a:t>기술범위: 평균 5.69 (표준편차 4.07, 범위 1–21) · 통합형 7.89 · 접합 단독형 4.16 · 공정 단독형 3.15</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유형: 통합형 425 (45.8%) · 접합 단독형 338 (36.4%) · 공정 단독형 165 (17.8%) · 제조공정 기호 보유 590 (63.6%)</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2  </a:t>
            </a:r>
            <a:r>
              <a:rPr sz="2000" b="1" i="0" lang="ko-KR" altLang="en-US">
                <a:solidFill>
                  <a:srgbClr val="13294B"/>
                </a:solidFill>
                <a:latin typeface="맑은 고딕"/>
                <a:ea typeface="맑은 고딕"/>
                <a:cs typeface="맑은 고딕"/>
              </a:rPr>
              <a:t>이항 · 다항 로짓 추정 결과</a:t>
            </a:r>
          </a:p>
        </p:txBody>
      </p:sp>
      <p:sp>
        <p:nvSpPr>
          <p:cNvPr id="3" name="TextBox 2"/>
          <p:cNvSpPr txBox="1"/>
          <p:nvPr/>
        </p:nvSpPr>
        <p:spPr>
          <a:xfrm>
            <a:off x="54000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제조공정 분류 여부의 이항 로짓 (종속변수 has_process)</a:t>
            </a:r>
          </a:p>
        </p:txBody>
      </p:sp>
      <p:graphicFrame>
        <p:nvGraphicFramePr>
          <p:cNvPr id="4" name="Table 3"/>
          <p:cNvGraphicFramePr>
            <a:graphicFrameLocks noGrp="1"/>
          </p:cNvGraphicFramePr>
          <p:nvPr/>
        </p:nvGraphicFramePr>
        <p:xfrm>
          <a:off x="540000" y="1260000"/>
          <a:ext cx="5376060" cy="1098000"/>
        </p:xfrm>
        <a:graphic>
          <a:graphicData uri="http://schemas.openxmlformats.org/drawingml/2006/table">
            <a:tbl>
              <a:tblPr firstRow="1">
                <a:tableStyleId>{2D5ABB26-0587-4C30-8999-92F81FD0307C}</a:tableStyleId>
              </a:tblPr>
              <a:tblGrid>
                <a:gridCol w="1548000"/>
                <a:gridCol w="1296000"/>
                <a:gridCol w="1296000"/>
                <a:gridCol w="1236060"/>
              </a:tblGrid>
              <a:tr h="342000">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로그 계수 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560"/>
                        </a:lnSpc>
                        <a:spcBef>
                          <a:spcPts val="0"/>
                        </a:spcBef>
                        <a:spcAft>
                          <a:spcPts val="0"/>
                        </a:spcAft>
                        <a:buNone/>
                      </a:pPr>
                      <a:r>
                        <a:rPr sz="13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1.267***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(0.027)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0.946***</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5" name="TextBox 4"/>
          <p:cNvSpPr txBox="1"/>
          <p:nvPr/>
        </p:nvSpPr>
        <p:spPr>
          <a:xfrm>
            <a:off x="54000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−547.6 · 우도비 χ²(9) = 122.0 (p &lt; 0.001) · McFadden 의사 R² = 0.100 · AIC 1,115.1 · AUC 0.707</a:t>
            </a:r>
          </a:p>
        </p:txBody>
      </p:sp>
      <p:sp>
        <p:nvSpPr>
          <p:cNvPr id="6" name="TextBox 5"/>
          <p:cNvSpPr txBox="1"/>
          <p:nvPr/>
        </p:nvSpPr>
        <p:spPr>
          <a:xfrm>
            <a:off x="6276060" y="936000"/>
            <a:ext cx="5376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공동분류 유형의 다항 로짓 (기준 = 접합 단독형)</a:t>
            </a:r>
          </a:p>
        </p:txBody>
      </p:sp>
      <p:graphicFrame>
        <p:nvGraphicFramePr>
          <p:cNvPr id="7" name="Table 6"/>
          <p:cNvGraphicFramePr>
            <a:graphicFrameLocks noGrp="1"/>
          </p:cNvGraphicFramePr>
          <p:nvPr/>
        </p:nvGraphicFramePr>
        <p:xfrm>
          <a:off x="6276060" y="1260000"/>
          <a:ext cx="5376060" cy="1224000"/>
        </p:xfrm>
        <a:graphic>
          <a:graphicData uri="http://schemas.openxmlformats.org/drawingml/2006/table">
            <a:tbl>
              <a:tblPr firstRow="1">
                <a:tableStyleId>{2D5ABB26-0587-4C30-8999-92F81FD0307C}</a:tableStyleId>
              </a:tblPr>
              <a:tblGrid>
                <a:gridCol w="1296000"/>
                <a:gridCol w="1044000"/>
                <a:gridCol w="864000"/>
                <a:gridCol w="1188000"/>
                <a:gridCol w="984060"/>
              </a:tblGrid>
              <a:tr h="46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RRR</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SE</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기술범위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0.905**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(0.048)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78000">
                <a:tc>
                  <a:txBody>
                    <a:bodyPr wrap="square"/>
                    <a:lstStyle/>
                    <a:p>
                      <a:pPr algn="l" marL="0" indent="0">
                        <a:lnSpc>
                          <a:spcPts val="1560"/>
                        </a:lnSpc>
                        <a:spcBef>
                          <a:spcPts val="0"/>
                        </a:spcBef>
                        <a:spcAft>
                          <a:spcPts val="0"/>
                        </a:spcAft>
                        <a:buNone/>
                      </a:pPr>
                      <a:r>
                        <a:rPr sz="1300" b="1" i="0" lang="ko-KR" altLang="en-US">
                          <a:solidFill>
                            <a:srgbClr val="1E2532"/>
                          </a:solidFill>
                          <a:latin typeface="맑은 고딕"/>
                          <a:ea typeface="맑은 고딕"/>
                          <a:cs typeface="맑은 고딕"/>
                        </a:rPr>
                        <a:t>출원연도(yc)</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0.993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60"/>
                        </a:lnSpc>
                        <a:spcBef>
                          <a:spcPts val="0"/>
                        </a:spcBef>
                        <a:spcAft>
                          <a:spcPts val="0"/>
                        </a:spcAft>
                        <a:buNone/>
                      </a:pPr>
                      <a:r>
                        <a:rPr sz="1300" b="1" i="0" lang="ko-KR" altLang="en-US">
                          <a:solidFill>
                            <a:srgbClr val="13294B"/>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c>
                  <a:txBody>
                    <a:bodyPr wrap="square"/>
                    <a:lstStyle/>
                    <a:p>
                      <a:pPr algn="ctr" marL="0" indent="0">
                        <a:lnSpc>
                          <a:spcPts val="1560"/>
                        </a:lnSpc>
                        <a:spcBef>
                          <a:spcPts val="0"/>
                        </a:spcBef>
                        <a:spcAft>
                          <a:spcPts val="0"/>
                        </a:spcAft>
                        <a:buNone/>
                      </a:pPr>
                      <a:r>
                        <a:rPr sz="1300" b="0" i="0" lang="ko-KR" altLang="en-US">
                          <a:solidFill>
                            <a:srgbClr val="1E2532"/>
                          </a:solidFill>
                          <a:latin typeface="맑은 고딕"/>
                          <a:ea typeface="맑은 고딕"/>
                          <a:cs typeface="맑은 고딕"/>
                        </a:rPr>
                        <a:t>(0.015)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6276060" y="2430000"/>
            <a:ext cx="5376060" cy="79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N = 928 · 출원청 더미 7개 포함 · 로그우도 −774.5 · 우도비 χ²(18) = 367.4 (p &lt; 0.001) · McFadden 의사 R² = 0.192 · AIC 1,589.0 · p: 0.654(통합형 연도), 0.039(공정 단독형 범위)</a:t>
            </a:r>
          </a:p>
        </p:txBody>
      </p:sp>
      <p:sp>
        <p:nvSpPr>
          <p:cNvPr id="9" name="Rounded Rectangle 8"/>
          <p:cNvSpPr/>
          <p:nvPr/>
        </p:nvSpPr>
        <p:spPr>
          <a:xfrm>
            <a:off x="540000" y="3384000"/>
            <a:ext cx="11112120" cy="2268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10" name="TextBox 9"/>
          <p:cNvSpPr txBox="1"/>
          <p:nvPr/>
        </p:nvSpPr>
        <p:spPr>
          <a:xfrm>
            <a:off x="756000" y="345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해석 원칙</a:t>
            </a:r>
          </a:p>
        </p:txBody>
      </p:sp>
      <p:sp>
        <p:nvSpPr>
          <p:cNvPr id="11" name="TextBox 10"/>
          <p:cNvSpPr txBox="1"/>
          <p:nvPr/>
        </p:nvSpPr>
        <p:spPr>
          <a:xfrm>
            <a:off x="756000" y="3780000"/>
            <a:ext cx="10680120" cy="1800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OR은 승산의 배율, RRR은 기준 범주 대비 상대위험의 배율: 확률이 같은 비율로 변한다는 뜻이 아님 → 평균 예측확률을 함께 제시</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세 범주는 크기 순서가 아닌 서로 다른 CPC 구성 → 순서형이 아닌 다항 로짓 (McFadden, 1974)</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5% 유의수준을 쓰되 단일 p값이 아니라 대안 표본 · 정의 · 군집 표준오차에서의 방향 · 크기 · 유의성의 일관성으로 판단</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모든 계수는 인과효과가 아닌, 관찰된 변수를 통제한 조건부 연관</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3  </a:t>
            </a:r>
            <a:r>
              <a:rPr sz="2000" b="1" i="0" lang="ko-KR" altLang="en-US">
                <a:solidFill>
                  <a:srgbClr val="13294B"/>
                </a:solidFill>
                <a:latin typeface="맑은 고딕"/>
                <a:ea typeface="맑은 고딕"/>
                <a:cs typeface="맑은 고딕"/>
              </a:rPr>
              <a:t>핵심 기술 모형의 세부 결과</a:t>
            </a:r>
          </a:p>
        </p:txBody>
      </p:sp>
      <p:graphicFrame>
        <p:nvGraphicFramePr>
          <p:cNvPr id="3" name="Table 2"/>
          <p:cNvGraphicFramePr>
            <a:graphicFrameLocks noGrp="1"/>
          </p:cNvGraphicFramePr>
          <p:nvPr/>
        </p:nvGraphicFramePr>
        <p:xfrm>
          <a:off x="540000" y="954000"/>
          <a:ext cx="11112120" cy="1674000"/>
        </p:xfrm>
        <a:graphic>
          <a:graphicData uri="http://schemas.openxmlformats.org/drawingml/2006/table">
            <a:tbl>
              <a:tblPr firstRow="1">
                <a:tableStyleId>{2D5ABB26-0587-4C30-8999-92F81FD0307C}</a:tableStyleId>
              </a:tblPr>
              <a:tblGrid>
                <a:gridCol w="1224000"/>
                <a:gridCol w="1656000"/>
                <a:gridCol w="1656000"/>
                <a:gridCol w="1188000"/>
                <a:gridCol w="1656000"/>
                <a:gridCol w="936000"/>
                <a:gridCol w="2796120"/>
              </a:tblGrid>
              <a:tr h="486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출원 시기</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보유</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핵심 기술 없음</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통합형/N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승산비</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95% CI</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p</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2014년 이전</a:t>
                      </a:r>
                    </a:p>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대비 배수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43/54 (79.6%)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13/47 (27.7%)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4.211–29.107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&lt;0.001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108/140 (77.1%)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22/38 (57.9%)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1.158–5.194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0.221 (p = 0.016)</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96000">
                <a:tc>
                  <a:txBody>
                    <a:bodyPr wrap="square"/>
                    <a:lstStyle/>
                    <a:p>
                      <a:pPr algn="ctr" marL="0" indent="0">
                        <a:lnSpc>
                          <a:spcPts val="1500"/>
                        </a:lnSpc>
                        <a:spcBef>
                          <a:spcPts val="0"/>
                        </a:spcBef>
                        <a:spcAft>
                          <a:spcPts val="0"/>
                        </a:spcAft>
                        <a:buNone/>
                      </a:pPr>
                      <a:r>
                        <a:rPr sz="1250" b="1" i="0" lang="ko-KR" altLang="en-US">
                          <a:solidFill>
                            <a:srgbClr val="1E2532"/>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206/426 (48.4%)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33/58 (56.9%)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0.374–1.160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0.148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 (p &lt; 0.001)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2700000"/>
            <a:ext cx="11112120" cy="252000"/>
          </a:xfrm>
          <a:prstGeom prst="rect">
            <a:avLst/>
          </a:prstGeom>
          <a:noFill/>
        </p:spPr>
        <p:txBody>
          <a:bodyPr wrap="square" lIns="0" rIns="0" tIns="0" bIns="0" anchor="ctr">
            <a:noAutofit/>
          </a:bodyPr>
          <a:lstStyle/>
          <a:p>
            <a:pPr algn="l" marL="0" indent="0">
              <a:lnSpc>
                <a:spcPts val="1380"/>
              </a:lnSpc>
              <a:spcBef>
                <a:spcPts val="0"/>
              </a:spcBef>
              <a:spcAft>
                <a:spcPts val="0"/>
              </a:spcAft>
              <a:buNone/>
            </a:pPr>
            <a:r>
              <a:rPr sz="1150" b="0" i="0" lang="ko-KR" altLang="en-US">
                <a:solidFill>
                  <a:srgbClr val="5B6475"/>
                </a:solidFill>
                <a:latin typeface="맑은 고딕"/>
                <a:ea typeface="맑은 고딕"/>
                <a:cs typeface="맑은 고딕"/>
              </a:rPr>
              <a:t>N = 763 (H01L24 보유) · 출원청 통제 · 이분산 강건 표준오차 · 결합 Wald χ²(2) = 26.43 (p &lt; 0.001) · McFadden 의사 R² = 0.069</a:t>
            </a:r>
          </a:p>
        </p:txBody>
      </p:sp>
      <p:sp>
        <p:nvSpPr>
          <p:cNvPr id="5" name="Rounded Rectangle 4"/>
          <p:cNvSpPr/>
          <p:nvPr/>
        </p:nvSpPr>
        <p:spPr>
          <a:xfrm>
            <a:off x="54000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2000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변화는 핵심 기술 보유 출원에서</a:t>
            </a:r>
          </a:p>
        </p:txBody>
      </p:sp>
      <p:sp>
        <p:nvSpPr>
          <p:cNvPr id="7" name="TextBox 6"/>
          <p:cNvSpPr txBox="1"/>
          <p:nvPr/>
        </p:nvSpPr>
        <p:spPr>
          <a:xfrm>
            <a:off x="72000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보유: 통합형 79.6% → 77.1% → 48.4%</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기술 없음: 통합형 27.7% → 57.9% → 56.9% (오히려 상승)</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접합 출원 중 핵심 기술 비중 53.5% → 78.7% → 88.0%</a:t>
            </a:r>
          </a:p>
        </p:txBody>
      </p:sp>
      <p:sp>
        <p:nvSpPr>
          <p:cNvPr id="8" name="Rounded Rectangle 7"/>
          <p:cNvSpPr/>
          <p:nvPr/>
        </p:nvSpPr>
        <p:spPr>
          <a:xfrm>
            <a:off x="6240060" y="3096000"/>
            <a:ext cx="5412060" cy="2664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9" name="TextBox 8"/>
          <p:cNvSpPr txBox="1"/>
          <p:nvPr/>
        </p:nvSpPr>
        <p:spPr>
          <a:xfrm>
            <a:off x="6420060" y="3168000"/>
            <a:ext cx="505206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추정식</a:t>
            </a:r>
          </a:p>
        </p:txBody>
      </p:sp>
      <p:sp>
        <p:nvSpPr>
          <p:cNvPr id="10" name="TextBox 9"/>
          <p:cNvSpPr txBox="1"/>
          <p:nvPr/>
        </p:nvSpPr>
        <p:spPr>
          <a:xfrm>
            <a:off x="6420060" y="3528000"/>
            <a:ext cx="5052060" cy="2160000"/>
          </a:xfrm>
          <a:prstGeom prst="rect">
            <a:avLst/>
          </a:prstGeom>
          <a:noFill/>
        </p:spPr>
        <p:txBody>
          <a:bodyPr wrap="square" lIns="0" rIns="0" tIns="0" bIns="0" anchor="t">
            <a:noAutofit/>
          </a:bodyPr>
          <a:lstStyle/>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log[P/(1 − P)] = β₀ + β₁·core + Σδₜ·periodₜ + Σθₜ·(core × periodₜ) + Σγₖ·ccodeₖ</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시기별 승산비 = exp(β₁ + θₜ), 2014년 이전 대비 배수 = exp(θₜ)</a:t>
            </a:r>
          </a:p>
          <a:p>
            <a:pPr algn="l" marL="180000" indent="-180000">
              <a:lnSpc>
                <a:spcPts val="1720"/>
              </a:lnSpc>
              <a:spcBef>
                <a:spcPts val="0"/>
              </a:spcBef>
              <a:spcAft>
                <a:spcPts val="800"/>
              </a:spcAft>
              <a:buClr>
                <a:srgbClr val="13294B"/>
              </a:buClr>
              <a:buSzPct val="70000"/>
              <a:buFont typeface="Arial"/>
              <a:buChar char="■"/>
            </a:pPr>
            <a:r>
              <a:rPr sz="1300" b="0" i="0" lang="ko-KR" altLang="en-US">
                <a:solidFill>
                  <a:srgbClr val="1E2532"/>
                </a:solidFill>
                <a:latin typeface="맑은 고딕"/>
                <a:ea typeface="맑은 고딕"/>
                <a:cs typeface="맑은 고딕"/>
              </a:rPr>
              <a:t>형성기의 해당 출원 43건은 소수의 동일 제목에 집중 → 대표 기호 제시하지 않음</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4  </a:t>
            </a:r>
            <a:r>
              <a:rPr sz="2000" b="1" i="0" lang="ko-KR" altLang="en-US">
                <a:solidFill>
                  <a:srgbClr val="13294B"/>
                </a:solidFill>
                <a:latin typeface="맑은 고딕"/>
                <a:ea typeface="맑은 고딕"/>
                <a:cs typeface="맑은 고딕"/>
              </a:rPr>
              <a:t>강건성: 다항 로짓 재추정</a:t>
            </a:r>
          </a:p>
        </p:txBody>
      </p:sp>
      <p:graphicFrame>
        <p:nvGraphicFramePr>
          <p:cNvPr id="3" name="Table 2"/>
          <p:cNvGraphicFramePr>
            <a:graphicFrameLocks noGrp="1"/>
          </p:cNvGraphicFramePr>
          <p:nvPr/>
        </p:nvGraphicFramePr>
        <p:xfrm>
          <a:off x="540000" y="954000"/>
          <a:ext cx="8352000" cy="2545200"/>
        </p:xfrm>
        <a:graphic>
          <a:graphicData uri="http://schemas.openxmlformats.org/drawingml/2006/table">
            <a:tbl>
              <a:tblPr firstRow="1">
                <a:tableStyleId>{2D5ABB26-0587-4C30-8999-92F81FD0307C}</a:tableStyleId>
              </a:tblPr>
              <a:tblGrid>
                <a:gridCol w="3960000"/>
                <a:gridCol w="864000"/>
                <a:gridCol w="1584000"/>
                <a:gridCol w="194400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범위 → 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연도 → 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1.403***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0.913***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473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1.295***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0.935***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908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0.898***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68건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1.384***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0.820***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hybrid bonding 표본 (제목 기준)</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467</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1.485***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1.029</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BE3E0"/>
                    </a:solidFill>
                  </a:tcPr>
                </a:tc>
              </a:tr>
            </a:tbl>
          </a:graphicData>
        </a:graphic>
      </p:graphicFrame>
      <p:sp>
        <p:nvSpPr>
          <p:cNvPr id="4" name="TextBox 3"/>
          <p:cNvSpPr txBox="1"/>
          <p:nvPr/>
        </p:nvSpPr>
        <p:spPr>
          <a:xfrm>
            <a:off x="9180000" y="954000"/>
            <a:ext cx="2472120" cy="3240000"/>
          </a:xfrm>
          <a:prstGeom prst="rect">
            <a:avLst/>
          </a:prstGeom>
          <a:noFill/>
        </p:spPr>
        <p:txBody>
          <a:bodyPr wrap="square" lIns="0" rIns="0" tIns="0" bIns="0" anchor="t">
            <a:noAutofit/>
          </a:bodyPr>
          <a:lstStyle/>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군집 표준오차: 범위 → 공정 단독형만 유의성 상실 (RRR 0.905, p = 0.29)</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breadth_adj: 통합형 RRR 1.403 → 1.262, 방향 유지</a:t>
            </a:r>
          </a:p>
          <a:p>
            <a:pPr algn="l" marL="180000" indent="-180000">
              <a:lnSpc>
                <a:spcPts val="1650"/>
              </a:lnSpc>
              <a:spcBef>
                <a:spcPts val="0"/>
              </a:spcBef>
              <a:spcAft>
                <a:spcPts val="600"/>
              </a:spcAft>
              <a:buClr>
                <a:srgbClr val="13294B"/>
              </a:buClr>
              <a:buSzPct val="70000"/>
              <a:buFont typeface="Arial"/>
              <a:buChar char="■"/>
            </a:pPr>
            <a:r>
              <a:rPr sz="1250" b="0" i="0" lang="ko-KR" altLang="en-US">
                <a:solidFill>
                  <a:srgbClr val="1E2532"/>
                </a:solidFill>
                <a:latin typeface="맑은 고딕"/>
                <a:ea typeface="맑은 고딕"/>
                <a:cs typeface="맑은 고딕"/>
              </a:rPr>
              <a:t>2010년 이후(N = 830): 통합형 연도 RRR 0.934 (p &lt; 0.05)</a:t>
            </a:r>
          </a:p>
          <a:p>
            <a:pPr algn="l" marL="180000" indent="-180000">
              <a:lnSpc>
                <a:spcPts val="1650"/>
              </a:lnSpc>
              <a:spcBef>
                <a:spcPts val="0"/>
              </a:spcBef>
              <a:spcAft>
                <a:spcPts val="0"/>
              </a:spcAft>
              <a:buClr>
                <a:srgbClr val="13294B"/>
              </a:buClr>
              <a:buSzPct val="70000"/>
              <a:buFont typeface="Arial"/>
              <a:buChar char="■"/>
            </a:pPr>
            <a:r>
              <a:rPr sz="1250" b="0" i="0" lang="ko-KR" altLang="en-US">
                <a:solidFill>
                  <a:srgbClr val="1E2532"/>
                </a:solidFill>
                <a:latin typeface="맑은 고딕"/>
                <a:ea typeface="맑은 고딕"/>
                <a:cs typeface="맑은 고딕"/>
              </a:rPr>
              <a:t>좁은 정의 유형 분포: 접합 단독형 46.8% · 통합형 37.2% · 공정 단독형 16.0% → 최다 유형은 정의에 의존</a:t>
            </a:r>
          </a:p>
        </p:txBody>
      </p:sp>
      <p:sp>
        <p:nvSpPr>
          <p:cNvPr id="5" name="Rounded Rectangle 4"/>
          <p:cNvSpPr/>
          <p:nvPr/>
        </p:nvSpPr>
        <p:spPr>
          <a:xfrm>
            <a:off x="540000" y="3744000"/>
            <a:ext cx="11112120" cy="2016000"/>
          </a:xfrm>
          <a:prstGeom prst="roundRect">
            <a:avLst>
              <a:gd name="adj" fmla="val 6000"/>
            </a:avLst>
          </a:prstGeom>
          <a:solidFill>
            <a:srgbClr val="F2F5FA"/>
          </a:solidFill>
          <a:ln>
            <a:noFill/>
          </a:ln>
        </p:spPr>
        <p:txBody>
          <a:bodyPr rtlCol="0" anchor="ctr" lIns="36000" rIns="36000" tIns="36000" bIns="36000"/>
          <a:lstStyle/>
          <a:p>
            <a:pPr algn="ctr"/>
          </a:p>
        </p:txBody>
      </p:sp>
      <p:sp>
        <p:nvSpPr>
          <p:cNvPr id="6" name="TextBox 5"/>
          <p:cNvSpPr txBox="1"/>
          <p:nvPr/>
        </p:nvSpPr>
        <p:spPr>
          <a:xfrm>
            <a:off x="756000" y="3816000"/>
            <a:ext cx="10680120" cy="288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ltLang="en-US">
                <a:solidFill>
                  <a:srgbClr val="13294B"/>
                </a:solidFill>
                <a:latin typeface="맑은 고딕"/>
                <a:ea typeface="맑은 고딕"/>
                <a:cs typeface="맑은 고딕"/>
              </a:rPr>
              <a:t>표본별 유형 분포</a:t>
            </a:r>
          </a:p>
        </p:txBody>
      </p:sp>
      <p:graphicFrame>
        <p:nvGraphicFramePr>
          <p:cNvPr id="7" name="Table 6"/>
          <p:cNvGraphicFramePr>
            <a:graphicFrameLocks noGrp="1"/>
          </p:cNvGraphicFramePr>
          <p:nvPr/>
        </p:nvGraphicFramePr>
        <p:xfrm>
          <a:off x="756000" y="4140000"/>
          <a:ext cx="7200000" cy="1440000"/>
        </p:xfrm>
        <a:graphic>
          <a:graphicData uri="http://schemas.openxmlformats.org/drawingml/2006/table">
            <a:tbl>
              <a:tblPr firstRow="1">
                <a:tableStyleId>{2D5ABB26-0587-4C30-8999-92F81FD0307C}</a:tableStyleId>
              </a:tblPr>
              <a:tblGrid>
                <a:gridCol w="2880000"/>
                <a:gridCol w="1440000"/>
                <a:gridCol w="1440000"/>
                <a:gridCol w="1440000"/>
              </a:tblGrid>
              <a:tr h="288000">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표본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통합형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접합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380"/>
                        </a:lnSpc>
                        <a:spcBef>
                          <a:spcPts val="0"/>
                        </a:spcBef>
                        <a:spcAft>
                          <a:spcPts val="0"/>
                        </a:spcAft>
                        <a:buNone/>
                      </a:pPr>
                      <a:r>
                        <a:rPr sz="1150" b="1" i="0" lang="ko-KR" altLang="en-US">
                          <a:solidFill>
                            <a:srgbClr val="FFFFFF"/>
                          </a:solidFill>
                          <a:latin typeface="맑은 고딕"/>
                          <a:ea typeface="맑은 고딕"/>
                          <a:cs typeface="맑은 고딕"/>
                        </a:rPr>
                        <a:t>공정 단독형</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전체 (928)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36.4%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무관 용법 제외 (860)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47.4%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35.3%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17.2%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hybrid bonding (467)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49.5%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38.3%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12.2%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r>
              <a:tr h="288000">
                <a:tc>
                  <a:txBody>
                    <a:bodyPr wrap="square"/>
                    <a:lstStyle/>
                    <a:p>
                      <a:pPr algn="l"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좁은 제조공정 정의 (908)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37.2%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46.8%</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c>
                  <a:txBody>
                    <a:bodyPr wrap="square"/>
                    <a:lstStyle/>
                    <a:p>
                      <a:pPr algn="ctr" marL="0" indent="0">
                        <a:lnSpc>
                          <a:spcPts val="1440"/>
                        </a:lnSpc>
                        <a:spcBef>
                          <a:spcPts val="0"/>
                        </a:spcBef>
                        <a:spcAft>
                          <a:spcPts val="0"/>
                        </a:spcAft>
                        <a:buNone/>
                      </a:pPr>
                      <a:r>
                        <a:rPr sz="1200" b="0" i="0" lang="ko-KR" altLang="en-US">
                          <a:solidFill>
                            <a:srgbClr val="1E2532"/>
                          </a:solidFill>
                          <a:latin typeface="맑은 고딕"/>
                          <a:ea typeface="맑은 고딕"/>
                          <a:cs typeface="맑은 고딕"/>
                        </a:rPr>
                        <a:t>16.0%</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4F7FB"/>
                    </a:solidFill>
                  </a:tcPr>
                </a:tc>
              </a:tr>
            </a:tbl>
          </a:graphicData>
        </a:graphic>
      </p:graphicFrame>
      <p:sp>
        <p:nvSpPr>
          <p:cNvPr id="8" name="TextBox 7"/>
          <p:cNvSpPr txBox="1"/>
          <p:nvPr/>
        </p:nvSpPr>
        <p:spPr>
          <a:xfrm>
            <a:off x="8244000" y="4140000"/>
            <a:ext cx="3192120" cy="1512000"/>
          </a:xfrm>
          <a:prstGeom prst="rect">
            <a:avLst/>
          </a:prstGeom>
          <a:noFill/>
        </p:spPr>
        <p:txBody>
          <a:bodyPr wrap="square" lIns="0" rIns="0" tIns="0" bIns="0" anchor="t">
            <a:noAutofit/>
          </a:bodyPr>
          <a:lstStyle/>
          <a:p>
            <a:pPr algn="l" marL="0" indent="0">
              <a:lnSpc>
                <a:spcPts val="1580"/>
              </a:lnSpc>
              <a:spcBef>
                <a:spcPts val="0"/>
              </a:spcBef>
              <a:spcAft>
                <a:spcPts val="0"/>
              </a:spcAft>
              <a:buNone/>
            </a:pPr>
            <a:r>
              <a:rPr sz="1200" b="0" i="0" lang="ko-KR" altLang="en-US">
                <a:solidFill>
                  <a:srgbClr val="5B6475"/>
                </a:solidFill>
                <a:latin typeface="맑은 고딕"/>
                <a:ea typeface="맑은 고딕"/>
                <a:cs typeface="맑은 고딕"/>
              </a:rPr>
              <a:t>hybrid bonding 표본은 2014년 이전 출원이 30건뿐: 공정 단독형의 감소는 direct bonding 시기의 웨이퍼 접합 공정 출원에서 hybrid bonding 시기의 구조 출원으로 이행한 변화를 상당 부분 반영</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chor="ctr"/>
          <a:lstStyle/>
          <a:p>
            <a:pPr algn="l" marL="0" indent="0">
              <a:lnSpc>
                <a:spcPts val="2400"/>
              </a:lnSpc>
              <a:spcBef>
                <a:spcPts val="0"/>
              </a:spcBef>
              <a:spcAft>
                <a:spcPts val="0"/>
              </a:spcAft>
              <a:buNone/>
            </a:pPr>
            <a:r>
              <a:rPr sz="1600" b="0" i="0" lang="ko-KR" altLang="en-US">
                <a:solidFill>
                  <a:srgbClr val="5B6475"/>
                </a:solidFill>
                <a:latin typeface="맑은 고딕"/>
                <a:ea typeface="맑은 고딕"/>
                <a:cs typeface="맑은 고딕"/>
              </a:rPr>
              <a:t>부록 5  </a:t>
            </a:r>
            <a:r>
              <a:rPr sz="2000" b="1" i="0" lang="ko-KR" altLang="en-US">
                <a:solidFill>
                  <a:srgbClr val="13294B"/>
                </a:solidFill>
                <a:latin typeface="맑은 고딕"/>
                <a:ea typeface="맑은 고딕"/>
                <a:cs typeface="맑은 고딕"/>
              </a:rPr>
              <a:t>강건성: 핵심 기술 모형 재추정</a:t>
            </a:r>
          </a:p>
        </p:txBody>
      </p:sp>
      <p:graphicFrame>
        <p:nvGraphicFramePr>
          <p:cNvPr id="3" name="Table 2"/>
          <p:cNvGraphicFramePr>
            <a:graphicFrameLocks noGrp="1"/>
          </p:cNvGraphicFramePr>
          <p:nvPr/>
        </p:nvGraphicFramePr>
        <p:xfrm>
          <a:off x="540000" y="954000"/>
          <a:ext cx="11112120" cy="2912400"/>
        </p:xfrm>
        <a:graphic>
          <a:graphicData uri="http://schemas.openxmlformats.org/drawingml/2006/table">
            <a:tbl>
              <a:tblPr firstRow="1">
                <a:tableStyleId>{2D5ABB26-0587-4C30-8999-92F81FD0307C}</a:tableStyleId>
              </a:tblPr>
              <a:tblGrid>
                <a:gridCol w="3960000"/>
                <a:gridCol w="864000"/>
                <a:gridCol w="1440000"/>
                <a:gridCol w="1440000"/>
                <a:gridCol w="1440000"/>
                <a:gridCol w="1968120"/>
              </a:tblGrid>
              <a:tr h="342000">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표본 · 변수</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N</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2015–2019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2020–2024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c>
                  <a:txBody>
                    <a:bodyPr wrap="square"/>
                    <a:lstStyle/>
                    <a:p>
                      <a:pPr algn="ctr" marL="0" indent="0">
                        <a:lnSpc>
                          <a:spcPts val="1440"/>
                        </a:lnSpc>
                        <a:spcBef>
                          <a:spcPts val="0"/>
                        </a:spcBef>
                        <a:spcAft>
                          <a:spcPts val="0"/>
                        </a:spcAft>
                        <a:buNone/>
                      </a:pPr>
                      <a:r>
                        <a:rPr sz="1200" b="1" i="0" lang="ko-KR" altLang="en-US">
                          <a:solidFill>
                            <a:srgbClr val="FFFFFF"/>
                          </a:solidFill>
                          <a:latin typeface="맑은 고딕"/>
                          <a:ea typeface="맑은 고딕"/>
                          <a:cs typeface="맑은 고딕"/>
                        </a:rPr>
                        <a:t>2020–24 상호작용</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13294B"/>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기호 외 접합 기호 수 통제</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8.768***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2.377**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0.684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0.078***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기준 + 동일 제목 군집 표준오차</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11.071***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2.452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0.658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0.059***</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동일 제목 중복 제거 (제목당 1건)</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361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6.191***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4.433***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0.814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0.131***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좁은 제조공정 정의 (패키징 단계 공정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15.334***</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0.771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0.050***</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무관 용법 제외</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712</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3.981**</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9B2C1F"/>
                          </a:solidFill>
                          <a:latin typeface="맑은 고딕"/>
                          <a:ea typeface="맑은 고딕"/>
                          <a:cs typeface="맑은 고딕"/>
                        </a:rPr>
                        <a:t>1.817</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BE3E0"/>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0.738</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4F7FB"/>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0.185**</a:t>
                      </a:r>
                    </a:p>
                  </a:txBody>
                  <a:tcPr marL="43200" marR="43200" marT="10800" marB="10800" anchor="ctr">
                    <a:lnL w="0" cap="flat" cmpd="sng" algn="ctr">
                      <a:noFill/>
                      <a:prstDash val="solid"/>
                    </a:lnL>
                    <a:lnR w="0" cap="flat" cmpd="sng" algn="ctr">
                      <a:noFill/>
                      <a:prstDash val="solid"/>
                    </a:lnR>
                    <a:lnT w="0" cap="flat" cmpd="sng" algn="ctr">
                      <a:noFill/>
                      <a:prstDash val="solid"/>
                    </a:lnT>
                    <a:lnB w="9525" cap="flat" cmpd="sng" algn="ctr">
                      <a:solidFill>
                        <a:srgbClr val="C9D2E0"/>
                      </a:solidFill>
                      <a:prstDash val="solid"/>
                    </a:lnB>
                    <a:solidFill>
                      <a:srgbClr val="FFF0C2"/>
                    </a:solidFill>
                  </a:tcPr>
                </a:tc>
              </a:tr>
              <a:tr h="367200">
                <a:tc>
                  <a:txBody>
                    <a:bodyPr wrap="square"/>
                    <a:lstStyle/>
                    <a:p>
                      <a:pPr algn="l"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핵심 기술을 24/08 · 24/80으로 한정</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763</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14.474***</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3.445***</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0" i="0" lang="ko-KR" altLang="en-US">
                          <a:solidFill>
                            <a:srgbClr val="1E2532"/>
                          </a:solidFill>
                          <a:latin typeface="맑은 고딕"/>
                          <a:ea typeface="맑은 고딕"/>
                          <a:cs typeface="맑은 고딕"/>
                        </a:rPr>
                        <a:t>0.732</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FFF"/>
                    </a:solidFill>
                  </a:tcPr>
                </a:tc>
                <a:tc>
                  <a:txBody>
                    <a:bodyPr wrap="square"/>
                    <a:lstStyle/>
                    <a:p>
                      <a:pPr algn="ctr" marL="0" indent="0">
                        <a:lnSpc>
                          <a:spcPts val="1500"/>
                        </a:lnSpc>
                        <a:spcBef>
                          <a:spcPts val="0"/>
                        </a:spcBef>
                        <a:spcAft>
                          <a:spcPts val="0"/>
                        </a:spcAft>
                        <a:buNone/>
                      </a:pPr>
                      <a:r>
                        <a:rPr sz="1250" b="1" i="0" lang="ko-KR" altLang="en-US">
                          <a:solidFill>
                            <a:srgbClr val="13294B"/>
                          </a:solidFill>
                          <a:latin typeface="맑은 고딕"/>
                          <a:ea typeface="맑은 고딕"/>
                          <a:cs typeface="맑은 고딕"/>
                        </a:rPr>
                        <a:t>0.051***</a:t>
                      </a:r>
                    </a:p>
                  </a:txBody>
                  <a:tcPr marL="43200" marR="43200" marT="10800" marB="10800" anchor="ctr">
                    <a:lnL w="0" cap="flat" cmpd="sng" algn="ctr">
                      <a:noFill/>
                      <a:prstDash val="solid"/>
                    </a:lnL>
                    <a:lnR w="0" cap="flat" cmpd="sng" algn="ctr">
                      <a:noFill/>
                      <a:prstDash val="solid"/>
                    </a:lnR>
                    <a:lnT w="0" cap="flat" cmpd="sng" algn="ctr">
                      <a:noFill/>
                      <a:prstDash val="solid"/>
                    </a:lnT>
                    <a:lnB w="19050" cap="flat" cmpd="sng" algn="ctr">
                      <a:solidFill>
                        <a:srgbClr val="13294B"/>
                      </a:solidFill>
                      <a:prstDash val="solid"/>
                    </a:lnB>
                    <a:solidFill>
                      <a:srgbClr val="FFF0C2"/>
                    </a:solidFill>
                  </a:tcPr>
                </a:tc>
              </a:tr>
            </a:tbl>
          </a:graphicData>
        </a:graphic>
      </p:graphicFrame>
      <p:sp>
        <p:nvSpPr>
          <p:cNvPr id="4" name="TextBox 3"/>
          <p:cNvSpPr txBox="1"/>
          <p:nvPr/>
        </p:nvSpPr>
        <p:spPr>
          <a:xfrm>
            <a:off x="540000" y="4104000"/>
            <a:ext cx="11112120" cy="1656000"/>
          </a:xfrm>
          <a:prstGeom prst="rect">
            <a:avLst/>
          </a:prstGeom>
          <a:noFill/>
        </p:spPr>
        <p:txBody>
          <a:bodyPr wrap="square" lIns="0" rIns="0" tIns="0" bIns="0" anchor="t">
            <a:noAutofit/>
          </a:bodyPr>
          <a:lstStyle/>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핵심 기호 외 접합 기호 수 자체의 승산비 1.100 (p &lt; 0.01) → 통제해도 시기별 승산비는 거의 변하지 않음</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무관 용법 제외 표본: 무관 출원 51건 중 28건이 2014년 이전 핵심 기술 없는 출원(그중 25건 접합 단독형) → 2014년 이전 승산비 3.981로 작아짐</a:t>
            </a:r>
          </a:p>
          <a:p>
            <a:pPr algn="l" marL="180000" indent="-180000">
              <a:lnSpc>
                <a:spcPts val="1560"/>
              </a:lnSpc>
              <a:spcBef>
                <a:spcPts val="0"/>
              </a:spcBef>
              <a:spcAft>
                <a:spcPts val="500"/>
              </a:spcAft>
              <a:buClr>
                <a:srgbClr val="13294B"/>
              </a:buClr>
              <a:buSzPct val="70000"/>
              <a:buFont typeface="Arial"/>
              <a:buChar char="■"/>
            </a:pPr>
            <a:r>
              <a:rPr sz="1300" b="0" i="0" lang="ko-KR" altLang="en-US">
                <a:solidFill>
                  <a:srgbClr val="1E2532"/>
                </a:solidFill>
                <a:latin typeface="맑은 고딕"/>
                <a:ea typeface="맑은 고딕"/>
                <a:cs typeface="맑은 고딕"/>
              </a:rPr>
              <a:t>좁은 정의: 제조공정 기호가 패키징 단계 공정뿐인 통합형을 접합 단독형으로 재분류 (통합형 338건)</a:t>
            </a:r>
          </a:p>
          <a:p>
            <a:pPr algn="l" marL="180000" indent="-180000">
              <a:lnSpc>
                <a:spcPts val="1560"/>
              </a:lnSpc>
              <a:spcBef>
                <a:spcPts val="0"/>
              </a:spcBef>
              <a:spcAft>
                <a:spcPts val="0"/>
              </a:spcAft>
              <a:buClr>
                <a:srgbClr val="13294B"/>
              </a:buClr>
              <a:buSzPct val="70000"/>
              <a:buFont typeface="Arial"/>
              <a:buChar char="■"/>
            </a:pPr>
            <a:r>
              <a:rPr sz="1300" b="0" i="0" lang="ko-KR" altLang="en-US">
                <a:solidFill>
                  <a:srgbClr val="1E2532"/>
                </a:solidFill>
                <a:latin typeface="맑은 고딕"/>
                <a:ea typeface="맑은 고딕"/>
                <a:cs typeface="맑은 고딕"/>
              </a:rPr>
              <a:t>hybrid bonding 표본: 2019년 이전 핵심 기술 없는 접합 출원 12건 → 추정하지 않음</a:t>
            </a:r>
          </a:p>
        </p:txBody>
      </p:sp>
    </p:spTree>
  </p:cSld>
  <p:clrMapOvr>
    <a:masterClrMapping/>
  </p:clrMapOvr>
</p:sld>
</file>

<file path=ppt/theme/theme1.xml><?xml version="1.0" encoding="utf-8"?>
<a:theme xmlns:a="http://schemas.openxmlformats.org/drawingml/2006/main" name="Defense">
  <a:themeElements>
    <a:clrScheme name="Defense">
      <a:dk1>
        <a:srgbClr val="1E2532"/>
      </a:dk1>
      <a:lt1>
        <a:srgbClr val="FFFFFF"/>
      </a:lt1>
      <a:dk2>
        <a:srgbClr val="13294B"/>
      </a:dk2>
      <a:lt2>
        <a:srgbClr val="F2F5FA"/>
      </a:lt2>
      <a:accent1>
        <a:srgbClr val="24406E"/>
      </a:accent1>
      <a:accent2>
        <a:srgbClr val="2563C9"/>
      </a:accent2>
      <a:accent3>
        <a:srgbClr val="7C3AED"/>
      </a:accent3>
      <a:accent4>
        <a:srgbClr val="EA7A28"/>
      </a:accent4>
      <a:accent5>
        <a:srgbClr val="10A39A"/>
      </a:accent5>
      <a:accent6>
        <a:srgbClr val="E0A100"/>
      </a:accent6>
      <a:hlink>
        <a:srgbClr val="2563C9"/>
      </a:hlink>
      <a:folHlink>
        <a:srgbClr val="7C3AED"/>
      </a:folHlink>
    </a:clrScheme>
    <a:fontScheme name="Malgun Gothic">
      <a:majorFont>
        <a:latin typeface="맑은 고딕"/>
        <a:ea typeface="맑은 고딕"/>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맑은 고딕"/>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반도체 하이브리드 본딩의 공정 단계 간 기술융합: 특허 기반 종단 분석 (석사학위논문 심사 발표)</dc:title>
  <dc:subject/>
  <dc:creator>이형규</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