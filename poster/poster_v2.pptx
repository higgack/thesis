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3"/>
  </p:notesMasterIdLst>
  <p:handoutMasterIdLst>
    <p:handoutMasterId r:id="rId4"/>
  </p:handoutMasterIdLst>
  <p:sldIdLst>
    <p:sldId id="257" r:id="rId2"/>
  </p:sldIdLst>
  <p:sldSz cx="21388388" cy="30275213"/>
  <p:notesSz cx="6888163" cy="10018713"/>
  <p:defaultTextStyle>
    <a:defPPr>
      <a:defRPr lang="en-US"/>
    </a:defPPr>
    <a:lvl1pPr marL="0" algn="l" defTabSz="3038715" rtl="0" eaLnBrk="1" latinLnBrk="0" hangingPunct="1">
      <a:defRPr sz="6000" kern="1200">
        <a:solidFill>
          <a:schemeClr val="tx1"/>
        </a:solidFill>
        <a:latin typeface="+mn-lt"/>
        <a:ea typeface="+mn-ea"/>
        <a:cs typeface="+mn-cs"/>
      </a:defRPr>
    </a:lvl1pPr>
    <a:lvl2pPr marL="1519358" algn="l" defTabSz="3038715" rtl="0" eaLnBrk="1" latinLnBrk="0" hangingPunct="1">
      <a:defRPr sz="6000" kern="1200">
        <a:solidFill>
          <a:schemeClr val="tx1"/>
        </a:solidFill>
        <a:latin typeface="+mn-lt"/>
        <a:ea typeface="+mn-ea"/>
        <a:cs typeface="+mn-cs"/>
      </a:defRPr>
    </a:lvl2pPr>
    <a:lvl3pPr marL="3038715" algn="l" defTabSz="3038715" rtl="0" eaLnBrk="1" latinLnBrk="0" hangingPunct="1">
      <a:defRPr sz="6000" kern="1200">
        <a:solidFill>
          <a:schemeClr val="tx1"/>
        </a:solidFill>
        <a:latin typeface="+mn-lt"/>
        <a:ea typeface="+mn-ea"/>
        <a:cs typeface="+mn-cs"/>
      </a:defRPr>
    </a:lvl3pPr>
    <a:lvl4pPr marL="4558071" algn="l" defTabSz="3038715" rtl="0" eaLnBrk="1" latinLnBrk="0" hangingPunct="1">
      <a:defRPr sz="6000" kern="1200">
        <a:solidFill>
          <a:schemeClr val="tx1"/>
        </a:solidFill>
        <a:latin typeface="+mn-lt"/>
        <a:ea typeface="+mn-ea"/>
        <a:cs typeface="+mn-cs"/>
      </a:defRPr>
    </a:lvl4pPr>
    <a:lvl5pPr marL="6077429" algn="l" defTabSz="3038715" rtl="0" eaLnBrk="1" latinLnBrk="0" hangingPunct="1">
      <a:defRPr sz="6000" kern="1200">
        <a:solidFill>
          <a:schemeClr val="tx1"/>
        </a:solidFill>
        <a:latin typeface="+mn-lt"/>
        <a:ea typeface="+mn-ea"/>
        <a:cs typeface="+mn-cs"/>
      </a:defRPr>
    </a:lvl5pPr>
    <a:lvl6pPr marL="7596786" algn="l" defTabSz="3038715" rtl="0" eaLnBrk="1" latinLnBrk="0" hangingPunct="1">
      <a:defRPr sz="6000" kern="1200">
        <a:solidFill>
          <a:schemeClr val="tx1"/>
        </a:solidFill>
        <a:latin typeface="+mn-lt"/>
        <a:ea typeface="+mn-ea"/>
        <a:cs typeface="+mn-cs"/>
      </a:defRPr>
    </a:lvl6pPr>
    <a:lvl7pPr marL="9116145" algn="l" defTabSz="3038715" rtl="0" eaLnBrk="1" latinLnBrk="0" hangingPunct="1">
      <a:defRPr sz="6000" kern="1200">
        <a:solidFill>
          <a:schemeClr val="tx1"/>
        </a:solidFill>
        <a:latin typeface="+mn-lt"/>
        <a:ea typeface="+mn-ea"/>
        <a:cs typeface="+mn-cs"/>
      </a:defRPr>
    </a:lvl7pPr>
    <a:lvl8pPr marL="10635501" algn="l" defTabSz="3038715" rtl="0" eaLnBrk="1" latinLnBrk="0" hangingPunct="1">
      <a:defRPr sz="6000" kern="1200">
        <a:solidFill>
          <a:schemeClr val="tx1"/>
        </a:solidFill>
        <a:latin typeface="+mn-lt"/>
        <a:ea typeface="+mn-ea"/>
        <a:cs typeface="+mn-cs"/>
      </a:defRPr>
    </a:lvl8pPr>
    <a:lvl9pPr marL="12154859" algn="l" defTabSz="3038715" rtl="0" eaLnBrk="1" latinLnBrk="0" hangingPunct="1">
      <a:defRPr sz="60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265">
          <p15:clr>
            <a:srgbClr val="A4A3A4"/>
          </p15:clr>
        </p15:guide>
        <p15:guide id="3" orient="horz" pos="18541">
          <p15:clr>
            <a:srgbClr val="A4A3A4"/>
          </p15:clr>
        </p15:guide>
        <p15:guide id="5" pos="13191">
          <p15:clr>
            <a:srgbClr val="A4A3A4"/>
          </p15:clr>
        </p15:guide>
      </p15:sldGuideLst>
    </p:ext>
    <p:ext uri="{2D200454-40CA-4A62-9FC3-DE9A4176ACB9}">
      <p15:notesGuideLst xmlns:p15="http://schemas.microsoft.com/office/powerpoint/2012/main">
        <p15:guide id="1" orient="horz" pos="3156" userDrawn="1">
          <p15:clr>
            <a:srgbClr val="A4A3A4"/>
          </p15:clr>
        </p15:guide>
        <p15:guide id="2" pos="217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 id="4" name="Taehyun Jung" initials="TJ" lastIdx="2" clrIdx="4">
    <p:extLst>
      <p:ext uri="{19B8F6BF-5375-455C-9EA6-DF929625EA0E}">
        <p15:presenceInfo xmlns:p15="http://schemas.microsoft.com/office/powerpoint/2012/main" userId="a3451b165ff1979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89" autoAdjust="0"/>
    <p:restoredTop sz="94777" autoAdjust="0"/>
  </p:normalViewPr>
  <p:slideViewPr>
    <p:cSldViewPr snapToGrid="0" snapToObjects="1" showGuides="1">
      <p:cViewPr varScale="1">
        <p:scale>
          <a:sx n="23" d="100"/>
          <a:sy n="23" d="100"/>
        </p:scale>
        <p:origin x="3078" y="60"/>
      </p:cViewPr>
      <p:guideLst>
        <p:guide orient="horz" pos="265"/>
        <p:guide orient="horz" pos="18541"/>
        <p:guide pos="1319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83" d="100"/>
          <a:sy n="83" d="100"/>
        </p:scale>
        <p:origin x="-2730" y="-84"/>
      </p:cViewPr>
      <p:guideLst>
        <p:guide orient="horz" pos="3156"/>
        <p:guide pos="217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handoutMaster" Target="handoutMasters/handoutMaster1.xml"/><Relationship Id="rId5" Type="http://schemas.openxmlformats.org/officeDocument/2006/relationships/commentAuthors" Target="commentAuthors.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통합형</c:v>
                </c:pt>
              </c:strCache>
            </c:strRef>
          </c:tx>
          <c:spPr>
            <a:ln w="57150">
              <a:solidFill>
                <a:srgbClr val="7C3AED"/>
              </a:solidFill>
            </a:ln>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Sheet1!$B$2:$B$16</c:f>
              <c:numCache>
                <c:formatCode>General</c:formatCode>
                <c:ptCount val="15"/>
                <c:pt idx="0">
                  <c:v>0.143</c:v>
                </c:pt>
                <c:pt idx="1">
                  <c:v>0.195</c:v>
                </c:pt>
                <c:pt idx="2">
                  <c:v>0.258</c:v>
                </c:pt>
                <c:pt idx="3">
                  <c:v>0.334</c:v>
                </c:pt>
                <c:pt idx="4">
                  <c:v>0.418</c:v>
                </c:pt>
                <c:pt idx="5">
                  <c:v>0.508</c:v>
                </c:pt>
                <c:pt idx="6">
                  <c:v>0.596</c:v>
                </c:pt>
                <c:pt idx="7">
                  <c:v>0.679</c:v>
                </c:pt>
                <c:pt idx="8">
                  <c:v>0.751</c:v>
                </c:pt>
                <c:pt idx="9">
                  <c:v>0.812</c:v>
                </c:pt>
                <c:pt idx="10">
                  <c:v>0.86</c:v>
                </c:pt>
                <c:pt idx="11">
                  <c:v>0.898</c:v>
                </c:pt>
                <c:pt idx="12">
                  <c:v>0.926</c:v>
                </c:pt>
                <c:pt idx="13">
                  <c:v>0.947</c:v>
                </c:pt>
                <c:pt idx="14">
                  <c:v>0.962</c:v>
                </c:pt>
              </c:numCache>
            </c:numRef>
          </c:val>
          <c:smooth val="0"/>
        </c:ser>
        <c:ser>
          <c:idx val="1"/>
          <c:order val="1"/>
          <c:tx>
            <c:strRef>
              <c:f>Sheet1!$C$1</c:f>
              <c:strCache>
                <c:ptCount val="1"/>
                <c:pt idx="0">
                  <c:v>접합 단독형</c:v>
                </c:pt>
              </c:strCache>
            </c:strRef>
          </c:tx>
          <c:spPr>
            <a:ln w="57150">
              <a:solidFill>
                <a:srgbClr val="EA7A28"/>
              </a:solidFill>
            </a:ln>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Sheet1!$C$2:$C$16</c:f>
              <c:numCache>
                <c:formatCode>General</c:formatCode>
                <c:ptCount val="15"/>
                <c:pt idx="0">
                  <c:v>0.546</c:v>
                </c:pt>
                <c:pt idx="1">
                  <c:v>0.528</c:v>
                </c:pt>
                <c:pt idx="2">
                  <c:v>0.5</c:v>
                </c:pt>
                <c:pt idx="3">
                  <c:v>0.461</c:v>
                </c:pt>
                <c:pt idx="4">
                  <c:v>0.412</c:v>
                </c:pt>
                <c:pt idx="5">
                  <c:v>0.356</c:v>
                </c:pt>
                <c:pt idx="6">
                  <c:v>0.298</c:v>
                </c:pt>
                <c:pt idx="7">
                  <c:v>0.242</c:v>
                </c:pt>
                <c:pt idx="8">
                  <c:v>0.191</c:v>
                </c:pt>
                <c:pt idx="9">
                  <c:v>0.147</c:v>
                </c:pt>
                <c:pt idx="10">
                  <c:v>0.111</c:v>
                </c:pt>
                <c:pt idx="11">
                  <c:v>0.083</c:v>
                </c:pt>
                <c:pt idx="12">
                  <c:v>0.061</c:v>
                </c:pt>
                <c:pt idx="13">
                  <c:v>0.044</c:v>
                </c:pt>
                <c:pt idx="14">
                  <c:v>0.032</c:v>
                </c:pt>
              </c:numCache>
            </c:numRef>
          </c:val>
          <c:smooth val="0"/>
        </c:ser>
        <c:ser>
          <c:idx val="2"/>
          <c:order val="2"/>
          <c:tx>
            <c:strRef>
              <c:f>Sheet1!$D$1</c:f>
              <c:strCache>
                <c:ptCount val="1"/>
                <c:pt idx="0">
                  <c:v>공정 단독형</c:v>
                </c:pt>
              </c:strCache>
            </c:strRef>
          </c:tx>
          <c:spPr>
            <a:ln w="57150">
              <a:solidFill>
                <a:srgbClr val="2563C9"/>
              </a:solidFill>
            </a:ln>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Sheet1!$D$2:$D$16</c:f>
              <c:numCache>
                <c:formatCode>General</c:formatCode>
                <c:ptCount val="15"/>
                <c:pt idx="0">
                  <c:v>0.311</c:v>
                </c:pt>
                <c:pt idx="1">
                  <c:v>0.277</c:v>
                </c:pt>
                <c:pt idx="2">
                  <c:v>0.242</c:v>
                </c:pt>
                <c:pt idx="3">
                  <c:v>0.206</c:v>
                </c:pt>
                <c:pt idx="4">
                  <c:v>0.17</c:v>
                </c:pt>
                <c:pt idx="5">
                  <c:v>0.136</c:v>
                </c:pt>
                <c:pt idx="6">
                  <c:v>0.105</c:v>
                </c:pt>
                <c:pt idx="7">
                  <c:v>0.079</c:v>
                </c:pt>
                <c:pt idx="8">
                  <c:v>0.058</c:v>
                </c:pt>
                <c:pt idx="9">
                  <c:v>0.041</c:v>
                </c:pt>
                <c:pt idx="10">
                  <c:v>0.028</c:v>
                </c:pt>
                <c:pt idx="11">
                  <c:v>0.019</c:v>
                </c:pt>
                <c:pt idx="12">
                  <c:v>0.013</c:v>
                </c:pt>
                <c:pt idx="13">
                  <c:v>0.009</c:v>
                </c:pt>
                <c:pt idx="14">
                  <c:v>0.006</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9AA3B2"/>
            </a:solidFill>
          </a:ln>
        </c:spPr>
        <c:txPr>
          <a:bodyPr/>
          <a:lstStyle/>
          <a:p>
            <a:pPr>
              <a:defRPr sz="1400">
                <a:latin typeface="맑은 고딕"/>
                <a:ea typeface="맑은 고딕"/>
              </a:defRPr>
            </a:pPr>
          </a:p>
        </c:txPr>
        <c:crossAx val="2140495176"/>
        <c:crosses val="autoZero"/>
        <c:auto val="1"/>
        <c:lblAlgn val="ctr"/>
        <c:lblOffset val="100"/>
        <c:noMultiLvlLbl val="0"/>
      </c:catAx>
      <c:valAx>
        <c:axId val="2140495176"/>
        <c:scaling>
          <c:max val="1.0"/>
          <c:min val="0.0"/>
        </c:scaling>
        <c:delete val="0"/>
        <c:axPos val="l"/>
        <c:majorGridlines>
          <c:spPr>
            <a:ln>
              <a:solidFill>
                <a:srgbClr val="DDE2EA"/>
              </a:solidFill>
            </a:ln>
          </c:spPr>
        </c:majorGridlines>
        <c:numFmt formatCode="0.0" sourceLinked="0"/>
        <c:majorTickMark val="out"/>
        <c:minorTickMark val="none"/>
        <c:tickLblPos val="nextTo"/>
        <c:spPr>
          <a:ln>
            <a:noFill/>
          </a:ln>
        </c:spPr>
        <c:txPr>
          <a:bodyPr/>
          <a:lstStyle/>
          <a:p>
            <a:pPr>
              <a:defRPr sz="1400">
                <a:latin typeface="맑은 고딕"/>
                <a:ea typeface="맑은 고딕"/>
              </a:defRPr>
            </a:pPr>
          </a:p>
        </c:txPr>
        <c:crossAx val="2118791784"/>
        <c:crosses val="autoZero"/>
        <c:majorUnit val="0.2"/>
      </c:valAx>
    </c:plotArea>
    <c:legend>
      <c:legendPos val="t"/>
      <c:layout/>
      <c:overlay val="0"/>
      <c:txPr>
        <a:bodyPr/>
        <a:lstStyle/>
        <a:p>
          <a:pPr>
            <a:defRPr sz="1400">
              <a:latin typeface="맑은 고딕"/>
              <a:ea typeface="맑은 고딕"/>
            </a:defRPr>
          </a:pPr>
        </a:p>
      </c:txPr>
    </c:legend>
    <c:plotVisOnly val="1"/>
    <c:dispBlanksAs val="gap"/>
    <c:showDLblsOverMax val="0"/>
  </c:chart>
  <c:txPr>
    <a:bodyPr/>
    <a:lstStyle/>
    <a:p>
      <a:pPr>
        <a:defRPr sz="1400">
          <a:latin typeface="맑은 고딕"/>
          <a:ea typeface="맑은 고딕"/>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공정 단독형</c:v>
                </c:pt>
              </c:strCache>
            </c:strRef>
          </c:tx>
          <c:spPr>
            <a:solidFill>
              <a:srgbClr val="2563C9"/>
            </a:solidFill>
          </c:spPr>
          <c:dLbls>
            <c:numFmt formatCode="0.0" sourceLinked="0"/>
            <c:txPr>
              <a:bodyPr/>
              <a:lstStyle/>
              <a:p>
                <a:pPr>
                  <a:defRPr sz="1700" b="1">
                    <a:solidFill>
                      <a:srgbClr val="FFFFFF"/>
                    </a:solidFill>
                    <a:latin typeface="맑은 고딕"/>
                  </a:defRPr>
                </a:pPr>
              </a:p>
            </c:txPr>
            <c:dLblPos val="ctr"/>
            <c:showLegendKey val="0"/>
            <c:showVal val="1"/>
            <c:showCatName val="0"/>
            <c:showSerName val="0"/>
            <c:showPercent val="0"/>
            <c:showBubbleSize val="0"/>
            <c:showLeaderLines val="1"/>
          </c:dLbls>
          <c:cat>
            <c:strRef>
              <c:f>Sheet1!$A$2:$A$4</c:f>
              <c:strCache>
                <c:ptCount val="3"/>
                <c:pt idx="0">
                  <c:v>형성기 –2014</c:v>
                </c:pt>
                <c:pt idx="1">
                  <c:v>확산기 2015–19</c:v>
                </c:pt>
                <c:pt idx="2">
                  <c:v>재편기 2020–24</c:v>
                </c:pt>
              </c:strCache>
            </c:strRef>
          </c:cat>
          <c:val>
            <c:numRef>
              <c:f>Sheet1!$B$2:$B$4</c:f>
              <c:numCache>
                <c:formatCode>General</c:formatCode>
                <c:ptCount val="3"/>
                <c:pt idx="0">
                  <c:v>43.6</c:v>
                </c:pt>
                <c:pt idx="1">
                  <c:v>14.8</c:v>
                </c:pt>
                <c:pt idx="2">
                  <c:v>10.4</c:v>
                </c:pt>
              </c:numCache>
            </c:numRef>
          </c:val>
        </c:ser>
        <c:ser>
          <c:idx val="1"/>
          <c:order val="1"/>
          <c:tx>
            <c:strRef>
              <c:f>Sheet1!$C$1</c:f>
              <c:strCache>
                <c:ptCount val="1"/>
                <c:pt idx="0">
                  <c:v>통합형</c:v>
                </c:pt>
              </c:strCache>
            </c:strRef>
          </c:tx>
          <c:spPr>
            <a:solidFill>
              <a:srgbClr val="7C3AED"/>
            </a:solidFill>
          </c:spPr>
          <c:dLbls>
            <c:numFmt formatCode="0.0" sourceLinked="0"/>
            <c:txPr>
              <a:bodyPr/>
              <a:lstStyle/>
              <a:p>
                <a:pPr>
                  <a:defRPr sz="1700" b="1">
                    <a:solidFill>
                      <a:srgbClr val="FFFFFF"/>
                    </a:solidFill>
                    <a:latin typeface="맑은 고딕"/>
                  </a:defRPr>
                </a:pPr>
              </a:p>
            </c:txPr>
            <c:dLblPos val="ctr"/>
            <c:showLegendKey val="0"/>
            <c:showVal val="1"/>
            <c:showCatName val="0"/>
            <c:showSerName val="0"/>
            <c:showPercent val="0"/>
            <c:showBubbleSize val="0"/>
            <c:showLeaderLines val="1"/>
          </c:dLbls>
          <c:cat>
            <c:strRef>
              <c:f>Sheet1!$A$2:$A$4</c:f>
              <c:strCache>
                <c:ptCount val="3"/>
                <c:pt idx="0">
                  <c:v>형성기 –2014</c:v>
                </c:pt>
                <c:pt idx="1">
                  <c:v>확산기 2015–19</c:v>
                </c:pt>
                <c:pt idx="2">
                  <c:v>재편기 2020–24</c:v>
                </c:pt>
              </c:strCache>
            </c:strRef>
          </c:cat>
          <c:val>
            <c:numRef>
              <c:f>Sheet1!$C$2:$C$4</c:f>
              <c:numCache>
                <c:formatCode>General</c:formatCode>
                <c:ptCount val="3"/>
                <c:pt idx="0">
                  <c:v>31.3</c:v>
                </c:pt>
                <c:pt idx="1">
                  <c:v>62.2</c:v>
                </c:pt>
                <c:pt idx="2">
                  <c:v>44.3</c:v>
                </c:pt>
              </c:numCache>
            </c:numRef>
          </c:val>
        </c:ser>
        <c:ser>
          <c:idx val="2"/>
          <c:order val="2"/>
          <c:tx>
            <c:strRef>
              <c:f>Sheet1!$D$1</c:f>
              <c:strCache>
                <c:ptCount val="1"/>
                <c:pt idx="0">
                  <c:v>접합 단독형</c:v>
                </c:pt>
              </c:strCache>
            </c:strRef>
          </c:tx>
          <c:spPr>
            <a:solidFill>
              <a:srgbClr val="EA7A28"/>
            </a:solidFill>
          </c:spPr>
          <c:dLbls>
            <c:numFmt formatCode="0.0" sourceLinked="0"/>
            <c:txPr>
              <a:bodyPr/>
              <a:lstStyle/>
              <a:p>
                <a:pPr>
                  <a:defRPr sz="1700" b="1">
                    <a:solidFill>
                      <a:srgbClr val="FFFFFF"/>
                    </a:solidFill>
                    <a:latin typeface="맑은 고딕"/>
                  </a:defRPr>
                </a:pPr>
              </a:p>
            </c:txPr>
            <c:dLblPos val="ctr"/>
            <c:showLegendKey val="0"/>
            <c:showVal val="1"/>
            <c:showCatName val="0"/>
            <c:showSerName val="0"/>
            <c:showPercent val="0"/>
            <c:showBubbleSize val="0"/>
            <c:showLeaderLines val="1"/>
          </c:dLbls>
          <c:cat>
            <c:strRef>
              <c:f>Sheet1!$A$2:$A$4</c:f>
              <c:strCache>
                <c:ptCount val="3"/>
                <c:pt idx="0">
                  <c:v>형성기 –2014</c:v>
                </c:pt>
                <c:pt idx="1">
                  <c:v>확산기 2015–19</c:v>
                </c:pt>
                <c:pt idx="2">
                  <c:v>재편기 2020–24</c:v>
                </c:pt>
              </c:strCache>
            </c:strRef>
          </c:cat>
          <c:val>
            <c:numRef>
              <c:f>Sheet1!$D$2:$D$4</c:f>
              <c:numCache>
                <c:formatCode>General</c:formatCode>
                <c:ptCount val="3"/>
                <c:pt idx="0">
                  <c:v>25.1</c:v>
                </c:pt>
                <c:pt idx="1">
                  <c:v>23.0</c:v>
                </c:pt>
                <c:pt idx="2">
                  <c:v>45.4</c:v>
                </c:pt>
              </c:numCache>
            </c:numRef>
          </c:val>
        </c:ser>
        <c:gapWidth val="40"/>
        <c:overlap val="100"/>
        <c:axId val="-2068027336"/>
        <c:axId val="-2113994440"/>
      </c:barChart>
      <c:catAx>
        <c:axId val="-2068027336"/>
        <c:scaling>
          <c:orientation val="minMax"/>
        </c:scaling>
        <c:delete val="0"/>
        <c:axPos val="b"/>
        <c:majorTickMark val="out"/>
        <c:minorTickMark val="none"/>
        <c:tickLblPos val="nextTo"/>
        <c:spPr>
          <a:ln>
            <a:solidFill>
              <a:srgbClr val="9AA3B2"/>
            </a:solidFill>
          </a:ln>
        </c:spPr>
        <c:txPr>
          <a:bodyPr/>
          <a:lstStyle/>
          <a:p>
            <a:pPr>
              <a:defRPr sz="1500">
                <a:latin typeface="맑은 고딕"/>
                <a:ea typeface="맑은 고딕"/>
              </a:defRPr>
            </a:pPr>
          </a:p>
        </c:txPr>
        <c:crossAx val="-2113994440"/>
        <c:crosses val="autoZero"/>
        <c:auto val="1"/>
        <c:lblAlgn val="ctr"/>
        <c:lblOffset val="100"/>
        <c:noMultiLvlLbl val="0"/>
      </c:catAx>
      <c:valAx>
        <c:axId val="-2113994440"/>
        <c:scaling>
          <c:max val="100.0"/>
        </c:scaling>
        <c:delete/>
        <c:axPos val="l"/>
        <c:majorTickMark val="out"/>
        <c:minorTickMark val="none"/>
        <c:tickLblPos val="nextTo"/>
        <c:spPr>
          <a:ln>
            <a:noFill/>
          </a:ln>
        </c:spPr>
        <c:txPr>
          <a:bodyPr/>
          <a:lstStyle/>
          <a:p>
            <a:pPr>
              <a:defRPr sz="1500">
                <a:latin typeface="맑은 고딕"/>
                <a:ea typeface="맑은 고딕"/>
              </a:defRPr>
            </a:pPr>
          </a:p>
        </c:txPr>
        <c:crossAx val="-2068027336"/>
        <c:crosses val="autoZero"/>
      </c:valAx>
    </c:plotArea>
    <c:legend>
      <c:legendPos val="t"/>
      <c:overlay val="0"/>
      <c:txPr>
        <a:bodyPr/>
        <a:lstStyle/>
        <a:p>
          <a:pPr>
            <a:defRPr sz="1500">
              <a:latin typeface="맑은 고딕"/>
              <a:ea typeface="맑은 고딕"/>
            </a:defRPr>
          </a:pPr>
        </a:p>
      </c:txPr>
    </c:legend>
    <c:dispBlanksAs val="gap"/>
  </c:chart>
  <c:txPr>
    <a:bodyPr/>
    <a:lstStyle/>
    <a:p>
      <a:pPr>
        <a:defRPr sz="1500">
          <a:latin typeface="맑은 고딕"/>
          <a:ea typeface="맑은 고딕"/>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웨이퍼 제조공정</c:v>
                </c:pt>
              </c:strCache>
            </c:strRef>
          </c:tx>
          <c:spPr>
            <a:ln w="50800">
              <a:solidFill>
                <a:srgbClr val="2563C9"/>
              </a:solidFill>
            </a:ln>
          </c:spPr>
          <c:marker>
            <c:symbol val="circle"/>
            <c:size val="10"/>
            <c:spPr>
              <a:solidFill>
                <a:srgbClr val="2563C9"/>
              </a:solidFill>
              <a:ln>
                <a:solidFill>
                  <a:srgbClr val="2563C9"/>
                </a:solidFill>
              </a:ln>
            </c:spPr>
          </c:marker>
          <c:cat>
            <c:strRef>
              <c:f>Sheet1!$A$2:$A$4</c:f>
              <c:strCache>
                <c:ptCount val="3"/>
                <c:pt idx="0">
                  <c:v>형성기</c:v>
                </c:pt>
                <c:pt idx="1">
                  <c:v>확산기</c:v>
                </c:pt>
                <c:pt idx="2">
                  <c:v>재편기</c:v>
                </c:pt>
              </c:strCache>
            </c:strRef>
          </c:cat>
          <c:val>
            <c:numRef>
              <c:f>Sheet1!$B$2:$B$4</c:f>
              <c:numCache>
                <c:formatCode>General</c:formatCode>
                <c:ptCount val="3"/>
                <c:pt idx="0">
                  <c:v>0.306</c:v>
                </c:pt>
                <c:pt idx="1">
                  <c:v>0.598</c:v>
                </c:pt>
                <c:pt idx="2">
                  <c:v>0.159</c:v>
                </c:pt>
              </c:numCache>
            </c:numRef>
          </c:val>
          <c:smooth val="0"/>
        </c:ser>
        <c:ser>
          <c:idx val="1"/>
          <c:order val="1"/>
          <c:tx>
            <c:strRef>
              <c:f>Sheet1!$C$1</c:f>
              <c:strCache>
                <c:ptCount val="1"/>
                <c:pt idx="0">
                  <c:v>공정 장치</c:v>
                </c:pt>
              </c:strCache>
            </c:strRef>
          </c:tx>
          <c:spPr>
            <a:ln w="50800">
              <a:solidFill>
                <a:srgbClr val="10A39A"/>
              </a:solidFill>
            </a:ln>
          </c:spPr>
          <c:marker>
            <c:symbol val="circle"/>
            <c:size val="10"/>
            <c:spPr>
              <a:solidFill>
                <a:srgbClr val="10A39A"/>
              </a:solidFill>
              <a:ln>
                <a:solidFill>
                  <a:srgbClr val="10A39A"/>
                </a:solidFill>
              </a:ln>
            </c:spPr>
          </c:marker>
          <c:cat>
            <c:strRef>
              <c:f>Sheet1!$A$2:$A$4</c:f>
              <c:strCache>
                <c:ptCount val="3"/>
                <c:pt idx="0">
                  <c:v>형성기</c:v>
                </c:pt>
                <c:pt idx="1">
                  <c:v>확산기</c:v>
                </c:pt>
                <c:pt idx="2">
                  <c:v>재편기</c:v>
                </c:pt>
              </c:strCache>
            </c:strRef>
          </c:cat>
          <c:val>
            <c:numRef>
              <c:f>Sheet1!$C$2:$C$4</c:f>
              <c:numCache>
                <c:formatCode>General</c:formatCode>
                <c:ptCount val="3"/>
                <c:pt idx="0">
                  <c:v>0.046</c:v>
                </c:pt>
                <c:pt idx="1">
                  <c:v>0.059</c:v>
                </c:pt>
                <c:pt idx="2">
                  <c:v>0.176</c:v>
                </c:pt>
              </c:numCache>
            </c:numRef>
          </c:val>
          <c:smooth val="0"/>
        </c:ser>
        <c:ser>
          <c:idx val="2"/>
          <c:order val="2"/>
          <c:tx>
            <c:strRef>
              <c:f>Sheet1!$D$1</c:f>
              <c:strCache>
                <c:ptCount val="1"/>
                <c:pt idx="0">
                  <c:v>패키징 단계 공정</c:v>
                </c:pt>
              </c:strCache>
            </c:strRef>
          </c:tx>
          <c:spPr>
            <a:ln w="50800">
              <a:solidFill>
                <a:srgbClr val="E0A100"/>
              </a:solidFill>
            </a:ln>
          </c:spPr>
          <c:marker>
            <c:symbol val="circle"/>
            <c:size val="10"/>
            <c:spPr>
              <a:solidFill>
                <a:srgbClr val="E0A100"/>
              </a:solidFill>
              <a:ln>
                <a:solidFill>
                  <a:srgbClr val="E0A100"/>
                </a:solidFill>
              </a:ln>
            </c:spPr>
          </c:marker>
          <c:cat>
            <c:strRef>
              <c:f>Sheet1!$A$2:$A$4</c:f>
              <c:strCache>
                <c:ptCount val="3"/>
                <c:pt idx="0">
                  <c:v>형성기</c:v>
                </c:pt>
                <c:pt idx="1">
                  <c:v>확산기</c:v>
                </c:pt>
                <c:pt idx="2">
                  <c:v>재편기</c:v>
                </c:pt>
              </c:strCache>
            </c:strRef>
          </c:cat>
          <c:val>
            <c:numRef>
              <c:f>Sheet1!$D$2:$D$4</c:f>
              <c:numCache>
                <c:formatCode>General</c:formatCode>
                <c:ptCount val="3"/>
                <c:pt idx="0">
                  <c:v>0.194</c:v>
                </c:pt>
                <c:pt idx="1">
                  <c:v>0.234</c:v>
                </c:pt>
                <c:pt idx="2">
                  <c:v>0.268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9AA3B2"/>
            </a:solidFill>
          </a:ln>
        </c:spPr>
        <c:txPr>
          <a:bodyPr/>
          <a:lstStyle/>
          <a:p>
            <a:pPr>
              <a:defRPr sz="1300">
                <a:latin typeface="맑은 고딕"/>
                <a:ea typeface="맑은 고딕"/>
              </a:defRPr>
            </a:pPr>
          </a:p>
        </c:txPr>
        <c:crossAx val="2140495176"/>
        <c:crosses val="autoZero"/>
        <c:auto val="1"/>
        <c:lblAlgn val="ctr"/>
        <c:lblOffset val="100"/>
        <c:noMultiLvlLbl val="0"/>
      </c:catAx>
      <c:valAx>
        <c:axId val="2140495176"/>
        <c:scaling>
          <c:max val="0.6"/>
          <c:min val="0.0"/>
        </c:scaling>
        <c:delete val="0"/>
        <c:axPos val="l"/>
        <c:majorGridlines>
          <c:spPr>
            <a:ln>
              <a:solidFill>
                <a:srgbClr val="DDE2EA"/>
              </a:solidFill>
            </a:ln>
          </c:spPr>
        </c:majorGridlines>
        <c:numFmt formatCode="0.0" sourceLinked="0"/>
        <c:majorTickMark val="out"/>
        <c:minorTickMark val="none"/>
        <c:tickLblPos val="nextTo"/>
        <c:spPr>
          <a:ln>
            <a:noFill/>
          </a:ln>
        </c:spPr>
        <c:txPr>
          <a:bodyPr/>
          <a:lstStyle/>
          <a:p>
            <a:pPr>
              <a:defRPr sz="1300">
                <a:latin typeface="맑은 고딕"/>
                <a:ea typeface="맑은 고딕"/>
              </a:defRPr>
            </a:pPr>
          </a:p>
        </c:txPr>
        <c:crossAx val="2118791784"/>
        <c:crosses val="autoZero"/>
        <c:majorUnit val="0.2"/>
      </c:valAx>
    </c:plotArea>
    <c:legend>
      <c:legendPos val="t"/>
      <c:layout/>
      <c:overlay val="0"/>
      <c:txPr>
        <a:bodyPr/>
        <a:lstStyle/>
        <a:p>
          <a:pPr>
            <a:defRPr sz="1300">
              <a:latin typeface="맑은 고딕"/>
              <a:ea typeface="맑은 고딕"/>
            </a:defRPr>
          </a:pPr>
        </a:p>
      </c:txPr>
    </c:legend>
    <c:plotVisOnly val="1"/>
    <c:dispBlanksAs val="gap"/>
    <c:showDLblsOverMax val="0"/>
  </c:chart>
  <c:txPr>
    <a:bodyPr/>
    <a:lstStyle/>
    <a:p>
      <a:pPr>
        <a:defRPr sz="1300">
          <a:latin typeface="맑은 고딕"/>
          <a:ea typeface="맑은 고딕"/>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4871" cy="500936"/>
          </a:xfrm>
          <a:prstGeom prst="rect">
            <a:avLst/>
          </a:prstGeom>
        </p:spPr>
        <p:txBody>
          <a:bodyPr vert="horz" lIns="96606" tIns="48303" rIns="96606" bIns="48303" rtlCol="0"/>
          <a:lstStyle>
            <a:lvl1pPr algn="l">
              <a:defRPr sz="1300"/>
            </a:lvl1pPr>
          </a:lstStyle>
          <a:p>
            <a:endParaRPr lang="en-US"/>
          </a:p>
        </p:txBody>
      </p:sp>
      <p:sp>
        <p:nvSpPr>
          <p:cNvPr id="3" name="Date Placeholder 2"/>
          <p:cNvSpPr>
            <a:spLocks noGrp="1"/>
          </p:cNvSpPr>
          <p:nvPr>
            <p:ph type="dt" sz="quarter" idx="1"/>
          </p:nvPr>
        </p:nvSpPr>
        <p:spPr>
          <a:xfrm>
            <a:off x="3901698" y="0"/>
            <a:ext cx="2984871" cy="500936"/>
          </a:xfrm>
          <a:prstGeom prst="rect">
            <a:avLst/>
          </a:prstGeom>
        </p:spPr>
        <p:txBody>
          <a:bodyPr vert="horz" lIns="96606" tIns="48303" rIns="96606" bIns="48303" rtlCol="0"/>
          <a:lstStyle>
            <a:lvl1pPr algn="r">
              <a:defRPr sz="1300"/>
            </a:lvl1pPr>
          </a:lstStyle>
          <a:p>
            <a:fld id="{0158C5BC-9A70-462C-B28D-9600239EAC64}" type="datetimeFigureOut">
              <a:rPr lang="en-US" smtClean="0"/>
              <a:pPr/>
              <a:t>9/24/2025</a:t>
            </a:fld>
            <a:endParaRPr lang="en-US"/>
          </a:p>
        </p:txBody>
      </p:sp>
      <p:sp>
        <p:nvSpPr>
          <p:cNvPr id="4" name="Footer Placeholder 3"/>
          <p:cNvSpPr>
            <a:spLocks noGrp="1"/>
          </p:cNvSpPr>
          <p:nvPr>
            <p:ph type="ftr" sz="quarter" idx="2"/>
          </p:nvPr>
        </p:nvSpPr>
        <p:spPr>
          <a:xfrm>
            <a:off x="0" y="9516038"/>
            <a:ext cx="2984871" cy="500936"/>
          </a:xfrm>
          <a:prstGeom prst="rect">
            <a:avLst/>
          </a:prstGeom>
        </p:spPr>
        <p:txBody>
          <a:bodyPr vert="horz" lIns="96606" tIns="48303" rIns="96606" bIns="48303" rtlCol="0" anchor="b"/>
          <a:lstStyle>
            <a:lvl1pPr algn="l">
              <a:defRPr sz="1300"/>
            </a:lvl1pPr>
          </a:lstStyle>
          <a:p>
            <a:endParaRPr lang="en-US"/>
          </a:p>
        </p:txBody>
      </p:sp>
      <p:sp>
        <p:nvSpPr>
          <p:cNvPr id="5" name="Slide Number Placeholder 4"/>
          <p:cNvSpPr>
            <a:spLocks noGrp="1"/>
          </p:cNvSpPr>
          <p:nvPr>
            <p:ph type="sldNum" sz="quarter" idx="3"/>
          </p:nvPr>
        </p:nvSpPr>
        <p:spPr>
          <a:xfrm>
            <a:off x="3901698" y="9516038"/>
            <a:ext cx="2984871" cy="500936"/>
          </a:xfrm>
          <a:prstGeom prst="rect">
            <a:avLst/>
          </a:prstGeom>
        </p:spPr>
        <p:txBody>
          <a:bodyPr vert="horz" lIns="96606" tIns="48303" rIns="96606" bIns="48303" rtlCol="0" anchor="b"/>
          <a:lstStyle>
            <a:lvl1pPr algn="r">
              <a:defRPr sz="13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26391135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4871" cy="500936"/>
          </a:xfrm>
          <a:prstGeom prst="rect">
            <a:avLst/>
          </a:prstGeom>
        </p:spPr>
        <p:txBody>
          <a:bodyPr vert="horz" lIns="96606" tIns="48303" rIns="96606" bIns="48303" rtlCol="0"/>
          <a:lstStyle>
            <a:lvl1pPr algn="l">
              <a:defRPr sz="1300"/>
            </a:lvl1pPr>
          </a:lstStyle>
          <a:p>
            <a:endParaRPr lang="en-US" dirty="0"/>
          </a:p>
        </p:txBody>
      </p:sp>
      <p:sp>
        <p:nvSpPr>
          <p:cNvPr id="3" name="Date Placeholder 2"/>
          <p:cNvSpPr>
            <a:spLocks noGrp="1"/>
          </p:cNvSpPr>
          <p:nvPr>
            <p:ph type="dt" idx="1"/>
          </p:nvPr>
        </p:nvSpPr>
        <p:spPr>
          <a:xfrm>
            <a:off x="3901698" y="0"/>
            <a:ext cx="2984871" cy="500936"/>
          </a:xfrm>
          <a:prstGeom prst="rect">
            <a:avLst/>
          </a:prstGeom>
        </p:spPr>
        <p:txBody>
          <a:bodyPr vert="horz" lIns="96606" tIns="48303" rIns="96606" bIns="48303" rtlCol="0"/>
          <a:lstStyle>
            <a:lvl1pPr algn="r">
              <a:defRPr sz="1300"/>
            </a:lvl1pPr>
          </a:lstStyle>
          <a:p>
            <a:fld id="{E6CC2317-6751-4CD4-9995-8782DD78E936}" type="datetimeFigureOut">
              <a:rPr lang="en-US" smtClean="0"/>
              <a:pPr/>
              <a:t>9/24/2025</a:t>
            </a:fld>
            <a:endParaRPr lang="en-US" dirty="0"/>
          </a:p>
        </p:txBody>
      </p:sp>
      <p:sp>
        <p:nvSpPr>
          <p:cNvPr id="4" name="Slide Image Placeholder 3"/>
          <p:cNvSpPr>
            <a:spLocks noGrp="1" noRot="1" noChangeAspect="1"/>
          </p:cNvSpPr>
          <p:nvPr>
            <p:ph type="sldImg" idx="2"/>
          </p:nvPr>
        </p:nvSpPr>
        <p:spPr>
          <a:xfrm>
            <a:off x="2117725" y="750888"/>
            <a:ext cx="2652713" cy="3757612"/>
          </a:xfrm>
          <a:prstGeom prst="rect">
            <a:avLst/>
          </a:prstGeom>
          <a:noFill/>
          <a:ln w="12700">
            <a:solidFill>
              <a:prstClr val="black"/>
            </a:solidFill>
          </a:ln>
        </p:spPr>
        <p:txBody>
          <a:bodyPr vert="horz" lIns="96606" tIns="48303" rIns="96606" bIns="48303" rtlCol="0" anchor="ctr"/>
          <a:lstStyle/>
          <a:p>
            <a:endParaRPr lang="en-US" dirty="0"/>
          </a:p>
        </p:txBody>
      </p:sp>
      <p:sp>
        <p:nvSpPr>
          <p:cNvPr id="5" name="Notes Placeholder 4"/>
          <p:cNvSpPr>
            <a:spLocks noGrp="1"/>
          </p:cNvSpPr>
          <p:nvPr>
            <p:ph type="body" sz="quarter" idx="3"/>
          </p:nvPr>
        </p:nvSpPr>
        <p:spPr>
          <a:xfrm>
            <a:off x="688817" y="4758889"/>
            <a:ext cx="5510530" cy="4508421"/>
          </a:xfrm>
          <a:prstGeom prst="rect">
            <a:avLst/>
          </a:prstGeom>
        </p:spPr>
        <p:txBody>
          <a:bodyPr vert="horz" lIns="96606" tIns="48303" rIns="96606" bIns="48303"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516038"/>
            <a:ext cx="2984871" cy="500936"/>
          </a:xfrm>
          <a:prstGeom prst="rect">
            <a:avLst/>
          </a:prstGeom>
        </p:spPr>
        <p:txBody>
          <a:bodyPr vert="horz" lIns="96606" tIns="48303" rIns="96606" bIns="48303" rtlCol="0" anchor="b"/>
          <a:lstStyle>
            <a:lvl1pPr algn="l">
              <a:defRPr sz="1300"/>
            </a:lvl1pPr>
          </a:lstStyle>
          <a:p>
            <a:endParaRPr lang="en-US" dirty="0"/>
          </a:p>
        </p:txBody>
      </p:sp>
      <p:sp>
        <p:nvSpPr>
          <p:cNvPr id="7" name="Slide Number Placeholder 6"/>
          <p:cNvSpPr>
            <a:spLocks noGrp="1"/>
          </p:cNvSpPr>
          <p:nvPr>
            <p:ph type="sldNum" sz="quarter" idx="5"/>
          </p:nvPr>
        </p:nvSpPr>
        <p:spPr>
          <a:xfrm>
            <a:off x="3901698" y="9516038"/>
            <a:ext cx="2984871" cy="500936"/>
          </a:xfrm>
          <a:prstGeom prst="rect">
            <a:avLst/>
          </a:prstGeom>
        </p:spPr>
        <p:txBody>
          <a:bodyPr vert="horz" lIns="96606" tIns="48303" rIns="96606" bIns="48303" rtlCol="0" anchor="b"/>
          <a:lstStyle>
            <a:lvl1pPr algn="r">
              <a:defRPr sz="13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3109100856"/>
      </p:ext>
    </p:extLst>
  </p:cSld>
  <p:clrMap bg1="lt1" tx1="dk1" bg2="lt2" tx2="dk2" accent1="accent1" accent2="accent2" accent3="accent3" accent4="accent4" accent5="accent5" accent6="accent6" hlink="hlink" folHlink="folHlink"/>
  <p:notesStyle>
    <a:lvl1pPr marL="0" algn="l" defTabSz="3038715" rtl="0" eaLnBrk="1" latinLnBrk="0" hangingPunct="1">
      <a:defRPr sz="4100" kern="1200">
        <a:solidFill>
          <a:schemeClr val="tx1"/>
        </a:solidFill>
        <a:latin typeface="+mn-lt"/>
        <a:ea typeface="+mn-ea"/>
        <a:cs typeface="+mn-cs"/>
      </a:defRPr>
    </a:lvl1pPr>
    <a:lvl2pPr marL="1519358" algn="l" defTabSz="3038715" rtl="0" eaLnBrk="1" latinLnBrk="0" hangingPunct="1">
      <a:defRPr sz="4100" kern="1200">
        <a:solidFill>
          <a:schemeClr val="tx1"/>
        </a:solidFill>
        <a:latin typeface="+mn-lt"/>
        <a:ea typeface="+mn-ea"/>
        <a:cs typeface="+mn-cs"/>
      </a:defRPr>
    </a:lvl2pPr>
    <a:lvl3pPr marL="3038715" algn="l" defTabSz="3038715" rtl="0" eaLnBrk="1" latinLnBrk="0" hangingPunct="1">
      <a:defRPr sz="4100" kern="1200">
        <a:solidFill>
          <a:schemeClr val="tx1"/>
        </a:solidFill>
        <a:latin typeface="+mn-lt"/>
        <a:ea typeface="+mn-ea"/>
        <a:cs typeface="+mn-cs"/>
      </a:defRPr>
    </a:lvl3pPr>
    <a:lvl4pPr marL="4558071" algn="l" defTabSz="3038715" rtl="0" eaLnBrk="1" latinLnBrk="0" hangingPunct="1">
      <a:defRPr sz="4100" kern="1200">
        <a:solidFill>
          <a:schemeClr val="tx1"/>
        </a:solidFill>
        <a:latin typeface="+mn-lt"/>
        <a:ea typeface="+mn-ea"/>
        <a:cs typeface="+mn-cs"/>
      </a:defRPr>
    </a:lvl4pPr>
    <a:lvl5pPr marL="6077429" algn="l" defTabSz="3038715" rtl="0" eaLnBrk="1" latinLnBrk="0" hangingPunct="1">
      <a:defRPr sz="4100" kern="1200">
        <a:solidFill>
          <a:schemeClr val="tx1"/>
        </a:solidFill>
        <a:latin typeface="+mn-lt"/>
        <a:ea typeface="+mn-ea"/>
        <a:cs typeface="+mn-cs"/>
      </a:defRPr>
    </a:lvl5pPr>
    <a:lvl6pPr marL="7596786" algn="l" defTabSz="3038715" rtl="0" eaLnBrk="1" latinLnBrk="0" hangingPunct="1">
      <a:defRPr sz="4100" kern="1200">
        <a:solidFill>
          <a:schemeClr val="tx1"/>
        </a:solidFill>
        <a:latin typeface="+mn-lt"/>
        <a:ea typeface="+mn-ea"/>
        <a:cs typeface="+mn-cs"/>
      </a:defRPr>
    </a:lvl6pPr>
    <a:lvl7pPr marL="9116145" algn="l" defTabSz="3038715" rtl="0" eaLnBrk="1" latinLnBrk="0" hangingPunct="1">
      <a:defRPr sz="4100" kern="1200">
        <a:solidFill>
          <a:schemeClr val="tx1"/>
        </a:solidFill>
        <a:latin typeface="+mn-lt"/>
        <a:ea typeface="+mn-ea"/>
        <a:cs typeface="+mn-cs"/>
      </a:defRPr>
    </a:lvl7pPr>
    <a:lvl8pPr marL="10635501" algn="l" defTabSz="3038715" rtl="0" eaLnBrk="1" latinLnBrk="0" hangingPunct="1">
      <a:defRPr sz="4100" kern="1200">
        <a:solidFill>
          <a:schemeClr val="tx1"/>
        </a:solidFill>
        <a:latin typeface="+mn-lt"/>
        <a:ea typeface="+mn-ea"/>
        <a:cs typeface="+mn-cs"/>
      </a:defRPr>
    </a:lvl8pPr>
    <a:lvl9pPr marL="12154859" algn="l" defTabSz="3038715" rtl="0" eaLnBrk="1" latinLnBrk="0" hangingPunct="1">
      <a:defRPr sz="41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6A1A87D-CAF7-4BDC-A0D3-C0DBEDE81619}" type="slidenum">
              <a:rPr lang="en-US" smtClean="0"/>
              <a:pPr/>
              <a:t>1</a:t>
            </a:fld>
            <a:endParaRPr lang="en-US" dirty="0"/>
          </a:p>
        </p:txBody>
      </p:sp>
    </p:spTree>
    <p:extLst>
      <p:ext uri="{BB962C8B-B14F-4D97-AF65-F5344CB8AC3E}">
        <p14:creationId xmlns:p14="http://schemas.microsoft.com/office/powerpoint/2010/main" val="31834620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1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40616" y="5365571"/>
            <a:ext cx="10101856"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49463" y="4842926"/>
            <a:ext cx="10093882"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49461" y="13071318"/>
            <a:ext cx="10096349"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OBJECTIVES</a:t>
            </a:r>
          </a:p>
        </p:txBody>
      </p:sp>
      <p:sp>
        <p:nvSpPr>
          <p:cNvPr id="25" name="Text Placeholder 5"/>
          <p:cNvSpPr>
            <a:spLocks noGrp="1"/>
          </p:cNvSpPr>
          <p:nvPr>
            <p:ph type="body" sz="quarter" idx="25" hasCustomPrompt="1"/>
          </p:nvPr>
        </p:nvSpPr>
        <p:spPr>
          <a:xfrm>
            <a:off x="10846594" y="4842926"/>
            <a:ext cx="10093752"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10846594" y="5365571"/>
            <a:ext cx="10093752"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10846595" y="13087287"/>
            <a:ext cx="10090978"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10842726" y="13648379"/>
            <a:ext cx="10094847"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10854419" y="23617471"/>
            <a:ext cx="10085926"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10846595" y="24192709"/>
            <a:ext cx="10090978"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40616" y="13633726"/>
            <a:ext cx="10102728"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76" name="Text Placeholder 76"/>
          <p:cNvSpPr>
            <a:spLocks noGrp="1"/>
          </p:cNvSpPr>
          <p:nvPr>
            <p:ph type="body" sz="quarter" idx="150" hasCustomPrompt="1"/>
          </p:nvPr>
        </p:nvSpPr>
        <p:spPr>
          <a:xfrm>
            <a:off x="2890078" y="3554249"/>
            <a:ext cx="15608232" cy="769233"/>
          </a:xfrm>
          <a:prstGeom prst="rect">
            <a:avLst/>
          </a:prstGeom>
        </p:spPr>
        <p:txBody>
          <a:bodyPr lIns="54681" tIns="27341" rIns="54681" bIns="27341">
            <a:normAutofit/>
          </a:bodyPr>
          <a:lstStyle>
            <a:lvl1pPr marL="0" indent="0" algn="ctr">
              <a:buFontTx/>
              <a:buNone/>
              <a:defRPr sz="4300">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affiliations</a:t>
            </a:r>
          </a:p>
        </p:txBody>
      </p:sp>
      <p:sp>
        <p:nvSpPr>
          <p:cNvPr id="79" name="Text Placeholder 76"/>
          <p:cNvSpPr>
            <a:spLocks noGrp="1"/>
          </p:cNvSpPr>
          <p:nvPr>
            <p:ph type="body" sz="quarter" idx="151" hasCustomPrompt="1"/>
          </p:nvPr>
        </p:nvSpPr>
        <p:spPr>
          <a:xfrm>
            <a:off x="2890078" y="2235565"/>
            <a:ext cx="15608232" cy="1318684"/>
          </a:xfrm>
          <a:prstGeom prst="rect">
            <a:avLst/>
          </a:prstGeom>
        </p:spPr>
        <p:txBody>
          <a:bodyPr lIns="54681" tIns="27341" rIns="54681" bIns="27341" anchor="t" anchorCtr="1">
            <a:normAutofit/>
          </a:bodyPr>
          <a:lstStyle>
            <a:lvl1pPr marL="0" indent="0" algn="ctr">
              <a:buFontTx/>
              <a:buNone/>
              <a:defRPr sz="6900">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authors</a:t>
            </a:r>
          </a:p>
        </p:txBody>
      </p:sp>
      <p:sp>
        <p:nvSpPr>
          <p:cNvPr id="80" name="Text Placeholder 76"/>
          <p:cNvSpPr>
            <a:spLocks noGrp="1"/>
          </p:cNvSpPr>
          <p:nvPr>
            <p:ph type="body" sz="quarter" idx="153" hasCustomPrompt="1"/>
          </p:nvPr>
        </p:nvSpPr>
        <p:spPr>
          <a:xfrm>
            <a:off x="2890078" y="348658"/>
            <a:ext cx="15608232" cy="1886907"/>
          </a:xfrm>
          <a:prstGeom prst="rect">
            <a:avLst/>
          </a:prstGeom>
        </p:spPr>
        <p:txBody>
          <a:bodyPr lIns="54681" tIns="27341" rIns="54681" bIns="27341" anchor="t" anchorCtr="1">
            <a:normAutofit/>
          </a:bodyPr>
          <a:lstStyle>
            <a:lvl1pPr marL="0" indent="0" algn="ctr">
              <a:buFontTx/>
              <a:buNone/>
              <a:defRPr sz="9900" b="1">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title</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 Id="rId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 name="Picture 4" descr="Text&#10;&#10;Description automatically generated">
            <a:extLst>
              <a:ext uri="{FF2B5EF4-FFF2-40B4-BE49-F238E27FC236}">
                <a16:creationId xmlns:a16="http://schemas.microsoft.com/office/drawing/2014/main" id="{C1893B17-B411-48C7-82AB-F8C444055F15}"/>
              </a:ext>
            </a:extLst>
          </p:cNvPr>
          <p:cNvPicPr>
            <a:picLocks noChangeAspect="1"/>
          </p:cNvPicPr>
          <p:nvPr userDrawn="1"/>
        </p:nvPicPr>
        <p:blipFill>
          <a:blip r:embed="rId3"/>
          <a:stretch>
            <a:fillRect/>
          </a:stretch>
        </p:blipFill>
        <p:spPr>
          <a:xfrm>
            <a:off x="8359272" y="29062412"/>
            <a:ext cx="4823328" cy="846087"/>
          </a:xfrm>
          <a:prstGeom prst="rect">
            <a:avLst/>
          </a:prstGeom>
        </p:spPr>
      </p:pic>
    </p:spTree>
  </p:cSld>
  <p:clrMap bg1="lt1" tx1="dk1" bg2="lt2" tx2="dk2" accent1="accent1" accent2="accent2" accent3="accent3" accent4="accent4" accent5="accent5" accent6="accent6" hlink="hlink" folHlink="folHlink"/>
  <p:sldLayoutIdLst>
    <p:sldLayoutId id="2147483659" r:id="rId1"/>
  </p:sldLayoutIdLst>
  <p:txStyles>
    <p:titleStyle>
      <a:lvl1pPr algn="ctr" defTabSz="3038715" rtl="0" eaLnBrk="1" latinLnBrk="0" hangingPunct="1">
        <a:spcBef>
          <a:spcPct val="0"/>
        </a:spcBef>
        <a:buNone/>
        <a:defRPr sz="6000" kern="1200">
          <a:solidFill>
            <a:schemeClr val="bg1"/>
          </a:solidFill>
          <a:latin typeface="Trebuchet MS" pitchFamily="34" charset="0"/>
          <a:ea typeface="+mj-ea"/>
          <a:cs typeface="+mj-cs"/>
        </a:defRPr>
      </a:lvl1pPr>
    </p:titleStyle>
    <p:bodyStyle>
      <a:lvl1pPr marL="1139518" indent="-1139518" algn="l" defTabSz="3038715" rtl="0" eaLnBrk="1" latinLnBrk="0" hangingPunct="1">
        <a:spcBef>
          <a:spcPct val="20000"/>
        </a:spcBef>
        <a:buFont typeface="Arial" pitchFamily="34" charset="0"/>
        <a:buChar char="•"/>
        <a:defRPr sz="10600" kern="1200">
          <a:solidFill>
            <a:schemeClr val="tx1"/>
          </a:solidFill>
          <a:latin typeface="+mn-lt"/>
          <a:ea typeface="+mn-ea"/>
          <a:cs typeface="+mn-cs"/>
        </a:defRPr>
      </a:lvl1pPr>
      <a:lvl2pPr marL="2468955" indent="-949598" algn="l" defTabSz="3038715" rtl="0" eaLnBrk="1" latinLnBrk="0" hangingPunct="1">
        <a:spcBef>
          <a:spcPct val="20000"/>
        </a:spcBef>
        <a:buFont typeface="Arial" pitchFamily="34" charset="0"/>
        <a:buChar char="–"/>
        <a:defRPr sz="9400" kern="1200">
          <a:solidFill>
            <a:schemeClr val="tx1"/>
          </a:solidFill>
          <a:latin typeface="+mn-lt"/>
          <a:ea typeface="+mn-ea"/>
          <a:cs typeface="+mn-cs"/>
        </a:defRPr>
      </a:lvl2pPr>
      <a:lvl3pPr marL="3798394" indent="-759679" algn="l" defTabSz="3038715" rtl="0" eaLnBrk="1" latinLnBrk="0" hangingPunct="1">
        <a:spcBef>
          <a:spcPct val="20000"/>
        </a:spcBef>
        <a:buFont typeface="Arial" pitchFamily="34" charset="0"/>
        <a:buChar char="•"/>
        <a:defRPr sz="8000" kern="1200">
          <a:solidFill>
            <a:schemeClr val="tx1"/>
          </a:solidFill>
          <a:latin typeface="+mn-lt"/>
          <a:ea typeface="+mn-ea"/>
          <a:cs typeface="+mn-cs"/>
        </a:defRPr>
      </a:lvl3pPr>
      <a:lvl4pPr marL="531775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4pPr>
      <a:lvl5pPr marL="683710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5pPr>
      <a:lvl6pPr marL="8356465"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6pPr>
      <a:lvl7pPr marL="987582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7pPr>
      <a:lvl8pPr marL="11395179"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8pPr>
      <a:lvl9pPr marL="1291453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9pPr>
    </p:bodyStyle>
    <p:otherStyle>
      <a:defPPr>
        <a:defRPr lang="en-US"/>
      </a:defPPr>
      <a:lvl1pPr marL="0" algn="l" defTabSz="3038715" rtl="0" eaLnBrk="1" latinLnBrk="0" hangingPunct="1">
        <a:defRPr sz="6000" kern="1200">
          <a:solidFill>
            <a:schemeClr val="tx1"/>
          </a:solidFill>
          <a:latin typeface="+mn-lt"/>
          <a:ea typeface="+mn-ea"/>
          <a:cs typeface="+mn-cs"/>
        </a:defRPr>
      </a:lvl1pPr>
      <a:lvl2pPr marL="1519358" algn="l" defTabSz="3038715" rtl="0" eaLnBrk="1" latinLnBrk="0" hangingPunct="1">
        <a:defRPr sz="6000" kern="1200">
          <a:solidFill>
            <a:schemeClr val="tx1"/>
          </a:solidFill>
          <a:latin typeface="+mn-lt"/>
          <a:ea typeface="+mn-ea"/>
          <a:cs typeface="+mn-cs"/>
        </a:defRPr>
      </a:lvl2pPr>
      <a:lvl3pPr marL="3038715" algn="l" defTabSz="3038715" rtl="0" eaLnBrk="1" latinLnBrk="0" hangingPunct="1">
        <a:defRPr sz="6000" kern="1200">
          <a:solidFill>
            <a:schemeClr val="tx1"/>
          </a:solidFill>
          <a:latin typeface="+mn-lt"/>
          <a:ea typeface="+mn-ea"/>
          <a:cs typeface="+mn-cs"/>
        </a:defRPr>
      </a:lvl3pPr>
      <a:lvl4pPr marL="4558071" algn="l" defTabSz="3038715" rtl="0" eaLnBrk="1" latinLnBrk="0" hangingPunct="1">
        <a:defRPr sz="6000" kern="1200">
          <a:solidFill>
            <a:schemeClr val="tx1"/>
          </a:solidFill>
          <a:latin typeface="+mn-lt"/>
          <a:ea typeface="+mn-ea"/>
          <a:cs typeface="+mn-cs"/>
        </a:defRPr>
      </a:lvl4pPr>
      <a:lvl5pPr marL="6077429" algn="l" defTabSz="3038715" rtl="0" eaLnBrk="1" latinLnBrk="0" hangingPunct="1">
        <a:defRPr sz="6000" kern="1200">
          <a:solidFill>
            <a:schemeClr val="tx1"/>
          </a:solidFill>
          <a:latin typeface="+mn-lt"/>
          <a:ea typeface="+mn-ea"/>
          <a:cs typeface="+mn-cs"/>
        </a:defRPr>
      </a:lvl5pPr>
      <a:lvl6pPr marL="7596786" algn="l" defTabSz="3038715" rtl="0" eaLnBrk="1" latinLnBrk="0" hangingPunct="1">
        <a:defRPr sz="6000" kern="1200">
          <a:solidFill>
            <a:schemeClr val="tx1"/>
          </a:solidFill>
          <a:latin typeface="+mn-lt"/>
          <a:ea typeface="+mn-ea"/>
          <a:cs typeface="+mn-cs"/>
        </a:defRPr>
      </a:lvl6pPr>
      <a:lvl7pPr marL="9116145" algn="l" defTabSz="3038715" rtl="0" eaLnBrk="1" latinLnBrk="0" hangingPunct="1">
        <a:defRPr sz="6000" kern="1200">
          <a:solidFill>
            <a:schemeClr val="tx1"/>
          </a:solidFill>
          <a:latin typeface="+mn-lt"/>
          <a:ea typeface="+mn-ea"/>
          <a:cs typeface="+mn-cs"/>
        </a:defRPr>
      </a:lvl7pPr>
      <a:lvl8pPr marL="10635501" algn="l" defTabSz="3038715" rtl="0" eaLnBrk="1" latinLnBrk="0" hangingPunct="1">
        <a:defRPr sz="6000" kern="1200">
          <a:solidFill>
            <a:schemeClr val="tx1"/>
          </a:solidFill>
          <a:latin typeface="+mn-lt"/>
          <a:ea typeface="+mn-ea"/>
          <a:cs typeface="+mn-cs"/>
        </a:defRPr>
      </a:lvl8pPr>
      <a:lvl9pPr marL="12154859" algn="l" defTabSz="3038715" rtl="0" eaLnBrk="1" latinLnBrk="0" hangingPunct="1">
        <a:defRPr sz="6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chart" Target="../charts/chart1.xml"/><Relationship Id="rId11" Type="http://schemas.openxmlformats.org/officeDocument/2006/relationships/chart" Target="../charts/chart2.xml"/><Relationship Id="rId12" Type="http://schemas.openxmlformats.org/officeDocument/2006/relationships/chart" Target="../charts/chart3.xml"/><Relationship Id="rId13" Type="http://schemas.openxmlformats.org/officeDocument/2006/relationships/image" Target="../media/image9.png"/><Relationship Id="rId1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Header"/>
          <p:cNvSpPr/>
          <p:nvPr/>
        </p:nvSpPr>
        <p:spPr>
          <a:xfrm>
            <a:off x="0" y="0"/>
            <a:ext cx="21387600" cy="4104000"/>
          </a:xfrm>
          <a:prstGeom prst="rect">
            <a:avLst/>
          </a:prstGeom>
          <a:solidFill>
            <a:srgbClr val="13294B"/>
          </a:solidFill>
          <a:ln>
            <a:noFill/>
          </a:ln>
        </p:spPr>
        <p:txBody>
          <a:bodyPr rtlCol="0" anchor="ctr" lIns="54000" rIns="54000" tIns="54000" bIns="54000"/>
          <a:lstStyle/>
          <a:p>
            <a:pPr algn="ctr"/>
          </a:p>
        </p:txBody>
      </p:sp>
      <p:sp>
        <p:nvSpPr>
          <p:cNvPr id="13" name="텍스트 개체 틀 12"/>
          <p:cNvSpPr>
            <a:spLocks noGrp="1"/>
          </p:cNvSpPr>
          <p:nvPr>
            <p:ph type="body" sz="quarter" idx="150"/>
          </p:nvPr>
        </p:nvSpPr>
        <p:spPr>
          <a:xfrm>
            <a:off x="576000" y="2988000"/>
            <a:ext cx="15480000" cy="792000"/>
          </a:xfrm>
        </p:spPr>
        <p:txBody>
          <a:bodyPr wrap="square" lIns="0" rIns="0" tIns="0" bIns="0" anchor="ctr">
            <a:noAutofit/>
          </a:bodyPr>
          <a:lstStyle/>
          <a:p>
            <a:pPr algn="l" marL="0" indent="0">
              <a:lnSpc>
                <a:spcPts val="4079"/>
              </a:lnSpc>
              <a:spcBef>
                <a:spcPts val="0"/>
              </a:spcBef>
              <a:spcAft>
                <a:spcPts val="0"/>
              </a:spcAft>
              <a:buNone/>
            </a:pPr>
            <a:r>
              <a:rPr sz="3400" b="1" i="0" lang="ko-KR">
                <a:solidFill>
                  <a:srgbClr val="FFFFFF"/>
                </a:solidFill>
                <a:latin typeface="맑은 고딕"/>
                <a:ea typeface="맑은 고딕"/>
                <a:cs typeface="맑은 고딕"/>
              </a:rPr>
              <a:t>이형규</a:t>
            </a:r>
            <a:r>
              <a:rPr sz="2600" b="0" i="0" lang="ko-KR">
                <a:solidFill>
                  <a:srgbClr val="DCE3EE"/>
                </a:solidFill>
                <a:latin typeface="맑은 고딕"/>
                <a:ea typeface="맑은 고딕"/>
                <a:cs typeface="맑은 고딕"/>
              </a:rPr>
              <a:t>   한양대학교 기술경영학과</a:t>
            </a:r>
            <a:endParaRPr lang="ko-KR" altLang="en-US"/>
          </a:p>
        </p:txBody>
      </p:sp>
      <p:sp>
        <p:nvSpPr>
          <p:cNvPr id="14" name="텍스트 개체 틀 13"/>
          <p:cNvSpPr>
            <a:spLocks noGrp="1"/>
          </p:cNvSpPr>
          <p:nvPr>
            <p:ph type="body" sz="quarter" idx="151"/>
          </p:nvPr>
        </p:nvSpPr>
        <p:spPr>
          <a:xfrm>
            <a:off x="576000" y="2430000"/>
            <a:ext cx="15480000" cy="432000"/>
          </a:xfrm>
        </p:spPr>
        <p:txBody>
          <a:bodyPr wrap="square" lIns="0" rIns="0" tIns="0" bIns="0" anchor="t">
            <a:noAutofit/>
          </a:bodyPr>
          <a:lstStyle/>
          <a:p>
            <a:pPr algn="l" marL="0" indent="0">
              <a:lnSpc>
                <a:spcPts val="2280"/>
              </a:lnSpc>
              <a:spcBef>
                <a:spcPts val="0"/>
              </a:spcBef>
              <a:spcAft>
                <a:spcPts val="0"/>
              </a:spcAft>
              <a:buNone/>
            </a:pPr>
            <a:r>
              <a:rPr sz="1900" b="0" i="0" lang="ko-KR">
                <a:solidFill>
                  <a:srgbClr val="B9C6DD"/>
                </a:solidFill>
                <a:latin typeface="맑은 고딕"/>
                <a:ea typeface="맑은 고딕"/>
                <a:cs typeface="맑은 고딕"/>
              </a:rPr>
              <a:t>A Dynamic Analysis of Cross-Stage Technological Convergence through Semiconductor Hybrid Bonding Patents</a:t>
            </a:r>
            <a:endParaRPr lang="ko-KR" altLang="en-US" dirty="0"/>
          </a:p>
        </p:txBody>
      </p:sp>
      <p:sp>
        <p:nvSpPr>
          <p:cNvPr id="15" name="텍스트 개체 틀 14"/>
          <p:cNvSpPr>
            <a:spLocks noGrp="1"/>
          </p:cNvSpPr>
          <p:nvPr>
            <p:ph type="body" sz="quarter" idx="153"/>
          </p:nvPr>
        </p:nvSpPr>
        <p:spPr>
          <a:xfrm>
            <a:off x="576000" y="324000"/>
            <a:ext cx="15480000" cy="2016000"/>
          </a:xfrm>
        </p:spPr>
        <p:txBody>
          <a:bodyPr wrap="square" lIns="0" rIns="0" tIns="0" bIns="0" anchor="t">
            <a:noAutofit/>
          </a:bodyPr>
          <a:lstStyle/>
          <a:p>
            <a:pPr algn="l" marL="0" indent="0">
              <a:lnSpc>
                <a:spcPts val="6400"/>
              </a:lnSpc>
              <a:spcBef>
                <a:spcPts val="0"/>
              </a:spcBef>
              <a:spcAft>
                <a:spcPts val="0"/>
              </a:spcAft>
              <a:buNone/>
            </a:pPr>
            <a:r>
              <a:rPr sz="5800" b="1" i="0" lang="ko-KR">
                <a:solidFill>
                  <a:srgbClr val="FFFFFF"/>
                </a:solidFill>
                <a:latin typeface="맑은 고딕"/>
                <a:ea typeface="맑은 고딕"/>
                <a:cs typeface="맑은 고딕"/>
              </a:rPr>
              <a:t>반도체 하이브리드 본딩 특허를 통한</a:t>
            </a:r>
            <a:endParaRPr lang="ko-KR" altLang="en-US" dirty="0"/>
          </a:p>
          <a:p>
            <a:pPr algn="l" marL="0" indent="0">
              <a:lnSpc>
                <a:spcPts val="6400"/>
              </a:lnSpc>
              <a:spcBef>
                <a:spcPts val="0"/>
              </a:spcBef>
              <a:spcAft>
                <a:spcPts val="0"/>
              </a:spcAft>
              <a:buNone/>
            </a:pPr>
            <a:r>
              <a:rPr sz="5800" b="1" i="0" lang="ko-KR">
                <a:solidFill>
                  <a:srgbClr val="FFC000"/>
                </a:solidFill>
                <a:latin typeface="맑은 고딕"/>
                <a:ea typeface="맑은 고딕"/>
                <a:cs typeface="맑은 고딕"/>
              </a:rPr>
              <a:t>공정 단계 간 기술융합</a:t>
            </a:r>
            <a:r>
              <a:rPr sz="5800" b="1" i="0" lang="ko-KR">
                <a:solidFill>
                  <a:srgbClr val="FFFFFF"/>
                </a:solidFill>
                <a:latin typeface="맑은 고딕"/>
                <a:ea typeface="맑은 고딕"/>
                <a:cs typeface="맑은 고딕"/>
              </a:rPr>
              <a:t>의 동태적 분석</a:t>
            </a:r>
          </a:p>
        </p:txBody>
      </p:sp>
      <p:sp>
        <p:nvSpPr>
          <p:cNvPr id="17" name="Rectangle 16"/>
          <p:cNvSpPr/>
          <p:nvPr/>
        </p:nvSpPr>
        <p:spPr>
          <a:xfrm>
            <a:off x="16632000" y="1440000"/>
            <a:ext cx="3960000" cy="342000"/>
          </a:xfrm>
          <a:prstGeom prst="rect">
            <a:avLst/>
          </a:prstGeom>
          <a:solidFill>
            <a:srgbClr val="8FA6CC"/>
          </a:solidFill>
          <a:ln>
            <a:noFill/>
          </a:ln>
        </p:spPr>
        <p:txBody>
          <a:bodyPr rtlCol="0" anchor="ctr" lIns="54000" rIns="54000" tIns="54000" bIns="54000"/>
          <a:lstStyle/>
          <a:p>
            <a:pPr algn="ctr"/>
          </a:p>
        </p:txBody>
      </p:sp>
      <p:sp>
        <p:nvSpPr>
          <p:cNvPr id="18" name="Rectangle 17"/>
          <p:cNvSpPr/>
          <p:nvPr/>
        </p:nvSpPr>
        <p:spPr>
          <a:xfrm>
            <a:off x="16632000" y="1782000"/>
            <a:ext cx="3960000" cy="115200"/>
          </a:xfrm>
          <a:prstGeom prst="rect">
            <a:avLst/>
          </a:prstGeom>
          <a:solidFill>
            <a:srgbClr val="BFE3E6"/>
          </a:solidFill>
          <a:ln>
            <a:noFill/>
          </a:ln>
        </p:spPr>
        <p:txBody>
          <a:bodyPr rtlCol="0" anchor="ctr" lIns="54000" rIns="54000" tIns="54000" bIns="54000"/>
          <a:lstStyle/>
          <a:p>
            <a:pPr algn="ctr"/>
          </a:p>
        </p:txBody>
      </p:sp>
      <p:sp>
        <p:nvSpPr>
          <p:cNvPr id="19" name="Rectangle 18"/>
          <p:cNvSpPr/>
          <p:nvPr/>
        </p:nvSpPr>
        <p:spPr>
          <a:xfrm>
            <a:off x="16776000" y="1782000"/>
            <a:ext cx="198000" cy="115200"/>
          </a:xfrm>
          <a:prstGeom prst="rect">
            <a:avLst/>
          </a:prstGeom>
          <a:solidFill>
            <a:srgbClr val="EA7A28"/>
          </a:solidFill>
          <a:ln>
            <a:noFill/>
          </a:ln>
        </p:spPr>
        <p:txBody>
          <a:bodyPr rtlCol="0" anchor="ctr" lIns="54000" rIns="54000" tIns="54000" bIns="54000"/>
          <a:lstStyle/>
          <a:p>
            <a:pPr algn="ctr"/>
          </a:p>
        </p:txBody>
      </p:sp>
      <p:sp>
        <p:nvSpPr>
          <p:cNvPr id="20" name="Rectangle 19"/>
          <p:cNvSpPr/>
          <p:nvPr/>
        </p:nvSpPr>
        <p:spPr>
          <a:xfrm>
            <a:off x="17210250" y="1782000"/>
            <a:ext cx="198000" cy="115200"/>
          </a:xfrm>
          <a:prstGeom prst="rect">
            <a:avLst/>
          </a:prstGeom>
          <a:solidFill>
            <a:srgbClr val="EA7A28"/>
          </a:solidFill>
          <a:ln>
            <a:noFill/>
          </a:ln>
        </p:spPr>
        <p:txBody>
          <a:bodyPr rtlCol="0" anchor="ctr" lIns="54000" rIns="54000" tIns="54000" bIns="54000"/>
          <a:lstStyle/>
          <a:p>
            <a:pPr algn="ctr"/>
          </a:p>
        </p:txBody>
      </p:sp>
      <p:sp>
        <p:nvSpPr>
          <p:cNvPr id="21" name="Rectangle 20"/>
          <p:cNvSpPr/>
          <p:nvPr/>
        </p:nvSpPr>
        <p:spPr>
          <a:xfrm>
            <a:off x="17644500" y="1782000"/>
            <a:ext cx="198000" cy="115200"/>
          </a:xfrm>
          <a:prstGeom prst="rect">
            <a:avLst/>
          </a:prstGeom>
          <a:solidFill>
            <a:srgbClr val="EA7A28"/>
          </a:solidFill>
          <a:ln>
            <a:noFill/>
          </a:ln>
        </p:spPr>
        <p:txBody>
          <a:bodyPr rtlCol="0" anchor="ctr" lIns="54000" rIns="54000" tIns="54000" bIns="54000"/>
          <a:lstStyle/>
          <a:p>
            <a:pPr algn="ctr"/>
          </a:p>
        </p:txBody>
      </p:sp>
      <p:sp>
        <p:nvSpPr>
          <p:cNvPr id="22" name="Rectangle 21"/>
          <p:cNvSpPr/>
          <p:nvPr/>
        </p:nvSpPr>
        <p:spPr>
          <a:xfrm>
            <a:off x="18078750" y="1782000"/>
            <a:ext cx="198000" cy="115200"/>
          </a:xfrm>
          <a:prstGeom prst="rect">
            <a:avLst/>
          </a:prstGeom>
          <a:solidFill>
            <a:srgbClr val="EA7A28"/>
          </a:solidFill>
          <a:ln>
            <a:noFill/>
          </a:ln>
        </p:spPr>
        <p:txBody>
          <a:bodyPr rtlCol="0" anchor="ctr" lIns="54000" rIns="54000" tIns="54000" bIns="54000"/>
          <a:lstStyle/>
          <a:p>
            <a:pPr algn="ctr"/>
          </a:p>
        </p:txBody>
      </p:sp>
      <p:sp>
        <p:nvSpPr>
          <p:cNvPr id="23" name="Rectangle 22"/>
          <p:cNvSpPr/>
          <p:nvPr/>
        </p:nvSpPr>
        <p:spPr>
          <a:xfrm>
            <a:off x="18513000" y="1782000"/>
            <a:ext cx="198000" cy="115200"/>
          </a:xfrm>
          <a:prstGeom prst="rect">
            <a:avLst/>
          </a:prstGeom>
          <a:solidFill>
            <a:srgbClr val="EA7A28"/>
          </a:solidFill>
          <a:ln>
            <a:noFill/>
          </a:ln>
        </p:spPr>
        <p:txBody>
          <a:bodyPr rtlCol="0" anchor="ctr" lIns="54000" rIns="54000" tIns="54000" bIns="54000"/>
          <a:lstStyle/>
          <a:p>
            <a:pPr algn="ctr"/>
          </a:p>
        </p:txBody>
      </p:sp>
      <p:sp>
        <p:nvSpPr>
          <p:cNvPr id="24" name="Rectangle 23"/>
          <p:cNvSpPr/>
          <p:nvPr/>
        </p:nvSpPr>
        <p:spPr>
          <a:xfrm>
            <a:off x="18947250" y="1782000"/>
            <a:ext cx="198000" cy="115200"/>
          </a:xfrm>
          <a:prstGeom prst="rect">
            <a:avLst/>
          </a:prstGeom>
          <a:solidFill>
            <a:srgbClr val="EA7A28"/>
          </a:solidFill>
          <a:ln>
            <a:noFill/>
          </a:ln>
        </p:spPr>
        <p:txBody>
          <a:bodyPr rtlCol="0" anchor="ctr" lIns="54000" rIns="54000" tIns="54000" bIns="54000"/>
          <a:lstStyle/>
          <a:p>
            <a:pPr algn="ctr"/>
          </a:p>
        </p:txBody>
      </p:sp>
      <p:sp>
        <p:nvSpPr>
          <p:cNvPr id="25" name="Rectangle 24"/>
          <p:cNvSpPr/>
          <p:nvPr/>
        </p:nvSpPr>
        <p:spPr>
          <a:xfrm>
            <a:off x="19381500" y="1782000"/>
            <a:ext cx="198000" cy="115200"/>
          </a:xfrm>
          <a:prstGeom prst="rect">
            <a:avLst/>
          </a:prstGeom>
          <a:solidFill>
            <a:srgbClr val="EA7A28"/>
          </a:solidFill>
          <a:ln>
            <a:noFill/>
          </a:ln>
        </p:spPr>
        <p:txBody>
          <a:bodyPr rtlCol="0" anchor="ctr" lIns="54000" rIns="54000" tIns="54000" bIns="54000"/>
          <a:lstStyle/>
          <a:p>
            <a:pPr algn="ctr"/>
          </a:p>
        </p:txBody>
      </p:sp>
      <p:sp>
        <p:nvSpPr>
          <p:cNvPr id="26" name="Rectangle 25"/>
          <p:cNvSpPr/>
          <p:nvPr/>
        </p:nvSpPr>
        <p:spPr>
          <a:xfrm>
            <a:off x="19815750" y="1782000"/>
            <a:ext cx="198000" cy="115200"/>
          </a:xfrm>
          <a:prstGeom prst="rect">
            <a:avLst/>
          </a:prstGeom>
          <a:solidFill>
            <a:srgbClr val="EA7A28"/>
          </a:solidFill>
          <a:ln>
            <a:noFill/>
          </a:ln>
        </p:spPr>
        <p:txBody>
          <a:bodyPr rtlCol="0" anchor="ctr" lIns="54000" rIns="54000" tIns="54000" bIns="54000"/>
          <a:lstStyle/>
          <a:p>
            <a:pPr algn="ctr"/>
          </a:p>
        </p:txBody>
      </p:sp>
      <p:sp>
        <p:nvSpPr>
          <p:cNvPr id="27" name="Rectangle 26"/>
          <p:cNvSpPr/>
          <p:nvPr/>
        </p:nvSpPr>
        <p:spPr>
          <a:xfrm>
            <a:off x="20250000" y="1782000"/>
            <a:ext cx="198000" cy="115200"/>
          </a:xfrm>
          <a:prstGeom prst="rect">
            <a:avLst/>
          </a:prstGeom>
          <a:solidFill>
            <a:srgbClr val="EA7A28"/>
          </a:solidFill>
          <a:ln>
            <a:noFill/>
          </a:ln>
        </p:spPr>
        <p:txBody>
          <a:bodyPr rtlCol="0" anchor="ctr" lIns="54000" rIns="54000" tIns="54000" bIns="54000"/>
          <a:lstStyle/>
          <a:p>
            <a:pPr algn="ctr"/>
          </a:p>
        </p:txBody>
      </p:sp>
      <p:sp>
        <p:nvSpPr>
          <p:cNvPr id="28" name="Rectangle 27"/>
          <p:cNvSpPr/>
          <p:nvPr/>
        </p:nvSpPr>
        <p:spPr>
          <a:xfrm>
            <a:off x="16632000" y="1897200"/>
            <a:ext cx="3960000" cy="342000"/>
          </a:xfrm>
          <a:prstGeom prst="rect">
            <a:avLst/>
          </a:prstGeom>
          <a:solidFill>
            <a:srgbClr val="7D96BF"/>
          </a:solidFill>
          <a:ln>
            <a:noFill/>
          </a:ln>
        </p:spPr>
        <p:txBody>
          <a:bodyPr rtlCol="0" anchor="ctr" lIns="54000" rIns="54000" tIns="54000" bIns="54000"/>
          <a:lstStyle/>
          <a:p>
            <a:pPr algn="ctr"/>
          </a:p>
        </p:txBody>
      </p:sp>
      <p:sp>
        <p:nvSpPr>
          <p:cNvPr id="29" name="Rectangle 28"/>
          <p:cNvSpPr/>
          <p:nvPr/>
        </p:nvSpPr>
        <p:spPr>
          <a:xfrm>
            <a:off x="16632000" y="2239200"/>
            <a:ext cx="3960000" cy="115200"/>
          </a:xfrm>
          <a:prstGeom prst="rect">
            <a:avLst/>
          </a:prstGeom>
          <a:solidFill>
            <a:srgbClr val="BFE3E6"/>
          </a:solidFill>
          <a:ln>
            <a:noFill/>
          </a:ln>
        </p:spPr>
        <p:txBody>
          <a:bodyPr rtlCol="0" anchor="ctr" lIns="54000" rIns="54000" tIns="54000" bIns="54000"/>
          <a:lstStyle/>
          <a:p>
            <a:pPr algn="ctr"/>
          </a:p>
        </p:txBody>
      </p:sp>
      <p:sp>
        <p:nvSpPr>
          <p:cNvPr id="30" name="Rectangle 29"/>
          <p:cNvSpPr/>
          <p:nvPr/>
        </p:nvSpPr>
        <p:spPr>
          <a:xfrm>
            <a:off x="16776000" y="2239200"/>
            <a:ext cx="198000" cy="115200"/>
          </a:xfrm>
          <a:prstGeom prst="rect">
            <a:avLst/>
          </a:prstGeom>
          <a:solidFill>
            <a:srgbClr val="EA7A28"/>
          </a:solidFill>
          <a:ln>
            <a:noFill/>
          </a:ln>
        </p:spPr>
        <p:txBody>
          <a:bodyPr rtlCol="0" anchor="ctr" lIns="54000" rIns="54000" tIns="54000" bIns="54000"/>
          <a:lstStyle/>
          <a:p>
            <a:pPr algn="ctr"/>
          </a:p>
        </p:txBody>
      </p:sp>
      <p:sp>
        <p:nvSpPr>
          <p:cNvPr id="31" name="Rectangle 30"/>
          <p:cNvSpPr/>
          <p:nvPr/>
        </p:nvSpPr>
        <p:spPr>
          <a:xfrm>
            <a:off x="17210250" y="2239200"/>
            <a:ext cx="198000" cy="115200"/>
          </a:xfrm>
          <a:prstGeom prst="rect">
            <a:avLst/>
          </a:prstGeom>
          <a:solidFill>
            <a:srgbClr val="EA7A28"/>
          </a:solidFill>
          <a:ln>
            <a:noFill/>
          </a:ln>
        </p:spPr>
        <p:txBody>
          <a:bodyPr rtlCol="0" anchor="ctr" lIns="54000" rIns="54000" tIns="54000" bIns="54000"/>
          <a:lstStyle/>
          <a:p>
            <a:pPr algn="ctr"/>
          </a:p>
        </p:txBody>
      </p:sp>
      <p:sp>
        <p:nvSpPr>
          <p:cNvPr id="32" name="Rectangle 31"/>
          <p:cNvSpPr/>
          <p:nvPr/>
        </p:nvSpPr>
        <p:spPr>
          <a:xfrm>
            <a:off x="17644500" y="2239200"/>
            <a:ext cx="198000" cy="115200"/>
          </a:xfrm>
          <a:prstGeom prst="rect">
            <a:avLst/>
          </a:prstGeom>
          <a:solidFill>
            <a:srgbClr val="EA7A28"/>
          </a:solidFill>
          <a:ln>
            <a:noFill/>
          </a:ln>
        </p:spPr>
        <p:txBody>
          <a:bodyPr rtlCol="0" anchor="ctr" lIns="54000" rIns="54000" tIns="54000" bIns="54000"/>
          <a:lstStyle/>
          <a:p>
            <a:pPr algn="ctr"/>
          </a:p>
        </p:txBody>
      </p:sp>
      <p:sp>
        <p:nvSpPr>
          <p:cNvPr id="33" name="Rectangle 32"/>
          <p:cNvSpPr/>
          <p:nvPr/>
        </p:nvSpPr>
        <p:spPr>
          <a:xfrm>
            <a:off x="18078750" y="2239200"/>
            <a:ext cx="198000" cy="115200"/>
          </a:xfrm>
          <a:prstGeom prst="rect">
            <a:avLst/>
          </a:prstGeom>
          <a:solidFill>
            <a:srgbClr val="EA7A28"/>
          </a:solidFill>
          <a:ln>
            <a:noFill/>
          </a:ln>
        </p:spPr>
        <p:txBody>
          <a:bodyPr rtlCol="0" anchor="ctr" lIns="54000" rIns="54000" tIns="54000" bIns="54000"/>
          <a:lstStyle/>
          <a:p>
            <a:pPr algn="ctr"/>
          </a:p>
        </p:txBody>
      </p:sp>
      <p:sp>
        <p:nvSpPr>
          <p:cNvPr id="34" name="Rectangle 33"/>
          <p:cNvSpPr/>
          <p:nvPr/>
        </p:nvSpPr>
        <p:spPr>
          <a:xfrm>
            <a:off x="18513000" y="2239200"/>
            <a:ext cx="198000" cy="115200"/>
          </a:xfrm>
          <a:prstGeom prst="rect">
            <a:avLst/>
          </a:prstGeom>
          <a:solidFill>
            <a:srgbClr val="EA7A28"/>
          </a:solidFill>
          <a:ln>
            <a:noFill/>
          </a:ln>
        </p:spPr>
        <p:txBody>
          <a:bodyPr rtlCol="0" anchor="ctr" lIns="54000" rIns="54000" tIns="54000" bIns="54000"/>
          <a:lstStyle/>
          <a:p>
            <a:pPr algn="ctr"/>
          </a:p>
        </p:txBody>
      </p:sp>
      <p:sp>
        <p:nvSpPr>
          <p:cNvPr id="35" name="Rectangle 34"/>
          <p:cNvSpPr/>
          <p:nvPr/>
        </p:nvSpPr>
        <p:spPr>
          <a:xfrm>
            <a:off x="18947250" y="2239200"/>
            <a:ext cx="198000" cy="115200"/>
          </a:xfrm>
          <a:prstGeom prst="rect">
            <a:avLst/>
          </a:prstGeom>
          <a:solidFill>
            <a:srgbClr val="EA7A28"/>
          </a:solidFill>
          <a:ln>
            <a:noFill/>
          </a:ln>
        </p:spPr>
        <p:txBody>
          <a:bodyPr rtlCol="0" anchor="ctr" lIns="54000" rIns="54000" tIns="54000" bIns="54000"/>
          <a:lstStyle/>
          <a:p>
            <a:pPr algn="ctr"/>
          </a:p>
        </p:txBody>
      </p:sp>
      <p:sp>
        <p:nvSpPr>
          <p:cNvPr id="36" name="Rectangle 35"/>
          <p:cNvSpPr/>
          <p:nvPr/>
        </p:nvSpPr>
        <p:spPr>
          <a:xfrm>
            <a:off x="19381500" y="2239200"/>
            <a:ext cx="198000" cy="115200"/>
          </a:xfrm>
          <a:prstGeom prst="rect">
            <a:avLst/>
          </a:prstGeom>
          <a:solidFill>
            <a:srgbClr val="EA7A28"/>
          </a:solidFill>
          <a:ln>
            <a:noFill/>
          </a:ln>
        </p:spPr>
        <p:txBody>
          <a:bodyPr rtlCol="0" anchor="ctr" lIns="54000" rIns="54000" tIns="54000" bIns="54000"/>
          <a:lstStyle/>
          <a:p>
            <a:pPr algn="ctr"/>
          </a:p>
        </p:txBody>
      </p:sp>
      <p:sp>
        <p:nvSpPr>
          <p:cNvPr id="37" name="Rectangle 36"/>
          <p:cNvSpPr/>
          <p:nvPr/>
        </p:nvSpPr>
        <p:spPr>
          <a:xfrm>
            <a:off x="19815750" y="2239200"/>
            <a:ext cx="198000" cy="115200"/>
          </a:xfrm>
          <a:prstGeom prst="rect">
            <a:avLst/>
          </a:prstGeom>
          <a:solidFill>
            <a:srgbClr val="EA7A28"/>
          </a:solidFill>
          <a:ln>
            <a:noFill/>
          </a:ln>
        </p:spPr>
        <p:txBody>
          <a:bodyPr rtlCol="0" anchor="ctr" lIns="54000" rIns="54000" tIns="54000" bIns="54000"/>
          <a:lstStyle/>
          <a:p>
            <a:pPr algn="ctr"/>
          </a:p>
        </p:txBody>
      </p:sp>
      <p:sp>
        <p:nvSpPr>
          <p:cNvPr id="38" name="Rectangle 37"/>
          <p:cNvSpPr/>
          <p:nvPr/>
        </p:nvSpPr>
        <p:spPr>
          <a:xfrm>
            <a:off x="20250000" y="2239200"/>
            <a:ext cx="198000" cy="115200"/>
          </a:xfrm>
          <a:prstGeom prst="rect">
            <a:avLst/>
          </a:prstGeom>
          <a:solidFill>
            <a:srgbClr val="EA7A28"/>
          </a:solidFill>
          <a:ln>
            <a:noFill/>
          </a:ln>
        </p:spPr>
        <p:txBody>
          <a:bodyPr rtlCol="0" anchor="ctr" lIns="54000" rIns="54000" tIns="54000" bIns="54000"/>
          <a:lstStyle/>
          <a:p>
            <a:pPr algn="ctr"/>
          </a:p>
        </p:txBody>
      </p:sp>
      <p:sp>
        <p:nvSpPr>
          <p:cNvPr id="39" name="Rectangle 38"/>
          <p:cNvSpPr/>
          <p:nvPr/>
        </p:nvSpPr>
        <p:spPr>
          <a:xfrm>
            <a:off x="16632000" y="2354400"/>
            <a:ext cx="3960000" cy="342000"/>
          </a:xfrm>
          <a:prstGeom prst="rect">
            <a:avLst/>
          </a:prstGeom>
          <a:solidFill>
            <a:srgbClr val="6B86B2"/>
          </a:solidFill>
          <a:ln>
            <a:noFill/>
          </a:ln>
        </p:spPr>
        <p:txBody>
          <a:bodyPr rtlCol="0" anchor="ctr" lIns="54000" rIns="54000" tIns="54000" bIns="54000"/>
          <a:lstStyle/>
          <a:p>
            <a:pPr algn="ctr"/>
          </a:p>
        </p:txBody>
      </p:sp>
      <p:sp>
        <p:nvSpPr>
          <p:cNvPr id="40" name="Rectangle 39"/>
          <p:cNvSpPr/>
          <p:nvPr/>
        </p:nvSpPr>
        <p:spPr>
          <a:xfrm>
            <a:off x="16632000" y="2696400"/>
            <a:ext cx="3960000" cy="115200"/>
          </a:xfrm>
          <a:prstGeom prst="rect">
            <a:avLst/>
          </a:prstGeom>
          <a:solidFill>
            <a:srgbClr val="BFE3E6"/>
          </a:solidFill>
          <a:ln>
            <a:noFill/>
          </a:ln>
        </p:spPr>
        <p:txBody>
          <a:bodyPr rtlCol="0" anchor="ctr" lIns="54000" rIns="54000" tIns="54000" bIns="54000"/>
          <a:lstStyle/>
          <a:p>
            <a:pPr algn="ctr"/>
          </a:p>
        </p:txBody>
      </p:sp>
      <p:sp>
        <p:nvSpPr>
          <p:cNvPr id="41" name="Rectangle 40"/>
          <p:cNvSpPr/>
          <p:nvPr/>
        </p:nvSpPr>
        <p:spPr>
          <a:xfrm>
            <a:off x="16776000" y="2696400"/>
            <a:ext cx="198000" cy="115200"/>
          </a:xfrm>
          <a:prstGeom prst="rect">
            <a:avLst/>
          </a:prstGeom>
          <a:solidFill>
            <a:srgbClr val="EA7A28"/>
          </a:solidFill>
          <a:ln>
            <a:noFill/>
          </a:ln>
        </p:spPr>
        <p:txBody>
          <a:bodyPr rtlCol="0" anchor="ctr" lIns="54000" rIns="54000" tIns="54000" bIns="54000"/>
          <a:lstStyle/>
          <a:p>
            <a:pPr algn="ctr"/>
          </a:p>
        </p:txBody>
      </p:sp>
      <p:sp>
        <p:nvSpPr>
          <p:cNvPr id="42" name="Rectangle 41"/>
          <p:cNvSpPr/>
          <p:nvPr/>
        </p:nvSpPr>
        <p:spPr>
          <a:xfrm>
            <a:off x="17210250" y="2696400"/>
            <a:ext cx="198000" cy="115200"/>
          </a:xfrm>
          <a:prstGeom prst="rect">
            <a:avLst/>
          </a:prstGeom>
          <a:solidFill>
            <a:srgbClr val="EA7A28"/>
          </a:solidFill>
          <a:ln>
            <a:noFill/>
          </a:ln>
        </p:spPr>
        <p:txBody>
          <a:bodyPr rtlCol="0" anchor="ctr" lIns="54000" rIns="54000" tIns="54000" bIns="54000"/>
          <a:lstStyle/>
          <a:p>
            <a:pPr algn="ctr"/>
          </a:p>
        </p:txBody>
      </p:sp>
      <p:sp>
        <p:nvSpPr>
          <p:cNvPr id="43" name="Rectangle 42"/>
          <p:cNvSpPr/>
          <p:nvPr/>
        </p:nvSpPr>
        <p:spPr>
          <a:xfrm>
            <a:off x="17644500" y="2696400"/>
            <a:ext cx="198000" cy="115200"/>
          </a:xfrm>
          <a:prstGeom prst="rect">
            <a:avLst/>
          </a:prstGeom>
          <a:solidFill>
            <a:srgbClr val="EA7A28"/>
          </a:solidFill>
          <a:ln>
            <a:noFill/>
          </a:ln>
        </p:spPr>
        <p:txBody>
          <a:bodyPr rtlCol="0" anchor="ctr" lIns="54000" rIns="54000" tIns="54000" bIns="54000"/>
          <a:lstStyle/>
          <a:p>
            <a:pPr algn="ctr"/>
          </a:p>
        </p:txBody>
      </p:sp>
      <p:sp>
        <p:nvSpPr>
          <p:cNvPr id="44" name="Rectangle 43"/>
          <p:cNvSpPr/>
          <p:nvPr/>
        </p:nvSpPr>
        <p:spPr>
          <a:xfrm>
            <a:off x="18078750" y="2696400"/>
            <a:ext cx="198000" cy="115200"/>
          </a:xfrm>
          <a:prstGeom prst="rect">
            <a:avLst/>
          </a:prstGeom>
          <a:solidFill>
            <a:srgbClr val="EA7A28"/>
          </a:solidFill>
          <a:ln>
            <a:noFill/>
          </a:ln>
        </p:spPr>
        <p:txBody>
          <a:bodyPr rtlCol="0" anchor="ctr" lIns="54000" rIns="54000" tIns="54000" bIns="54000"/>
          <a:lstStyle/>
          <a:p>
            <a:pPr algn="ctr"/>
          </a:p>
        </p:txBody>
      </p:sp>
      <p:sp>
        <p:nvSpPr>
          <p:cNvPr id="45" name="Rectangle 44"/>
          <p:cNvSpPr/>
          <p:nvPr/>
        </p:nvSpPr>
        <p:spPr>
          <a:xfrm>
            <a:off x="18513000" y="2696400"/>
            <a:ext cx="198000" cy="115200"/>
          </a:xfrm>
          <a:prstGeom prst="rect">
            <a:avLst/>
          </a:prstGeom>
          <a:solidFill>
            <a:srgbClr val="EA7A28"/>
          </a:solidFill>
          <a:ln>
            <a:noFill/>
          </a:ln>
        </p:spPr>
        <p:txBody>
          <a:bodyPr rtlCol="0" anchor="ctr" lIns="54000" rIns="54000" tIns="54000" bIns="54000"/>
          <a:lstStyle/>
          <a:p>
            <a:pPr algn="ctr"/>
          </a:p>
        </p:txBody>
      </p:sp>
      <p:sp>
        <p:nvSpPr>
          <p:cNvPr id="46" name="Rectangle 45"/>
          <p:cNvSpPr/>
          <p:nvPr/>
        </p:nvSpPr>
        <p:spPr>
          <a:xfrm>
            <a:off x="18947250" y="2696400"/>
            <a:ext cx="198000" cy="115200"/>
          </a:xfrm>
          <a:prstGeom prst="rect">
            <a:avLst/>
          </a:prstGeom>
          <a:solidFill>
            <a:srgbClr val="EA7A28"/>
          </a:solidFill>
          <a:ln>
            <a:noFill/>
          </a:ln>
        </p:spPr>
        <p:txBody>
          <a:bodyPr rtlCol="0" anchor="ctr" lIns="54000" rIns="54000" tIns="54000" bIns="54000"/>
          <a:lstStyle/>
          <a:p>
            <a:pPr algn="ctr"/>
          </a:p>
        </p:txBody>
      </p:sp>
      <p:sp>
        <p:nvSpPr>
          <p:cNvPr id="47" name="Rectangle 46"/>
          <p:cNvSpPr/>
          <p:nvPr/>
        </p:nvSpPr>
        <p:spPr>
          <a:xfrm>
            <a:off x="19381500" y="2696400"/>
            <a:ext cx="198000" cy="115200"/>
          </a:xfrm>
          <a:prstGeom prst="rect">
            <a:avLst/>
          </a:prstGeom>
          <a:solidFill>
            <a:srgbClr val="EA7A28"/>
          </a:solidFill>
          <a:ln>
            <a:noFill/>
          </a:ln>
        </p:spPr>
        <p:txBody>
          <a:bodyPr rtlCol="0" anchor="ctr" lIns="54000" rIns="54000" tIns="54000" bIns="54000"/>
          <a:lstStyle/>
          <a:p>
            <a:pPr algn="ctr"/>
          </a:p>
        </p:txBody>
      </p:sp>
      <p:sp>
        <p:nvSpPr>
          <p:cNvPr id="48" name="Rectangle 47"/>
          <p:cNvSpPr/>
          <p:nvPr/>
        </p:nvSpPr>
        <p:spPr>
          <a:xfrm>
            <a:off x="19815750" y="2696400"/>
            <a:ext cx="198000" cy="115200"/>
          </a:xfrm>
          <a:prstGeom prst="rect">
            <a:avLst/>
          </a:prstGeom>
          <a:solidFill>
            <a:srgbClr val="EA7A28"/>
          </a:solidFill>
          <a:ln>
            <a:noFill/>
          </a:ln>
        </p:spPr>
        <p:txBody>
          <a:bodyPr rtlCol="0" anchor="ctr" lIns="54000" rIns="54000" tIns="54000" bIns="54000"/>
          <a:lstStyle/>
          <a:p>
            <a:pPr algn="ctr"/>
          </a:p>
        </p:txBody>
      </p:sp>
      <p:sp>
        <p:nvSpPr>
          <p:cNvPr id="49" name="Rectangle 48"/>
          <p:cNvSpPr/>
          <p:nvPr/>
        </p:nvSpPr>
        <p:spPr>
          <a:xfrm>
            <a:off x="20250000" y="2696400"/>
            <a:ext cx="198000" cy="115200"/>
          </a:xfrm>
          <a:prstGeom prst="rect">
            <a:avLst/>
          </a:prstGeom>
          <a:solidFill>
            <a:srgbClr val="EA7A28"/>
          </a:solidFill>
          <a:ln>
            <a:noFill/>
          </a:ln>
        </p:spPr>
        <p:txBody>
          <a:bodyPr rtlCol="0" anchor="ctr" lIns="54000" rIns="54000" tIns="54000" bIns="54000"/>
          <a:lstStyle/>
          <a:p>
            <a:pPr algn="ctr"/>
          </a:p>
        </p:txBody>
      </p:sp>
      <p:sp>
        <p:nvSpPr>
          <p:cNvPr id="50" name="Rectangle 49"/>
          <p:cNvSpPr/>
          <p:nvPr/>
        </p:nvSpPr>
        <p:spPr>
          <a:xfrm>
            <a:off x="16632000" y="2811600"/>
            <a:ext cx="3960000" cy="342000"/>
          </a:xfrm>
          <a:prstGeom prst="rect">
            <a:avLst/>
          </a:prstGeom>
          <a:solidFill>
            <a:srgbClr val="5976A5"/>
          </a:solidFill>
          <a:ln>
            <a:noFill/>
          </a:ln>
        </p:spPr>
        <p:txBody>
          <a:bodyPr rtlCol="0" anchor="ctr" lIns="54000" rIns="54000" tIns="54000" bIns="54000"/>
          <a:lstStyle/>
          <a:p>
            <a:pPr algn="ctr"/>
          </a:p>
        </p:txBody>
      </p:sp>
      <p:sp>
        <p:nvSpPr>
          <p:cNvPr id="51" name="Rectangle 50"/>
          <p:cNvSpPr/>
          <p:nvPr/>
        </p:nvSpPr>
        <p:spPr>
          <a:xfrm>
            <a:off x="16632000" y="3153600"/>
            <a:ext cx="3960000" cy="115200"/>
          </a:xfrm>
          <a:prstGeom prst="rect">
            <a:avLst/>
          </a:prstGeom>
          <a:solidFill>
            <a:srgbClr val="BFE3E6"/>
          </a:solidFill>
          <a:ln>
            <a:noFill/>
          </a:ln>
        </p:spPr>
        <p:txBody>
          <a:bodyPr rtlCol="0" anchor="ctr" lIns="54000" rIns="54000" tIns="54000" bIns="54000"/>
          <a:lstStyle/>
          <a:p>
            <a:pPr algn="ctr"/>
          </a:p>
        </p:txBody>
      </p:sp>
      <p:sp>
        <p:nvSpPr>
          <p:cNvPr id="52" name="Rectangle 51"/>
          <p:cNvSpPr/>
          <p:nvPr/>
        </p:nvSpPr>
        <p:spPr>
          <a:xfrm>
            <a:off x="16776000" y="3153600"/>
            <a:ext cx="198000" cy="115200"/>
          </a:xfrm>
          <a:prstGeom prst="rect">
            <a:avLst/>
          </a:prstGeom>
          <a:solidFill>
            <a:srgbClr val="EA7A28"/>
          </a:solidFill>
          <a:ln>
            <a:noFill/>
          </a:ln>
        </p:spPr>
        <p:txBody>
          <a:bodyPr rtlCol="0" anchor="ctr" lIns="54000" rIns="54000" tIns="54000" bIns="54000"/>
          <a:lstStyle/>
          <a:p>
            <a:pPr algn="ctr"/>
          </a:p>
        </p:txBody>
      </p:sp>
      <p:sp>
        <p:nvSpPr>
          <p:cNvPr id="53" name="Rectangle 52"/>
          <p:cNvSpPr/>
          <p:nvPr/>
        </p:nvSpPr>
        <p:spPr>
          <a:xfrm>
            <a:off x="17210250" y="3153600"/>
            <a:ext cx="198000" cy="115200"/>
          </a:xfrm>
          <a:prstGeom prst="rect">
            <a:avLst/>
          </a:prstGeom>
          <a:solidFill>
            <a:srgbClr val="EA7A28"/>
          </a:solidFill>
          <a:ln>
            <a:noFill/>
          </a:ln>
        </p:spPr>
        <p:txBody>
          <a:bodyPr rtlCol="0" anchor="ctr" lIns="54000" rIns="54000" tIns="54000" bIns="54000"/>
          <a:lstStyle/>
          <a:p>
            <a:pPr algn="ctr"/>
          </a:p>
        </p:txBody>
      </p:sp>
      <p:sp>
        <p:nvSpPr>
          <p:cNvPr id="54" name="Rectangle 53"/>
          <p:cNvSpPr/>
          <p:nvPr/>
        </p:nvSpPr>
        <p:spPr>
          <a:xfrm>
            <a:off x="17644500" y="3153600"/>
            <a:ext cx="198000" cy="115200"/>
          </a:xfrm>
          <a:prstGeom prst="rect">
            <a:avLst/>
          </a:prstGeom>
          <a:solidFill>
            <a:srgbClr val="EA7A28"/>
          </a:solidFill>
          <a:ln>
            <a:noFill/>
          </a:ln>
        </p:spPr>
        <p:txBody>
          <a:bodyPr rtlCol="0" anchor="ctr" lIns="54000" rIns="54000" tIns="54000" bIns="54000"/>
          <a:lstStyle/>
          <a:p>
            <a:pPr algn="ctr"/>
          </a:p>
        </p:txBody>
      </p:sp>
      <p:sp>
        <p:nvSpPr>
          <p:cNvPr id="55" name="Rectangle 54"/>
          <p:cNvSpPr/>
          <p:nvPr/>
        </p:nvSpPr>
        <p:spPr>
          <a:xfrm>
            <a:off x="18078750" y="3153600"/>
            <a:ext cx="198000" cy="115200"/>
          </a:xfrm>
          <a:prstGeom prst="rect">
            <a:avLst/>
          </a:prstGeom>
          <a:solidFill>
            <a:srgbClr val="EA7A28"/>
          </a:solidFill>
          <a:ln>
            <a:noFill/>
          </a:ln>
        </p:spPr>
        <p:txBody>
          <a:bodyPr rtlCol="0" anchor="ctr" lIns="54000" rIns="54000" tIns="54000" bIns="54000"/>
          <a:lstStyle/>
          <a:p>
            <a:pPr algn="ctr"/>
          </a:p>
        </p:txBody>
      </p:sp>
      <p:sp>
        <p:nvSpPr>
          <p:cNvPr id="56" name="Rectangle 55"/>
          <p:cNvSpPr/>
          <p:nvPr/>
        </p:nvSpPr>
        <p:spPr>
          <a:xfrm>
            <a:off x="18513000" y="3153600"/>
            <a:ext cx="198000" cy="115200"/>
          </a:xfrm>
          <a:prstGeom prst="rect">
            <a:avLst/>
          </a:prstGeom>
          <a:solidFill>
            <a:srgbClr val="EA7A28"/>
          </a:solidFill>
          <a:ln>
            <a:noFill/>
          </a:ln>
        </p:spPr>
        <p:txBody>
          <a:bodyPr rtlCol="0" anchor="ctr" lIns="54000" rIns="54000" tIns="54000" bIns="54000"/>
          <a:lstStyle/>
          <a:p>
            <a:pPr algn="ctr"/>
          </a:p>
        </p:txBody>
      </p:sp>
      <p:sp>
        <p:nvSpPr>
          <p:cNvPr id="57" name="Rectangle 56"/>
          <p:cNvSpPr/>
          <p:nvPr/>
        </p:nvSpPr>
        <p:spPr>
          <a:xfrm>
            <a:off x="18947250" y="3153600"/>
            <a:ext cx="198000" cy="115200"/>
          </a:xfrm>
          <a:prstGeom prst="rect">
            <a:avLst/>
          </a:prstGeom>
          <a:solidFill>
            <a:srgbClr val="EA7A28"/>
          </a:solidFill>
          <a:ln>
            <a:noFill/>
          </a:ln>
        </p:spPr>
        <p:txBody>
          <a:bodyPr rtlCol="0" anchor="ctr" lIns="54000" rIns="54000" tIns="54000" bIns="54000"/>
          <a:lstStyle/>
          <a:p>
            <a:pPr algn="ctr"/>
          </a:p>
        </p:txBody>
      </p:sp>
      <p:sp>
        <p:nvSpPr>
          <p:cNvPr id="58" name="Rectangle 57"/>
          <p:cNvSpPr/>
          <p:nvPr/>
        </p:nvSpPr>
        <p:spPr>
          <a:xfrm>
            <a:off x="19381500" y="3153600"/>
            <a:ext cx="198000" cy="115200"/>
          </a:xfrm>
          <a:prstGeom prst="rect">
            <a:avLst/>
          </a:prstGeom>
          <a:solidFill>
            <a:srgbClr val="EA7A28"/>
          </a:solidFill>
          <a:ln>
            <a:noFill/>
          </a:ln>
        </p:spPr>
        <p:txBody>
          <a:bodyPr rtlCol="0" anchor="ctr" lIns="54000" rIns="54000" tIns="54000" bIns="54000"/>
          <a:lstStyle/>
          <a:p>
            <a:pPr algn="ctr"/>
          </a:p>
        </p:txBody>
      </p:sp>
      <p:sp>
        <p:nvSpPr>
          <p:cNvPr id="59" name="Rectangle 58"/>
          <p:cNvSpPr/>
          <p:nvPr/>
        </p:nvSpPr>
        <p:spPr>
          <a:xfrm>
            <a:off x="19815750" y="3153600"/>
            <a:ext cx="198000" cy="115200"/>
          </a:xfrm>
          <a:prstGeom prst="rect">
            <a:avLst/>
          </a:prstGeom>
          <a:solidFill>
            <a:srgbClr val="EA7A28"/>
          </a:solidFill>
          <a:ln>
            <a:noFill/>
          </a:ln>
        </p:spPr>
        <p:txBody>
          <a:bodyPr rtlCol="0" anchor="ctr" lIns="54000" rIns="54000" tIns="54000" bIns="54000"/>
          <a:lstStyle/>
          <a:p>
            <a:pPr algn="ctr"/>
          </a:p>
        </p:txBody>
      </p:sp>
      <p:sp>
        <p:nvSpPr>
          <p:cNvPr id="60" name="Rectangle 59"/>
          <p:cNvSpPr/>
          <p:nvPr/>
        </p:nvSpPr>
        <p:spPr>
          <a:xfrm>
            <a:off x="20250000" y="3153600"/>
            <a:ext cx="198000" cy="115200"/>
          </a:xfrm>
          <a:prstGeom prst="rect">
            <a:avLst/>
          </a:prstGeom>
          <a:solidFill>
            <a:srgbClr val="EA7A28"/>
          </a:solidFill>
          <a:ln>
            <a:noFill/>
          </a:ln>
        </p:spPr>
        <p:txBody>
          <a:bodyPr rtlCol="0" anchor="ctr" lIns="54000" rIns="54000" tIns="54000" bIns="54000"/>
          <a:lstStyle/>
          <a:p>
            <a:pPr algn="ctr"/>
          </a:p>
        </p:txBody>
      </p:sp>
      <p:sp>
        <p:nvSpPr>
          <p:cNvPr id="61" name="Rectangle 60"/>
          <p:cNvSpPr/>
          <p:nvPr/>
        </p:nvSpPr>
        <p:spPr>
          <a:xfrm>
            <a:off x="16416000" y="3268800"/>
            <a:ext cx="4392000" cy="378000"/>
          </a:xfrm>
          <a:prstGeom prst="rect">
            <a:avLst/>
          </a:prstGeom>
          <a:solidFill>
            <a:srgbClr val="3E5A8A"/>
          </a:solidFill>
          <a:ln>
            <a:noFill/>
          </a:ln>
        </p:spPr>
        <p:txBody>
          <a:bodyPr rtlCol="0" anchor="ctr" lIns="54000" rIns="54000" tIns="54000" bIns="54000"/>
          <a:lstStyle/>
          <a:p>
            <a:pPr algn="ctr"/>
          </a:p>
        </p:txBody>
      </p:sp>
      <p:sp>
        <p:nvSpPr>
          <p:cNvPr id="62" name="TextBox 61"/>
          <p:cNvSpPr txBox="1"/>
          <p:nvPr/>
        </p:nvSpPr>
        <p:spPr>
          <a:xfrm>
            <a:off x="16416000" y="3682800"/>
            <a:ext cx="4392000" cy="252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9FB0CC"/>
                </a:solidFill>
                <a:latin typeface="맑은 고딕"/>
                <a:ea typeface="맑은 고딕"/>
                <a:cs typeface="맑은 고딕"/>
              </a:rPr>
              <a:t>하이브리드 본딩 적층 구조 (개념도)</a:t>
            </a:r>
          </a:p>
        </p:txBody>
      </p:sp>
      <p:sp>
        <p:nvSpPr>
          <p:cNvPr id="2" name="직사각형 1"/>
          <p:cNvSpPr/>
          <p:nvPr/>
        </p:nvSpPr>
        <p:spPr>
          <a:xfrm>
            <a:off x="19137086" y="348658"/>
            <a:ext cx="1567544" cy="826999"/>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3200" dirty="0" smtClean="0">
                <a:solidFill>
                  <a:schemeClr val="tx1"/>
                </a:solidFill>
              </a:rPr>
              <a:t>P</a:t>
            </a:r>
            <a:endParaRPr lang="ko-KR" altLang="en-US" sz="3200" dirty="0">
              <a:solidFill>
                <a:schemeClr val="tx1"/>
              </a:solidFill>
            </a:endParaRPr>
          </a:p>
        </p:txBody>
      </p:sp>
      <p:sp>
        <p:nvSpPr>
          <p:cNvPr id="63" name="Rounded Rectangle 62"/>
          <p:cNvSpPr/>
          <p:nvPr/>
        </p:nvSpPr>
        <p:spPr>
          <a:xfrm>
            <a:off x="576000" y="4356000"/>
            <a:ext cx="20232000" cy="1224000"/>
          </a:xfrm>
          <a:prstGeom prst="roundRect">
            <a:avLst>
              <a:gd name="adj" fmla="val 14000"/>
            </a:avLst>
          </a:prstGeom>
          <a:solidFill>
            <a:srgbClr val="FFF6D6"/>
          </a:solidFill>
          <a:ln>
            <a:noFill/>
          </a:ln>
        </p:spPr>
        <p:txBody>
          <a:bodyPr rtlCol="0" anchor="ctr" lIns="54000" rIns="54000" tIns="54000" bIns="54000"/>
          <a:lstStyle/>
          <a:p>
            <a:pPr algn="ctr"/>
          </a:p>
        </p:txBody>
      </p:sp>
      <p:sp>
        <p:nvSpPr>
          <p:cNvPr id="64" name="Oval 63"/>
          <p:cNvSpPr/>
          <p:nvPr/>
        </p:nvSpPr>
        <p:spPr>
          <a:xfrm>
            <a:off x="828000" y="4536000"/>
            <a:ext cx="900000" cy="900000"/>
          </a:xfrm>
          <a:prstGeom prst="ellipse">
            <a:avLst/>
          </a:prstGeom>
          <a:solidFill>
            <a:srgbClr val="FFC000"/>
          </a:solidFill>
          <a:ln>
            <a:noFill/>
          </a:ln>
        </p:spPr>
        <p:txBody>
          <a:bodyPr rtlCol="0" anchor="ctr" lIns="54000" rIns="54000" tIns="54000" bIns="54000"/>
          <a:lstStyle/>
          <a:p>
            <a:pPr algn="ctr"/>
          </a:p>
        </p:txBody>
      </p:sp>
      <p:pic>
        <p:nvPicPr>
          <p:cNvPr id="65" name="Picture 64" descr="FaLightbulb_FFFFFF.png"/>
          <p:cNvPicPr>
            <a:picLocks noChangeAspect="1"/>
          </p:cNvPicPr>
          <p:nvPr/>
        </p:nvPicPr>
        <p:blipFill>
          <a:blip r:embed="rId3"/>
          <a:stretch>
            <a:fillRect/>
          </a:stretch>
        </p:blipFill>
        <p:spPr>
          <a:xfrm>
            <a:off x="1044000" y="4752000"/>
            <a:ext cx="468000" cy="468000"/>
          </a:xfrm>
          <a:prstGeom prst="rect">
            <a:avLst/>
          </a:prstGeom>
        </p:spPr>
      </p:pic>
      <p:sp>
        <p:nvSpPr>
          <p:cNvPr id="66" name="TextBox 65"/>
          <p:cNvSpPr txBox="1"/>
          <p:nvPr/>
        </p:nvSpPr>
        <p:spPr>
          <a:xfrm>
            <a:off x="1980000" y="4410000"/>
            <a:ext cx="18576000" cy="1116000"/>
          </a:xfrm>
          <a:prstGeom prst="rect">
            <a:avLst/>
          </a:prstGeom>
          <a:noFill/>
        </p:spPr>
        <p:txBody>
          <a:bodyPr wrap="square" lIns="0" rIns="0" tIns="0" bIns="0" anchor="ctr">
            <a:noAutofit/>
          </a:bodyPr>
          <a:lstStyle/>
          <a:p>
            <a:pPr algn="l" marL="0" indent="0">
              <a:lnSpc>
                <a:spcPts val="3240"/>
              </a:lnSpc>
              <a:spcBef>
                <a:spcPts val="0"/>
              </a:spcBef>
              <a:spcAft>
                <a:spcPts val="0"/>
              </a:spcAft>
              <a:buNone/>
            </a:pPr>
            <a:r>
              <a:rPr sz="2700" b="1" i="0" lang="ko-KR">
                <a:solidFill>
                  <a:srgbClr val="13294B"/>
                </a:solidFill>
                <a:latin typeface="맑은 고딕"/>
                <a:ea typeface="맑은 고딕"/>
                <a:cs typeface="맑은 고딕"/>
              </a:rPr>
              <a:t>하이브리드 본딩 관련 특허출원 928건을 분석한 결과, 공정 단계 간 기술융합은 한 방향으로 확대되지 않았다. </a:t>
            </a:r>
            <a:r>
              <a:rPr sz="2700" b="1" i="0" lang="ko-KR">
                <a:solidFill>
                  <a:srgbClr val="7C3AED"/>
                </a:solidFill>
                <a:latin typeface="맑은 고딕"/>
                <a:ea typeface="맑은 고딕"/>
                <a:cs typeface="맑은 고딕"/>
              </a:rPr>
              <a:t>형성기 → 확산기 → 재편기</a:t>
            </a:r>
            <a:r>
              <a:rPr sz="2700" b="1" i="0" lang="ko-KR">
                <a:solidFill>
                  <a:srgbClr val="13294B"/>
                </a:solidFill>
                <a:latin typeface="맑은 고딕"/>
                <a:ea typeface="맑은 고딕"/>
                <a:cs typeface="맑은 고딕"/>
              </a:rPr>
              <a:t>의 세 국면을 거치며 융합의 중심이 </a:t>
            </a:r>
            <a:r>
              <a:rPr sz="2700" b="1" i="0" lang="ko-KR">
                <a:solidFill>
                  <a:srgbClr val="B5441B"/>
                </a:solidFill>
                <a:latin typeface="맑은 고딕"/>
                <a:ea typeface="맑은 고딕"/>
                <a:cs typeface="맑은 고딕"/>
              </a:rPr>
              <a:t>핵심 접합 기술에서 주변 공정으로</a:t>
            </a:r>
            <a:r>
              <a:rPr sz="2700" b="1" i="0" lang="ko-KR">
                <a:solidFill>
                  <a:srgbClr val="13294B"/>
                </a:solidFill>
                <a:latin typeface="맑은 고딕"/>
                <a:ea typeface="맑은 고딕"/>
                <a:cs typeface="맑은 고딕"/>
              </a:rPr>
              <a:t> 이동하였다.</a:t>
            </a:r>
          </a:p>
        </p:txBody>
      </p:sp>
      <p:sp>
        <p:nvSpPr>
          <p:cNvPr id="67" name="Rounded Rectangle 66"/>
          <p:cNvSpPr/>
          <p:nvPr/>
        </p:nvSpPr>
        <p:spPr>
          <a:xfrm>
            <a:off x="576000" y="5832000"/>
            <a:ext cx="9900000" cy="6120000"/>
          </a:xfrm>
          <a:prstGeom prst="roundRect">
            <a:avLst>
              <a:gd name="adj" fmla="val 2500"/>
            </a:avLst>
          </a:prstGeom>
          <a:solidFill>
            <a:srgbClr val="F2F5FA"/>
          </a:solidFill>
          <a:ln>
            <a:noFill/>
          </a:ln>
        </p:spPr>
        <p:txBody>
          <a:bodyPr rtlCol="0" anchor="ctr" lIns="54000" rIns="54000" tIns="54000" bIns="54000"/>
          <a:lstStyle/>
          <a:p>
            <a:pPr algn="ctr"/>
          </a:p>
        </p:txBody>
      </p:sp>
      <p:sp>
        <p:nvSpPr>
          <p:cNvPr id="68" name="Oval 67"/>
          <p:cNvSpPr/>
          <p:nvPr/>
        </p:nvSpPr>
        <p:spPr>
          <a:xfrm>
            <a:off x="828000" y="6048000"/>
            <a:ext cx="828000" cy="828000"/>
          </a:xfrm>
          <a:prstGeom prst="ellipse">
            <a:avLst/>
          </a:prstGeom>
          <a:solidFill>
            <a:srgbClr val="13294B"/>
          </a:solidFill>
          <a:ln>
            <a:noFill/>
          </a:ln>
        </p:spPr>
        <p:txBody>
          <a:bodyPr rtlCol="0" anchor="ctr" lIns="0" rIns="0" tIns="36000" bIns="36000" wrap="square"/>
          <a:lstStyle/>
          <a:p>
            <a:pPr algn="ctr" marL="0" indent="0">
              <a:lnSpc>
                <a:spcPts val="3600"/>
              </a:lnSpc>
              <a:spcBef>
                <a:spcPts val="0"/>
              </a:spcBef>
              <a:spcAft>
                <a:spcPts val="0"/>
              </a:spcAft>
              <a:buNone/>
            </a:pPr>
            <a:r>
              <a:rPr sz="3000" b="1" i="0" lang="ko-KR">
                <a:solidFill>
                  <a:srgbClr val="FFFFFF"/>
                </a:solidFill>
                <a:latin typeface="맑은 고딕"/>
                <a:ea typeface="맑은 고딕"/>
                <a:cs typeface="맑은 고딕"/>
              </a:rPr>
              <a:t>01</a:t>
            </a:r>
          </a:p>
        </p:txBody>
      </p:sp>
      <p:sp>
        <p:nvSpPr>
          <p:cNvPr id="69" name="TextBox 68"/>
          <p:cNvSpPr txBox="1"/>
          <p:nvPr/>
        </p:nvSpPr>
        <p:spPr>
          <a:xfrm>
            <a:off x="1800000" y="6030000"/>
            <a:ext cx="8388000" cy="864000"/>
          </a:xfrm>
          <a:prstGeom prst="rect">
            <a:avLst/>
          </a:prstGeom>
          <a:noFill/>
        </p:spPr>
        <p:txBody>
          <a:bodyPr wrap="square" lIns="0" rIns="0" tIns="0" bIns="0" anchor="ctr">
            <a:noAutofit/>
          </a:bodyPr>
          <a:lstStyle/>
          <a:p>
            <a:pPr algn="l" marL="0" indent="0">
              <a:lnSpc>
                <a:spcPts val="4800"/>
              </a:lnSpc>
              <a:spcBef>
                <a:spcPts val="0"/>
              </a:spcBef>
              <a:spcAft>
                <a:spcPts val="0"/>
              </a:spcAft>
              <a:buNone/>
            </a:pPr>
            <a:r>
              <a:rPr sz="4000" b="1" i="0" lang="ko-KR">
                <a:solidFill>
                  <a:srgbClr val="13294B"/>
                </a:solidFill>
                <a:latin typeface="맑은 고딕"/>
                <a:ea typeface="맑은 고딕"/>
                <a:cs typeface="맑은 고딕"/>
              </a:rPr>
              <a:t>연구 배경</a:t>
            </a:r>
          </a:p>
        </p:txBody>
      </p:sp>
      <p:sp>
        <p:nvSpPr>
          <p:cNvPr id="70" name="TextBox 69"/>
          <p:cNvSpPr txBox="1"/>
          <p:nvPr/>
        </p:nvSpPr>
        <p:spPr>
          <a:xfrm>
            <a:off x="900000" y="6930000"/>
            <a:ext cx="9252000" cy="2808000"/>
          </a:xfrm>
          <a:prstGeom prst="rect">
            <a:avLst/>
          </a:prstGeom>
          <a:noFill/>
        </p:spPr>
        <p:txBody>
          <a:bodyPr wrap="square" lIns="0" rIns="0" tIns="0" bIns="0" anchor="t">
            <a:noAutofit/>
          </a:bodyPr>
          <a:lstStyle/>
          <a:p>
            <a:pPr algn="l" marL="216000" indent="-216000">
              <a:lnSpc>
                <a:spcPts val="2280"/>
              </a:lnSpc>
              <a:spcBef>
                <a:spcPts val="0"/>
              </a:spcBef>
              <a:spcAft>
                <a:spcPts val="400"/>
              </a:spcAft>
              <a:buClr>
                <a:srgbClr val="13294B"/>
              </a:buClr>
              <a:buFont typeface="Arial"/>
              <a:buChar char="•"/>
            </a:pPr>
            <a:r>
              <a:rPr sz="1900" b="0" i="0" lang="ko-KR">
                <a:solidFill>
                  <a:srgbClr val="1E2532"/>
                </a:solidFill>
                <a:latin typeface="맑은 고딕"/>
                <a:ea typeface="맑은 고딕"/>
                <a:cs typeface="맑은 고딕"/>
              </a:rPr>
              <a:t>반도체 산업은 </a:t>
            </a:r>
            <a:r>
              <a:rPr sz="1900" b="1" i="0" lang="ko-KR">
                <a:solidFill>
                  <a:srgbClr val="2563C9"/>
                </a:solidFill>
                <a:latin typeface="맑은 고딕"/>
                <a:ea typeface="맑은 고딕"/>
                <a:cs typeface="맑은 고딕"/>
              </a:rPr>
              <a:t>전공정</a:t>
            </a:r>
            <a:r>
              <a:rPr sz="1900" b="0" i="0" lang="ko-KR">
                <a:solidFill>
                  <a:srgbClr val="1E2532"/>
                </a:solidFill>
                <a:latin typeface="맑은 고딕"/>
                <a:ea typeface="맑은 고딕"/>
                <a:cs typeface="맑은 고딕"/>
              </a:rPr>
              <a:t>(웨이퍼 위 소자 형성)과 </a:t>
            </a:r>
            <a:r>
              <a:rPr sz="1900" b="1" i="0" lang="ko-KR">
                <a:solidFill>
                  <a:srgbClr val="EA7A28"/>
                </a:solidFill>
                <a:latin typeface="맑은 고딕"/>
                <a:ea typeface="맑은 고딕"/>
                <a:cs typeface="맑은 고딕"/>
              </a:rPr>
              <a:t>후공정</a:t>
            </a:r>
            <a:r>
              <a:rPr sz="1900" b="0" i="0" lang="ko-KR">
                <a:solidFill>
                  <a:srgbClr val="1E2532"/>
                </a:solidFill>
                <a:latin typeface="맑은 고딕"/>
                <a:ea typeface="맑은 고딕"/>
                <a:cs typeface="맑은 고딕"/>
              </a:rPr>
              <a:t>(절단·조립·패키징)의 분업 구조를 반세기 이상 유지해 왔다.</a:t>
            </a:r>
          </a:p>
          <a:p>
            <a:pPr algn="l" marL="216000" indent="-216000">
              <a:lnSpc>
                <a:spcPts val="2280"/>
              </a:lnSpc>
              <a:spcBef>
                <a:spcPts val="0"/>
              </a:spcBef>
              <a:spcAft>
                <a:spcPts val="400"/>
              </a:spcAft>
              <a:buClr>
                <a:srgbClr val="13294B"/>
              </a:buClr>
              <a:buFont typeface="Arial"/>
              <a:buChar char="•"/>
            </a:pPr>
            <a:r>
              <a:rPr sz="1900" b="0" i="0" lang="ko-KR">
                <a:solidFill>
                  <a:srgbClr val="1E2532"/>
                </a:solidFill>
                <a:latin typeface="맑은 고딕"/>
                <a:ea typeface="맑은 고딕"/>
                <a:cs typeface="맑은 고딕"/>
              </a:rPr>
              <a:t>미세화의 한계로 다이를 분할·적층·연결하는 첨단 패키징이 새로운 성능 향상의 원천이 되었다.</a:t>
            </a:r>
          </a:p>
          <a:p>
            <a:pPr algn="l" marL="216000" indent="-216000">
              <a:lnSpc>
                <a:spcPts val="2280"/>
              </a:lnSpc>
              <a:spcBef>
                <a:spcPts val="0"/>
              </a:spcBef>
              <a:spcAft>
                <a:spcPts val="400"/>
              </a:spcAft>
              <a:buClr>
                <a:srgbClr val="13294B"/>
              </a:buClr>
              <a:buFont typeface="Arial"/>
              <a:buChar char="•"/>
            </a:pPr>
            <a:r>
              <a:rPr sz="1900" b="1" i="0" lang="ko-KR">
                <a:solidFill>
                  <a:srgbClr val="1E2532"/>
                </a:solidFill>
                <a:latin typeface="맑은 고딕"/>
                <a:ea typeface="맑은 고딕"/>
                <a:cs typeface="맑은 고딕"/>
              </a:rPr>
              <a:t>하이브리드 본딩</a:t>
            </a:r>
            <a:r>
              <a:rPr sz="1900" b="0" i="0" lang="ko-KR">
                <a:solidFill>
                  <a:srgbClr val="1E2532"/>
                </a:solidFill>
                <a:latin typeface="맑은 고딕"/>
                <a:ea typeface="맑은 고딕"/>
                <a:cs typeface="맑은 고딕"/>
              </a:rPr>
              <a:t>은 솔더 범프 없이 구리 패드와 산화막을 직접 접합하여 10 µm 이하의 연결 간격을 구현한다.</a:t>
            </a:r>
          </a:p>
          <a:p>
            <a:pPr algn="l" marL="234000" indent="-234000">
              <a:lnSpc>
                <a:spcPts val="2280"/>
              </a:lnSpc>
              <a:spcBef>
                <a:spcPts val="0"/>
              </a:spcBef>
              <a:spcAft>
                <a:spcPts val="0"/>
              </a:spcAft>
              <a:buClr>
                <a:srgbClr val="13294B"/>
              </a:buClr>
              <a:buFont typeface="Arial"/>
              <a:buChar char="•"/>
            </a:pPr>
            <a:r>
              <a:rPr sz="1900" b="0" i="0" lang="ko-KR">
                <a:solidFill>
                  <a:srgbClr val="1E2532"/>
                </a:solidFill>
                <a:latin typeface="맑은 고딕"/>
                <a:ea typeface="맑은 고딕"/>
                <a:cs typeface="맑은 고딕"/>
              </a:rPr>
              <a:t>그 성패를 좌우하는 평탄화(CMP)·표면 활성화·정밀 정렬은 </a:t>
            </a:r>
            <a:r>
              <a:rPr sz="1900" b="1" i="0" lang="ko-KR">
                <a:solidFill>
                  <a:srgbClr val="2563C9"/>
                </a:solidFill>
                <a:latin typeface="맑은 고딕"/>
                <a:ea typeface="맑은 고딕"/>
                <a:cs typeface="맑은 고딕"/>
              </a:rPr>
              <a:t>전공정의 제조공정 역량</a:t>
            </a:r>
            <a:r>
              <a:rPr sz="1900" b="0" i="0" lang="ko-KR">
                <a:solidFill>
                  <a:srgbClr val="1E2532"/>
                </a:solidFill>
                <a:latin typeface="맑은 고딕"/>
                <a:ea typeface="맑은 고딕"/>
                <a:cs typeface="맑은 고딕"/>
              </a:rPr>
              <a:t>에 해당한다.</a:t>
            </a:r>
          </a:p>
        </p:txBody>
      </p:sp>
      <p:sp>
        <p:nvSpPr>
          <p:cNvPr id="71" name="Rounded Rectangle 70"/>
          <p:cNvSpPr/>
          <p:nvPr/>
        </p:nvSpPr>
        <p:spPr>
          <a:xfrm>
            <a:off x="900000" y="9792000"/>
            <a:ext cx="4410000" cy="1944000"/>
          </a:xfrm>
          <a:prstGeom prst="roundRect">
            <a:avLst>
              <a:gd name="adj" fmla="val 6000"/>
            </a:avLst>
          </a:prstGeom>
          <a:solidFill>
            <a:srgbClr val="FFFFFF"/>
          </a:solidFill>
          <a:ln>
            <a:noFill/>
          </a:ln>
          <a:effectLst>
            <a:outerShdw blurRad="190500" dist="50800" dir="5400000" algn="t" rotWithShape="0">
              <a:srgbClr val="1E2532">
                <a:alpha val="18000"/>
              </a:srgbClr>
            </a:outerShdw>
          </a:effectLst>
        </p:spPr>
        <p:txBody>
          <a:bodyPr rtlCol="0" anchor="ctr" lIns="54000" rIns="54000" tIns="54000" bIns="54000"/>
          <a:lstStyle/>
          <a:p>
            <a:pPr algn="ctr"/>
          </a:p>
        </p:txBody>
      </p:sp>
      <p:sp>
        <p:nvSpPr>
          <p:cNvPr id="72" name="TextBox 71"/>
          <p:cNvSpPr txBox="1"/>
          <p:nvPr/>
        </p:nvSpPr>
        <p:spPr>
          <a:xfrm>
            <a:off x="1008000" y="9864000"/>
            <a:ext cx="4194000" cy="324000"/>
          </a:xfrm>
          <a:prstGeom prst="rect">
            <a:avLst/>
          </a:prstGeom>
          <a:noFill/>
        </p:spPr>
        <p:txBody>
          <a:bodyPr wrap="square" lIns="0" rIns="0" tIns="0" bIns="0" anchor="t">
            <a:noAutofit/>
          </a:bodyPr>
          <a:lstStyle/>
          <a:p>
            <a:pPr algn="ctr" marL="0" indent="0">
              <a:lnSpc>
                <a:spcPts val="2400"/>
              </a:lnSpc>
              <a:spcBef>
                <a:spcPts val="0"/>
              </a:spcBef>
              <a:spcAft>
                <a:spcPts val="0"/>
              </a:spcAft>
              <a:buNone/>
            </a:pPr>
            <a:r>
              <a:rPr sz="2000" b="1" i="0" lang="ko-KR">
                <a:solidFill>
                  <a:srgbClr val="5B6475"/>
                </a:solidFill>
                <a:latin typeface="맑은 고딕"/>
                <a:ea typeface="맑은 고딕"/>
                <a:cs typeface="맑은 고딕"/>
              </a:rPr>
              <a:t>기존: 솔더 범프 접합</a:t>
            </a:r>
          </a:p>
        </p:txBody>
      </p:sp>
      <p:sp>
        <p:nvSpPr>
          <p:cNvPr id="73" name="Rectangle 72"/>
          <p:cNvSpPr/>
          <p:nvPr/>
        </p:nvSpPr>
        <p:spPr>
          <a:xfrm>
            <a:off x="1224000" y="10188000"/>
            <a:ext cx="3762000" cy="324000"/>
          </a:xfrm>
          <a:prstGeom prst="rect">
            <a:avLst/>
          </a:prstGeom>
          <a:solidFill>
            <a:srgbClr val="8A97AD"/>
          </a:solidFill>
          <a:ln>
            <a:noFill/>
          </a:ln>
        </p:spPr>
        <p:txBody>
          <a:bodyPr rtlCol="0" anchor="ctr" lIns="54000" rIns="54000" tIns="54000" bIns="54000"/>
          <a:lstStyle/>
          <a:p>
            <a:pPr algn="ctr"/>
          </a:p>
        </p:txBody>
      </p:sp>
      <p:sp>
        <p:nvSpPr>
          <p:cNvPr id="74" name="Oval 73"/>
          <p:cNvSpPr/>
          <p:nvPr/>
        </p:nvSpPr>
        <p:spPr>
          <a:xfrm>
            <a:off x="1422000" y="10504800"/>
            <a:ext cx="306000" cy="302400"/>
          </a:xfrm>
          <a:prstGeom prst="ellipse">
            <a:avLst/>
          </a:prstGeom>
          <a:solidFill>
            <a:srgbClr val="A9AFBA"/>
          </a:solidFill>
          <a:ln w="9525">
            <a:solidFill>
              <a:srgbClr val="7D8594"/>
            </a:solidFill>
          </a:ln>
        </p:spPr>
        <p:txBody>
          <a:bodyPr rtlCol="0" anchor="ctr" lIns="54000" rIns="54000" tIns="54000" bIns="54000"/>
          <a:lstStyle/>
          <a:p>
            <a:pPr algn="ctr"/>
          </a:p>
        </p:txBody>
      </p:sp>
      <p:sp>
        <p:nvSpPr>
          <p:cNvPr id="75" name="Oval 74"/>
          <p:cNvSpPr/>
          <p:nvPr/>
        </p:nvSpPr>
        <p:spPr>
          <a:xfrm>
            <a:off x="2187000" y="10504800"/>
            <a:ext cx="306000" cy="302400"/>
          </a:xfrm>
          <a:prstGeom prst="ellipse">
            <a:avLst/>
          </a:prstGeom>
          <a:solidFill>
            <a:srgbClr val="A9AFBA"/>
          </a:solidFill>
          <a:ln w="9525">
            <a:solidFill>
              <a:srgbClr val="7D8594"/>
            </a:solidFill>
          </a:ln>
        </p:spPr>
        <p:txBody>
          <a:bodyPr rtlCol="0" anchor="ctr" lIns="54000" rIns="54000" tIns="54000" bIns="54000"/>
          <a:lstStyle/>
          <a:p>
            <a:pPr algn="ctr"/>
          </a:p>
        </p:txBody>
      </p:sp>
      <p:sp>
        <p:nvSpPr>
          <p:cNvPr id="76" name="Oval 75"/>
          <p:cNvSpPr/>
          <p:nvPr/>
        </p:nvSpPr>
        <p:spPr>
          <a:xfrm>
            <a:off x="2952000" y="10504800"/>
            <a:ext cx="306000" cy="302400"/>
          </a:xfrm>
          <a:prstGeom prst="ellipse">
            <a:avLst/>
          </a:prstGeom>
          <a:solidFill>
            <a:srgbClr val="A9AFBA"/>
          </a:solidFill>
          <a:ln w="9525">
            <a:solidFill>
              <a:srgbClr val="7D8594"/>
            </a:solidFill>
          </a:ln>
        </p:spPr>
        <p:txBody>
          <a:bodyPr rtlCol="0" anchor="ctr" lIns="54000" rIns="54000" tIns="54000" bIns="54000"/>
          <a:lstStyle/>
          <a:p>
            <a:pPr algn="ctr"/>
          </a:p>
        </p:txBody>
      </p:sp>
      <p:sp>
        <p:nvSpPr>
          <p:cNvPr id="77" name="Oval 76"/>
          <p:cNvSpPr/>
          <p:nvPr/>
        </p:nvSpPr>
        <p:spPr>
          <a:xfrm>
            <a:off x="3717000" y="10504800"/>
            <a:ext cx="306000" cy="302400"/>
          </a:xfrm>
          <a:prstGeom prst="ellipse">
            <a:avLst/>
          </a:prstGeom>
          <a:solidFill>
            <a:srgbClr val="A9AFBA"/>
          </a:solidFill>
          <a:ln w="9525">
            <a:solidFill>
              <a:srgbClr val="7D8594"/>
            </a:solidFill>
          </a:ln>
        </p:spPr>
        <p:txBody>
          <a:bodyPr rtlCol="0" anchor="ctr" lIns="54000" rIns="54000" tIns="54000" bIns="54000"/>
          <a:lstStyle/>
          <a:p>
            <a:pPr algn="ctr"/>
          </a:p>
        </p:txBody>
      </p:sp>
      <p:sp>
        <p:nvSpPr>
          <p:cNvPr id="78" name="Oval 77"/>
          <p:cNvSpPr/>
          <p:nvPr/>
        </p:nvSpPr>
        <p:spPr>
          <a:xfrm>
            <a:off x="4482000" y="10504800"/>
            <a:ext cx="306000" cy="302400"/>
          </a:xfrm>
          <a:prstGeom prst="ellipse">
            <a:avLst/>
          </a:prstGeom>
          <a:solidFill>
            <a:srgbClr val="A9AFBA"/>
          </a:solidFill>
          <a:ln w="9525">
            <a:solidFill>
              <a:srgbClr val="7D8594"/>
            </a:solidFill>
          </a:ln>
        </p:spPr>
        <p:txBody>
          <a:bodyPr rtlCol="0" anchor="ctr" lIns="54000" rIns="54000" tIns="54000" bIns="54000"/>
          <a:lstStyle/>
          <a:p>
            <a:pPr algn="ctr"/>
          </a:p>
        </p:txBody>
      </p:sp>
      <p:sp>
        <p:nvSpPr>
          <p:cNvPr id="79" name="Rectangle 78"/>
          <p:cNvSpPr/>
          <p:nvPr/>
        </p:nvSpPr>
        <p:spPr>
          <a:xfrm>
            <a:off x="1224000" y="10800000"/>
            <a:ext cx="3762000" cy="324000"/>
          </a:xfrm>
          <a:prstGeom prst="rect">
            <a:avLst/>
          </a:prstGeom>
          <a:solidFill>
            <a:srgbClr val="5E6C85"/>
          </a:solidFill>
          <a:ln>
            <a:noFill/>
          </a:ln>
        </p:spPr>
        <p:txBody>
          <a:bodyPr rtlCol="0" anchor="ctr" lIns="54000" rIns="54000" tIns="54000" bIns="54000"/>
          <a:lstStyle/>
          <a:p>
            <a:pPr algn="ctr"/>
          </a:p>
        </p:txBody>
      </p:sp>
      <p:sp>
        <p:nvSpPr>
          <p:cNvPr id="80" name="TextBox 79"/>
          <p:cNvSpPr txBox="1"/>
          <p:nvPr/>
        </p:nvSpPr>
        <p:spPr>
          <a:xfrm>
            <a:off x="1008000" y="11214000"/>
            <a:ext cx="4194000" cy="468000"/>
          </a:xfrm>
          <a:prstGeom prst="rect">
            <a:avLst/>
          </a:prstGeom>
          <a:noFill/>
        </p:spPr>
        <p:txBody>
          <a:bodyPr wrap="square" lIns="0" rIns="0" tIns="0" bIns="0" anchor="t">
            <a:noAutofit/>
          </a:bodyPr>
          <a:lstStyle/>
          <a:p>
            <a:pPr algn="ctr" marL="0" indent="0">
              <a:lnSpc>
                <a:spcPts val="1920"/>
              </a:lnSpc>
              <a:spcBef>
                <a:spcPts val="0"/>
              </a:spcBef>
              <a:spcAft>
                <a:spcPts val="0"/>
              </a:spcAft>
              <a:buNone/>
            </a:pPr>
            <a:r>
              <a:rPr sz="1600" b="1" i="0" lang="ko-KR">
                <a:solidFill>
                  <a:srgbClr val="1E2532"/>
                </a:solidFill>
                <a:latin typeface="맑은 고딕"/>
                <a:ea typeface="맑은 고딕"/>
                <a:cs typeface="맑은 고딕"/>
              </a:rPr>
              <a:t>다이 사이를 솔더 범프로 연결</a:t>
            </a:r>
          </a:p>
          <a:p>
            <a:pPr algn="ctr" marL="0" indent="0">
              <a:lnSpc>
                <a:spcPts val="1920"/>
              </a:lnSpc>
              <a:spcBef>
                <a:spcPts val="0"/>
              </a:spcBef>
              <a:spcAft>
                <a:spcPts val="0"/>
              </a:spcAft>
              <a:buNone/>
            </a:pPr>
            <a:r>
              <a:rPr sz="1600" b="0" i="0" lang="ko-KR">
                <a:solidFill>
                  <a:srgbClr val="5B6475"/>
                </a:solidFill>
                <a:latin typeface="맑은 고딕"/>
                <a:ea typeface="맑은 고딕"/>
                <a:cs typeface="맑은 고딕"/>
              </a:rPr>
              <a:t>10 µm 이하 간격은 구현하기 어려움</a:t>
            </a:r>
          </a:p>
        </p:txBody>
      </p:sp>
      <p:sp>
        <p:nvSpPr>
          <p:cNvPr id="81" name="Rounded Rectangle 80"/>
          <p:cNvSpPr/>
          <p:nvPr/>
        </p:nvSpPr>
        <p:spPr>
          <a:xfrm>
            <a:off x="5742000" y="9792000"/>
            <a:ext cx="4410000" cy="1944000"/>
          </a:xfrm>
          <a:prstGeom prst="roundRect">
            <a:avLst>
              <a:gd name="adj" fmla="val 6000"/>
            </a:avLst>
          </a:prstGeom>
          <a:solidFill>
            <a:srgbClr val="FFFFFF"/>
          </a:solidFill>
          <a:ln>
            <a:noFill/>
          </a:ln>
          <a:effectLst>
            <a:outerShdw blurRad="190500" dist="50800" dir="5400000" algn="t" rotWithShape="0">
              <a:srgbClr val="1E2532">
                <a:alpha val="18000"/>
              </a:srgbClr>
            </a:outerShdw>
          </a:effectLst>
        </p:spPr>
        <p:txBody>
          <a:bodyPr rtlCol="0" anchor="ctr" lIns="54000" rIns="54000" tIns="54000" bIns="54000"/>
          <a:lstStyle/>
          <a:p>
            <a:pPr algn="ctr"/>
          </a:p>
        </p:txBody>
      </p:sp>
      <p:sp>
        <p:nvSpPr>
          <p:cNvPr id="82" name="TextBox 81"/>
          <p:cNvSpPr txBox="1"/>
          <p:nvPr/>
        </p:nvSpPr>
        <p:spPr>
          <a:xfrm>
            <a:off x="5850000" y="9864000"/>
            <a:ext cx="4194000" cy="324000"/>
          </a:xfrm>
          <a:prstGeom prst="rect">
            <a:avLst/>
          </a:prstGeom>
          <a:noFill/>
        </p:spPr>
        <p:txBody>
          <a:bodyPr wrap="square" lIns="0" rIns="0" tIns="0" bIns="0" anchor="t">
            <a:noAutofit/>
          </a:bodyPr>
          <a:lstStyle/>
          <a:p>
            <a:pPr algn="ctr" marL="0" indent="0">
              <a:lnSpc>
                <a:spcPts val="2400"/>
              </a:lnSpc>
              <a:spcBef>
                <a:spcPts val="0"/>
              </a:spcBef>
              <a:spcAft>
                <a:spcPts val="0"/>
              </a:spcAft>
              <a:buNone/>
            </a:pPr>
            <a:r>
              <a:rPr sz="2000" b="1" i="0" lang="ko-KR">
                <a:solidFill>
                  <a:srgbClr val="7C3AED"/>
                </a:solidFill>
                <a:latin typeface="맑은 고딕"/>
                <a:ea typeface="맑은 고딕"/>
                <a:cs typeface="맑은 고딕"/>
              </a:rPr>
              <a:t>하이브리드 본딩</a:t>
            </a:r>
          </a:p>
        </p:txBody>
      </p:sp>
      <p:sp>
        <p:nvSpPr>
          <p:cNvPr id="83" name="Rectangle 82"/>
          <p:cNvSpPr/>
          <p:nvPr/>
        </p:nvSpPr>
        <p:spPr>
          <a:xfrm>
            <a:off x="6066000" y="10188000"/>
            <a:ext cx="3762000" cy="324000"/>
          </a:xfrm>
          <a:prstGeom prst="rect">
            <a:avLst/>
          </a:prstGeom>
          <a:solidFill>
            <a:srgbClr val="8A97AD"/>
          </a:solidFill>
          <a:ln>
            <a:noFill/>
          </a:ln>
        </p:spPr>
        <p:txBody>
          <a:bodyPr rtlCol="0" anchor="ctr" lIns="54000" rIns="54000" tIns="54000" bIns="54000"/>
          <a:lstStyle/>
          <a:p>
            <a:pPr algn="ctr"/>
          </a:p>
        </p:txBody>
      </p:sp>
      <p:sp>
        <p:nvSpPr>
          <p:cNvPr id="84" name="Rectangle 83"/>
          <p:cNvSpPr/>
          <p:nvPr/>
        </p:nvSpPr>
        <p:spPr>
          <a:xfrm>
            <a:off x="6066000" y="10375200"/>
            <a:ext cx="3762000" cy="136800"/>
          </a:xfrm>
          <a:prstGeom prst="rect">
            <a:avLst/>
          </a:prstGeom>
          <a:solidFill>
            <a:srgbClr val="BFE3E6"/>
          </a:solidFill>
          <a:ln>
            <a:noFill/>
          </a:ln>
        </p:spPr>
        <p:txBody>
          <a:bodyPr rtlCol="0" anchor="ctr" lIns="54000" rIns="54000" tIns="54000" bIns="54000"/>
          <a:lstStyle/>
          <a:p>
            <a:pPr algn="ctr"/>
          </a:p>
        </p:txBody>
      </p:sp>
      <p:sp>
        <p:nvSpPr>
          <p:cNvPr id="85" name="Rectangle 84"/>
          <p:cNvSpPr/>
          <p:nvPr/>
        </p:nvSpPr>
        <p:spPr>
          <a:xfrm>
            <a:off x="6066000" y="10548000"/>
            <a:ext cx="3762000" cy="136800"/>
          </a:xfrm>
          <a:prstGeom prst="rect">
            <a:avLst/>
          </a:prstGeom>
          <a:solidFill>
            <a:srgbClr val="BFE3E6"/>
          </a:solidFill>
          <a:ln>
            <a:noFill/>
          </a:ln>
        </p:spPr>
        <p:txBody>
          <a:bodyPr rtlCol="0" anchor="ctr" lIns="54000" rIns="54000" tIns="54000" bIns="54000"/>
          <a:lstStyle/>
          <a:p>
            <a:pPr algn="ctr"/>
          </a:p>
        </p:txBody>
      </p:sp>
      <p:sp>
        <p:nvSpPr>
          <p:cNvPr id="86" name="Rectangle 85"/>
          <p:cNvSpPr/>
          <p:nvPr/>
        </p:nvSpPr>
        <p:spPr>
          <a:xfrm>
            <a:off x="6228000" y="10375200"/>
            <a:ext cx="252000" cy="136800"/>
          </a:xfrm>
          <a:prstGeom prst="rect">
            <a:avLst/>
          </a:prstGeom>
          <a:solidFill>
            <a:srgbClr val="EA7A28"/>
          </a:solidFill>
          <a:ln>
            <a:noFill/>
          </a:ln>
        </p:spPr>
        <p:txBody>
          <a:bodyPr rtlCol="0" anchor="ctr" lIns="54000" rIns="54000" tIns="54000" bIns="54000"/>
          <a:lstStyle/>
          <a:p>
            <a:pPr algn="ctr"/>
          </a:p>
        </p:txBody>
      </p:sp>
      <p:sp>
        <p:nvSpPr>
          <p:cNvPr id="87" name="Rectangle 86"/>
          <p:cNvSpPr/>
          <p:nvPr/>
        </p:nvSpPr>
        <p:spPr>
          <a:xfrm>
            <a:off x="6228000" y="10548000"/>
            <a:ext cx="252000" cy="136800"/>
          </a:xfrm>
          <a:prstGeom prst="rect">
            <a:avLst/>
          </a:prstGeom>
          <a:solidFill>
            <a:srgbClr val="EA7A28"/>
          </a:solidFill>
          <a:ln>
            <a:noFill/>
          </a:ln>
        </p:spPr>
        <p:txBody>
          <a:bodyPr rtlCol="0" anchor="ctr" lIns="54000" rIns="54000" tIns="54000" bIns="54000"/>
          <a:lstStyle/>
          <a:p>
            <a:pPr algn="ctr"/>
          </a:p>
        </p:txBody>
      </p:sp>
      <p:sp>
        <p:nvSpPr>
          <p:cNvPr id="88" name="Rectangle 87"/>
          <p:cNvSpPr/>
          <p:nvPr/>
        </p:nvSpPr>
        <p:spPr>
          <a:xfrm>
            <a:off x="6865200" y="10375200"/>
            <a:ext cx="252000" cy="136800"/>
          </a:xfrm>
          <a:prstGeom prst="rect">
            <a:avLst/>
          </a:prstGeom>
          <a:solidFill>
            <a:srgbClr val="EA7A28"/>
          </a:solidFill>
          <a:ln>
            <a:noFill/>
          </a:ln>
        </p:spPr>
        <p:txBody>
          <a:bodyPr rtlCol="0" anchor="ctr" lIns="54000" rIns="54000" tIns="54000" bIns="54000"/>
          <a:lstStyle/>
          <a:p>
            <a:pPr algn="ctr"/>
          </a:p>
        </p:txBody>
      </p:sp>
      <p:sp>
        <p:nvSpPr>
          <p:cNvPr id="89" name="Rectangle 88"/>
          <p:cNvSpPr/>
          <p:nvPr/>
        </p:nvSpPr>
        <p:spPr>
          <a:xfrm>
            <a:off x="6865200" y="10548000"/>
            <a:ext cx="252000" cy="136800"/>
          </a:xfrm>
          <a:prstGeom prst="rect">
            <a:avLst/>
          </a:prstGeom>
          <a:solidFill>
            <a:srgbClr val="EA7A28"/>
          </a:solidFill>
          <a:ln>
            <a:noFill/>
          </a:ln>
        </p:spPr>
        <p:txBody>
          <a:bodyPr rtlCol="0" anchor="ctr" lIns="54000" rIns="54000" tIns="54000" bIns="54000"/>
          <a:lstStyle/>
          <a:p>
            <a:pPr algn="ctr"/>
          </a:p>
        </p:txBody>
      </p:sp>
      <p:sp>
        <p:nvSpPr>
          <p:cNvPr id="90" name="Rectangle 89"/>
          <p:cNvSpPr/>
          <p:nvPr/>
        </p:nvSpPr>
        <p:spPr>
          <a:xfrm>
            <a:off x="7502400" y="10375200"/>
            <a:ext cx="252000" cy="136800"/>
          </a:xfrm>
          <a:prstGeom prst="rect">
            <a:avLst/>
          </a:prstGeom>
          <a:solidFill>
            <a:srgbClr val="EA7A28"/>
          </a:solidFill>
          <a:ln>
            <a:noFill/>
          </a:ln>
        </p:spPr>
        <p:txBody>
          <a:bodyPr rtlCol="0" anchor="ctr" lIns="54000" rIns="54000" tIns="54000" bIns="54000"/>
          <a:lstStyle/>
          <a:p>
            <a:pPr algn="ctr"/>
          </a:p>
        </p:txBody>
      </p:sp>
      <p:sp>
        <p:nvSpPr>
          <p:cNvPr id="91" name="Rectangle 90"/>
          <p:cNvSpPr/>
          <p:nvPr/>
        </p:nvSpPr>
        <p:spPr>
          <a:xfrm>
            <a:off x="7502400" y="10548000"/>
            <a:ext cx="252000" cy="136800"/>
          </a:xfrm>
          <a:prstGeom prst="rect">
            <a:avLst/>
          </a:prstGeom>
          <a:solidFill>
            <a:srgbClr val="EA7A28"/>
          </a:solidFill>
          <a:ln>
            <a:noFill/>
          </a:ln>
        </p:spPr>
        <p:txBody>
          <a:bodyPr rtlCol="0" anchor="ctr" lIns="54000" rIns="54000" tIns="54000" bIns="54000"/>
          <a:lstStyle/>
          <a:p>
            <a:pPr algn="ctr"/>
          </a:p>
        </p:txBody>
      </p:sp>
      <p:sp>
        <p:nvSpPr>
          <p:cNvPr id="92" name="Rectangle 91"/>
          <p:cNvSpPr/>
          <p:nvPr/>
        </p:nvSpPr>
        <p:spPr>
          <a:xfrm>
            <a:off x="8139600" y="10375200"/>
            <a:ext cx="252000" cy="136800"/>
          </a:xfrm>
          <a:prstGeom prst="rect">
            <a:avLst/>
          </a:prstGeom>
          <a:solidFill>
            <a:srgbClr val="EA7A28"/>
          </a:solidFill>
          <a:ln>
            <a:noFill/>
          </a:ln>
        </p:spPr>
        <p:txBody>
          <a:bodyPr rtlCol="0" anchor="ctr" lIns="54000" rIns="54000" tIns="54000" bIns="54000"/>
          <a:lstStyle/>
          <a:p>
            <a:pPr algn="ctr"/>
          </a:p>
        </p:txBody>
      </p:sp>
      <p:sp>
        <p:nvSpPr>
          <p:cNvPr id="93" name="Rectangle 92"/>
          <p:cNvSpPr/>
          <p:nvPr/>
        </p:nvSpPr>
        <p:spPr>
          <a:xfrm>
            <a:off x="8139600" y="10548000"/>
            <a:ext cx="252000" cy="136800"/>
          </a:xfrm>
          <a:prstGeom prst="rect">
            <a:avLst/>
          </a:prstGeom>
          <a:solidFill>
            <a:srgbClr val="EA7A28"/>
          </a:solidFill>
          <a:ln>
            <a:noFill/>
          </a:ln>
        </p:spPr>
        <p:txBody>
          <a:bodyPr rtlCol="0" anchor="ctr" lIns="54000" rIns="54000" tIns="54000" bIns="54000"/>
          <a:lstStyle/>
          <a:p>
            <a:pPr algn="ctr"/>
          </a:p>
        </p:txBody>
      </p:sp>
      <p:sp>
        <p:nvSpPr>
          <p:cNvPr id="94" name="Rectangle 93"/>
          <p:cNvSpPr/>
          <p:nvPr/>
        </p:nvSpPr>
        <p:spPr>
          <a:xfrm>
            <a:off x="8776800" y="10375200"/>
            <a:ext cx="252000" cy="136800"/>
          </a:xfrm>
          <a:prstGeom prst="rect">
            <a:avLst/>
          </a:prstGeom>
          <a:solidFill>
            <a:srgbClr val="EA7A28"/>
          </a:solidFill>
          <a:ln>
            <a:noFill/>
          </a:ln>
        </p:spPr>
        <p:txBody>
          <a:bodyPr rtlCol="0" anchor="ctr" lIns="54000" rIns="54000" tIns="54000" bIns="54000"/>
          <a:lstStyle/>
          <a:p>
            <a:pPr algn="ctr"/>
          </a:p>
        </p:txBody>
      </p:sp>
      <p:sp>
        <p:nvSpPr>
          <p:cNvPr id="95" name="Rectangle 94"/>
          <p:cNvSpPr/>
          <p:nvPr/>
        </p:nvSpPr>
        <p:spPr>
          <a:xfrm>
            <a:off x="8776800" y="10548000"/>
            <a:ext cx="252000" cy="136800"/>
          </a:xfrm>
          <a:prstGeom prst="rect">
            <a:avLst/>
          </a:prstGeom>
          <a:solidFill>
            <a:srgbClr val="EA7A28"/>
          </a:solidFill>
          <a:ln>
            <a:noFill/>
          </a:ln>
        </p:spPr>
        <p:txBody>
          <a:bodyPr rtlCol="0" anchor="ctr" lIns="54000" rIns="54000" tIns="54000" bIns="54000"/>
          <a:lstStyle/>
          <a:p>
            <a:pPr algn="ctr"/>
          </a:p>
        </p:txBody>
      </p:sp>
      <p:sp>
        <p:nvSpPr>
          <p:cNvPr id="96" name="Rectangle 95"/>
          <p:cNvSpPr/>
          <p:nvPr/>
        </p:nvSpPr>
        <p:spPr>
          <a:xfrm>
            <a:off x="9414000" y="10375200"/>
            <a:ext cx="252000" cy="136800"/>
          </a:xfrm>
          <a:prstGeom prst="rect">
            <a:avLst/>
          </a:prstGeom>
          <a:solidFill>
            <a:srgbClr val="EA7A28"/>
          </a:solidFill>
          <a:ln>
            <a:noFill/>
          </a:ln>
        </p:spPr>
        <p:txBody>
          <a:bodyPr rtlCol="0" anchor="ctr" lIns="54000" rIns="54000" tIns="54000" bIns="54000"/>
          <a:lstStyle/>
          <a:p>
            <a:pPr algn="ctr"/>
          </a:p>
        </p:txBody>
      </p:sp>
      <p:sp>
        <p:nvSpPr>
          <p:cNvPr id="97" name="Rectangle 96"/>
          <p:cNvSpPr/>
          <p:nvPr/>
        </p:nvSpPr>
        <p:spPr>
          <a:xfrm>
            <a:off x="9414000" y="10548000"/>
            <a:ext cx="252000" cy="136800"/>
          </a:xfrm>
          <a:prstGeom prst="rect">
            <a:avLst/>
          </a:prstGeom>
          <a:solidFill>
            <a:srgbClr val="EA7A28"/>
          </a:solidFill>
          <a:ln>
            <a:noFill/>
          </a:ln>
        </p:spPr>
        <p:txBody>
          <a:bodyPr rtlCol="0" anchor="ctr" lIns="54000" rIns="54000" tIns="54000" bIns="54000"/>
          <a:lstStyle/>
          <a:p>
            <a:pPr algn="ctr"/>
          </a:p>
        </p:txBody>
      </p:sp>
      <p:sp>
        <p:nvSpPr>
          <p:cNvPr id="98" name="Rectangle 97"/>
          <p:cNvSpPr/>
          <p:nvPr/>
        </p:nvSpPr>
        <p:spPr>
          <a:xfrm>
            <a:off x="6066000" y="10512000"/>
            <a:ext cx="3762000" cy="36000"/>
          </a:xfrm>
          <a:prstGeom prst="rect">
            <a:avLst/>
          </a:prstGeom>
          <a:solidFill>
            <a:srgbClr val="7C3AED"/>
          </a:solidFill>
          <a:ln>
            <a:noFill/>
          </a:ln>
        </p:spPr>
        <p:txBody>
          <a:bodyPr rtlCol="0" anchor="ctr" lIns="54000" rIns="54000" tIns="54000" bIns="54000"/>
          <a:lstStyle/>
          <a:p>
            <a:pPr algn="ctr"/>
          </a:p>
        </p:txBody>
      </p:sp>
      <p:sp>
        <p:nvSpPr>
          <p:cNvPr id="99" name="Rectangle 98"/>
          <p:cNvSpPr/>
          <p:nvPr/>
        </p:nvSpPr>
        <p:spPr>
          <a:xfrm>
            <a:off x="6066000" y="10684800"/>
            <a:ext cx="3762000" cy="324000"/>
          </a:xfrm>
          <a:prstGeom prst="rect">
            <a:avLst/>
          </a:prstGeom>
          <a:solidFill>
            <a:srgbClr val="5E6C85"/>
          </a:solidFill>
          <a:ln>
            <a:noFill/>
          </a:ln>
        </p:spPr>
        <p:txBody>
          <a:bodyPr rtlCol="0" anchor="ctr" lIns="54000" rIns="54000" tIns="54000" bIns="54000"/>
          <a:lstStyle/>
          <a:p>
            <a:pPr algn="ctr"/>
          </a:p>
        </p:txBody>
      </p:sp>
      <p:sp>
        <p:nvSpPr>
          <p:cNvPr id="100" name="TextBox 99"/>
          <p:cNvSpPr txBox="1"/>
          <p:nvPr/>
        </p:nvSpPr>
        <p:spPr>
          <a:xfrm>
            <a:off x="5850000" y="11214000"/>
            <a:ext cx="4194000" cy="468000"/>
          </a:xfrm>
          <a:prstGeom prst="rect">
            <a:avLst/>
          </a:prstGeom>
          <a:noFill/>
        </p:spPr>
        <p:txBody>
          <a:bodyPr wrap="square" lIns="0" rIns="0" tIns="0" bIns="0" anchor="t">
            <a:noAutofit/>
          </a:bodyPr>
          <a:lstStyle/>
          <a:p>
            <a:pPr algn="ctr" marL="0" indent="0">
              <a:lnSpc>
                <a:spcPts val="1920"/>
              </a:lnSpc>
              <a:spcBef>
                <a:spcPts val="0"/>
              </a:spcBef>
              <a:spcAft>
                <a:spcPts val="0"/>
              </a:spcAft>
              <a:buNone/>
            </a:pPr>
            <a:r>
              <a:rPr sz="1600" b="1" i="0" lang="ko-KR">
                <a:solidFill>
                  <a:srgbClr val="1E2532"/>
                </a:solidFill>
                <a:latin typeface="맑은 고딕"/>
                <a:ea typeface="맑은 고딕"/>
                <a:cs typeface="맑은 고딕"/>
              </a:rPr>
              <a:t>구리–구리 + 산화막–산화막 직접 접합</a:t>
            </a:r>
          </a:p>
          <a:p>
            <a:pPr algn="ctr" marL="0" indent="0">
              <a:lnSpc>
                <a:spcPts val="1920"/>
              </a:lnSpc>
              <a:spcBef>
                <a:spcPts val="0"/>
              </a:spcBef>
              <a:spcAft>
                <a:spcPts val="0"/>
              </a:spcAft>
              <a:buNone/>
            </a:pPr>
            <a:r>
              <a:rPr sz="1600" b="0" i="0" lang="ko-KR">
                <a:solidFill>
                  <a:srgbClr val="5B6475"/>
                </a:solidFill>
                <a:latin typeface="맑은 고딕"/>
                <a:ea typeface="맑은 고딕"/>
                <a:cs typeface="맑은 고딕"/>
              </a:rPr>
              <a:t>범프 없이 10 µm 이하 간격</a:t>
            </a:r>
          </a:p>
        </p:txBody>
      </p:sp>
      <p:cxnSp>
        <p:nvCxnSpPr>
          <p:cNvPr id="101" name="Connector 100"/>
          <p:cNvCxnSpPr/>
          <p:nvPr/>
        </p:nvCxnSpPr>
        <p:spPr>
          <a:xfrm>
            <a:off x="5364000" y="10764000"/>
            <a:ext cx="324000" cy="0"/>
          </a:xfrm>
          <a:prstGeom prst="line">
            <a:avLst/>
          </a:prstGeom>
          <a:ln w="50800">
            <a:solidFill>
              <a:srgbClr val="7C3AED"/>
            </a:solidFill>
            <a:tailEnd type="triangle" w="med" len="med"/>
          </a:ln>
        </p:spPr>
      </p:cxnSp>
      <p:sp>
        <p:nvSpPr>
          <p:cNvPr id="102" name="Rounded Rectangle 101"/>
          <p:cNvSpPr/>
          <p:nvPr/>
        </p:nvSpPr>
        <p:spPr>
          <a:xfrm>
            <a:off x="10908000" y="5832000"/>
            <a:ext cx="9900000" cy="6120000"/>
          </a:xfrm>
          <a:prstGeom prst="roundRect">
            <a:avLst>
              <a:gd name="adj" fmla="val 2500"/>
            </a:avLst>
          </a:prstGeom>
          <a:solidFill>
            <a:srgbClr val="F2F5FA"/>
          </a:solidFill>
          <a:ln>
            <a:noFill/>
          </a:ln>
        </p:spPr>
        <p:txBody>
          <a:bodyPr rtlCol="0" anchor="ctr" lIns="54000" rIns="54000" tIns="54000" bIns="54000"/>
          <a:lstStyle/>
          <a:p>
            <a:pPr algn="ctr"/>
          </a:p>
        </p:txBody>
      </p:sp>
      <p:sp>
        <p:nvSpPr>
          <p:cNvPr id="103" name="Oval 102"/>
          <p:cNvSpPr/>
          <p:nvPr/>
        </p:nvSpPr>
        <p:spPr>
          <a:xfrm>
            <a:off x="11160000" y="6048000"/>
            <a:ext cx="828000" cy="828000"/>
          </a:xfrm>
          <a:prstGeom prst="ellipse">
            <a:avLst/>
          </a:prstGeom>
          <a:solidFill>
            <a:srgbClr val="13294B"/>
          </a:solidFill>
          <a:ln>
            <a:noFill/>
          </a:ln>
        </p:spPr>
        <p:txBody>
          <a:bodyPr rtlCol="0" anchor="ctr" lIns="0" rIns="0" tIns="36000" bIns="36000" wrap="square"/>
          <a:lstStyle/>
          <a:p>
            <a:pPr algn="ctr" marL="0" indent="0">
              <a:lnSpc>
                <a:spcPts val="3600"/>
              </a:lnSpc>
              <a:spcBef>
                <a:spcPts val="0"/>
              </a:spcBef>
              <a:spcAft>
                <a:spcPts val="0"/>
              </a:spcAft>
              <a:buNone/>
            </a:pPr>
            <a:r>
              <a:rPr sz="3000" b="1" i="0" lang="ko-KR">
                <a:solidFill>
                  <a:srgbClr val="FFFFFF"/>
                </a:solidFill>
                <a:latin typeface="맑은 고딕"/>
                <a:ea typeface="맑은 고딕"/>
                <a:cs typeface="맑은 고딕"/>
              </a:rPr>
              <a:t>02</a:t>
            </a:r>
          </a:p>
        </p:txBody>
      </p:sp>
      <p:sp>
        <p:nvSpPr>
          <p:cNvPr id="104" name="TextBox 103"/>
          <p:cNvSpPr txBox="1"/>
          <p:nvPr/>
        </p:nvSpPr>
        <p:spPr>
          <a:xfrm>
            <a:off x="12132000" y="6030000"/>
            <a:ext cx="8388000" cy="864000"/>
          </a:xfrm>
          <a:prstGeom prst="rect">
            <a:avLst/>
          </a:prstGeom>
          <a:noFill/>
        </p:spPr>
        <p:txBody>
          <a:bodyPr wrap="square" lIns="0" rIns="0" tIns="0" bIns="0" anchor="ctr">
            <a:noAutofit/>
          </a:bodyPr>
          <a:lstStyle/>
          <a:p>
            <a:pPr algn="l" marL="0" indent="0">
              <a:lnSpc>
                <a:spcPts val="4800"/>
              </a:lnSpc>
              <a:spcBef>
                <a:spcPts val="0"/>
              </a:spcBef>
              <a:spcAft>
                <a:spcPts val="0"/>
              </a:spcAft>
              <a:buNone/>
            </a:pPr>
            <a:r>
              <a:rPr sz="4000" b="1" i="0" lang="ko-KR">
                <a:solidFill>
                  <a:srgbClr val="13294B"/>
                </a:solidFill>
                <a:latin typeface="맑은 고딕"/>
                <a:ea typeface="맑은 고딕"/>
                <a:cs typeface="맑은 고딕"/>
              </a:rPr>
              <a:t>연구 질문</a:t>
            </a:r>
          </a:p>
        </p:txBody>
      </p:sp>
      <p:sp>
        <p:nvSpPr>
          <p:cNvPr id="105" name="TextBox 104"/>
          <p:cNvSpPr txBox="1"/>
          <p:nvPr/>
        </p:nvSpPr>
        <p:spPr>
          <a:xfrm>
            <a:off x="11232000" y="6948000"/>
            <a:ext cx="9252000" cy="1224000"/>
          </a:xfrm>
          <a:prstGeom prst="rect">
            <a:avLst/>
          </a:prstGeom>
          <a:noFill/>
        </p:spPr>
        <p:txBody>
          <a:bodyPr wrap="square" lIns="0" rIns="0" tIns="0" bIns="0" anchor="t">
            <a:noAutofit/>
          </a:bodyPr>
          <a:lstStyle/>
          <a:p>
            <a:pPr algn="l" marL="0" indent="0">
              <a:lnSpc>
                <a:spcPts val="2400"/>
              </a:lnSpc>
              <a:spcBef>
                <a:spcPts val="0"/>
              </a:spcBef>
              <a:spcAft>
                <a:spcPts val="0"/>
              </a:spcAft>
              <a:buNone/>
            </a:pPr>
            <a:r>
              <a:rPr sz="2000" b="0" i="0" lang="ko-KR">
                <a:solidFill>
                  <a:srgbClr val="1E2532"/>
                </a:solidFill>
                <a:latin typeface="맑은 고딕"/>
                <a:ea typeface="맑은 고딕"/>
                <a:cs typeface="맑은 고딕"/>
              </a:rPr>
              <a:t>기존 기술융합 연구는 주로 </a:t>
            </a:r>
            <a:r>
              <a:rPr sz="2000" b="1" i="0" lang="ko-KR">
                <a:solidFill>
                  <a:srgbClr val="1E2532"/>
                </a:solidFill>
                <a:latin typeface="맑은 고딕"/>
                <a:ea typeface="맑은 고딕"/>
                <a:cs typeface="맑은 고딕"/>
              </a:rPr>
              <a:t>서로 다른 산업·기술 분야 사이</a:t>
            </a:r>
            <a:r>
              <a:rPr sz="2000" b="0" i="0" lang="ko-KR">
                <a:solidFill>
                  <a:srgbClr val="1E2532"/>
                </a:solidFill>
                <a:latin typeface="맑은 고딕"/>
                <a:ea typeface="맑은 고딕"/>
                <a:cs typeface="맑은 고딕"/>
              </a:rPr>
              <a:t>의 융합(ICT–가전, 식품–제약, 나노–바이오)을 다루었다. 반면 </a:t>
            </a:r>
            <a:r>
              <a:rPr sz="2000" b="1" i="0" lang="ko-KR">
                <a:solidFill>
                  <a:srgbClr val="7C3AED"/>
                </a:solidFill>
                <a:latin typeface="맑은 고딕"/>
                <a:ea typeface="맑은 고딕"/>
                <a:cs typeface="맑은 고딕"/>
              </a:rPr>
              <a:t>한 산업 안에서 공정 단계를 가로지르는 융합</a:t>
            </a:r>
            <a:r>
              <a:rPr sz="2000" b="0" i="0" lang="ko-KR">
                <a:solidFill>
                  <a:srgbClr val="1E2532"/>
                </a:solidFill>
                <a:latin typeface="맑은 고딕"/>
                <a:ea typeface="맑은 고딕"/>
                <a:cs typeface="맑은 고딕"/>
              </a:rPr>
              <a:t>과 </a:t>
            </a:r>
            <a:r>
              <a:rPr sz="2000" b="1" i="0" lang="ko-KR">
                <a:solidFill>
                  <a:srgbClr val="7C3AED"/>
                </a:solidFill>
                <a:latin typeface="맑은 고딕"/>
                <a:ea typeface="맑은 고딕"/>
                <a:cs typeface="맑은 고딕"/>
              </a:rPr>
              <a:t>융합 내용의 시간적 변화</a:t>
            </a:r>
            <a:r>
              <a:rPr sz="2000" b="0" i="0" lang="ko-KR">
                <a:solidFill>
                  <a:srgbClr val="1E2532"/>
                </a:solidFill>
                <a:latin typeface="맑은 고딕"/>
                <a:ea typeface="맑은 고딕"/>
                <a:cs typeface="맑은 고딕"/>
              </a:rPr>
              <a:t>는 실증 연구가 부족하다.</a:t>
            </a:r>
          </a:p>
        </p:txBody>
      </p:sp>
      <p:sp>
        <p:nvSpPr>
          <p:cNvPr id="106" name="Rounded Rectangle 105"/>
          <p:cNvSpPr/>
          <p:nvPr/>
        </p:nvSpPr>
        <p:spPr>
          <a:xfrm>
            <a:off x="11232000" y="8172000"/>
            <a:ext cx="9252000" cy="1116000"/>
          </a:xfrm>
          <a:prstGeom prst="roundRect">
            <a:avLst>
              <a:gd name="adj" fmla="val 10000"/>
            </a:avLst>
          </a:prstGeom>
          <a:solidFill>
            <a:srgbClr val="FFFFFF"/>
          </a:solidFill>
          <a:ln>
            <a:noFill/>
          </a:ln>
          <a:effectLst>
            <a:outerShdw blurRad="190500" dist="50800" dir="5400000" algn="t" rotWithShape="0">
              <a:srgbClr val="1E2532">
                <a:alpha val="18000"/>
              </a:srgbClr>
            </a:outerShdw>
          </a:effectLst>
        </p:spPr>
        <p:txBody>
          <a:bodyPr rtlCol="0" anchor="ctr" lIns="54000" rIns="54000" tIns="54000" bIns="54000"/>
          <a:lstStyle/>
          <a:p>
            <a:pPr algn="ctr"/>
          </a:p>
        </p:txBody>
      </p:sp>
      <p:sp>
        <p:nvSpPr>
          <p:cNvPr id="107" name="Rounded Rectangle 106"/>
          <p:cNvSpPr/>
          <p:nvPr/>
        </p:nvSpPr>
        <p:spPr>
          <a:xfrm>
            <a:off x="11358000" y="8316000"/>
            <a:ext cx="1224000" cy="828000"/>
          </a:xfrm>
          <a:prstGeom prst="roundRect">
            <a:avLst>
              <a:gd name="adj" fmla="val 18000"/>
            </a:avLst>
          </a:prstGeom>
          <a:solidFill>
            <a:srgbClr val="13294B"/>
          </a:solidFill>
          <a:ln>
            <a:noFill/>
          </a:ln>
        </p:spPr>
        <p:txBody>
          <a:bodyPr rtlCol="0" anchor="ctr" lIns="0" rIns="0" tIns="36000" bIns="36000" wrap="square"/>
          <a:lstStyle/>
          <a:p>
            <a:pPr algn="ctr" marL="0" indent="0">
              <a:lnSpc>
                <a:spcPts val="3360"/>
              </a:lnSpc>
              <a:spcBef>
                <a:spcPts val="0"/>
              </a:spcBef>
              <a:spcAft>
                <a:spcPts val="0"/>
              </a:spcAft>
              <a:buNone/>
            </a:pPr>
            <a:r>
              <a:rPr sz="2800" b="1" i="0" lang="ko-KR">
                <a:solidFill>
                  <a:srgbClr val="FFC000"/>
                </a:solidFill>
                <a:latin typeface="맑은 고딕"/>
                <a:ea typeface="맑은 고딕"/>
                <a:cs typeface="맑은 고딕"/>
              </a:rPr>
              <a:t>RQ1</a:t>
            </a:r>
          </a:p>
        </p:txBody>
      </p:sp>
      <p:sp>
        <p:nvSpPr>
          <p:cNvPr id="108" name="TextBox 107"/>
          <p:cNvSpPr txBox="1"/>
          <p:nvPr/>
        </p:nvSpPr>
        <p:spPr>
          <a:xfrm>
            <a:off x="12744000" y="8226000"/>
            <a:ext cx="7596000" cy="1008000"/>
          </a:xfrm>
          <a:prstGeom prst="rect">
            <a:avLst/>
          </a:prstGeom>
          <a:noFill/>
        </p:spPr>
        <p:txBody>
          <a:bodyPr wrap="square" lIns="0" rIns="0" tIns="0" bIns="0" anchor="ctr">
            <a:noAutofit/>
          </a:bodyPr>
          <a:lstStyle/>
          <a:p>
            <a:pPr algn="l" marL="0" indent="0">
              <a:lnSpc>
                <a:spcPts val="2640"/>
              </a:lnSpc>
              <a:spcBef>
                <a:spcPts val="0"/>
              </a:spcBef>
              <a:spcAft>
                <a:spcPts val="100"/>
              </a:spcAft>
              <a:buNone/>
            </a:pPr>
            <a:r>
              <a:rPr sz="2200" b="1" i="0" lang="ko-KR">
                <a:solidFill>
                  <a:srgbClr val="13294B"/>
                </a:solidFill>
                <a:latin typeface="맑은 고딕"/>
                <a:ea typeface="맑은 고딕"/>
                <a:cs typeface="맑은 고딕"/>
              </a:rPr>
              <a:t>수준과 유형</a:t>
            </a:r>
          </a:p>
          <a:p>
            <a:pPr algn="l" marL="0" indent="0">
              <a:lnSpc>
                <a:spcPts val="2280"/>
              </a:lnSpc>
              <a:spcBef>
                <a:spcPts val="0"/>
              </a:spcBef>
              <a:spcAft>
                <a:spcPts val="0"/>
              </a:spcAft>
              <a:buNone/>
            </a:pPr>
            <a:r>
              <a:rPr sz="1900" b="0" i="0" lang="ko-KR">
                <a:solidFill>
                  <a:srgbClr val="1E2532"/>
                </a:solidFill>
                <a:latin typeface="맑은 고딕"/>
                <a:ea typeface="맑은 고딕"/>
                <a:cs typeface="맑은 고딕"/>
              </a:rPr>
              <a:t>제조공정과 접합 기술 간의 융합은 어느 정도로, 어떠한 형태로 나타나는가?</a:t>
            </a:r>
          </a:p>
        </p:txBody>
      </p:sp>
      <p:sp>
        <p:nvSpPr>
          <p:cNvPr id="109" name="Rounded Rectangle 108"/>
          <p:cNvSpPr/>
          <p:nvPr/>
        </p:nvSpPr>
        <p:spPr>
          <a:xfrm>
            <a:off x="11232000" y="9396000"/>
            <a:ext cx="9252000" cy="1116000"/>
          </a:xfrm>
          <a:prstGeom prst="roundRect">
            <a:avLst>
              <a:gd name="adj" fmla="val 10000"/>
            </a:avLst>
          </a:prstGeom>
          <a:solidFill>
            <a:srgbClr val="FFFFFF"/>
          </a:solidFill>
          <a:ln>
            <a:noFill/>
          </a:ln>
          <a:effectLst>
            <a:outerShdw blurRad="190500" dist="50800" dir="5400000" algn="t" rotWithShape="0">
              <a:srgbClr val="1E2532">
                <a:alpha val="18000"/>
              </a:srgbClr>
            </a:outerShdw>
          </a:effectLst>
        </p:spPr>
        <p:txBody>
          <a:bodyPr rtlCol="0" anchor="ctr" lIns="54000" rIns="54000" tIns="54000" bIns="54000"/>
          <a:lstStyle/>
          <a:p>
            <a:pPr algn="ctr"/>
          </a:p>
        </p:txBody>
      </p:sp>
      <p:sp>
        <p:nvSpPr>
          <p:cNvPr id="110" name="Rounded Rectangle 109"/>
          <p:cNvSpPr/>
          <p:nvPr/>
        </p:nvSpPr>
        <p:spPr>
          <a:xfrm>
            <a:off x="11358000" y="9540000"/>
            <a:ext cx="1224000" cy="828000"/>
          </a:xfrm>
          <a:prstGeom prst="roundRect">
            <a:avLst>
              <a:gd name="adj" fmla="val 18000"/>
            </a:avLst>
          </a:prstGeom>
          <a:solidFill>
            <a:srgbClr val="13294B"/>
          </a:solidFill>
          <a:ln>
            <a:noFill/>
          </a:ln>
        </p:spPr>
        <p:txBody>
          <a:bodyPr rtlCol="0" anchor="ctr" lIns="0" rIns="0" tIns="36000" bIns="36000" wrap="square"/>
          <a:lstStyle/>
          <a:p>
            <a:pPr algn="ctr" marL="0" indent="0">
              <a:lnSpc>
                <a:spcPts val="3360"/>
              </a:lnSpc>
              <a:spcBef>
                <a:spcPts val="0"/>
              </a:spcBef>
              <a:spcAft>
                <a:spcPts val="0"/>
              </a:spcAft>
              <a:buNone/>
            </a:pPr>
            <a:r>
              <a:rPr sz="2800" b="1" i="0" lang="ko-KR">
                <a:solidFill>
                  <a:srgbClr val="FFC000"/>
                </a:solidFill>
                <a:latin typeface="맑은 고딕"/>
                <a:ea typeface="맑은 고딕"/>
                <a:cs typeface="맑은 고딕"/>
              </a:rPr>
              <a:t>RQ2</a:t>
            </a:r>
          </a:p>
        </p:txBody>
      </p:sp>
      <p:sp>
        <p:nvSpPr>
          <p:cNvPr id="111" name="TextBox 110"/>
          <p:cNvSpPr txBox="1"/>
          <p:nvPr/>
        </p:nvSpPr>
        <p:spPr>
          <a:xfrm>
            <a:off x="12744000" y="9450000"/>
            <a:ext cx="7596000" cy="1008000"/>
          </a:xfrm>
          <a:prstGeom prst="rect">
            <a:avLst/>
          </a:prstGeom>
          <a:noFill/>
        </p:spPr>
        <p:txBody>
          <a:bodyPr wrap="square" lIns="0" rIns="0" tIns="0" bIns="0" anchor="ctr">
            <a:noAutofit/>
          </a:bodyPr>
          <a:lstStyle/>
          <a:p>
            <a:pPr algn="l" marL="0" indent="0">
              <a:lnSpc>
                <a:spcPts val="2640"/>
              </a:lnSpc>
              <a:spcBef>
                <a:spcPts val="0"/>
              </a:spcBef>
              <a:spcAft>
                <a:spcPts val="100"/>
              </a:spcAft>
              <a:buNone/>
            </a:pPr>
            <a:r>
              <a:rPr sz="2200" b="1" i="0" lang="ko-KR">
                <a:solidFill>
                  <a:srgbClr val="13294B"/>
                </a:solidFill>
                <a:latin typeface="맑은 고딕"/>
                <a:ea typeface="맑은 고딕"/>
                <a:cs typeface="맑은 고딕"/>
              </a:rPr>
              <a:t>시간적 변화</a:t>
            </a:r>
          </a:p>
          <a:p>
            <a:pPr algn="l" marL="0" indent="0">
              <a:lnSpc>
                <a:spcPts val="2280"/>
              </a:lnSpc>
              <a:spcBef>
                <a:spcPts val="0"/>
              </a:spcBef>
              <a:spcAft>
                <a:spcPts val="0"/>
              </a:spcAft>
              <a:buNone/>
            </a:pPr>
            <a:r>
              <a:rPr sz="1900" b="0" i="0" lang="ko-KR">
                <a:solidFill>
                  <a:srgbClr val="1E2532"/>
                </a:solidFill>
                <a:latin typeface="맑은 고딕"/>
                <a:ea typeface="맑은 고딕"/>
                <a:cs typeface="맑은 고딕"/>
              </a:rPr>
              <a:t>융합의 수준과 형태는 시간에 따라 어떻게 변화하는가?</a:t>
            </a:r>
          </a:p>
        </p:txBody>
      </p:sp>
      <p:sp>
        <p:nvSpPr>
          <p:cNvPr id="112" name="Rounded Rectangle 111"/>
          <p:cNvSpPr/>
          <p:nvPr/>
        </p:nvSpPr>
        <p:spPr>
          <a:xfrm>
            <a:off x="11232000" y="10620000"/>
            <a:ext cx="9252000" cy="1116000"/>
          </a:xfrm>
          <a:prstGeom prst="roundRect">
            <a:avLst>
              <a:gd name="adj" fmla="val 10000"/>
            </a:avLst>
          </a:prstGeom>
          <a:solidFill>
            <a:srgbClr val="FFFFFF"/>
          </a:solidFill>
          <a:ln>
            <a:noFill/>
          </a:ln>
          <a:effectLst>
            <a:outerShdw blurRad="190500" dist="50800" dir="5400000" algn="t" rotWithShape="0">
              <a:srgbClr val="1E2532">
                <a:alpha val="18000"/>
              </a:srgbClr>
            </a:outerShdw>
          </a:effectLst>
        </p:spPr>
        <p:txBody>
          <a:bodyPr rtlCol="0" anchor="ctr" lIns="54000" rIns="54000" tIns="54000" bIns="54000"/>
          <a:lstStyle/>
          <a:p>
            <a:pPr algn="ctr"/>
          </a:p>
        </p:txBody>
      </p:sp>
      <p:sp>
        <p:nvSpPr>
          <p:cNvPr id="113" name="Rounded Rectangle 112"/>
          <p:cNvSpPr/>
          <p:nvPr/>
        </p:nvSpPr>
        <p:spPr>
          <a:xfrm>
            <a:off x="11358000" y="10764000"/>
            <a:ext cx="1224000" cy="828000"/>
          </a:xfrm>
          <a:prstGeom prst="roundRect">
            <a:avLst>
              <a:gd name="adj" fmla="val 18000"/>
            </a:avLst>
          </a:prstGeom>
          <a:solidFill>
            <a:srgbClr val="13294B"/>
          </a:solidFill>
          <a:ln>
            <a:noFill/>
          </a:ln>
        </p:spPr>
        <p:txBody>
          <a:bodyPr rtlCol="0" anchor="ctr" lIns="0" rIns="0" tIns="36000" bIns="36000" wrap="square"/>
          <a:lstStyle/>
          <a:p>
            <a:pPr algn="ctr" marL="0" indent="0">
              <a:lnSpc>
                <a:spcPts val="3360"/>
              </a:lnSpc>
              <a:spcBef>
                <a:spcPts val="0"/>
              </a:spcBef>
              <a:spcAft>
                <a:spcPts val="0"/>
              </a:spcAft>
              <a:buNone/>
            </a:pPr>
            <a:r>
              <a:rPr sz="2800" b="1" i="0" lang="ko-KR">
                <a:solidFill>
                  <a:srgbClr val="FFC000"/>
                </a:solidFill>
                <a:latin typeface="맑은 고딕"/>
                <a:ea typeface="맑은 고딕"/>
                <a:cs typeface="맑은 고딕"/>
              </a:rPr>
              <a:t>RQ3</a:t>
            </a:r>
          </a:p>
        </p:txBody>
      </p:sp>
      <p:sp>
        <p:nvSpPr>
          <p:cNvPr id="114" name="TextBox 113"/>
          <p:cNvSpPr txBox="1"/>
          <p:nvPr/>
        </p:nvSpPr>
        <p:spPr>
          <a:xfrm>
            <a:off x="12744000" y="10674000"/>
            <a:ext cx="7596000" cy="1008000"/>
          </a:xfrm>
          <a:prstGeom prst="rect">
            <a:avLst/>
          </a:prstGeom>
          <a:noFill/>
        </p:spPr>
        <p:txBody>
          <a:bodyPr wrap="square" lIns="0" rIns="0" tIns="0" bIns="0" anchor="ctr">
            <a:noAutofit/>
          </a:bodyPr>
          <a:lstStyle/>
          <a:p>
            <a:pPr algn="l" marL="0" indent="0">
              <a:lnSpc>
                <a:spcPts val="2640"/>
              </a:lnSpc>
              <a:spcBef>
                <a:spcPts val="0"/>
              </a:spcBef>
              <a:spcAft>
                <a:spcPts val="100"/>
              </a:spcAft>
              <a:buNone/>
            </a:pPr>
            <a:r>
              <a:rPr sz="2200" b="1" i="0" lang="ko-KR">
                <a:solidFill>
                  <a:srgbClr val="13294B"/>
                </a:solidFill>
                <a:latin typeface="맑은 고딕"/>
                <a:ea typeface="맑은 고딕"/>
                <a:cs typeface="맑은 고딕"/>
              </a:rPr>
              <a:t>구조적 중심 변화</a:t>
            </a:r>
          </a:p>
          <a:p>
            <a:pPr algn="l" marL="0" indent="0">
              <a:lnSpc>
                <a:spcPts val="2280"/>
              </a:lnSpc>
              <a:spcBef>
                <a:spcPts val="0"/>
              </a:spcBef>
              <a:spcAft>
                <a:spcPts val="0"/>
              </a:spcAft>
              <a:buNone/>
            </a:pPr>
            <a:r>
              <a:rPr sz="1900" b="0" i="0" lang="ko-KR">
                <a:solidFill>
                  <a:srgbClr val="1E2532"/>
                </a:solidFill>
                <a:latin typeface="맑은 고딕"/>
                <a:ea typeface="맑은 고딕"/>
                <a:cs typeface="맑은 고딕"/>
              </a:rPr>
              <a:t>융합의 중심은 핵심 기술과 주변 기술 사이에서 어떻게 이동하는가?</a:t>
            </a:r>
          </a:p>
        </p:txBody>
      </p:sp>
      <p:sp>
        <p:nvSpPr>
          <p:cNvPr id="115" name="Rounded Rectangle 114"/>
          <p:cNvSpPr/>
          <p:nvPr/>
        </p:nvSpPr>
        <p:spPr>
          <a:xfrm>
            <a:off x="576000" y="12204000"/>
            <a:ext cx="20232000" cy="5400000"/>
          </a:xfrm>
          <a:prstGeom prst="roundRect">
            <a:avLst>
              <a:gd name="adj" fmla="val 2500"/>
            </a:avLst>
          </a:prstGeom>
          <a:solidFill>
            <a:srgbClr val="F2F5FA"/>
          </a:solidFill>
          <a:ln>
            <a:noFill/>
          </a:ln>
        </p:spPr>
        <p:txBody>
          <a:bodyPr rtlCol="0" anchor="ctr" lIns="54000" rIns="54000" tIns="54000" bIns="54000"/>
          <a:lstStyle/>
          <a:p>
            <a:pPr algn="ctr"/>
          </a:p>
        </p:txBody>
      </p:sp>
      <p:sp>
        <p:nvSpPr>
          <p:cNvPr id="116" name="Oval 115"/>
          <p:cNvSpPr/>
          <p:nvPr/>
        </p:nvSpPr>
        <p:spPr>
          <a:xfrm>
            <a:off x="828000" y="12420000"/>
            <a:ext cx="828000" cy="828000"/>
          </a:xfrm>
          <a:prstGeom prst="ellipse">
            <a:avLst/>
          </a:prstGeom>
          <a:solidFill>
            <a:srgbClr val="13294B"/>
          </a:solidFill>
          <a:ln>
            <a:noFill/>
          </a:ln>
        </p:spPr>
        <p:txBody>
          <a:bodyPr rtlCol="0" anchor="ctr" lIns="0" rIns="0" tIns="36000" bIns="36000" wrap="square"/>
          <a:lstStyle/>
          <a:p>
            <a:pPr algn="ctr" marL="0" indent="0">
              <a:lnSpc>
                <a:spcPts val="3600"/>
              </a:lnSpc>
              <a:spcBef>
                <a:spcPts val="0"/>
              </a:spcBef>
              <a:spcAft>
                <a:spcPts val="0"/>
              </a:spcAft>
              <a:buNone/>
            </a:pPr>
            <a:r>
              <a:rPr sz="3000" b="1" i="0" lang="ko-KR">
                <a:solidFill>
                  <a:srgbClr val="FFFFFF"/>
                </a:solidFill>
                <a:latin typeface="맑은 고딕"/>
                <a:ea typeface="맑은 고딕"/>
                <a:cs typeface="맑은 고딕"/>
              </a:rPr>
              <a:t>03</a:t>
            </a:r>
          </a:p>
        </p:txBody>
      </p:sp>
      <p:sp>
        <p:nvSpPr>
          <p:cNvPr id="117" name="TextBox 116"/>
          <p:cNvSpPr txBox="1"/>
          <p:nvPr/>
        </p:nvSpPr>
        <p:spPr>
          <a:xfrm>
            <a:off x="1800000" y="12402000"/>
            <a:ext cx="18720000" cy="864000"/>
          </a:xfrm>
          <a:prstGeom prst="rect">
            <a:avLst/>
          </a:prstGeom>
          <a:noFill/>
        </p:spPr>
        <p:txBody>
          <a:bodyPr wrap="square" lIns="0" rIns="0" tIns="0" bIns="0" anchor="ctr">
            <a:noAutofit/>
          </a:bodyPr>
          <a:lstStyle/>
          <a:p>
            <a:pPr algn="l" marL="0" indent="0">
              <a:lnSpc>
                <a:spcPts val="4800"/>
              </a:lnSpc>
              <a:spcBef>
                <a:spcPts val="0"/>
              </a:spcBef>
              <a:spcAft>
                <a:spcPts val="0"/>
              </a:spcAft>
              <a:buNone/>
            </a:pPr>
            <a:r>
              <a:rPr sz="4000" b="1" i="0" lang="ko-KR">
                <a:solidFill>
                  <a:srgbClr val="13294B"/>
                </a:solidFill>
                <a:latin typeface="맑은 고딕"/>
                <a:ea typeface="맑은 고딕"/>
                <a:cs typeface="맑은 고딕"/>
              </a:rPr>
              <a:t>자료와 방법</a:t>
            </a:r>
          </a:p>
        </p:txBody>
      </p:sp>
      <p:sp>
        <p:nvSpPr>
          <p:cNvPr id="118" name="Rounded Rectangle 117"/>
          <p:cNvSpPr/>
          <p:nvPr/>
        </p:nvSpPr>
        <p:spPr>
          <a:xfrm>
            <a:off x="900000" y="13320000"/>
            <a:ext cx="7056000" cy="949500"/>
          </a:xfrm>
          <a:prstGeom prst="roundRect">
            <a:avLst>
              <a:gd name="adj" fmla="val 12000"/>
            </a:avLst>
          </a:prstGeom>
          <a:solidFill>
            <a:srgbClr val="FFFFFF"/>
          </a:solidFill>
          <a:ln>
            <a:noFill/>
          </a:ln>
          <a:effectLst>
            <a:outerShdw blurRad="190500" dist="50800" dir="5400000" algn="t" rotWithShape="0">
              <a:srgbClr val="1E2532">
                <a:alpha val="18000"/>
              </a:srgbClr>
            </a:outerShdw>
          </a:effectLst>
        </p:spPr>
        <p:txBody>
          <a:bodyPr rtlCol="0" anchor="ctr" lIns="54000" rIns="54000" tIns="54000" bIns="54000"/>
          <a:lstStyle/>
          <a:p>
            <a:pPr algn="ctr"/>
          </a:p>
        </p:txBody>
      </p:sp>
      <p:sp>
        <p:nvSpPr>
          <p:cNvPr id="119" name="Oval 118"/>
          <p:cNvSpPr/>
          <p:nvPr/>
        </p:nvSpPr>
        <p:spPr>
          <a:xfrm>
            <a:off x="1026000" y="13506750"/>
            <a:ext cx="576000" cy="576000"/>
          </a:xfrm>
          <a:prstGeom prst="ellipse">
            <a:avLst/>
          </a:prstGeom>
          <a:solidFill>
            <a:srgbClr val="24406E"/>
          </a:solidFill>
          <a:ln>
            <a:noFill/>
          </a:ln>
        </p:spPr>
        <p:txBody>
          <a:bodyPr rtlCol="0" anchor="ctr" lIns="54000" rIns="54000" tIns="54000" bIns="54000"/>
          <a:lstStyle/>
          <a:p>
            <a:pPr algn="ctr"/>
          </a:p>
        </p:txBody>
      </p:sp>
      <p:pic>
        <p:nvPicPr>
          <p:cNvPr id="120" name="Picture 119" descr="FaDatabase_FFFFFF.png"/>
          <p:cNvPicPr>
            <a:picLocks noChangeAspect="1"/>
          </p:cNvPicPr>
          <p:nvPr/>
        </p:nvPicPr>
        <p:blipFill>
          <a:blip r:embed="rId4"/>
          <a:stretch>
            <a:fillRect/>
          </a:stretch>
        </p:blipFill>
        <p:spPr>
          <a:xfrm>
            <a:off x="1175760" y="13656510"/>
            <a:ext cx="276480" cy="276480"/>
          </a:xfrm>
          <a:prstGeom prst="rect">
            <a:avLst/>
          </a:prstGeom>
        </p:spPr>
      </p:pic>
      <p:sp>
        <p:nvSpPr>
          <p:cNvPr id="121" name="TextBox 120"/>
          <p:cNvSpPr txBox="1"/>
          <p:nvPr/>
        </p:nvSpPr>
        <p:spPr>
          <a:xfrm>
            <a:off x="1728000" y="13356000"/>
            <a:ext cx="5796000" cy="877500"/>
          </a:xfrm>
          <a:prstGeom prst="rect">
            <a:avLst/>
          </a:prstGeom>
          <a:noFill/>
        </p:spPr>
        <p:txBody>
          <a:bodyPr wrap="square" lIns="0" rIns="0" tIns="0" bIns="0" anchor="ctr">
            <a:noAutofit/>
          </a:bodyPr>
          <a:lstStyle/>
          <a:p>
            <a:pPr algn="l" marL="0" indent="0">
              <a:lnSpc>
                <a:spcPts val="2400"/>
              </a:lnSpc>
              <a:spcBef>
                <a:spcPts val="0"/>
              </a:spcBef>
              <a:spcAft>
                <a:spcPts val="100"/>
              </a:spcAft>
              <a:buNone/>
            </a:pPr>
            <a:r>
              <a:rPr sz="1500" b="1" i="0" lang="ko-KR">
                <a:solidFill>
                  <a:srgbClr val="5B6475"/>
                </a:solidFill>
                <a:latin typeface="맑은 고딕"/>
                <a:ea typeface="맑은 고딕"/>
                <a:cs typeface="맑은 고딕"/>
              </a:rPr>
              <a:t>STEP 1  </a:t>
            </a:r>
            <a:r>
              <a:rPr sz="2000" b="1" i="0" lang="ko-KR">
                <a:solidFill>
                  <a:srgbClr val="13294B"/>
                </a:solidFill>
                <a:latin typeface="맑은 고딕"/>
                <a:ea typeface="맑은 고딕"/>
                <a:cs typeface="맑은 고딕"/>
              </a:rPr>
              <a:t>자료 수집</a:t>
            </a:r>
          </a:p>
          <a:p>
            <a:pPr algn="l" marL="0" indent="0">
              <a:lnSpc>
                <a:spcPts val="1920"/>
              </a:lnSpc>
              <a:spcBef>
                <a:spcPts val="0"/>
              </a:spcBef>
              <a:spcAft>
                <a:spcPts val="0"/>
              </a:spcAft>
              <a:buNone/>
            </a:pPr>
            <a:r>
              <a:rPr sz="1600" b="0" i="0" lang="ko-KR">
                <a:solidFill>
                  <a:srgbClr val="1E2532"/>
                </a:solidFill>
                <a:latin typeface="맑은 고딕"/>
                <a:ea typeface="맑은 고딕"/>
                <a:cs typeface="맑은 고딕"/>
              </a:rPr>
              <a:t>EPO PATSTAT Global, CPC H01L21·H01L24</a:t>
            </a:r>
          </a:p>
          <a:p>
            <a:pPr algn="l" marL="0" indent="0">
              <a:lnSpc>
                <a:spcPts val="1920"/>
              </a:lnSpc>
              <a:spcBef>
                <a:spcPts val="0"/>
              </a:spcBef>
              <a:spcAft>
                <a:spcPts val="0"/>
              </a:spcAft>
              <a:buNone/>
            </a:pPr>
            <a:r>
              <a:rPr sz="1600" b="0" i="0" lang="ko-KR">
                <a:solidFill>
                  <a:srgbClr val="1E2532"/>
                </a:solidFill>
                <a:latin typeface="맑은 고딕"/>
                <a:ea typeface="맑은 고딕"/>
                <a:cs typeface="맑은 고딕"/>
              </a:rPr>
              <a:t>+ 제목 키워드 → 관련 출원 928건 (1968–2024)</a:t>
            </a:r>
          </a:p>
        </p:txBody>
      </p:sp>
      <p:sp>
        <p:nvSpPr>
          <p:cNvPr id="122" name="Rounded Rectangle 121"/>
          <p:cNvSpPr/>
          <p:nvPr/>
        </p:nvSpPr>
        <p:spPr>
          <a:xfrm>
            <a:off x="900000" y="14359500"/>
            <a:ext cx="7056000" cy="949500"/>
          </a:xfrm>
          <a:prstGeom prst="roundRect">
            <a:avLst>
              <a:gd name="adj" fmla="val 12000"/>
            </a:avLst>
          </a:prstGeom>
          <a:solidFill>
            <a:srgbClr val="FFFFFF"/>
          </a:solidFill>
          <a:ln>
            <a:noFill/>
          </a:ln>
          <a:effectLst>
            <a:outerShdw blurRad="190500" dist="50800" dir="5400000" algn="t" rotWithShape="0">
              <a:srgbClr val="1E2532">
                <a:alpha val="18000"/>
              </a:srgbClr>
            </a:outerShdw>
          </a:effectLst>
        </p:spPr>
        <p:txBody>
          <a:bodyPr rtlCol="0" anchor="ctr" lIns="54000" rIns="54000" tIns="54000" bIns="54000"/>
          <a:lstStyle/>
          <a:p>
            <a:pPr algn="ctr"/>
          </a:p>
        </p:txBody>
      </p:sp>
      <p:sp>
        <p:nvSpPr>
          <p:cNvPr id="123" name="Oval 122"/>
          <p:cNvSpPr/>
          <p:nvPr/>
        </p:nvSpPr>
        <p:spPr>
          <a:xfrm>
            <a:off x="1026000" y="14546250"/>
            <a:ext cx="576000" cy="576000"/>
          </a:xfrm>
          <a:prstGeom prst="ellipse">
            <a:avLst/>
          </a:prstGeom>
          <a:solidFill>
            <a:srgbClr val="24406E"/>
          </a:solidFill>
          <a:ln>
            <a:noFill/>
          </a:ln>
        </p:spPr>
        <p:txBody>
          <a:bodyPr rtlCol="0" anchor="ctr" lIns="54000" rIns="54000" tIns="54000" bIns="54000"/>
          <a:lstStyle/>
          <a:p>
            <a:pPr algn="ctr"/>
          </a:p>
        </p:txBody>
      </p:sp>
      <p:pic>
        <p:nvPicPr>
          <p:cNvPr id="124" name="Picture 123" descr="FaCodeMerge_FFFFFF.png"/>
          <p:cNvPicPr>
            <a:picLocks noChangeAspect="1"/>
          </p:cNvPicPr>
          <p:nvPr/>
        </p:nvPicPr>
        <p:blipFill>
          <a:blip r:embed="rId5"/>
          <a:stretch>
            <a:fillRect/>
          </a:stretch>
        </p:blipFill>
        <p:spPr>
          <a:xfrm>
            <a:off x="1175760" y="14696010"/>
            <a:ext cx="276480" cy="276480"/>
          </a:xfrm>
          <a:prstGeom prst="rect">
            <a:avLst/>
          </a:prstGeom>
        </p:spPr>
      </p:pic>
      <p:sp>
        <p:nvSpPr>
          <p:cNvPr id="125" name="TextBox 124"/>
          <p:cNvSpPr txBox="1"/>
          <p:nvPr/>
        </p:nvSpPr>
        <p:spPr>
          <a:xfrm>
            <a:off x="1728000" y="14395500"/>
            <a:ext cx="5796000" cy="877500"/>
          </a:xfrm>
          <a:prstGeom prst="rect">
            <a:avLst/>
          </a:prstGeom>
          <a:noFill/>
        </p:spPr>
        <p:txBody>
          <a:bodyPr wrap="square" lIns="0" rIns="0" tIns="0" bIns="0" anchor="ctr">
            <a:noAutofit/>
          </a:bodyPr>
          <a:lstStyle/>
          <a:p>
            <a:pPr algn="l" marL="0" indent="0">
              <a:lnSpc>
                <a:spcPts val="2400"/>
              </a:lnSpc>
              <a:spcBef>
                <a:spcPts val="0"/>
              </a:spcBef>
              <a:spcAft>
                <a:spcPts val="100"/>
              </a:spcAft>
              <a:buNone/>
            </a:pPr>
            <a:r>
              <a:rPr sz="1500" b="1" i="0" lang="ko-KR">
                <a:solidFill>
                  <a:srgbClr val="5B6475"/>
                </a:solidFill>
                <a:latin typeface="맑은 고딕"/>
                <a:ea typeface="맑은 고딕"/>
                <a:cs typeface="맑은 고딕"/>
              </a:rPr>
              <a:t>STEP 2  </a:t>
            </a:r>
            <a:r>
              <a:rPr sz="2000" b="1" i="0" lang="ko-KR">
                <a:solidFill>
                  <a:srgbClr val="13294B"/>
                </a:solidFill>
                <a:latin typeface="맑은 고딕"/>
                <a:ea typeface="맑은 고딕"/>
                <a:cs typeface="맑은 고딕"/>
              </a:rPr>
              <a:t>공동분류 유형화</a:t>
            </a:r>
          </a:p>
          <a:p>
            <a:pPr algn="l" marL="0" indent="0">
              <a:lnSpc>
                <a:spcPts val="1920"/>
              </a:lnSpc>
              <a:spcBef>
                <a:spcPts val="0"/>
              </a:spcBef>
              <a:spcAft>
                <a:spcPts val="0"/>
              </a:spcAft>
              <a:buNone/>
            </a:pPr>
            <a:r>
              <a:rPr sz="1600" b="0" i="0" lang="ko-KR">
                <a:solidFill>
                  <a:srgbClr val="1E2532"/>
                </a:solidFill>
                <a:latin typeface="맑은 고딕"/>
                <a:ea typeface="맑은 고딕"/>
                <a:cs typeface="맑은 고딕"/>
              </a:rPr>
              <a:t>두 분류의 공동분류 = 융합의 대리측정치</a:t>
            </a:r>
          </a:p>
          <a:p>
            <a:pPr algn="l" marL="0" indent="0">
              <a:lnSpc>
                <a:spcPts val="1920"/>
              </a:lnSpc>
              <a:spcBef>
                <a:spcPts val="0"/>
              </a:spcBef>
              <a:spcAft>
                <a:spcPts val="0"/>
              </a:spcAft>
              <a:buNone/>
            </a:pPr>
            <a:r>
              <a:rPr sz="1600" b="0" i="0" lang="ko-KR">
                <a:solidFill>
                  <a:srgbClr val="1E2532"/>
                </a:solidFill>
                <a:latin typeface="맑은 고딕"/>
                <a:ea typeface="맑은 고딕"/>
                <a:cs typeface="맑은 고딕"/>
              </a:rPr>
              <a:t>접합 단독형 · 통합형 · 공정 단독형</a:t>
            </a:r>
          </a:p>
        </p:txBody>
      </p:sp>
      <p:sp>
        <p:nvSpPr>
          <p:cNvPr id="126" name="Rounded Rectangle 125"/>
          <p:cNvSpPr/>
          <p:nvPr/>
        </p:nvSpPr>
        <p:spPr>
          <a:xfrm>
            <a:off x="900000" y="15399000"/>
            <a:ext cx="7056000" cy="949500"/>
          </a:xfrm>
          <a:prstGeom prst="roundRect">
            <a:avLst>
              <a:gd name="adj" fmla="val 12000"/>
            </a:avLst>
          </a:prstGeom>
          <a:solidFill>
            <a:srgbClr val="FFFFFF"/>
          </a:solidFill>
          <a:ln>
            <a:noFill/>
          </a:ln>
          <a:effectLst>
            <a:outerShdw blurRad="190500" dist="50800" dir="5400000" algn="t" rotWithShape="0">
              <a:srgbClr val="1E2532">
                <a:alpha val="18000"/>
              </a:srgbClr>
            </a:outerShdw>
          </a:effectLst>
        </p:spPr>
        <p:txBody>
          <a:bodyPr rtlCol="0" anchor="ctr" lIns="54000" rIns="54000" tIns="54000" bIns="54000"/>
          <a:lstStyle/>
          <a:p>
            <a:pPr algn="ctr"/>
          </a:p>
        </p:txBody>
      </p:sp>
      <p:sp>
        <p:nvSpPr>
          <p:cNvPr id="127" name="Oval 126"/>
          <p:cNvSpPr/>
          <p:nvPr/>
        </p:nvSpPr>
        <p:spPr>
          <a:xfrm>
            <a:off x="1026000" y="15585750"/>
            <a:ext cx="576000" cy="576000"/>
          </a:xfrm>
          <a:prstGeom prst="ellipse">
            <a:avLst/>
          </a:prstGeom>
          <a:solidFill>
            <a:srgbClr val="24406E"/>
          </a:solidFill>
          <a:ln>
            <a:noFill/>
          </a:ln>
        </p:spPr>
        <p:txBody>
          <a:bodyPr rtlCol="0" anchor="ctr" lIns="54000" rIns="54000" tIns="54000" bIns="54000"/>
          <a:lstStyle/>
          <a:p>
            <a:pPr algn="ctr"/>
          </a:p>
        </p:txBody>
      </p:sp>
      <p:pic>
        <p:nvPicPr>
          <p:cNvPr id="128" name="Picture 127" descr="FaCircleNodes_FFFFFF.png"/>
          <p:cNvPicPr>
            <a:picLocks noChangeAspect="1"/>
          </p:cNvPicPr>
          <p:nvPr/>
        </p:nvPicPr>
        <p:blipFill>
          <a:blip r:embed="rId6"/>
          <a:stretch>
            <a:fillRect/>
          </a:stretch>
        </p:blipFill>
        <p:spPr>
          <a:xfrm>
            <a:off x="1175760" y="15735510"/>
            <a:ext cx="276480" cy="276480"/>
          </a:xfrm>
          <a:prstGeom prst="rect">
            <a:avLst/>
          </a:prstGeom>
        </p:spPr>
      </p:pic>
      <p:sp>
        <p:nvSpPr>
          <p:cNvPr id="129" name="TextBox 128"/>
          <p:cNvSpPr txBox="1"/>
          <p:nvPr/>
        </p:nvSpPr>
        <p:spPr>
          <a:xfrm>
            <a:off x="1728000" y="15435000"/>
            <a:ext cx="5796000" cy="877500"/>
          </a:xfrm>
          <a:prstGeom prst="rect">
            <a:avLst/>
          </a:prstGeom>
          <a:noFill/>
        </p:spPr>
        <p:txBody>
          <a:bodyPr wrap="square" lIns="0" rIns="0" tIns="0" bIns="0" anchor="ctr">
            <a:noAutofit/>
          </a:bodyPr>
          <a:lstStyle/>
          <a:p>
            <a:pPr algn="l" marL="0" indent="0">
              <a:lnSpc>
                <a:spcPts val="2400"/>
              </a:lnSpc>
              <a:spcBef>
                <a:spcPts val="0"/>
              </a:spcBef>
              <a:spcAft>
                <a:spcPts val="100"/>
              </a:spcAft>
              <a:buNone/>
            </a:pPr>
            <a:r>
              <a:rPr sz="1500" b="1" i="0" lang="ko-KR">
                <a:solidFill>
                  <a:srgbClr val="5B6475"/>
                </a:solidFill>
                <a:latin typeface="맑은 고딕"/>
                <a:ea typeface="맑은 고딕"/>
                <a:cs typeface="맑은 고딕"/>
              </a:rPr>
              <a:t>STEP 3  </a:t>
            </a:r>
            <a:r>
              <a:rPr sz="2000" b="1" i="0" lang="ko-KR">
                <a:solidFill>
                  <a:srgbClr val="13294B"/>
                </a:solidFill>
                <a:latin typeface="맑은 고딕"/>
                <a:ea typeface="맑은 고딕"/>
                <a:cs typeface="맑은 고딕"/>
              </a:rPr>
              <a:t>핵심 기술 식별</a:t>
            </a:r>
          </a:p>
          <a:p>
            <a:pPr algn="l" marL="0" indent="0">
              <a:lnSpc>
                <a:spcPts val="1920"/>
              </a:lnSpc>
              <a:spcBef>
                <a:spcPts val="0"/>
              </a:spcBef>
              <a:spcAft>
                <a:spcPts val="0"/>
              </a:spcAft>
              <a:buNone/>
            </a:pPr>
            <a:r>
              <a:rPr sz="1600" b="0" i="0" lang="ko-KR">
                <a:solidFill>
                  <a:srgbClr val="1E2532"/>
                </a:solidFill>
                <a:latin typeface="맑은 고딕"/>
                <a:ea typeface="맑은 고딕"/>
                <a:cs typeface="맑은 고딕"/>
              </a:rPr>
              <a:t>기술 클러스터 · 기술 네트워크</a:t>
            </a:r>
          </a:p>
          <a:p>
            <a:pPr algn="l" marL="0" indent="0">
              <a:lnSpc>
                <a:spcPts val="1920"/>
              </a:lnSpc>
              <a:spcBef>
                <a:spcPts val="0"/>
              </a:spcBef>
              <a:spcAft>
                <a:spcPts val="0"/>
              </a:spcAft>
              <a:buNone/>
            </a:pPr>
            <a:r>
              <a:rPr sz="1600" b="0" i="0" lang="ko-KR">
                <a:solidFill>
                  <a:srgbClr val="1E2532"/>
                </a:solidFill>
                <a:latin typeface="맑은 고딕"/>
                <a:ea typeface="맑은 고딕"/>
                <a:cs typeface="맑은 고딕"/>
              </a:rPr>
              <a:t>→ 핵심 접합 기호 24/03·05·08·80</a:t>
            </a:r>
          </a:p>
        </p:txBody>
      </p:sp>
      <p:sp>
        <p:nvSpPr>
          <p:cNvPr id="130" name="Rounded Rectangle 129"/>
          <p:cNvSpPr/>
          <p:nvPr/>
        </p:nvSpPr>
        <p:spPr>
          <a:xfrm>
            <a:off x="900000" y="16438500"/>
            <a:ext cx="7056000" cy="949500"/>
          </a:xfrm>
          <a:prstGeom prst="roundRect">
            <a:avLst>
              <a:gd name="adj" fmla="val 12000"/>
            </a:avLst>
          </a:prstGeom>
          <a:solidFill>
            <a:srgbClr val="FFFFFF"/>
          </a:solidFill>
          <a:ln>
            <a:noFill/>
          </a:ln>
          <a:effectLst>
            <a:outerShdw blurRad="190500" dist="50800" dir="5400000" algn="t" rotWithShape="0">
              <a:srgbClr val="1E2532">
                <a:alpha val="18000"/>
              </a:srgbClr>
            </a:outerShdw>
          </a:effectLst>
        </p:spPr>
        <p:txBody>
          <a:bodyPr rtlCol="0" anchor="ctr" lIns="54000" rIns="54000" tIns="54000" bIns="54000"/>
          <a:lstStyle/>
          <a:p>
            <a:pPr algn="ctr"/>
          </a:p>
        </p:txBody>
      </p:sp>
      <p:sp>
        <p:nvSpPr>
          <p:cNvPr id="131" name="Oval 130"/>
          <p:cNvSpPr/>
          <p:nvPr/>
        </p:nvSpPr>
        <p:spPr>
          <a:xfrm>
            <a:off x="1026000" y="16625250"/>
            <a:ext cx="576000" cy="576000"/>
          </a:xfrm>
          <a:prstGeom prst="ellipse">
            <a:avLst/>
          </a:prstGeom>
          <a:solidFill>
            <a:srgbClr val="24406E"/>
          </a:solidFill>
          <a:ln>
            <a:noFill/>
          </a:ln>
        </p:spPr>
        <p:txBody>
          <a:bodyPr rtlCol="0" anchor="ctr" lIns="54000" rIns="54000" tIns="54000" bIns="54000"/>
          <a:lstStyle/>
          <a:p>
            <a:pPr algn="ctr"/>
          </a:p>
        </p:txBody>
      </p:sp>
      <p:pic>
        <p:nvPicPr>
          <p:cNvPr id="132" name="Picture 131" descr="FaChartLine_FFFFFF.png"/>
          <p:cNvPicPr>
            <a:picLocks noChangeAspect="1"/>
          </p:cNvPicPr>
          <p:nvPr/>
        </p:nvPicPr>
        <p:blipFill>
          <a:blip r:embed="rId7"/>
          <a:stretch>
            <a:fillRect/>
          </a:stretch>
        </p:blipFill>
        <p:spPr>
          <a:xfrm>
            <a:off x="1175760" y="16775010"/>
            <a:ext cx="276480" cy="276480"/>
          </a:xfrm>
          <a:prstGeom prst="rect">
            <a:avLst/>
          </a:prstGeom>
        </p:spPr>
      </p:pic>
      <p:sp>
        <p:nvSpPr>
          <p:cNvPr id="133" name="TextBox 132"/>
          <p:cNvSpPr txBox="1"/>
          <p:nvPr/>
        </p:nvSpPr>
        <p:spPr>
          <a:xfrm>
            <a:off x="1728000" y="16474500"/>
            <a:ext cx="5796000" cy="877500"/>
          </a:xfrm>
          <a:prstGeom prst="rect">
            <a:avLst/>
          </a:prstGeom>
          <a:noFill/>
        </p:spPr>
        <p:txBody>
          <a:bodyPr wrap="square" lIns="0" rIns="0" tIns="0" bIns="0" anchor="ctr">
            <a:noAutofit/>
          </a:bodyPr>
          <a:lstStyle/>
          <a:p>
            <a:pPr algn="l" marL="0" indent="0">
              <a:lnSpc>
                <a:spcPts val="2400"/>
              </a:lnSpc>
              <a:spcBef>
                <a:spcPts val="0"/>
              </a:spcBef>
              <a:spcAft>
                <a:spcPts val="100"/>
              </a:spcAft>
              <a:buNone/>
            </a:pPr>
            <a:r>
              <a:rPr sz="1500" b="1" i="0" lang="ko-KR">
                <a:solidFill>
                  <a:srgbClr val="5B6475"/>
                </a:solidFill>
                <a:latin typeface="맑은 고딕"/>
                <a:ea typeface="맑은 고딕"/>
                <a:cs typeface="맑은 고딕"/>
              </a:rPr>
              <a:t>STEP 4  </a:t>
            </a:r>
            <a:r>
              <a:rPr sz="2000" b="1" i="0" lang="ko-KR">
                <a:solidFill>
                  <a:srgbClr val="13294B"/>
                </a:solidFill>
                <a:latin typeface="맑은 고딕"/>
                <a:ea typeface="맑은 고딕"/>
                <a:cs typeface="맑은 고딕"/>
              </a:rPr>
              <a:t>통계 분석</a:t>
            </a:r>
          </a:p>
          <a:p>
            <a:pPr algn="l" marL="0" indent="0">
              <a:lnSpc>
                <a:spcPts val="1920"/>
              </a:lnSpc>
              <a:spcBef>
                <a:spcPts val="0"/>
              </a:spcBef>
              <a:spcAft>
                <a:spcPts val="0"/>
              </a:spcAft>
              <a:buNone/>
            </a:pPr>
            <a:r>
              <a:rPr sz="1600" b="0" i="0" lang="ko-KR">
                <a:solidFill>
                  <a:srgbClr val="1E2532"/>
                </a:solidFill>
                <a:latin typeface="맑은 고딕"/>
                <a:ea typeface="맑은 고딕"/>
                <a:cs typeface="맑은 고딕"/>
              </a:rPr>
              <a:t>다항 로짓(RQ1·RQ2), 이항 로짓(RQ3)</a:t>
            </a:r>
          </a:p>
          <a:p>
            <a:pPr algn="l" marL="0" indent="0">
              <a:lnSpc>
                <a:spcPts val="1920"/>
              </a:lnSpc>
              <a:spcBef>
                <a:spcPts val="0"/>
              </a:spcBef>
              <a:spcAft>
                <a:spcPts val="0"/>
              </a:spcAft>
              <a:buNone/>
            </a:pPr>
            <a:r>
              <a:rPr sz="1600" b="0" i="0" lang="ko-KR">
                <a:solidFill>
                  <a:srgbClr val="1E2532"/>
                </a:solidFill>
                <a:latin typeface="맑은 고딕"/>
                <a:ea typeface="맑은 고딕"/>
                <a:cs typeface="맑은 고딕"/>
              </a:rPr>
              <a:t>Jaccard 계수 · 매개 중심성(RQ3)</a:t>
            </a:r>
          </a:p>
        </p:txBody>
      </p:sp>
      <p:sp>
        <p:nvSpPr>
          <p:cNvPr id="134" name="Rounded Rectangle 133"/>
          <p:cNvSpPr/>
          <p:nvPr/>
        </p:nvSpPr>
        <p:spPr>
          <a:xfrm>
            <a:off x="8280000" y="13320000"/>
            <a:ext cx="6408000" cy="4068000"/>
          </a:xfrm>
          <a:prstGeom prst="roundRect">
            <a:avLst>
              <a:gd name="adj" fmla="val 4000"/>
            </a:avLst>
          </a:prstGeom>
          <a:solidFill>
            <a:srgbClr val="FFFFFF"/>
          </a:solidFill>
          <a:ln>
            <a:noFill/>
          </a:ln>
          <a:effectLst>
            <a:outerShdw blurRad="190500" dist="50800" dir="5400000" algn="t" rotWithShape="0">
              <a:srgbClr val="1E2532">
                <a:alpha val="18000"/>
              </a:srgbClr>
            </a:outerShdw>
          </a:effectLst>
        </p:spPr>
        <p:txBody>
          <a:bodyPr rtlCol="0" anchor="ctr" lIns="54000" rIns="54000" tIns="54000" bIns="54000"/>
          <a:lstStyle/>
          <a:p>
            <a:pPr algn="ctr"/>
          </a:p>
        </p:txBody>
      </p:sp>
      <p:sp>
        <p:nvSpPr>
          <p:cNvPr id="135" name="TextBox 134"/>
          <p:cNvSpPr txBox="1"/>
          <p:nvPr/>
        </p:nvSpPr>
        <p:spPr>
          <a:xfrm>
            <a:off x="8280000" y="13410000"/>
            <a:ext cx="6408000" cy="324000"/>
          </a:xfrm>
          <a:prstGeom prst="rect">
            <a:avLst/>
          </a:prstGeom>
          <a:noFill/>
        </p:spPr>
        <p:txBody>
          <a:bodyPr wrap="square" lIns="0" rIns="0" tIns="0" bIns="0" anchor="t">
            <a:noAutofit/>
          </a:bodyPr>
          <a:lstStyle/>
          <a:p>
            <a:pPr algn="ctr" marL="0" indent="0">
              <a:lnSpc>
                <a:spcPts val="2280"/>
              </a:lnSpc>
              <a:spcBef>
                <a:spcPts val="0"/>
              </a:spcBef>
              <a:spcAft>
                <a:spcPts val="0"/>
              </a:spcAft>
              <a:buNone/>
            </a:pPr>
            <a:r>
              <a:rPr sz="1900" b="1" i="0" lang="ko-KR">
                <a:solidFill>
                  <a:srgbClr val="13294B"/>
                </a:solidFill>
                <a:latin typeface="맑은 고딕"/>
                <a:ea typeface="맑은 고딕"/>
                <a:cs typeface="맑은 고딕"/>
              </a:rPr>
              <a:t>CPC 공동분류에 따른 출원 유형 (N = 928)</a:t>
            </a:r>
          </a:p>
        </p:txBody>
      </p:sp>
      <p:pic>
        <p:nvPicPr>
          <p:cNvPr id="136" name="Picture 135" descr="venn.png"/>
          <p:cNvPicPr>
            <a:picLocks noChangeAspect="1"/>
          </p:cNvPicPr>
          <p:nvPr/>
        </p:nvPicPr>
        <p:blipFill>
          <a:blip r:embed="rId8"/>
          <a:stretch>
            <a:fillRect/>
          </a:stretch>
        </p:blipFill>
        <p:spPr>
          <a:xfrm>
            <a:off x="8496000" y="13788000"/>
            <a:ext cx="5976000" cy="3222083"/>
          </a:xfrm>
          <a:prstGeom prst="rect">
            <a:avLst/>
          </a:prstGeom>
        </p:spPr>
      </p:pic>
      <p:sp>
        <p:nvSpPr>
          <p:cNvPr id="137" name="TextBox 136"/>
          <p:cNvSpPr txBox="1"/>
          <p:nvPr/>
        </p:nvSpPr>
        <p:spPr>
          <a:xfrm>
            <a:off x="8388000" y="16974000"/>
            <a:ext cx="6192000" cy="360000"/>
          </a:xfrm>
          <a:prstGeom prst="rect">
            <a:avLst/>
          </a:prstGeom>
          <a:noFill/>
        </p:spPr>
        <p:txBody>
          <a:bodyPr wrap="square" lIns="0" rIns="0" tIns="0" bIns="0" anchor="t">
            <a:noAutofit/>
          </a:bodyPr>
          <a:lstStyle/>
          <a:p>
            <a:pPr algn="ctr" marL="0" indent="0">
              <a:lnSpc>
                <a:spcPts val="1920"/>
              </a:lnSpc>
              <a:spcBef>
                <a:spcPts val="0"/>
              </a:spcBef>
              <a:spcAft>
                <a:spcPts val="0"/>
              </a:spcAft>
              <a:buNone/>
            </a:pPr>
            <a:r>
              <a:rPr sz="1600" b="1" i="0" lang="ko-KR">
                <a:solidFill>
                  <a:srgbClr val="7C3AED"/>
                </a:solidFill>
                <a:latin typeface="맑은 고딕"/>
                <a:ea typeface="맑은 고딕"/>
                <a:cs typeface="맑은 고딕"/>
              </a:rPr>
              <a:t>통합형</a:t>
            </a:r>
            <a:r>
              <a:rPr sz="1600" b="0" i="0" lang="ko-KR">
                <a:solidFill>
                  <a:srgbClr val="1E2532"/>
                </a:solidFill>
                <a:latin typeface="맑은 고딕"/>
                <a:ea typeface="맑은 고딕"/>
                <a:cs typeface="맑은 고딕"/>
              </a:rPr>
              <a:t> = 두 분류가 함께 부여된, 공정 단계의 경계를 넘는 발명</a:t>
            </a:r>
          </a:p>
        </p:txBody>
      </p:sp>
      <p:sp>
        <p:nvSpPr>
          <p:cNvPr id="138" name="Rounded Rectangle 137"/>
          <p:cNvSpPr/>
          <p:nvPr/>
        </p:nvSpPr>
        <p:spPr>
          <a:xfrm>
            <a:off x="15012000" y="13320000"/>
            <a:ext cx="5472000" cy="4068000"/>
          </a:xfrm>
          <a:prstGeom prst="roundRect">
            <a:avLst>
              <a:gd name="adj" fmla="val 4000"/>
            </a:avLst>
          </a:prstGeom>
          <a:solidFill>
            <a:srgbClr val="FFFFFF"/>
          </a:solidFill>
          <a:ln>
            <a:noFill/>
          </a:ln>
          <a:effectLst>
            <a:outerShdw blurRad="190500" dist="50800" dir="5400000" algn="t" rotWithShape="0">
              <a:srgbClr val="1E2532">
                <a:alpha val="18000"/>
              </a:srgbClr>
            </a:outerShdw>
          </a:effectLst>
        </p:spPr>
        <p:txBody>
          <a:bodyPr rtlCol="0" anchor="ctr" lIns="54000" rIns="54000" tIns="54000" bIns="54000"/>
          <a:lstStyle/>
          <a:p>
            <a:pPr algn="ctr"/>
          </a:p>
        </p:txBody>
      </p:sp>
      <p:sp>
        <p:nvSpPr>
          <p:cNvPr id="139" name="TextBox 138"/>
          <p:cNvSpPr txBox="1"/>
          <p:nvPr/>
        </p:nvSpPr>
        <p:spPr>
          <a:xfrm>
            <a:off x="15012000" y="13410000"/>
            <a:ext cx="5472000" cy="324000"/>
          </a:xfrm>
          <a:prstGeom prst="rect">
            <a:avLst/>
          </a:prstGeom>
          <a:noFill/>
        </p:spPr>
        <p:txBody>
          <a:bodyPr wrap="square" lIns="0" rIns="0" tIns="0" bIns="0" anchor="t">
            <a:noAutofit/>
          </a:bodyPr>
          <a:lstStyle/>
          <a:p>
            <a:pPr algn="ctr" marL="0" indent="0">
              <a:lnSpc>
                <a:spcPts val="2280"/>
              </a:lnSpc>
              <a:spcBef>
                <a:spcPts val="0"/>
              </a:spcBef>
              <a:spcAft>
                <a:spcPts val="0"/>
              </a:spcAft>
              <a:buNone/>
            </a:pPr>
            <a:r>
              <a:rPr sz="1900" b="1" i="0" lang="ko-KR">
                <a:solidFill>
                  <a:srgbClr val="13294B"/>
                </a:solidFill>
                <a:latin typeface="맑은 고딕"/>
                <a:ea typeface="맑은 고딕"/>
                <a:cs typeface="맑은 고딕"/>
              </a:rPr>
              <a:t>기술 네트워크와 핵심 접합 기술</a:t>
            </a:r>
          </a:p>
        </p:txBody>
      </p:sp>
      <p:pic>
        <p:nvPicPr>
          <p:cNvPr id="140" name="Picture 139" descr="network_nolegend.png"/>
          <p:cNvPicPr>
            <a:picLocks noChangeAspect="1"/>
          </p:cNvPicPr>
          <p:nvPr/>
        </p:nvPicPr>
        <p:blipFill>
          <a:blip r:embed="rId9"/>
          <a:stretch>
            <a:fillRect/>
          </a:stretch>
        </p:blipFill>
        <p:spPr>
          <a:xfrm>
            <a:off x="15845087" y="13734000"/>
            <a:ext cx="3805826" cy="2808000"/>
          </a:xfrm>
          <a:prstGeom prst="rect">
            <a:avLst/>
          </a:prstGeom>
        </p:spPr>
      </p:pic>
      <p:sp>
        <p:nvSpPr>
          <p:cNvPr id="141" name="Oval 140"/>
          <p:cNvSpPr/>
          <p:nvPr/>
        </p:nvSpPr>
        <p:spPr>
          <a:xfrm>
            <a:off x="15264000" y="16650000"/>
            <a:ext cx="162000" cy="162000"/>
          </a:xfrm>
          <a:prstGeom prst="ellipse">
            <a:avLst/>
          </a:prstGeom>
          <a:solidFill>
            <a:srgbClr val="B5441B"/>
          </a:solidFill>
          <a:ln>
            <a:noFill/>
          </a:ln>
        </p:spPr>
        <p:txBody>
          <a:bodyPr rtlCol="0" anchor="ctr" lIns="54000" rIns="54000" tIns="54000" bIns="54000"/>
          <a:lstStyle/>
          <a:p>
            <a:pPr algn="ctr"/>
          </a:p>
        </p:txBody>
      </p:sp>
      <p:sp>
        <p:nvSpPr>
          <p:cNvPr id="142" name="TextBox 141"/>
          <p:cNvSpPr txBox="1"/>
          <p:nvPr/>
        </p:nvSpPr>
        <p:spPr>
          <a:xfrm>
            <a:off x="15480000" y="16578000"/>
            <a:ext cx="144000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0" i="0" lang="ko-KR">
                <a:solidFill>
                  <a:srgbClr val="1E2532"/>
                </a:solidFill>
                <a:latin typeface="맑은 고딕"/>
                <a:ea typeface="맑은 고딕"/>
                <a:cs typeface="맑은 고딕"/>
              </a:rPr>
              <a:t>핵심 기술</a:t>
            </a:r>
          </a:p>
        </p:txBody>
      </p:sp>
      <p:sp>
        <p:nvSpPr>
          <p:cNvPr id="143" name="Oval 142"/>
          <p:cNvSpPr/>
          <p:nvPr/>
        </p:nvSpPr>
        <p:spPr>
          <a:xfrm>
            <a:off x="16920000" y="16650000"/>
            <a:ext cx="162000" cy="162000"/>
          </a:xfrm>
          <a:prstGeom prst="ellipse">
            <a:avLst/>
          </a:prstGeom>
          <a:solidFill>
            <a:srgbClr val="EFB26A"/>
          </a:solidFill>
          <a:ln>
            <a:noFill/>
          </a:ln>
        </p:spPr>
        <p:txBody>
          <a:bodyPr rtlCol="0" anchor="ctr" lIns="54000" rIns="54000" tIns="54000" bIns="54000"/>
          <a:lstStyle/>
          <a:p>
            <a:pPr algn="ctr"/>
          </a:p>
        </p:txBody>
      </p:sp>
      <p:sp>
        <p:nvSpPr>
          <p:cNvPr id="144" name="TextBox 143"/>
          <p:cNvSpPr txBox="1"/>
          <p:nvPr/>
        </p:nvSpPr>
        <p:spPr>
          <a:xfrm>
            <a:off x="17136000" y="16578000"/>
            <a:ext cx="144000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0" i="0" lang="ko-KR">
                <a:solidFill>
                  <a:srgbClr val="1E2532"/>
                </a:solidFill>
                <a:latin typeface="맑은 고딕"/>
                <a:ea typeface="맑은 고딕"/>
                <a:cs typeface="맑은 고딕"/>
              </a:rPr>
              <a:t>기타 접합 기호</a:t>
            </a:r>
          </a:p>
        </p:txBody>
      </p:sp>
      <p:sp>
        <p:nvSpPr>
          <p:cNvPr id="145" name="Oval 144"/>
          <p:cNvSpPr/>
          <p:nvPr/>
        </p:nvSpPr>
        <p:spPr>
          <a:xfrm>
            <a:off x="18576000" y="16650000"/>
            <a:ext cx="162000" cy="162000"/>
          </a:xfrm>
          <a:prstGeom prst="ellipse">
            <a:avLst/>
          </a:prstGeom>
          <a:solidFill>
            <a:srgbClr val="1F3A5F"/>
          </a:solidFill>
          <a:ln>
            <a:noFill/>
          </a:ln>
        </p:spPr>
        <p:txBody>
          <a:bodyPr rtlCol="0" anchor="ctr" lIns="54000" rIns="54000" tIns="54000" bIns="54000"/>
          <a:lstStyle/>
          <a:p>
            <a:pPr algn="ctr"/>
          </a:p>
        </p:txBody>
      </p:sp>
      <p:sp>
        <p:nvSpPr>
          <p:cNvPr id="146" name="TextBox 145"/>
          <p:cNvSpPr txBox="1"/>
          <p:nvPr/>
        </p:nvSpPr>
        <p:spPr>
          <a:xfrm>
            <a:off x="18792000" y="16578000"/>
            <a:ext cx="144000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0" i="0" lang="ko-KR">
                <a:solidFill>
                  <a:srgbClr val="1E2532"/>
                </a:solidFill>
                <a:latin typeface="맑은 고딕"/>
                <a:ea typeface="맑은 고딕"/>
                <a:cs typeface="맑은 고딕"/>
              </a:rPr>
              <a:t>제조공정 기호</a:t>
            </a:r>
          </a:p>
        </p:txBody>
      </p:sp>
      <p:sp>
        <p:nvSpPr>
          <p:cNvPr id="147" name="TextBox 146"/>
          <p:cNvSpPr txBox="1"/>
          <p:nvPr/>
        </p:nvSpPr>
        <p:spPr>
          <a:xfrm>
            <a:off x="15120000" y="16920000"/>
            <a:ext cx="5256000" cy="396000"/>
          </a:xfrm>
          <a:prstGeom prst="rect">
            <a:avLst/>
          </a:prstGeom>
          <a:noFill/>
        </p:spPr>
        <p:txBody>
          <a:bodyPr wrap="square" lIns="0" rIns="0" tIns="0" bIns="0" anchor="ctr">
            <a:noAutofit/>
          </a:bodyPr>
          <a:lstStyle/>
          <a:p>
            <a:pPr algn="ctr" marL="0" indent="0">
              <a:lnSpc>
                <a:spcPts val="1800"/>
              </a:lnSpc>
              <a:spcBef>
                <a:spcPts val="0"/>
              </a:spcBef>
              <a:spcAft>
                <a:spcPts val="0"/>
              </a:spcAft>
              <a:buNone/>
            </a:pPr>
            <a:r>
              <a:rPr sz="1500" b="0" i="0" lang="ko-KR">
                <a:solidFill>
                  <a:srgbClr val="1E2532"/>
                </a:solidFill>
                <a:latin typeface="맑은 고딕"/>
                <a:ea typeface="맑은 고딕"/>
                <a:cs typeface="맑은 고딕"/>
              </a:rPr>
              <a:t>핵심 접합 기호 4개를 접합 출원의 81.3%가 보유</a:t>
            </a:r>
          </a:p>
        </p:txBody>
      </p:sp>
      <p:sp>
        <p:nvSpPr>
          <p:cNvPr id="148" name="Rounded Rectangle 147"/>
          <p:cNvSpPr/>
          <p:nvPr/>
        </p:nvSpPr>
        <p:spPr>
          <a:xfrm>
            <a:off x="576000" y="17856000"/>
            <a:ext cx="20232000" cy="7056000"/>
          </a:xfrm>
          <a:prstGeom prst="roundRect">
            <a:avLst>
              <a:gd name="adj" fmla="val 2500"/>
            </a:avLst>
          </a:prstGeom>
          <a:solidFill>
            <a:srgbClr val="F2F5FA"/>
          </a:solidFill>
          <a:ln>
            <a:noFill/>
          </a:ln>
        </p:spPr>
        <p:txBody>
          <a:bodyPr rtlCol="0" anchor="ctr" lIns="54000" rIns="54000" tIns="54000" bIns="54000"/>
          <a:lstStyle/>
          <a:p>
            <a:pPr algn="ctr"/>
          </a:p>
        </p:txBody>
      </p:sp>
      <p:sp>
        <p:nvSpPr>
          <p:cNvPr id="149" name="Oval 148"/>
          <p:cNvSpPr/>
          <p:nvPr/>
        </p:nvSpPr>
        <p:spPr>
          <a:xfrm>
            <a:off x="828000" y="18072000"/>
            <a:ext cx="828000" cy="828000"/>
          </a:xfrm>
          <a:prstGeom prst="ellipse">
            <a:avLst/>
          </a:prstGeom>
          <a:solidFill>
            <a:srgbClr val="13294B"/>
          </a:solidFill>
          <a:ln>
            <a:noFill/>
          </a:ln>
        </p:spPr>
        <p:txBody>
          <a:bodyPr rtlCol="0" anchor="ctr" lIns="0" rIns="0" tIns="36000" bIns="36000" wrap="square"/>
          <a:lstStyle/>
          <a:p>
            <a:pPr algn="ctr" marL="0" indent="0">
              <a:lnSpc>
                <a:spcPts val="3600"/>
              </a:lnSpc>
              <a:spcBef>
                <a:spcPts val="0"/>
              </a:spcBef>
              <a:spcAft>
                <a:spcPts val="0"/>
              </a:spcAft>
              <a:buNone/>
            </a:pPr>
            <a:r>
              <a:rPr sz="3000" b="1" i="0" lang="ko-KR">
                <a:solidFill>
                  <a:srgbClr val="FFFFFF"/>
                </a:solidFill>
                <a:latin typeface="맑은 고딕"/>
                <a:ea typeface="맑은 고딕"/>
                <a:cs typeface="맑은 고딕"/>
              </a:rPr>
              <a:t>04</a:t>
            </a:r>
          </a:p>
        </p:txBody>
      </p:sp>
      <p:sp>
        <p:nvSpPr>
          <p:cNvPr id="150" name="TextBox 149"/>
          <p:cNvSpPr txBox="1"/>
          <p:nvPr/>
        </p:nvSpPr>
        <p:spPr>
          <a:xfrm>
            <a:off x="1800000" y="18054000"/>
            <a:ext cx="18720000" cy="864000"/>
          </a:xfrm>
          <a:prstGeom prst="rect">
            <a:avLst/>
          </a:prstGeom>
          <a:noFill/>
        </p:spPr>
        <p:txBody>
          <a:bodyPr wrap="square" lIns="0" rIns="0" tIns="0" bIns="0" anchor="ctr">
            <a:noAutofit/>
          </a:bodyPr>
          <a:lstStyle/>
          <a:p>
            <a:pPr algn="l" marL="0" indent="0">
              <a:lnSpc>
                <a:spcPts val="4800"/>
              </a:lnSpc>
              <a:spcBef>
                <a:spcPts val="0"/>
              </a:spcBef>
              <a:spcAft>
                <a:spcPts val="0"/>
              </a:spcAft>
              <a:buNone/>
            </a:pPr>
            <a:r>
              <a:rPr sz="4000" b="1" i="0" lang="ko-KR">
                <a:solidFill>
                  <a:srgbClr val="13294B"/>
                </a:solidFill>
                <a:latin typeface="맑은 고딕"/>
                <a:ea typeface="맑은 고딕"/>
                <a:cs typeface="맑은 고딕"/>
              </a:rPr>
              <a:t>분석 결과</a:t>
            </a:r>
          </a:p>
        </p:txBody>
      </p:sp>
      <p:sp>
        <p:nvSpPr>
          <p:cNvPr id="151" name="Rounded Rectangle 150"/>
          <p:cNvSpPr/>
          <p:nvPr/>
        </p:nvSpPr>
        <p:spPr>
          <a:xfrm>
            <a:off x="900000" y="18972000"/>
            <a:ext cx="6312000" cy="5724000"/>
          </a:xfrm>
          <a:prstGeom prst="roundRect">
            <a:avLst>
              <a:gd name="adj" fmla="val 4000"/>
            </a:avLst>
          </a:prstGeom>
          <a:solidFill>
            <a:srgbClr val="FFFFFF"/>
          </a:solidFill>
          <a:ln>
            <a:noFill/>
          </a:ln>
          <a:effectLst>
            <a:outerShdw blurRad="190500" dist="50800" dir="5400000" algn="t" rotWithShape="0">
              <a:srgbClr val="1E2532">
                <a:alpha val="18000"/>
              </a:srgbClr>
            </a:outerShdw>
          </a:effectLst>
        </p:spPr>
        <p:txBody>
          <a:bodyPr rtlCol="0" anchor="ctr" lIns="54000" rIns="54000" tIns="54000" bIns="54000"/>
          <a:lstStyle/>
          <a:p>
            <a:pPr algn="ctr"/>
          </a:p>
        </p:txBody>
      </p:sp>
      <p:sp>
        <p:nvSpPr>
          <p:cNvPr id="152" name="Rounded Rectangle 151"/>
          <p:cNvSpPr/>
          <p:nvPr/>
        </p:nvSpPr>
        <p:spPr>
          <a:xfrm>
            <a:off x="1080000" y="19134000"/>
            <a:ext cx="900000" cy="504000"/>
          </a:xfrm>
          <a:prstGeom prst="roundRect">
            <a:avLst>
              <a:gd name="adj" fmla="val 20000"/>
            </a:avLst>
          </a:prstGeom>
          <a:solidFill>
            <a:srgbClr val="13294B"/>
          </a:solidFill>
          <a:ln>
            <a:noFill/>
          </a:ln>
        </p:spPr>
        <p:txBody>
          <a:bodyPr rtlCol="0" anchor="ctr" lIns="0" rIns="0" tIns="36000" bIns="36000" wrap="square"/>
          <a:lstStyle/>
          <a:p>
            <a:pPr algn="ctr" marL="0" indent="0">
              <a:lnSpc>
                <a:spcPts val="2640"/>
              </a:lnSpc>
              <a:spcBef>
                <a:spcPts val="0"/>
              </a:spcBef>
              <a:spcAft>
                <a:spcPts val="0"/>
              </a:spcAft>
              <a:buNone/>
            </a:pPr>
            <a:r>
              <a:rPr sz="2200" b="1" i="0" lang="ko-KR">
                <a:solidFill>
                  <a:srgbClr val="FFC000"/>
                </a:solidFill>
                <a:latin typeface="맑은 고딕"/>
                <a:ea typeface="맑은 고딕"/>
                <a:cs typeface="맑은 고딕"/>
              </a:rPr>
              <a:t>RQ1</a:t>
            </a:r>
          </a:p>
        </p:txBody>
      </p:sp>
      <p:sp>
        <p:nvSpPr>
          <p:cNvPr id="153" name="TextBox 152"/>
          <p:cNvSpPr txBox="1"/>
          <p:nvPr/>
        </p:nvSpPr>
        <p:spPr>
          <a:xfrm>
            <a:off x="2088000" y="19116000"/>
            <a:ext cx="4980000" cy="540000"/>
          </a:xfrm>
          <a:prstGeom prst="rect">
            <a:avLst/>
          </a:prstGeom>
          <a:noFill/>
        </p:spPr>
        <p:txBody>
          <a:bodyPr wrap="square" lIns="0" rIns="0" tIns="0" bIns="0" anchor="ctr">
            <a:noAutofit/>
          </a:bodyPr>
          <a:lstStyle/>
          <a:p>
            <a:pPr algn="l" marL="0" indent="0">
              <a:lnSpc>
                <a:spcPts val="2760"/>
              </a:lnSpc>
              <a:spcBef>
                <a:spcPts val="0"/>
              </a:spcBef>
              <a:spcAft>
                <a:spcPts val="0"/>
              </a:spcAft>
              <a:buNone/>
            </a:pPr>
            <a:r>
              <a:rPr sz="2300" b="1" i="0" lang="ko-KR">
                <a:solidFill>
                  <a:srgbClr val="13294B"/>
                </a:solidFill>
                <a:latin typeface="맑은 고딕"/>
                <a:ea typeface="맑은 고딕"/>
                <a:cs typeface="맑은 고딕"/>
              </a:rPr>
              <a:t>공정 단계 간 융합은 예외가 아니다</a:t>
            </a:r>
          </a:p>
        </p:txBody>
      </p:sp>
      <p:sp>
        <p:nvSpPr>
          <p:cNvPr id="154" name="Rounded Rectangle 153"/>
          <p:cNvSpPr/>
          <p:nvPr/>
        </p:nvSpPr>
        <p:spPr>
          <a:xfrm>
            <a:off x="1044000" y="23436000"/>
            <a:ext cx="6024000" cy="1188000"/>
          </a:xfrm>
          <a:prstGeom prst="roundRect">
            <a:avLst>
              <a:gd name="adj" fmla="val 8000"/>
            </a:avLst>
          </a:prstGeom>
          <a:solidFill>
            <a:srgbClr val="EEE6FD"/>
          </a:solidFill>
          <a:ln>
            <a:noFill/>
          </a:ln>
        </p:spPr>
        <p:txBody>
          <a:bodyPr rtlCol="0" anchor="ctr" lIns="54000" rIns="54000" tIns="54000" bIns="54000"/>
          <a:lstStyle/>
          <a:p>
            <a:pPr algn="ctr"/>
          </a:p>
        </p:txBody>
      </p:sp>
      <p:sp>
        <p:nvSpPr>
          <p:cNvPr id="155" name="Rounded Rectangle 154"/>
          <p:cNvSpPr/>
          <p:nvPr/>
        </p:nvSpPr>
        <p:spPr>
          <a:xfrm>
            <a:off x="7536000" y="18972000"/>
            <a:ext cx="6312000" cy="5724000"/>
          </a:xfrm>
          <a:prstGeom prst="roundRect">
            <a:avLst>
              <a:gd name="adj" fmla="val 4000"/>
            </a:avLst>
          </a:prstGeom>
          <a:solidFill>
            <a:srgbClr val="FFFFFF"/>
          </a:solidFill>
          <a:ln>
            <a:noFill/>
          </a:ln>
          <a:effectLst>
            <a:outerShdw blurRad="190500" dist="50800" dir="5400000" algn="t" rotWithShape="0">
              <a:srgbClr val="1E2532">
                <a:alpha val="18000"/>
              </a:srgbClr>
            </a:outerShdw>
          </a:effectLst>
        </p:spPr>
        <p:txBody>
          <a:bodyPr rtlCol="0" anchor="ctr" lIns="54000" rIns="54000" tIns="54000" bIns="54000"/>
          <a:lstStyle/>
          <a:p>
            <a:pPr algn="ctr"/>
          </a:p>
        </p:txBody>
      </p:sp>
      <p:sp>
        <p:nvSpPr>
          <p:cNvPr id="156" name="Rounded Rectangle 155"/>
          <p:cNvSpPr/>
          <p:nvPr/>
        </p:nvSpPr>
        <p:spPr>
          <a:xfrm>
            <a:off x="7716000" y="19134000"/>
            <a:ext cx="900000" cy="504000"/>
          </a:xfrm>
          <a:prstGeom prst="roundRect">
            <a:avLst>
              <a:gd name="adj" fmla="val 20000"/>
            </a:avLst>
          </a:prstGeom>
          <a:solidFill>
            <a:srgbClr val="13294B"/>
          </a:solidFill>
          <a:ln>
            <a:noFill/>
          </a:ln>
        </p:spPr>
        <p:txBody>
          <a:bodyPr rtlCol="0" anchor="ctr" lIns="0" rIns="0" tIns="36000" bIns="36000" wrap="square"/>
          <a:lstStyle/>
          <a:p>
            <a:pPr algn="ctr" marL="0" indent="0">
              <a:lnSpc>
                <a:spcPts val="2640"/>
              </a:lnSpc>
              <a:spcBef>
                <a:spcPts val="0"/>
              </a:spcBef>
              <a:spcAft>
                <a:spcPts val="0"/>
              </a:spcAft>
              <a:buNone/>
            </a:pPr>
            <a:r>
              <a:rPr sz="2200" b="1" i="0" lang="ko-KR">
                <a:solidFill>
                  <a:srgbClr val="FFC000"/>
                </a:solidFill>
                <a:latin typeface="맑은 고딕"/>
                <a:ea typeface="맑은 고딕"/>
                <a:cs typeface="맑은 고딕"/>
              </a:rPr>
              <a:t>RQ2</a:t>
            </a:r>
          </a:p>
        </p:txBody>
      </p:sp>
      <p:sp>
        <p:nvSpPr>
          <p:cNvPr id="157" name="TextBox 156"/>
          <p:cNvSpPr txBox="1"/>
          <p:nvPr/>
        </p:nvSpPr>
        <p:spPr>
          <a:xfrm>
            <a:off x="8724000" y="19116000"/>
            <a:ext cx="4980000" cy="540000"/>
          </a:xfrm>
          <a:prstGeom prst="rect">
            <a:avLst/>
          </a:prstGeom>
          <a:noFill/>
        </p:spPr>
        <p:txBody>
          <a:bodyPr wrap="square" lIns="0" rIns="0" tIns="0" bIns="0" anchor="ctr">
            <a:noAutofit/>
          </a:bodyPr>
          <a:lstStyle/>
          <a:p>
            <a:pPr algn="l" marL="0" indent="0">
              <a:lnSpc>
                <a:spcPts val="2760"/>
              </a:lnSpc>
              <a:spcBef>
                <a:spcPts val="0"/>
              </a:spcBef>
              <a:spcAft>
                <a:spcPts val="0"/>
              </a:spcAft>
              <a:buNone/>
            </a:pPr>
            <a:r>
              <a:rPr sz="2300" b="1" i="0" lang="ko-KR">
                <a:solidFill>
                  <a:srgbClr val="13294B"/>
                </a:solidFill>
                <a:latin typeface="맑은 고딕"/>
                <a:ea typeface="맑은 고딕"/>
                <a:cs typeface="맑은 고딕"/>
              </a:rPr>
              <a:t>형성 → 확산 → 재편의 세 국면</a:t>
            </a:r>
          </a:p>
        </p:txBody>
      </p:sp>
      <p:sp>
        <p:nvSpPr>
          <p:cNvPr id="158" name="Rounded Rectangle 157"/>
          <p:cNvSpPr/>
          <p:nvPr/>
        </p:nvSpPr>
        <p:spPr>
          <a:xfrm>
            <a:off x="7680000" y="23436000"/>
            <a:ext cx="6024000" cy="1188000"/>
          </a:xfrm>
          <a:prstGeom prst="roundRect">
            <a:avLst>
              <a:gd name="adj" fmla="val 8000"/>
            </a:avLst>
          </a:prstGeom>
          <a:solidFill>
            <a:srgbClr val="EEE6FD"/>
          </a:solidFill>
          <a:ln>
            <a:noFill/>
          </a:ln>
        </p:spPr>
        <p:txBody>
          <a:bodyPr rtlCol="0" anchor="ctr" lIns="54000" rIns="54000" tIns="54000" bIns="54000"/>
          <a:lstStyle/>
          <a:p>
            <a:pPr algn="ctr"/>
          </a:p>
        </p:txBody>
      </p:sp>
      <p:sp>
        <p:nvSpPr>
          <p:cNvPr id="159" name="Rounded Rectangle 158"/>
          <p:cNvSpPr/>
          <p:nvPr/>
        </p:nvSpPr>
        <p:spPr>
          <a:xfrm>
            <a:off x="14172000" y="18972000"/>
            <a:ext cx="6312000" cy="5724000"/>
          </a:xfrm>
          <a:prstGeom prst="roundRect">
            <a:avLst>
              <a:gd name="adj" fmla="val 4000"/>
            </a:avLst>
          </a:prstGeom>
          <a:solidFill>
            <a:srgbClr val="FFFFFF"/>
          </a:solidFill>
          <a:ln>
            <a:noFill/>
          </a:ln>
          <a:effectLst>
            <a:outerShdw blurRad="190500" dist="50800" dir="5400000" algn="t" rotWithShape="0">
              <a:srgbClr val="1E2532">
                <a:alpha val="18000"/>
              </a:srgbClr>
            </a:outerShdw>
          </a:effectLst>
        </p:spPr>
        <p:txBody>
          <a:bodyPr rtlCol="0" anchor="ctr" lIns="54000" rIns="54000" tIns="54000" bIns="54000"/>
          <a:lstStyle/>
          <a:p>
            <a:pPr algn="ctr"/>
          </a:p>
        </p:txBody>
      </p:sp>
      <p:sp>
        <p:nvSpPr>
          <p:cNvPr id="160" name="Rounded Rectangle 159"/>
          <p:cNvSpPr/>
          <p:nvPr/>
        </p:nvSpPr>
        <p:spPr>
          <a:xfrm>
            <a:off x="14352000" y="19134000"/>
            <a:ext cx="900000" cy="504000"/>
          </a:xfrm>
          <a:prstGeom prst="roundRect">
            <a:avLst>
              <a:gd name="adj" fmla="val 20000"/>
            </a:avLst>
          </a:prstGeom>
          <a:solidFill>
            <a:srgbClr val="13294B"/>
          </a:solidFill>
          <a:ln>
            <a:noFill/>
          </a:ln>
        </p:spPr>
        <p:txBody>
          <a:bodyPr rtlCol="0" anchor="ctr" lIns="0" rIns="0" tIns="36000" bIns="36000" wrap="square"/>
          <a:lstStyle/>
          <a:p>
            <a:pPr algn="ctr" marL="0" indent="0">
              <a:lnSpc>
                <a:spcPts val="2640"/>
              </a:lnSpc>
              <a:spcBef>
                <a:spcPts val="0"/>
              </a:spcBef>
              <a:spcAft>
                <a:spcPts val="0"/>
              </a:spcAft>
              <a:buNone/>
            </a:pPr>
            <a:r>
              <a:rPr sz="2200" b="1" i="0" lang="ko-KR">
                <a:solidFill>
                  <a:srgbClr val="FFC000"/>
                </a:solidFill>
                <a:latin typeface="맑은 고딕"/>
                <a:ea typeface="맑은 고딕"/>
                <a:cs typeface="맑은 고딕"/>
              </a:rPr>
              <a:t>RQ3</a:t>
            </a:r>
          </a:p>
        </p:txBody>
      </p:sp>
      <p:sp>
        <p:nvSpPr>
          <p:cNvPr id="161" name="TextBox 160"/>
          <p:cNvSpPr txBox="1"/>
          <p:nvPr/>
        </p:nvSpPr>
        <p:spPr>
          <a:xfrm>
            <a:off x="15360000" y="19116000"/>
            <a:ext cx="4980000" cy="540000"/>
          </a:xfrm>
          <a:prstGeom prst="rect">
            <a:avLst/>
          </a:prstGeom>
          <a:noFill/>
        </p:spPr>
        <p:txBody>
          <a:bodyPr wrap="square" lIns="0" rIns="0" tIns="0" bIns="0" anchor="ctr">
            <a:noAutofit/>
          </a:bodyPr>
          <a:lstStyle/>
          <a:p>
            <a:pPr algn="l" marL="0" indent="0">
              <a:lnSpc>
                <a:spcPts val="2760"/>
              </a:lnSpc>
              <a:spcBef>
                <a:spcPts val="0"/>
              </a:spcBef>
              <a:spcAft>
                <a:spcPts val="0"/>
              </a:spcAft>
              <a:buNone/>
            </a:pPr>
            <a:r>
              <a:rPr sz="2300" b="1" i="0" lang="ko-KR">
                <a:solidFill>
                  <a:srgbClr val="13294B"/>
                </a:solidFill>
                <a:latin typeface="맑은 고딕"/>
                <a:ea typeface="맑은 고딕"/>
                <a:cs typeface="맑은 고딕"/>
              </a:rPr>
              <a:t>융합의 중심: 핵심에서 주변으로</a:t>
            </a:r>
          </a:p>
        </p:txBody>
      </p:sp>
      <p:sp>
        <p:nvSpPr>
          <p:cNvPr id="162" name="Rounded Rectangle 161"/>
          <p:cNvSpPr/>
          <p:nvPr/>
        </p:nvSpPr>
        <p:spPr>
          <a:xfrm>
            <a:off x="14316000" y="23436000"/>
            <a:ext cx="6024000" cy="1188000"/>
          </a:xfrm>
          <a:prstGeom prst="roundRect">
            <a:avLst>
              <a:gd name="adj" fmla="val 8000"/>
            </a:avLst>
          </a:prstGeom>
          <a:solidFill>
            <a:srgbClr val="EEE6FD"/>
          </a:solidFill>
          <a:ln>
            <a:noFill/>
          </a:ln>
        </p:spPr>
        <p:txBody>
          <a:bodyPr rtlCol="0" anchor="ctr" lIns="54000" rIns="54000" tIns="54000" bIns="54000"/>
          <a:lstStyle/>
          <a:p>
            <a:pPr algn="ctr"/>
          </a:p>
        </p:txBody>
      </p:sp>
      <p:sp>
        <p:nvSpPr>
          <p:cNvPr id="163" name="TextBox 162"/>
          <p:cNvSpPr txBox="1"/>
          <p:nvPr/>
        </p:nvSpPr>
        <p:spPr>
          <a:xfrm>
            <a:off x="1080000" y="19692000"/>
            <a:ext cx="2664000" cy="1152000"/>
          </a:xfrm>
          <a:prstGeom prst="rect">
            <a:avLst/>
          </a:prstGeom>
          <a:noFill/>
        </p:spPr>
        <p:txBody>
          <a:bodyPr wrap="square" lIns="0" rIns="0" tIns="0" bIns="0" anchor="t">
            <a:noAutofit/>
          </a:bodyPr>
          <a:lstStyle/>
          <a:p>
            <a:pPr algn="l" marL="0" indent="0">
              <a:lnSpc>
                <a:spcPts val="5920"/>
              </a:lnSpc>
              <a:spcBef>
                <a:spcPts val="0"/>
              </a:spcBef>
              <a:spcAft>
                <a:spcPts val="0"/>
              </a:spcAft>
              <a:buNone/>
            </a:pPr>
            <a:r>
              <a:rPr sz="5800" b="1" i="0" lang="ko-KR">
                <a:solidFill>
                  <a:srgbClr val="7C3AED"/>
                </a:solidFill>
                <a:latin typeface="맑은 고딕"/>
                <a:ea typeface="맑은 고딕"/>
                <a:cs typeface="맑은 고딕"/>
              </a:rPr>
              <a:t>45.8%</a:t>
            </a:r>
          </a:p>
          <a:p>
            <a:pPr algn="l" marL="0" indent="0">
              <a:lnSpc>
                <a:spcPts val="2039"/>
              </a:lnSpc>
              <a:spcBef>
                <a:spcPts val="0"/>
              </a:spcBef>
              <a:spcAft>
                <a:spcPts val="0"/>
              </a:spcAft>
              <a:buNone/>
            </a:pPr>
            <a:r>
              <a:rPr sz="1700" b="1" i="0" lang="ko-KR">
                <a:solidFill>
                  <a:srgbClr val="1E2532"/>
                </a:solidFill>
                <a:latin typeface="맑은 고딕"/>
                <a:ea typeface="맑은 고딕"/>
                <a:cs typeface="맑은 고딕"/>
              </a:rPr>
              <a:t>통합형 = 최다 유형</a:t>
            </a:r>
          </a:p>
        </p:txBody>
      </p:sp>
      <p:sp>
        <p:nvSpPr>
          <p:cNvPr id="164" name="TextBox 163"/>
          <p:cNvSpPr txBox="1"/>
          <p:nvPr/>
        </p:nvSpPr>
        <p:spPr>
          <a:xfrm>
            <a:off x="3780000" y="19764000"/>
            <a:ext cx="3288000" cy="936000"/>
          </a:xfrm>
          <a:prstGeom prst="rect">
            <a:avLst/>
          </a:prstGeom>
          <a:noFill/>
        </p:spPr>
        <p:txBody>
          <a:bodyPr wrap="square" lIns="0" rIns="0" tIns="0" bIns="0" anchor="t">
            <a:noAutofit/>
          </a:bodyPr>
          <a:lstStyle/>
          <a:p>
            <a:pPr algn="l" marL="0" indent="0">
              <a:lnSpc>
                <a:spcPts val="3890"/>
              </a:lnSpc>
              <a:spcBef>
                <a:spcPts val="0"/>
              </a:spcBef>
              <a:spcAft>
                <a:spcPts val="0"/>
              </a:spcAft>
              <a:buNone/>
            </a:pPr>
            <a:r>
              <a:rPr sz="3600" b="1" i="0" lang="ko-KR">
                <a:solidFill>
                  <a:srgbClr val="9A72E8"/>
                </a:solidFill>
                <a:latin typeface="맑은 고딕"/>
                <a:ea typeface="맑은 고딕"/>
                <a:cs typeface="맑은 고딕"/>
              </a:rPr>
              <a:t>37.2%</a:t>
            </a:r>
          </a:p>
          <a:p>
            <a:pPr algn="l" marL="0" indent="0">
              <a:lnSpc>
                <a:spcPts val="1800"/>
              </a:lnSpc>
              <a:spcBef>
                <a:spcPts val="0"/>
              </a:spcBef>
              <a:spcAft>
                <a:spcPts val="0"/>
              </a:spcAft>
              <a:buNone/>
            </a:pPr>
            <a:r>
              <a:rPr sz="1500" b="0" i="0" lang="ko-KR">
                <a:solidFill>
                  <a:srgbClr val="5B6475"/>
                </a:solidFill>
                <a:latin typeface="맑은 고딕"/>
                <a:ea typeface="맑은 고딕"/>
                <a:cs typeface="맑은 고딕"/>
              </a:rPr>
              <a:t>패키징 단계 공정을 제외한</a:t>
            </a:r>
          </a:p>
          <a:p>
            <a:pPr algn="l" marL="0" indent="0">
              <a:lnSpc>
                <a:spcPts val="1800"/>
              </a:lnSpc>
              <a:spcBef>
                <a:spcPts val="0"/>
              </a:spcBef>
              <a:spcAft>
                <a:spcPts val="0"/>
              </a:spcAft>
              <a:buNone/>
            </a:pPr>
            <a:r>
              <a:rPr sz="1500" b="0" i="0" lang="ko-KR">
                <a:solidFill>
                  <a:srgbClr val="5B6475"/>
                </a:solidFill>
                <a:latin typeface="맑은 고딕"/>
                <a:ea typeface="맑은 고딕"/>
                <a:cs typeface="맑은 고딕"/>
              </a:rPr>
              <a:t>좁은 정의에서도</a:t>
            </a:r>
          </a:p>
        </p:txBody>
      </p:sp>
      <p:sp>
        <p:nvSpPr>
          <p:cNvPr id="165" name="TextBox 164"/>
          <p:cNvSpPr txBox="1"/>
          <p:nvPr/>
        </p:nvSpPr>
        <p:spPr>
          <a:xfrm>
            <a:off x="1080000" y="20898000"/>
            <a:ext cx="5952000" cy="288000"/>
          </a:xfrm>
          <a:prstGeom prst="rect">
            <a:avLst/>
          </a:prstGeom>
          <a:noFill/>
        </p:spPr>
        <p:txBody>
          <a:bodyPr wrap="square" lIns="0" rIns="0" tIns="0" bIns="0" anchor="t">
            <a:noAutofit/>
          </a:bodyPr>
          <a:lstStyle/>
          <a:p>
            <a:pPr algn="l" marL="0" indent="0">
              <a:lnSpc>
                <a:spcPts val="1920"/>
              </a:lnSpc>
              <a:spcBef>
                <a:spcPts val="0"/>
              </a:spcBef>
              <a:spcAft>
                <a:spcPts val="0"/>
              </a:spcAft>
              <a:buNone/>
            </a:pPr>
            <a:r>
              <a:rPr sz="1600" b="1" i="0" lang="ko-KR">
                <a:solidFill>
                  <a:srgbClr val="13294B"/>
                </a:solidFill>
                <a:latin typeface="맑은 고딕"/>
                <a:ea typeface="맑은 고딕"/>
                <a:cs typeface="맑은 고딕"/>
              </a:rPr>
              <a:t>기술범위(CPC 서브그룹 수)별 예측확률</a:t>
            </a:r>
          </a:p>
        </p:txBody>
      </p:sp>
      <p:graphicFrame>
        <p:nvGraphicFramePr>
          <p:cNvPr id="166" name="Chart 165"/>
          <p:cNvGraphicFramePr>
            <a:graphicFrameLocks noGrp="1"/>
          </p:cNvGraphicFramePr>
          <p:nvPr/>
        </p:nvGraphicFramePr>
        <p:xfrm>
          <a:off x="1008000" y="21168000"/>
          <a:ext cx="6096000" cy="2196000"/>
        </p:xfrm>
        <a:graphic>
          <a:graphicData uri="http://schemas.openxmlformats.org/drawingml/2006/chart">
            <c:chart xmlns:c="http://schemas.openxmlformats.org/drawingml/2006/chart" r:id="rId10"/>
          </a:graphicData>
        </a:graphic>
      </p:graphicFrame>
      <p:sp>
        <p:nvSpPr>
          <p:cNvPr id="167" name="TextBox 166"/>
          <p:cNvSpPr txBox="1"/>
          <p:nvPr/>
        </p:nvSpPr>
        <p:spPr>
          <a:xfrm>
            <a:off x="1152000" y="23490000"/>
            <a:ext cx="5844000" cy="1080000"/>
          </a:xfrm>
          <a:prstGeom prst="rect">
            <a:avLst/>
          </a:prstGeom>
          <a:noFill/>
        </p:spPr>
        <p:txBody>
          <a:bodyPr wrap="square" lIns="0" rIns="0" tIns="0" bIns="0" anchor="ctr">
            <a:noAutofit/>
          </a:bodyPr>
          <a:lstStyle/>
          <a:p>
            <a:pPr algn="l" marL="234000" indent="-234000">
              <a:lnSpc>
                <a:spcPts val="2160"/>
              </a:lnSpc>
              <a:spcBef>
                <a:spcPts val="0"/>
              </a:spcBef>
              <a:spcAft>
                <a:spcPts val="300"/>
              </a:spcAft>
              <a:buClr>
                <a:srgbClr val="7C3AED"/>
              </a:buClr>
              <a:buFont typeface="Arial"/>
              <a:buChar char="●"/>
            </a:pPr>
            <a:r>
              <a:rPr sz="1800" b="1" i="0" lang="ko-KR">
                <a:solidFill>
                  <a:srgbClr val="1E2532"/>
                </a:solidFill>
                <a:latin typeface="맑은 고딕"/>
                <a:ea typeface="맑은 고딕"/>
                <a:cs typeface="맑은 고딕"/>
              </a:rPr>
              <a:t>세부 기술이 다양한 출원일수록 통합형</a:t>
            </a:r>
          </a:p>
          <a:p>
            <a:pPr algn="l" marL="234000" indent="-234000">
              <a:lnSpc>
                <a:spcPts val="2039"/>
              </a:lnSpc>
              <a:spcBef>
                <a:spcPts val="0"/>
              </a:spcBef>
              <a:spcAft>
                <a:spcPts val="300"/>
              </a:spcAft>
              <a:buClr>
                <a:srgbClr val="7C3AED"/>
              </a:buClr>
              <a:buFont typeface="Arial"/>
              <a:buChar char="●"/>
            </a:pPr>
            <a:r>
              <a:rPr sz="1700" b="0" i="0" lang="ko-KR">
                <a:solidFill>
                  <a:srgbClr val="1E2532"/>
                </a:solidFill>
                <a:latin typeface="맑은 고딕"/>
                <a:ea typeface="맑은 고딕"/>
                <a:cs typeface="맑은 고딕"/>
              </a:rPr>
              <a:t>기술범위 1 증가 → 상대위험 1.40배</a:t>
            </a:r>
            <a:r>
              <a:rPr sz="1500" b="0" i="0" lang="ko-KR">
                <a:solidFill>
                  <a:srgbClr val="5B6475"/>
                </a:solidFill>
                <a:latin typeface="맑은 고딕"/>
                <a:ea typeface="맑은 고딕"/>
                <a:cs typeface="맑은 고딕"/>
              </a:rPr>
              <a:t> (RRR 1.403***)</a:t>
            </a:r>
          </a:p>
          <a:p>
            <a:pPr algn="l" marL="234000" indent="-234000">
              <a:lnSpc>
                <a:spcPts val="2039"/>
              </a:lnSpc>
              <a:spcBef>
                <a:spcPts val="0"/>
              </a:spcBef>
              <a:spcAft>
                <a:spcPts val="300"/>
              </a:spcAft>
              <a:buClr>
                <a:srgbClr val="7C3AED"/>
              </a:buClr>
              <a:buFont typeface="Arial"/>
              <a:buChar char="●"/>
            </a:pPr>
            <a:r>
              <a:rPr sz="1700" b="0" i="0" lang="ko-KR">
                <a:solidFill>
                  <a:srgbClr val="1E2532"/>
                </a:solidFill>
                <a:latin typeface="맑은 고딕"/>
                <a:ea typeface="맑은 고딕"/>
                <a:cs typeface="맑은 고딕"/>
              </a:rPr>
              <a:t>기술범위 3 → 통합형 확률 0.26, 8 → 0.68</a:t>
            </a:r>
          </a:p>
        </p:txBody>
      </p:sp>
      <p:sp>
        <p:nvSpPr>
          <p:cNvPr id="168" name="TextBox 167"/>
          <p:cNvSpPr txBox="1"/>
          <p:nvPr/>
        </p:nvSpPr>
        <p:spPr>
          <a:xfrm>
            <a:off x="7716000" y="19710000"/>
            <a:ext cx="5952000" cy="288000"/>
          </a:xfrm>
          <a:prstGeom prst="rect">
            <a:avLst/>
          </a:prstGeom>
          <a:noFill/>
        </p:spPr>
        <p:txBody>
          <a:bodyPr wrap="square" lIns="0" rIns="0" tIns="0" bIns="0" anchor="t">
            <a:noAutofit/>
          </a:bodyPr>
          <a:lstStyle/>
          <a:p>
            <a:pPr algn="l" marL="0" indent="0">
              <a:lnSpc>
                <a:spcPts val="1920"/>
              </a:lnSpc>
              <a:spcBef>
                <a:spcPts val="0"/>
              </a:spcBef>
              <a:spcAft>
                <a:spcPts val="0"/>
              </a:spcAft>
              <a:buNone/>
            </a:pPr>
            <a:r>
              <a:rPr sz="1600" b="1" i="0" lang="ko-KR">
                <a:solidFill>
                  <a:srgbClr val="13294B"/>
                </a:solidFill>
                <a:latin typeface="맑은 고딕"/>
                <a:ea typeface="맑은 고딕"/>
                <a:cs typeface="맑은 고딕"/>
              </a:rPr>
              <a:t>시기별 공동분류 유형 구성비 (%)</a:t>
            </a:r>
          </a:p>
        </p:txBody>
      </p:sp>
      <p:graphicFrame>
        <p:nvGraphicFramePr>
          <p:cNvPr id="169" name="Chart 168"/>
          <p:cNvGraphicFramePr>
            <a:graphicFrameLocks noGrp="1"/>
          </p:cNvGraphicFramePr>
          <p:nvPr/>
        </p:nvGraphicFramePr>
        <p:xfrm>
          <a:off x="7644000" y="19980000"/>
          <a:ext cx="6096000" cy="3384000"/>
        </p:xfrm>
        <a:graphic>
          <a:graphicData uri="http://schemas.openxmlformats.org/drawingml/2006/chart">
            <c:chart xmlns:c="http://schemas.openxmlformats.org/drawingml/2006/chart" r:id="rId11"/>
          </a:graphicData>
        </a:graphic>
      </p:graphicFrame>
      <p:sp>
        <p:nvSpPr>
          <p:cNvPr id="170" name="TextBox 169"/>
          <p:cNvSpPr txBox="1"/>
          <p:nvPr/>
        </p:nvSpPr>
        <p:spPr>
          <a:xfrm>
            <a:off x="7788000" y="23490000"/>
            <a:ext cx="5844000" cy="1080000"/>
          </a:xfrm>
          <a:prstGeom prst="rect">
            <a:avLst/>
          </a:prstGeom>
          <a:noFill/>
        </p:spPr>
        <p:txBody>
          <a:bodyPr wrap="square" lIns="0" rIns="0" tIns="0" bIns="0" anchor="ctr">
            <a:noAutofit/>
          </a:bodyPr>
          <a:lstStyle/>
          <a:p>
            <a:pPr algn="l" marL="234000" indent="-234000">
              <a:lnSpc>
                <a:spcPts val="2160"/>
              </a:lnSpc>
              <a:spcBef>
                <a:spcPts val="0"/>
              </a:spcBef>
              <a:spcAft>
                <a:spcPts val="300"/>
              </a:spcAft>
              <a:buClr>
                <a:srgbClr val="7C3AED"/>
              </a:buClr>
              <a:buFont typeface="Arial"/>
              <a:buChar char="●"/>
            </a:pPr>
            <a:r>
              <a:rPr sz="1800" b="1" i="0" lang="ko-KR">
                <a:solidFill>
                  <a:srgbClr val="1E2532"/>
                </a:solidFill>
                <a:latin typeface="맑은 고딕"/>
                <a:ea typeface="맑은 고딕"/>
                <a:cs typeface="맑은 고딕"/>
              </a:rPr>
              <a:t>통합형 31.3% → 62.2% → 44.3%</a:t>
            </a:r>
          </a:p>
          <a:p>
            <a:pPr algn="l" marL="234000" indent="-234000">
              <a:lnSpc>
                <a:spcPts val="2039"/>
              </a:lnSpc>
              <a:spcBef>
                <a:spcPts val="0"/>
              </a:spcBef>
              <a:spcAft>
                <a:spcPts val="300"/>
              </a:spcAft>
              <a:buClr>
                <a:srgbClr val="7C3AED"/>
              </a:buClr>
              <a:buFont typeface="Arial"/>
              <a:buChar char="●"/>
            </a:pPr>
            <a:r>
              <a:rPr sz="1700" b="0" i="0" lang="ko-KR">
                <a:solidFill>
                  <a:srgbClr val="1E2532"/>
                </a:solidFill>
                <a:latin typeface="맑은 고딕"/>
                <a:ea typeface="맑은 고딕"/>
                <a:cs typeface="맑은 고딕"/>
              </a:rPr>
              <a:t>공정 단독형 상대위험 매년 8.7% 감소</a:t>
            </a:r>
            <a:r>
              <a:rPr sz="1500" b="0" i="0" lang="ko-KR">
                <a:solidFill>
                  <a:srgbClr val="5B6475"/>
                </a:solidFill>
                <a:latin typeface="맑은 고딕"/>
                <a:ea typeface="맑은 고딕"/>
                <a:cs typeface="맑은 고딕"/>
              </a:rPr>
              <a:t> (RRR 0.913***)</a:t>
            </a:r>
          </a:p>
          <a:p>
            <a:pPr algn="l" marL="234000" indent="-234000">
              <a:lnSpc>
                <a:spcPts val="2039"/>
              </a:lnSpc>
              <a:spcBef>
                <a:spcPts val="0"/>
              </a:spcBef>
              <a:spcAft>
                <a:spcPts val="300"/>
              </a:spcAft>
              <a:buClr>
                <a:srgbClr val="7C3AED"/>
              </a:buClr>
              <a:buFont typeface="Arial"/>
              <a:buChar char="●"/>
            </a:pPr>
            <a:r>
              <a:rPr sz="1700" b="1" i="0" lang="ko-KR">
                <a:solidFill>
                  <a:srgbClr val="1E2532"/>
                </a:solidFill>
                <a:latin typeface="맑은 고딕"/>
                <a:ea typeface="맑은 고딕"/>
                <a:cs typeface="맑은 고딕"/>
              </a:rPr>
              <a:t>출원의 무게중심: 제조공정 → 접합</a:t>
            </a:r>
          </a:p>
        </p:txBody>
      </p:sp>
      <p:sp>
        <p:nvSpPr>
          <p:cNvPr id="171" name="TextBox 170"/>
          <p:cNvSpPr txBox="1"/>
          <p:nvPr/>
        </p:nvSpPr>
        <p:spPr>
          <a:xfrm>
            <a:off x="14352000" y="19710000"/>
            <a:ext cx="5952000" cy="288000"/>
          </a:xfrm>
          <a:prstGeom prst="rect">
            <a:avLst/>
          </a:prstGeom>
          <a:noFill/>
        </p:spPr>
        <p:txBody>
          <a:bodyPr wrap="square" lIns="0" rIns="0" tIns="0" bIns="0" anchor="t">
            <a:noAutofit/>
          </a:bodyPr>
          <a:lstStyle/>
          <a:p>
            <a:pPr algn="l" marL="0" indent="0">
              <a:lnSpc>
                <a:spcPts val="1920"/>
              </a:lnSpc>
              <a:spcBef>
                <a:spcPts val="0"/>
              </a:spcBef>
              <a:spcAft>
                <a:spcPts val="0"/>
              </a:spcAft>
              <a:buNone/>
            </a:pPr>
            <a:r>
              <a:rPr sz="1600" b="1" i="0" lang="ko-KR">
                <a:solidFill>
                  <a:srgbClr val="13294B"/>
                </a:solidFill>
                <a:latin typeface="맑은 고딕"/>
                <a:ea typeface="맑은 고딕"/>
                <a:cs typeface="맑은 고딕"/>
              </a:rPr>
              <a:t>핵심 기술 보유 → 통합형 승산비 (95% CI)</a:t>
            </a:r>
          </a:p>
        </p:txBody>
      </p:sp>
      <p:cxnSp>
        <p:nvCxnSpPr>
          <p:cNvPr id="172" name="Connector 171"/>
          <p:cNvCxnSpPr/>
          <p:nvPr/>
        </p:nvCxnSpPr>
        <p:spPr>
          <a:xfrm>
            <a:off x="16818857" y="20034000"/>
            <a:ext cx="0" cy="1026000"/>
          </a:xfrm>
          <a:prstGeom prst="line">
            <a:avLst/>
          </a:prstGeom>
          <a:ln w="19050">
            <a:solidFill>
              <a:srgbClr val="9AA3B2"/>
            </a:solidFill>
            <a:prstDash val="dash"/>
          </a:ln>
        </p:spPr>
      </p:cxnSp>
      <p:sp>
        <p:nvSpPr>
          <p:cNvPr id="173" name="TextBox 172"/>
          <p:cNvSpPr txBox="1"/>
          <p:nvPr/>
        </p:nvSpPr>
        <p:spPr>
          <a:xfrm>
            <a:off x="14352000" y="20052000"/>
            <a:ext cx="1080000" cy="324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solidFill>
                  <a:srgbClr val="2563C9"/>
                </a:solidFill>
                <a:latin typeface="맑은 고딕"/>
                <a:ea typeface="맑은 고딕"/>
                <a:cs typeface="맑은 고딕"/>
              </a:rPr>
              <a:t>형성기</a:t>
            </a:r>
          </a:p>
        </p:txBody>
      </p:sp>
      <p:cxnSp>
        <p:nvCxnSpPr>
          <p:cNvPr id="174" name="Connector 173"/>
          <p:cNvCxnSpPr/>
          <p:nvPr/>
        </p:nvCxnSpPr>
        <p:spPr>
          <a:xfrm>
            <a:off x="18219806" y="20214000"/>
            <a:ext cx="1883859" cy="0"/>
          </a:xfrm>
          <a:prstGeom prst="line">
            <a:avLst/>
          </a:prstGeom>
          <a:ln w="44450">
            <a:solidFill>
              <a:srgbClr val="2563C9"/>
            </a:solidFill>
          </a:ln>
        </p:spPr>
      </p:cxnSp>
      <p:sp>
        <p:nvSpPr>
          <p:cNvPr id="175" name="Oval 174"/>
          <p:cNvSpPr/>
          <p:nvPr/>
        </p:nvSpPr>
        <p:spPr>
          <a:xfrm>
            <a:off x="19053725" y="20106000"/>
            <a:ext cx="216000" cy="216000"/>
          </a:xfrm>
          <a:prstGeom prst="ellipse">
            <a:avLst/>
          </a:prstGeom>
          <a:solidFill>
            <a:srgbClr val="2563C9"/>
          </a:solidFill>
          <a:ln>
            <a:noFill/>
          </a:ln>
        </p:spPr>
        <p:txBody>
          <a:bodyPr rtlCol="0" anchor="ctr" lIns="54000" rIns="54000" tIns="54000" bIns="54000"/>
          <a:lstStyle/>
          <a:p>
            <a:pPr algn="ctr"/>
          </a:p>
        </p:txBody>
      </p:sp>
      <p:sp>
        <p:nvSpPr>
          <p:cNvPr id="176" name="TextBox 175"/>
          <p:cNvSpPr txBox="1"/>
          <p:nvPr/>
        </p:nvSpPr>
        <p:spPr>
          <a:xfrm>
            <a:off x="17937725" y="19872000"/>
            <a:ext cx="1080000" cy="216000"/>
          </a:xfrm>
          <a:prstGeom prst="rect">
            <a:avLst/>
          </a:prstGeom>
          <a:noFill/>
        </p:spPr>
        <p:txBody>
          <a:bodyPr wrap="square" lIns="0" rIns="0" tIns="0" bIns="0" anchor="t">
            <a:noAutofit/>
          </a:bodyPr>
          <a:lstStyle/>
          <a:p>
            <a:pPr algn="r" marL="0" indent="0">
              <a:lnSpc>
                <a:spcPts val="1680"/>
              </a:lnSpc>
              <a:spcBef>
                <a:spcPts val="0"/>
              </a:spcBef>
              <a:spcAft>
                <a:spcPts val="0"/>
              </a:spcAft>
              <a:buNone/>
            </a:pPr>
            <a:r>
              <a:rPr sz="1400" b="1" i="0" lang="ko-KR">
                <a:solidFill>
                  <a:srgbClr val="2563C9"/>
                </a:solidFill>
                <a:latin typeface="맑은 고딕"/>
                <a:ea typeface="맑은 고딕"/>
                <a:cs typeface="맑은 고딕"/>
              </a:rPr>
              <a:t>11.07***</a:t>
            </a:r>
          </a:p>
        </p:txBody>
      </p:sp>
      <p:sp>
        <p:nvSpPr>
          <p:cNvPr id="177" name="TextBox 176"/>
          <p:cNvSpPr txBox="1"/>
          <p:nvPr/>
        </p:nvSpPr>
        <p:spPr>
          <a:xfrm>
            <a:off x="14352000" y="20394000"/>
            <a:ext cx="1080000" cy="324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solidFill>
                  <a:srgbClr val="7C3AED"/>
                </a:solidFill>
                <a:latin typeface="맑은 고딕"/>
                <a:ea typeface="맑은 고딕"/>
                <a:cs typeface="맑은 고딕"/>
              </a:rPr>
              <a:t>확산기</a:t>
            </a:r>
          </a:p>
        </p:txBody>
      </p:sp>
      <p:cxnSp>
        <p:nvCxnSpPr>
          <p:cNvPr id="178" name="Connector 177"/>
          <p:cNvCxnSpPr/>
          <p:nvPr/>
        </p:nvCxnSpPr>
        <p:spPr>
          <a:xfrm>
            <a:off x="16961802" y="20556000"/>
            <a:ext cx="1462445" cy="0"/>
          </a:xfrm>
          <a:prstGeom prst="line">
            <a:avLst/>
          </a:prstGeom>
          <a:ln w="44450">
            <a:solidFill>
              <a:srgbClr val="7C3AED"/>
            </a:solidFill>
          </a:ln>
        </p:spPr>
      </p:cxnSp>
      <p:sp>
        <p:nvSpPr>
          <p:cNvPr id="179" name="Oval 178"/>
          <p:cNvSpPr/>
          <p:nvPr/>
        </p:nvSpPr>
        <p:spPr>
          <a:xfrm>
            <a:off x="17584834" y="20448000"/>
            <a:ext cx="216000" cy="216000"/>
          </a:xfrm>
          <a:prstGeom prst="ellipse">
            <a:avLst/>
          </a:prstGeom>
          <a:solidFill>
            <a:srgbClr val="7C3AED"/>
          </a:solidFill>
          <a:ln>
            <a:noFill/>
          </a:ln>
        </p:spPr>
        <p:txBody>
          <a:bodyPr rtlCol="0" anchor="ctr" lIns="54000" rIns="54000" tIns="54000" bIns="54000"/>
          <a:lstStyle/>
          <a:p>
            <a:pPr algn="ctr"/>
          </a:p>
        </p:txBody>
      </p:sp>
      <p:sp>
        <p:nvSpPr>
          <p:cNvPr id="180" name="TextBox 179"/>
          <p:cNvSpPr txBox="1"/>
          <p:nvPr/>
        </p:nvSpPr>
        <p:spPr>
          <a:xfrm>
            <a:off x="18496247" y="20440800"/>
            <a:ext cx="1224000" cy="21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solidFill>
                  <a:srgbClr val="7C3AED"/>
                </a:solidFill>
                <a:latin typeface="맑은 고딕"/>
                <a:ea typeface="맑은 고딕"/>
                <a:cs typeface="맑은 고딕"/>
              </a:rPr>
              <a:t>2.45**</a:t>
            </a:r>
          </a:p>
        </p:txBody>
      </p:sp>
      <p:sp>
        <p:nvSpPr>
          <p:cNvPr id="181" name="TextBox 180"/>
          <p:cNvSpPr txBox="1"/>
          <p:nvPr/>
        </p:nvSpPr>
        <p:spPr>
          <a:xfrm>
            <a:off x="14352000" y="20736000"/>
            <a:ext cx="1080000" cy="324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solidFill>
                  <a:srgbClr val="EA7A28"/>
                </a:solidFill>
                <a:latin typeface="맑은 고딕"/>
                <a:ea typeface="맑은 고딕"/>
                <a:cs typeface="맑은 고딕"/>
              </a:rPr>
              <a:t>재편기</a:t>
            </a:r>
          </a:p>
        </p:txBody>
      </p:sp>
      <p:cxnSp>
        <p:nvCxnSpPr>
          <p:cNvPr id="182" name="Connector 181"/>
          <p:cNvCxnSpPr/>
          <p:nvPr/>
        </p:nvCxnSpPr>
        <p:spPr>
          <a:xfrm>
            <a:off x="15860498" y="20898000"/>
            <a:ext cx="1102985" cy="0"/>
          </a:xfrm>
          <a:prstGeom prst="line">
            <a:avLst/>
          </a:prstGeom>
          <a:ln w="44450">
            <a:solidFill>
              <a:srgbClr val="EA7A28"/>
            </a:solidFill>
          </a:ln>
        </p:spPr>
      </p:cxnSp>
      <p:sp>
        <p:nvSpPr>
          <p:cNvPr id="183" name="Oval 182"/>
          <p:cNvSpPr/>
          <p:nvPr/>
        </p:nvSpPr>
        <p:spPr>
          <a:xfrm>
            <a:off x="16303006" y="20790000"/>
            <a:ext cx="216000" cy="216000"/>
          </a:xfrm>
          <a:prstGeom prst="ellipse">
            <a:avLst/>
          </a:prstGeom>
          <a:solidFill>
            <a:srgbClr val="EA7A28"/>
          </a:solidFill>
          <a:ln>
            <a:noFill/>
          </a:ln>
        </p:spPr>
        <p:txBody>
          <a:bodyPr rtlCol="0" anchor="ctr" lIns="54000" rIns="54000" tIns="54000" bIns="54000"/>
          <a:lstStyle/>
          <a:p>
            <a:pPr algn="ctr"/>
          </a:p>
        </p:txBody>
      </p:sp>
      <p:sp>
        <p:nvSpPr>
          <p:cNvPr id="184" name="TextBox 183"/>
          <p:cNvSpPr txBox="1"/>
          <p:nvPr/>
        </p:nvSpPr>
        <p:spPr>
          <a:xfrm>
            <a:off x="17035483" y="20782800"/>
            <a:ext cx="1224000" cy="21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solidFill>
                  <a:srgbClr val="EA7A28"/>
                </a:solidFill>
                <a:latin typeface="맑은 고딕"/>
                <a:ea typeface="맑은 고딕"/>
                <a:cs typeface="맑은 고딕"/>
              </a:rPr>
              <a:t>0.66 (비유의)</a:t>
            </a:r>
          </a:p>
        </p:txBody>
      </p:sp>
      <p:cxnSp>
        <p:nvCxnSpPr>
          <p:cNvPr id="185" name="Connector 184"/>
          <p:cNvCxnSpPr/>
          <p:nvPr/>
        </p:nvCxnSpPr>
        <p:spPr>
          <a:xfrm>
            <a:off x="15468000" y="21096000"/>
            <a:ext cx="4728000" cy="0"/>
          </a:xfrm>
          <a:prstGeom prst="line">
            <a:avLst/>
          </a:prstGeom>
          <a:ln w="15875">
            <a:solidFill>
              <a:srgbClr val="9AA3B2"/>
            </a:solidFill>
          </a:ln>
        </p:spPr>
      </p:cxnSp>
      <p:cxnSp>
        <p:nvCxnSpPr>
          <p:cNvPr id="186" name="Connector 185"/>
          <p:cNvCxnSpPr/>
          <p:nvPr/>
        </p:nvCxnSpPr>
        <p:spPr>
          <a:xfrm>
            <a:off x="15468000" y="21096000"/>
            <a:ext cx="0" cy="64800"/>
          </a:xfrm>
          <a:prstGeom prst="line">
            <a:avLst/>
          </a:prstGeom>
          <a:ln w="15875">
            <a:solidFill>
              <a:srgbClr val="9AA3B2"/>
            </a:solidFill>
          </a:ln>
        </p:spPr>
      </p:cxnSp>
      <p:sp>
        <p:nvSpPr>
          <p:cNvPr id="187" name="TextBox 186"/>
          <p:cNvSpPr txBox="1"/>
          <p:nvPr/>
        </p:nvSpPr>
        <p:spPr>
          <a:xfrm>
            <a:off x="15180000" y="21160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0.25</a:t>
            </a:r>
          </a:p>
        </p:txBody>
      </p:sp>
      <p:cxnSp>
        <p:nvCxnSpPr>
          <p:cNvPr id="188" name="Connector 187"/>
          <p:cNvCxnSpPr/>
          <p:nvPr/>
        </p:nvCxnSpPr>
        <p:spPr>
          <a:xfrm>
            <a:off x="16143429" y="21096000"/>
            <a:ext cx="0" cy="64800"/>
          </a:xfrm>
          <a:prstGeom prst="line">
            <a:avLst/>
          </a:prstGeom>
          <a:ln w="15875">
            <a:solidFill>
              <a:srgbClr val="9AA3B2"/>
            </a:solidFill>
          </a:ln>
        </p:spPr>
      </p:cxnSp>
      <p:sp>
        <p:nvSpPr>
          <p:cNvPr id="189" name="TextBox 188"/>
          <p:cNvSpPr txBox="1"/>
          <p:nvPr/>
        </p:nvSpPr>
        <p:spPr>
          <a:xfrm>
            <a:off x="15855429" y="21160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0.5</a:t>
            </a:r>
          </a:p>
        </p:txBody>
      </p:sp>
      <p:cxnSp>
        <p:nvCxnSpPr>
          <p:cNvPr id="190" name="Connector 189"/>
          <p:cNvCxnSpPr/>
          <p:nvPr/>
        </p:nvCxnSpPr>
        <p:spPr>
          <a:xfrm>
            <a:off x="16818857" y="21096000"/>
            <a:ext cx="0" cy="64800"/>
          </a:xfrm>
          <a:prstGeom prst="line">
            <a:avLst/>
          </a:prstGeom>
          <a:ln w="15875">
            <a:solidFill>
              <a:srgbClr val="9AA3B2"/>
            </a:solidFill>
          </a:ln>
        </p:spPr>
      </p:cxnSp>
      <p:sp>
        <p:nvSpPr>
          <p:cNvPr id="191" name="TextBox 190"/>
          <p:cNvSpPr txBox="1"/>
          <p:nvPr/>
        </p:nvSpPr>
        <p:spPr>
          <a:xfrm>
            <a:off x="16530857" y="21160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1</a:t>
            </a:r>
          </a:p>
        </p:txBody>
      </p:sp>
      <p:cxnSp>
        <p:nvCxnSpPr>
          <p:cNvPr id="192" name="Connector 191"/>
          <p:cNvCxnSpPr/>
          <p:nvPr/>
        </p:nvCxnSpPr>
        <p:spPr>
          <a:xfrm>
            <a:off x="17494286" y="21096000"/>
            <a:ext cx="0" cy="64800"/>
          </a:xfrm>
          <a:prstGeom prst="line">
            <a:avLst/>
          </a:prstGeom>
          <a:ln w="15875">
            <a:solidFill>
              <a:srgbClr val="9AA3B2"/>
            </a:solidFill>
          </a:ln>
        </p:spPr>
      </p:cxnSp>
      <p:sp>
        <p:nvSpPr>
          <p:cNvPr id="193" name="TextBox 192"/>
          <p:cNvSpPr txBox="1"/>
          <p:nvPr/>
        </p:nvSpPr>
        <p:spPr>
          <a:xfrm>
            <a:off x="17206286" y="21160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2</a:t>
            </a:r>
          </a:p>
        </p:txBody>
      </p:sp>
      <p:cxnSp>
        <p:nvCxnSpPr>
          <p:cNvPr id="194" name="Connector 193"/>
          <p:cNvCxnSpPr/>
          <p:nvPr/>
        </p:nvCxnSpPr>
        <p:spPr>
          <a:xfrm>
            <a:off x="18169714" y="21096000"/>
            <a:ext cx="0" cy="64800"/>
          </a:xfrm>
          <a:prstGeom prst="line">
            <a:avLst/>
          </a:prstGeom>
          <a:ln w="15875">
            <a:solidFill>
              <a:srgbClr val="9AA3B2"/>
            </a:solidFill>
          </a:ln>
        </p:spPr>
      </p:cxnSp>
      <p:sp>
        <p:nvSpPr>
          <p:cNvPr id="195" name="TextBox 194"/>
          <p:cNvSpPr txBox="1"/>
          <p:nvPr/>
        </p:nvSpPr>
        <p:spPr>
          <a:xfrm>
            <a:off x="17881714" y="21160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4</a:t>
            </a:r>
          </a:p>
        </p:txBody>
      </p:sp>
      <p:cxnSp>
        <p:nvCxnSpPr>
          <p:cNvPr id="196" name="Connector 195"/>
          <p:cNvCxnSpPr/>
          <p:nvPr/>
        </p:nvCxnSpPr>
        <p:spPr>
          <a:xfrm>
            <a:off x="18845143" y="21096000"/>
            <a:ext cx="0" cy="64800"/>
          </a:xfrm>
          <a:prstGeom prst="line">
            <a:avLst/>
          </a:prstGeom>
          <a:ln w="15875">
            <a:solidFill>
              <a:srgbClr val="9AA3B2"/>
            </a:solidFill>
          </a:ln>
        </p:spPr>
      </p:cxnSp>
      <p:sp>
        <p:nvSpPr>
          <p:cNvPr id="197" name="TextBox 196"/>
          <p:cNvSpPr txBox="1"/>
          <p:nvPr/>
        </p:nvSpPr>
        <p:spPr>
          <a:xfrm>
            <a:off x="18557143" y="21160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8</a:t>
            </a:r>
          </a:p>
        </p:txBody>
      </p:sp>
      <p:cxnSp>
        <p:nvCxnSpPr>
          <p:cNvPr id="198" name="Connector 197"/>
          <p:cNvCxnSpPr/>
          <p:nvPr/>
        </p:nvCxnSpPr>
        <p:spPr>
          <a:xfrm>
            <a:off x="19520571" y="21096000"/>
            <a:ext cx="0" cy="64800"/>
          </a:xfrm>
          <a:prstGeom prst="line">
            <a:avLst/>
          </a:prstGeom>
          <a:ln w="15875">
            <a:solidFill>
              <a:srgbClr val="9AA3B2"/>
            </a:solidFill>
          </a:ln>
        </p:spPr>
      </p:cxnSp>
      <p:sp>
        <p:nvSpPr>
          <p:cNvPr id="199" name="TextBox 198"/>
          <p:cNvSpPr txBox="1"/>
          <p:nvPr/>
        </p:nvSpPr>
        <p:spPr>
          <a:xfrm>
            <a:off x="19232571" y="21160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16</a:t>
            </a:r>
          </a:p>
        </p:txBody>
      </p:sp>
      <p:cxnSp>
        <p:nvCxnSpPr>
          <p:cNvPr id="200" name="Connector 199"/>
          <p:cNvCxnSpPr/>
          <p:nvPr/>
        </p:nvCxnSpPr>
        <p:spPr>
          <a:xfrm>
            <a:off x="20196000" y="21096000"/>
            <a:ext cx="0" cy="64800"/>
          </a:xfrm>
          <a:prstGeom prst="line">
            <a:avLst/>
          </a:prstGeom>
          <a:ln w="15875">
            <a:solidFill>
              <a:srgbClr val="9AA3B2"/>
            </a:solidFill>
          </a:ln>
        </p:spPr>
      </p:cxnSp>
      <p:sp>
        <p:nvSpPr>
          <p:cNvPr id="201" name="TextBox 200"/>
          <p:cNvSpPr txBox="1"/>
          <p:nvPr/>
        </p:nvSpPr>
        <p:spPr>
          <a:xfrm>
            <a:off x="19908000" y="21160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32</a:t>
            </a:r>
          </a:p>
        </p:txBody>
      </p:sp>
      <p:sp>
        <p:nvSpPr>
          <p:cNvPr id="202" name="TextBox 201"/>
          <p:cNvSpPr txBox="1"/>
          <p:nvPr/>
        </p:nvSpPr>
        <p:spPr>
          <a:xfrm>
            <a:off x="14352000" y="21402000"/>
            <a:ext cx="5952000" cy="288000"/>
          </a:xfrm>
          <a:prstGeom prst="rect">
            <a:avLst/>
          </a:prstGeom>
          <a:noFill/>
        </p:spPr>
        <p:txBody>
          <a:bodyPr wrap="square" lIns="0" rIns="0" tIns="0" bIns="0" anchor="t">
            <a:noAutofit/>
          </a:bodyPr>
          <a:lstStyle/>
          <a:p>
            <a:pPr algn="l" marL="0" indent="0">
              <a:lnSpc>
                <a:spcPts val="1920"/>
              </a:lnSpc>
              <a:spcBef>
                <a:spcPts val="0"/>
              </a:spcBef>
              <a:spcAft>
                <a:spcPts val="0"/>
              </a:spcAft>
              <a:buNone/>
            </a:pPr>
            <a:r>
              <a:rPr sz="1600" b="1" i="0" lang="ko-KR">
                <a:solidFill>
                  <a:srgbClr val="13294B"/>
                </a:solidFill>
                <a:latin typeface="맑은 고딕"/>
                <a:ea typeface="맑은 고딕"/>
                <a:cs typeface="맑은 고딕"/>
              </a:rPr>
              <a:t>제조공정 영역별 접합 기호와의 결합 강도 (Jaccard)</a:t>
            </a:r>
          </a:p>
        </p:txBody>
      </p:sp>
      <p:graphicFrame>
        <p:nvGraphicFramePr>
          <p:cNvPr id="203" name="Chart 202"/>
          <p:cNvGraphicFramePr>
            <a:graphicFrameLocks noGrp="1"/>
          </p:cNvGraphicFramePr>
          <p:nvPr/>
        </p:nvGraphicFramePr>
        <p:xfrm>
          <a:off x="14280000" y="21654000"/>
          <a:ext cx="6096000" cy="1728000"/>
        </p:xfrm>
        <a:graphic>
          <a:graphicData uri="http://schemas.openxmlformats.org/drawingml/2006/chart">
            <c:chart xmlns:c="http://schemas.openxmlformats.org/drawingml/2006/chart" r:id="rId12"/>
          </a:graphicData>
        </a:graphic>
      </p:graphicFrame>
      <p:sp>
        <p:nvSpPr>
          <p:cNvPr id="204" name="TextBox 203"/>
          <p:cNvSpPr txBox="1"/>
          <p:nvPr/>
        </p:nvSpPr>
        <p:spPr>
          <a:xfrm>
            <a:off x="14424000" y="23490000"/>
            <a:ext cx="5844000" cy="1080000"/>
          </a:xfrm>
          <a:prstGeom prst="rect">
            <a:avLst/>
          </a:prstGeom>
          <a:noFill/>
        </p:spPr>
        <p:txBody>
          <a:bodyPr wrap="square" lIns="0" rIns="0" tIns="0" bIns="0" anchor="ctr">
            <a:noAutofit/>
          </a:bodyPr>
          <a:lstStyle/>
          <a:p>
            <a:pPr algn="l" marL="234000" indent="-234000">
              <a:lnSpc>
                <a:spcPts val="2160"/>
              </a:lnSpc>
              <a:spcBef>
                <a:spcPts val="0"/>
              </a:spcBef>
              <a:spcAft>
                <a:spcPts val="300"/>
              </a:spcAft>
              <a:buClr>
                <a:srgbClr val="7C3AED"/>
              </a:buClr>
              <a:buFont typeface="Arial"/>
              <a:buChar char="●"/>
            </a:pPr>
            <a:r>
              <a:rPr sz="1800" b="1" i="0" lang="ko-KR">
                <a:solidFill>
                  <a:srgbClr val="1E2532"/>
                </a:solidFill>
                <a:latin typeface="맑은 고딕"/>
                <a:ea typeface="맑은 고딕"/>
                <a:cs typeface="맑은 고딕"/>
              </a:rPr>
              <a:t>재편기에는 핵심 기술의 통합형 우위가 확인되지 않음</a:t>
            </a:r>
          </a:p>
          <a:p>
            <a:pPr algn="l" marL="234000" indent="-234000">
              <a:lnSpc>
                <a:spcPts val="2039"/>
              </a:lnSpc>
              <a:spcBef>
                <a:spcPts val="0"/>
              </a:spcBef>
              <a:spcAft>
                <a:spcPts val="300"/>
              </a:spcAft>
              <a:buClr>
                <a:srgbClr val="7C3AED"/>
              </a:buClr>
              <a:buFont typeface="Arial"/>
              <a:buChar char="●"/>
            </a:pPr>
            <a:r>
              <a:rPr sz="1700" b="0" i="0" lang="ko-KR">
                <a:solidFill>
                  <a:srgbClr val="1E2532"/>
                </a:solidFill>
                <a:latin typeface="맑은 고딕"/>
                <a:ea typeface="맑은 고딕"/>
                <a:cs typeface="맑은 고딕"/>
              </a:rPr>
              <a:t>접합 출원 중 핵심 기술 53.5% → 88.0%</a:t>
            </a:r>
          </a:p>
          <a:p>
            <a:pPr algn="l" marL="234000" indent="-234000">
              <a:lnSpc>
                <a:spcPts val="2039"/>
              </a:lnSpc>
              <a:spcBef>
                <a:spcPts val="0"/>
              </a:spcBef>
              <a:spcAft>
                <a:spcPts val="300"/>
              </a:spcAft>
              <a:buClr>
                <a:srgbClr val="7C3AED"/>
              </a:buClr>
              <a:buFont typeface="Arial"/>
              <a:buChar char="●"/>
            </a:pPr>
            <a:r>
              <a:rPr sz="1700" b="1" i="0" lang="ko-KR">
                <a:solidFill>
                  <a:srgbClr val="1E2532"/>
                </a:solidFill>
                <a:latin typeface="맑은 고딕"/>
                <a:ea typeface="맑은 고딕"/>
                <a:cs typeface="맑은 고딕"/>
              </a:rPr>
              <a:t>결합 중심: 웨이퍼 제조공정 → 공정 장치·패키징 단계 공정</a:t>
            </a:r>
          </a:p>
        </p:txBody>
      </p:sp>
      <p:sp>
        <p:nvSpPr>
          <p:cNvPr id="205" name="Rounded Rectangle 204"/>
          <p:cNvSpPr/>
          <p:nvPr/>
        </p:nvSpPr>
        <p:spPr>
          <a:xfrm>
            <a:off x="576000" y="25164000"/>
            <a:ext cx="20232000" cy="3600000"/>
          </a:xfrm>
          <a:prstGeom prst="roundRect">
            <a:avLst>
              <a:gd name="adj" fmla="val 2500"/>
            </a:avLst>
          </a:prstGeom>
          <a:solidFill>
            <a:srgbClr val="F2F5FA"/>
          </a:solidFill>
          <a:ln>
            <a:noFill/>
          </a:ln>
        </p:spPr>
        <p:txBody>
          <a:bodyPr rtlCol="0" anchor="ctr" lIns="54000" rIns="54000" tIns="54000" bIns="54000"/>
          <a:lstStyle/>
          <a:p>
            <a:pPr algn="ctr"/>
          </a:p>
        </p:txBody>
      </p:sp>
      <p:sp>
        <p:nvSpPr>
          <p:cNvPr id="206" name="Oval 205"/>
          <p:cNvSpPr/>
          <p:nvPr/>
        </p:nvSpPr>
        <p:spPr>
          <a:xfrm>
            <a:off x="828000" y="25380000"/>
            <a:ext cx="828000" cy="828000"/>
          </a:xfrm>
          <a:prstGeom prst="ellipse">
            <a:avLst/>
          </a:prstGeom>
          <a:solidFill>
            <a:srgbClr val="13294B"/>
          </a:solidFill>
          <a:ln>
            <a:noFill/>
          </a:ln>
        </p:spPr>
        <p:txBody>
          <a:bodyPr rtlCol="0" anchor="ctr" lIns="0" rIns="0" tIns="36000" bIns="36000" wrap="square"/>
          <a:lstStyle/>
          <a:p>
            <a:pPr algn="ctr" marL="0" indent="0">
              <a:lnSpc>
                <a:spcPts val="3600"/>
              </a:lnSpc>
              <a:spcBef>
                <a:spcPts val="0"/>
              </a:spcBef>
              <a:spcAft>
                <a:spcPts val="0"/>
              </a:spcAft>
              <a:buNone/>
            </a:pPr>
            <a:r>
              <a:rPr sz="3000" b="1" i="0" lang="ko-KR">
                <a:solidFill>
                  <a:srgbClr val="FFFFFF"/>
                </a:solidFill>
                <a:latin typeface="맑은 고딕"/>
                <a:ea typeface="맑은 고딕"/>
                <a:cs typeface="맑은 고딕"/>
              </a:rPr>
              <a:t>05</a:t>
            </a:r>
          </a:p>
        </p:txBody>
      </p:sp>
      <p:sp>
        <p:nvSpPr>
          <p:cNvPr id="207" name="TextBox 206"/>
          <p:cNvSpPr txBox="1"/>
          <p:nvPr/>
        </p:nvSpPr>
        <p:spPr>
          <a:xfrm>
            <a:off x="1800000" y="25362000"/>
            <a:ext cx="18720000" cy="864000"/>
          </a:xfrm>
          <a:prstGeom prst="rect">
            <a:avLst/>
          </a:prstGeom>
          <a:noFill/>
        </p:spPr>
        <p:txBody>
          <a:bodyPr wrap="square" lIns="0" rIns="0" tIns="0" bIns="0" anchor="ctr">
            <a:noAutofit/>
          </a:bodyPr>
          <a:lstStyle/>
          <a:p>
            <a:pPr algn="l" marL="0" indent="0">
              <a:lnSpc>
                <a:spcPts val="4800"/>
              </a:lnSpc>
              <a:spcBef>
                <a:spcPts val="0"/>
              </a:spcBef>
              <a:spcAft>
                <a:spcPts val="0"/>
              </a:spcAft>
              <a:buNone/>
            </a:pPr>
            <a:r>
              <a:rPr sz="4000" b="1" i="0" lang="ko-KR">
                <a:solidFill>
                  <a:srgbClr val="13294B"/>
                </a:solidFill>
                <a:latin typeface="맑은 고딕"/>
                <a:ea typeface="맑은 고딕"/>
                <a:cs typeface="맑은 고딕"/>
              </a:rPr>
              <a:t>결론 및 시사점</a:t>
            </a:r>
          </a:p>
        </p:txBody>
      </p:sp>
      <p:sp>
        <p:nvSpPr>
          <p:cNvPr id="208" name="Pentagon 207"/>
          <p:cNvSpPr/>
          <p:nvPr/>
        </p:nvSpPr>
        <p:spPr>
          <a:xfrm>
            <a:off x="900000" y="26244000"/>
            <a:ext cx="4320000" cy="648000"/>
          </a:xfrm>
          <a:prstGeom prst="homePlate">
            <a:avLst/>
          </a:prstGeom>
          <a:solidFill>
            <a:srgbClr val="2563C9"/>
          </a:solidFill>
          <a:ln>
            <a:noFill/>
          </a:ln>
        </p:spPr>
        <p:txBody>
          <a:bodyPr rtlCol="0" anchor="ctr" lIns="324000" rIns="324000" tIns="36000" bIns="36000" wrap="square"/>
          <a:lstStyle/>
          <a:p>
            <a:pPr algn="ctr" marL="0" indent="0">
              <a:lnSpc>
                <a:spcPts val="2640"/>
              </a:lnSpc>
              <a:spcBef>
                <a:spcPts val="0"/>
              </a:spcBef>
              <a:spcAft>
                <a:spcPts val="0"/>
              </a:spcAft>
              <a:buNone/>
            </a:pPr>
            <a:r>
              <a:rPr sz="2200" b="1" i="0" lang="ko-KR">
                <a:solidFill>
                  <a:srgbClr val="FFFFFF"/>
                </a:solidFill>
                <a:latin typeface="맑은 고딕"/>
                <a:ea typeface="맑은 고딕"/>
                <a:cs typeface="맑은 고딕"/>
              </a:rPr>
              <a:t>형성기  </a:t>
            </a:r>
            <a:r>
              <a:rPr sz="1700" b="0" i="0" lang="ko-KR">
                <a:solidFill>
                  <a:srgbClr val="FFFFFF"/>
                </a:solidFill>
                <a:latin typeface="맑은 고딕"/>
                <a:ea typeface="맑은 고딕"/>
                <a:cs typeface="맑은 고딕"/>
              </a:rPr>
              <a:t>–2014</a:t>
            </a:r>
          </a:p>
        </p:txBody>
      </p:sp>
      <p:sp>
        <p:nvSpPr>
          <p:cNvPr id="209" name="TextBox 208"/>
          <p:cNvSpPr txBox="1"/>
          <p:nvPr/>
        </p:nvSpPr>
        <p:spPr>
          <a:xfrm>
            <a:off x="1080000" y="26946000"/>
            <a:ext cx="3780000" cy="864000"/>
          </a:xfrm>
          <a:prstGeom prst="rect">
            <a:avLst/>
          </a:prstGeom>
          <a:noFill/>
        </p:spPr>
        <p:txBody>
          <a:bodyPr wrap="square" lIns="0" rIns="0" tIns="0" bIns="0" anchor="t">
            <a:noAutofit/>
          </a:bodyPr>
          <a:lstStyle/>
          <a:p>
            <a:pPr algn="l" marL="0" indent="0">
              <a:lnSpc>
                <a:spcPts val="2039"/>
              </a:lnSpc>
              <a:spcBef>
                <a:spcPts val="0"/>
              </a:spcBef>
              <a:spcAft>
                <a:spcPts val="100"/>
              </a:spcAft>
              <a:buNone/>
            </a:pPr>
            <a:r>
              <a:rPr sz="1700" b="1" i="0" lang="ko-KR">
                <a:solidFill>
                  <a:srgbClr val="2563C9"/>
                </a:solidFill>
                <a:latin typeface="맑은 고딕"/>
                <a:ea typeface="맑은 고딕"/>
                <a:cs typeface="맑은 고딕"/>
              </a:rPr>
              <a:t>공정 단독형 우세 (43.6%)</a:t>
            </a:r>
          </a:p>
          <a:p>
            <a:pPr algn="l" marL="0" indent="0">
              <a:lnSpc>
                <a:spcPts val="1800"/>
              </a:lnSpc>
              <a:spcBef>
                <a:spcPts val="0"/>
              </a:spcBef>
              <a:spcAft>
                <a:spcPts val="0"/>
              </a:spcAft>
              <a:buNone/>
            </a:pPr>
            <a:r>
              <a:rPr sz="1500" b="0" i="0" lang="ko-KR">
                <a:solidFill>
                  <a:srgbClr val="1E2532"/>
                </a:solidFill>
                <a:latin typeface="맑은 고딕"/>
                <a:ea typeface="맑은 고딕"/>
                <a:cs typeface="맑은 고딕"/>
              </a:rPr>
              <a:t>핵심 기술 출원은 제조공정 지식을 함께 포함 (OR 11.1)</a:t>
            </a:r>
          </a:p>
        </p:txBody>
      </p:sp>
      <p:sp>
        <p:nvSpPr>
          <p:cNvPr id="210" name="Chevron 209"/>
          <p:cNvSpPr/>
          <p:nvPr/>
        </p:nvSpPr>
        <p:spPr>
          <a:xfrm>
            <a:off x="5112000" y="26244000"/>
            <a:ext cx="4320000" cy="648000"/>
          </a:xfrm>
          <a:prstGeom prst="chevron">
            <a:avLst/>
          </a:prstGeom>
          <a:solidFill>
            <a:srgbClr val="7C3AED"/>
          </a:solidFill>
          <a:ln>
            <a:noFill/>
          </a:ln>
        </p:spPr>
        <p:txBody>
          <a:bodyPr rtlCol="0" anchor="ctr" lIns="324000" rIns="324000" tIns="36000" bIns="36000" wrap="square"/>
          <a:lstStyle/>
          <a:p>
            <a:pPr algn="ctr" marL="0" indent="0">
              <a:lnSpc>
                <a:spcPts val="2640"/>
              </a:lnSpc>
              <a:spcBef>
                <a:spcPts val="0"/>
              </a:spcBef>
              <a:spcAft>
                <a:spcPts val="0"/>
              </a:spcAft>
              <a:buNone/>
            </a:pPr>
            <a:r>
              <a:rPr sz="2200" b="1" i="0" lang="ko-KR">
                <a:solidFill>
                  <a:srgbClr val="FFFFFF"/>
                </a:solidFill>
                <a:latin typeface="맑은 고딕"/>
                <a:ea typeface="맑은 고딕"/>
                <a:cs typeface="맑은 고딕"/>
              </a:rPr>
              <a:t>확산기  </a:t>
            </a:r>
            <a:r>
              <a:rPr sz="1700" b="0" i="0" lang="ko-KR">
                <a:solidFill>
                  <a:srgbClr val="FFFFFF"/>
                </a:solidFill>
                <a:latin typeface="맑은 고딕"/>
                <a:ea typeface="맑은 고딕"/>
                <a:cs typeface="맑은 고딕"/>
              </a:rPr>
              <a:t>2015–2019</a:t>
            </a:r>
          </a:p>
        </p:txBody>
      </p:sp>
      <p:sp>
        <p:nvSpPr>
          <p:cNvPr id="211" name="TextBox 210"/>
          <p:cNvSpPr txBox="1"/>
          <p:nvPr/>
        </p:nvSpPr>
        <p:spPr>
          <a:xfrm>
            <a:off x="5292000" y="26946000"/>
            <a:ext cx="3780000" cy="864000"/>
          </a:xfrm>
          <a:prstGeom prst="rect">
            <a:avLst/>
          </a:prstGeom>
          <a:noFill/>
        </p:spPr>
        <p:txBody>
          <a:bodyPr wrap="square" lIns="0" rIns="0" tIns="0" bIns="0" anchor="t">
            <a:noAutofit/>
          </a:bodyPr>
          <a:lstStyle/>
          <a:p>
            <a:pPr algn="l" marL="0" indent="0">
              <a:lnSpc>
                <a:spcPts val="2039"/>
              </a:lnSpc>
              <a:spcBef>
                <a:spcPts val="0"/>
              </a:spcBef>
              <a:spcAft>
                <a:spcPts val="100"/>
              </a:spcAft>
              <a:buNone/>
            </a:pPr>
            <a:r>
              <a:rPr sz="1700" b="1" i="0" lang="ko-KR">
                <a:solidFill>
                  <a:srgbClr val="7C3AED"/>
                </a:solidFill>
                <a:latin typeface="맑은 고딕"/>
                <a:ea typeface="맑은 고딕"/>
                <a:cs typeface="맑은 고딕"/>
              </a:rPr>
              <a:t>통합형 정점 (62.2%)</a:t>
            </a:r>
          </a:p>
          <a:p>
            <a:pPr algn="l" marL="0" indent="0">
              <a:lnSpc>
                <a:spcPts val="1800"/>
              </a:lnSpc>
              <a:spcBef>
                <a:spcPts val="0"/>
              </a:spcBef>
              <a:spcAft>
                <a:spcPts val="0"/>
              </a:spcAft>
              <a:buNone/>
            </a:pPr>
            <a:r>
              <a:rPr sz="1500" b="0" i="0" lang="ko-KR">
                <a:solidFill>
                  <a:srgbClr val="1E2532"/>
                </a:solidFill>
                <a:latin typeface="맑은 고딕"/>
                <a:ea typeface="맑은 고딕"/>
                <a:cs typeface="맑은 고딕"/>
              </a:rPr>
              <a:t>웨이퍼 제조공정과의 결합이 가장 강함</a:t>
            </a:r>
          </a:p>
        </p:txBody>
      </p:sp>
      <p:sp>
        <p:nvSpPr>
          <p:cNvPr id="212" name="Chevron 211"/>
          <p:cNvSpPr/>
          <p:nvPr/>
        </p:nvSpPr>
        <p:spPr>
          <a:xfrm>
            <a:off x="9324000" y="26244000"/>
            <a:ext cx="4320000" cy="648000"/>
          </a:xfrm>
          <a:prstGeom prst="chevron">
            <a:avLst/>
          </a:prstGeom>
          <a:solidFill>
            <a:srgbClr val="EA7A28"/>
          </a:solidFill>
          <a:ln>
            <a:noFill/>
          </a:ln>
        </p:spPr>
        <p:txBody>
          <a:bodyPr rtlCol="0" anchor="ctr" lIns="324000" rIns="324000" tIns="36000" bIns="36000" wrap="square"/>
          <a:lstStyle/>
          <a:p>
            <a:pPr algn="ctr" marL="0" indent="0">
              <a:lnSpc>
                <a:spcPts val="2640"/>
              </a:lnSpc>
              <a:spcBef>
                <a:spcPts val="0"/>
              </a:spcBef>
              <a:spcAft>
                <a:spcPts val="0"/>
              </a:spcAft>
              <a:buNone/>
            </a:pPr>
            <a:r>
              <a:rPr sz="2200" b="1" i="0" lang="ko-KR">
                <a:solidFill>
                  <a:srgbClr val="FFFFFF"/>
                </a:solidFill>
                <a:latin typeface="맑은 고딕"/>
                <a:ea typeface="맑은 고딕"/>
                <a:cs typeface="맑은 고딕"/>
              </a:rPr>
              <a:t>재편기  </a:t>
            </a:r>
            <a:r>
              <a:rPr sz="1700" b="0" i="0" lang="ko-KR">
                <a:solidFill>
                  <a:srgbClr val="FFFFFF"/>
                </a:solidFill>
                <a:latin typeface="맑은 고딕"/>
                <a:ea typeface="맑은 고딕"/>
                <a:cs typeface="맑은 고딕"/>
              </a:rPr>
              <a:t>2020–2024</a:t>
            </a:r>
          </a:p>
        </p:txBody>
      </p:sp>
      <p:sp>
        <p:nvSpPr>
          <p:cNvPr id="213" name="TextBox 212"/>
          <p:cNvSpPr txBox="1"/>
          <p:nvPr/>
        </p:nvSpPr>
        <p:spPr>
          <a:xfrm>
            <a:off x="9504000" y="26946000"/>
            <a:ext cx="3780000" cy="864000"/>
          </a:xfrm>
          <a:prstGeom prst="rect">
            <a:avLst/>
          </a:prstGeom>
          <a:noFill/>
        </p:spPr>
        <p:txBody>
          <a:bodyPr wrap="square" lIns="0" rIns="0" tIns="0" bIns="0" anchor="t">
            <a:noAutofit/>
          </a:bodyPr>
          <a:lstStyle/>
          <a:p>
            <a:pPr algn="l" marL="0" indent="0">
              <a:lnSpc>
                <a:spcPts val="2039"/>
              </a:lnSpc>
              <a:spcBef>
                <a:spcPts val="0"/>
              </a:spcBef>
              <a:spcAft>
                <a:spcPts val="100"/>
              </a:spcAft>
              <a:buNone/>
            </a:pPr>
            <a:r>
              <a:rPr sz="1700" b="1" i="0" lang="ko-KR">
                <a:solidFill>
                  <a:srgbClr val="EA7A28"/>
                </a:solidFill>
                <a:latin typeface="맑은 고딕"/>
                <a:ea typeface="맑은 고딕"/>
                <a:cs typeface="맑은 고딕"/>
              </a:rPr>
              <a:t>접합 단독형 증가 (45.4%)</a:t>
            </a:r>
          </a:p>
          <a:p>
            <a:pPr algn="l" marL="0" indent="0">
              <a:lnSpc>
                <a:spcPts val="1800"/>
              </a:lnSpc>
              <a:spcBef>
                <a:spcPts val="0"/>
              </a:spcBef>
              <a:spcAft>
                <a:spcPts val="0"/>
              </a:spcAft>
              <a:buNone/>
            </a:pPr>
            <a:r>
              <a:rPr sz="1500" b="0" i="0" lang="ko-KR">
                <a:solidFill>
                  <a:srgbClr val="1E2532"/>
                </a:solidFill>
                <a:latin typeface="맑은 고딕"/>
                <a:ea typeface="맑은 고딕"/>
                <a:cs typeface="맑은 고딕"/>
              </a:rPr>
              <a:t>핵심 설계 고착화 → 공정 장치·패키징 단계 공정으로 이동</a:t>
            </a:r>
          </a:p>
        </p:txBody>
      </p:sp>
      <p:sp>
        <p:nvSpPr>
          <p:cNvPr id="214" name="Rounded Rectangle 213"/>
          <p:cNvSpPr/>
          <p:nvPr/>
        </p:nvSpPr>
        <p:spPr>
          <a:xfrm>
            <a:off x="900000" y="27846000"/>
            <a:ext cx="12744000" cy="702000"/>
          </a:xfrm>
          <a:prstGeom prst="roundRect">
            <a:avLst>
              <a:gd name="adj" fmla="val 12000"/>
            </a:avLst>
          </a:prstGeom>
          <a:solidFill>
            <a:srgbClr val="13294B"/>
          </a:solidFill>
          <a:ln>
            <a:noFill/>
          </a:ln>
        </p:spPr>
        <p:txBody>
          <a:bodyPr rtlCol="0" anchor="ctr" lIns="54000" rIns="54000" tIns="54000" bIns="54000"/>
          <a:lstStyle/>
          <a:p>
            <a:pPr algn="ctr"/>
          </a:p>
        </p:txBody>
      </p:sp>
      <p:sp>
        <p:nvSpPr>
          <p:cNvPr id="215" name="TextBox 214"/>
          <p:cNvSpPr txBox="1"/>
          <p:nvPr/>
        </p:nvSpPr>
        <p:spPr>
          <a:xfrm>
            <a:off x="1116000" y="27846000"/>
            <a:ext cx="12312000" cy="702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FFFFFF"/>
                </a:solidFill>
                <a:latin typeface="맑은 고딕"/>
                <a:ea typeface="맑은 고딕"/>
                <a:cs typeface="맑은 고딕"/>
              </a:rPr>
              <a:t>공정 단계 간 기술융합은 단선적 확대가 아니라 융합의 내용과 중심이 국면에 따라 재편되는 </a:t>
            </a:r>
            <a:r>
              <a:rPr sz="1900" b="1" i="0" lang="ko-KR">
                <a:solidFill>
                  <a:srgbClr val="FFC000"/>
                </a:solidFill>
                <a:latin typeface="맑은 고딕"/>
                <a:ea typeface="맑은 고딕"/>
                <a:cs typeface="맑은 고딕"/>
              </a:rPr>
              <a:t>동태적 과정</a:t>
            </a:r>
            <a:r>
              <a:rPr sz="1900" b="1" i="0" lang="ko-KR">
                <a:solidFill>
                  <a:srgbClr val="FFFFFF"/>
                </a:solidFill>
                <a:latin typeface="맑은 고딕"/>
                <a:ea typeface="맑은 고딕"/>
                <a:cs typeface="맑은 고딕"/>
              </a:rPr>
              <a:t>이며, 그 배경에 핵심 기술 설계의 고착화가 있음을 시사한다.</a:t>
            </a:r>
          </a:p>
        </p:txBody>
      </p:sp>
      <p:sp>
        <p:nvSpPr>
          <p:cNvPr id="216" name="Rounded Rectangle 215"/>
          <p:cNvSpPr/>
          <p:nvPr/>
        </p:nvSpPr>
        <p:spPr>
          <a:xfrm>
            <a:off x="13968000" y="26244000"/>
            <a:ext cx="6516000" cy="1098000"/>
          </a:xfrm>
          <a:prstGeom prst="roundRect">
            <a:avLst>
              <a:gd name="adj" fmla="val 8000"/>
            </a:avLst>
          </a:prstGeom>
          <a:solidFill>
            <a:srgbClr val="FFFFFF"/>
          </a:solidFill>
          <a:ln>
            <a:noFill/>
          </a:ln>
          <a:effectLst>
            <a:outerShdw blurRad="190500" dist="50800" dir="5400000" algn="t" rotWithShape="0">
              <a:srgbClr val="1E2532">
                <a:alpha val="18000"/>
              </a:srgbClr>
            </a:outerShdw>
          </a:effectLst>
        </p:spPr>
        <p:txBody>
          <a:bodyPr rtlCol="0" anchor="ctr" lIns="54000" rIns="54000" tIns="54000" bIns="54000"/>
          <a:lstStyle/>
          <a:p>
            <a:pPr algn="ctr"/>
          </a:p>
        </p:txBody>
      </p:sp>
      <p:sp>
        <p:nvSpPr>
          <p:cNvPr id="217" name="Oval 216"/>
          <p:cNvSpPr/>
          <p:nvPr/>
        </p:nvSpPr>
        <p:spPr>
          <a:xfrm>
            <a:off x="14094000" y="26352000"/>
            <a:ext cx="468000" cy="468000"/>
          </a:xfrm>
          <a:prstGeom prst="ellipse">
            <a:avLst/>
          </a:prstGeom>
          <a:solidFill>
            <a:srgbClr val="24406E"/>
          </a:solidFill>
          <a:ln>
            <a:noFill/>
          </a:ln>
        </p:spPr>
        <p:txBody>
          <a:bodyPr rtlCol="0" anchor="ctr" lIns="54000" rIns="54000" tIns="54000" bIns="54000"/>
          <a:lstStyle/>
          <a:p>
            <a:pPr algn="ctr"/>
          </a:p>
        </p:txBody>
      </p:sp>
      <p:pic>
        <p:nvPicPr>
          <p:cNvPr id="218" name="Picture 217" descr="FaGraduationCap_FFFFFF.png"/>
          <p:cNvPicPr>
            <a:picLocks noChangeAspect="1"/>
          </p:cNvPicPr>
          <p:nvPr/>
        </p:nvPicPr>
        <p:blipFill>
          <a:blip r:embed="rId13"/>
          <a:stretch>
            <a:fillRect/>
          </a:stretch>
        </p:blipFill>
        <p:spPr>
          <a:xfrm>
            <a:off x="14215680" y="26473680"/>
            <a:ext cx="224640" cy="224640"/>
          </a:xfrm>
          <a:prstGeom prst="rect">
            <a:avLst/>
          </a:prstGeom>
        </p:spPr>
      </p:pic>
      <p:sp>
        <p:nvSpPr>
          <p:cNvPr id="219" name="TextBox 218"/>
          <p:cNvSpPr txBox="1"/>
          <p:nvPr/>
        </p:nvSpPr>
        <p:spPr>
          <a:xfrm>
            <a:off x="14670000" y="26334000"/>
            <a:ext cx="5724000" cy="504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solidFill>
                  <a:srgbClr val="13294B"/>
                </a:solidFill>
                <a:latin typeface="맑은 고딕"/>
                <a:ea typeface="맑은 고딕"/>
                <a:cs typeface="맑은 고딕"/>
              </a:rPr>
              <a:t>학술적 시사점</a:t>
            </a:r>
          </a:p>
        </p:txBody>
      </p:sp>
      <p:sp>
        <p:nvSpPr>
          <p:cNvPr id="220" name="TextBox 219"/>
          <p:cNvSpPr txBox="1"/>
          <p:nvPr/>
        </p:nvSpPr>
        <p:spPr>
          <a:xfrm>
            <a:off x="14112000" y="26838000"/>
            <a:ext cx="6246000" cy="468000"/>
          </a:xfrm>
          <a:prstGeom prst="rect">
            <a:avLst/>
          </a:prstGeom>
          <a:noFill/>
        </p:spPr>
        <p:txBody>
          <a:bodyPr wrap="square" lIns="0" rIns="0" tIns="0" bIns="0" anchor="t">
            <a:noAutofit/>
          </a:bodyPr>
          <a:lstStyle/>
          <a:p>
            <a:pPr algn="l" marL="0" indent="0">
              <a:lnSpc>
                <a:spcPts val="1680"/>
              </a:lnSpc>
              <a:spcBef>
                <a:spcPts val="0"/>
              </a:spcBef>
              <a:spcAft>
                <a:spcPts val="0"/>
              </a:spcAft>
              <a:buNone/>
            </a:pPr>
            <a:r>
              <a:rPr sz="1400" b="0" i="0" lang="ko-KR">
                <a:solidFill>
                  <a:srgbClr val="1E2532"/>
                </a:solidFill>
                <a:latin typeface="맑은 고딕"/>
                <a:ea typeface="맑은 고딕"/>
                <a:cs typeface="맑은 고딕"/>
              </a:rPr>
              <a:t>기술융합 연구의 범위를 공정 단계 간 융합으로 확장하고, 융합을 동태적 과정으로 실증</a:t>
            </a:r>
          </a:p>
        </p:txBody>
      </p:sp>
      <p:sp>
        <p:nvSpPr>
          <p:cNvPr id="221" name="Rounded Rectangle 220"/>
          <p:cNvSpPr/>
          <p:nvPr/>
        </p:nvSpPr>
        <p:spPr>
          <a:xfrm>
            <a:off x="13968000" y="27450000"/>
            <a:ext cx="6516000" cy="1098000"/>
          </a:xfrm>
          <a:prstGeom prst="roundRect">
            <a:avLst>
              <a:gd name="adj" fmla="val 8000"/>
            </a:avLst>
          </a:prstGeom>
          <a:solidFill>
            <a:srgbClr val="FFFFFF"/>
          </a:solidFill>
          <a:ln>
            <a:noFill/>
          </a:ln>
          <a:effectLst>
            <a:outerShdw blurRad="190500" dist="50800" dir="5400000" algn="t" rotWithShape="0">
              <a:srgbClr val="1E2532">
                <a:alpha val="18000"/>
              </a:srgbClr>
            </a:outerShdw>
          </a:effectLst>
        </p:spPr>
        <p:txBody>
          <a:bodyPr rtlCol="0" anchor="ctr" lIns="54000" rIns="54000" tIns="54000" bIns="54000"/>
          <a:lstStyle/>
          <a:p>
            <a:pPr algn="ctr"/>
          </a:p>
        </p:txBody>
      </p:sp>
      <p:sp>
        <p:nvSpPr>
          <p:cNvPr id="222" name="Oval 221"/>
          <p:cNvSpPr/>
          <p:nvPr/>
        </p:nvSpPr>
        <p:spPr>
          <a:xfrm>
            <a:off x="14094000" y="27558000"/>
            <a:ext cx="468000" cy="468000"/>
          </a:xfrm>
          <a:prstGeom prst="ellipse">
            <a:avLst/>
          </a:prstGeom>
          <a:solidFill>
            <a:srgbClr val="24406E"/>
          </a:solidFill>
          <a:ln>
            <a:noFill/>
          </a:ln>
        </p:spPr>
        <p:txBody>
          <a:bodyPr rtlCol="0" anchor="ctr" lIns="54000" rIns="54000" tIns="54000" bIns="54000"/>
          <a:lstStyle/>
          <a:p>
            <a:pPr algn="ctr"/>
          </a:p>
        </p:txBody>
      </p:sp>
      <p:pic>
        <p:nvPicPr>
          <p:cNvPr id="223" name="Picture 222" descr="FaIndustry_FFFFFF.png"/>
          <p:cNvPicPr>
            <a:picLocks noChangeAspect="1"/>
          </p:cNvPicPr>
          <p:nvPr/>
        </p:nvPicPr>
        <p:blipFill>
          <a:blip r:embed="rId14"/>
          <a:stretch>
            <a:fillRect/>
          </a:stretch>
        </p:blipFill>
        <p:spPr>
          <a:xfrm>
            <a:off x="14215680" y="27679680"/>
            <a:ext cx="224640" cy="224640"/>
          </a:xfrm>
          <a:prstGeom prst="rect">
            <a:avLst/>
          </a:prstGeom>
        </p:spPr>
      </p:pic>
      <p:sp>
        <p:nvSpPr>
          <p:cNvPr id="224" name="TextBox 223"/>
          <p:cNvSpPr txBox="1"/>
          <p:nvPr/>
        </p:nvSpPr>
        <p:spPr>
          <a:xfrm>
            <a:off x="14670000" y="27540000"/>
            <a:ext cx="5724000" cy="504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solidFill>
                  <a:srgbClr val="13294B"/>
                </a:solidFill>
                <a:latin typeface="맑은 고딕"/>
                <a:ea typeface="맑은 고딕"/>
                <a:cs typeface="맑은 고딕"/>
              </a:rPr>
              <a:t>실무적 시사점</a:t>
            </a:r>
          </a:p>
        </p:txBody>
      </p:sp>
      <p:sp>
        <p:nvSpPr>
          <p:cNvPr id="225" name="TextBox 224"/>
          <p:cNvSpPr txBox="1"/>
          <p:nvPr/>
        </p:nvSpPr>
        <p:spPr>
          <a:xfrm>
            <a:off x="14112000" y="28044000"/>
            <a:ext cx="6246000" cy="468000"/>
          </a:xfrm>
          <a:prstGeom prst="rect">
            <a:avLst/>
          </a:prstGeom>
          <a:noFill/>
        </p:spPr>
        <p:txBody>
          <a:bodyPr wrap="square" lIns="0" rIns="0" tIns="0" bIns="0" anchor="t">
            <a:noAutofit/>
          </a:bodyPr>
          <a:lstStyle/>
          <a:p>
            <a:pPr algn="l" marL="0" indent="0">
              <a:lnSpc>
                <a:spcPts val="1680"/>
              </a:lnSpc>
              <a:spcBef>
                <a:spcPts val="0"/>
              </a:spcBef>
              <a:spcAft>
                <a:spcPts val="0"/>
              </a:spcAft>
              <a:buNone/>
            </a:pPr>
            <a:r>
              <a:rPr sz="1400" b="0" i="0" lang="ko-KR">
                <a:solidFill>
                  <a:srgbClr val="1E2532"/>
                </a:solidFill>
                <a:latin typeface="맑은 고딕"/>
                <a:ea typeface="맑은 고딕"/>
                <a:cs typeface="맑은 고딕"/>
              </a:rPr>
              <a:t>HBM 등 하이브리드 본딩 경쟁력은 접합 원리 하나에 좌우되지 않을 수 있음 → 평탄화·표면 화학·정렬 계측과 얇은 다이를 다루고 적층하는 공정 역량까지 필요</a:t>
            </a:r>
          </a:p>
        </p:txBody>
      </p:sp>
      <p:sp>
        <p:nvSpPr>
          <p:cNvPr id="226" name="TextBox 225"/>
          <p:cNvSpPr txBox="1"/>
          <p:nvPr/>
        </p:nvSpPr>
        <p:spPr>
          <a:xfrm>
            <a:off x="576000" y="28962000"/>
            <a:ext cx="7560000" cy="1224000"/>
          </a:xfrm>
          <a:prstGeom prst="rect">
            <a:avLst/>
          </a:prstGeom>
          <a:noFill/>
        </p:spPr>
        <p:txBody>
          <a:bodyPr wrap="square" lIns="0" rIns="0" tIns="0" bIns="0" anchor="t">
            <a:noAutofit/>
          </a:bodyPr>
          <a:lstStyle/>
          <a:p>
            <a:pPr algn="l" marL="0" indent="0">
              <a:lnSpc>
                <a:spcPts val="1440"/>
              </a:lnSpc>
              <a:spcBef>
                <a:spcPts val="0"/>
              </a:spcBef>
              <a:spcAft>
                <a:spcPts val="0"/>
              </a:spcAft>
              <a:buNone/>
            </a:pPr>
            <a:r>
              <a:rPr sz="1200" b="1" i="0" lang="ko-KR">
                <a:solidFill>
                  <a:srgbClr val="13294B"/>
                </a:solidFill>
                <a:latin typeface="맑은 고딕"/>
                <a:ea typeface="맑은 고딕"/>
                <a:cs typeface="맑은 고딕"/>
              </a:rPr>
              <a:t>주요 참고문헌</a:t>
            </a:r>
          </a:p>
          <a:p>
            <a:pPr algn="l" marL="0" indent="0">
              <a:lnSpc>
                <a:spcPts val="1260"/>
              </a:lnSpc>
              <a:spcBef>
                <a:spcPts val="0"/>
              </a:spcBef>
              <a:spcAft>
                <a:spcPts val="0"/>
              </a:spcAft>
              <a:buNone/>
            </a:pPr>
            <a:r>
              <a:rPr sz="1050" b="0" i="0" lang="ko-KR">
                <a:solidFill>
                  <a:srgbClr val="5B6475"/>
                </a:solidFill>
                <a:latin typeface="맑은 고딕"/>
                <a:ea typeface="맑은 고딕"/>
                <a:cs typeface="맑은 고딕"/>
              </a:rPr>
              <a:t>Anderson &amp; Tushman (1990), Administrative Science Quarterly 35(4)</a:t>
            </a:r>
          </a:p>
          <a:p>
            <a:pPr algn="l" marL="0" indent="0">
              <a:lnSpc>
                <a:spcPts val="1260"/>
              </a:lnSpc>
              <a:spcBef>
                <a:spcPts val="0"/>
              </a:spcBef>
              <a:spcAft>
                <a:spcPts val="0"/>
              </a:spcAft>
              <a:buNone/>
            </a:pPr>
            <a:r>
              <a:rPr sz="1050" b="0" i="0" lang="ko-KR">
                <a:solidFill>
                  <a:srgbClr val="5B6475"/>
                </a:solidFill>
                <a:latin typeface="맑은 고딕"/>
                <a:ea typeface="맑은 고딕"/>
                <a:cs typeface="맑은 고딕"/>
              </a:rPr>
              <a:t>Curran &amp; Leker (2011), Technological Forecasting and Social Change 78(2)</a:t>
            </a:r>
          </a:p>
          <a:p>
            <a:pPr algn="l" marL="0" indent="0">
              <a:lnSpc>
                <a:spcPts val="1260"/>
              </a:lnSpc>
              <a:spcBef>
                <a:spcPts val="0"/>
              </a:spcBef>
              <a:spcAft>
                <a:spcPts val="0"/>
              </a:spcAft>
              <a:buNone/>
            </a:pPr>
            <a:r>
              <a:rPr sz="1050" b="0" i="0" lang="ko-KR">
                <a:solidFill>
                  <a:srgbClr val="5B6475"/>
                </a:solidFill>
                <a:latin typeface="맑은 고딕"/>
                <a:ea typeface="맑은 고딕"/>
                <a:cs typeface="맑은 고딕"/>
              </a:rPr>
              <a:t>Hacklin, Marxt &amp; Fahrni (2010), Int. J. Technology Management 49(1–3)</a:t>
            </a:r>
          </a:p>
          <a:p>
            <a:pPr algn="l" marL="0" indent="0">
              <a:lnSpc>
                <a:spcPts val="1260"/>
              </a:lnSpc>
              <a:spcBef>
                <a:spcPts val="0"/>
              </a:spcBef>
              <a:spcAft>
                <a:spcPts val="0"/>
              </a:spcAft>
              <a:buNone/>
            </a:pPr>
            <a:r>
              <a:rPr sz="1050" b="0" i="0" lang="ko-KR">
                <a:solidFill>
                  <a:srgbClr val="5B6475"/>
                </a:solidFill>
                <a:latin typeface="맑은 고딕"/>
                <a:ea typeface="맑은 고딕"/>
                <a:cs typeface="맑은 고딕"/>
              </a:rPr>
              <a:t>Lau (2022), IEEE Trans. Components, Packaging and Manufacturing Tech. 12(2)</a:t>
            </a:r>
          </a:p>
          <a:p>
            <a:pPr algn="l" marL="0" indent="0">
              <a:lnSpc>
                <a:spcPts val="1260"/>
              </a:lnSpc>
              <a:spcBef>
                <a:spcPts val="0"/>
              </a:spcBef>
              <a:spcAft>
                <a:spcPts val="0"/>
              </a:spcAft>
              <a:buNone/>
            </a:pPr>
            <a:r>
              <a:rPr sz="1050" b="0" i="0" lang="ko-KR">
                <a:solidFill>
                  <a:srgbClr val="5B6475"/>
                </a:solidFill>
                <a:latin typeface="맑은 고딕"/>
                <a:ea typeface="맑은 고딕"/>
                <a:cs typeface="맑은 고딕"/>
              </a:rPr>
              <a:t>Murmann &amp; Frenken (2006), Research Policy 35(7)</a:t>
            </a:r>
          </a:p>
        </p:txBody>
      </p:sp>
      <p:sp>
        <p:nvSpPr>
          <p:cNvPr id="227" name="TextBox 226"/>
          <p:cNvSpPr txBox="1"/>
          <p:nvPr/>
        </p:nvSpPr>
        <p:spPr>
          <a:xfrm>
            <a:off x="13608000" y="28962000"/>
            <a:ext cx="7200000" cy="1224000"/>
          </a:xfrm>
          <a:prstGeom prst="rect">
            <a:avLst/>
          </a:prstGeom>
          <a:noFill/>
        </p:spPr>
        <p:txBody>
          <a:bodyPr wrap="square" lIns="0" rIns="0" tIns="0" bIns="0" anchor="t">
            <a:noAutofit/>
          </a:bodyPr>
          <a:lstStyle/>
          <a:p>
            <a:pPr algn="r" marL="0" indent="0">
              <a:lnSpc>
                <a:spcPts val="1440"/>
              </a:lnSpc>
              <a:spcBef>
                <a:spcPts val="0"/>
              </a:spcBef>
              <a:spcAft>
                <a:spcPts val="0"/>
              </a:spcAft>
              <a:buNone/>
            </a:pPr>
            <a:r>
              <a:rPr sz="1200" b="1" i="0" lang="ko-KR">
                <a:solidFill>
                  <a:srgbClr val="13294B"/>
                </a:solidFill>
                <a:latin typeface="맑은 고딕"/>
                <a:ea typeface="맑은 고딕"/>
                <a:cs typeface="맑은 고딕"/>
              </a:rPr>
              <a:t>Contact</a:t>
            </a:r>
          </a:p>
          <a:p>
            <a:pPr algn="r" marL="0" indent="0">
              <a:lnSpc>
                <a:spcPts val="1440"/>
              </a:lnSpc>
              <a:spcBef>
                <a:spcPts val="0"/>
              </a:spcBef>
              <a:spcAft>
                <a:spcPts val="0"/>
              </a:spcAft>
              <a:buNone/>
            </a:pPr>
            <a:r>
              <a:rPr sz="1200" b="0" i="0" lang="ko-KR">
                <a:solidFill>
                  <a:srgbClr val="1E2532"/>
                </a:solidFill>
                <a:latin typeface="맑은 고딕"/>
                <a:ea typeface="맑은 고딕"/>
                <a:cs typeface="맑은 고딕"/>
              </a:rPr>
              <a:t>이형규 · 한양대학교 기술경영학과</a:t>
            </a:r>
          </a:p>
          <a:p>
            <a:pPr algn="r" marL="0" indent="0">
              <a:lnSpc>
                <a:spcPts val="1440"/>
              </a:lnSpc>
              <a:spcBef>
                <a:spcPts val="0"/>
              </a:spcBef>
              <a:spcAft>
                <a:spcPts val="0"/>
              </a:spcAft>
              <a:buNone/>
            </a:pPr>
            <a:r>
              <a:rPr sz="1200" b="0" i="0" lang="ko-KR">
                <a:solidFill>
                  <a:srgbClr val="1E2532"/>
                </a:solidFill>
                <a:latin typeface="맑은 고딕"/>
                <a:ea typeface="맑은 고딕"/>
                <a:cs typeface="맑은 고딕"/>
              </a:rPr>
              <a:t>higgack@naver.com</a:t>
            </a:r>
          </a:p>
          <a:p>
            <a:pPr algn="r" marL="0" indent="0">
              <a:lnSpc>
                <a:spcPts val="1260"/>
              </a:lnSpc>
              <a:spcBef>
                <a:spcPts val="0"/>
              </a:spcBef>
              <a:spcAft>
                <a:spcPts val="0"/>
              </a:spcAft>
              <a:buNone/>
            </a:pPr>
            <a:r>
              <a:rPr sz="1050" b="0" i="0" lang="ko-KR">
                <a:solidFill>
                  <a:srgbClr val="5B6475"/>
                </a:solidFill>
                <a:latin typeface="맑은 고딕"/>
                <a:ea typeface="맑은 고딕"/>
                <a:cs typeface="맑은 고딕"/>
              </a:rPr>
              <a:t>자료: EPO PATSTAT Global · 분석 단위: 특허출원</a:t>
            </a:r>
          </a:p>
        </p:txBody>
      </p:sp>
    </p:spTree>
    <p:extLst>
      <p:ext uri="{BB962C8B-B14F-4D97-AF65-F5344CB8AC3E}">
        <p14:creationId xmlns:p14="http://schemas.microsoft.com/office/powerpoint/2010/main" val="3742088974"/>
      </p:ext>
    </p:extLst>
  </p:cSld>
  <p:clrMapOvr>
    <a:masterClrMapping/>
  </p:clrMapOvr>
  <p:timing>
    <p:tnLst>
      <p:par>
        <p:cTn id="1" dur="indefinite" restart="never" nodeType="tmRoot"/>
      </p:par>
    </p:tnLst>
  </p:timing>
</p:sld>
</file>

<file path=ppt/theme/theme1.xml><?xml version="1.0" encoding="utf-8"?>
<a:theme xmlns:a="http://schemas.openxmlformats.org/drawingml/2006/main" name="A1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0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PosterPresentations.com-100CMx140CM</Template>
  <TotalTime>1447</TotalTime>
  <Words>2</Words>
  <Application>Microsoft Office PowerPoint</Application>
  <PresentationFormat>사용자 지정</PresentationFormat>
  <Paragraphs>2</Paragraphs>
  <Slides>1</Slides>
  <Notes>1</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1</vt:i4>
      </vt:variant>
    </vt:vector>
  </HeadingPairs>
  <TitlesOfParts>
    <vt:vector size="7" baseType="lpstr">
      <vt:lpstr>맑은 고딕</vt:lpstr>
      <vt:lpstr>Arial</vt:lpstr>
      <vt:lpstr>Calibri</vt:lpstr>
      <vt:lpstr>Times New Roman</vt:lpstr>
      <vt:lpstr>Trebuchet MS</vt:lpstr>
      <vt:lpstr>A1 Template</vt:lpstr>
      <vt:lpstr>PowerPoint 프레젠테이션</vt:lpstr>
    </vt:vector>
  </TitlesOfParts>
  <Manager>A. Kotoulas</Manager>
  <Company>Canterbury Media Services, Inc.</Company>
  <LinksUpToDate>false</LinksUpToDate>
  <SharedDoc>false</SharedDoc>
  <HyperlinkBase>https://www.posterpresentations.com/free-poster-templates.html</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A1 PowerPoint Presentation</dc:title>
  <dc:subject>Research poster presentation template</dc:subject>
  <dc:creator>PosterPresentations.com</dc:creator>
  <cp:keywords>A1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cp:lastModifiedBy>HYU</cp:lastModifiedBy>
  <cp:revision>51</cp:revision>
  <cp:lastPrinted>2024-06-19T17:05:08Z</cp:lastPrinted>
  <dcterms:created xsi:type="dcterms:W3CDTF">2012-02-10T00:21:22Z</dcterms:created>
  <dcterms:modified xsi:type="dcterms:W3CDTF">2025-09-24T07:06:34Z</dcterms:modified>
  <cp:category>Research poster templates</cp:category>
</cp:coreProperties>
</file>