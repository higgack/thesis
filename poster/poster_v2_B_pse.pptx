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handoutMasterIdLst>
    <p:handoutMasterId r:id="rId4"/>
  </p:handoutMasterIdLst>
  <p:sldIdLst>
    <p:sldId id="257" r:id="rId2"/>
  </p:sldIdLst>
  <p:sldSz cx="21388388" cy="30275213"/>
  <p:notesSz cx="6888163" cy="10018713"/>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 id="4" name="Taehyun Jung" initials="TJ" lastIdx="2" clrIdx="4">
    <p:extLst>
      <p:ext uri="{19B8F6BF-5375-455C-9EA6-DF929625EA0E}">
        <p15:presenceInfo xmlns:p15="http://schemas.microsoft.com/office/powerpoint/2012/main" userId="a3451b165ff1979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89" autoAdjust="0"/>
    <p:restoredTop sz="94777" autoAdjust="0"/>
  </p:normalViewPr>
  <p:slideViewPr>
    <p:cSldViewPr snapToGrid="0" snapToObjects="1" showGuides="1">
      <p:cViewPr varScale="1">
        <p:scale>
          <a:sx n="23" d="100"/>
          <a:sy n="23" d="100"/>
        </p:scale>
        <p:origin x="3078" y="60"/>
      </p:cViewPr>
      <p:guideLst>
        <p:guide orient="horz" pos="265"/>
        <p:guide orient="horz" pos="18541"/>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commentAuthors" Target="commentAuthors.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571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571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4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4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400">
              <a:solidFill>
                <a:srgbClr val="1E2532"/>
              </a:solidFill>
              <a:latin typeface="맑은 고딕"/>
              <a:ea typeface="맑은 고딕"/>
            </a:defRPr>
          </a:pPr>
        </a:p>
      </c:txPr>
    </c:legend>
    <c:plotVisOnly val="1"/>
    <c:dispBlanksAs val="gap"/>
    <c:showDLblsOverMax val="0"/>
  </c:chart>
  <c:txPr>
    <a:bodyPr/>
    <a:lstStyle/>
    <a:p>
      <a:pPr>
        <a:defRPr sz="14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2015–19</c:v>
                </c:pt>
                <c:pt idx="2">
                  <c:v>재편기 2020–24</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2015–19</c:v>
                </c:pt>
                <c:pt idx="2">
                  <c:v>재편기 2020–24</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2015–19</c:v>
                </c:pt>
                <c:pt idx="2">
                  <c:v>재편기 2020–24</c:v>
                </c:pt>
              </c:strCache>
            </c:strRef>
          </c:cat>
          <c:val>
            <c:numRef>
              <c:f>Sheet1!$D$2:$D$4</c:f>
              <c:numCache>
                <c:formatCode>General</c:formatCode>
                <c:ptCount val="3"/>
                <c:pt idx="0">
                  <c:v>25.1</c:v>
                </c:pt>
                <c:pt idx="1">
                  <c:v>23.0</c:v>
                </c:pt>
                <c:pt idx="2">
                  <c:v>45.4</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50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500">
                <a:solidFill>
                  <a:srgbClr val="1E2532"/>
                </a:solidFill>
                <a:latin typeface="맑은 고딕"/>
                <a:ea typeface="맑은 고딕"/>
              </a:defRPr>
            </a:pPr>
          </a:p>
        </c:txPr>
        <c:crossAx val="-2068027336"/>
        <c:crosses val="autoZero"/>
      </c:valAx>
    </c:plotArea>
    <c:legend>
      <c:legendPos val="t"/>
      <c:overlay val="0"/>
      <c:txPr>
        <a:bodyPr/>
        <a:lstStyle/>
        <a:p>
          <a:pPr>
            <a:defRPr sz="1500">
              <a:solidFill>
                <a:srgbClr val="1E2532"/>
              </a:solidFill>
              <a:latin typeface="맑은 고딕"/>
              <a:ea typeface="맑은 고딕"/>
            </a:defRPr>
          </a:pPr>
        </a:p>
      </c:txPr>
    </c:legend>
    <c:dispBlanksAs val="gap"/>
  </c:chart>
  <c:txPr>
    <a:bodyPr/>
    <a:lstStyle/>
    <a:p>
      <a:pPr>
        <a:defRPr sz="1500">
          <a:solidFill>
            <a:srgbClr val="1E2532"/>
          </a:solidFill>
          <a:latin typeface="맑은 고딕"/>
          <a:ea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50800">
              <a:solidFill>
                <a:srgbClr val="2563C9"/>
              </a:solidFill>
            </a:ln>
          </c:spPr>
          <c:marker>
            <c:symbol val="circle"/>
            <c:size val="10"/>
            <c:spPr>
              <a:solidFill>
                <a:srgbClr val="2563C9"/>
              </a:solidFill>
              <a:ln>
                <a:solidFill>
                  <a:srgbClr val="2563C9"/>
                </a:solidFill>
              </a:ln>
            </c:spPr>
          </c:marker>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50800">
              <a:solidFill>
                <a:srgbClr val="10A39A"/>
              </a:solidFill>
            </a:ln>
          </c:spPr>
          <c:marker>
            <c:symbol val="circle"/>
            <c:size val="10"/>
            <c:spPr>
              <a:solidFill>
                <a:srgbClr val="10A39A"/>
              </a:solidFill>
              <a:ln>
                <a:solidFill>
                  <a:srgbClr val="10A39A"/>
                </a:solidFill>
              </a:ln>
            </c:spPr>
          </c:marker>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50800">
              <a:solidFill>
                <a:srgbClr val="E0A100"/>
              </a:solidFill>
            </a:ln>
          </c:spPr>
          <c:marker>
            <c:symbol val="circle"/>
            <c:size val="10"/>
            <c:spPr>
              <a:solidFill>
                <a:srgbClr val="E0A100"/>
              </a:solidFill>
              <a:ln>
                <a:solidFill>
                  <a:srgbClr val="E0A100"/>
                </a:solidFill>
              </a:ln>
            </c:spPr>
          </c:marker>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3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6"/>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3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300">
              <a:solidFill>
                <a:srgbClr val="1E2532"/>
              </a:solidFill>
              <a:latin typeface="맑은 고딕"/>
              <a:ea typeface="맑은 고딕"/>
            </a:defRPr>
          </a:pPr>
        </a:p>
      </c:txPr>
    </c:legend>
    <c:plotVisOnly val="1"/>
    <c:dispBlanksAs val="gap"/>
    <c:showDLblsOverMax val="0"/>
  </c:chart>
  <c:txPr>
    <a:bodyPr/>
    <a:lstStyle/>
    <a:p>
      <a:pPr>
        <a:defRPr sz="1300">
          <a:solidFill>
            <a:srgbClr val="1E2532"/>
          </a:solidFill>
          <a:latin typeface="맑은 고딕"/>
          <a:ea typeface="맑은 고딕"/>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a:p>
        </p:txBody>
      </p:sp>
      <p:sp>
        <p:nvSpPr>
          <p:cNvPr id="3" name="Date Placeholder 2"/>
          <p:cNvSpPr>
            <a:spLocks noGrp="1"/>
          </p:cNvSpPr>
          <p:nvPr>
            <p:ph type="dt" sz="quarter" idx="1"/>
          </p:nvPr>
        </p:nvSpPr>
        <p:spPr>
          <a:xfrm>
            <a:off x="3901698" y="0"/>
            <a:ext cx="2984871" cy="500936"/>
          </a:xfrm>
          <a:prstGeom prst="rect">
            <a:avLst/>
          </a:prstGeom>
        </p:spPr>
        <p:txBody>
          <a:bodyPr vert="horz" lIns="96606" tIns="48303" rIns="96606" bIns="48303" rtlCol="0"/>
          <a:lstStyle>
            <a:lvl1pPr algn="r">
              <a:defRPr sz="1300"/>
            </a:lvl1pPr>
          </a:lstStyle>
          <a:p>
            <a:fld id="{0158C5BC-9A70-462C-B28D-9600239EAC64}" type="datetimeFigureOut">
              <a:rPr lang="en-US" smtClean="0"/>
              <a:pPr/>
              <a:t>9/24/2025</a:t>
            </a:fld>
            <a:endParaRPr lang="en-US"/>
          </a:p>
        </p:txBody>
      </p:sp>
      <p:sp>
        <p:nvSpPr>
          <p:cNvPr id="4" name="Footer Placeholder 3"/>
          <p:cNvSpPr>
            <a:spLocks noGrp="1"/>
          </p:cNvSpPr>
          <p:nvPr>
            <p:ph type="ftr" sz="quarter" idx="2"/>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a:p>
        </p:txBody>
      </p:sp>
      <p:sp>
        <p:nvSpPr>
          <p:cNvPr id="5" name="Slide Number Placeholder 4"/>
          <p:cNvSpPr>
            <a:spLocks noGrp="1"/>
          </p:cNvSpPr>
          <p:nvPr>
            <p:ph type="sldNum" sz="quarter" idx="3"/>
          </p:nvPr>
        </p:nvSpPr>
        <p:spPr>
          <a:xfrm>
            <a:off x="3901698" y="9516038"/>
            <a:ext cx="2984871" cy="500936"/>
          </a:xfrm>
          <a:prstGeom prst="rect">
            <a:avLst/>
          </a:prstGeom>
        </p:spPr>
        <p:txBody>
          <a:bodyPr vert="horz" lIns="96606" tIns="48303" rIns="96606" bIns="48303"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dirty="0"/>
          </a:p>
        </p:txBody>
      </p:sp>
      <p:sp>
        <p:nvSpPr>
          <p:cNvPr id="3" name="Date Placeholder 2"/>
          <p:cNvSpPr>
            <a:spLocks noGrp="1"/>
          </p:cNvSpPr>
          <p:nvPr>
            <p:ph type="dt" idx="1"/>
          </p:nvPr>
        </p:nvSpPr>
        <p:spPr>
          <a:xfrm>
            <a:off x="3901698" y="0"/>
            <a:ext cx="2984871" cy="500936"/>
          </a:xfrm>
          <a:prstGeom prst="rect">
            <a:avLst/>
          </a:prstGeom>
        </p:spPr>
        <p:txBody>
          <a:bodyPr vert="horz" lIns="96606" tIns="48303" rIns="96606" bIns="48303" rtlCol="0"/>
          <a:lstStyle>
            <a:lvl1pPr algn="r">
              <a:defRPr sz="1300"/>
            </a:lvl1pPr>
          </a:lstStyle>
          <a:p>
            <a:fld id="{E6CC2317-6751-4CD4-9995-8782DD78E936}" type="datetimeFigureOut">
              <a:rPr lang="en-US" smtClean="0"/>
              <a:pPr/>
              <a:t>9/24/2025</a:t>
            </a:fld>
            <a:endParaRPr lang="en-US" dirty="0"/>
          </a:p>
        </p:txBody>
      </p:sp>
      <p:sp>
        <p:nvSpPr>
          <p:cNvPr id="4" name="Slide Image Placeholder 3"/>
          <p:cNvSpPr>
            <a:spLocks noGrp="1" noRot="1" noChangeAspect="1"/>
          </p:cNvSpPr>
          <p:nvPr>
            <p:ph type="sldImg" idx="2"/>
          </p:nvPr>
        </p:nvSpPr>
        <p:spPr>
          <a:xfrm>
            <a:off x="2117725" y="750888"/>
            <a:ext cx="2652713" cy="3757612"/>
          </a:xfrm>
          <a:prstGeom prst="rect">
            <a:avLst/>
          </a:prstGeom>
          <a:noFill/>
          <a:ln w="12700">
            <a:solidFill>
              <a:prstClr val="black"/>
            </a:solidFill>
          </a:ln>
        </p:spPr>
        <p:txBody>
          <a:bodyPr vert="horz" lIns="96606" tIns="48303" rIns="96606" bIns="48303" rtlCol="0" anchor="ctr"/>
          <a:lstStyle/>
          <a:p>
            <a:endParaRPr lang="en-US" dirty="0"/>
          </a:p>
        </p:txBody>
      </p:sp>
      <p:sp>
        <p:nvSpPr>
          <p:cNvPr id="5" name="Notes Placeholder 4"/>
          <p:cNvSpPr>
            <a:spLocks noGrp="1"/>
          </p:cNvSpPr>
          <p:nvPr>
            <p:ph type="body" sz="quarter" idx="3"/>
          </p:nvPr>
        </p:nvSpPr>
        <p:spPr>
          <a:xfrm>
            <a:off x="688817" y="4758889"/>
            <a:ext cx="5510530" cy="4508421"/>
          </a:xfrm>
          <a:prstGeom prst="rect">
            <a:avLst/>
          </a:prstGeom>
        </p:spPr>
        <p:txBody>
          <a:bodyPr vert="horz" lIns="96606" tIns="48303" rIns="96606" bIns="4830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1698" y="9516038"/>
            <a:ext cx="2984871" cy="500936"/>
          </a:xfrm>
          <a:prstGeom prst="rect">
            <a:avLst/>
          </a:prstGeom>
        </p:spPr>
        <p:txBody>
          <a:bodyPr vert="horz" lIns="96606" tIns="48303" rIns="96606" bIns="48303"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C1893B17-B411-48C7-82AB-F8C444055F15}"/>
              </a:ext>
            </a:extLst>
          </p:cNvPr>
          <p:cNvPicPr>
            <a:picLocks noChangeAspect="1"/>
          </p:cNvPicPr>
          <p:nvPr userDrawn="1"/>
        </p:nvPicPr>
        <p:blipFill>
          <a:blip r:embed="rId3"/>
          <a:stretch>
            <a:fillRect/>
          </a:stretch>
        </p:blipFill>
        <p:spPr>
          <a:xfrm>
            <a:off x="8359272" y="29062412"/>
            <a:ext cx="4823328" cy="846087"/>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1.xml"/><Relationship Id="rId6" Type="http://schemas.openxmlformats.org/officeDocument/2006/relationships/image" Target="../media/image4.png"/><Relationship Id="rId7" Type="http://schemas.openxmlformats.org/officeDocument/2006/relationships/chart" Target="../charts/chart2.xml"/><Relationship Id="rId8" Type="http://schemas.openxmlformats.org/officeDocument/2006/relationships/chart" Target="../charts/chart3.xml"/><Relationship Id="rId9" Type="http://schemas.openxmlformats.org/officeDocument/2006/relationships/image" Target="../media/image5.png"/><Relationship Id="rId10" Type="http://schemas.openxmlformats.org/officeDocument/2006/relationships/image" Target="../media/image6.png"/><Relationship Id="rId1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21387600" cy="4320000"/>
          </a:xfrm>
          <a:prstGeom prst="rect">
            <a:avLst/>
          </a:prstGeom>
          <a:solidFill>
            <a:srgbClr val="13294B"/>
          </a:solidFill>
          <a:ln>
            <a:noFill/>
          </a:ln>
        </p:spPr>
        <p:txBody>
          <a:bodyPr rtlCol="0" anchor="ctr" lIns="54000" rIns="54000" tIns="54000" bIns="54000"/>
          <a:lstStyle/>
          <a:p>
            <a:pPr algn="ctr"/>
          </a:p>
        </p:txBody>
      </p:sp>
      <p:sp>
        <p:nvSpPr>
          <p:cNvPr id="13" name="텍스트 개체 틀 12"/>
          <p:cNvSpPr>
            <a:spLocks noGrp="1"/>
          </p:cNvSpPr>
          <p:nvPr>
            <p:ph type="body" sz="quarter" idx="150"/>
          </p:nvPr>
        </p:nvSpPr>
        <p:spPr>
          <a:xfrm>
            <a:off x="576000" y="3312000"/>
            <a:ext cx="18000000" cy="720000"/>
          </a:xfrm>
        </p:spPr>
        <p:txBody>
          <a:bodyPr wrap="square" lIns="0" rIns="0" tIns="0" bIns="0" anchor="ctr">
            <a:noAutofit/>
          </a:bodyPr>
          <a:lstStyle/>
          <a:p>
            <a:pPr algn="l" marL="0" indent="0">
              <a:lnSpc>
                <a:spcPts val="3600"/>
              </a:lnSpc>
              <a:spcBef>
                <a:spcPts val="0"/>
              </a:spcBef>
              <a:spcAft>
                <a:spcPts val="0"/>
              </a:spcAft>
              <a:buNone/>
            </a:pPr>
            <a:r>
              <a:rPr sz="3000" b="1" i="0" lang="ko-KR">
                <a:solidFill>
                  <a:srgbClr val="FFFFFF"/>
                </a:solidFill>
                <a:latin typeface="맑은 고딕"/>
                <a:ea typeface="맑은 고딕"/>
                <a:cs typeface="맑은 고딕"/>
              </a:rPr>
              <a:t>이형규</a:t>
            </a:r>
            <a:r>
              <a:rPr sz="2400" b="0" i="0" lang="ko-KR">
                <a:solidFill>
                  <a:srgbClr val="DCE3EE"/>
                </a:solidFill>
                <a:latin typeface="맑은 고딕"/>
                <a:ea typeface="맑은 고딕"/>
                <a:cs typeface="맑은 고딕"/>
              </a:rPr>
              <a:t>   한양대학교 기술경영학과</a:t>
            </a:r>
            <a:endParaRPr lang="ko-KR" altLang="en-US"/>
          </a:p>
        </p:txBody>
      </p:sp>
      <p:sp>
        <p:nvSpPr>
          <p:cNvPr id="14" name="텍스트 개체 틀 13"/>
          <p:cNvSpPr>
            <a:spLocks noGrp="1"/>
          </p:cNvSpPr>
          <p:nvPr>
            <p:ph type="body" sz="quarter" idx="151"/>
          </p:nvPr>
        </p:nvSpPr>
        <p:spPr>
          <a:xfrm>
            <a:off x="576000" y="2790000"/>
            <a:ext cx="18000000" cy="396000"/>
          </a:xfrm>
        </p:spPr>
        <p:txBody>
          <a:bodyPr wrap="square" lIns="0" rIns="0" tIns="0" bIns="0" anchor="t">
            <a:noAutofit/>
          </a:bodyPr>
          <a:lstStyle/>
          <a:p>
            <a:pPr algn="l" marL="0" indent="0">
              <a:lnSpc>
                <a:spcPts val="2280"/>
              </a:lnSpc>
              <a:spcBef>
                <a:spcPts val="0"/>
              </a:spcBef>
              <a:spcAft>
                <a:spcPts val="0"/>
              </a:spcAft>
              <a:buNone/>
            </a:pPr>
            <a:r>
              <a:rPr sz="1900" b="0" i="1" lang="ko-KR">
                <a:solidFill>
                  <a:srgbClr val="B9C6DD"/>
                </a:solidFill>
                <a:latin typeface="맑은 고딕"/>
                <a:ea typeface="맑은 고딕"/>
                <a:cs typeface="맑은 고딕"/>
              </a:rPr>
              <a:t>A Dynamic Analysis of Cross-Stage Technological Convergence through Semiconductor Hybrid Bonding Patents</a:t>
            </a:r>
            <a:endParaRPr lang="ko-KR" altLang="en-US" dirty="0"/>
          </a:p>
        </p:txBody>
      </p:sp>
      <p:sp>
        <p:nvSpPr>
          <p:cNvPr id="15" name="텍스트 개체 틀 14"/>
          <p:cNvSpPr>
            <a:spLocks noGrp="1"/>
          </p:cNvSpPr>
          <p:nvPr>
            <p:ph type="body" sz="quarter" idx="153"/>
          </p:nvPr>
        </p:nvSpPr>
        <p:spPr>
          <a:xfrm>
            <a:off x="576000" y="954000"/>
            <a:ext cx="18000000" cy="1764000"/>
          </a:xfrm>
        </p:spPr>
        <p:txBody>
          <a:bodyPr wrap="square" lIns="0" rIns="0" tIns="0" bIns="0" anchor="t">
            <a:noAutofit/>
          </a:bodyPr>
          <a:lstStyle/>
          <a:p>
            <a:pPr algn="l" marL="0" indent="0">
              <a:lnSpc>
                <a:spcPts val="5740"/>
              </a:lnSpc>
              <a:spcBef>
                <a:spcPts val="0"/>
              </a:spcBef>
              <a:spcAft>
                <a:spcPts val="0"/>
              </a:spcAft>
              <a:buNone/>
            </a:pPr>
            <a:r>
              <a:rPr sz="5200" b="1" i="0" lang="ko-KR">
                <a:solidFill>
                  <a:srgbClr val="FFFFFF"/>
                </a:solidFill>
                <a:latin typeface="맑은 고딕"/>
                <a:ea typeface="맑은 고딕"/>
                <a:cs typeface="맑은 고딕"/>
              </a:rPr>
              <a:t>반도체 하이브리드 본딩 특허를 통한</a:t>
            </a:r>
            <a:endParaRPr lang="ko-KR" altLang="en-US" dirty="0"/>
          </a:p>
          <a:p>
            <a:pPr algn="l" marL="0" indent="0">
              <a:lnSpc>
                <a:spcPts val="5740"/>
              </a:lnSpc>
              <a:spcBef>
                <a:spcPts val="0"/>
              </a:spcBef>
              <a:spcAft>
                <a:spcPts val="0"/>
              </a:spcAft>
              <a:buNone/>
            </a:pPr>
            <a:r>
              <a:rPr sz="5200" b="1" i="0" lang="ko-KR">
                <a:solidFill>
                  <a:srgbClr val="D4A72C"/>
                </a:solidFill>
                <a:latin typeface="맑은 고딕"/>
                <a:ea typeface="맑은 고딕"/>
                <a:cs typeface="맑은 고딕"/>
              </a:rPr>
              <a:t>공정 단계 간 기술융합의 동태적 분석</a:t>
            </a:r>
          </a:p>
        </p:txBody>
      </p:sp>
      <p:sp>
        <p:nvSpPr>
          <p:cNvPr id="17" name="Rectangle 16"/>
          <p:cNvSpPr/>
          <p:nvPr/>
        </p:nvSpPr>
        <p:spPr>
          <a:xfrm>
            <a:off x="0" y="4320000"/>
            <a:ext cx="21387600" cy="108000"/>
          </a:xfrm>
          <a:prstGeom prst="rect">
            <a:avLst/>
          </a:prstGeom>
          <a:solidFill>
            <a:srgbClr val="D4A72C"/>
          </a:solidFill>
          <a:ln>
            <a:noFill/>
          </a:ln>
        </p:spPr>
        <p:txBody>
          <a:bodyPr rtlCol="0" anchor="ctr" lIns="54000" rIns="54000" tIns="54000" bIns="54000"/>
          <a:lstStyle/>
          <a:p>
            <a:pPr algn="ctr"/>
          </a:p>
        </p:txBody>
      </p:sp>
      <p:sp>
        <p:nvSpPr>
          <p:cNvPr id="2" name="직사각형 1"/>
          <p:cNvSpPr/>
          <p:nvPr/>
        </p:nvSpPr>
        <p:spPr>
          <a:xfrm>
            <a:off x="19137086" y="348658"/>
            <a:ext cx="1567544" cy="826999"/>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200" dirty="0" smtClean="0">
                <a:solidFill>
                  <a:schemeClr val="tx1"/>
                </a:solidFill>
              </a:rPr>
              <a:t>P</a:t>
            </a:r>
            <a:endParaRPr lang="ko-KR" altLang="en-US" sz="3200" dirty="0">
              <a:solidFill>
                <a:schemeClr val="tx1"/>
              </a:solidFill>
            </a:endParaRPr>
          </a:p>
        </p:txBody>
      </p:sp>
      <p:sp>
        <p:nvSpPr>
          <p:cNvPr id="18" name="Rounded Rectangle 17"/>
          <p:cNvSpPr/>
          <p:nvPr/>
        </p:nvSpPr>
        <p:spPr>
          <a:xfrm>
            <a:off x="576000" y="360000"/>
            <a:ext cx="3816000" cy="450000"/>
          </a:xfrm>
          <a:prstGeom prst="roundRect">
            <a:avLst>
              <a:gd name="adj" fmla="val 50000"/>
            </a:avLst>
          </a:prstGeom>
          <a:noFill/>
          <a:ln w="19050">
            <a:solidFill>
              <a:srgbClr val="D4A72C"/>
            </a:solidFill>
          </a:ln>
        </p:spPr>
        <p:txBody>
          <a:bodyPr rtlCol="0" anchor="ctr" lIns="36000" rIns="36000" tIns="36000" bIns="36000" wrap="square"/>
          <a:lstStyle/>
          <a:p>
            <a:pPr algn="ctr" marL="0" indent="0">
              <a:lnSpc>
                <a:spcPts val="1920"/>
              </a:lnSpc>
              <a:spcBef>
                <a:spcPts val="0"/>
              </a:spcBef>
              <a:spcAft>
                <a:spcPts val="0"/>
              </a:spcAft>
              <a:buNone/>
            </a:pPr>
            <a:r>
              <a:rPr sz="1600" b="1" i="0" lang="ko-KR">
                <a:solidFill>
                  <a:srgbClr val="D4A72C"/>
                </a:solidFill>
                <a:latin typeface="맑은 고딕"/>
                <a:ea typeface="맑은 고딕"/>
                <a:cs typeface="맑은 고딕"/>
              </a:rPr>
              <a:t>2026 한양MOT 리서치데이</a:t>
            </a:r>
          </a:p>
        </p:txBody>
      </p:sp>
      <p:cxnSp>
        <p:nvCxnSpPr>
          <p:cNvPr id="19" name="Connector 18"/>
          <p:cNvCxnSpPr/>
          <p:nvPr/>
        </p:nvCxnSpPr>
        <p:spPr>
          <a:xfrm>
            <a:off x="7260000" y="5544000"/>
            <a:ext cx="0" cy="17712000"/>
          </a:xfrm>
          <a:prstGeom prst="line">
            <a:avLst/>
          </a:prstGeom>
          <a:ln w="12700">
            <a:solidFill>
              <a:srgbClr val="C9D2E0"/>
            </a:solidFill>
          </a:ln>
        </p:spPr>
      </p:cxnSp>
      <p:cxnSp>
        <p:nvCxnSpPr>
          <p:cNvPr id="20" name="Connector 19"/>
          <p:cNvCxnSpPr/>
          <p:nvPr/>
        </p:nvCxnSpPr>
        <p:spPr>
          <a:xfrm>
            <a:off x="14124000" y="5544000"/>
            <a:ext cx="0" cy="17712000"/>
          </a:xfrm>
          <a:prstGeom prst="line">
            <a:avLst/>
          </a:prstGeom>
          <a:ln w="12700">
            <a:solidFill>
              <a:srgbClr val="C9D2E0"/>
            </a:solidFill>
          </a:ln>
        </p:spPr>
      </p:cxnSp>
      <p:sp>
        <p:nvSpPr>
          <p:cNvPr id="21" name="Rectangle 20"/>
          <p:cNvSpPr/>
          <p:nvPr/>
        </p:nvSpPr>
        <p:spPr>
          <a:xfrm>
            <a:off x="576000" y="4680000"/>
            <a:ext cx="6504000" cy="720000"/>
          </a:xfrm>
          <a:prstGeom prst="rect">
            <a:avLst/>
          </a:prstGeom>
          <a:solidFill>
            <a:srgbClr val="13294B"/>
          </a:solidFill>
          <a:ln>
            <a:noFill/>
          </a:ln>
        </p:spPr>
        <p:txBody>
          <a:bodyPr rtlCol="0" anchor="ctr" lIns="54000" rIns="54000" tIns="54000" bIns="54000"/>
          <a:lstStyle/>
          <a:p>
            <a:pPr algn="ctr"/>
          </a:p>
        </p:txBody>
      </p:sp>
      <p:sp>
        <p:nvSpPr>
          <p:cNvPr id="22" name="Oval 21"/>
          <p:cNvSpPr/>
          <p:nvPr/>
        </p:nvSpPr>
        <p:spPr>
          <a:xfrm>
            <a:off x="756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1</a:t>
            </a:r>
          </a:p>
        </p:txBody>
      </p:sp>
      <p:sp>
        <p:nvSpPr>
          <p:cNvPr id="23" name="TextBox 22"/>
          <p:cNvSpPr txBox="1"/>
          <p:nvPr/>
        </p:nvSpPr>
        <p:spPr>
          <a:xfrm>
            <a:off x="1404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Problem</a:t>
            </a:r>
            <a:r>
              <a:rPr sz="2000" b="0" i="0" lang="ko-KR">
                <a:solidFill>
                  <a:srgbClr val="C8D3E6"/>
                </a:solidFill>
                <a:latin typeface="맑은 고딕"/>
                <a:ea typeface="맑은 고딕"/>
                <a:cs typeface="맑은 고딕"/>
              </a:rPr>
              <a:t>  ·  연구 문제</a:t>
            </a:r>
          </a:p>
        </p:txBody>
      </p:sp>
      <p:sp>
        <p:nvSpPr>
          <p:cNvPr id="24" name="Rectangle 23"/>
          <p:cNvSpPr/>
          <p:nvPr/>
        </p:nvSpPr>
        <p:spPr>
          <a:xfrm>
            <a:off x="576000" y="5616000"/>
            <a:ext cx="6504000" cy="414000"/>
          </a:xfrm>
          <a:prstGeom prst="rect">
            <a:avLst/>
          </a:prstGeom>
          <a:solidFill>
            <a:srgbClr val="E8EEF7"/>
          </a:solidFill>
          <a:ln>
            <a:noFill/>
          </a:ln>
        </p:spPr>
        <p:txBody>
          <a:bodyPr rtlCol="0" anchor="ctr" lIns="54000" rIns="54000" tIns="54000" bIns="54000"/>
          <a:lstStyle/>
          <a:p>
            <a:pPr algn="ctr"/>
          </a:p>
        </p:txBody>
      </p:sp>
      <p:sp>
        <p:nvSpPr>
          <p:cNvPr id="25" name="Rectangle 24"/>
          <p:cNvSpPr/>
          <p:nvPr/>
        </p:nvSpPr>
        <p:spPr>
          <a:xfrm>
            <a:off x="666000" y="5724000"/>
            <a:ext cx="108000" cy="198000"/>
          </a:xfrm>
          <a:prstGeom prst="rect">
            <a:avLst/>
          </a:prstGeom>
          <a:solidFill>
            <a:srgbClr val="13294B"/>
          </a:solidFill>
          <a:ln>
            <a:noFill/>
          </a:ln>
        </p:spPr>
        <p:txBody>
          <a:bodyPr rtlCol="0" anchor="ctr" lIns="54000" rIns="54000" tIns="54000" bIns="54000"/>
          <a:lstStyle/>
          <a:p>
            <a:pPr algn="ctr"/>
          </a:p>
        </p:txBody>
      </p:sp>
      <p:sp>
        <p:nvSpPr>
          <p:cNvPr id="26" name="TextBox 25"/>
          <p:cNvSpPr txBox="1"/>
          <p:nvPr/>
        </p:nvSpPr>
        <p:spPr>
          <a:xfrm>
            <a:off x="882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Background</a:t>
            </a:r>
            <a:r>
              <a:rPr sz="1800" b="0" i="0" lang="ko-KR">
                <a:solidFill>
                  <a:srgbClr val="13294B"/>
                </a:solidFill>
                <a:latin typeface="맑은 고딕"/>
                <a:ea typeface="맑은 고딕"/>
                <a:cs typeface="맑은 고딕"/>
              </a:rPr>
              <a:t>  ·  연구 배경</a:t>
            </a:r>
          </a:p>
        </p:txBody>
      </p:sp>
      <p:sp>
        <p:nvSpPr>
          <p:cNvPr id="27" name="TextBox 26"/>
          <p:cNvSpPr txBox="1"/>
          <p:nvPr/>
        </p:nvSpPr>
        <p:spPr>
          <a:xfrm>
            <a:off x="648000" y="6192000"/>
            <a:ext cx="6396000" cy="2664000"/>
          </a:xfrm>
          <a:prstGeom prst="rect">
            <a:avLst/>
          </a:prstGeom>
          <a:noFill/>
        </p:spPr>
        <p:txBody>
          <a:bodyPr wrap="square" lIns="0" rIns="0" tIns="0" bIns="0" anchor="t">
            <a:noAutofit/>
          </a:bodyPr>
          <a:lstStyle/>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반도체 산업은 </a:t>
            </a:r>
            <a:r>
              <a:rPr sz="1900" b="1" i="0" lang="ko-KR">
                <a:solidFill>
                  <a:srgbClr val="2563C9"/>
                </a:solidFill>
                <a:latin typeface="맑은 고딕"/>
                <a:ea typeface="맑은 고딕"/>
                <a:cs typeface="맑은 고딕"/>
              </a:rPr>
              <a:t>전공정</a:t>
            </a:r>
            <a:r>
              <a:rPr sz="1900" b="0" i="0" lang="ko-KR">
                <a:solidFill>
                  <a:srgbClr val="1E2532"/>
                </a:solidFill>
                <a:latin typeface="맑은 고딕"/>
                <a:ea typeface="맑은 고딕"/>
                <a:cs typeface="맑은 고딕"/>
              </a:rPr>
              <a:t>(웨이퍼 위 소자 형성)과 </a:t>
            </a:r>
            <a:r>
              <a:rPr sz="1900" b="1" i="0" lang="ko-KR">
                <a:solidFill>
                  <a:srgbClr val="EA7A28"/>
                </a:solidFill>
                <a:latin typeface="맑은 고딕"/>
                <a:ea typeface="맑은 고딕"/>
                <a:cs typeface="맑은 고딕"/>
              </a:rPr>
              <a:t>후공정</a:t>
            </a:r>
            <a:r>
              <a:rPr sz="1900" b="0" i="0" lang="ko-KR">
                <a:solidFill>
                  <a:srgbClr val="1E2532"/>
                </a:solidFill>
                <a:latin typeface="맑은 고딕"/>
                <a:ea typeface="맑은 고딕"/>
                <a:cs typeface="맑은 고딕"/>
              </a:rPr>
              <a:t>(절단·조립·패키징)의 분업 구조를 반세기 이상 유지해 왔다.</a:t>
            </a:r>
          </a:p>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미세화의 한계로 다이를 분할·적층·연결하는 첨단 패키징이 새로운 성능 향상의 원천이 되었다.</a:t>
            </a:r>
          </a:p>
          <a:p>
            <a:pPr algn="l" marL="216000" indent="-216000">
              <a:lnSpc>
                <a:spcPts val="2280"/>
              </a:lnSpc>
              <a:spcBef>
                <a:spcPts val="0"/>
              </a:spcBef>
              <a:spcAft>
                <a:spcPts val="500"/>
              </a:spcAft>
              <a:buClr>
                <a:srgbClr val="13294B"/>
              </a:buClr>
              <a:buSzPct val="70000"/>
              <a:buFont typeface="Arial"/>
              <a:buChar char="■"/>
            </a:pPr>
            <a:r>
              <a:rPr sz="1900" b="1" i="0" lang="ko-KR">
                <a:solidFill>
                  <a:srgbClr val="1E2532"/>
                </a:solidFill>
                <a:latin typeface="맑은 고딕"/>
                <a:ea typeface="맑은 고딕"/>
                <a:cs typeface="맑은 고딕"/>
              </a:rPr>
              <a:t>하이브리드 본딩</a:t>
            </a:r>
            <a:r>
              <a:rPr sz="1900" b="0" i="0" lang="ko-KR">
                <a:solidFill>
                  <a:srgbClr val="1E2532"/>
                </a:solidFill>
                <a:latin typeface="맑은 고딕"/>
                <a:ea typeface="맑은 고딕"/>
                <a:cs typeface="맑은 고딕"/>
              </a:rPr>
              <a:t>은 솔더 범프 없이 구리 패드와 산화막을 직접 접합하여 10 µm 이하의 연결 간격을 구현한다.</a:t>
            </a:r>
          </a:p>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그 성패를 좌우하는 평탄화(CMP)·표면 활성화·정밀 정렬은 </a:t>
            </a:r>
            <a:r>
              <a:rPr sz="1900" b="1" i="0" lang="ko-KR">
                <a:solidFill>
                  <a:srgbClr val="2563C9"/>
                </a:solidFill>
                <a:latin typeface="맑은 고딕"/>
                <a:ea typeface="맑은 고딕"/>
                <a:cs typeface="맑은 고딕"/>
              </a:rPr>
              <a:t>전공정의 제조공정 역량</a:t>
            </a:r>
            <a:r>
              <a:rPr sz="1900" b="0" i="0" lang="ko-KR">
                <a:solidFill>
                  <a:srgbClr val="1E2532"/>
                </a:solidFill>
                <a:latin typeface="맑은 고딕"/>
                <a:ea typeface="맑은 고딕"/>
                <a:cs typeface="맑은 고딕"/>
              </a:rPr>
              <a:t>에 해당한다.</a:t>
            </a:r>
          </a:p>
        </p:txBody>
      </p:sp>
      <p:sp>
        <p:nvSpPr>
          <p:cNvPr id="28" name="Rounded Rectangle 27"/>
          <p:cNvSpPr/>
          <p:nvPr/>
        </p:nvSpPr>
        <p:spPr>
          <a:xfrm>
            <a:off x="648000" y="8892000"/>
            <a:ext cx="3000000" cy="2376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29" name="TextBox 28"/>
          <p:cNvSpPr txBox="1"/>
          <p:nvPr/>
        </p:nvSpPr>
        <p:spPr>
          <a:xfrm>
            <a:off x="756000" y="8964000"/>
            <a:ext cx="2784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5B6475"/>
                </a:solidFill>
                <a:latin typeface="맑은 고딕"/>
                <a:ea typeface="맑은 고딕"/>
                <a:cs typeface="맑은 고딕"/>
              </a:rPr>
              <a:t>기존: 솔더 범프 접합</a:t>
            </a:r>
          </a:p>
        </p:txBody>
      </p:sp>
      <p:sp>
        <p:nvSpPr>
          <p:cNvPr id="30" name="Rectangle 29"/>
          <p:cNvSpPr/>
          <p:nvPr/>
        </p:nvSpPr>
        <p:spPr>
          <a:xfrm>
            <a:off x="972000" y="9288000"/>
            <a:ext cx="2352000" cy="324000"/>
          </a:xfrm>
          <a:prstGeom prst="rect">
            <a:avLst/>
          </a:prstGeom>
          <a:solidFill>
            <a:srgbClr val="8A97AD"/>
          </a:solidFill>
          <a:ln>
            <a:noFill/>
          </a:ln>
        </p:spPr>
        <p:txBody>
          <a:bodyPr rtlCol="0" anchor="ctr" lIns="54000" rIns="54000" tIns="54000" bIns="54000"/>
          <a:lstStyle/>
          <a:p>
            <a:pPr algn="ctr"/>
          </a:p>
        </p:txBody>
      </p:sp>
      <p:sp>
        <p:nvSpPr>
          <p:cNvPr id="31" name="Oval 30"/>
          <p:cNvSpPr/>
          <p:nvPr/>
        </p:nvSpPr>
        <p:spPr>
          <a:xfrm>
            <a:off x="1170000" y="96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32" name="Oval 31"/>
          <p:cNvSpPr/>
          <p:nvPr/>
        </p:nvSpPr>
        <p:spPr>
          <a:xfrm>
            <a:off x="1582500" y="96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33" name="Oval 32"/>
          <p:cNvSpPr/>
          <p:nvPr/>
        </p:nvSpPr>
        <p:spPr>
          <a:xfrm>
            <a:off x="1995000" y="96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34" name="Oval 33"/>
          <p:cNvSpPr/>
          <p:nvPr/>
        </p:nvSpPr>
        <p:spPr>
          <a:xfrm>
            <a:off x="2407500" y="96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35" name="Oval 34"/>
          <p:cNvSpPr/>
          <p:nvPr/>
        </p:nvSpPr>
        <p:spPr>
          <a:xfrm>
            <a:off x="2820000" y="96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36" name="Rectangle 35"/>
          <p:cNvSpPr/>
          <p:nvPr/>
        </p:nvSpPr>
        <p:spPr>
          <a:xfrm>
            <a:off x="972000" y="9900000"/>
            <a:ext cx="2352000" cy="324000"/>
          </a:xfrm>
          <a:prstGeom prst="rect">
            <a:avLst/>
          </a:prstGeom>
          <a:solidFill>
            <a:srgbClr val="5E6C85"/>
          </a:solidFill>
          <a:ln>
            <a:noFill/>
          </a:ln>
        </p:spPr>
        <p:txBody>
          <a:bodyPr rtlCol="0" anchor="ctr" lIns="54000" rIns="54000" tIns="54000" bIns="54000"/>
          <a:lstStyle/>
          <a:p>
            <a:pPr algn="ctr"/>
          </a:p>
        </p:txBody>
      </p:sp>
      <p:sp>
        <p:nvSpPr>
          <p:cNvPr id="37" name="TextBox 36"/>
          <p:cNvSpPr txBox="1"/>
          <p:nvPr/>
        </p:nvSpPr>
        <p:spPr>
          <a:xfrm>
            <a:off x="756000" y="10746000"/>
            <a:ext cx="2784000" cy="468000"/>
          </a:xfrm>
          <a:prstGeom prst="rect">
            <a:avLst/>
          </a:prstGeom>
          <a:noFill/>
        </p:spPr>
        <p:txBody>
          <a:bodyPr wrap="square" lIns="0" rIns="0" tIns="0" bIns="0" anchor="t">
            <a:noAutofit/>
          </a:bodyPr>
          <a:lstStyle/>
          <a:p>
            <a:pPr algn="ctr" marL="0" indent="0">
              <a:lnSpc>
                <a:spcPts val="1680"/>
              </a:lnSpc>
              <a:spcBef>
                <a:spcPts val="0"/>
              </a:spcBef>
              <a:spcAft>
                <a:spcPts val="0"/>
              </a:spcAft>
              <a:buNone/>
            </a:pPr>
            <a:r>
              <a:rPr sz="1400" b="1" i="0" lang="ko-KR">
                <a:solidFill>
                  <a:srgbClr val="1E2532"/>
                </a:solidFill>
                <a:latin typeface="맑은 고딕"/>
                <a:ea typeface="맑은 고딕"/>
                <a:cs typeface="맑은 고딕"/>
              </a:rPr>
              <a:t>다이 사이를 솔더 범프로 연결</a:t>
            </a:r>
          </a:p>
          <a:p>
            <a:pPr algn="ctr" marL="0" indent="0">
              <a:lnSpc>
                <a:spcPts val="1680"/>
              </a:lnSpc>
              <a:spcBef>
                <a:spcPts val="0"/>
              </a:spcBef>
              <a:spcAft>
                <a:spcPts val="0"/>
              </a:spcAft>
              <a:buNone/>
            </a:pPr>
            <a:r>
              <a:rPr sz="1400" b="0" i="0" lang="ko-KR">
                <a:solidFill>
                  <a:srgbClr val="5B6475"/>
                </a:solidFill>
                <a:latin typeface="맑은 고딕"/>
                <a:ea typeface="맑은 고딕"/>
                <a:cs typeface="맑은 고딕"/>
              </a:rPr>
              <a:t>10 µm 이하 간격은 구현하기 어려움</a:t>
            </a:r>
          </a:p>
        </p:txBody>
      </p:sp>
      <p:sp>
        <p:nvSpPr>
          <p:cNvPr id="38" name="Rounded Rectangle 37"/>
          <p:cNvSpPr/>
          <p:nvPr/>
        </p:nvSpPr>
        <p:spPr>
          <a:xfrm>
            <a:off x="4008000" y="8892000"/>
            <a:ext cx="3000000" cy="2376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39" name="TextBox 38"/>
          <p:cNvSpPr txBox="1"/>
          <p:nvPr/>
        </p:nvSpPr>
        <p:spPr>
          <a:xfrm>
            <a:off x="4116000" y="8964000"/>
            <a:ext cx="2784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7C3AED"/>
                </a:solidFill>
                <a:latin typeface="맑은 고딕"/>
                <a:ea typeface="맑은 고딕"/>
                <a:cs typeface="맑은 고딕"/>
              </a:rPr>
              <a:t>하이브리드 본딩</a:t>
            </a:r>
          </a:p>
        </p:txBody>
      </p:sp>
      <p:sp>
        <p:nvSpPr>
          <p:cNvPr id="40" name="Rectangle 39"/>
          <p:cNvSpPr/>
          <p:nvPr/>
        </p:nvSpPr>
        <p:spPr>
          <a:xfrm>
            <a:off x="4332000" y="9288000"/>
            <a:ext cx="2352000" cy="324000"/>
          </a:xfrm>
          <a:prstGeom prst="rect">
            <a:avLst/>
          </a:prstGeom>
          <a:solidFill>
            <a:srgbClr val="8A97AD"/>
          </a:solidFill>
          <a:ln>
            <a:noFill/>
          </a:ln>
        </p:spPr>
        <p:txBody>
          <a:bodyPr rtlCol="0" anchor="ctr" lIns="54000" rIns="54000" tIns="54000" bIns="54000"/>
          <a:lstStyle/>
          <a:p>
            <a:pPr algn="ctr"/>
          </a:p>
        </p:txBody>
      </p:sp>
      <p:sp>
        <p:nvSpPr>
          <p:cNvPr id="41" name="Rectangle 40"/>
          <p:cNvSpPr/>
          <p:nvPr/>
        </p:nvSpPr>
        <p:spPr>
          <a:xfrm>
            <a:off x="4332000" y="9475200"/>
            <a:ext cx="2352000" cy="136800"/>
          </a:xfrm>
          <a:prstGeom prst="rect">
            <a:avLst/>
          </a:prstGeom>
          <a:solidFill>
            <a:srgbClr val="BFE3E6"/>
          </a:solidFill>
          <a:ln>
            <a:noFill/>
          </a:ln>
        </p:spPr>
        <p:txBody>
          <a:bodyPr rtlCol="0" anchor="ctr" lIns="54000" rIns="54000" tIns="54000" bIns="54000"/>
          <a:lstStyle/>
          <a:p>
            <a:pPr algn="ctr"/>
          </a:p>
        </p:txBody>
      </p:sp>
      <p:sp>
        <p:nvSpPr>
          <p:cNvPr id="42" name="Rectangle 41"/>
          <p:cNvSpPr/>
          <p:nvPr/>
        </p:nvSpPr>
        <p:spPr>
          <a:xfrm>
            <a:off x="4332000" y="9648000"/>
            <a:ext cx="2352000" cy="136800"/>
          </a:xfrm>
          <a:prstGeom prst="rect">
            <a:avLst/>
          </a:prstGeom>
          <a:solidFill>
            <a:srgbClr val="BFE3E6"/>
          </a:solidFill>
          <a:ln>
            <a:noFill/>
          </a:ln>
        </p:spPr>
        <p:txBody>
          <a:bodyPr rtlCol="0" anchor="ctr" lIns="54000" rIns="54000" tIns="54000" bIns="54000"/>
          <a:lstStyle/>
          <a:p>
            <a:pPr algn="ctr"/>
          </a:p>
        </p:txBody>
      </p:sp>
      <p:sp>
        <p:nvSpPr>
          <p:cNvPr id="43" name="Rectangle 42"/>
          <p:cNvSpPr/>
          <p:nvPr/>
        </p:nvSpPr>
        <p:spPr>
          <a:xfrm>
            <a:off x="4494000" y="9475200"/>
            <a:ext cx="252000" cy="136800"/>
          </a:xfrm>
          <a:prstGeom prst="rect">
            <a:avLst/>
          </a:prstGeom>
          <a:solidFill>
            <a:srgbClr val="EA7A28"/>
          </a:solidFill>
          <a:ln>
            <a:noFill/>
          </a:ln>
        </p:spPr>
        <p:txBody>
          <a:bodyPr rtlCol="0" anchor="ctr" lIns="54000" rIns="54000" tIns="54000" bIns="54000"/>
          <a:lstStyle/>
          <a:p>
            <a:pPr algn="ctr"/>
          </a:p>
        </p:txBody>
      </p:sp>
      <p:sp>
        <p:nvSpPr>
          <p:cNvPr id="44" name="Rectangle 43"/>
          <p:cNvSpPr/>
          <p:nvPr/>
        </p:nvSpPr>
        <p:spPr>
          <a:xfrm>
            <a:off x="4494000" y="9648000"/>
            <a:ext cx="252000" cy="136800"/>
          </a:xfrm>
          <a:prstGeom prst="rect">
            <a:avLst/>
          </a:prstGeom>
          <a:solidFill>
            <a:srgbClr val="EA7A28"/>
          </a:solidFill>
          <a:ln>
            <a:noFill/>
          </a:ln>
        </p:spPr>
        <p:txBody>
          <a:bodyPr rtlCol="0" anchor="ctr" lIns="54000" rIns="54000" tIns="54000" bIns="54000"/>
          <a:lstStyle/>
          <a:p>
            <a:pPr algn="ctr"/>
          </a:p>
        </p:txBody>
      </p:sp>
      <p:sp>
        <p:nvSpPr>
          <p:cNvPr id="45" name="Rectangle 44"/>
          <p:cNvSpPr/>
          <p:nvPr/>
        </p:nvSpPr>
        <p:spPr>
          <a:xfrm>
            <a:off x="4849200" y="9475200"/>
            <a:ext cx="252000" cy="136800"/>
          </a:xfrm>
          <a:prstGeom prst="rect">
            <a:avLst/>
          </a:prstGeom>
          <a:solidFill>
            <a:srgbClr val="EA7A28"/>
          </a:solidFill>
          <a:ln>
            <a:noFill/>
          </a:ln>
        </p:spPr>
        <p:txBody>
          <a:bodyPr rtlCol="0" anchor="ctr" lIns="54000" rIns="54000" tIns="54000" bIns="54000"/>
          <a:lstStyle/>
          <a:p>
            <a:pPr algn="ctr"/>
          </a:p>
        </p:txBody>
      </p:sp>
      <p:sp>
        <p:nvSpPr>
          <p:cNvPr id="46" name="Rectangle 45"/>
          <p:cNvSpPr/>
          <p:nvPr/>
        </p:nvSpPr>
        <p:spPr>
          <a:xfrm>
            <a:off x="4849200" y="9648000"/>
            <a:ext cx="252000" cy="136800"/>
          </a:xfrm>
          <a:prstGeom prst="rect">
            <a:avLst/>
          </a:prstGeom>
          <a:solidFill>
            <a:srgbClr val="EA7A28"/>
          </a:solidFill>
          <a:ln>
            <a:noFill/>
          </a:ln>
        </p:spPr>
        <p:txBody>
          <a:bodyPr rtlCol="0" anchor="ctr" lIns="54000" rIns="54000" tIns="54000" bIns="54000"/>
          <a:lstStyle/>
          <a:p>
            <a:pPr algn="ctr"/>
          </a:p>
        </p:txBody>
      </p:sp>
      <p:sp>
        <p:nvSpPr>
          <p:cNvPr id="47" name="Rectangle 46"/>
          <p:cNvSpPr/>
          <p:nvPr/>
        </p:nvSpPr>
        <p:spPr>
          <a:xfrm>
            <a:off x="5204400" y="9475200"/>
            <a:ext cx="252000" cy="136800"/>
          </a:xfrm>
          <a:prstGeom prst="rect">
            <a:avLst/>
          </a:prstGeom>
          <a:solidFill>
            <a:srgbClr val="EA7A28"/>
          </a:solidFill>
          <a:ln>
            <a:noFill/>
          </a:ln>
        </p:spPr>
        <p:txBody>
          <a:bodyPr rtlCol="0" anchor="ctr" lIns="54000" rIns="54000" tIns="54000" bIns="54000"/>
          <a:lstStyle/>
          <a:p>
            <a:pPr algn="ctr"/>
          </a:p>
        </p:txBody>
      </p:sp>
      <p:sp>
        <p:nvSpPr>
          <p:cNvPr id="48" name="Rectangle 47"/>
          <p:cNvSpPr/>
          <p:nvPr/>
        </p:nvSpPr>
        <p:spPr>
          <a:xfrm>
            <a:off x="5204400" y="9648000"/>
            <a:ext cx="252000" cy="136800"/>
          </a:xfrm>
          <a:prstGeom prst="rect">
            <a:avLst/>
          </a:prstGeom>
          <a:solidFill>
            <a:srgbClr val="EA7A28"/>
          </a:solidFill>
          <a:ln>
            <a:noFill/>
          </a:ln>
        </p:spPr>
        <p:txBody>
          <a:bodyPr rtlCol="0" anchor="ctr" lIns="54000" rIns="54000" tIns="54000" bIns="54000"/>
          <a:lstStyle/>
          <a:p>
            <a:pPr algn="ctr"/>
          </a:p>
        </p:txBody>
      </p:sp>
      <p:sp>
        <p:nvSpPr>
          <p:cNvPr id="49" name="Rectangle 48"/>
          <p:cNvSpPr/>
          <p:nvPr/>
        </p:nvSpPr>
        <p:spPr>
          <a:xfrm>
            <a:off x="5559600" y="9475200"/>
            <a:ext cx="252000" cy="136800"/>
          </a:xfrm>
          <a:prstGeom prst="rect">
            <a:avLst/>
          </a:prstGeom>
          <a:solidFill>
            <a:srgbClr val="EA7A28"/>
          </a:solidFill>
          <a:ln>
            <a:noFill/>
          </a:ln>
        </p:spPr>
        <p:txBody>
          <a:bodyPr rtlCol="0" anchor="ctr" lIns="54000" rIns="54000" tIns="54000" bIns="54000"/>
          <a:lstStyle/>
          <a:p>
            <a:pPr algn="ctr"/>
          </a:p>
        </p:txBody>
      </p:sp>
      <p:sp>
        <p:nvSpPr>
          <p:cNvPr id="50" name="Rectangle 49"/>
          <p:cNvSpPr/>
          <p:nvPr/>
        </p:nvSpPr>
        <p:spPr>
          <a:xfrm>
            <a:off x="5559600" y="9648000"/>
            <a:ext cx="252000" cy="136800"/>
          </a:xfrm>
          <a:prstGeom prst="rect">
            <a:avLst/>
          </a:prstGeom>
          <a:solidFill>
            <a:srgbClr val="EA7A28"/>
          </a:solidFill>
          <a:ln>
            <a:noFill/>
          </a:ln>
        </p:spPr>
        <p:txBody>
          <a:bodyPr rtlCol="0" anchor="ctr" lIns="54000" rIns="54000" tIns="54000" bIns="54000"/>
          <a:lstStyle/>
          <a:p>
            <a:pPr algn="ctr"/>
          </a:p>
        </p:txBody>
      </p:sp>
      <p:sp>
        <p:nvSpPr>
          <p:cNvPr id="51" name="Rectangle 50"/>
          <p:cNvSpPr/>
          <p:nvPr/>
        </p:nvSpPr>
        <p:spPr>
          <a:xfrm>
            <a:off x="5914800" y="9475200"/>
            <a:ext cx="252000" cy="136800"/>
          </a:xfrm>
          <a:prstGeom prst="rect">
            <a:avLst/>
          </a:prstGeom>
          <a:solidFill>
            <a:srgbClr val="EA7A28"/>
          </a:solidFill>
          <a:ln>
            <a:noFill/>
          </a:ln>
        </p:spPr>
        <p:txBody>
          <a:bodyPr rtlCol="0" anchor="ctr" lIns="54000" rIns="54000" tIns="54000" bIns="54000"/>
          <a:lstStyle/>
          <a:p>
            <a:pPr algn="ctr"/>
          </a:p>
        </p:txBody>
      </p:sp>
      <p:sp>
        <p:nvSpPr>
          <p:cNvPr id="52" name="Rectangle 51"/>
          <p:cNvSpPr/>
          <p:nvPr/>
        </p:nvSpPr>
        <p:spPr>
          <a:xfrm>
            <a:off x="5914800" y="9648000"/>
            <a:ext cx="252000" cy="136800"/>
          </a:xfrm>
          <a:prstGeom prst="rect">
            <a:avLst/>
          </a:prstGeom>
          <a:solidFill>
            <a:srgbClr val="EA7A28"/>
          </a:solidFill>
          <a:ln>
            <a:noFill/>
          </a:ln>
        </p:spPr>
        <p:txBody>
          <a:bodyPr rtlCol="0" anchor="ctr" lIns="54000" rIns="54000" tIns="54000" bIns="54000"/>
          <a:lstStyle/>
          <a:p>
            <a:pPr algn="ctr"/>
          </a:p>
        </p:txBody>
      </p:sp>
      <p:sp>
        <p:nvSpPr>
          <p:cNvPr id="53" name="Rectangle 52"/>
          <p:cNvSpPr/>
          <p:nvPr/>
        </p:nvSpPr>
        <p:spPr>
          <a:xfrm>
            <a:off x="6270000" y="9475200"/>
            <a:ext cx="252000" cy="136800"/>
          </a:xfrm>
          <a:prstGeom prst="rect">
            <a:avLst/>
          </a:prstGeom>
          <a:solidFill>
            <a:srgbClr val="EA7A28"/>
          </a:solidFill>
          <a:ln>
            <a:noFill/>
          </a:ln>
        </p:spPr>
        <p:txBody>
          <a:bodyPr rtlCol="0" anchor="ctr" lIns="54000" rIns="54000" tIns="54000" bIns="54000"/>
          <a:lstStyle/>
          <a:p>
            <a:pPr algn="ctr"/>
          </a:p>
        </p:txBody>
      </p:sp>
      <p:sp>
        <p:nvSpPr>
          <p:cNvPr id="54" name="Rectangle 53"/>
          <p:cNvSpPr/>
          <p:nvPr/>
        </p:nvSpPr>
        <p:spPr>
          <a:xfrm>
            <a:off x="6270000" y="9648000"/>
            <a:ext cx="252000" cy="136800"/>
          </a:xfrm>
          <a:prstGeom prst="rect">
            <a:avLst/>
          </a:prstGeom>
          <a:solidFill>
            <a:srgbClr val="EA7A28"/>
          </a:solidFill>
          <a:ln>
            <a:noFill/>
          </a:ln>
        </p:spPr>
        <p:txBody>
          <a:bodyPr rtlCol="0" anchor="ctr" lIns="54000" rIns="54000" tIns="54000" bIns="54000"/>
          <a:lstStyle/>
          <a:p>
            <a:pPr algn="ctr"/>
          </a:p>
        </p:txBody>
      </p:sp>
      <p:sp>
        <p:nvSpPr>
          <p:cNvPr id="55" name="Rectangle 54"/>
          <p:cNvSpPr/>
          <p:nvPr/>
        </p:nvSpPr>
        <p:spPr>
          <a:xfrm>
            <a:off x="4332000" y="9612000"/>
            <a:ext cx="2352000" cy="36000"/>
          </a:xfrm>
          <a:prstGeom prst="rect">
            <a:avLst/>
          </a:prstGeom>
          <a:solidFill>
            <a:srgbClr val="7C3AED"/>
          </a:solidFill>
          <a:ln>
            <a:noFill/>
          </a:ln>
        </p:spPr>
        <p:txBody>
          <a:bodyPr rtlCol="0" anchor="ctr" lIns="54000" rIns="54000" tIns="54000" bIns="54000"/>
          <a:lstStyle/>
          <a:p>
            <a:pPr algn="ctr"/>
          </a:p>
        </p:txBody>
      </p:sp>
      <p:sp>
        <p:nvSpPr>
          <p:cNvPr id="56" name="Rectangle 55"/>
          <p:cNvSpPr/>
          <p:nvPr/>
        </p:nvSpPr>
        <p:spPr>
          <a:xfrm>
            <a:off x="4332000" y="9784800"/>
            <a:ext cx="2352000" cy="324000"/>
          </a:xfrm>
          <a:prstGeom prst="rect">
            <a:avLst/>
          </a:prstGeom>
          <a:solidFill>
            <a:srgbClr val="5E6C85"/>
          </a:solidFill>
          <a:ln>
            <a:noFill/>
          </a:ln>
        </p:spPr>
        <p:txBody>
          <a:bodyPr rtlCol="0" anchor="ctr" lIns="54000" rIns="54000" tIns="54000" bIns="54000"/>
          <a:lstStyle/>
          <a:p>
            <a:pPr algn="ctr"/>
          </a:p>
        </p:txBody>
      </p:sp>
      <p:sp>
        <p:nvSpPr>
          <p:cNvPr id="57" name="TextBox 56"/>
          <p:cNvSpPr txBox="1"/>
          <p:nvPr/>
        </p:nvSpPr>
        <p:spPr>
          <a:xfrm>
            <a:off x="4116000" y="10746000"/>
            <a:ext cx="2784000" cy="468000"/>
          </a:xfrm>
          <a:prstGeom prst="rect">
            <a:avLst/>
          </a:prstGeom>
          <a:noFill/>
        </p:spPr>
        <p:txBody>
          <a:bodyPr wrap="square" lIns="0" rIns="0" tIns="0" bIns="0" anchor="t">
            <a:noAutofit/>
          </a:bodyPr>
          <a:lstStyle/>
          <a:p>
            <a:pPr algn="ctr" marL="0" indent="0">
              <a:lnSpc>
                <a:spcPts val="1680"/>
              </a:lnSpc>
              <a:spcBef>
                <a:spcPts val="0"/>
              </a:spcBef>
              <a:spcAft>
                <a:spcPts val="0"/>
              </a:spcAft>
              <a:buNone/>
            </a:pPr>
            <a:r>
              <a:rPr sz="1400" b="1" i="0" lang="ko-KR">
                <a:solidFill>
                  <a:srgbClr val="1E2532"/>
                </a:solidFill>
                <a:latin typeface="맑은 고딕"/>
                <a:ea typeface="맑은 고딕"/>
                <a:cs typeface="맑은 고딕"/>
              </a:rPr>
              <a:t>구리–구리 + 산화막–산화막 직접 접합</a:t>
            </a:r>
          </a:p>
          <a:p>
            <a:pPr algn="ctr" marL="0" indent="0">
              <a:lnSpc>
                <a:spcPts val="1680"/>
              </a:lnSpc>
              <a:spcBef>
                <a:spcPts val="0"/>
              </a:spcBef>
              <a:spcAft>
                <a:spcPts val="0"/>
              </a:spcAft>
              <a:buNone/>
            </a:pPr>
            <a:r>
              <a:rPr sz="1400" b="0" i="0" lang="ko-KR">
                <a:solidFill>
                  <a:srgbClr val="5B6475"/>
                </a:solidFill>
                <a:latin typeface="맑은 고딕"/>
                <a:ea typeface="맑은 고딕"/>
                <a:cs typeface="맑은 고딕"/>
              </a:rPr>
              <a:t>범프 없이 10 µm 이하 간격</a:t>
            </a:r>
          </a:p>
        </p:txBody>
      </p:sp>
      <p:cxnSp>
        <p:nvCxnSpPr>
          <p:cNvPr id="58" name="Connector 57"/>
          <p:cNvCxnSpPr/>
          <p:nvPr/>
        </p:nvCxnSpPr>
        <p:spPr>
          <a:xfrm>
            <a:off x="3702000" y="10080000"/>
            <a:ext cx="252000" cy="0"/>
          </a:xfrm>
          <a:prstGeom prst="line">
            <a:avLst/>
          </a:prstGeom>
          <a:ln w="50800">
            <a:solidFill>
              <a:srgbClr val="7C3AED"/>
            </a:solidFill>
            <a:tailEnd type="triangle" w="med" len="med"/>
          </a:ln>
        </p:spPr>
      </p:cxnSp>
      <p:sp>
        <p:nvSpPr>
          <p:cNvPr id="59" name="Rectangle 58"/>
          <p:cNvSpPr/>
          <p:nvPr/>
        </p:nvSpPr>
        <p:spPr>
          <a:xfrm>
            <a:off x="576000" y="11484000"/>
            <a:ext cx="6504000" cy="414000"/>
          </a:xfrm>
          <a:prstGeom prst="rect">
            <a:avLst/>
          </a:prstGeom>
          <a:solidFill>
            <a:srgbClr val="E8EEF7"/>
          </a:solidFill>
          <a:ln>
            <a:noFill/>
          </a:ln>
        </p:spPr>
        <p:txBody>
          <a:bodyPr rtlCol="0" anchor="ctr" lIns="54000" rIns="54000" tIns="54000" bIns="54000"/>
          <a:lstStyle/>
          <a:p>
            <a:pPr algn="ctr"/>
          </a:p>
        </p:txBody>
      </p:sp>
      <p:sp>
        <p:nvSpPr>
          <p:cNvPr id="60" name="Rectangle 59"/>
          <p:cNvSpPr/>
          <p:nvPr/>
        </p:nvSpPr>
        <p:spPr>
          <a:xfrm>
            <a:off x="666000" y="11592000"/>
            <a:ext cx="108000" cy="198000"/>
          </a:xfrm>
          <a:prstGeom prst="rect">
            <a:avLst/>
          </a:prstGeom>
          <a:solidFill>
            <a:srgbClr val="13294B"/>
          </a:solidFill>
          <a:ln>
            <a:noFill/>
          </a:ln>
        </p:spPr>
        <p:txBody>
          <a:bodyPr rtlCol="0" anchor="ctr" lIns="54000" rIns="54000" tIns="54000" bIns="54000"/>
          <a:lstStyle/>
          <a:p>
            <a:pPr algn="ctr"/>
          </a:p>
        </p:txBody>
      </p:sp>
      <p:sp>
        <p:nvSpPr>
          <p:cNvPr id="61" name="TextBox 60"/>
          <p:cNvSpPr txBox="1"/>
          <p:nvPr/>
        </p:nvSpPr>
        <p:spPr>
          <a:xfrm>
            <a:off x="882000" y="11484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Real World Context</a:t>
            </a:r>
            <a:r>
              <a:rPr sz="1800" b="0" i="0" lang="ko-KR">
                <a:solidFill>
                  <a:srgbClr val="13294B"/>
                </a:solidFill>
                <a:latin typeface="맑은 고딕"/>
                <a:ea typeface="맑은 고딕"/>
                <a:cs typeface="맑은 고딕"/>
              </a:rPr>
              <a:t>  ·  산업 맥락</a:t>
            </a:r>
          </a:p>
        </p:txBody>
      </p:sp>
      <p:sp>
        <p:nvSpPr>
          <p:cNvPr id="62" name="TextBox 61"/>
          <p:cNvSpPr txBox="1"/>
          <p:nvPr/>
        </p:nvSpPr>
        <p:spPr>
          <a:xfrm>
            <a:off x="648000" y="12060000"/>
            <a:ext cx="6396000" cy="1296000"/>
          </a:xfrm>
          <a:prstGeom prst="rect">
            <a:avLst/>
          </a:prstGeom>
          <a:noFill/>
        </p:spPr>
        <p:txBody>
          <a:bodyPr wrap="square" lIns="0" rIns="0" tIns="0" bIns="0" anchor="t">
            <a:noAutofit/>
          </a:bodyPr>
          <a:lstStyle/>
          <a:p>
            <a:pPr algn="l" marL="0" indent="0">
              <a:lnSpc>
                <a:spcPts val="2039"/>
              </a:lnSpc>
              <a:spcBef>
                <a:spcPts val="0"/>
              </a:spcBef>
              <a:spcAft>
                <a:spcPts val="300"/>
              </a:spcAft>
              <a:buNone/>
            </a:pPr>
            <a:r>
              <a:rPr sz="1700" b="0" i="0" lang="ko-KR">
                <a:solidFill>
                  <a:srgbClr val="1E2532"/>
                </a:solidFill>
                <a:latin typeface="맑은 고딕"/>
                <a:ea typeface="맑은 고딕"/>
                <a:cs typeface="맑은 고딕"/>
              </a:rPr>
              <a:t>하이브리드 본딩 특허 활동을 주도하는 출원인: </a:t>
            </a:r>
            <a:r>
              <a:rPr sz="1700" b="1" i="0" lang="ko-KR">
                <a:solidFill>
                  <a:srgbClr val="1E2532"/>
                </a:solidFill>
                <a:latin typeface="맑은 고딕"/>
                <a:ea typeface="맑은 고딕"/>
                <a:cs typeface="맑은 고딕"/>
              </a:rPr>
              <a:t>TSMC, Adeia, YMTC, Intel, Samsung</a:t>
            </a:r>
            <a:r>
              <a:rPr sz="1500" b="0" i="0" lang="ko-KR">
                <a:solidFill>
                  <a:srgbClr val="5B6475"/>
                </a:solidFill>
                <a:latin typeface="맑은 고딕"/>
                <a:ea typeface="맑은 고딕"/>
                <a:cs typeface="맑은 고딕"/>
              </a:rPr>
              <a:t> (KnowMade, 2024)</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파운드리·라이선싱 기업·메모리 제조사가 함께 주도 → 접합 기술은 더 이상 후공정 전문기업만의 영역이 아니다.</a:t>
            </a:r>
          </a:p>
        </p:txBody>
      </p:sp>
      <p:sp>
        <p:nvSpPr>
          <p:cNvPr id="63" name="Rectangle 62"/>
          <p:cNvSpPr/>
          <p:nvPr/>
        </p:nvSpPr>
        <p:spPr>
          <a:xfrm>
            <a:off x="576000" y="13464000"/>
            <a:ext cx="6504000" cy="414000"/>
          </a:xfrm>
          <a:prstGeom prst="rect">
            <a:avLst/>
          </a:prstGeom>
          <a:solidFill>
            <a:srgbClr val="E8EEF7"/>
          </a:solidFill>
          <a:ln>
            <a:noFill/>
          </a:ln>
        </p:spPr>
        <p:txBody>
          <a:bodyPr rtlCol="0" anchor="ctr" lIns="54000" rIns="54000" tIns="54000" bIns="54000"/>
          <a:lstStyle/>
          <a:p>
            <a:pPr algn="ctr"/>
          </a:p>
        </p:txBody>
      </p:sp>
      <p:sp>
        <p:nvSpPr>
          <p:cNvPr id="64" name="Rectangle 63"/>
          <p:cNvSpPr/>
          <p:nvPr/>
        </p:nvSpPr>
        <p:spPr>
          <a:xfrm>
            <a:off x="666000" y="13572000"/>
            <a:ext cx="108000" cy="198000"/>
          </a:xfrm>
          <a:prstGeom prst="rect">
            <a:avLst/>
          </a:prstGeom>
          <a:solidFill>
            <a:srgbClr val="13294B"/>
          </a:solidFill>
          <a:ln>
            <a:noFill/>
          </a:ln>
        </p:spPr>
        <p:txBody>
          <a:bodyPr rtlCol="0" anchor="ctr" lIns="54000" rIns="54000" tIns="54000" bIns="54000"/>
          <a:lstStyle/>
          <a:p>
            <a:pPr algn="ctr"/>
          </a:p>
        </p:txBody>
      </p:sp>
      <p:sp>
        <p:nvSpPr>
          <p:cNvPr id="65" name="TextBox 64"/>
          <p:cNvSpPr txBox="1"/>
          <p:nvPr/>
        </p:nvSpPr>
        <p:spPr>
          <a:xfrm>
            <a:off x="882000" y="13464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Research Gap</a:t>
            </a:r>
            <a:r>
              <a:rPr sz="1800" b="0" i="0" lang="ko-KR">
                <a:solidFill>
                  <a:srgbClr val="13294B"/>
                </a:solidFill>
                <a:latin typeface="맑은 고딕"/>
                <a:ea typeface="맑은 고딕"/>
                <a:cs typeface="맑은 고딕"/>
              </a:rPr>
              <a:t>  ·  연구 공백</a:t>
            </a:r>
          </a:p>
        </p:txBody>
      </p:sp>
      <p:sp>
        <p:nvSpPr>
          <p:cNvPr id="66" name="Oval 65"/>
          <p:cNvSpPr/>
          <p:nvPr/>
        </p:nvSpPr>
        <p:spPr>
          <a:xfrm>
            <a:off x="666000" y="14076000"/>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1</a:t>
            </a:r>
          </a:p>
        </p:txBody>
      </p:sp>
      <p:sp>
        <p:nvSpPr>
          <p:cNvPr id="67" name="TextBox 66"/>
          <p:cNvSpPr txBox="1"/>
          <p:nvPr/>
        </p:nvSpPr>
        <p:spPr>
          <a:xfrm>
            <a:off x="1134000" y="14040000"/>
            <a:ext cx="5892000" cy="792000"/>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기존 기술융합 연구는 주로 서로 다른 산업·기술 분야 사이의 융합(ICT–가전, 식품–제약, 나노–바이오)을 다루었다.</a:t>
            </a:r>
          </a:p>
        </p:txBody>
      </p:sp>
      <p:sp>
        <p:nvSpPr>
          <p:cNvPr id="68" name="Oval 67"/>
          <p:cNvSpPr/>
          <p:nvPr/>
        </p:nvSpPr>
        <p:spPr>
          <a:xfrm>
            <a:off x="666000" y="14868000"/>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2</a:t>
            </a:r>
          </a:p>
        </p:txBody>
      </p:sp>
      <p:sp>
        <p:nvSpPr>
          <p:cNvPr id="69" name="TextBox 68"/>
          <p:cNvSpPr txBox="1"/>
          <p:nvPr/>
        </p:nvSpPr>
        <p:spPr>
          <a:xfrm>
            <a:off x="1134000" y="14832000"/>
            <a:ext cx="5892000" cy="1026000"/>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한 산업 안에서 공정 단계를 가로지르는 융합은 충분히 다루어지지 않았고, 이를 특허 단위에서 검정한 연구도 부족하다.</a:t>
            </a:r>
          </a:p>
        </p:txBody>
      </p:sp>
      <p:sp>
        <p:nvSpPr>
          <p:cNvPr id="70" name="Oval 69"/>
          <p:cNvSpPr/>
          <p:nvPr/>
        </p:nvSpPr>
        <p:spPr>
          <a:xfrm>
            <a:off x="666000" y="15894000"/>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3</a:t>
            </a:r>
          </a:p>
        </p:txBody>
      </p:sp>
      <p:sp>
        <p:nvSpPr>
          <p:cNvPr id="71" name="TextBox 70"/>
          <p:cNvSpPr txBox="1"/>
          <p:nvPr/>
        </p:nvSpPr>
        <p:spPr>
          <a:xfrm>
            <a:off x="1134000" y="15858000"/>
            <a:ext cx="5892000" cy="792000"/>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융합을 단계적 과정으로 보는 이론에 비해, 융합 내용의 시간적 변화를 분석한 실증 연구는 부족하다.</a:t>
            </a:r>
          </a:p>
        </p:txBody>
      </p:sp>
      <p:sp>
        <p:nvSpPr>
          <p:cNvPr id="72" name="Rectangle 71"/>
          <p:cNvSpPr/>
          <p:nvPr/>
        </p:nvSpPr>
        <p:spPr>
          <a:xfrm>
            <a:off x="648000" y="16722000"/>
            <a:ext cx="6360000" cy="1296000"/>
          </a:xfrm>
          <a:prstGeom prst="rect">
            <a:avLst/>
          </a:prstGeom>
          <a:solidFill>
            <a:srgbClr val="FFF6DC"/>
          </a:solidFill>
          <a:ln w="25400">
            <a:solidFill>
              <a:srgbClr val="D4A72C"/>
            </a:solidFill>
          </a:ln>
        </p:spPr>
        <p:txBody>
          <a:bodyPr rtlCol="0" anchor="ctr" lIns="54000" rIns="54000" tIns="54000" bIns="54000"/>
          <a:lstStyle/>
          <a:p>
            <a:pPr algn="ctr"/>
          </a:p>
        </p:txBody>
      </p:sp>
      <p:sp>
        <p:nvSpPr>
          <p:cNvPr id="73" name="TextBox 72"/>
          <p:cNvSpPr txBox="1"/>
          <p:nvPr/>
        </p:nvSpPr>
        <p:spPr>
          <a:xfrm>
            <a:off x="828000" y="16776000"/>
            <a:ext cx="6000000" cy="1188000"/>
          </a:xfrm>
          <a:prstGeom prst="rect">
            <a:avLst/>
          </a:prstGeom>
          <a:noFill/>
        </p:spPr>
        <p:txBody>
          <a:bodyPr wrap="square" lIns="0" rIns="0" tIns="0" bIns="0" anchor="ctr">
            <a:noAutofit/>
          </a:bodyPr>
          <a:lstStyle/>
          <a:p>
            <a:pPr algn="l" marL="0" indent="0">
              <a:lnSpc>
                <a:spcPts val="1920"/>
              </a:lnSpc>
              <a:spcBef>
                <a:spcPts val="0"/>
              </a:spcBef>
              <a:spcAft>
                <a:spcPts val="200"/>
              </a:spcAft>
              <a:buNone/>
            </a:pPr>
            <a:r>
              <a:rPr sz="1600" b="1" i="0" lang="ko-KR">
                <a:solidFill>
                  <a:srgbClr val="A07800"/>
                </a:solidFill>
                <a:latin typeface="맑은 고딕"/>
                <a:ea typeface="맑은 고딕"/>
                <a:cs typeface="맑은 고딕"/>
              </a:rPr>
              <a:t>핵심 질문</a:t>
            </a:r>
          </a:p>
          <a:p>
            <a:pPr algn="l" marL="0" indent="0">
              <a:lnSpc>
                <a:spcPts val="2160"/>
              </a:lnSpc>
              <a:spcBef>
                <a:spcPts val="0"/>
              </a:spcBef>
              <a:spcAft>
                <a:spcPts val="0"/>
              </a:spcAft>
              <a:buNone/>
            </a:pPr>
            <a:r>
              <a:rPr sz="1800" b="1" i="0" lang="ko-KR">
                <a:solidFill>
                  <a:srgbClr val="13294B"/>
                </a:solidFill>
                <a:latin typeface="맑은 고딕"/>
                <a:ea typeface="맑은 고딕"/>
                <a:cs typeface="맑은 고딕"/>
              </a:rPr>
              <a:t>공정 단계 간 기술 경계의 융합을 개별 특허 수준에서 확인할 수 있는가? 그 융합은 시간에 따라 어떻게 전개되는가?</a:t>
            </a:r>
          </a:p>
        </p:txBody>
      </p:sp>
      <p:sp>
        <p:nvSpPr>
          <p:cNvPr id="74" name="Rectangle 73"/>
          <p:cNvSpPr/>
          <p:nvPr/>
        </p:nvSpPr>
        <p:spPr>
          <a:xfrm>
            <a:off x="576000" y="18162000"/>
            <a:ext cx="6504000" cy="414000"/>
          </a:xfrm>
          <a:prstGeom prst="rect">
            <a:avLst/>
          </a:prstGeom>
          <a:solidFill>
            <a:srgbClr val="E8EEF7"/>
          </a:solidFill>
          <a:ln>
            <a:noFill/>
          </a:ln>
        </p:spPr>
        <p:txBody>
          <a:bodyPr rtlCol="0" anchor="ctr" lIns="54000" rIns="54000" tIns="54000" bIns="54000"/>
          <a:lstStyle/>
          <a:p>
            <a:pPr algn="ctr"/>
          </a:p>
        </p:txBody>
      </p:sp>
      <p:sp>
        <p:nvSpPr>
          <p:cNvPr id="75" name="Rectangle 74"/>
          <p:cNvSpPr/>
          <p:nvPr/>
        </p:nvSpPr>
        <p:spPr>
          <a:xfrm>
            <a:off x="666000" y="18270000"/>
            <a:ext cx="108000" cy="198000"/>
          </a:xfrm>
          <a:prstGeom prst="rect">
            <a:avLst/>
          </a:prstGeom>
          <a:solidFill>
            <a:srgbClr val="13294B"/>
          </a:solidFill>
          <a:ln>
            <a:noFill/>
          </a:ln>
        </p:spPr>
        <p:txBody>
          <a:bodyPr rtlCol="0" anchor="ctr" lIns="54000" rIns="54000" tIns="54000" bIns="54000"/>
          <a:lstStyle/>
          <a:p>
            <a:pPr algn="ctr"/>
          </a:p>
        </p:txBody>
      </p:sp>
      <p:sp>
        <p:nvSpPr>
          <p:cNvPr id="76" name="TextBox 75"/>
          <p:cNvSpPr txBox="1"/>
          <p:nvPr/>
        </p:nvSpPr>
        <p:spPr>
          <a:xfrm>
            <a:off x="882000" y="18162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Research Questions</a:t>
            </a:r>
            <a:r>
              <a:rPr sz="1800" b="0" i="0" lang="ko-KR">
                <a:solidFill>
                  <a:srgbClr val="13294B"/>
                </a:solidFill>
                <a:latin typeface="맑은 고딕"/>
                <a:ea typeface="맑은 고딕"/>
                <a:cs typeface="맑은 고딕"/>
              </a:rPr>
              <a:t>  ·  연구 질문</a:t>
            </a:r>
          </a:p>
        </p:txBody>
      </p:sp>
      <p:sp>
        <p:nvSpPr>
          <p:cNvPr id="77" name="Rectangle 76"/>
          <p:cNvSpPr/>
          <p:nvPr/>
        </p:nvSpPr>
        <p:spPr>
          <a:xfrm>
            <a:off x="648000" y="18738000"/>
            <a:ext cx="6360000" cy="122400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78" name="Rectangle 77"/>
          <p:cNvSpPr/>
          <p:nvPr/>
        </p:nvSpPr>
        <p:spPr>
          <a:xfrm>
            <a:off x="648000" y="18738000"/>
            <a:ext cx="1044000" cy="122400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RQ1</a:t>
            </a:r>
          </a:p>
        </p:txBody>
      </p:sp>
      <p:sp>
        <p:nvSpPr>
          <p:cNvPr id="79" name="TextBox 78"/>
          <p:cNvSpPr txBox="1"/>
          <p:nvPr/>
        </p:nvSpPr>
        <p:spPr>
          <a:xfrm>
            <a:off x="1818000" y="18774000"/>
            <a:ext cx="5100000" cy="115200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수준과 유형</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제조공정과 접합 기술 간의 융합은 어느 정도로, 어떠한 형태로 나타나는가?</a:t>
            </a:r>
          </a:p>
        </p:txBody>
      </p:sp>
      <p:sp>
        <p:nvSpPr>
          <p:cNvPr id="80" name="Rectangle 79"/>
          <p:cNvSpPr/>
          <p:nvPr/>
        </p:nvSpPr>
        <p:spPr>
          <a:xfrm>
            <a:off x="648000" y="20052000"/>
            <a:ext cx="6360000" cy="122400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81" name="Rectangle 80"/>
          <p:cNvSpPr/>
          <p:nvPr/>
        </p:nvSpPr>
        <p:spPr>
          <a:xfrm>
            <a:off x="648000" y="20052000"/>
            <a:ext cx="1044000" cy="122400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RQ2</a:t>
            </a:r>
          </a:p>
        </p:txBody>
      </p:sp>
      <p:sp>
        <p:nvSpPr>
          <p:cNvPr id="82" name="TextBox 81"/>
          <p:cNvSpPr txBox="1"/>
          <p:nvPr/>
        </p:nvSpPr>
        <p:spPr>
          <a:xfrm>
            <a:off x="1818000" y="20088000"/>
            <a:ext cx="5100000" cy="115200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시간적 변화</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융합의 수준과 형태는 시간에 따라 어떻게 변화하는가?</a:t>
            </a:r>
          </a:p>
        </p:txBody>
      </p:sp>
      <p:sp>
        <p:nvSpPr>
          <p:cNvPr id="83" name="Rectangle 82"/>
          <p:cNvSpPr/>
          <p:nvPr/>
        </p:nvSpPr>
        <p:spPr>
          <a:xfrm>
            <a:off x="648000" y="21366000"/>
            <a:ext cx="6360000" cy="122400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84" name="Rectangle 83"/>
          <p:cNvSpPr/>
          <p:nvPr/>
        </p:nvSpPr>
        <p:spPr>
          <a:xfrm>
            <a:off x="648000" y="21366000"/>
            <a:ext cx="1044000" cy="122400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RQ3</a:t>
            </a:r>
          </a:p>
        </p:txBody>
      </p:sp>
      <p:sp>
        <p:nvSpPr>
          <p:cNvPr id="85" name="TextBox 84"/>
          <p:cNvSpPr txBox="1"/>
          <p:nvPr/>
        </p:nvSpPr>
        <p:spPr>
          <a:xfrm>
            <a:off x="1818000" y="21402000"/>
            <a:ext cx="5100000" cy="115200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구조적 중심 변화</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융합의 중심은 핵심 기술과 주변 기술 사이에서 어떻게 이동하는가?</a:t>
            </a:r>
          </a:p>
        </p:txBody>
      </p:sp>
      <p:sp>
        <p:nvSpPr>
          <p:cNvPr id="86" name="Rectangle 85"/>
          <p:cNvSpPr/>
          <p:nvPr/>
        </p:nvSpPr>
        <p:spPr>
          <a:xfrm>
            <a:off x="7440000" y="4680000"/>
            <a:ext cx="6504000" cy="720000"/>
          </a:xfrm>
          <a:prstGeom prst="rect">
            <a:avLst/>
          </a:prstGeom>
          <a:solidFill>
            <a:srgbClr val="13294B"/>
          </a:solidFill>
          <a:ln>
            <a:noFill/>
          </a:ln>
        </p:spPr>
        <p:txBody>
          <a:bodyPr rtlCol="0" anchor="ctr" lIns="54000" rIns="54000" tIns="54000" bIns="54000"/>
          <a:lstStyle/>
          <a:p>
            <a:pPr algn="ctr"/>
          </a:p>
        </p:txBody>
      </p:sp>
      <p:sp>
        <p:nvSpPr>
          <p:cNvPr id="87" name="Oval 86"/>
          <p:cNvSpPr/>
          <p:nvPr/>
        </p:nvSpPr>
        <p:spPr>
          <a:xfrm>
            <a:off x="7620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2</a:t>
            </a:r>
          </a:p>
        </p:txBody>
      </p:sp>
      <p:sp>
        <p:nvSpPr>
          <p:cNvPr id="88" name="TextBox 87"/>
          <p:cNvSpPr txBox="1"/>
          <p:nvPr/>
        </p:nvSpPr>
        <p:spPr>
          <a:xfrm>
            <a:off x="8268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Solution</a:t>
            </a:r>
            <a:r>
              <a:rPr sz="2000" b="0" i="0" lang="ko-KR">
                <a:solidFill>
                  <a:srgbClr val="C8D3E6"/>
                </a:solidFill>
                <a:latin typeface="맑은 고딕"/>
                <a:ea typeface="맑은 고딕"/>
                <a:cs typeface="맑은 고딕"/>
              </a:rPr>
              <a:t>  ·  연구 설계</a:t>
            </a:r>
          </a:p>
        </p:txBody>
      </p:sp>
      <p:sp>
        <p:nvSpPr>
          <p:cNvPr id="89" name="Rectangle 88"/>
          <p:cNvSpPr/>
          <p:nvPr/>
        </p:nvSpPr>
        <p:spPr>
          <a:xfrm>
            <a:off x="7440000" y="5616000"/>
            <a:ext cx="6504000" cy="414000"/>
          </a:xfrm>
          <a:prstGeom prst="rect">
            <a:avLst/>
          </a:prstGeom>
          <a:solidFill>
            <a:srgbClr val="E8EEF7"/>
          </a:solidFill>
          <a:ln>
            <a:noFill/>
          </a:ln>
        </p:spPr>
        <p:txBody>
          <a:bodyPr rtlCol="0" anchor="ctr" lIns="54000" rIns="54000" tIns="54000" bIns="54000"/>
          <a:lstStyle/>
          <a:p>
            <a:pPr algn="ctr"/>
          </a:p>
        </p:txBody>
      </p:sp>
      <p:sp>
        <p:nvSpPr>
          <p:cNvPr id="90" name="Rectangle 89"/>
          <p:cNvSpPr/>
          <p:nvPr/>
        </p:nvSpPr>
        <p:spPr>
          <a:xfrm>
            <a:off x="7530000" y="5724000"/>
            <a:ext cx="108000" cy="198000"/>
          </a:xfrm>
          <a:prstGeom prst="rect">
            <a:avLst/>
          </a:prstGeom>
          <a:solidFill>
            <a:srgbClr val="13294B"/>
          </a:solidFill>
          <a:ln>
            <a:noFill/>
          </a:ln>
        </p:spPr>
        <p:txBody>
          <a:bodyPr rtlCol="0" anchor="ctr" lIns="54000" rIns="54000" tIns="54000" bIns="54000"/>
          <a:lstStyle/>
          <a:p>
            <a:pPr algn="ctr"/>
          </a:p>
        </p:txBody>
      </p:sp>
      <p:sp>
        <p:nvSpPr>
          <p:cNvPr id="91" name="TextBox 90"/>
          <p:cNvSpPr txBox="1"/>
          <p:nvPr/>
        </p:nvSpPr>
        <p:spPr>
          <a:xfrm>
            <a:off x="7746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Data</a:t>
            </a:r>
            <a:r>
              <a:rPr sz="1800" b="0" i="0" lang="ko-KR">
                <a:solidFill>
                  <a:srgbClr val="13294B"/>
                </a:solidFill>
                <a:latin typeface="맑은 고딕"/>
                <a:ea typeface="맑은 고딕"/>
                <a:cs typeface="맑은 고딕"/>
              </a:rPr>
              <a:t>  ·  자료</a:t>
            </a:r>
          </a:p>
        </p:txBody>
      </p:sp>
      <p:sp>
        <p:nvSpPr>
          <p:cNvPr id="92" name="Rectangle 91"/>
          <p:cNvSpPr/>
          <p:nvPr/>
        </p:nvSpPr>
        <p:spPr>
          <a:xfrm>
            <a:off x="7512000" y="6192000"/>
            <a:ext cx="2024000" cy="1296000"/>
          </a:xfrm>
          <a:prstGeom prst="rect">
            <a:avLst/>
          </a:prstGeom>
          <a:solidFill>
            <a:srgbClr val="13294B"/>
          </a:solidFill>
          <a:ln>
            <a:noFill/>
          </a:ln>
        </p:spPr>
        <p:txBody>
          <a:bodyPr rtlCol="0" anchor="ctr" lIns="54000" rIns="54000" tIns="54000" bIns="54000"/>
          <a:lstStyle/>
          <a:p>
            <a:pPr algn="ctr"/>
          </a:p>
        </p:txBody>
      </p:sp>
      <p:sp>
        <p:nvSpPr>
          <p:cNvPr id="93" name="TextBox 92"/>
          <p:cNvSpPr txBox="1"/>
          <p:nvPr/>
        </p:nvSpPr>
        <p:spPr>
          <a:xfrm>
            <a:off x="7512000" y="6282000"/>
            <a:ext cx="2024000" cy="720000"/>
          </a:xfrm>
          <a:prstGeom prst="rect">
            <a:avLst/>
          </a:prstGeom>
          <a:noFill/>
        </p:spPr>
        <p:txBody>
          <a:bodyPr wrap="square" lIns="0" rIns="0" tIns="0" bIns="0" anchor="ctr">
            <a:noAutofit/>
          </a:bodyPr>
          <a:lstStyle/>
          <a:p>
            <a:pPr algn="ctr" marL="0" indent="0">
              <a:lnSpc>
                <a:spcPts val="5760"/>
              </a:lnSpc>
              <a:spcBef>
                <a:spcPts val="0"/>
              </a:spcBef>
              <a:spcAft>
                <a:spcPts val="0"/>
              </a:spcAft>
              <a:buNone/>
            </a:pPr>
            <a:r>
              <a:rPr sz="4800" b="1" i="0" lang="ko-KR">
                <a:solidFill>
                  <a:srgbClr val="D4A72C"/>
                </a:solidFill>
                <a:latin typeface="맑은 고딕"/>
                <a:ea typeface="맑은 고딕"/>
                <a:cs typeface="맑은 고딕"/>
              </a:rPr>
              <a:t>928</a:t>
            </a:r>
          </a:p>
        </p:txBody>
      </p:sp>
      <p:sp>
        <p:nvSpPr>
          <p:cNvPr id="94" name="TextBox 93"/>
          <p:cNvSpPr txBox="1"/>
          <p:nvPr/>
        </p:nvSpPr>
        <p:spPr>
          <a:xfrm>
            <a:off x="7512000" y="7020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관련 특허출원(건)</a:t>
            </a:r>
          </a:p>
        </p:txBody>
      </p:sp>
      <p:sp>
        <p:nvSpPr>
          <p:cNvPr id="95" name="Rectangle 94"/>
          <p:cNvSpPr/>
          <p:nvPr/>
        </p:nvSpPr>
        <p:spPr>
          <a:xfrm>
            <a:off x="9680000" y="6192000"/>
            <a:ext cx="2024000" cy="1296000"/>
          </a:xfrm>
          <a:prstGeom prst="rect">
            <a:avLst/>
          </a:prstGeom>
          <a:solidFill>
            <a:srgbClr val="13294B"/>
          </a:solidFill>
          <a:ln>
            <a:noFill/>
          </a:ln>
        </p:spPr>
        <p:txBody>
          <a:bodyPr rtlCol="0" anchor="ctr" lIns="54000" rIns="54000" tIns="54000" bIns="54000"/>
          <a:lstStyle/>
          <a:p>
            <a:pPr algn="ctr"/>
          </a:p>
        </p:txBody>
      </p:sp>
      <p:sp>
        <p:nvSpPr>
          <p:cNvPr id="96" name="TextBox 95"/>
          <p:cNvSpPr txBox="1"/>
          <p:nvPr/>
        </p:nvSpPr>
        <p:spPr>
          <a:xfrm>
            <a:off x="9680000" y="6282000"/>
            <a:ext cx="2024000" cy="720000"/>
          </a:xfrm>
          <a:prstGeom prst="rect">
            <a:avLst/>
          </a:prstGeom>
          <a:noFill/>
        </p:spPr>
        <p:txBody>
          <a:bodyPr wrap="square" lIns="0" rIns="0" tIns="0" bIns="0" anchor="ctr">
            <a:noAutofit/>
          </a:bodyPr>
          <a:lstStyle/>
          <a:p>
            <a:pPr algn="ctr" marL="0" indent="0">
              <a:lnSpc>
                <a:spcPts val="5760"/>
              </a:lnSpc>
              <a:spcBef>
                <a:spcPts val="0"/>
              </a:spcBef>
              <a:spcAft>
                <a:spcPts val="0"/>
              </a:spcAft>
              <a:buNone/>
            </a:pPr>
            <a:r>
              <a:rPr sz="4800" b="1" i="0" lang="ko-KR">
                <a:solidFill>
                  <a:srgbClr val="D4A72C"/>
                </a:solidFill>
                <a:latin typeface="맑은 고딕"/>
                <a:ea typeface="맑은 고딕"/>
                <a:cs typeface="맑은 고딕"/>
              </a:rPr>
              <a:t>262</a:t>
            </a:r>
          </a:p>
        </p:txBody>
      </p:sp>
      <p:sp>
        <p:nvSpPr>
          <p:cNvPr id="97" name="TextBox 96"/>
          <p:cNvSpPr txBox="1"/>
          <p:nvPr/>
        </p:nvSpPr>
        <p:spPr>
          <a:xfrm>
            <a:off x="9680000" y="7020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CPC 서브그룹 기호(개)</a:t>
            </a:r>
          </a:p>
        </p:txBody>
      </p:sp>
      <p:sp>
        <p:nvSpPr>
          <p:cNvPr id="98" name="Rectangle 97"/>
          <p:cNvSpPr/>
          <p:nvPr/>
        </p:nvSpPr>
        <p:spPr>
          <a:xfrm>
            <a:off x="11848000" y="6192000"/>
            <a:ext cx="2024000" cy="1296000"/>
          </a:xfrm>
          <a:prstGeom prst="rect">
            <a:avLst/>
          </a:prstGeom>
          <a:solidFill>
            <a:srgbClr val="13294B"/>
          </a:solidFill>
          <a:ln>
            <a:noFill/>
          </a:ln>
        </p:spPr>
        <p:txBody>
          <a:bodyPr rtlCol="0" anchor="ctr" lIns="54000" rIns="54000" tIns="54000" bIns="54000"/>
          <a:lstStyle/>
          <a:p>
            <a:pPr algn="ctr"/>
          </a:p>
        </p:txBody>
      </p:sp>
      <p:sp>
        <p:nvSpPr>
          <p:cNvPr id="99" name="TextBox 98"/>
          <p:cNvSpPr txBox="1"/>
          <p:nvPr/>
        </p:nvSpPr>
        <p:spPr>
          <a:xfrm>
            <a:off x="11848000" y="6282000"/>
            <a:ext cx="2024000" cy="720000"/>
          </a:xfrm>
          <a:prstGeom prst="rect">
            <a:avLst/>
          </a:prstGeom>
          <a:noFill/>
        </p:spPr>
        <p:txBody>
          <a:bodyPr wrap="square" lIns="0" rIns="0" tIns="0" bIns="0" anchor="ctr">
            <a:noAutofit/>
          </a:bodyPr>
          <a:lstStyle/>
          <a:p>
            <a:pPr algn="ctr" marL="0" indent="0">
              <a:lnSpc>
                <a:spcPts val="5760"/>
              </a:lnSpc>
              <a:spcBef>
                <a:spcPts val="0"/>
              </a:spcBef>
              <a:spcAft>
                <a:spcPts val="0"/>
              </a:spcAft>
              <a:buNone/>
            </a:pPr>
            <a:r>
              <a:rPr sz="4800" b="1" i="0" lang="ko-KR">
                <a:solidFill>
                  <a:srgbClr val="D4A72C"/>
                </a:solidFill>
                <a:latin typeface="맑은 고딕"/>
                <a:ea typeface="맑은 고딕"/>
                <a:cs typeface="맑은 고딕"/>
              </a:rPr>
              <a:t>8</a:t>
            </a:r>
          </a:p>
        </p:txBody>
      </p:sp>
      <p:sp>
        <p:nvSpPr>
          <p:cNvPr id="100" name="TextBox 99"/>
          <p:cNvSpPr txBox="1"/>
          <p:nvPr/>
        </p:nvSpPr>
        <p:spPr>
          <a:xfrm>
            <a:off x="11848000" y="7020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출원청(개)</a:t>
            </a:r>
          </a:p>
        </p:txBody>
      </p:sp>
      <p:sp>
        <p:nvSpPr>
          <p:cNvPr id="101" name="TextBox 100"/>
          <p:cNvSpPr txBox="1"/>
          <p:nvPr/>
        </p:nvSpPr>
        <p:spPr>
          <a:xfrm>
            <a:off x="7512000" y="7596000"/>
            <a:ext cx="6396000" cy="1080000"/>
          </a:xfrm>
          <a:prstGeom prst="rect">
            <a:avLst/>
          </a:prstGeom>
          <a:noFill/>
        </p:spPr>
        <p:txBody>
          <a:bodyPr wrap="square" lIns="0" rIns="0" tIns="0" bIns="0" anchor="t">
            <a:noAutofit/>
          </a:bodyPr>
          <a:lstStyle/>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EPO PATSTAT Global에서 CPC </a:t>
            </a:r>
            <a:r>
              <a:rPr sz="1700" b="1" i="0" lang="ko-KR">
                <a:solidFill>
                  <a:srgbClr val="2563C9"/>
                </a:solidFill>
                <a:latin typeface="맑은 고딕"/>
                <a:ea typeface="맑은 고딕"/>
                <a:cs typeface="맑은 고딕"/>
              </a:rPr>
              <a:t>H01L21(제조공정 분류)</a:t>
            </a:r>
            <a:r>
              <a:rPr sz="1700" b="0" i="0" lang="ko-KR">
                <a:solidFill>
                  <a:srgbClr val="1E2532"/>
                </a:solidFill>
                <a:latin typeface="맑은 고딕"/>
                <a:ea typeface="맑은 고딕"/>
                <a:cs typeface="맑은 고딕"/>
              </a:rPr>
              <a:t> 또는 </a:t>
            </a:r>
            <a:r>
              <a:rPr sz="1700" b="1" i="0" lang="ko-KR">
                <a:solidFill>
                  <a:srgbClr val="EA7A28"/>
                </a:solidFill>
                <a:latin typeface="맑은 고딕"/>
                <a:ea typeface="맑은 고딕"/>
                <a:cs typeface="맑은 고딕"/>
              </a:rPr>
              <a:t>H01L24(접합·인터커넥트 분류)</a:t>
            </a:r>
            <a:r>
              <a:rPr sz="1700" b="0" i="0" lang="ko-KR">
                <a:solidFill>
                  <a:srgbClr val="1E2532"/>
                </a:solidFill>
                <a:latin typeface="맑은 고딕"/>
                <a:ea typeface="맑은 고딕"/>
                <a:cs typeface="맑은 고딕"/>
              </a:rPr>
              <a:t> 기호를 가진 출원 중 제목에 hybrid bonding, direct bonding, Cu–Cu 등이 포함된 출원 (1968–2024)</a:t>
            </a:r>
          </a:p>
        </p:txBody>
      </p:sp>
      <p:sp>
        <p:nvSpPr>
          <p:cNvPr id="102" name="Rectangle 101"/>
          <p:cNvSpPr/>
          <p:nvPr/>
        </p:nvSpPr>
        <p:spPr>
          <a:xfrm>
            <a:off x="7440000" y="8784000"/>
            <a:ext cx="6504000" cy="414000"/>
          </a:xfrm>
          <a:prstGeom prst="rect">
            <a:avLst/>
          </a:prstGeom>
          <a:solidFill>
            <a:srgbClr val="E8EEF7"/>
          </a:solidFill>
          <a:ln>
            <a:noFill/>
          </a:ln>
        </p:spPr>
        <p:txBody>
          <a:bodyPr rtlCol="0" anchor="ctr" lIns="54000" rIns="54000" tIns="54000" bIns="54000"/>
          <a:lstStyle/>
          <a:p>
            <a:pPr algn="ctr"/>
          </a:p>
        </p:txBody>
      </p:sp>
      <p:sp>
        <p:nvSpPr>
          <p:cNvPr id="103" name="Rectangle 102"/>
          <p:cNvSpPr/>
          <p:nvPr/>
        </p:nvSpPr>
        <p:spPr>
          <a:xfrm>
            <a:off x="7530000" y="8892000"/>
            <a:ext cx="108000" cy="198000"/>
          </a:xfrm>
          <a:prstGeom prst="rect">
            <a:avLst/>
          </a:prstGeom>
          <a:solidFill>
            <a:srgbClr val="13294B"/>
          </a:solidFill>
          <a:ln>
            <a:noFill/>
          </a:ln>
        </p:spPr>
        <p:txBody>
          <a:bodyPr rtlCol="0" anchor="ctr" lIns="54000" rIns="54000" tIns="54000" bIns="54000"/>
          <a:lstStyle/>
          <a:p>
            <a:pPr algn="ctr"/>
          </a:p>
        </p:txBody>
      </p:sp>
      <p:sp>
        <p:nvSpPr>
          <p:cNvPr id="104" name="TextBox 103"/>
          <p:cNvSpPr txBox="1"/>
          <p:nvPr/>
        </p:nvSpPr>
        <p:spPr>
          <a:xfrm>
            <a:off x="7746000" y="8784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Measurement</a:t>
            </a:r>
            <a:r>
              <a:rPr sz="1800" b="0" i="0" lang="ko-KR">
                <a:solidFill>
                  <a:srgbClr val="13294B"/>
                </a:solidFill>
                <a:latin typeface="맑은 고딕"/>
                <a:ea typeface="맑은 고딕"/>
                <a:cs typeface="맑은 고딕"/>
              </a:rPr>
              <a:t>  ·  공동분류 유형화</a:t>
            </a:r>
          </a:p>
        </p:txBody>
      </p:sp>
      <p:pic>
        <p:nvPicPr>
          <p:cNvPr id="105" name="Picture 104" descr="venn.png"/>
          <p:cNvPicPr>
            <a:picLocks noChangeAspect="1"/>
          </p:cNvPicPr>
          <p:nvPr/>
        </p:nvPicPr>
        <p:blipFill>
          <a:blip r:embed="rId3"/>
          <a:stretch>
            <a:fillRect/>
          </a:stretch>
        </p:blipFill>
        <p:spPr>
          <a:xfrm>
            <a:off x="7620000" y="9360000"/>
            <a:ext cx="6144000" cy="3312664"/>
          </a:xfrm>
          <a:prstGeom prst="rect">
            <a:avLst/>
          </a:prstGeom>
        </p:spPr>
      </p:pic>
      <p:sp>
        <p:nvSpPr>
          <p:cNvPr id="106" name="TextBox 105"/>
          <p:cNvSpPr txBox="1"/>
          <p:nvPr/>
        </p:nvSpPr>
        <p:spPr>
          <a:xfrm>
            <a:off x="7512000" y="12744664"/>
            <a:ext cx="6396000" cy="360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7C3AED"/>
                </a:solidFill>
                <a:latin typeface="맑은 고딕"/>
                <a:ea typeface="맑은 고딕"/>
                <a:cs typeface="맑은 고딕"/>
              </a:rPr>
              <a:t>통합형</a:t>
            </a:r>
            <a:r>
              <a:rPr sz="1600" b="0" i="0" lang="ko-KR">
                <a:solidFill>
                  <a:srgbClr val="1E2532"/>
                </a:solidFill>
                <a:latin typeface="맑은 고딕"/>
                <a:ea typeface="맑은 고딕"/>
                <a:cs typeface="맑은 고딕"/>
              </a:rPr>
              <a:t> = 두 분류가 함께 부여된, 공정 단계의 경계를 넘는 발명</a:t>
            </a:r>
          </a:p>
        </p:txBody>
      </p:sp>
      <p:sp>
        <p:nvSpPr>
          <p:cNvPr id="107" name="Rectangle 106"/>
          <p:cNvSpPr/>
          <p:nvPr/>
        </p:nvSpPr>
        <p:spPr>
          <a:xfrm>
            <a:off x="7440000" y="13248664"/>
            <a:ext cx="6504000" cy="414000"/>
          </a:xfrm>
          <a:prstGeom prst="rect">
            <a:avLst/>
          </a:prstGeom>
          <a:solidFill>
            <a:srgbClr val="E8EEF7"/>
          </a:solidFill>
          <a:ln>
            <a:noFill/>
          </a:ln>
        </p:spPr>
        <p:txBody>
          <a:bodyPr rtlCol="0" anchor="ctr" lIns="54000" rIns="54000" tIns="54000" bIns="54000"/>
          <a:lstStyle/>
          <a:p>
            <a:pPr algn="ctr"/>
          </a:p>
        </p:txBody>
      </p:sp>
      <p:sp>
        <p:nvSpPr>
          <p:cNvPr id="108" name="Rectangle 107"/>
          <p:cNvSpPr/>
          <p:nvPr/>
        </p:nvSpPr>
        <p:spPr>
          <a:xfrm>
            <a:off x="7530000" y="13356664"/>
            <a:ext cx="108000" cy="198000"/>
          </a:xfrm>
          <a:prstGeom prst="rect">
            <a:avLst/>
          </a:prstGeom>
          <a:solidFill>
            <a:srgbClr val="13294B"/>
          </a:solidFill>
          <a:ln>
            <a:noFill/>
          </a:ln>
        </p:spPr>
        <p:txBody>
          <a:bodyPr rtlCol="0" anchor="ctr" lIns="54000" rIns="54000" tIns="54000" bIns="54000"/>
          <a:lstStyle/>
          <a:p>
            <a:pPr algn="ctr"/>
          </a:p>
        </p:txBody>
      </p:sp>
      <p:sp>
        <p:nvSpPr>
          <p:cNvPr id="109" name="TextBox 108"/>
          <p:cNvSpPr txBox="1"/>
          <p:nvPr/>
        </p:nvSpPr>
        <p:spPr>
          <a:xfrm>
            <a:off x="7746000" y="13248664"/>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Core Technology</a:t>
            </a:r>
            <a:r>
              <a:rPr sz="1800" b="0" i="0" lang="ko-KR">
                <a:solidFill>
                  <a:srgbClr val="13294B"/>
                </a:solidFill>
                <a:latin typeface="맑은 고딕"/>
                <a:ea typeface="맑은 고딕"/>
                <a:cs typeface="맑은 고딕"/>
              </a:rPr>
              <a:t>  ·  핵심 기술 식별</a:t>
            </a:r>
          </a:p>
        </p:txBody>
      </p:sp>
      <p:pic>
        <p:nvPicPr>
          <p:cNvPr id="110" name="Picture 109" descr="network_nolegend.png"/>
          <p:cNvPicPr>
            <a:picLocks noChangeAspect="1"/>
          </p:cNvPicPr>
          <p:nvPr/>
        </p:nvPicPr>
        <p:blipFill>
          <a:blip r:embed="rId4"/>
          <a:stretch>
            <a:fillRect/>
          </a:stretch>
        </p:blipFill>
        <p:spPr>
          <a:xfrm>
            <a:off x="7692000" y="13824664"/>
            <a:ext cx="6000000" cy="4426897"/>
          </a:xfrm>
          <a:prstGeom prst="rect">
            <a:avLst/>
          </a:prstGeom>
        </p:spPr>
      </p:pic>
      <p:sp>
        <p:nvSpPr>
          <p:cNvPr id="111" name="Oval 110"/>
          <p:cNvSpPr/>
          <p:nvPr/>
        </p:nvSpPr>
        <p:spPr>
          <a:xfrm>
            <a:off x="7764000" y="18359561"/>
            <a:ext cx="162000" cy="162000"/>
          </a:xfrm>
          <a:prstGeom prst="ellipse">
            <a:avLst/>
          </a:prstGeom>
          <a:solidFill>
            <a:srgbClr val="B5441B"/>
          </a:solidFill>
          <a:ln>
            <a:noFill/>
          </a:ln>
        </p:spPr>
        <p:txBody>
          <a:bodyPr rtlCol="0" anchor="ctr" lIns="54000" rIns="54000" tIns="54000" bIns="54000"/>
          <a:lstStyle/>
          <a:p>
            <a:pPr algn="ctr"/>
          </a:p>
        </p:txBody>
      </p:sp>
      <p:sp>
        <p:nvSpPr>
          <p:cNvPr id="112" name="TextBox 111"/>
          <p:cNvSpPr txBox="1"/>
          <p:nvPr/>
        </p:nvSpPr>
        <p:spPr>
          <a:xfrm>
            <a:off x="7980000" y="18287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핵심 기술</a:t>
            </a:r>
          </a:p>
        </p:txBody>
      </p:sp>
      <p:sp>
        <p:nvSpPr>
          <p:cNvPr id="113" name="Oval 112"/>
          <p:cNvSpPr/>
          <p:nvPr/>
        </p:nvSpPr>
        <p:spPr>
          <a:xfrm>
            <a:off x="9716000" y="18359561"/>
            <a:ext cx="162000" cy="162000"/>
          </a:xfrm>
          <a:prstGeom prst="ellipse">
            <a:avLst/>
          </a:prstGeom>
          <a:solidFill>
            <a:srgbClr val="EFB26A"/>
          </a:solidFill>
          <a:ln>
            <a:noFill/>
          </a:ln>
        </p:spPr>
        <p:txBody>
          <a:bodyPr rtlCol="0" anchor="ctr" lIns="54000" rIns="54000" tIns="54000" bIns="54000"/>
          <a:lstStyle/>
          <a:p>
            <a:pPr algn="ctr"/>
          </a:p>
        </p:txBody>
      </p:sp>
      <p:sp>
        <p:nvSpPr>
          <p:cNvPr id="114" name="TextBox 113"/>
          <p:cNvSpPr txBox="1"/>
          <p:nvPr/>
        </p:nvSpPr>
        <p:spPr>
          <a:xfrm>
            <a:off x="9932000" y="18287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기타 접합 기호</a:t>
            </a:r>
          </a:p>
        </p:txBody>
      </p:sp>
      <p:sp>
        <p:nvSpPr>
          <p:cNvPr id="115" name="Oval 114"/>
          <p:cNvSpPr/>
          <p:nvPr/>
        </p:nvSpPr>
        <p:spPr>
          <a:xfrm>
            <a:off x="11668000" y="18359561"/>
            <a:ext cx="162000" cy="162000"/>
          </a:xfrm>
          <a:prstGeom prst="ellipse">
            <a:avLst/>
          </a:prstGeom>
          <a:solidFill>
            <a:srgbClr val="1F3A5F"/>
          </a:solidFill>
          <a:ln>
            <a:noFill/>
          </a:ln>
        </p:spPr>
        <p:txBody>
          <a:bodyPr rtlCol="0" anchor="ctr" lIns="54000" rIns="54000" tIns="54000" bIns="54000"/>
          <a:lstStyle/>
          <a:p>
            <a:pPr algn="ctr"/>
          </a:p>
        </p:txBody>
      </p:sp>
      <p:sp>
        <p:nvSpPr>
          <p:cNvPr id="116" name="TextBox 115"/>
          <p:cNvSpPr txBox="1"/>
          <p:nvPr/>
        </p:nvSpPr>
        <p:spPr>
          <a:xfrm>
            <a:off x="11884000" y="18287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제조공정 기호</a:t>
            </a:r>
          </a:p>
        </p:txBody>
      </p:sp>
      <p:sp>
        <p:nvSpPr>
          <p:cNvPr id="117" name="TextBox 116"/>
          <p:cNvSpPr txBox="1"/>
          <p:nvPr/>
        </p:nvSpPr>
        <p:spPr>
          <a:xfrm>
            <a:off x="7512000" y="18647561"/>
            <a:ext cx="6396000" cy="684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기술 클러스터(출원 200건 이상 기호)와 기술 네트워크로 핵심 접합 기호 </a:t>
            </a:r>
            <a:r>
              <a:rPr sz="1600" b="1" i="0" lang="ko-KR">
                <a:solidFill>
                  <a:srgbClr val="B5441B"/>
                </a:solidFill>
                <a:latin typeface="맑은 고딕"/>
                <a:ea typeface="맑은 고딕"/>
                <a:cs typeface="맑은 고딕"/>
              </a:rPr>
              <a:t>24/03·05·08·80</a:t>
            </a:r>
            <a:r>
              <a:rPr sz="1600" b="0" i="0" lang="ko-KR">
                <a:solidFill>
                  <a:srgbClr val="1E2532"/>
                </a:solidFill>
                <a:latin typeface="맑은 고딕"/>
                <a:ea typeface="맑은 고딕"/>
                <a:cs typeface="맑은 고딕"/>
              </a:rPr>
              <a:t> 식별 → 접합 출원의 81.3%가 보유</a:t>
            </a:r>
          </a:p>
        </p:txBody>
      </p:sp>
      <p:sp>
        <p:nvSpPr>
          <p:cNvPr id="118" name="Rectangle 117"/>
          <p:cNvSpPr/>
          <p:nvPr/>
        </p:nvSpPr>
        <p:spPr>
          <a:xfrm>
            <a:off x="7440000" y="19439561"/>
            <a:ext cx="6504000" cy="414000"/>
          </a:xfrm>
          <a:prstGeom prst="rect">
            <a:avLst/>
          </a:prstGeom>
          <a:solidFill>
            <a:srgbClr val="E8EEF7"/>
          </a:solidFill>
          <a:ln>
            <a:noFill/>
          </a:ln>
        </p:spPr>
        <p:txBody>
          <a:bodyPr rtlCol="0" anchor="ctr" lIns="54000" rIns="54000" tIns="54000" bIns="54000"/>
          <a:lstStyle/>
          <a:p>
            <a:pPr algn="ctr"/>
          </a:p>
        </p:txBody>
      </p:sp>
      <p:sp>
        <p:nvSpPr>
          <p:cNvPr id="119" name="Rectangle 118"/>
          <p:cNvSpPr/>
          <p:nvPr/>
        </p:nvSpPr>
        <p:spPr>
          <a:xfrm>
            <a:off x="7530000" y="19547561"/>
            <a:ext cx="108000" cy="198000"/>
          </a:xfrm>
          <a:prstGeom prst="rect">
            <a:avLst/>
          </a:prstGeom>
          <a:solidFill>
            <a:srgbClr val="13294B"/>
          </a:solidFill>
          <a:ln>
            <a:noFill/>
          </a:ln>
        </p:spPr>
        <p:txBody>
          <a:bodyPr rtlCol="0" anchor="ctr" lIns="54000" rIns="54000" tIns="54000" bIns="54000"/>
          <a:lstStyle/>
          <a:p>
            <a:pPr algn="ctr"/>
          </a:p>
        </p:txBody>
      </p:sp>
      <p:sp>
        <p:nvSpPr>
          <p:cNvPr id="120" name="TextBox 119"/>
          <p:cNvSpPr txBox="1"/>
          <p:nvPr/>
        </p:nvSpPr>
        <p:spPr>
          <a:xfrm>
            <a:off x="7746000" y="19439561"/>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Models</a:t>
            </a:r>
            <a:r>
              <a:rPr sz="1800" b="0" i="0" lang="ko-KR">
                <a:solidFill>
                  <a:srgbClr val="13294B"/>
                </a:solidFill>
                <a:latin typeface="맑은 고딕"/>
                <a:ea typeface="맑은 고딕"/>
                <a:cs typeface="맑은 고딕"/>
              </a:rPr>
              <a:t>  ·  분석 모형</a:t>
            </a:r>
          </a:p>
        </p:txBody>
      </p:sp>
      <p:graphicFrame>
        <p:nvGraphicFramePr>
          <p:cNvPr id="121" name="Table 120"/>
          <p:cNvGraphicFramePr>
            <a:graphicFrameLocks noGrp="1"/>
          </p:cNvGraphicFramePr>
          <p:nvPr/>
        </p:nvGraphicFramePr>
        <p:xfrm>
          <a:off x="7512000" y="20015561"/>
          <a:ext cx="6145200" cy="2664000"/>
        </p:xfrm>
        <a:graphic>
          <a:graphicData uri="http://schemas.openxmlformats.org/drawingml/2006/table">
            <a:tbl>
              <a:tblPr firstRow="1">
                <a:tableStyleId>{2D5ABB26-0587-4C30-8999-92F81FD0307C}</a:tableStyleId>
              </a:tblPr>
              <a:tblGrid>
                <a:gridCol w="1548000"/>
                <a:gridCol w="1656000"/>
                <a:gridCol w="1800000"/>
                <a:gridCol w="1141200"/>
              </a:tblGrid>
              <a:tr h="666000">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분석</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종속변수</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모형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연구 질문</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r>
              <a:tr h="666000">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유형 구성</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공동분류 유형(3범주)</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다항 로짓</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RQ1·RQ2</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r h="666000">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기술 × 시기</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통합형 여부</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이항 로짓</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RQ3</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r>
              <a:tr h="666000">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융합 구조</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영역별 결합·연결</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Jaccard · 매개 중심성</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RQ3</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bl>
          </a:graphicData>
        </a:graphic>
      </p:graphicFrame>
      <p:sp>
        <p:nvSpPr>
          <p:cNvPr id="122" name="Rectangle 121"/>
          <p:cNvSpPr/>
          <p:nvPr/>
        </p:nvSpPr>
        <p:spPr>
          <a:xfrm>
            <a:off x="14304000" y="4680000"/>
            <a:ext cx="6504000" cy="720000"/>
          </a:xfrm>
          <a:prstGeom prst="rect">
            <a:avLst/>
          </a:prstGeom>
          <a:solidFill>
            <a:srgbClr val="13294B"/>
          </a:solidFill>
          <a:ln>
            <a:noFill/>
          </a:ln>
        </p:spPr>
        <p:txBody>
          <a:bodyPr rtlCol="0" anchor="ctr" lIns="54000" rIns="54000" tIns="54000" bIns="54000"/>
          <a:lstStyle/>
          <a:p>
            <a:pPr algn="ctr"/>
          </a:p>
        </p:txBody>
      </p:sp>
      <p:sp>
        <p:nvSpPr>
          <p:cNvPr id="123" name="Oval 122"/>
          <p:cNvSpPr/>
          <p:nvPr/>
        </p:nvSpPr>
        <p:spPr>
          <a:xfrm>
            <a:off x="14484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3</a:t>
            </a:r>
          </a:p>
        </p:txBody>
      </p:sp>
      <p:sp>
        <p:nvSpPr>
          <p:cNvPr id="124" name="TextBox 123"/>
          <p:cNvSpPr txBox="1"/>
          <p:nvPr/>
        </p:nvSpPr>
        <p:spPr>
          <a:xfrm>
            <a:off x="15132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Evaluation</a:t>
            </a:r>
            <a:r>
              <a:rPr sz="2000" b="0" i="0" lang="ko-KR">
                <a:solidFill>
                  <a:srgbClr val="C8D3E6"/>
                </a:solidFill>
                <a:latin typeface="맑은 고딕"/>
                <a:ea typeface="맑은 고딕"/>
                <a:cs typeface="맑은 고딕"/>
              </a:rPr>
              <a:t>  ·  분석 결과</a:t>
            </a:r>
          </a:p>
        </p:txBody>
      </p:sp>
      <p:sp>
        <p:nvSpPr>
          <p:cNvPr id="125" name="Rectangle 124"/>
          <p:cNvSpPr/>
          <p:nvPr/>
        </p:nvSpPr>
        <p:spPr>
          <a:xfrm>
            <a:off x="14304000" y="5616000"/>
            <a:ext cx="6504000" cy="414000"/>
          </a:xfrm>
          <a:prstGeom prst="rect">
            <a:avLst/>
          </a:prstGeom>
          <a:solidFill>
            <a:srgbClr val="E8EEF7"/>
          </a:solidFill>
          <a:ln>
            <a:noFill/>
          </a:ln>
        </p:spPr>
        <p:txBody>
          <a:bodyPr rtlCol="0" anchor="ctr" lIns="54000" rIns="54000" tIns="54000" bIns="54000"/>
          <a:lstStyle/>
          <a:p>
            <a:pPr algn="ctr"/>
          </a:p>
        </p:txBody>
      </p:sp>
      <p:sp>
        <p:nvSpPr>
          <p:cNvPr id="126" name="Rectangle 125"/>
          <p:cNvSpPr/>
          <p:nvPr/>
        </p:nvSpPr>
        <p:spPr>
          <a:xfrm>
            <a:off x="14394000" y="5724000"/>
            <a:ext cx="108000" cy="198000"/>
          </a:xfrm>
          <a:prstGeom prst="rect">
            <a:avLst/>
          </a:prstGeom>
          <a:solidFill>
            <a:srgbClr val="13294B"/>
          </a:solidFill>
          <a:ln>
            <a:noFill/>
          </a:ln>
        </p:spPr>
        <p:txBody>
          <a:bodyPr rtlCol="0" anchor="ctr" lIns="54000" rIns="54000" tIns="54000" bIns="54000"/>
          <a:lstStyle/>
          <a:p>
            <a:pPr algn="ctr"/>
          </a:p>
        </p:txBody>
      </p:sp>
      <p:sp>
        <p:nvSpPr>
          <p:cNvPr id="127" name="TextBox 126"/>
          <p:cNvSpPr txBox="1"/>
          <p:nvPr/>
        </p:nvSpPr>
        <p:spPr>
          <a:xfrm>
            <a:off x="14610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RQ1</a:t>
            </a:r>
            <a:r>
              <a:rPr sz="1800" b="0" i="0" lang="ko-KR">
                <a:solidFill>
                  <a:srgbClr val="13294B"/>
                </a:solidFill>
                <a:latin typeface="맑은 고딕"/>
                <a:ea typeface="맑은 고딕"/>
                <a:cs typeface="맑은 고딕"/>
              </a:rPr>
              <a:t>  ·  융합의 수준과 유형</a:t>
            </a:r>
          </a:p>
        </p:txBody>
      </p:sp>
      <p:sp>
        <p:nvSpPr>
          <p:cNvPr id="128" name="Rectangle 127"/>
          <p:cNvSpPr/>
          <p:nvPr/>
        </p:nvSpPr>
        <p:spPr>
          <a:xfrm>
            <a:off x="14376000" y="6192000"/>
            <a:ext cx="2024000" cy="1188000"/>
          </a:xfrm>
          <a:prstGeom prst="rect">
            <a:avLst/>
          </a:prstGeom>
          <a:solidFill>
            <a:srgbClr val="FFFFFF"/>
          </a:solidFill>
          <a:ln w="25400">
            <a:solidFill>
              <a:srgbClr val="7C3AED"/>
            </a:solidFill>
          </a:ln>
        </p:spPr>
        <p:txBody>
          <a:bodyPr rtlCol="0" anchor="ctr" lIns="54000" rIns="54000" tIns="54000" bIns="54000"/>
          <a:lstStyle/>
          <a:p>
            <a:pPr algn="ctr"/>
          </a:p>
        </p:txBody>
      </p:sp>
      <p:sp>
        <p:nvSpPr>
          <p:cNvPr id="129" name="TextBox 128"/>
          <p:cNvSpPr txBox="1"/>
          <p:nvPr/>
        </p:nvSpPr>
        <p:spPr>
          <a:xfrm>
            <a:off x="14376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7C3AED"/>
                </a:solidFill>
                <a:latin typeface="맑은 고딕"/>
                <a:ea typeface="맑은 고딕"/>
                <a:cs typeface="맑은 고딕"/>
              </a:rPr>
              <a:t>45.8%</a:t>
            </a:r>
          </a:p>
        </p:txBody>
      </p:sp>
      <p:sp>
        <p:nvSpPr>
          <p:cNvPr id="130" name="TextBox 129"/>
          <p:cNvSpPr txBox="1"/>
          <p:nvPr/>
        </p:nvSpPr>
        <p:spPr>
          <a:xfrm>
            <a:off x="14376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통합형 = 최다 유형</a:t>
            </a:r>
          </a:p>
        </p:txBody>
      </p:sp>
      <p:sp>
        <p:nvSpPr>
          <p:cNvPr id="131" name="Rectangle 130"/>
          <p:cNvSpPr/>
          <p:nvPr/>
        </p:nvSpPr>
        <p:spPr>
          <a:xfrm>
            <a:off x="16544000" y="6192000"/>
            <a:ext cx="2024000" cy="1188000"/>
          </a:xfrm>
          <a:prstGeom prst="rect">
            <a:avLst/>
          </a:prstGeom>
          <a:solidFill>
            <a:srgbClr val="FFFFFF"/>
          </a:solidFill>
          <a:ln w="25400">
            <a:solidFill>
              <a:srgbClr val="9A72E8"/>
            </a:solidFill>
          </a:ln>
        </p:spPr>
        <p:txBody>
          <a:bodyPr rtlCol="0" anchor="ctr" lIns="54000" rIns="54000" tIns="54000" bIns="54000"/>
          <a:lstStyle/>
          <a:p>
            <a:pPr algn="ctr"/>
          </a:p>
        </p:txBody>
      </p:sp>
      <p:sp>
        <p:nvSpPr>
          <p:cNvPr id="132" name="TextBox 131"/>
          <p:cNvSpPr txBox="1"/>
          <p:nvPr/>
        </p:nvSpPr>
        <p:spPr>
          <a:xfrm>
            <a:off x="16544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9A72E8"/>
                </a:solidFill>
                <a:latin typeface="맑은 고딕"/>
                <a:ea typeface="맑은 고딕"/>
                <a:cs typeface="맑은 고딕"/>
              </a:rPr>
              <a:t>37.2%</a:t>
            </a:r>
          </a:p>
        </p:txBody>
      </p:sp>
      <p:sp>
        <p:nvSpPr>
          <p:cNvPr id="133" name="TextBox 132"/>
          <p:cNvSpPr txBox="1"/>
          <p:nvPr/>
        </p:nvSpPr>
        <p:spPr>
          <a:xfrm>
            <a:off x="16544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좁은 정의에서도</a:t>
            </a:r>
          </a:p>
        </p:txBody>
      </p:sp>
      <p:sp>
        <p:nvSpPr>
          <p:cNvPr id="134" name="Rectangle 133"/>
          <p:cNvSpPr/>
          <p:nvPr/>
        </p:nvSpPr>
        <p:spPr>
          <a:xfrm>
            <a:off x="18712000" y="6192000"/>
            <a:ext cx="2024000" cy="1188000"/>
          </a:xfrm>
          <a:prstGeom prst="rect">
            <a:avLst/>
          </a:prstGeom>
          <a:solidFill>
            <a:srgbClr val="FFFFFF"/>
          </a:solidFill>
          <a:ln w="25400">
            <a:solidFill>
              <a:srgbClr val="13294B"/>
            </a:solidFill>
          </a:ln>
        </p:spPr>
        <p:txBody>
          <a:bodyPr rtlCol="0" anchor="ctr" lIns="54000" rIns="54000" tIns="54000" bIns="54000"/>
          <a:lstStyle/>
          <a:p>
            <a:pPr algn="ctr"/>
          </a:p>
        </p:txBody>
      </p:sp>
      <p:sp>
        <p:nvSpPr>
          <p:cNvPr id="135" name="TextBox 134"/>
          <p:cNvSpPr txBox="1"/>
          <p:nvPr/>
        </p:nvSpPr>
        <p:spPr>
          <a:xfrm>
            <a:off x="18712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13294B"/>
                </a:solidFill>
                <a:latin typeface="맑은 고딕"/>
                <a:ea typeface="맑은 고딕"/>
                <a:cs typeface="맑은 고딕"/>
              </a:rPr>
              <a:t>1.40배</a:t>
            </a:r>
          </a:p>
        </p:txBody>
      </p:sp>
      <p:sp>
        <p:nvSpPr>
          <p:cNvPr id="136" name="TextBox 135"/>
          <p:cNvSpPr txBox="1"/>
          <p:nvPr/>
        </p:nvSpPr>
        <p:spPr>
          <a:xfrm>
            <a:off x="18712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기술범위 1 증가 시 RRR</a:t>
            </a:r>
          </a:p>
        </p:txBody>
      </p:sp>
      <p:sp>
        <p:nvSpPr>
          <p:cNvPr id="137" name="TextBox 136"/>
          <p:cNvSpPr txBox="1"/>
          <p:nvPr/>
        </p:nvSpPr>
        <p:spPr>
          <a:xfrm>
            <a:off x="14376000" y="7488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기술범위(CPC 서브그룹 수)별 예측확률</a:t>
            </a:r>
          </a:p>
        </p:txBody>
      </p:sp>
      <p:graphicFrame>
        <p:nvGraphicFramePr>
          <p:cNvPr id="138" name="Chart 137"/>
          <p:cNvGraphicFramePr>
            <a:graphicFrameLocks noGrp="1"/>
          </p:cNvGraphicFramePr>
          <p:nvPr/>
        </p:nvGraphicFramePr>
        <p:xfrm>
          <a:off x="14304000" y="7740000"/>
          <a:ext cx="6504000" cy="3240000"/>
        </p:xfrm>
        <a:graphic>
          <a:graphicData uri="http://schemas.openxmlformats.org/drawingml/2006/chart">
            <c:chart xmlns:c="http://schemas.openxmlformats.org/drawingml/2006/chart" r:id="rId5"/>
          </a:graphicData>
        </a:graphic>
      </p:graphicFrame>
      <p:pic>
        <p:nvPicPr>
          <p:cNvPr id="139" name="Picture 138" descr="FaArrowRightLong_C9A227.png"/>
          <p:cNvPicPr>
            <a:picLocks noChangeAspect="1"/>
          </p:cNvPicPr>
          <p:nvPr/>
        </p:nvPicPr>
        <p:blipFill>
          <a:blip r:embed="rId6"/>
          <a:stretch>
            <a:fillRect/>
          </a:stretch>
        </p:blipFill>
        <p:spPr>
          <a:xfrm>
            <a:off x="14340000" y="11142000"/>
            <a:ext cx="288000" cy="288000"/>
          </a:xfrm>
          <a:prstGeom prst="rect">
            <a:avLst/>
          </a:prstGeom>
        </p:spPr>
      </p:pic>
      <p:sp>
        <p:nvSpPr>
          <p:cNvPr id="140" name="TextBox 139"/>
          <p:cNvSpPr txBox="1"/>
          <p:nvPr/>
        </p:nvSpPr>
        <p:spPr>
          <a:xfrm>
            <a:off x="14718000" y="11016000"/>
            <a:ext cx="6072000" cy="54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세부 기술이 다양한 출원일수록 통합형 (RRR 1.403***)</a:t>
            </a:r>
          </a:p>
        </p:txBody>
      </p:sp>
      <p:sp>
        <p:nvSpPr>
          <p:cNvPr id="141" name="Rectangle 140"/>
          <p:cNvSpPr/>
          <p:nvPr/>
        </p:nvSpPr>
        <p:spPr>
          <a:xfrm>
            <a:off x="14304000" y="11664000"/>
            <a:ext cx="6504000" cy="414000"/>
          </a:xfrm>
          <a:prstGeom prst="rect">
            <a:avLst/>
          </a:prstGeom>
          <a:solidFill>
            <a:srgbClr val="E8EEF7"/>
          </a:solidFill>
          <a:ln>
            <a:noFill/>
          </a:ln>
        </p:spPr>
        <p:txBody>
          <a:bodyPr rtlCol="0" anchor="ctr" lIns="54000" rIns="54000" tIns="54000" bIns="54000"/>
          <a:lstStyle/>
          <a:p>
            <a:pPr algn="ctr"/>
          </a:p>
        </p:txBody>
      </p:sp>
      <p:sp>
        <p:nvSpPr>
          <p:cNvPr id="142" name="Rectangle 141"/>
          <p:cNvSpPr/>
          <p:nvPr/>
        </p:nvSpPr>
        <p:spPr>
          <a:xfrm>
            <a:off x="14394000" y="11772000"/>
            <a:ext cx="108000" cy="198000"/>
          </a:xfrm>
          <a:prstGeom prst="rect">
            <a:avLst/>
          </a:prstGeom>
          <a:solidFill>
            <a:srgbClr val="13294B"/>
          </a:solidFill>
          <a:ln>
            <a:noFill/>
          </a:ln>
        </p:spPr>
        <p:txBody>
          <a:bodyPr rtlCol="0" anchor="ctr" lIns="54000" rIns="54000" tIns="54000" bIns="54000"/>
          <a:lstStyle/>
          <a:p>
            <a:pPr algn="ctr"/>
          </a:p>
        </p:txBody>
      </p:sp>
      <p:sp>
        <p:nvSpPr>
          <p:cNvPr id="143" name="TextBox 142"/>
          <p:cNvSpPr txBox="1"/>
          <p:nvPr/>
        </p:nvSpPr>
        <p:spPr>
          <a:xfrm>
            <a:off x="14610000" y="11664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RQ2</a:t>
            </a:r>
            <a:r>
              <a:rPr sz="1800" b="0" i="0" lang="ko-KR">
                <a:solidFill>
                  <a:srgbClr val="13294B"/>
                </a:solidFill>
                <a:latin typeface="맑은 고딕"/>
                <a:ea typeface="맑은 고딕"/>
                <a:cs typeface="맑은 고딕"/>
              </a:rPr>
              <a:t>  ·  시간적 변화</a:t>
            </a:r>
          </a:p>
        </p:txBody>
      </p:sp>
      <p:sp>
        <p:nvSpPr>
          <p:cNvPr id="144" name="TextBox 143"/>
          <p:cNvSpPr txBox="1"/>
          <p:nvPr/>
        </p:nvSpPr>
        <p:spPr>
          <a:xfrm>
            <a:off x="14376000" y="12240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시기별 공동분류 유형 구성비 (%)</a:t>
            </a:r>
          </a:p>
        </p:txBody>
      </p:sp>
      <p:graphicFrame>
        <p:nvGraphicFramePr>
          <p:cNvPr id="145" name="Chart 144"/>
          <p:cNvGraphicFramePr>
            <a:graphicFrameLocks noGrp="1"/>
          </p:cNvGraphicFramePr>
          <p:nvPr/>
        </p:nvGraphicFramePr>
        <p:xfrm>
          <a:off x="14304000" y="12492000"/>
          <a:ext cx="6504000" cy="3816000"/>
        </p:xfrm>
        <a:graphic>
          <a:graphicData uri="http://schemas.openxmlformats.org/drawingml/2006/chart">
            <c:chart xmlns:c="http://schemas.openxmlformats.org/drawingml/2006/chart" r:id="rId7"/>
          </a:graphicData>
        </a:graphic>
      </p:graphicFrame>
      <p:pic>
        <p:nvPicPr>
          <p:cNvPr id="146" name="Picture 145" descr="FaArrowRightLong_C9A227.png"/>
          <p:cNvPicPr>
            <a:picLocks noChangeAspect="1"/>
          </p:cNvPicPr>
          <p:nvPr/>
        </p:nvPicPr>
        <p:blipFill>
          <a:blip r:embed="rId6"/>
          <a:stretch>
            <a:fillRect/>
          </a:stretch>
        </p:blipFill>
        <p:spPr>
          <a:xfrm>
            <a:off x="14340000" y="16470000"/>
            <a:ext cx="288000" cy="288000"/>
          </a:xfrm>
          <a:prstGeom prst="rect">
            <a:avLst/>
          </a:prstGeom>
        </p:spPr>
      </p:pic>
      <p:sp>
        <p:nvSpPr>
          <p:cNvPr id="147" name="TextBox 146"/>
          <p:cNvSpPr txBox="1"/>
          <p:nvPr/>
        </p:nvSpPr>
        <p:spPr>
          <a:xfrm>
            <a:off x="14718000" y="16344000"/>
            <a:ext cx="6072000" cy="54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통합형 31.3% → 62.2% → 44.3%, 무게중심은 제조공정 → 접합</a:t>
            </a:r>
          </a:p>
        </p:txBody>
      </p:sp>
      <p:sp>
        <p:nvSpPr>
          <p:cNvPr id="148" name="Rectangle 147"/>
          <p:cNvSpPr/>
          <p:nvPr/>
        </p:nvSpPr>
        <p:spPr>
          <a:xfrm>
            <a:off x="14304000" y="16992000"/>
            <a:ext cx="6504000" cy="414000"/>
          </a:xfrm>
          <a:prstGeom prst="rect">
            <a:avLst/>
          </a:prstGeom>
          <a:solidFill>
            <a:srgbClr val="E8EEF7"/>
          </a:solidFill>
          <a:ln>
            <a:noFill/>
          </a:ln>
        </p:spPr>
        <p:txBody>
          <a:bodyPr rtlCol="0" anchor="ctr" lIns="54000" rIns="54000" tIns="54000" bIns="54000"/>
          <a:lstStyle/>
          <a:p>
            <a:pPr algn="ctr"/>
          </a:p>
        </p:txBody>
      </p:sp>
      <p:sp>
        <p:nvSpPr>
          <p:cNvPr id="149" name="Rectangle 148"/>
          <p:cNvSpPr/>
          <p:nvPr/>
        </p:nvSpPr>
        <p:spPr>
          <a:xfrm>
            <a:off x="14394000" y="17100000"/>
            <a:ext cx="108000" cy="198000"/>
          </a:xfrm>
          <a:prstGeom prst="rect">
            <a:avLst/>
          </a:prstGeom>
          <a:solidFill>
            <a:srgbClr val="13294B"/>
          </a:solidFill>
          <a:ln>
            <a:noFill/>
          </a:ln>
        </p:spPr>
        <p:txBody>
          <a:bodyPr rtlCol="0" anchor="ctr" lIns="54000" rIns="54000" tIns="54000" bIns="54000"/>
          <a:lstStyle/>
          <a:p>
            <a:pPr algn="ctr"/>
          </a:p>
        </p:txBody>
      </p:sp>
      <p:sp>
        <p:nvSpPr>
          <p:cNvPr id="150" name="TextBox 149"/>
          <p:cNvSpPr txBox="1"/>
          <p:nvPr/>
        </p:nvSpPr>
        <p:spPr>
          <a:xfrm>
            <a:off x="14610000" y="16992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RQ3</a:t>
            </a:r>
            <a:r>
              <a:rPr sz="1800" b="0" i="0" lang="ko-KR">
                <a:solidFill>
                  <a:srgbClr val="13294B"/>
                </a:solidFill>
                <a:latin typeface="맑은 고딕"/>
                <a:ea typeface="맑은 고딕"/>
                <a:cs typeface="맑은 고딕"/>
              </a:rPr>
              <a:t>  ·  구조적 중심 변화</a:t>
            </a:r>
          </a:p>
        </p:txBody>
      </p:sp>
      <p:sp>
        <p:nvSpPr>
          <p:cNvPr id="151" name="TextBox 150"/>
          <p:cNvSpPr txBox="1"/>
          <p:nvPr/>
        </p:nvSpPr>
        <p:spPr>
          <a:xfrm>
            <a:off x="14376000" y="17568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핵심 기술 보유 → 통합형 승산비 (95% CI)</a:t>
            </a:r>
          </a:p>
        </p:txBody>
      </p:sp>
      <p:cxnSp>
        <p:nvCxnSpPr>
          <p:cNvPr id="152" name="Connector 151"/>
          <p:cNvCxnSpPr/>
          <p:nvPr/>
        </p:nvCxnSpPr>
        <p:spPr>
          <a:xfrm>
            <a:off x="16954286" y="17892000"/>
            <a:ext cx="0" cy="1188000"/>
          </a:xfrm>
          <a:prstGeom prst="line">
            <a:avLst/>
          </a:prstGeom>
          <a:ln w="19050">
            <a:solidFill>
              <a:srgbClr val="9AA3B2"/>
            </a:solidFill>
            <a:prstDash val="dash"/>
          </a:ln>
        </p:spPr>
      </p:cxnSp>
      <p:sp>
        <p:nvSpPr>
          <p:cNvPr id="153" name="TextBox 152"/>
          <p:cNvSpPr txBox="1"/>
          <p:nvPr/>
        </p:nvSpPr>
        <p:spPr>
          <a:xfrm>
            <a:off x="14376000" y="17910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2563C9"/>
                </a:solidFill>
                <a:latin typeface="맑은 고딕"/>
                <a:ea typeface="맑은 고딕"/>
                <a:cs typeface="맑은 고딕"/>
              </a:rPr>
              <a:t>형성기</a:t>
            </a:r>
          </a:p>
        </p:txBody>
      </p:sp>
      <p:cxnSp>
        <p:nvCxnSpPr>
          <p:cNvPr id="154" name="Connector 153"/>
          <p:cNvCxnSpPr/>
          <p:nvPr/>
        </p:nvCxnSpPr>
        <p:spPr>
          <a:xfrm>
            <a:off x="18433460" y="18072000"/>
            <a:ext cx="1989049" cy="0"/>
          </a:xfrm>
          <a:prstGeom prst="line">
            <a:avLst/>
          </a:prstGeom>
          <a:ln w="44450">
            <a:solidFill>
              <a:srgbClr val="2563C9"/>
            </a:solidFill>
          </a:ln>
        </p:spPr>
      </p:cxnSp>
      <p:sp>
        <p:nvSpPr>
          <p:cNvPr id="155" name="Oval 154"/>
          <p:cNvSpPr/>
          <p:nvPr/>
        </p:nvSpPr>
        <p:spPr>
          <a:xfrm>
            <a:off x="19319974" y="17964000"/>
            <a:ext cx="216000" cy="216000"/>
          </a:xfrm>
          <a:prstGeom prst="ellipse">
            <a:avLst/>
          </a:prstGeom>
          <a:solidFill>
            <a:srgbClr val="2563C9"/>
          </a:solidFill>
          <a:ln>
            <a:noFill/>
          </a:ln>
        </p:spPr>
        <p:txBody>
          <a:bodyPr rtlCol="0" anchor="ctr" lIns="54000" rIns="54000" tIns="54000" bIns="54000"/>
          <a:lstStyle/>
          <a:p>
            <a:pPr algn="ctr"/>
          </a:p>
        </p:txBody>
      </p:sp>
      <p:sp>
        <p:nvSpPr>
          <p:cNvPr id="156" name="TextBox 155"/>
          <p:cNvSpPr txBox="1"/>
          <p:nvPr/>
        </p:nvSpPr>
        <p:spPr>
          <a:xfrm>
            <a:off x="18203974" y="17730000"/>
            <a:ext cx="1080000" cy="216000"/>
          </a:xfrm>
          <a:prstGeom prst="rect">
            <a:avLst/>
          </a:prstGeom>
          <a:noFill/>
        </p:spPr>
        <p:txBody>
          <a:bodyPr wrap="square" lIns="0" rIns="0" tIns="0" bIns="0" anchor="t">
            <a:noAutofit/>
          </a:bodyPr>
          <a:lstStyle/>
          <a:p>
            <a:pPr algn="r" marL="0" indent="0">
              <a:lnSpc>
                <a:spcPts val="1680"/>
              </a:lnSpc>
              <a:spcBef>
                <a:spcPts val="0"/>
              </a:spcBef>
              <a:spcAft>
                <a:spcPts val="0"/>
              </a:spcAft>
              <a:buNone/>
            </a:pPr>
            <a:r>
              <a:rPr sz="1400" b="1" i="0" lang="ko-KR">
                <a:solidFill>
                  <a:srgbClr val="2563C9"/>
                </a:solidFill>
                <a:latin typeface="맑은 고딕"/>
                <a:ea typeface="맑은 고딕"/>
                <a:cs typeface="맑은 고딕"/>
              </a:rPr>
              <a:t>11.07***</a:t>
            </a:r>
          </a:p>
        </p:txBody>
      </p:sp>
      <p:sp>
        <p:nvSpPr>
          <p:cNvPr id="157" name="TextBox 156"/>
          <p:cNvSpPr txBox="1"/>
          <p:nvPr/>
        </p:nvSpPr>
        <p:spPr>
          <a:xfrm>
            <a:off x="14376000" y="18306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7C3AED"/>
                </a:solidFill>
                <a:latin typeface="맑은 고딕"/>
                <a:ea typeface="맑은 고딕"/>
                <a:cs typeface="맑은 고딕"/>
              </a:rPr>
              <a:t>확산기</a:t>
            </a:r>
          </a:p>
        </p:txBody>
      </p:sp>
      <p:cxnSp>
        <p:nvCxnSpPr>
          <p:cNvPr id="158" name="Connector 157"/>
          <p:cNvCxnSpPr/>
          <p:nvPr/>
        </p:nvCxnSpPr>
        <p:spPr>
          <a:xfrm>
            <a:off x="17105212" y="18468000"/>
            <a:ext cx="1544104" cy="0"/>
          </a:xfrm>
          <a:prstGeom prst="line">
            <a:avLst/>
          </a:prstGeom>
          <a:ln w="44450">
            <a:solidFill>
              <a:srgbClr val="7C3AED"/>
            </a:solidFill>
          </a:ln>
        </p:spPr>
      </p:cxnSp>
      <p:sp>
        <p:nvSpPr>
          <p:cNvPr id="159" name="Oval 158"/>
          <p:cNvSpPr/>
          <p:nvPr/>
        </p:nvSpPr>
        <p:spPr>
          <a:xfrm>
            <a:off x="17769063" y="18360000"/>
            <a:ext cx="216000" cy="216000"/>
          </a:xfrm>
          <a:prstGeom prst="ellipse">
            <a:avLst/>
          </a:prstGeom>
          <a:solidFill>
            <a:srgbClr val="7C3AED"/>
          </a:solidFill>
          <a:ln>
            <a:noFill/>
          </a:ln>
        </p:spPr>
        <p:txBody>
          <a:bodyPr rtlCol="0" anchor="ctr" lIns="54000" rIns="54000" tIns="54000" bIns="54000"/>
          <a:lstStyle/>
          <a:p>
            <a:pPr algn="ctr"/>
          </a:p>
        </p:txBody>
      </p:sp>
      <p:sp>
        <p:nvSpPr>
          <p:cNvPr id="160" name="TextBox 159"/>
          <p:cNvSpPr txBox="1"/>
          <p:nvPr/>
        </p:nvSpPr>
        <p:spPr>
          <a:xfrm>
            <a:off x="18721316" y="18352800"/>
            <a:ext cx="129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7C3AED"/>
                </a:solidFill>
                <a:latin typeface="맑은 고딕"/>
                <a:ea typeface="맑은 고딕"/>
                <a:cs typeface="맑은 고딕"/>
              </a:rPr>
              <a:t>2.45**</a:t>
            </a:r>
          </a:p>
        </p:txBody>
      </p:sp>
      <p:sp>
        <p:nvSpPr>
          <p:cNvPr id="161" name="TextBox 160"/>
          <p:cNvSpPr txBox="1"/>
          <p:nvPr/>
        </p:nvSpPr>
        <p:spPr>
          <a:xfrm>
            <a:off x="14376000" y="18702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EA7A28"/>
                </a:solidFill>
                <a:latin typeface="맑은 고딕"/>
                <a:ea typeface="맑은 고딕"/>
                <a:cs typeface="맑은 고딕"/>
              </a:rPr>
              <a:t>재편기</a:t>
            </a:r>
          </a:p>
        </p:txBody>
      </p:sp>
      <p:cxnSp>
        <p:nvCxnSpPr>
          <p:cNvPr id="162" name="Connector 161"/>
          <p:cNvCxnSpPr/>
          <p:nvPr/>
        </p:nvCxnSpPr>
        <p:spPr>
          <a:xfrm>
            <a:off x="15942415" y="18864000"/>
            <a:ext cx="1164572" cy="0"/>
          </a:xfrm>
          <a:prstGeom prst="line">
            <a:avLst/>
          </a:prstGeom>
          <a:ln w="44450">
            <a:solidFill>
              <a:srgbClr val="EA7A28"/>
            </a:solidFill>
          </a:ln>
        </p:spPr>
      </p:cxnSp>
      <p:sp>
        <p:nvSpPr>
          <p:cNvPr id="163" name="Oval 162"/>
          <p:cNvSpPr/>
          <p:nvPr/>
        </p:nvSpPr>
        <p:spPr>
          <a:xfrm>
            <a:off x="16415661" y="18756000"/>
            <a:ext cx="216000" cy="216000"/>
          </a:xfrm>
          <a:prstGeom prst="ellipse">
            <a:avLst/>
          </a:prstGeom>
          <a:solidFill>
            <a:srgbClr val="EA7A28"/>
          </a:solidFill>
          <a:ln>
            <a:noFill/>
          </a:ln>
        </p:spPr>
        <p:txBody>
          <a:bodyPr rtlCol="0" anchor="ctr" lIns="54000" rIns="54000" tIns="54000" bIns="54000"/>
          <a:lstStyle/>
          <a:p>
            <a:pPr algn="ctr"/>
          </a:p>
        </p:txBody>
      </p:sp>
      <p:sp>
        <p:nvSpPr>
          <p:cNvPr id="164" name="TextBox 163"/>
          <p:cNvSpPr txBox="1"/>
          <p:nvPr/>
        </p:nvSpPr>
        <p:spPr>
          <a:xfrm>
            <a:off x="17178987" y="18748800"/>
            <a:ext cx="129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EA7A28"/>
                </a:solidFill>
                <a:latin typeface="맑은 고딕"/>
                <a:ea typeface="맑은 고딕"/>
                <a:cs typeface="맑은 고딕"/>
              </a:rPr>
              <a:t>0.66 (비유의)</a:t>
            </a:r>
          </a:p>
        </p:txBody>
      </p:sp>
      <p:cxnSp>
        <p:nvCxnSpPr>
          <p:cNvPr id="165" name="Connector 164"/>
          <p:cNvCxnSpPr/>
          <p:nvPr/>
        </p:nvCxnSpPr>
        <p:spPr>
          <a:xfrm>
            <a:off x="15528000" y="19116000"/>
            <a:ext cx="4992000" cy="0"/>
          </a:xfrm>
          <a:prstGeom prst="line">
            <a:avLst/>
          </a:prstGeom>
          <a:ln w="15875">
            <a:solidFill>
              <a:srgbClr val="9AA3B2"/>
            </a:solidFill>
          </a:ln>
        </p:spPr>
      </p:cxnSp>
      <p:cxnSp>
        <p:nvCxnSpPr>
          <p:cNvPr id="166" name="Connector 165"/>
          <p:cNvCxnSpPr/>
          <p:nvPr/>
        </p:nvCxnSpPr>
        <p:spPr>
          <a:xfrm>
            <a:off x="15528000" y="19116000"/>
            <a:ext cx="0" cy="64800"/>
          </a:xfrm>
          <a:prstGeom prst="line">
            <a:avLst/>
          </a:prstGeom>
          <a:ln w="15875">
            <a:solidFill>
              <a:srgbClr val="9AA3B2"/>
            </a:solidFill>
          </a:ln>
        </p:spPr>
      </p:cxnSp>
      <p:sp>
        <p:nvSpPr>
          <p:cNvPr id="167" name="TextBox 166"/>
          <p:cNvSpPr txBox="1"/>
          <p:nvPr/>
        </p:nvSpPr>
        <p:spPr>
          <a:xfrm>
            <a:off x="15240000" y="1918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0.25</a:t>
            </a:r>
          </a:p>
        </p:txBody>
      </p:sp>
      <p:cxnSp>
        <p:nvCxnSpPr>
          <p:cNvPr id="168" name="Connector 167"/>
          <p:cNvCxnSpPr/>
          <p:nvPr/>
        </p:nvCxnSpPr>
        <p:spPr>
          <a:xfrm>
            <a:off x="16241143" y="19116000"/>
            <a:ext cx="0" cy="64800"/>
          </a:xfrm>
          <a:prstGeom prst="line">
            <a:avLst/>
          </a:prstGeom>
          <a:ln w="15875">
            <a:solidFill>
              <a:srgbClr val="9AA3B2"/>
            </a:solidFill>
          </a:ln>
        </p:spPr>
      </p:cxnSp>
      <p:sp>
        <p:nvSpPr>
          <p:cNvPr id="169" name="TextBox 168"/>
          <p:cNvSpPr txBox="1"/>
          <p:nvPr/>
        </p:nvSpPr>
        <p:spPr>
          <a:xfrm>
            <a:off x="15953143" y="1918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0.5</a:t>
            </a:r>
          </a:p>
        </p:txBody>
      </p:sp>
      <p:cxnSp>
        <p:nvCxnSpPr>
          <p:cNvPr id="170" name="Connector 169"/>
          <p:cNvCxnSpPr/>
          <p:nvPr/>
        </p:nvCxnSpPr>
        <p:spPr>
          <a:xfrm>
            <a:off x="16954286" y="19116000"/>
            <a:ext cx="0" cy="64800"/>
          </a:xfrm>
          <a:prstGeom prst="line">
            <a:avLst/>
          </a:prstGeom>
          <a:ln w="15875">
            <a:solidFill>
              <a:srgbClr val="9AA3B2"/>
            </a:solidFill>
          </a:ln>
        </p:spPr>
      </p:cxnSp>
      <p:sp>
        <p:nvSpPr>
          <p:cNvPr id="171" name="TextBox 170"/>
          <p:cNvSpPr txBox="1"/>
          <p:nvPr/>
        </p:nvSpPr>
        <p:spPr>
          <a:xfrm>
            <a:off x="16666286" y="1918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a:t>
            </a:r>
          </a:p>
        </p:txBody>
      </p:sp>
      <p:cxnSp>
        <p:nvCxnSpPr>
          <p:cNvPr id="172" name="Connector 171"/>
          <p:cNvCxnSpPr/>
          <p:nvPr/>
        </p:nvCxnSpPr>
        <p:spPr>
          <a:xfrm>
            <a:off x="17667429" y="19116000"/>
            <a:ext cx="0" cy="64800"/>
          </a:xfrm>
          <a:prstGeom prst="line">
            <a:avLst/>
          </a:prstGeom>
          <a:ln w="15875">
            <a:solidFill>
              <a:srgbClr val="9AA3B2"/>
            </a:solidFill>
          </a:ln>
        </p:spPr>
      </p:cxnSp>
      <p:sp>
        <p:nvSpPr>
          <p:cNvPr id="173" name="TextBox 172"/>
          <p:cNvSpPr txBox="1"/>
          <p:nvPr/>
        </p:nvSpPr>
        <p:spPr>
          <a:xfrm>
            <a:off x="17379429" y="1918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2</a:t>
            </a:r>
          </a:p>
        </p:txBody>
      </p:sp>
      <p:cxnSp>
        <p:nvCxnSpPr>
          <p:cNvPr id="174" name="Connector 173"/>
          <p:cNvCxnSpPr/>
          <p:nvPr/>
        </p:nvCxnSpPr>
        <p:spPr>
          <a:xfrm>
            <a:off x="18380571" y="19116000"/>
            <a:ext cx="0" cy="64800"/>
          </a:xfrm>
          <a:prstGeom prst="line">
            <a:avLst/>
          </a:prstGeom>
          <a:ln w="15875">
            <a:solidFill>
              <a:srgbClr val="9AA3B2"/>
            </a:solidFill>
          </a:ln>
        </p:spPr>
      </p:cxnSp>
      <p:sp>
        <p:nvSpPr>
          <p:cNvPr id="175" name="TextBox 174"/>
          <p:cNvSpPr txBox="1"/>
          <p:nvPr/>
        </p:nvSpPr>
        <p:spPr>
          <a:xfrm>
            <a:off x="18092571" y="1918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4</a:t>
            </a:r>
          </a:p>
        </p:txBody>
      </p:sp>
      <p:cxnSp>
        <p:nvCxnSpPr>
          <p:cNvPr id="176" name="Connector 175"/>
          <p:cNvCxnSpPr/>
          <p:nvPr/>
        </p:nvCxnSpPr>
        <p:spPr>
          <a:xfrm>
            <a:off x="19093714" y="19116000"/>
            <a:ext cx="0" cy="64800"/>
          </a:xfrm>
          <a:prstGeom prst="line">
            <a:avLst/>
          </a:prstGeom>
          <a:ln w="15875">
            <a:solidFill>
              <a:srgbClr val="9AA3B2"/>
            </a:solidFill>
          </a:ln>
        </p:spPr>
      </p:cxnSp>
      <p:sp>
        <p:nvSpPr>
          <p:cNvPr id="177" name="TextBox 176"/>
          <p:cNvSpPr txBox="1"/>
          <p:nvPr/>
        </p:nvSpPr>
        <p:spPr>
          <a:xfrm>
            <a:off x="18805714" y="1918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8</a:t>
            </a:r>
          </a:p>
        </p:txBody>
      </p:sp>
      <p:cxnSp>
        <p:nvCxnSpPr>
          <p:cNvPr id="178" name="Connector 177"/>
          <p:cNvCxnSpPr/>
          <p:nvPr/>
        </p:nvCxnSpPr>
        <p:spPr>
          <a:xfrm>
            <a:off x="19806857" y="19116000"/>
            <a:ext cx="0" cy="64800"/>
          </a:xfrm>
          <a:prstGeom prst="line">
            <a:avLst/>
          </a:prstGeom>
          <a:ln w="15875">
            <a:solidFill>
              <a:srgbClr val="9AA3B2"/>
            </a:solidFill>
          </a:ln>
        </p:spPr>
      </p:cxnSp>
      <p:sp>
        <p:nvSpPr>
          <p:cNvPr id="179" name="TextBox 178"/>
          <p:cNvSpPr txBox="1"/>
          <p:nvPr/>
        </p:nvSpPr>
        <p:spPr>
          <a:xfrm>
            <a:off x="19518857" y="1918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16</a:t>
            </a:r>
          </a:p>
        </p:txBody>
      </p:sp>
      <p:cxnSp>
        <p:nvCxnSpPr>
          <p:cNvPr id="180" name="Connector 179"/>
          <p:cNvCxnSpPr/>
          <p:nvPr/>
        </p:nvCxnSpPr>
        <p:spPr>
          <a:xfrm>
            <a:off x="20520000" y="19116000"/>
            <a:ext cx="0" cy="64800"/>
          </a:xfrm>
          <a:prstGeom prst="line">
            <a:avLst/>
          </a:prstGeom>
          <a:ln w="15875">
            <a:solidFill>
              <a:srgbClr val="9AA3B2"/>
            </a:solidFill>
          </a:ln>
        </p:spPr>
      </p:cxnSp>
      <p:sp>
        <p:nvSpPr>
          <p:cNvPr id="181" name="TextBox 180"/>
          <p:cNvSpPr txBox="1"/>
          <p:nvPr/>
        </p:nvSpPr>
        <p:spPr>
          <a:xfrm>
            <a:off x="20232000" y="19180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32</a:t>
            </a:r>
          </a:p>
        </p:txBody>
      </p:sp>
      <p:sp>
        <p:nvSpPr>
          <p:cNvPr id="182" name="TextBox 181"/>
          <p:cNvSpPr txBox="1"/>
          <p:nvPr/>
        </p:nvSpPr>
        <p:spPr>
          <a:xfrm>
            <a:off x="14376000" y="19404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제조공정 영역별 접합 기호와의 결합 강도 (Jaccard)</a:t>
            </a:r>
          </a:p>
        </p:txBody>
      </p:sp>
      <p:graphicFrame>
        <p:nvGraphicFramePr>
          <p:cNvPr id="183" name="Chart 182"/>
          <p:cNvGraphicFramePr>
            <a:graphicFrameLocks noGrp="1"/>
          </p:cNvGraphicFramePr>
          <p:nvPr/>
        </p:nvGraphicFramePr>
        <p:xfrm>
          <a:off x="14304000" y="19656000"/>
          <a:ext cx="6504000" cy="2736000"/>
        </p:xfrm>
        <a:graphic>
          <a:graphicData uri="http://schemas.openxmlformats.org/drawingml/2006/chart">
            <c:chart xmlns:c="http://schemas.openxmlformats.org/drawingml/2006/chart" r:id="rId8"/>
          </a:graphicData>
        </a:graphic>
      </p:graphicFrame>
      <p:pic>
        <p:nvPicPr>
          <p:cNvPr id="184" name="Picture 183" descr="FaArrowRightLong_C9A227.png"/>
          <p:cNvPicPr>
            <a:picLocks noChangeAspect="1"/>
          </p:cNvPicPr>
          <p:nvPr/>
        </p:nvPicPr>
        <p:blipFill>
          <a:blip r:embed="rId6"/>
          <a:stretch>
            <a:fillRect/>
          </a:stretch>
        </p:blipFill>
        <p:spPr>
          <a:xfrm>
            <a:off x="14340000" y="22554000"/>
            <a:ext cx="288000" cy="288000"/>
          </a:xfrm>
          <a:prstGeom prst="rect">
            <a:avLst/>
          </a:prstGeom>
        </p:spPr>
      </p:pic>
      <p:sp>
        <p:nvSpPr>
          <p:cNvPr id="185" name="TextBox 184"/>
          <p:cNvSpPr txBox="1"/>
          <p:nvPr/>
        </p:nvSpPr>
        <p:spPr>
          <a:xfrm>
            <a:off x="14718000" y="22428000"/>
            <a:ext cx="6072000" cy="54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결합 중심: 웨이퍼 제조공정 → 공정 장치·패키징 단계 공정</a:t>
            </a:r>
          </a:p>
        </p:txBody>
      </p:sp>
      <p:sp>
        <p:nvSpPr>
          <p:cNvPr id="186" name="Rectangle 185"/>
          <p:cNvSpPr/>
          <p:nvPr/>
        </p:nvSpPr>
        <p:spPr>
          <a:xfrm>
            <a:off x="576000" y="23472000"/>
            <a:ext cx="20232000" cy="720000"/>
          </a:xfrm>
          <a:prstGeom prst="rect">
            <a:avLst/>
          </a:prstGeom>
          <a:solidFill>
            <a:srgbClr val="13294B"/>
          </a:solidFill>
          <a:ln>
            <a:noFill/>
          </a:ln>
        </p:spPr>
        <p:txBody>
          <a:bodyPr rtlCol="0" anchor="ctr" lIns="54000" rIns="54000" tIns="54000" bIns="54000"/>
          <a:lstStyle/>
          <a:p>
            <a:pPr algn="ctr"/>
          </a:p>
        </p:txBody>
      </p:sp>
      <p:sp>
        <p:nvSpPr>
          <p:cNvPr id="187" name="Oval 186"/>
          <p:cNvSpPr/>
          <p:nvPr/>
        </p:nvSpPr>
        <p:spPr>
          <a:xfrm>
            <a:off x="756000" y="23580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4</a:t>
            </a:r>
          </a:p>
        </p:txBody>
      </p:sp>
      <p:sp>
        <p:nvSpPr>
          <p:cNvPr id="188" name="TextBox 187"/>
          <p:cNvSpPr txBox="1"/>
          <p:nvPr/>
        </p:nvSpPr>
        <p:spPr>
          <a:xfrm>
            <a:off x="1404000" y="23472000"/>
            <a:ext cx="14400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Conclusion &amp; Implications</a:t>
            </a:r>
            <a:r>
              <a:rPr sz="2000" b="0" i="0" lang="ko-KR">
                <a:solidFill>
                  <a:srgbClr val="C8D3E6"/>
                </a:solidFill>
                <a:latin typeface="맑은 고딕"/>
                <a:ea typeface="맑은 고딕"/>
                <a:cs typeface="맑은 고딕"/>
              </a:rPr>
              <a:t>  ·  결론 및 시사점</a:t>
            </a:r>
          </a:p>
        </p:txBody>
      </p:sp>
      <p:sp>
        <p:nvSpPr>
          <p:cNvPr id="189" name="Pentagon 188"/>
          <p:cNvSpPr/>
          <p:nvPr/>
        </p:nvSpPr>
        <p:spPr>
          <a:xfrm>
            <a:off x="576000" y="24408000"/>
            <a:ext cx="4428000" cy="756000"/>
          </a:xfrm>
          <a:prstGeom prst="homePlate">
            <a:avLst/>
          </a:prstGeom>
          <a:solidFill>
            <a:srgbClr val="2563C9"/>
          </a:solidFill>
          <a:ln>
            <a:noFill/>
          </a:ln>
        </p:spPr>
        <p:txBody>
          <a:bodyPr rtlCol="0" anchor="ctr" lIns="324000" rIns="324000" tIns="36000" bIns="36000" wrap="square"/>
          <a:lstStyle/>
          <a:p>
            <a:pPr algn="ctr" marL="0" indent="0">
              <a:lnSpc>
                <a:spcPts val="2880"/>
              </a:lnSpc>
              <a:spcBef>
                <a:spcPts val="0"/>
              </a:spcBef>
              <a:spcAft>
                <a:spcPts val="0"/>
              </a:spcAft>
              <a:buNone/>
            </a:pPr>
            <a:r>
              <a:rPr sz="2400" b="1" i="0" lang="ko-KR">
                <a:solidFill>
                  <a:srgbClr val="FFFFFF"/>
                </a:solidFill>
                <a:latin typeface="맑은 고딕"/>
                <a:ea typeface="맑은 고딕"/>
                <a:cs typeface="맑은 고딕"/>
              </a:rPr>
              <a:t>형성기  </a:t>
            </a:r>
            <a:r>
              <a:rPr sz="1800" b="0" i="0" lang="ko-KR">
                <a:solidFill>
                  <a:srgbClr val="FFFFFF"/>
                </a:solidFill>
                <a:latin typeface="맑은 고딕"/>
                <a:ea typeface="맑은 고딕"/>
                <a:cs typeface="맑은 고딕"/>
              </a:rPr>
              <a:t>–2014</a:t>
            </a:r>
          </a:p>
        </p:txBody>
      </p:sp>
      <p:sp>
        <p:nvSpPr>
          <p:cNvPr id="190" name="TextBox 189"/>
          <p:cNvSpPr txBox="1"/>
          <p:nvPr/>
        </p:nvSpPr>
        <p:spPr>
          <a:xfrm>
            <a:off x="756000" y="25218000"/>
            <a:ext cx="3924000" cy="972000"/>
          </a:xfrm>
          <a:prstGeom prst="rect">
            <a:avLst/>
          </a:prstGeom>
          <a:noFill/>
        </p:spPr>
        <p:txBody>
          <a:bodyPr wrap="square" lIns="0" rIns="0" tIns="0" bIns="0" anchor="t">
            <a:noAutofit/>
          </a:bodyPr>
          <a:lstStyle/>
          <a:p>
            <a:pPr algn="l" marL="0" indent="0">
              <a:lnSpc>
                <a:spcPts val="2160"/>
              </a:lnSpc>
              <a:spcBef>
                <a:spcPts val="0"/>
              </a:spcBef>
              <a:spcAft>
                <a:spcPts val="100"/>
              </a:spcAft>
              <a:buNone/>
            </a:pPr>
            <a:r>
              <a:rPr sz="1800" b="1" i="0" lang="ko-KR">
                <a:solidFill>
                  <a:srgbClr val="2563C9"/>
                </a:solidFill>
                <a:latin typeface="맑은 고딕"/>
                <a:ea typeface="맑은 고딕"/>
                <a:cs typeface="맑은 고딕"/>
              </a:rPr>
              <a:t>공정 단독형 우세 (43.6%)</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기술 출원은 제조공정 지식을 함께 포함 (OR 11.1)</a:t>
            </a:r>
          </a:p>
        </p:txBody>
      </p:sp>
      <p:sp>
        <p:nvSpPr>
          <p:cNvPr id="191" name="Chevron 190"/>
          <p:cNvSpPr/>
          <p:nvPr/>
        </p:nvSpPr>
        <p:spPr>
          <a:xfrm>
            <a:off x="4896000" y="24408000"/>
            <a:ext cx="4428000" cy="756000"/>
          </a:xfrm>
          <a:prstGeom prst="chevron">
            <a:avLst/>
          </a:prstGeom>
          <a:solidFill>
            <a:srgbClr val="7C3AED"/>
          </a:solidFill>
          <a:ln>
            <a:noFill/>
          </a:ln>
        </p:spPr>
        <p:txBody>
          <a:bodyPr rtlCol="0" anchor="ctr" lIns="324000" rIns="324000" tIns="36000" bIns="36000" wrap="square"/>
          <a:lstStyle/>
          <a:p>
            <a:pPr algn="ctr" marL="0" indent="0">
              <a:lnSpc>
                <a:spcPts val="2880"/>
              </a:lnSpc>
              <a:spcBef>
                <a:spcPts val="0"/>
              </a:spcBef>
              <a:spcAft>
                <a:spcPts val="0"/>
              </a:spcAft>
              <a:buNone/>
            </a:pPr>
            <a:r>
              <a:rPr sz="2400" b="1" i="0" lang="ko-KR">
                <a:solidFill>
                  <a:srgbClr val="FFFFFF"/>
                </a:solidFill>
                <a:latin typeface="맑은 고딕"/>
                <a:ea typeface="맑은 고딕"/>
                <a:cs typeface="맑은 고딕"/>
              </a:rPr>
              <a:t>확산기  </a:t>
            </a:r>
            <a:r>
              <a:rPr sz="1800" b="0" i="0" lang="ko-KR">
                <a:solidFill>
                  <a:srgbClr val="FFFFFF"/>
                </a:solidFill>
                <a:latin typeface="맑은 고딕"/>
                <a:ea typeface="맑은 고딕"/>
                <a:cs typeface="맑은 고딕"/>
              </a:rPr>
              <a:t>2015–2019</a:t>
            </a:r>
          </a:p>
        </p:txBody>
      </p:sp>
      <p:sp>
        <p:nvSpPr>
          <p:cNvPr id="192" name="TextBox 191"/>
          <p:cNvSpPr txBox="1"/>
          <p:nvPr/>
        </p:nvSpPr>
        <p:spPr>
          <a:xfrm>
            <a:off x="5076000" y="25218000"/>
            <a:ext cx="3924000" cy="972000"/>
          </a:xfrm>
          <a:prstGeom prst="rect">
            <a:avLst/>
          </a:prstGeom>
          <a:noFill/>
        </p:spPr>
        <p:txBody>
          <a:bodyPr wrap="square" lIns="0" rIns="0" tIns="0" bIns="0" anchor="t">
            <a:noAutofit/>
          </a:bodyPr>
          <a:lstStyle/>
          <a:p>
            <a:pPr algn="l" marL="0" indent="0">
              <a:lnSpc>
                <a:spcPts val="2160"/>
              </a:lnSpc>
              <a:spcBef>
                <a:spcPts val="0"/>
              </a:spcBef>
              <a:spcAft>
                <a:spcPts val="100"/>
              </a:spcAft>
              <a:buNone/>
            </a:pPr>
            <a:r>
              <a:rPr sz="1800" b="1" i="0" lang="ko-KR">
                <a:solidFill>
                  <a:srgbClr val="7C3AED"/>
                </a:solidFill>
                <a:latin typeface="맑은 고딕"/>
                <a:ea typeface="맑은 고딕"/>
                <a:cs typeface="맑은 고딕"/>
              </a:rPr>
              <a:t>통합형 정점 (62.2%)</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웨이퍼 제조공정과의 결합이 가장 강함</a:t>
            </a:r>
          </a:p>
        </p:txBody>
      </p:sp>
      <p:sp>
        <p:nvSpPr>
          <p:cNvPr id="193" name="Chevron 192"/>
          <p:cNvSpPr/>
          <p:nvPr/>
        </p:nvSpPr>
        <p:spPr>
          <a:xfrm>
            <a:off x="9216000" y="24408000"/>
            <a:ext cx="4428000" cy="756000"/>
          </a:xfrm>
          <a:prstGeom prst="chevron">
            <a:avLst/>
          </a:prstGeom>
          <a:solidFill>
            <a:srgbClr val="EA7A28"/>
          </a:solidFill>
          <a:ln>
            <a:noFill/>
          </a:ln>
        </p:spPr>
        <p:txBody>
          <a:bodyPr rtlCol="0" anchor="ctr" lIns="324000" rIns="324000" tIns="36000" bIns="36000" wrap="square"/>
          <a:lstStyle/>
          <a:p>
            <a:pPr algn="ctr" marL="0" indent="0">
              <a:lnSpc>
                <a:spcPts val="2880"/>
              </a:lnSpc>
              <a:spcBef>
                <a:spcPts val="0"/>
              </a:spcBef>
              <a:spcAft>
                <a:spcPts val="0"/>
              </a:spcAft>
              <a:buNone/>
            </a:pPr>
            <a:r>
              <a:rPr sz="2400" b="1" i="0" lang="ko-KR">
                <a:solidFill>
                  <a:srgbClr val="FFFFFF"/>
                </a:solidFill>
                <a:latin typeface="맑은 고딕"/>
                <a:ea typeface="맑은 고딕"/>
                <a:cs typeface="맑은 고딕"/>
              </a:rPr>
              <a:t>재편기  </a:t>
            </a:r>
            <a:r>
              <a:rPr sz="1800" b="0" i="0" lang="ko-KR">
                <a:solidFill>
                  <a:srgbClr val="FFFFFF"/>
                </a:solidFill>
                <a:latin typeface="맑은 고딕"/>
                <a:ea typeface="맑은 고딕"/>
                <a:cs typeface="맑은 고딕"/>
              </a:rPr>
              <a:t>2020–2024</a:t>
            </a:r>
          </a:p>
        </p:txBody>
      </p:sp>
      <p:sp>
        <p:nvSpPr>
          <p:cNvPr id="194" name="TextBox 193"/>
          <p:cNvSpPr txBox="1"/>
          <p:nvPr/>
        </p:nvSpPr>
        <p:spPr>
          <a:xfrm>
            <a:off x="9396000" y="25218000"/>
            <a:ext cx="3924000" cy="972000"/>
          </a:xfrm>
          <a:prstGeom prst="rect">
            <a:avLst/>
          </a:prstGeom>
          <a:noFill/>
        </p:spPr>
        <p:txBody>
          <a:bodyPr wrap="square" lIns="0" rIns="0" tIns="0" bIns="0" anchor="t">
            <a:noAutofit/>
          </a:bodyPr>
          <a:lstStyle/>
          <a:p>
            <a:pPr algn="l" marL="0" indent="0">
              <a:lnSpc>
                <a:spcPts val="2160"/>
              </a:lnSpc>
              <a:spcBef>
                <a:spcPts val="0"/>
              </a:spcBef>
              <a:spcAft>
                <a:spcPts val="100"/>
              </a:spcAft>
              <a:buNone/>
            </a:pPr>
            <a:r>
              <a:rPr sz="1800" b="1" i="0" lang="ko-KR">
                <a:solidFill>
                  <a:srgbClr val="EA7A28"/>
                </a:solidFill>
                <a:latin typeface="맑은 고딕"/>
                <a:ea typeface="맑은 고딕"/>
                <a:cs typeface="맑은 고딕"/>
              </a:rPr>
              <a:t>접합 단독형 증가 (45.4%)</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설계 고착화 → 공정 장치·패키징 단계 공정으로 이동</a:t>
            </a:r>
          </a:p>
        </p:txBody>
      </p:sp>
      <p:sp>
        <p:nvSpPr>
          <p:cNvPr id="195" name="Rectangle 194"/>
          <p:cNvSpPr/>
          <p:nvPr/>
        </p:nvSpPr>
        <p:spPr>
          <a:xfrm>
            <a:off x="576000" y="26280000"/>
            <a:ext cx="13068000" cy="2448000"/>
          </a:xfrm>
          <a:prstGeom prst="rect">
            <a:avLst/>
          </a:prstGeom>
          <a:solidFill>
            <a:srgbClr val="13294B"/>
          </a:solidFill>
          <a:ln>
            <a:noFill/>
          </a:ln>
        </p:spPr>
        <p:txBody>
          <a:bodyPr rtlCol="0" anchor="ctr" lIns="54000" rIns="54000" tIns="54000" bIns="54000"/>
          <a:lstStyle/>
          <a:p>
            <a:pPr algn="ctr"/>
          </a:p>
        </p:txBody>
      </p:sp>
      <p:pic>
        <p:nvPicPr>
          <p:cNvPr id="196" name="Picture 195" descr="FaQuoteLeft_FFFFFF.png"/>
          <p:cNvPicPr>
            <a:picLocks noChangeAspect="1"/>
          </p:cNvPicPr>
          <p:nvPr/>
        </p:nvPicPr>
        <p:blipFill>
          <a:blip r:embed="rId9"/>
          <a:stretch>
            <a:fillRect/>
          </a:stretch>
        </p:blipFill>
        <p:spPr>
          <a:xfrm>
            <a:off x="756000" y="26442000"/>
            <a:ext cx="360000" cy="360000"/>
          </a:xfrm>
          <a:prstGeom prst="rect">
            <a:avLst/>
          </a:prstGeom>
        </p:spPr>
      </p:pic>
      <p:sp>
        <p:nvSpPr>
          <p:cNvPr id="197" name="TextBox 196"/>
          <p:cNvSpPr txBox="1"/>
          <p:nvPr/>
        </p:nvSpPr>
        <p:spPr>
          <a:xfrm>
            <a:off x="1260000" y="26280000"/>
            <a:ext cx="12204000" cy="2448000"/>
          </a:xfrm>
          <a:prstGeom prst="rect">
            <a:avLst/>
          </a:prstGeom>
          <a:noFill/>
        </p:spPr>
        <p:txBody>
          <a:bodyPr wrap="square" lIns="0" rIns="0" tIns="0" bIns="0" anchor="ctr">
            <a:noAutofit/>
          </a:bodyPr>
          <a:lstStyle/>
          <a:p>
            <a:pPr algn="l" marL="0" indent="0">
              <a:lnSpc>
                <a:spcPts val="3020"/>
              </a:lnSpc>
              <a:spcBef>
                <a:spcPts val="0"/>
              </a:spcBef>
              <a:spcAft>
                <a:spcPts val="0"/>
              </a:spcAft>
              <a:buNone/>
            </a:pPr>
            <a:r>
              <a:rPr sz="2400" b="1" i="1" lang="ko-KR">
                <a:solidFill>
                  <a:srgbClr val="FFFFFF"/>
                </a:solidFill>
                <a:latin typeface="맑은 고딕"/>
                <a:ea typeface="맑은 고딕"/>
                <a:cs typeface="맑은 고딕"/>
              </a:rPr>
              <a:t>공정 단계 간 기술융합은 단선적 확대가 아니라 융합의 내용과 중심이 국면에 따라 재편되는 </a:t>
            </a:r>
            <a:r>
              <a:rPr sz="2400" b="1" i="1" lang="ko-KR">
                <a:solidFill>
                  <a:srgbClr val="D4A72C"/>
                </a:solidFill>
                <a:latin typeface="맑은 고딕"/>
                <a:ea typeface="맑은 고딕"/>
                <a:cs typeface="맑은 고딕"/>
              </a:rPr>
              <a:t>동태적 과정</a:t>
            </a:r>
            <a:r>
              <a:rPr sz="2400" b="1" i="1" lang="ko-KR">
                <a:solidFill>
                  <a:srgbClr val="FFFFFF"/>
                </a:solidFill>
                <a:latin typeface="맑은 고딕"/>
                <a:ea typeface="맑은 고딕"/>
                <a:cs typeface="맑은 고딕"/>
              </a:rPr>
              <a:t>이며, 그 배경에 핵심 기술 설계의 고착화가 있음을 시사한다.</a:t>
            </a:r>
          </a:p>
        </p:txBody>
      </p:sp>
      <p:sp>
        <p:nvSpPr>
          <p:cNvPr id="198" name="Rectangle 197"/>
          <p:cNvSpPr/>
          <p:nvPr/>
        </p:nvSpPr>
        <p:spPr>
          <a:xfrm>
            <a:off x="13968000" y="24408000"/>
            <a:ext cx="6840000" cy="2106000"/>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199" name="Oval 198"/>
          <p:cNvSpPr/>
          <p:nvPr/>
        </p:nvSpPr>
        <p:spPr>
          <a:xfrm>
            <a:off x="14094000" y="24516000"/>
            <a:ext cx="468000" cy="468000"/>
          </a:xfrm>
          <a:prstGeom prst="ellipse">
            <a:avLst/>
          </a:prstGeom>
          <a:solidFill>
            <a:srgbClr val="13294B"/>
          </a:solidFill>
          <a:ln>
            <a:noFill/>
          </a:ln>
        </p:spPr>
        <p:txBody>
          <a:bodyPr rtlCol="0" anchor="ctr" lIns="54000" rIns="54000" tIns="54000" bIns="54000"/>
          <a:lstStyle/>
          <a:p>
            <a:pPr algn="ctr"/>
          </a:p>
        </p:txBody>
      </p:sp>
      <p:pic>
        <p:nvPicPr>
          <p:cNvPr id="200" name="Picture 199" descr="FaGraduationCap_FFFFFF.png"/>
          <p:cNvPicPr>
            <a:picLocks noChangeAspect="1"/>
          </p:cNvPicPr>
          <p:nvPr/>
        </p:nvPicPr>
        <p:blipFill>
          <a:blip r:embed="rId10"/>
          <a:stretch>
            <a:fillRect/>
          </a:stretch>
        </p:blipFill>
        <p:spPr>
          <a:xfrm>
            <a:off x="14215680" y="24637680"/>
            <a:ext cx="224640" cy="224640"/>
          </a:xfrm>
          <a:prstGeom prst="rect">
            <a:avLst/>
          </a:prstGeom>
        </p:spPr>
      </p:pic>
      <p:sp>
        <p:nvSpPr>
          <p:cNvPr id="201" name="TextBox 200"/>
          <p:cNvSpPr txBox="1"/>
          <p:nvPr/>
        </p:nvSpPr>
        <p:spPr>
          <a:xfrm>
            <a:off x="14670000" y="24498000"/>
            <a:ext cx="6048000" cy="50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solidFill>
                  <a:srgbClr val="13294B"/>
                </a:solidFill>
                <a:latin typeface="맑은 고딕"/>
                <a:ea typeface="맑은 고딕"/>
                <a:cs typeface="맑은 고딕"/>
              </a:rPr>
              <a:t>학술적 시사점</a:t>
            </a:r>
          </a:p>
        </p:txBody>
      </p:sp>
      <p:sp>
        <p:nvSpPr>
          <p:cNvPr id="202" name="TextBox 201"/>
          <p:cNvSpPr txBox="1"/>
          <p:nvPr/>
        </p:nvSpPr>
        <p:spPr>
          <a:xfrm>
            <a:off x="14112000" y="25020000"/>
            <a:ext cx="6570000" cy="1458000"/>
          </a:xfrm>
          <a:prstGeom prst="rect">
            <a:avLst/>
          </a:prstGeom>
          <a:noFill/>
        </p:spPr>
        <p:txBody>
          <a:bodyPr wrap="square" lIns="0" rIns="0" tIns="0" bIns="0" anchor="t">
            <a:noAutofit/>
          </a:bodyPr>
          <a:lstStyle/>
          <a:p>
            <a:pPr algn="l" marL="0" indent="0">
              <a:lnSpc>
                <a:spcPts val="2140"/>
              </a:lnSpc>
              <a:spcBef>
                <a:spcPts val="0"/>
              </a:spcBef>
              <a:spcAft>
                <a:spcPts val="0"/>
              </a:spcAft>
              <a:buNone/>
            </a:pPr>
            <a:r>
              <a:rPr sz="1700" b="0" i="0" lang="ko-KR">
                <a:solidFill>
                  <a:srgbClr val="1E2532"/>
                </a:solidFill>
                <a:latin typeface="맑은 고딕"/>
                <a:ea typeface="맑은 고딕"/>
                <a:cs typeface="맑은 고딕"/>
              </a:rPr>
              <a:t>기술융합 연구의 범위를 공정 단계 간 융합으로 확장하고, 융합을 동태적 과정으로 실증</a:t>
            </a:r>
          </a:p>
        </p:txBody>
      </p:sp>
      <p:sp>
        <p:nvSpPr>
          <p:cNvPr id="203" name="Rectangle 202"/>
          <p:cNvSpPr/>
          <p:nvPr/>
        </p:nvSpPr>
        <p:spPr>
          <a:xfrm>
            <a:off x="13968000" y="26622000"/>
            <a:ext cx="6840000" cy="2106000"/>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04" name="Oval 203"/>
          <p:cNvSpPr/>
          <p:nvPr/>
        </p:nvSpPr>
        <p:spPr>
          <a:xfrm>
            <a:off x="14094000" y="26730000"/>
            <a:ext cx="468000" cy="468000"/>
          </a:xfrm>
          <a:prstGeom prst="ellipse">
            <a:avLst/>
          </a:prstGeom>
          <a:solidFill>
            <a:srgbClr val="13294B"/>
          </a:solidFill>
          <a:ln>
            <a:noFill/>
          </a:ln>
        </p:spPr>
        <p:txBody>
          <a:bodyPr rtlCol="0" anchor="ctr" lIns="54000" rIns="54000" tIns="54000" bIns="54000"/>
          <a:lstStyle/>
          <a:p>
            <a:pPr algn="ctr"/>
          </a:p>
        </p:txBody>
      </p:sp>
      <p:pic>
        <p:nvPicPr>
          <p:cNvPr id="205" name="Picture 204" descr="FaIndustry_FFFFFF.png"/>
          <p:cNvPicPr>
            <a:picLocks noChangeAspect="1"/>
          </p:cNvPicPr>
          <p:nvPr/>
        </p:nvPicPr>
        <p:blipFill>
          <a:blip r:embed="rId11"/>
          <a:stretch>
            <a:fillRect/>
          </a:stretch>
        </p:blipFill>
        <p:spPr>
          <a:xfrm>
            <a:off x="14215680" y="26851680"/>
            <a:ext cx="224640" cy="224640"/>
          </a:xfrm>
          <a:prstGeom prst="rect">
            <a:avLst/>
          </a:prstGeom>
        </p:spPr>
      </p:pic>
      <p:sp>
        <p:nvSpPr>
          <p:cNvPr id="206" name="TextBox 205"/>
          <p:cNvSpPr txBox="1"/>
          <p:nvPr/>
        </p:nvSpPr>
        <p:spPr>
          <a:xfrm>
            <a:off x="14670000" y="26712000"/>
            <a:ext cx="6048000" cy="50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solidFill>
                  <a:srgbClr val="13294B"/>
                </a:solidFill>
                <a:latin typeface="맑은 고딕"/>
                <a:ea typeface="맑은 고딕"/>
                <a:cs typeface="맑은 고딕"/>
              </a:rPr>
              <a:t>실무적 시사점</a:t>
            </a:r>
          </a:p>
        </p:txBody>
      </p:sp>
      <p:sp>
        <p:nvSpPr>
          <p:cNvPr id="207" name="TextBox 206"/>
          <p:cNvSpPr txBox="1"/>
          <p:nvPr/>
        </p:nvSpPr>
        <p:spPr>
          <a:xfrm>
            <a:off x="14112000" y="27234000"/>
            <a:ext cx="6570000" cy="1458000"/>
          </a:xfrm>
          <a:prstGeom prst="rect">
            <a:avLst/>
          </a:prstGeom>
          <a:noFill/>
        </p:spPr>
        <p:txBody>
          <a:bodyPr wrap="square" lIns="0" rIns="0" tIns="0" bIns="0" anchor="t">
            <a:noAutofit/>
          </a:bodyPr>
          <a:lstStyle/>
          <a:p>
            <a:pPr algn="l" marL="0" indent="0">
              <a:lnSpc>
                <a:spcPts val="2140"/>
              </a:lnSpc>
              <a:spcBef>
                <a:spcPts val="0"/>
              </a:spcBef>
              <a:spcAft>
                <a:spcPts val="0"/>
              </a:spcAft>
              <a:buNone/>
            </a:pPr>
            <a:r>
              <a:rPr sz="1700" b="0" i="0" lang="ko-KR">
                <a:solidFill>
                  <a:srgbClr val="1E2532"/>
                </a:solidFill>
                <a:latin typeface="맑은 고딕"/>
                <a:ea typeface="맑은 고딕"/>
                <a:cs typeface="맑은 고딕"/>
              </a:rPr>
              <a:t>HBM 등 하이브리드 본딩 경쟁력은 접합 원리 하나에 좌우되지 않을 수 있음 → 평탄화·표면 화학·정렬 계측과 얇은 다이를 다루고 적층하는 공정 역량까지 필요</a:t>
            </a:r>
          </a:p>
        </p:txBody>
      </p:sp>
      <p:sp>
        <p:nvSpPr>
          <p:cNvPr id="208" name="TextBox 207"/>
          <p:cNvSpPr txBox="1"/>
          <p:nvPr/>
        </p:nvSpPr>
        <p:spPr>
          <a:xfrm>
            <a:off x="576000" y="28962000"/>
            <a:ext cx="7560000" cy="12240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lang="ko-KR">
                <a:solidFill>
                  <a:srgbClr val="13294B"/>
                </a:solidFill>
                <a:latin typeface="맑은 고딕"/>
                <a:ea typeface="맑은 고딕"/>
                <a:cs typeface="맑은 고딕"/>
              </a:rPr>
              <a:t>주요 참고문헌</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Anderson &amp; Tushman (1990), Administrative Science Quarterly 35(4)</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Curran &amp; Leker (2011), Technological Forecasting and Social Change 78(2)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Hacklin, Marxt &amp; Fahrni (2010), Int. J. Technology Management 49(1–3)</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Lau (2022), IEEE Trans. Components, Packaging and Manufacturing Tech. 12(2)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Murmann &amp; Frenken (2006), Research Policy 35(7)</a:t>
            </a:r>
          </a:p>
        </p:txBody>
      </p:sp>
      <p:sp>
        <p:nvSpPr>
          <p:cNvPr id="209" name="TextBox 208"/>
          <p:cNvSpPr txBox="1"/>
          <p:nvPr/>
        </p:nvSpPr>
        <p:spPr>
          <a:xfrm>
            <a:off x="13608000" y="28962000"/>
            <a:ext cx="7200000" cy="1224000"/>
          </a:xfrm>
          <a:prstGeom prst="rect">
            <a:avLst/>
          </a:prstGeom>
          <a:noFill/>
        </p:spPr>
        <p:txBody>
          <a:bodyPr wrap="square" lIns="0" rIns="0" tIns="0" bIns="0" anchor="t">
            <a:noAutofit/>
          </a:bodyPr>
          <a:lstStyle/>
          <a:p>
            <a:pPr algn="r" marL="0" indent="0">
              <a:lnSpc>
                <a:spcPts val="1440"/>
              </a:lnSpc>
              <a:spcBef>
                <a:spcPts val="0"/>
              </a:spcBef>
              <a:spcAft>
                <a:spcPts val="0"/>
              </a:spcAft>
              <a:buNone/>
            </a:pPr>
            <a:r>
              <a:rPr sz="1200" b="1" i="0" lang="ko-KR">
                <a:solidFill>
                  <a:srgbClr val="13294B"/>
                </a:solidFill>
                <a:latin typeface="맑은 고딕"/>
                <a:ea typeface="맑은 고딕"/>
                <a:cs typeface="맑은 고딕"/>
              </a:rPr>
              <a:t>Contact</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이형규 · 한양대학교 기술경영학과</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higgack@naver.com</a:t>
            </a:r>
          </a:p>
          <a:p>
            <a:pPr algn="r" marL="0" indent="0">
              <a:lnSpc>
                <a:spcPts val="1260"/>
              </a:lnSpc>
              <a:spcBef>
                <a:spcPts val="0"/>
              </a:spcBef>
              <a:spcAft>
                <a:spcPts val="0"/>
              </a:spcAft>
              <a:buNone/>
            </a:pPr>
            <a:r>
              <a:rPr sz="1050" b="0" i="0" lang="ko-KR">
                <a:solidFill>
                  <a:srgbClr val="5B6475"/>
                </a:solidFill>
                <a:latin typeface="맑은 고딕"/>
                <a:ea typeface="맑은 고딕"/>
                <a:cs typeface="맑은 고딕"/>
              </a:rPr>
              <a:t>자료: EPO PATSTAT Global · 분석 단위: 특허출원</a:t>
            </a:r>
          </a:p>
        </p:txBody>
      </p:sp>
    </p:spTree>
    <p:extLst>
      <p:ext uri="{BB962C8B-B14F-4D97-AF65-F5344CB8AC3E}">
        <p14:creationId xmlns:p14="http://schemas.microsoft.com/office/powerpoint/2010/main" val="3742088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1447</TotalTime>
  <Words>2</Words>
  <Application>Microsoft Office PowerPoint</Application>
  <PresentationFormat>사용자 지정</PresentationFormat>
  <Paragraphs>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Arial</vt:lpstr>
      <vt:lpstr>Calibri</vt:lpstr>
      <vt:lpstr>Times New Roman</vt:lpstr>
      <vt:lpstr>Trebuchet MS</vt:lpstr>
      <vt:lpstr>A1 Template</vt:lpstr>
      <vt:lpstr>PowerPoint 프레젠테이션</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HYU</cp:lastModifiedBy>
  <cp:revision>51</cp:revision>
  <cp:lastPrinted>2024-06-19T17:05:08Z</cp:lastPrinted>
  <dcterms:created xsi:type="dcterms:W3CDTF">2012-02-10T00:21:22Z</dcterms:created>
  <dcterms:modified xsi:type="dcterms:W3CDTF">2025-09-24T07:06:34Z</dcterms:modified>
  <cp:category>Research poster templates</cp:category>
</cp:coreProperties>
</file>