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4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4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400">
              <a:solidFill>
                <a:srgbClr val="1E2532"/>
              </a:solidFill>
              <a:latin typeface="맑은 고딕"/>
              <a:ea typeface="맑은 고딕"/>
            </a:defRPr>
          </a:pPr>
        </a:p>
      </c:txPr>
    </c:legend>
    <c:plotVisOnly val="1"/>
    <c:dispBlanksAs val="gap"/>
    <c:showDLblsOverMax val="0"/>
  </c:chart>
  <c:txPr>
    <a:bodyPr/>
    <a:lstStyle/>
    <a:p>
      <a:pPr>
        <a:defRPr sz="14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Sheet1!$D$2:$D$4</c:f>
              <c:numCache>
                <c:formatCode>General</c:formatCode>
                <c:ptCount val="3"/>
                <c:pt idx="0">
                  <c:v>25.1</c:v>
                </c:pt>
                <c:pt idx="1">
                  <c:v>23.0</c:v>
                </c:pt>
                <c:pt idx="2">
                  <c:v>45.4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50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500">
                <a:solidFill>
                  <a:srgbClr val="1E2532"/>
                </a:solidFill>
                <a:latin typeface="맑은 고딕"/>
                <a:ea typeface="맑은 고딕"/>
              </a:defRPr>
            </a:pPr>
          </a:p>
        </c:txPr>
        <c:crossAx val="-2068027336"/>
        <c:crosses val="autoZero"/>
      </c:valAx>
    </c:plotArea>
    <c:legend>
      <c:legendPos val="t"/>
      <c:overlay val="0"/>
      <c:txPr>
        <a:bodyPr/>
        <a:lstStyle/>
        <a:p>
          <a:pPr>
            <a:defRPr sz="1500">
              <a:solidFill>
                <a:srgbClr val="1E2532"/>
              </a:solidFill>
              <a:latin typeface="맑은 고딕"/>
              <a:ea typeface="맑은 고딕"/>
            </a:defRPr>
          </a:pPr>
        </a:p>
      </c:txPr>
    </c:legend>
    <c:dispBlanksAs val="gap"/>
  </c:chart>
  <c:txPr>
    <a:bodyPr/>
    <a:lstStyle/>
    <a:p>
      <a:pPr>
        <a:defRPr sz="1500">
          <a:solidFill>
            <a:srgbClr val="1E2532"/>
          </a:solidFill>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2563C9"/>
              </a:solidFill>
            </a:ln>
          </c:spPr>
          <c:marker>
            <c:symbol val="circle"/>
            <c:size val="10"/>
            <c:spPr>
              <a:solidFill>
                <a:srgbClr val="2563C9"/>
              </a:solidFill>
              <a:ln>
                <a:solidFill>
                  <a:srgbClr val="2563C9"/>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10A39A"/>
              </a:solidFill>
            </a:ln>
          </c:spPr>
          <c:marker>
            <c:symbol val="circle"/>
            <c:size val="10"/>
            <c:spPr>
              <a:solidFill>
                <a:srgbClr val="10A39A"/>
              </a:solidFill>
              <a:ln>
                <a:solidFill>
                  <a:srgbClr val="10A39A"/>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E0A100"/>
              </a:solidFill>
            </a:ln>
          </c:spPr>
          <c:marker>
            <c:symbol val="circle"/>
            <c:size val="10"/>
            <c:spPr>
              <a:solidFill>
                <a:srgbClr val="E0A100"/>
              </a:solidFill>
              <a:ln>
                <a:solidFill>
                  <a:srgbClr val="E0A100"/>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3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3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300">
              <a:solidFill>
                <a:srgbClr val="1E2532"/>
              </a:solidFill>
              <a:latin typeface="맑은 고딕"/>
              <a:ea typeface="맑은 고딕"/>
            </a:defRPr>
          </a:pPr>
        </a:p>
      </c:txPr>
    </c:legend>
    <c:plotVisOnly val="1"/>
    <c:dispBlanksAs val="gap"/>
    <c:showDLblsOverMax val="0"/>
  </c:chart>
  <c:txPr>
    <a:bodyPr/>
    <a:lstStyle/>
    <a:p>
      <a:pPr>
        <a:defRPr sz="1300">
          <a:solidFill>
            <a:srgbClr val="1E2532"/>
          </a:solidFill>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xml"/><Relationship Id="rId6" Type="http://schemas.openxmlformats.org/officeDocument/2006/relationships/image" Target="../media/image4.png"/><Relationship Id="rId7" Type="http://schemas.openxmlformats.org/officeDocument/2006/relationships/chart" Target="../charts/chart2.xml"/><Relationship Id="rId8" Type="http://schemas.openxmlformats.org/officeDocument/2006/relationships/chart" Target="../charts/chart3.xml"/><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21387600" cy="4320000"/>
          </a:xfrm>
          <a:prstGeom prst="rect">
            <a:avLst/>
          </a:prstGeom>
          <a:solidFill>
            <a:srgbClr val="13294B"/>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576000" y="3366000"/>
            <a:ext cx="15120000" cy="720000"/>
          </a:xfrm>
        </p:spPr>
        <p:txBody>
          <a:bodyPr wrap="square" lIns="0" rIns="0" tIns="0" bIns="0" anchor="ctr">
            <a:noAutofit/>
          </a:bodyPr>
          <a:lstStyle/>
          <a:p>
            <a:pPr algn="l" marL="0" indent="0">
              <a:lnSpc>
                <a:spcPts val="3600"/>
              </a:lnSpc>
              <a:spcBef>
                <a:spcPts val="0"/>
              </a:spcBef>
              <a:spcAft>
                <a:spcPts val="0"/>
              </a:spcAft>
              <a:buNone/>
            </a:pPr>
            <a:r>
              <a:rPr sz="3000" b="1" i="0" lang="ko-KR">
                <a:solidFill>
                  <a:srgbClr val="FFFFFF"/>
                </a:solidFill>
                <a:latin typeface="맑은 고딕"/>
                <a:ea typeface="맑은 고딕"/>
                <a:cs typeface="맑은 고딕"/>
              </a:rPr>
              <a:t>이형규</a:t>
            </a:r>
            <a:r>
              <a:rPr sz="2400" b="0" i="0" lang="ko-KR">
                <a:solidFill>
                  <a:srgbClr val="DCE3EE"/>
                </a:solidFill>
                <a:latin typeface="맑은 고딕"/>
                <a:ea typeface="맑은 고딕"/>
                <a:cs typeface="맑은 고딕"/>
              </a:rPr>
              <a:t>   한양대학교 기술경영전문대학원</a:t>
            </a:r>
            <a:endParaRPr lang="ko-KR" altLang="en-US"/>
          </a:p>
        </p:txBody>
      </p:sp>
      <p:sp>
        <p:nvSpPr>
          <p:cNvPr id="14" name="텍스트 개체 틀 13"/>
          <p:cNvSpPr>
            <a:spLocks noGrp="1"/>
          </p:cNvSpPr>
          <p:nvPr>
            <p:ph type="body" sz="quarter" idx="151"/>
          </p:nvPr>
        </p:nvSpPr>
        <p:spPr>
          <a:xfrm>
            <a:off x="576000" y="2862000"/>
            <a:ext cx="15120000" cy="396000"/>
          </a:xfrm>
        </p:spPr>
        <p:txBody>
          <a:bodyPr wrap="square" lIns="0" rIns="0" tIns="0" bIns="0" anchor="t">
            <a:noAutofit/>
          </a:bodyPr>
          <a:lstStyle/>
          <a:p>
            <a:pPr algn="l" marL="0" indent="0">
              <a:lnSpc>
                <a:spcPts val="2160"/>
              </a:lnSpc>
              <a:spcBef>
                <a:spcPts val="0"/>
              </a:spcBef>
              <a:spcAft>
                <a:spcPts val="0"/>
              </a:spcAft>
              <a:buNone/>
            </a:pPr>
            <a:r>
              <a:rPr sz="1800" b="0" i="1" lang="ko-KR">
                <a:solidFill>
                  <a:srgbClr val="B9C6DD"/>
                </a:solidFill>
                <a:latin typeface="맑은 고딕"/>
                <a:ea typeface="맑은 고딕"/>
                <a:cs typeface="맑은 고딕"/>
              </a:rPr>
              <a:t>Cross-stage technology convergence in semiconductor hybrid bonding: A patent-based longitudinal analysis</a:t>
            </a:r>
            <a:endParaRPr lang="ko-KR" altLang="en-US" dirty="0"/>
          </a:p>
        </p:txBody>
      </p:sp>
      <p:sp>
        <p:nvSpPr>
          <p:cNvPr id="15" name="텍스트 개체 틀 14"/>
          <p:cNvSpPr>
            <a:spLocks noGrp="1"/>
          </p:cNvSpPr>
          <p:nvPr>
            <p:ph type="body" sz="quarter" idx="153"/>
          </p:nvPr>
        </p:nvSpPr>
        <p:spPr>
          <a:xfrm>
            <a:off x="576000" y="936000"/>
            <a:ext cx="15120000" cy="1836000"/>
          </a:xfrm>
        </p:spPr>
        <p:txBody>
          <a:bodyPr wrap="square" lIns="0" rIns="0" tIns="0" bIns="0" anchor="t">
            <a:noAutofit/>
          </a:bodyPr>
          <a:lstStyle/>
          <a:p>
            <a:pPr algn="l" marL="0" indent="0">
              <a:lnSpc>
                <a:spcPts val="6180"/>
              </a:lnSpc>
              <a:spcBef>
                <a:spcPts val="0"/>
              </a:spcBef>
              <a:spcAft>
                <a:spcPts val="0"/>
              </a:spcAft>
              <a:buNone/>
            </a:pPr>
            <a:r>
              <a:rPr sz="5600" b="1" i="0" lang="ko-KR">
                <a:solidFill>
                  <a:srgbClr val="FFFFFF"/>
                </a:solidFill>
                <a:latin typeface="맑은 고딕"/>
                <a:ea typeface="맑은 고딕"/>
                <a:cs typeface="맑은 고딕"/>
              </a:rPr>
              <a:t>반도체 하이브리드 본딩의</a:t>
            </a:r>
            <a:endParaRPr lang="ko-KR" altLang="en-US" dirty="0"/>
          </a:p>
          <a:p>
            <a:pPr algn="l" marL="0" indent="0">
              <a:lnSpc>
                <a:spcPts val="6180"/>
              </a:lnSpc>
              <a:spcBef>
                <a:spcPts val="0"/>
              </a:spcBef>
              <a:spcAft>
                <a:spcPts val="0"/>
              </a:spcAft>
              <a:buNone/>
            </a:pPr>
            <a:r>
              <a:rPr sz="5600" b="1" i="0" lang="ko-KR">
                <a:solidFill>
                  <a:srgbClr val="D4A72C"/>
                </a:solidFill>
                <a:latin typeface="맑은 고딕"/>
                <a:ea typeface="맑은 고딕"/>
                <a:cs typeface="맑은 고딕"/>
              </a:rPr>
              <a:t>공정 단계 간 기술융합</a:t>
            </a:r>
            <a:r>
              <a:rPr sz="5600" b="1" i="0" lang="ko-KR">
                <a:solidFill>
                  <a:srgbClr val="FFFFFF"/>
                </a:solidFill>
                <a:latin typeface="맑은 고딕"/>
                <a:ea typeface="맑은 고딕"/>
                <a:cs typeface="맑은 고딕"/>
              </a:rPr>
              <a:t>: 특허 기반 종단 분석</a:t>
            </a:r>
          </a:p>
        </p:txBody>
      </p:sp>
      <p:sp>
        <p:nvSpPr>
          <p:cNvPr id="17" name="Rectangle 16"/>
          <p:cNvSpPr/>
          <p:nvPr/>
        </p:nvSpPr>
        <p:spPr>
          <a:xfrm>
            <a:off x="0" y="4320000"/>
            <a:ext cx="21387600" cy="108000"/>
          </a:xfrm>
          <a:prstGeom prst="rect">
            <a:avLst/>
          </a:prstGeom>
          <a:solidFill>
            <a:srgbClr val="D4A72C"/>
          </a:solidFill>
          <a:ln>
            <a:noFill/>
          </a:ln>
        </p:spPr>
        <p:txBody>
          <a:bodyPr rtlCol="0" anchor="ctr" lIns="54000" rIns="54000" tIns="54000" bIns="54000"/>
          <a:lstStyle/>
          <a:p>
            <a:pPr algn="ctr"/>
          </a:p>
        </p:txBody>
      </p:sp>
      <p:sp>
        <p:nvSpPr>
          <p:cNvPr id="18" name="Rounded Rectangle 17"/>
          <p:cNvSpPr/>
          <p:nvPr/>
        </p:nvSpPr>
        <p:spPr>
          <a:xfrm>
            <a:off x="576000" y="360000"/>
            <a:ext cx="3816000" cy="450000"/>
          </a:xfrm>
          <a:prstGeom prst="roundRect">
            <a:avLst>
              <a:gd name="adj" fmla="val 50000"/>
            </a:avLst>
          </a:prstGeom>
          <a:noFill/>
          <a:ln w="19050">
            <a:solidFill>
              <a:srgbClr val="D4A72C"/>
            </a:solidFill>
          </a:ln>
        </p:spPr>
        <p:txBody>
          <a:bodyPr rtlCol="0" anchor="ctr" lIns="36000" rIns="36000" tIns="36000" bIns="36000" wrap="square"/>
          <a:lstStyle/>
          <a:p>
            <a:pPr algn="ctr" marL="0" indent="0">
              <a:lnSpc>
                <a:spcPts val="1920"/>
              </a:lnSpc>
              <a:spcBef>
                <a:spcPts val="0"/>
              </a:spcBef>
              <a:spcAft>
                <a:spcPts val="0"/>
              </a:spcAft>
              <a:buNone/>
            </a:pPr>
            <a:r>
              <a:rPr sz="1600" b="1" i="0" lang="ko-KR">
                <a:solidFill>
                  <a:srgbClr val="D4A72C"/>
                </a:solidFill>
                <a:latin typeface="맑은 고딕"/>
                <a:ea typeface="맑은 고딕"/>
                <a:cs typeface="맑은 고딕"/>
              </a:rPr>
              <a:t>2026 한양MOT 리서치데이</a:t>
            </a:r>
          </a:p>
        </p:txBody>
      </p:sp>
      <p:sp>
        <p:nvSpPr>
          <p:cNvPr id="19" name="Rectangle 18"/>
          <p:cNvSpPr/>
          <p:nvPr/>
        </p:nvSpPr>
        <p:spPr>
          <a:xfrm>
            <a:off x="15984000" y="963000"/>
            <a:ext cx="3096000" cy="324000"/>
          </a:xfrm>
          <a:prstGeom prst="rect">
            <a:avLst/>
          </a:prstGeom>
          <a:solidFill>
            <a:srgbClr val="8FA6CC"/>
          </a:solidFill>
          <a:ln>
            <a:noFill/>
          </a:ln>
        </p:spPr>
        <p:txBody>
          <a:bodyPr rtlCol="0" anchor="ctr" lIns="54000" rIns="54000" tIns="54000" bIns="54000"/>
          <a:lstStyle/>
          <a:p>
            <a:pPr algn="ctr"/>
          </a:p>
        </p:txBody>
      </p:sp>
      <p:sp>
        <p:nvSpPr>
          <p:cNvPr id="20" name="TextBox 19"/>
          <p:cNvSpPr txBox="1"/>
          <p:nvPr/>
        </p:nvSpPr>
        <p:spPr>
          <a:xfrm>
            <a:off x="15984000" y="963000"/>
            <a:ext cx="3096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solidFill>
                  <a:srgbClr val="13294B"/>
                </a:solidFill>
                <a:latin typeface="맑은 고딕"/>
                <a:ea typeface="맑은 고딕"/>
                <a:cs typeface="맑은 고딕"/>
              </a:rPr>
              <a:t>DRAM 다이</a:t>
            </a:r>
          </a:p>
        </p:txBody>
      </p:sp>
      <p:sp>
        <p:nvSpPr>
          <p:cNvPr id="21" name="Rectangle 20"/>
          <p:cNvSpPr/>
          <p:nvPr/>
        </p:nvSpPr>
        <p:spPr>
          <a:xfrm>
            <a:off x="15984000" y="1287000"/>
            <a:ext cx="3096000" cy="108000"/>
          </a:xfrm>
          <a:prstGeom prst="rect">
            <a:avLst/>
          </a:prstGeom>
          <a:solidFill>
            <a:srgbClr val="BFE3E6"/>
          </a:solidFill>
          <a:ln>
            <a:noFill/>
          </a:ln>
        </p:spPr>
        <p:txBody>
          <a:bodyPr rtlCol="0" anchor="ctr" lIns="54000" rIns="54000" tIns="54000" bIns="54000"/>
          <a:lstStyle/>
          <a:p>
            <a:pPr algn="ctr"/>
          </a:p>
        </p:txBody>
      </p:sp>
      <p:sp>
        <p:nvSpPr>
          <p:cNvPr id="22" name="Rectangle 21"/>
          <p:cNvSpPr/>
          <p:nvPr/>
        </p:nvSpPr>
        <p:spPr>
          <a:xfrm>
            <a:off x="16110000" y="1287000"/>
            <a:ext cx="180000" cy="108000"/>
          </a:xfrm>
          <a:prstGeom prst="rect">
            <a:avLst/>
          </a:prstGeom>
          <a:solidFill>
            <a:srgbClr val="EA7A28"/>
          </a:solidFill>
          <a:ln>
            <a:noFill/>
          </a:ln>
        </p:spPr>
        <p:txBody>
          <a:bodyPr rtlCol="0" anchor="ctr" lIns="54000" rIns="54000" tIns="54000" bIns="54000"/>
          <a:lstStyle/>
          <a:p>
            <a:pPr algn="ctr"/>
          </a:p>
        </p:txBody>
      </p:sp>
      <p:sp>
        <p:nvSpPr>
          <p:cNvPr id="23" name="Rectangle 22"/>
          <p:cNvSpPr/>
          <p:nvPr/>
        </p:nvSpPr>
        <p:spPr>
          <a:xfrm>
            <a:off x="16490571" y="1287000"/>
            <a:ext cx="180000" cy="108000"/>
          </a:xfrm>
          <a:prstGeom prst="rect">
            <a:avLst/>
          </a:prstGeom>
          <a:solidFill>
            <a:srgbClr val="EA7A28"/>
          </a:solidFill>
          <a:ln>
            <a:noFill/>
          </a:ln>
        </p:spPr>
        <p:txBody>
          <a:bodyPr rtlCol="0" anchor="ctr" lIns="54000" rIns="54000" tIns="54000" bIns="54000"/>
          <a:lstStyle/>
          <a:p>
            <a:pPr algn="ctr"/>
          </a:p>
        </p:txBody>
      </p:sp>
      <p:sp>
        <p:nvSpPr>
          <p:cNvPr id="24" name="Rectangle 23"/>
          <p:cNvSpPr/>
          <p:nvPr/>
        </p:nvSpPr>
        <p:spPr>
          <a:xfrm>
            <a:off x="16871143" y="1287000"/>
            <a:ext cx="180000" cy="108000"/>
          </a:xfrm>
          <a:prstGeom prst="rect">
            <a:avLst/>
          </a:prstGeom>
          <a:solidFill>
            <a:srgbClr val="EA7A28"/>
          </a:solidFill>
          <a:ln>
            <a:noFill/>
          </a:ln>
        </p:spPr>
        <p:txBody>
          <a:bodyPr rtlCol="0" anchor="ctr" lIns="54000" rIns="54000" tIns="54000" bIns="54000"/>
          <a:lstStyle/>
          <a:p>
            <a:pPr algn="ctr"/>
          </a:p>
        </p:txBody>
      </p:sp>
      <p:sp>
        <p:nvSpPr>
          <p:cNvPr id="25" name="Rectangle 24"/>
          <p:cNvSpPr/>
          <p:nvPr/>
        </p:nvSpPr>
        <p:spPr>
          <a:xfrm>
            <a:off x="17251714" y="1287000"/>
            <a:ext cx="180000" cy="108000"/>
          </a:xfrm>
          <a:prstGeom prst="rect">
            <a:avLst/>
          </a:prstGeom>
          <a:solidFill>
            <a:srgbClr val="EA7A28"/>
          </a:solidFill>
          <a:ln>
            <a:noFill/>
          </a:ln>
        </p:spPr>
        <p:txBody>
          <a:bodyPr rtlCol="0" anchor="ctr" lIns="54000" rIns="54000" tIns="54000" bIns="54000"/>
          <a:lstStyle/>
          <a:p>
            <a:pPr algn="ctr"/>
          </a:p>
        </p:txBody>
      </p:sp>
      <p:sp>
        <p:nvSpPr>
          <p:cNvPr id="26" name="Rectangle 25"/>
          <p:cNvSpPr/>
          <p:nvPr/>
        </p:nvSpPr>
        <p:spPr>
          <a:xfrm>
            <a:off x="17632286" y="1287000"/>
            <a:ext cx="180000" cy="108000"/>
          </a:xfrm>
          <a:prstGeom prst="rect">
            <a:avLst/>
          </a:prstGeom>
          <a:solidFill>
            <a:srgbClr val="EA7A28"/>
          </a:solidFill>
          <a:ln>
            <a:noFill/>
          </a:ln>
        </p:spPr>
        <p:txBody>
          <a:bodyPr rtlCol="0" anchor="ctr" lIns="54000" rIns="54000" tIns="54000" bIns="54000"/>
          <a:lstStyle/>
          <a:p>
            <a:pPr algn="ctr"/>
          </a:p>
        </p:txBody>
      </p:sp>
      <p:sp>
        <p:nvSpPr>
          <p:cNvPr id="27" name="Rectangle 26"/>
          <p:cNvSpPr/>
          <p:nvPr/>
        </p:nvSpPr>
        <p:spPr>
          <a:xfrm>
            <a:off x="18012857" y="1287000"/>
            <a:ext cx="180000" cy="108000"/>
          </a:xfrm>
          <a:prstGeom prst="rect">
            <a:avLst/>
          </a:prstGeom>
          <a:solidFill>
            <a:srgbClr val="EA7A28"/>
          </a:solidFill>
          <a:ln>
            <a:noFill/>
          </a:ln>
        </p:spPr>
        <p:txBody>
          <a:bodyPr rtlCol="0" anchor="ctr" lIns="54000" rIns="54000" tIns="54000" bIns="54000"/>
          <a:lstStyle/>
          <a:p>
            <a:pPr algn="ctr"/>
          </a:p>
        </p:txBody>
      </p:sp>
      <p:sp>
        <p:nvSpPr>
          <p:cNvPr id="28" name="Rectangle 27"/>
          <p:cNvSpPr/>
          <p:nvPr/>
        </p:nvSpPr>
        <p:spPr>
          <a:xfrm>
            <a:off x="18393429" y="1287000"/>
            <a:ext cx="180000" cy="108000"/>
          </a:xfrm>
          <a:prstGeom prst="rect">
            <a:avLst/>
          </a:prstGeom>
          <a:solidFill>
            <a:srgbClr val="EA7A28"/>
          </a:solidFill>
          <a:ln>
            <a:noFill/>
          </a:ln>
        </p:spPr>
        <p:txBody>
          <a:bodyPr rtlCol="0" anchor="ctr" lIns="54000" rIns="54000" tIns="54000" bIns="54000"/>
          <a:lstStyle/>
          <a:p>
            <a:pPr algn="ctr"/>
          </a:p>
        </p:txBody>
      </p:sp>
      <p:sp>
        <p:nvSpPr>
          <p:cNvPr id="29" name="Rectangle 28"/>
          <p:cNvSpPr/>
          <p:nvPr/>
        </p:nvSpPr>
        <p:spPr>
          <a:xfrm>
            <a:off x="18774000" y="1287000"/>
            <a:ext cx="180000" cy="108000"/>
          </a:xfrm>
          <a:prstGeom prst="rect">
            <a:avLst/>
          </a:prstGeom>
          <a:solidFill>
            <a:srgbClr val="EA7A28"/>
          </a:solidFill>
          <a:ln>
            <a:noFill/>
          </a:ln>
        </p:spPr>
        <p:txBody>
          <a:bodyPr rtlCol="0" anchor="ctr" lIns="54000" rIns="54000" tIns="54000" bIns="54000"/>
          <a:lstStyle/>
          <a:p>
            <a:pPr algn="ctr"/>
          </a:p>
        </p:txBody>
      </p:sp>
      <p:sp>
        <p:nvSpPr>
          <p:cNvPr id="30" name="Rectangle 29"/>
          <p:cNvSpPr/>
          <p:nvPr/>
        </p:nvSpPr>
        <p:spPr>
          <a:xfrm>
            <a:off x="15984000" y="1395000"/>
            <a:ext cx="3096000" cy="324000"/>
          </a:xfrm>
          <a:prstGeom prst="rect">
            <a:avLst/>
          </a:prstGeom>
          <a:solidFill>
            <a:srgbClr val="7F98C2"/>
          </a:solidFill>
          <a:ln>
            <a:noFill/>
          </a:ln>
        </p:spPr>
        <p:txBody>
          <a:bodyPr rtlCol="0" anchor="ctr" lIns="54000" rIns="54000" tIns="54000" bIns="54000"/>
          <a:lstStyle/>
          <a:p>
            <a:pPr algn="ctr"/>
          </a:p>
        </p:txBody>
      </p:sp>
      <p:sp>
        <p:nvSpPr>
          <p:cNvPr id="31" name="Rectangle 30"/>
          <p:cNvSpPr/>
          <p:nvPr/>
        </p:nvSpPr>
        <p:spPr>
          <a:xfrm>
            <a:off x="15984000" y="1719000"/>
            <a:ext cx="3096000" cy="108000"/>
          </a:xfrm>
          <a:prstGeom prst="rect">
            <a:avLst/>
          </a:prstGeom>
          <a:solidFill>
            <a:srgbClr val="BFE3E6"/>
          </a:solidFill>
          <a:ln>
            <a:noFill/>
          </a:ln>
        </p:spPr>
        <p:txBody>
          <a:bodyPr rtlCol="0" anchor="ctr" lIns="54000" rIns="54000" tIns="54000" bIns="54000"/>
          <a:lstStyle/>
          <a:p>
            <a:pPr algn="ctr"/>
          </a:p>
        </p:txBody>
      </p:sp>
      <p:sp>
        <p:nvSpPr>
          <p:cNvPr id="32" name="Rectangle 31"/>
          <p:cNvSpPr/>
          <p:nvPr/>
        </p:nvSpPr>
        <p:spPr>
          <a:xfrm>
            <a:off x="16110000" y="1719000"/>
            <a:ext cx="180000" cy="108000"/>
          </a:xfrm>
          <a:prstGeom prst="rect">
            <a:avLst/>
          </a:prstGeom>
          <a:solidFill>
            <a:srgbClr val="EA7A28"/>
          </a:solidFill>
          <a:ln>
            <a:noFill/>
          </a:ln>
        </p:spPr>
        <p:txBody>
          <a:bodyPr rtlCol="0" anchor="ctr" lIns="54000" rIns="54000" tIns="54000" bIns="54000"/>
          <a:lstStyle/>
          <a:p>
            <a:pPr algn="ctr"/>
          </a:p>
        </p:txBody>
      </p:sp>
      <p:sp>
        <p:nvSpPr>
          <p:cNvPr id="33" name="Rectangle 32"/>
          <p:cNvSpPr/>
          <p:nvPr/>
        </p:nvSpPr>
        <p:spPr>
          <a:xfrm>
            <a:off x="16490571" y="1719000"/>
            <a:ext cx="180000" cy="108000"/>
          </a:xfrm>
          <a:prstGeom prst="rect">
            <a:avLst/>
          </a:prstGeom>
          <a:solidFill>
            <a:srgbClr val="EA7A28"/>
          </a:solidFill>
          <a:ln>
            <a:noFill/>
          </a:ln>
        </p:spPr>
        <p:txBody>
          <a:bodyPr rtlCol="0" anchor="ctr" lIns="54000" rIns="54000" tIns="54000" bIns="54000"/>
          <a:lstStyle/>
          <a:p>
            <a:pPr algn="ctr"/>
          </a:p>
        </p:txBody>
      </p:sp>
      <p:sp>
        <p:nvSpPr>
          <p:cNvPr id="34" name="Rectangle 33"/>
          <p:cNvSpPr/>
          <p:nvPr/>
        </p:nvSpPr>
        <p:spPr>
          <a:xfrm>
            <a:off x="16871143" y="1719000"/>
            <a:ext cx="180000" cy="108000"/>
          </a:xfrm>
          <a:prstGeom prst="rect">
            <a:avLst/>
          </a:prstGeom>
          <a:solidFill>
            <a:srgbClr val="EA7A28"/>
          </a:solidFill>
          <a:ln>
            <a:noFill/>
          </a:ln>
        </p:spPr>
        <p:txBody>
          <a:bodyPr rtlCol="0" anchor="ctr" lIns="54000" rIns="54000" tIns="54000" bIns="54000"/>
          <a:lstStyle/>
          <a:p>
            <a:pPr algn="ctr"/>
          </a:p>
        </p:txBody>
      </p:sp>
      <p:sp>
        <p:nvSpPr>
          <p:cNvPr id="35" name="Rectangle 34"/>
          <p:cNvSpPr/>
          <p:nvPr/>
        </p:nvSpPr>
        <p:spPr>
          <a:xfrm>
            <a:off x="17251714" y="1719000"/>
            <a:ext cx="180000" cy="108000"/>
          </a:xfrm>
          <a:prstGeom prst="rect">
            <a:avLst/>
          </a:prstGeom>
          <a:solidFill>
            <a:srgbClr val="EA7A28"/>
          </a:solidFill>
          <a:ln>
            <a:noFill/>
          </a:ln>
        </p:spPr>
        <p:txBody>
          <a:bodyPr rtlCol="0" anchor="ctr" lIns="54000" rIns="54000" tIns="54000" bIns="54000"/>
          <a:lstStyle/>
          <a:p>
            <a:pPr algn="ctr"/>
          </a:p>
        </p:txBody>
      </p:sp>
      <p:sp>
        <p:nvSpPr>
          <p:cNvPr id="36" name="Rectangle 35"/>
          <p:cNvSpPr/>
          <p:nvPr/>
        </p:nvSpPr>
        <p:spPr>
          <a:xfrm>
            <a:off x="17632286" y="1719000"/>
            <a:ext cx="180000" cy="108000"/>
          </a:xfrm>
          <a:prstGeom prst="rect">
            <a:avLst/>
          </a:prstGeom>
          <a:solidFill>
            <a:srgbClr val="EA7A28"/>
          </a:solidFill>
          <a:ln>
            <a:noFill/>
          </a:ln>
        </p:spPr>
        <p:txBody>
          <a:bodyPr rtlCol="0" anchor="ctr" lIns="54000" rIns="54000" tIns="54000" bIns="54000"/>
          <a:lstStyle/>
          <a:p>
            <a:pPr algn="ctr"/>
          </a:p>
        </p:txBody>
      </p:sp>
      <p:sp>
        <p:nvSpPr>
          <p:cNvPr id="37" name="Rectangle 36"/>
          <p:cNvSpPr/>
          <p:nvPr/>
        </p:nvSpPr>
        <p:spPr>
          <a:xfrm>
            <a:off x="18012857" y="1719000"/>
            <a:ext cx="180000" cy="108000"/>
          </a:xfrm>
          <a:prstGeom prst="rect">
            <a:avLst/>
          </a:prstGeom>
          <a:solidFill>
            <a:srgbClr val="EA7A28"/>
          </a:solidFill>
          <a:ln>
            <a:noFill/>
          </a:ln>
        </p:spPr>
        <p:txBody>
          <a:bodyPr rtlCol="0" anchor="ctr" lIns="54000" rIns="54000" tIns="54000" bIns="54000"/>
          <a:lstStyle/>
          <a:p>
            <a:pPr algn="ctr"/>
          </a:p>
        </p:txBody>
      </p:sp>
      <p:sp>
        <p:nvSpPr>
          <p:cNvPr id="38" name="Rectangle 37"/>
          <p:cNvSpPr/>
          <p:nvPr/>
        </p:nvSpPr>
        <p:spPr>
          <a:xfrm>
            <a:off x="18393429" y="1719000"/>
            <a:ext cx="180000" cy="108000"/>
          </a:xfrm>
          <a:prstGeom prst="rect">
            <a:avLst/>
          </a:prstGeom>
          <a:solidFill>
            <a:srgbClr val="EA7A28"/>
          </a:solidFill>
          <a:ln>
            <a:noFill/>
          </a:ln>
        </p:spPr>
        <p:txBody>
          <a:bodyPr rtlCol="0" anchor="ctr" lIns="54000" rIns="54000" tIns="54000" bIns="54000"/>
          <a:lstStyle/>
          <a:p>
            <a:pPr algn="ctr"/>
          </a:p>
        </p:txBody>
      </p:sp>
      <p:sp>
        <p:nvSpPr>
          <p:cNvPr id="39" name="Rectangle 38"/>
          <p:cNvSpPr/>
          <p:nvPr/>
        </p:nvSpPr>
        <p:spPr>
          <a:xfrm>
            <a:off x="18774000" y="1719000"/>
            <a:ext cx="180000" cy="108000"/>
          </a:xfrm>
          <a:prstGeom prst="rect">
            <a:avLst/>
          </a:prstGeom>
          <a:solidFill>
            <a:srgbClr val="EA7A28"/>
          </a:solidFill>
          <a:ln>
            <a:noFill/>
          </a:ln>
        </p:spPr>
        <p:txBody>
          <a:bodyPr rtlCol="0" anchor="ctr" lIns="54000" rIns="54000" tIns="54000" bIns="54000"/>
          <a:lstStyle/>
          <a:p>
            <a:pPr algn="ctr"/>
          </a:p>
        </p:txBody>
      </p:sp>
      <p:sp>
        <p:nvSpPr>
          <p:cNvPr id="40" name="Rectangle 39"/>
          <p:cNvSpPr/>
          <p:nvPr/>
        </p:nvSpPr>
        <p:spPr>
          <a:xfrm>
            <a:off x="15984000" y="1827000"/>
            <a:ext cx="3096000" cy="324000"/>
          </a:xfrm>
          <a:prstGeom prst="rect">
            <a:avLst/>
          </a:prstGeom>
          <a:solidFill>
            <a:srgbClr val="6F8AB7"/>
          </a:solidFill>
          <a:ln>
            <a:noFill/>
          </a:ln>
        </p:spPr>
        <p:txBody>
          <a:bodyPr rtlCol="0" anchor="ctr" lIns="54000" rIns="54000" tIns="54000" bIns="54000"/>
          <a:lstStyle/>
          <a:p>
            <a:pPr algn="ctr"/>
          </a:p>
        </p:txBody>
      </p:sp>
      <p:sp>
        <p:nvSpPr>
          <p:cNvPr id="41" name="Rectangle 40"/>
          <p:cNvSpPr/>
          <p:nvPr/>
        </p:nvSpPr>
        <p:spPr>
          <a:xfrm>
            <a:off x="15984000" y="2151000"/>
            <a:ext cx="3096000" cy="108000"/>
          </a:xfrm>
          <a:prstGeom prst="rect">
            <a:avLst/>
          </a:prstGeom>
          <a:solidFill>
            <a:srgbClr val="BFE3E6"/>
          </a:solidFill>
          <a:ln>
            <a:noFill/>
          </a:ln>
        </p:spPr>
        <p:txBody>
          <a:bodyPr rtlCol="0" anchor="ctr" lIns="54000" rIns="54000" tIns="54000" bIns="54000"/>
          <a:lstStyle/>
          <a:p>
            <a:pPr algn="ctr"/>
          </a:p>
        </p:txBody>
      </p:sp>
      <p:sp>
        <p:nvSpPr>
          <p:cNvPr id="42" name="Rectangle 41"/>
          <p:cNvSpPr/>
          <p:nvPr/>
        </p:nvSpPr>
        <p:spPr>
          <a:xfrm>
            <a:off x="16110000" y="2151000"/>
            <a:ext cx="180000" cy="108000"/>
          </a:xfrm>
          <a:prstGeom prst="rect">
            <a:avLst/>
          </a:prstGeom>
          <a:solidFill>
            <a:srgbClr val="EA7A28"/>
          </a:solidFill>
          <a:ln>
            <a:noFill/>
          </a:ln>
        </p:spPr>
        <p:txBody>
          <a:bodyPr rtlCol="0" anchor="ctr" lIns="54000" rIns="54000" tIns="54000" bIns="54000"/>
          <a:lstStyle/>
          <a:p>
            <a:pPr algn="ctr"/>
          </a:p>
        </p:txBody>
      </p:sp>
      <p:sp>
        <p:nvSpPr>
          <p:cNvPr id="43" name="Rectangle 42"/>
          <p:cNvSpPr/>
          <p:nvPr/>
        </p:nvSpPr>
        <p:spPr>
          <a:xfrm>
            <a:off x="16490571" y="2151000"/>
            <a:ext cx="180000" cy="108000"/>
          </a:xfrm>
          <a:prstGeom prst="rect">
            <a:avLst/>
          </a:prstGeom>
          <a:solidFill>
            <a:srgbClr val="EA7A28"/>
          </a:solidFill>
          <a:ln>
            <a:noFill/>
          </a:ln>
        </p:spPr>
        <p:txBody>
          <a:bodyPr rtlCol="0" anchor="ctr" lIns="54000" rIns="54000" tIns="54000" bIns="54000"/>
          <a:lstStyle/>
          <a:p>
            <a:pPr algn="ctr"/>
          </a:p>
        </p:txBody>
      </p:sp>
      <p:sp>
        <p:nvSpPr>
          <p:cNvPr id="44" name="Rectangle 43"/>
          <p:cNvSpPr/>
          <p:nvPr/>
        </p:nvSpPr>
        <p:spPr>
          <a:xfrm>
            <a:off x="16871143" y="2151000"/>
            <a:ext cx="180000" cy="108000"/>
          </a:xfrm>
          <a:prstGeom prst="rect">
            <a:avLst/>
          </a:prstGeom>
          <a:solidFill>
            <a:srgbClr val="EA7A28"/>
          </a:solidFill>
          <a:ln>
            <a:noFill/>
          </a:ln>
        </p:spPr>
        <p:txBody>
          <a:bodyPr rtlCol="0" anchor="ctr" lIns="54000" rIns="54000" tIns="54000" bIns="54000"/>
          <a:lstStyle/>
          <a:p>
            <a:pPr algn="ctr"/>
          </a:p>
        </p:txBody>
      </p:sp>
      <p:sp>
        <p:nvSpPr>
          <p:cNvPr id="45" name="Rectangle 44"/>
          <p:cNvSpPr/>
          <p:nvPr/>
        </p:nvSpPr>
        <p:spPr>
          <a:xfrm>
            <a:off x="17251714" y="2151000"/>
            <a:ext cx="180000" cy="108000"/>
          </a:xfrm>
          <a:prstGeom prst="rect">
            <a:avLst/>
          </a:prstGeom>
          <a:solidFill>
            <a:srgbClr val="EA7A28"/>
          </a:solidFill>
          <a:ln>
            <a:noFill/>
          </a:ln>
        </p:spPr>
        <p:txBody>
          <a:bodyPr rtlCol="0" anchor="ctr" lIns="54000" rIns="54000" tIns="54000" bIns="54000"/>
          <a:lstStyle/>
          <a:p>
            <a:pPr algn="ctr"/>
          </a:p>
        </p:txBody>
      </p:sp>
      <p:sp>
        <p:nvSpPr>
          <p:cNvPr id="46" name="Rectangle 45"/>
          <p:cNvSpPr/>
          <p:nvPr/>
        </p:nvSpPr>
        <p:spPr>
          <a:xfrm>
            <a:off x="17632286" y="2151000"/>
            <a:ext cx="180000" cy="108000"/>
          </a:xfrm>
          <a:prstGeom prst="rect">
            <a:avLst/>
          </a:prstGeom>
          <a:solidFill>
            <a:srgbClr val="EA7A28"/>
          </a:solidFill>
          <a:ln>
            <a:noFill/>
          </a:ln>
        </p:spPr>
        <p:txBody>
          <a:bodyPr rtlCol="0" anchor="ctr" lIns="54000" rIns="54000" tIns="54000" bIns="54000"/>
          <a:lstStyle/>
          <a:p>
            <a:pPr algn="ctr"/>
          </a:p>
        </p:txBody>
      </p:sp>
      <p:sp>
        <p:nvSpPr>
          <p:cNvPr id="47" name="Rectangle 46"/>
          <p:cNvSpPr/>
          <p:nvPr/>
        </p:nvSpPr>
        <p:spPr>
          <a:xfrm>
            <a:off x="18012857" y="2151000"/>
            <a:ext cx="180000" cy="108000"/>
          </a:xfrm>
          <a:prstGeom prst="rect">
            <a:avLst/>
          </a:prstGeom>
          <a:solidFill>
            <a:srgbClr val="EA7A28"/>
          </a:solidFill>
          <a:ln>
            <a:noFill/>
          </a:ln>
        </p:spPr>
        <p:txBody>
          <a:bodyPr rtlCol="0" anchor="ctr" lIns="54000" rIns="54000" tIns="54000" bIns="54000"/>
          <a:lstStyle/>
          <a:p>
            <a:pPr algn="ctr"/>
          </a:p>
        </p:txBody>
      </p:sp>
      <p:sp>
        <p:nvSpPr>
          <p:cNvPr id="48" name="Rectangle 47"/>
          <p:cNvSpPr/>
          <p:nvPr/>
        </p:nvSpPr>
        <p:spPr>
          <a:xfrm>
            <a:off x="18393429" y="2151000"/>
            <a:ext cx="180000" cy="108000"/>
          </a:xfrm>
          <a:prstGeom prst="rect">
            <a:avLst/>
          </a:prstGeom>
          <a:solidFill>
            <a:srgbClr val="EA7A28"/>
          </a:solidFill>
          <a:ln>
            <a:noFill/>
          </a:ln>
        </p:spPr>
        <p:txBody>
          <a:bodyPr rtlCol="0" anchor="ctr" lIns="54000" rIns="54000" tIns="54000" bIns="54000"/>
          <a:lstStyle/>
          <a:p>
            <a:pPr algn="ctr"/>
          </a:p>
        </p:txBody>
      </p:sp>
      <p:sp>
        <p:nvSpPr>
          <p:cNvPr id="49" name="Rectangle 48"/>
          <p:cNvSpPr/>
          <p:nvPr/>
        </p:nvSpPr>
        <p:spPr>
          <a:xfrm>
            <a:off x="18774000" y="2151000"/>
            <a:ext cx="180000" cy="108000"/>
          </a:xfrm>
          <a:prstGeom prst="rect">
            <a:avLst/>
          </a:prstGeom>
          <a:solidFill>
            <a:srgbClr val="EA7A28"/>
          </a:solidFill>
          <a:ln>
            <a:noFill/>
          </a:ln>
        </p:spPr>
        <p:txBody>
          <a:bodyPr rtlCol="0" anchor="ctr" lIns="54000" rIns="54000" tIns="54000" bIns="54000"/>
          <a:lstStyle/>
          <a:p>
            <a:pPr algn="ctr"/>
          </a:p>
        </p:txBody>
      </p:sp>
      <p:sp>
        <p:nvSpPr>
          <p:cNvPr id="50" name="Rectangle 49"/>
          <p:cNvSpPr/>
          <p:nvPr/>
        </p:nvSpPr>
        <p:spPr>
          <a:xfrm>
            <a:off x="15984000" y="2259000"/>
            <a:ext cx="3096000" cy="324000"/>
          </a:xfrm>
          <a:prstGeom prst="rect">
            <a:avLst/>
          </a:prstGeom>
          <a:solidFill>
            <a:srgbClr val="607DAD"/>
          </a:solidFill>
          <a:ln>
            <a:noFill/>
          </a:ln>
        </p:spPr>
        <p:txBody>
          <a:bodyPr rtlCol="0" anchor="ctr" lIns="54000" rIns="54000" tIns="54000" bIns="54000"/>
          <a:lstStyle/>
          <a:p>
            <a:pPr algn="ctr"/>
          </a:p>
        </p:txBody>
      </p:sp>
      <p:sp>
        <p:nvSpPr>
          <p:cNvPr id="51" name="Rectangle 50"/>
          <p:cNvSpPr/>
          <p:nvPr/>
        </p:nvSpPr>
        <p:spPr>
          <a:xfrm>
            <a:off x="15984000" y="2583000"/>
            <a:ext cx="3096000" cy="108000"/>
          </a:xfrm>
          <a:prstGeom prst="rect">
            <a:avLst/>
          </a:prstGeom>
          <a:solidFill>
            <a:srgbClr val="BFE3E6"/>
          </a:solidFill>
          <a:ln>
            <a:noFill/>
          </a:ln>
        </p:spPr>
        <p:txBody>
          <a:bodyPr rtlCol="0" anchor="ctr" lIns="54000" rIns="54000" tIns="54000" bIns="54000"/>
          <a:lstStyle/>
          <a:p>
            <a:pPr algn="ctr"/>
          </a:p>
        </p:txBody>
      </p:sp>
      <p:sp>
        <p:nvSpPr>
          <p:cNvPr id="52" name="Rectangle 51"/>
          <p:cNvSpPr/>
          <p:nvPr/>
        </p:nvSpPr>
        <p:spPr>
          <a:xfrm>
            <a:off x="16110000" y="2583000"/>
            <a:ext cx="180000" cy="108000"/>
          </a:xfrm>
          <a:prstGeom prst="rect">
            <a:avLst/>
          </a:prstGeom>
          <a:solidFill>
            <a:srgbClr val="EA7A28"/>
          </a:solidFill>
          <a:ln>
            <a:noFill/>
          </a:ln>
        </p:spPr>
        <p:txBody>
          <a:bodyPr rtlCol="0" anchor="ctr" lIns="54000" rIns="54000" tIns="54000" bIns="54000"/>
          <a:lstStyle/>
          <a:p>
            <a:pPr algn="ctr"/>
          </a:p>
        </p:txBody>
      </p:sp>
      <p:sp>
        <p:nvSpPr>
          <p:cNvPr id="53" name="Rectangle 52"/>
          <p:cNvSpPr/>
          <p:nvPr/>
        </p:nvSpPr>
        <p:spPr>
          <a:xfrm>
            <a:off x="16490571" y="2583000"/>
            <a:ext cx="180000" cy="108000"/>
          </a:xfrm>
          <a:prstGeom prst="rect">
            <a:avLst/>
          </a:prstGeom>
          <a:solidFill>
            <a:srgbClr val="EA7A28"/>
          </a:solidFill>
          <a:ln>
            <a:noFill/>
          </a:ln>
        </p:spPr>
        <p:txBody>
          <a:bodyPr rtlCol="0" anchor="ctr" lIns="54000" rIns="54000" tIns="54000" bIns="54000"/>
          <a:lstStyle/>
          <a:p>
            <a:pPr algn="ctr"/>
          </a:p>
        </p:txBody>
      </p:sp>
      <p:sp>
        <p:nvSpPr>
          <p:cNvPr id="54" name="Rectangle 53"/>
          <p:cNvSpPr/>
          <p:nvPr/>
        </p:nvSpPr>
        <p:spPr>
          <a:xfrm>
            <a:off x="16871143" y="2583000"/>
            <a:ext cx="180000" cy="108000"/>
          </a:xfrm>
          <a:prstGeom prst="rect">
            <a:avLst/>
          </a:prstGeom>
          <a:solidFill>
            <a:srgbClr val="EA7A28"/>
          </a:solidFill>
          <a:ln>
            <a:noFill/>
          </a:ln>
        </p:spPr>
        <p:txBody>
          <a:bodyPr rtlCol="0" anchor="ctr" lIns="54000" rIns="54000" tIns="54000" bIns="54000"/>
          <a:lstStyle/>
          <a:p>
            <a:pPr algn="ctr"/>
          </a:p>
        </p:txBody>
      </p:sp>
      <p:sp>
        <p:nvSpPr>
          <p:cNvPr id="55" name="Rectangle 54"/>
          <p:cNvSpPr/>
          <p:nvPr/>
        </p:nvSpPr>
        <p:spPr>
          <a:xfrm>
            <a:off x="17251714" y="2583000"/>
            <a:ext cx="180000" cy="108000"/>
          </a:xfrm>
          <a:prstGeom prst="rect">
            <a:avLst/>
          </a:prstGeom>
          <a:solidFill>
            <a:srgbClr val="EA7A28"/>
          </a:solidFill>
          <a:ln>
            <a:noFill/>
          </a:ln>
        </p:spPr>
        <p:txBody>
          <a:bodyPr rtlCol="0" anchor="ctr" lIns="54000" rIns="54000" tIns="54000" bIns="54000"/>
          <a:lstStyle/>
          <a:p>
            <a:pPr algn="ctr"/>
          </a:p>
        </p:txBody>
      </p:sp>
      <p:sp>
        <p:nvSpPr>
          <p:cNvPr id="56" name="Rectangle 55"/>
          <p:cNvSpPr/>
          <p:nvPr/>
        </p:nvSpPr>
        <p:spPr>
          <a:xfrm>
            <a:off x="17632286" y="2583000"/>
            <a:ext cx="180000" cy="108000"/>
          </a:xfrm>
          <a:prstGeom prst="rect">
            <a:avLst/>
          </a:prstGeom>
          <a:solidFill>
            <a:srgbClr val="EA7A28"/>
          </a:solidFill>
          <a:ln>
            <a:noFill/>
          </a:ln>
        </p:spPr>
        <p:txBody>
          <a:bodyPr rtlCol="0" anchor="ctr" lIns="54000" rIns="54000" tIns="54000" bIns="54000"/>
          <a:lstStyle/>
          <a:p>
            <a:pPr algn="ctr"/>
          </a:p>
        </p:txBody>
      </p:sp>
      <p:sp>
        <p:nvSpPr>
          <p:cNvPr id="57" name="Rectangle 56"/>
          <p:cNvSpPr/>
          <p:nvPr/>
        </p:nvSpPr>
        <p:spPr>
          <a:xfrm>
            <a:off x="18012857" y="2583000"/>
            <a:ext cx="180000" cy="108000"/>
          </a:xfrm>
          <a:prstGeom prst="rect">
            <a:avLst/>
          </a:prstGeom>
          <a:solidFill>
            <a:srgbClr val="EA7A28"/>
          </a:solidFill>
          <a:ln>
            <a:noFill/>
          </a:ln>
        </p:spPr>
        <p:txBody>
          <a:bodyPr rtlCol="0" anchor="ctr" lIns="54000" rIns="54000" tIns="54000" bIns="54000"/>
          <a:lstStyle/>
          <a:p>
            <a:pPr algn="ctr"/>
          </a:p>
        </p:txBody>
      </p:sp>
      <p:sp>
        <p:nvSpPr>
          <p:cNvPr id="58" name="Rectangle 57"/>
          <p:cNvSpPr/>
          <p:nvPr/>
        </p:nvSpPr>
        <p:spPr>
          <a:xfrm>
            <a:off x="18393429" y="2583000"/>
            <a:ext cx="180000" cy="108000"/>
          </a:xfrm>
          <a:prstGeom prst="rect">
            <a:avLst/>
          </a:prstGeom>
          <a:solidFill>
            <a:srgbClr val="EA7A28"/>
          </a:solidFill>
          <a:ln>
            <a:noFill/>
          </a:ln>
        </p:spPr>
        <p:txBody>
          <a:bodyPr rtlCol="0" anchor="ctr" lIns="54000" rIns="54000" tIns="54000" bIns="54000"/>
          <a:lstStyle/>
          <a:p>
            <a:pPr algn="ctr"/>
          </a:p>
        </p:txBody>
      </p:sp>
      <p:sp>
        <p:nvSpPr>
          <p:cNvPr id="59" name="Rectangle 58"/>
          <p:cNvSpPr/>
          <p:nvPr/>
        </p:nvSpPr>
        <p:spPr>
          <a:xfrm>
            <a:off x="18774000" y="2583000"/>
            <a:ext cx="180000" cy="108000"/>
          </a:xfrm>
          <a:prstGeom prst="rect">
            <a:avLst/>
          </a:prstGeom>
          <a:solidFill>
            <a:srgbClr val="EA7A28"/>
          </a:solidFill>
          <a:ln>
            <a:noFill/>
          </a:ln>
        </p:spPr>
        <p:txBody>
          <a:bodyPr rtlCol="0" anchor="ctr" lIns="54000" rIns="54000" tIns="54000" bIns="54000"/>
          <a:lstStyle/>
          <a:p>
            <a:pPr algn="ctr"/>
          </a:p>
        </p:txBody>
      </p:sp>
      <p:sp>
        <p:nvSpPr>
          <p:cNvPr id="60" name="Rectangle 59"/>
          <p:cNvSpPr/>
          <p:nvPr/>
        </p:nvSpPr>
        <p:spPr>
          <a:xfrm>
            <a:off x="15840000" y="2691000"/>
            <a:ext cx="3384000" cy="378000"/>
          </a:xfrm>
          <a:prstGeom prst="rect">
            <a:avLst/>
          </a:prstGeom>
          <a:solidFill>
            <a:srgbClr val="3E5A8A"/>
          </a:solidFill>
          <a:ln>
            <a:noFill/>
          </a:ln>
        </p:spPr>
        <p:txBody>
          <a:bodyPr rtlCol="0" anchor="ctr" lIns="54000" rIns="54000" tIns="54000" bIns="54000"/>
          <a:lstStyle/>
          <a:p>
            <a:pPr algn="ctr"/>
          </a:p>
        </p:txBody>
      </p:sp>
      <p:sp>
        <p:nvSpPr>
          <p:cNvPr id="61" name="TextBox 60"/>
          <p:cNvSpPr txBox="1"/>
          <p:nvPr/>
        </p:nvSpPr>
        <p:spPr>
          <a:xfrm>
            <a:off x="15840000" y="2691000"/>
            <a:ext cx="3384000" cy="37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solidFill>
                  <a:srgbClr val="DCE3EE"/>
                </a:solidFill>
                <a:latin typeface="맑은 고딕"/>
                <a:ea typeface="맑은 고딕"/>
                <a:cs typeface="맑은 고딕"/>
              </a:rPr>
              <a:t>베이스(로직) 다이</a:t>
            </a:r>
          </a:p>
        </p:txBody>
      </p:sp>
      <p:cxnSp>
        <p:nvCxnSpPr>
          <p:cNvPr id="62" name="Connector 61"/>
          <p:cNvCxnSpPr/>
          <p:nvPr/>
        </p:nvCxnSpPr>
        <p:spPr>
          <a:xfrm>
            <a:off x="19098000" y="1341000"/>
            <a:ext cx="270000" cy="0"/>
          </a:xfrm>
          <a:prstGeom prst="line">
            <a:avLst/>
          </a:prstGeom>
          <a:ln w="15875">
            <a:solidFill>
              <a:srgbClr val="D4A72C"/>
            </a:solidFill>
          </a:ln>
        </p:spPr>
      </p:cxnSp>
      <p:sp>
        <p:nvSpPr>
          <p:cNvPr id="63" name="TextBox 62"/>
          <p:cNvSpPr txBox="1"/>
          <p:nvPr/>
        </p:nvSpPr>
        <p:spPr>
          <a:xfrm>
            <a:off x="19404000" y="1161000"/>
            <a:ext cx="1404000" cy="1080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solidFill>
                  <a:srgbClr val="D4A72C"/>
                </a:solidFill>
                <a:latin typeface="맑은 고딕"/>
                <a:ea typeface="맑은 고딕"/>
                <a:cs typeface="맑은 고딕"/>
              </a:rPr>
              <a:t>하이브리드</a:t>
            </a:r>
          </a:p>
          <a:p>
            <a:pPr algn="l" marL="0" indent="0">
              <a:lnSpc>
                <a:spcPts val="1560"/>
              </a:lnSpc>
              <a:spcBef>
                <a:spcPts val="0"/>
              </a:spcBef>
              <a:spcAft>
                <a:spcPts val="400"/>
              </a:spcAft>
              <a:buNone/>
            </a:pPr>
            <a:r>
              <a:rPr sz="1300" b="1" i="0" lang="ko-KR">
                <a:solidFill>
                  <a:srgbClr val="D4A72C"/>
                </a:solidFill>
                <a:latin typeface="맑은 고딕"/>
                <a:ea typeface="맑은 고딕"/>
                <a:cs typeface="맑은 고딕"/>
              </a:rPr>
              <a:t>본딩 계면</a:t>
            </a:r>
          </a:p>
          <a:p>
            <a:pPr algn="l" marL="0" indent="0">
              <a:lnSpc>
                <a:spcPts val="1440"/>
              </a:lnSpc>
              <a:spcBef>
                <a:spcPts val="0"/>
              </a:spcBef>
              <a:spcAft>
                <a:spcPts val="0"/>
              </a:spcAft>
              <a:buNone/>
            </a:pPr>
            <a:r>
              <a:rPr sz="1200" b="0" i="0" lang="ko-KR">
                <a:solidFill>
                  <a:srgbClr val="DCE3EE"/>
                </a:solidFill>
                <a:latin typeface="맑은 고딕"/>
                <a:ea typeface="맑은 고딕"/>
                <a:cs typeface="맑은 고딕"/>
              </a:rPr>
              <a:t>Cu 패드 +</a:t>
            </a:r>
          </a:p>
          <a:p>
            <a:pPr algn="l" marL="0" indent="0">
              <a:lnSpc>
                <a:spcPts val="1440"/>
              </a:lnSpc>
              <a:spcBef>
                <a:spcPts val="0"/>
              </a:spcBef>
              <a:spcAft>
                <a:spcPts val="0"/>
              </a:spcAft>
              <a:buNone/>
            </a:pPr>
            <a:r>
              <a:rPr sz="1200" b="0" i="0" lang="ko-KR">
                <a:solidFill>
                  <a:srgbClr val="DCE3EE"/>
                </a:solidFill>
                <a:latin typeface="맑은 고딕"/>
                <a:ea typeface="맑은 고딕"/>
                <a:cs typeface="맑은 고딕"/>
              </a:rPr>
              <a:t>산화막 직접 접합</a:t>
            </a:r>
          </a:p>
        </p:txBody>
      </p:sp>
      <p:sp>
        <p:nvSpPr>
          <p:cNvPr id="64" name="TextBox 63"/>
          <p:cNvSpPr txBox="1"/>
          <p:nvPr/>
        </p:nvSpPr>
        <p:spPr>
          <a:xfrm>
            <a:off x="15840000" y="3105000"/>
            <a:ext cx="3384000" cy="252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solidFill>
                  <a:srgbClr val="9FB0CC"/>
                </a:solidFill>
                <a:latin typeface="맑은 고딕"/>
                <a:ea typeface="맑은 고딕"/>
                <a:cs typeface="맑은 고딕"/>
              </a:rPr>
              <a:t>차세대 HBM 적층 개념도</a:t>
            </a:r>
          </a:p>
        </p:txBody>
      </p:sp>
      <p:cxnSp>
        <p:nvCxnSpPr>
          <p:cNvPr id="65" name="Connector 64"/>
          <p:cNvCxnSpPr/>
          <p:nvPr/>
        </p:nvCxnSpPr>
        <p:spPr>
          <a:xfrm>
            <a:off x="7260000" y="5544000"/>
            <a:ext cx="0" cy="17712000"/>
          </a:xfrm>
          <a:prstGeom prst="line">
            <a:avLst/>
          </a:prstGeom>
          <a:ln w="12700">
            <a:solidFill>
              <a:srgbClr val="C9D2E0"/>
            </a:solidFill>
          </a:ln>
        </p:spPr>
      </p:cxnSp>
      <p:cxnSp>
        <p:nvCxnSpPr>
          <p:cNvPr id="66" name="Connector 65"/>
          <p:cNvCxnSpPr/>
          <p:nvPr/>
        </p:nvCxnSpPr>
        <p:spPr>
          <a:xfrm>
            <a:off x="14124000" y="5544000"/>
            <a:ext cx="0" cy="17712000"/>
          </a:xfrm>
          <a:prstGeom prst="line">
            <a:avLst/>
          </a:prstGeom>
          <a:ln w="12700">
            <a:solidFill>
              <a:srgbClr val="C9D2E0"/>
            </a:solidFill>
          </a:ln>
        </p:spPr>
      </p:cxnSp>
      <p:sp>
        <p:nvSpPr>
          <p:cNvPr id="67" name="Rectangle 66"/>
          <p:cNvSpPr/>
          <p:nvPr/>
        </p:nvSpPr>
        <p:spPr>
          <a:xfrm>
            <a:off x="576000" y="4680000"/>
            <a:ext cx="6504000" cy="720000"/>
          </a:xfrm>
          <a:prstGeom prst="rect">
            <a:avLst/>
          </a:prstGeom>
          <a:solidFill>
            <a:srgbClr val="13294B"/>
          </a:solidFill>
          <a:ln>
            <a:noFill/>
          </a:ln>
        </p:spPr>
        <p:txBody>
          <a:bodyPr rtlCol="0" anchor="ctr" lIns="54000" rIns="54000" tIns="54000" bIns="54000"/>
          <a:lstStyle/>
          <a:p>
            <a:pPr algn="ctr"/>
          </a:p>
        </p:txBody>
      </p:sp>
      <p:sp>
        <p:nvSpPr>
          <p:cNvPr id="68" name="Oval 67"/>
          <p:cNvSpPr/>
          <p:nvPr/>
        </p:nvSpPr>
        <p:spPr>
          <a:xfrm>
            <a:off x="756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1</a:t>
            </a:r>
          </a:p>
        </p:txBody>
      </p:sp>
      <p:sp>
        <p:nvSpPr>
          <p:cNvPr id="69" name="TextBox 68"/>
          <p:cNvSpPr txBox="1"/>
          <p:nvPr/>
        </p:nvSpPr>
        <p:spPr>
          <a:xfrm>
            <a:off x="1404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Problem</a:t>
            </a:r>
            <a:r>
              <a:rPr sz="2000" b="0" i="0" lang="ko-KR">
                <a:solidFill>
                  <a:srgbClr val="C8D3E6"/>
                </a:solidFill>
                <a:latin typeface="맑은 고딕"/>
                <a:ea typeface="맑은 고딕"/>
                <a:cs typeface="맑은 고딕"/>
              </a:rPr>
              <a:t>  ·  연구 문제</a:t>
            </a:r>
          </a:p>
        </p:txBody>
      </p:sp>
      <p:sp>
        <p:nvSpPr>
          <p:cNvPr id="70" name="Rectangle 69"/>
          <p:cNvSpPr/>
          <p:nvPr/>
        </p:nvSpPr>
        <p:spPr>
          <a:xfrm>
            <a:off x="576000" y="5616000"/>
            <a:ext cx="6504000" cy="414000"/>
          </a:xfrm>
          <a:prstGeom prst="rect">
            <a:avLst/>
          </a:prstGeom>
          <a:solidFill>
            <a:srgbClr val="E8EEF7"/>
          </a:solidFill>
          <a:ln>
            <a:noFill/>
          </a:ln>
        </p:spPr>
        <p:txBody>
          <a:bodyPr rtlCol="0" anchor="ctr" lIns="54000" rIns="54000" tIns="54000" bIns="54000"/>
          <a:lstStyle/>
          <a:p>
            <a:pPr algn="ctr"/>
          </a:p>
        </p:txBody>
      </p:sp>
      <p:sp>
        <p:nvSpPr>
          <p:cNvPr id="71" name="Rectangle 70"/>
          <p:cNvSpPr/>
          <p:nvPr/>
        </p:nvSpPr>
        <p:spPr>
          <a:xfrm>
            <a:off x="666000" y="5724000"/>
            <a:ext cx="108000" cy="198000"/>
          </a:xfrm>
          <a:prstGeom prst="rect">
            <a:avLst/>
          </a:prstGeom>
          <a:solidFill>
            <a:srgbClr val="13294B"/>
          </a:solidFill>
          <a:ln>
            <a:noFill/>
          </a:ln>
        </p:spPr>
        <p:txBody>
          <a:bodyPr rtlCol="0" anchor="ctr" lIns="54000" rIns="54000" tIns="54000" bIns="54000"/>
          <a:lstStyle/>
          <a:p>
            <a:pPr algn="ctr"/>
          </a:p>
        </p:txBody>
      </p:sp>
      <p:sp>
        <p:nvSpPr>
          <p:cNvPr id="72" name="TextBox 71"/>
          <p:cNvSpPr txBox="1"/>
          <p:nvPr/>
        </p:nvSpPr>
        <p:spPr>
          <a:xfrm>
            <a:off x="882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Background</a:t>
            </a:r>
            <a:r>
              <a:rPr sz="1800" b="0" i="0" lang="ko-KR">
                <a:solidFill>
                  <a:srgbClr val="13294B"/>
                </a:solidFill>
                <a:latin typeface="맑은 고딕"/>
                <a:ea typeface="맑은 고딕"/>
                <a:cs typeface="맑은 고딕"/>
              </a:rPr>
              <a:t>  ·  연구 배경</a:t>
            </a:r>
          </a:p>
        </p:txBody>
      </p:sp>
      <p:sp>
        <p:nvSpPr>
          <p:cNvPr id="73" name="TextBox 72"/>
          <p:cNvSpPr txBox="1"/>
          <p:nvPr/>
        </p:nvSpPr>
        <p:spPr>
          <a:xfrm>
            <a:off x="648000" y="6192000"/>
            <a:ext cx="6396000" cy="2664000"/>
          </a:xfrm>
          <a:prstGeom prst="rect">
            <a:avLst/>
          </a:prstGeom>
          <a:noFill/>
        </p:spPr>
        <p:txBody>
          <a:bodyPr wrap="square" lIns="0" rIns="0" tIns="0" bIns="0" anchor="t">
            <a:noAutofit/>
          </a:bodyPr>
          <a:lstStyle/>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반도체 산업은 </a:t>
            </a:r>
            <a:r>
              <a:rPr sz="1900" b="1" i="0" lang="ko-KR">
                <a:solidFill>
                  <a:srgbClr val="2563C9"/>
                </a:solidFill>
                <a:latin typeface="맑은 고딕"/>
                <a:ea typeface="맑은 고딕"/>
                <a:cs typeface="맑은 고딕"/>
              </a:rPr>
              <a:t>전공정</a:t>
            </a:r>
            <a:r>
              <a:rPr sz="1900" b="0" i="0" lang="ko-KR">
                <a:solidFill>
                  <a:srgbClr val="1E2532"/>
                </a:solidFill>
                <a:latin typeface="맑은 고딕"/>
                <a:ea typeface="맑은 고딕"/>
                <a:cs typeface="맑은 고딕"/>
              </a:rPr>
              <a:t>(웨이퍼 위 소자 형성)과 </a:t>
            </a:r>
            <a:r>
              <a:rPr sz="1900" b="1" i="0" lang="ko-KR">
                <a:solidFill>
                  <a:srgbClr val="EA7A28"/>
                </a:solidFill>
                <a:latin typeface="맑은 고딕"/>
                <a:ea typeface="맑은 고딕"/>
                <a:cs typeface="맑은 고딕"/>
              </a:rPr>
              <a:t>후공정</a:t>
            </a:r>
            <a:r>
              <a:rPr sz="1900" b="0" i="0" lang="ko-KR">
                <a:solidFill>
                  <a:srgbClr val="1E2532"/>
                </a:solidFill>
                <a:latin typeface="맑은 고딕"/>
                <a:ea typeface="맑은 고딕"/>
                <a:cs typeface="맑은 고딕"/>
              </a:rPr>
              <a:t>(절단·조립·패키징)의 분업 구조를 반세기 이상 유지해 왔다.</a:t>
            </a:r>
          </a:p>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미세화의 한계로 다이를 분할·적층·연결하는 첨단 패키징이 새로운 성능 향상의 원천이 되었다.</a:t>
            </a:r>
          </a:p>
          <a:p>
            <a:pPr algn="l" marL="216000" indent="-216000">
              <a:lnSpc>
                <a:spcPts val="2280"/>
              </a:lnSpc>
              <a:spcBef>
                <a:spcPts val="0"/>
              </a:spcBef>
              <a:spcAft>
                <a:spcPts val="500"/>
              </a:spcAft>
              <a:buClr>
                <a:srgbClr val="13294B"/>
              </a:buClr>
              <a:buSzPct val="70000"/>
              <a:buFont typeface="Arial"/>
              <a:buChar char="■"/>
            </a:pPr>
            <a:r>
              <a:rPr sz="1900" b="1" i="0" lang="ko-KR">
                <a:solidFill>
                  <a:srgbClr val="1E2532"/>
                </a:solidFill>
                <a:latin typeface="맑은 고딕"/>
                <a:ea typeface="맑은 고딕"/>
                <a:cs typeface="맑은 고딕"/>
              </a:rPr>
              <a:t>하이브리드 본딩</a:t>
            </a:r>
            <a:r>
              <a:rPr sz="1900" b="0" i="0" lang="ko-KR">
                <a:solidFill>
                  <a:srgbClr val="1E2532"/>
                </a:solidFill>
                <a:latin typeface="맑은 고딕"/>
                <a:ea typeface="맑은 고딕"/>
                <a:cs typeface="맑은 고딕"/>
              </a:rPr>
              <a:t>은 솔더 범프 없이 구리 패드와 산화막을 직접 접합하여 10 µm 이하의 연결 간격을 구현한다.</a:t>
            </a:r>
          </a:p>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그 성패를 좌우하는 평탄화(CMP)·표면 활성화·정밀 정렬은 </a:t>
            </a:r>
            <a:r>
              <a:rPr sz="1900" b="1" i="0" lang="ko-KR">
                <a:solidFill>
                  <a:srgbClr val="2563C9"/>
                </a:solidFill>
                <a:latin typeface="맑은 고딕"/>
                <a:ea typeface="맑은 고딕"/>
                <a:cs typeface="맑은 고딕"/>
              </a:rPr>
              <a:t>전공정의 제조공정 역량</a:t>
            </a:r>
            <a:r>
              <a:rPr sz="1900" b="0" i="0" lang="ko-KR">
                <a:solidFill>
                  <a:srgbClr val="1E2532"/>
                </a:solidFill>
                <a:latin typeface="맑은 고딕"/>
                <a:ea typeface="맑은 고딕"/>
                <a:cs typeface="맑은 고딕"/>
              </a:rPr>
              <a:t>에 해당한다.</a:t>
            </a:r>
          </a:p>
        </p:txBody>
      </p:sp>
      <p:sp>
        <p:nvSpPr>
          <p:cNvPr id="74" name="Rounded Rectangle 73"/>
          <p:cNvSpPr/>
          <p:nvPr/>
        </p:nvSpPr>
        <p:spPr>
          <a:xfrm>
            <a:off x="648000" y="8892000"/>
            <a:ext cx="3000000" cy="237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75" name="TextBox 74"/>
          <p:cNvSpPr txBox="1"/>
          <p:nvPr/>
        </p:nvSpPr>
        <p:spPr>
          <a:xfrm>
            <a:off x="756000" y="8964000"/>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5B6475"/>
                </a:solidFill>
                <a:latin typeface="맑은 고딕"/>
                <a:ea typeface="맑은 고딕"/>
                <a:cs typeface="맑은 고딕"/>
              </a:rPr>
              <a:t>기존: 솔더 범프 접합</a:t>
            </a:r>
          </a:p>
        </p:txBody>
      </p:sp>
      <p:sp>
        <p:nvSpPr>
          <p:cNvPr id="76" name="Rectangle 75"/>
          <p:cNvSpPr/>
          <p:nvPr/>
        </p:nvSpPr>
        <p:spPr>
          <a:xfrm>
            <a:off x="972000" y="9306000"/>
            <a:ext cx="2352000" cy="324000"/>
          </a:xfrm>
          <a:prstGeom prst="rect">
            <a:avLst/>
          </a:prstGeom>
          <a:solidFill>
            <a:srgbClr val="8A97AD"/>
          </a:solidFill>
          <a:ln>
            <a:noFill/>
          </a:ln>
        </p:spPr>
        <p:txBody>
          <a:bodyPr rtlCol="0" anchor="ctr" lIns="54000" rIns="54000" tIns="54000" bIns="54000"/>
          <a:lstStyle/>
          <a:p>
            <a:pPr algn="ctr"/>
          </a:p>
        </p:txBody>
      </p:sp>
      <p:sp>
        <p:nvSpPr>
          <p:cNvPr id="77" name="Oval 76"/>
          <p:cNvSpPr/>
          <p:nvPr/>
        </p:nvSpPr>
        <p:spPr>
          <a:xfrm>
            <a:off x="1170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8" name="Oval 77"/>
          <p:cNvSpPr/>
          <p:nvPr/>
        </p:nvSpPr>
        <p:spPr>
          <a:xfrm>
            <a:off x="15825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9" name="Oval 78"/>
          <p:cNvSpPr/>
          <p:nvPr/>
        </p:nvSpPr>
        <p:spPr>
          <a:xfrm>
            <a:off x="1995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0" name="Oval 79"/>
          <p:cNvSpPr/>
          <p:nvPr/>
        </p:nvSpPr>
        <p:spPr>
          <a:xfrm>
            <a:off x="24075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1" name="Oval 80"/>
          <p:cNvSpPr/>
          <p:nvPr/>
        </p:nvSpPr>
        <p:spPr>
          <a:xfrm>
            <a:off x="2820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2" name="Rectangle 81"/>
          <p:cNvSpPr/>
          <p:nvPr/>
        </p:nvSpPr>
        <p:spPr>
          <a:xfrm>
            <a:off x="972000" y="9918000"/>
            <a:ext cx="2352000" cy="324000"/>
          </a:xfrm>
          <a:prstGeom prst="rect">
            <a:avLst/>
          </a:prstGeom>
          <a:solidFill>
            <a:srgbClr val="5E6C85"/>
          </a:solidFill>
          <a:ln>
            <a:noFill/>
          </a:ln>
        </p:spPr>
        <p:txBody>
          <a:bodyPr rtlCol="0" anchor="ctr" lIns="54000" rIns="54000" tIns="54000" bIns="54000"/>
          <a:lstStyle/>
          <a:p>
            <a:pPr algn="ctr"/>
          </a:p>
        </p:txBody>
      </p:sp>
      <p:sp>
        <p:nvSpPr>
          <p:cNvPr id="83" name="Rectangle 82"/>
          <p:cNvSpPr/>
          <p:nvPr/>
        </p:nvSpPr>
        <p:spPr>
          <a:xfrm>
            <a:off x="792000" y="10393200"/>
            <a:ext cx="151200" cy="151200"/>
          </a:xfrm>
          <a:prstGeom prst="rect">
            <a:avLst/>
          </a:prstGeom>
          <a:solidFill>
            <a:srgbClr val="A9AFBA"/>
          </a:solidFill>
          <a:ln w="6350">
            <a:solidFill>
              <a:srgbClr val="9AA3B2"/>
            </a:solidFill>
          </a:ln>
        </p:spPr>
        <p:txBody>
          <a:bodyPr rtlCol="0" anchor="ctr" lIns="54000" rIns="54000" tIns="54000" bIns="54000"/>
          <a:lstStyle/>
          <a:p>
            <a:pPr algn="ctr"/>
          </a:p>
        </p:txBody>
      </p:sp>
      <p:sp>
        <p:nvSpPr>
          <p:cNvPr id="84" name="TextBox 83"/>
          <p:cNvSpPr txBox="1"/>
          <p:nvPr/>
        </p:nvSpPr>
        <p:spPr>
          <a:xfrm>
            <a:off x="990000" y="10332000"/>
            <a:ext cx="1140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솔더 범프</a:t>
            </a:r>
          </a:p>
        </p:txBody>
      </p:sp>
      <p:sp>
        <p:nvSpPr>
          <p:cNvPr id="85" name="Rectangle 84"/>
          <p:cNvSpPr/>
          <p:nvPr/>
        </p:nvSpPr>
        <p:spPr>
          <a:xfrm>
            <a:off x="2184000" y="10393200"/>
            <a:ext cx="151200" cy="151200"/>
          </a:xfrm>
          <a:prstGeom prst="rect">
            <a:avLst/>
          </a:prstGeom>
          <a:solidFill>
            <a:srgbClr val="8A97AD"/>
          </a:solidFill>
          <a:ln w="6350">
            <a:solidFill>
              <a:srgbClr val="9AA3B2"/>
            </a:solidFill>
          </a:ln>
        </p:spPr>
        <p:txBody>
          <a:bodyPr rtlCol="0" anchor="ctr" lIns="54000" rIns="54000" tIns="54000" bIns="54000"/>
          <a:lstStyle/>
          <a:p>
            <a:pPr algn="ctr"/>
          </a:p>
        </p:txBody>
      </p:sp>
      <p:sp>
        <p:nvSpPr>
          <p:cNvPr id="86" name="TextBox 85"/>
          <p:cNvSpPr txBox="1"/>
          <p:nvPr/>
        </p:nvSpPr>
        <p:spPr>
          <a:xfrm>
            <a:off x="2382000" y="10332000"/>
            <a:ext cx="1140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다이</a:t>
            </a:r>
          </a:p>
        </p:txBody>
      </p:sp>
      <p:sp>
        <p:nvSpPr>
          <p:cNvPr id="87" name="TextBox 86"/>
          <p:cNvSpPr txBox="1"/>
          <p:nvPr/>
        </p:nvSpPr>
        <p:spPr>
          <a:xfrm>
            <a:off x="756000" y="10746000"/>
            <a:ext cx="2784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0"/>
              </a:spcAft>
              <a:buNone/>
            </a:pPr>
            <a:r>
              <a:rPr sz="1400" b="0" i="0" lang="ko-KR">
                <a:solidFill>
                  <a:srgbClr val="5B6475"/>
                </a:solidFill>
                <a:latin typeface="맑은 고딕"/>
                <a:ea typeface="맑은 고딕"/>
                <a:cs typeface="맑은 고딕"/>
              </a:rPr>
              <a:t>10 µm 이하 간격은 구현하기 어려움</a:t>
            </a:r>
          </a:p>
        </p:txBody>
      </p:sp>
      <p:sp>
        <p:nvSpPr>
          <p:cNvPr id="88" name="Rounded Rectangle 87"/>
          <p:cNvSpPr/>
          <p:nvPr/>
        </p:nvSpPr>
        <p:spPr>
          <a:xfrm>
            <a:off x="4008000" y="8892000"/>
            <a:ext cx="3000000" cy="237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89" name="TextBox 88"/>
          <p:cNvSpPr txBox="1"/>
          <p:nvPr/>
        </p:nvSpPr>
        <p:spPr>
          <a:xfrm>
            <a:off x="4116000" y="8964000"/>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7C3AED"/>
                </a:solidFill>
                <a:latin typeface="맑은 고딕"/>
                <a:ea typeface="맑은 고딕"/>
                <a:cs typeface="맑은 고딕"/>
              </a:rPr>
              <a:t>하이브리드 본딩</a:t>
            </a:r>
          </a:p>
        </p:txBody>
      </p:sp>
      <p:sp>
        <p:nvSpPr>
          <p:cNvPr id="90" name="Rectangle 89"/>
          <p:cNvSpPr/>
          <p:nvPr/>
        </p:nvSpPr>
        <p:spPr>
          <a:xfrm>
            <a:off x="4332000" y="9306000"/>
            <a:ext cx="2352000" cy="324000"/>
          </a:xfrm>
          <a:prstGeom prst="rect">
            <a:avLst/>
          </a:prstGeom>
          <a:solidFill>
            <a:srgbClr val="8A97AD"/>
          </a:solidFill>
          <a:ln>
            <a:noFill/>
          </a:ln>
        </p:spPr>
        <p:txBody>
          <a:bodyPr rtlCol="0" anchor="ctr" lIns="54000" rIns="54000" tIns="54000" bIns="54000"/>
          <a:lstStyle/>
          <a:p>
            <a:pPr algn="ctr"/>
          </a:p>
        </p:txBody>
      </p:sp>
      <p:sp>
        <p:nvSpPr>
          <p:cNvPr id="91" name="Rectangle 90"/>
          <p:cNvSpPr/>
          <p:nvPr/>
        </p:nvSpPr>
        <p:spPr>
          <a:xfrm>
            <a:off x="4332000" y="9493200"/>
            <a:ext cx="2352000" cy="136800"/>
          </a:xfrm>
          <a:prstGeom prst="rect">
            <a:avLst/>
          </a:prstGeom>
          <a:solidFill>
            <a:srgbClr val="BFE3E6"/>
          </a:solidFill>
          <a:ln>
            <a:noFill/>
          </a:ln>
        </p:spPr>
        <p:txBody>
          <a:bodyPr rtlCol="0" anchor="ctr" lIns="54000" rIns="54000" tIns="54000" bIns="54000"/>
          <a:lstStyle/>
          <a:p>
            <a:pPr algn="ctr"/>
          </a:p>
        </p:txBody>
      </p:sp>
      <p:sp>
        <p:nvSpPr>
          <p:cNvPr id="92" name="Rectangle 91"/>
          <p:cNvSpPr/>
          <p:nvPr/>
        </p:nvSpPr>
        <p:spPr>
          <a:xfrm>
            <a:off x="4332000" y="9666000"/>
            <a:ext cx="2352000" cy="136800"/>
          </a:xfrm>
          <a:prstGeom prst="rect">
            <a:avLst/>
          </a:prstGeom>
          <a:solidFill>
            <a:srgbClr val="BFE3E6"/>
          </a:solidFill>
          <a:ln>
            <a:noFill/>
          </a:ln>
        </p:spPr>
        <p:txBody>
          <a:bodyPr rtlCol="0" anchor="ctr" lIns="54000" rIns="54000" tIns="54000" bIns="54000"/>
          <a:lstStyle/>
          <a:p>
            <a:pPr algn="ctr"/>
          </a:p>
        </p:txBody>
      </p:sp>
      <p:sp>
        <p:nvSpPr>
          <p:cNvPr id="93" name="Rectangle 92"/>
          <p:cNvSpPr/>
          <p:nvPr/>
        </p:nvSpPr>
        <p:spPr>
          <a:xfrm>
            <a:off x="4494000" y="9493200"/>
            <a:ext cx="252000" cy="136800"/>
          </a:xfrm>
          <a:prstGeom prst="rect">
            <a:avLst/>
          </a:prstGeom>
          <a:solidFill>
            <a:srgbClr val="EA7A28"/>
          </a:solidFill>
          <a:ln>
            <a:noFill/>
          </a:ln>
        </p:spPr>
        <p:txBody>
          <a:bodyPr rtlCol="0" anchor="ctr" lIns="54000" rIns="54000" tIns="54000" bIns="54000"/>
          <a:lstStyle/>
          <a:p>
            <a:pPr algn="ctr"/>
          </a:p>
        </p:txBody>
      </p:sp>
      <p:sp>
        <p:nvSpPr>
          <p:cNvPr id="94" name="Rectangle 93"/>
          <p:cNvSpPr/>
          <p:nvPr/>
        </p:nvSpPr>
        <p:spPr>
          <a:xfrm>
            <a:off x="4494000" y="9666000"/>
            <a:ext cx="252000" cy="136800"/>
          </a:xfrm>
          <a:prstGeom prst="rect">
            <a:avLst/>
          </a:prstGeom>
          <a:solidFill>
            <a:srgbClr val="EA7A28"/>
          </a:solidFill>
          <a:ln>
            <a:noFill/>
          </a:ln>
        </p:spPr>
        <p:txBody>
          <a:bodyPr rtlCol="0" anchor="ctr" lIns="54000" rIns="54000" tIns="54000" bIns="54000"/>
          <a:lstStyle/>
          <a:p>
            <a:pPr algn="ctr"/>
          </a:p>
        </p:txBody>
      </p:sp>
      <p:sp>
        <p:nvSpPr>
          <p:cNvPr id="95" name="Rectangle 94"/>
          <p:cNvSpPr/>
          <p:nvPr/>
        </p:nvSpPr>
        <p:spPr>
          <a:xfrm>
            <a:off x="4849200" y="9493200"/>
            <a:ext cx="252000" cy="136800"/>
          </a:xfrm>
          <a:prstGeom prst="rect">
            <a:avLst/>
          </a:prstGeom>
          <a:solidFill>
            <a:srgbClr val="EA7A28"/>
          </a:solidFill>
          <a:ln>
            <a:noFill/>
          </a:ln>
        </p:spPr>
        <p:txBody>
          <a:bodyPr rtlCol="0" anchor="ctr" lIns="54000" rIns="54000" tIns="54000" bIns="54000"/>
          <a:lstStyle/>
          <a:p>
            <a:pPr algn="ctr"/>
          </a:p>
        </p:txBody>
      </p:sp>
      <p:sp>
        <p:nvSpPr>
          <p:cNvPr id="96" name="Rectangle 95"/>
          <p:cNvSpPr/>
          <p:nvPr/>
        </p:nvSpPr>
        <p:spPr>
          <a:xfrm>
            <a:off x="4849200" y="9666000"/>
            <a:ext cx="252000" cy="136800"/>
          </a:xfrm>
          <a:prstGeom prst="rect">
            <a:avLst/>
          </a:prstGeom>
          <a:solidFill>
            <a:srgbClr val="EA7A28"/>
          </a:solidFill>
          <a:ln>
            <a:noFill/>
          </a:ln>
        </p:spPr>
        <p:txBody>
          <a:bodyPr rtlCol="0" anchor="ctr" lIns="54000" rIns="54000" tIns="54000" bIns="54000"/>
          <a:lstStyle/>
          <a:p>
            <a:pPr algn="ctr"/>
          </a:p>
        </p:txBody>
      </p:sp>
      <p:sp>
        <p:nvSpPr>
          <p:cNvPr id="97" name="Rectangle 96"/>
          <p:cNvSpPr/>
          <p:nvPr/>
        </p:nvSpPr>
        <p:spPr>
          <a:xfrm>
            <a:off x="5204400" y="9493200"/>
            <a:ext cx="252000" cy="136800"/>
          </a:xfrm>
          <a:prstGeom prst="rect">
            <a:avLst/>
          </a:prstGeom>
          <a:solidFill>
            <a:srgbClr val="EA7A28"/>
          </a:solidFill>
          <a:ln>
            <a:noFill/>
          </a:ln>
        </p:spPr>
        <p:txBody>
          <a:bodyPr rtlCol="0" anchor="ctr" lIns="54000" rIns="54000" tIns="54000" bIns="54000"/>
          <a:lstStyle/>
          <a:p>
            <a:pPr algn="ctr"/>
          </a:p>
        </p:txBody>
      </p:sp>
      <p:sp>
        <p:nvSpPr>
          <p:cNvPr id="98" name="Rectangle 97"/>
          <p:cNvSpPr/>
          <p:nvPr/>
        </p:nvSpPr>
        <p:spPr>
          <a:xfrm>
            <a:off x="5204400" y="9666000"/>
            <a:ext cx="252000" cy="136800"/>
          </a:xfrm>
          <a:prstGeom prst="rect">
            <a:avLst/>
          </a:prstGeom>
          <a:solidFill>
            <a:srgbClr val="EA7A28"/>
          </a:solidFill>
          <a:ln>
            <a:noFill/>
          </a:ln>
        </p:spPr>
        <p:txBody>
          <a:bodyPr rtlCol="0" anchor="ctr" lIns="54000" rIns="54000" tIns="54000" bIns="54000"/>
          <a:lstStyle/>
          <a:p>
            <a:pPr algn="ctr"/>
          </a:p>
        </p:txBody>
      </p:sp>
      <p:sp>
        <p:nvSpPr>
          <p:cNvPr id="99" name="Rectangle 98"/>
          <p:cNvSpPr/>
          <p:nvPr/>
        </p:nvSpPr>
        <p:spPr>
          <a:xfrm>
            <a:off x="5559600" y="9493200"/>
            <a:ext cx="252000" cy="136800"/>
          </a:xfrm>
          <a:prstGeom prst="rect">
            <a:avLst/>
          </a:prstGeom>
          <a:solidFill>
            <a:srgbClr val="EA7A28"/>
          </a:solidFill>
          <a:ln>
            <a:noFill/>
          </a:ln>
        </p:spPr>
        <p:txBody>
          <a:bodyPr rtlCol="0" anchor="ctr" lIns="54000" rIns="54000" tIns="54000" bIns="54000"/>
          <a:lstStyle/>
          <a:p>
            <a:pPr algn="ctr"/>
          </a:p>
        </p:txBody>
      </p:sp>
      <p:sp>
        <p:nvSpPr>
          <p:cNvPr id="100" name="Rectangle 99"/>
          <p:cNvSpPr/>
          <p:nvPr/>
        </p:nvSpPr>
        <p:spPr>
          <a:xfrm>
            <a:off x="5559600" y="9666000"/>
            <a:ext cx="252000" cy="136800"/>
          </a:xfrm>
          <a:prstGeom prst="rect">
            <a:avLst/>
          </a:prstGeom>
          <a:solidFill>
            <a:srgbClr val="EA7A28"/>
          </a:solidFill>
          <a:ln>
            <a:noFill/>
          </a:ln>
        </p:spPr>
        <p:txBody>
          <a:bodyPr rtlCol="0" anchor="ctr" lIns="54000" rIns="54000" tIns="54000" bIns="54000"/>
          <a:lstStyle/>
          <a:p>
            <a:pPr algn="ctr"/>
          </a:p>
        </p:txBody>
      </p:sp>
      <p:sp>
        <p:nvSpPr>
          <p:cNvPr id="101" name="Rectangle 100"/>
          <p:cNvSpPr/>
          <p:nvPr/>
        </p:nvSpPr>
        <p:spPr>
          <a:xfrm>
            <a:off x="5914800" y="9493200"/>
            <a:ext cx="252000" cy="136800"/>
          </a:xfrm>
          <a:prstGeom prst="rect">
            <a:avLst/>
          </a:prstGeom>
          <a:solidFill>
            <a:srgbClr val="EA7A28"/>
          </a:solidFill>
          <a:ln>
            <a:noFill/>
          </a:ln>
        </p:spPr>
        <p:txBody>
          <a:bodyPr rtlCol="0" anchor="ctr" lIns="54000" rIns="54000" tIns="54000" bIns="54000"/>
          <a:lstStyle/>
          <a:p>
            <a:pPr algn="ctr"/>
          </a:p>
        </p:txBody>
      </p:sp>
      <p:sp>
        <p:nvSpPr>
          <p:cNvPr id="102" name="Rectangle 101"/>
          <p:cNvSpPr/>
          <p:nvPr/>
        </p:nvSpPr>
        <p:spPr>
          <a:xfrm>
            <a:off x="5914800" y="9666000"/>
            <a:ext cx="252000" cy="136800"/>
          </a:xfrm>
          <a:prstGeom prst="rect">
            <a:avLst/>
          </a:prstGeom>
          <a:solidFill>
            <a:srgbClr val="EA7A28"/>
          </a:solidFill>
          <a:ln>
            <a:noFill/>
          </a:ln>
        </p:spPr>
        <p:txBody>
          <a:bodyPr rtlCol="0" anchor="ctr" lIns="54000" rIns="54000" tIns="54000" bIns="54000"/>
          <a:lstStyle/>
          <a:p>
            <a:pPr algn="ctr"/>
          </a:p>
        </p:txBody>
      </p:sp>
      <p:sp>
        <p:nvSpPr>
          <p:cNvPr id="103" name="Rectangle 102"/>
          <p:cNvSpPr/>
          <p:nvPr/>
        </p:nvSpPr>
        <p:spPr>
          <a:xfrm>
            <a:off x="6270000" y="9493200"/>
            <a:ext cx="252000" cy="136800"/>
          </a:xfrm>
          <a:prstGeom prst="rect">
            <a:avLst/>
          </a:prstGeom>
          <a:solidFill>
            <a:srgbClr val="EA7A28"/>
          </a:solidFill>
          <a:ln>
            <a:noFill/>
          </a:ln>
        </p:spPr>
        <p:txBody>
          <a:bodyPr rtlCol="0" anchor="ctr" lIns="54000" rIns="54000" tIns="54000" bIns="54000"/>
          <a:lstStyle/>
          <a:p>
            <a:pPr algn="ctr"/>
          </a:p>
        </p:txBody>
      </p:sp>
      <p:sp>
        <p:nvSpPr>
          <p:cNvPr id="104" name="Rectangle 103"/>
          <p:cNvSpPr/>
          <p:nvPr/>
        </p:nvSpPr>
        <p:spPr>
          <a:xfrm>
            <a:off x="6270000" y="9666000"/>
            <a:ext cx="252000" cy="136800"/>
          </a:xfrm>
          <a:prstGeom prst="rect">
            <a:avLst/>
          </a:prstGeom>
          <a:solidFill>
            <a:srgbClr val="EA7A28"/>
          </a:solidFill>
          <a:ln>
            <a:noFill/>
          </a:ln>
        </p:spPr>
        <p:txBody>
          <a:bodyPr rtlCol="0" anchor="ctr" lIns="54000" rIns="54000" tIns="54000" bIns="54000"/>
          <a:lstStyle/>
          <a:p>
            <a:pPr algn="ctr"/>
          </a:p>
        </p:txBody>
      </p:sp>
      <p:sp>
        <p:nvSpPr>
          <p:cNvPr id="105" name="Rectangle 104"/>
          <p:cNvSpPr/>
          <p:nvPr/>
        </p:nvSpPr>
        <p:spPr>
          <a:xfrm>
            <a:off x="4332000" y="9630000"/>
            <a:ext cx="2352000" cy="36000"/>
          </a:xfrm>
          <a:prstGeom prst="rect">
            <a:avLst/>
          </a:prstGeom>
          <a:solidFill>
            <a:srgbClr val="7C3AED"/>
          </a:solidFill>
          <a:ln>
            <a:noFill/>
          </a:ln>
        </p:spPr>
        <p:txBody>
          <a:bodyPr rtlCol="0" anchor="ctr" lIns="54000" rIns="54000" tIns="54000" bIns="54000"/>
          <a:lstStyle/>
          <a:p>
            <a:pPr algn="ctr"/>
          </a:p>
        </p:txBody>
      </p:sp>
      <p:sp>
        <p:nvSpPr>
          <p:cNvPr id="106" name="Rectangle 105"/>
          <p:cNvSpPr/>
          <p:nvPr/>
        </p:nvSpPr>
        <p:spPr>
          <a:xfrm>
            <a:off x="4332000" y="9802800"/>
            <a:ext cx="2352000" cy="324000"/>
          </a:xfrm>
          <a:prstGeom prst="rect">
            <a:avLst/>
          </a:prstGeom>
          <a:solidFill>
            <a:srgbClr val="5E6C85"/>
          </a:solidFill>
          <a:ln>
            <a:noFill/>
          </a:ln>
        </p:spPr>
        <p:txBody>
          <a:bodyPr rtlCol="0" anchor="ctr" lIns="54000" rIns="54000" tIns="54000" bIns="54000"/>
          <a:lstStyle/>
          <a:p>
            <a:pPr algn="ctr"/>
          </a:p>
        </p:txBody>
      </p:sp>
      <p:sp>
        <p:nvSpPr>
          <p:cNvPr id="107" name="Rectangle 106"/>
          <p:cNvSpPr/>
          <p:nvPr/>
        </p:nvSpPr>
        <p:spPr>
          <a:xfrm>
            <a:off x="4152000" y="10393200"/>
            <a:ext cx="151200" cy="151200"/>
          </a:xfrm>
          <a:prstGeom prst="rect">
            <a:avLst/>
          </a:prstGeom>
          <a:solidFill>
            <a:srgbClr val="BFE3E6"/>
          </a:solidFill>
          <a:ln w="6350">
            <a:solidFill>
              <a:srgbClr val="9AA3B2"/>
            </a:solidFill>
          </a:ln>
        </p:spPr>
        <p:txBody>
          <a:bodyPr rtlCol="0" anchor="ctr" lIns="54000" rIns="54000" tIns="54000" bIns="54000"/>
          <a:lstStyle/>
          <a:p>
            <a:pPr algn="ctr"/>
          </a:p>
        </p:txBody>
      </p:sp>
      <p:sp>
        <p:nvSpPr>
          <p:cNvPr id="108" name="TextBox 107"/>
          <p:cNvSpPr txBox="1"/>
          <p:nvPr/>
        </p:nvSpPr>
        <p:spPr>
          <a:xfrm>
            <a:off x="4350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산화막</a:t>
            </a:r>
          </a:p>
        </p:txBody>
      </p:sp>
      <p:sp>
        <p:nvSpPr>
          <p:cNvPr id="109" name="Rectangle 108"/>
          <p:cNvSpPr/>
          <p:nvPr/>
        </p:nvSpPr>
        <p:spPr>
          <a:xfrm>
            <a:off x="5080000" y="10393200"/>
            <a:ext cx="151200" cy="151200"/>
          </a:xfrm>
          <a:prstGeom prst="rect">
            <a:avLst/>
          </a:prstGeom>
          <a:solidFill>
            <a:srgbClr val="EA7A28"/>
          </a:solidFill>
          <a:ln w="6350">
            <a:solidFill>
              <a:srgbClr val="9AA3B2"/>
            </a:solidFill>
          </a:ln>
        </p:spPr>
        <p:txBody>
          <a:bodyPr rtlCol="0" anchor="ctr" lIns="54000" rIns="54000" tIns="54000" bIns="54000"/>
          <a:lstStyle/>
          <a:p>
            <a:pPr algn="ctr"/>
          </a:p>
        </p:txBody>
      </p:sp>
      <p:sp>
        <p:nvSpPr>
          <p:cNvPr id="110" name="TextBox 109"/>
          <p:cNvSpPr txBox="1"/>
          <p:nvPr/>
        </p:nvSpPr>
        <p:spPr>
          <a:xfrm>
            <a:off x="5278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구리 패드</a:t>
            </a:r>
          </a:p>
        </p:txBody>
      </p:sp>
      <p:sp>
        <p:nvSpPr>
          <p:cNvPr id="111" name="Rectangle 110"/>
          <p:cNvSpPr/>
          <p:nvPr/>
        </p:nvSpPr>
        <p:spPr>
          <a:xfrm>
            <a:off x="6008000" y="10393200"/>
            <a:ext cx="151200" cy="151200"/>
          </a:xfrm>
          <a:prstGeom prst="rect">
            <a:avLst/>
          </a:prstGeom>
          <a:solidFill>
            <a:srgbClr val="7C3AED"/>
          </a:solidFill>
          <a:ln w="6350">
            <a:solidFill>
              <a:srgbClr val="9AA3B2"/>
            </a:solidFill>
          </a:ln>
        </p:spPr>
        <p:txBody>
          <a:bodyPr rtlCol="0" anchor="ctr" lIns="54000" rIns="54000" tIns="54000" bIns="54000"/>
          <a:lstStyle/>
          <a:p>
            <a:pPr algn="ctr"/>
          </a:p>
        </p:txBody>
      </p:sp>
      <p:sp>
        <p:nvSpPr>
          <p:cNvPr id="112" name="TextBox 111"/>
          <p:cNvSpPr txBox="1"/>
          <p:nvPr/>
        </p:nvSpPr>
        <p:spPr>
          <a:xfrm>
            <a:off x="6206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접합 계면</a:t>
            </a:r>
          </a:p>
        </p:txBody>
      </p:sp>
      <p:sp>
        <p:nvSpPr>
          <p:cNvPr id="113" name="TextBox 112"/>
          <p:cNvSpPr txBox="1"/>
          <p:nvPr/>
        </p:nvSpPr>
        <p:spPr>
          <a:xfrm>
            <a:off x="4116000" y="10746000"/>
            <a:ext cx="2784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1E2532"/>
                </a:solidFill>
                <a:latin typeface="맑은 고딕"/>
                <a:ea typeface="맑은 고딕"/>
                <a:cs typeface="맑은 고딕"/>
              </a:rPr>
              <a:t>구리–구리 + 산화막–산화막 직접 접합</a:t>
            </a:r>
          </a:p>
          <a:p>
            <a:pPr algn="ctr" marL="0" indent="0">
              <a:lnSpc>
                <a:spcPts val="1680"/>
              </a:lnSpc>
              <a:spcBef>
                <a:spcPts val="0"/>
              </a:spcBef>
              <a:spcAft>
                <a:spcPts val="0"/>
              </a:spcAft>
              <a:buNone/>
            </a:pPr>
            <a:r>
              <a:rPr sz="1400" b="0" i="0" lang="ko-KR">
                <a:solidFill>
                  <a:srgbClr val="5B6475"/>
                </a:solidFill>
                <a:latin typeface="맑은 고딕"/>
                <a:ea typeface="맑은 고딕"/>
                <a:cs typeface="맑은 고딕"/>
              </a:rPr>
              <a:t>범프 없이 10 µm 이하 간격</a:t>
            </a:r>
          </a:p>
        </p:txBody>
      </p:sp>
      <p:cxnSp>
        <p:nvCxnSpPr>
          <p:cNvPr id="114" name="Connector 113"/>
          <p:cNvCxnSpPr/>
          <p:nvPr/>
        </p:nvCxnSpPr>
        <p:spPr>
          <a:xfrm>
            <a:off x="3702000" y="10080000"/>
            <a:ext cx="252000" cy="0"/>
          </a:xfrm>
          <a:prstGeom prst="line">
            <a:avLst/>
          </a:prstGeom>
          <a:ln w="50800">
            <a:solidFill>
              <a:srgbClr val="7C3AED"/>
            </a:solidFill>
            <a:tailEnd type="triangle" w="med" len="med"/>
          </a:ln>
        </p:spPr>
      </p:cxnSp>
      <p:sp>
        <p:nvSpPr>
          <p:cNvPr id="115" name="Rectangle 114"/>
          <p:cNvSpPr/>
          <p:nvPr/>
        </p:nvSpPr>
        <p:spPr>
          <a:xfrm>
            <a:off x="576000" y="11484000"/>
            <a:ext cx="6504000" cy="414000"/>
          </a:xfrm>
          <a:prstGeom prst="rect">
            <a:avLst/>
          </a:prstGeom>
          <a:solidFill>
            <a:srgbClr val="E8EEF7"/>
          </a:solidFill>
          <a:ln>
            <a:noFill/>
          </a:ln>
        </p:spPr>
        <p:txBody>
          <a:bodyPr rtlCol="0" anchor="ctr" lIns="54000" rIns="54000" tIns="54000" bIns="54000"/>
          <a:lstStyle/>
          <a:p>
            <a:pPr algn="ctr"/>
          </a:p>
        </p:txBody>
      </p:sp>
      <p:sp>
        <p:nvSpPr>
          <p:cNvPr id="116" name="Rectangle 115"/>
          <p:cNvSpPr/>
          <p:nvPr/>
        </p:nvSpPr>
        <p:spPr>
          <a:xfrm>
            <a:off x="666000" y="11592000"/>
            <a:ext cx="108000" cy="198000"/>
          </a:xfrm>
          <a:prstGeom prst="rect">
            <a:avLst/>
          </a:prstGeom>
          <a:solidFill>
            <a:srgbClr val="13294B"/>
          </a:solidFill>
          <a:ln>
            <a:noFill/>
          </a:ln>
        </p:spPr>
        <p:txBody>
          <a:bodyPr rtlCol="0" anchor="ctr" lIns="54000" rIns="54000" tIns="54000" bIns="54000"/>
          <a:lstStyle/>
          <a:p>
            <a:pPr algn="ctr"/>
          </a:p>
        </p:txBody>
      </p:sp>
      <p:sp>
        <p:nvSpPr>
          <p:cNvPr id="117" name="TextBox 116"/>
          <p:cNvSpPr txBox="1"/>
          <p:nvPr/>
        </p:nvSpPr>
        <p:spPr>
          <a:xfrm>
            <a:off x="882000" y="11484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Real World Context</a:t>
            </a:r>
            <a:r>
              <a:rPr sz="1800" b="0" i="0" lang="ko-KR">
                <a:solidFill>
                  <a:srgbClr val="13294B"/>
                </a:solidFill>
                <a:latin typeface="맑은 고딕"/>
                <a:ea typeface="맑은 고딕"/>
                <a:cs typeface="맑은 고딕"/>
              </a:rPr>
              <a:t>  ·  산업 맥락</a:t>
            </a:r>
          </a:p>
        </p:txBody>
      </p:sp>
      <p:sp>
        <p:nvSpPr>
          <p:cNvPr id="118" name="TextBox 117"/>
          <p:cNvSpPr txBox="1"/>
          <p:nvPr/>
        </p:nvSpPr>
        <p:spPr>
          <a:xfrm>
            <a:off x="648000" y="12060000"/>
            <a:ext cx="6396000" cy="288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solidFill>
                  <a:srgbClr val="1E2532"/>
                </a:solidFill>
                <a:latin typeface="맑은 고딕"/>
                <a:ea typeface="맑은 고딕"/>
                <a:cs typeface="맑은 고딕"/>
              </a:rPr>
              <a:t>하이브리드 본딩 특허 활동을 주도하는 출원인</a:t>
            </a:r>
            <a:r>
              <a:rPr sz="1400" b="0" i="0" lang="ko-KR">
                <a:solidFill>
                  <a:srgbClr val="5B6475"/>
                </a:solidFill>
                <a:latin typeface="맑은 고딕"/>
                <a:ea typeface="맑은 고딕"/>
                <a:cs typeface="맑은 고딕"/>
              </a:rPr>
              <a:t>  (KnowMade, 2024)</a:t>
            </a:r>
          </a:p>
        </p:txBody>
      </p:sp>
      <p:sp>
        <p:nvSpPr>
          <p:cNvPr id="119" name="Rounded Rectangle 118"/>
          <p:cNvSpPr/>
          <p:nvPr/>
        </p:nvSpPr>
        <p:spPr>
          <a:xfrm>
            <a:off x="6480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TSMC</a:t>
            </a:r>
          </a:p>
        </p:txBody>
      </p:sp>
      <p:sp>
        <p:nvSpPr>
          <p:cNvPr id="120" name="Rounded Rectangle 119"/>
          <p:cNvSpPr/>
          <p:nvPr/>
        </p:nvSpPr>
        <p:spPr>
          <a:xfrm>
            <a:off x="19416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Adeia</a:t>
            </a:r>
          </a:p>
        </p:txBody>
      </p:sp>
      <p:sp>
        <p:nvSpPr>
          <p:cNvPr id="121" name="Rounded Rectangle 120"/>
          <p:cNvSpPr/>
          <p:nvPr/>
        </p:nvSpPr>
        <p:spPr>
          <a:xfrm>
            <a:off x="32352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YMTC</a:t>
            </a:r>
          </a:p>
        </p:txBody>
      </p:sp>
      <p:sp>
        <p:nvSpPr>
          <p:cNvPr id="122" name="Rounded Rectangle 121"/>
          <p:cNvSpPr/>
          <p:nvPr/>
        </p:nvSpPr>
        <p:spPr>
          <a:xfrm>
            <a:off x="45288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Intel</a:t>
            </a:r>
          </a:p>
        </p:txBody>
      </p:sp>
      <p:sp>
        <p:nvSpPr>
          <p:cNvPr id="123" name="Rounded Rectangle 122"/>
          <p:cNvSpPr/>
          <p:nvPr/>
        </p:nvSpPr>
        <p:spPr>
          <a:xfrm>
            <a:off x="58224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Samsung</a:t>
            </a:r>
          </a:p>
        </p:txBody>
      </p:sp>
      <p:sp>
        <p:nvSpPr>
          <p:cNvPr id="124" name="TextBox 123"/>
          <p:cNvSpPr txBox="1"/>
          <p:nvPr/>
        </p:nvSpPr>
        <p:spPr>
          <a:xfrm>
            <a:off x="648000" y="12906000"/>
            <a:ext cx="6396000" cy="576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파운드리·라이선싱 기업·메모리 제조사가 함께 주도 → 접합 기술은 더 이상 후공정 전문기업만의 영역이 아니다.</a:t>
            </a:r>
          </a:p>
        </p:txBody>
      </p:sp>
      <p:sp>
        <p:nvSpPr>
          <p:cNvPr id="125" name="Rectangle 124"/>
          <p:cNvSpPr/>
          <p:nvPr/>
        </p:nvSpPr>
        <p:spPr>
          <a:xfrm>
            <a:off x="576000" y="13608000"/>
            <a:ext cx="6504000" cy="414000"/>
          </a:xfrm>
          <a:prstGeom prst="rect">
            <a:avLst/>
          </a:prstGeom>
          <a:solidFill>
            <a:srgbClr val="E8EEF7"/>
          </a:solidFill>
          <a:ln>
            <a:noFill/>
          </a:ln>
        </p:spPr>
        <p:txBody>
          <a:bodyPr rtlCol="0" anchor="ctr" lIns="54000" rIns="54000" tIns="54000" bIns="54000"/>
          <a:lstStyle/>
          <a:p>
            <a:pPr algn="ctr"/>
          </a:p>
        </p:txBody>
      </p:sp>
      <p:sp>
        <p:nvSpPr>
          <p:cNvPr id="126" name="Rectangle 125"/>
          <p:cNvSpPr/>
          <p:nvPr/>
        </p:nvSpPr>
        <p:spPr>
          <a:xfrm>
            <a:off x="666000" y="13716000"/>
            <a:ext cx="108000" cy="198000"/>
          </a:xfrm>
          <a:prstGeom prst="rect">
            <a:avLst/>
          </a:prstGeom>
          <a:solidFill>
            <a:srgbClr val="13294B"/>
          </a:solidFill>
          <a:ln>
            <a:noFill/>
          </a:ln>
        </p:spPr>
        <p:txBody>
          <a:bodyPr rtlCol="0" anchor="ctr" lIns="54000" rIns="54000" tIns="54000" bIns="54000"/>
          <a:lstStyle/>
          <a:p>
            <a:pPr algn="ctr"/>
          </a:p>
        </p:txBody>
      </p:sp>
      <p:sp>
        <p:nvSpPr>
          <p:cNvPr id="127" name="TextBox 126"/>
          <p:cNvSpPr txBox="1"/>
          <p:nvPr/>
        </p:nvSpPr>
        <p:spPr>
          <a:xfrm>
            <a:off x="882000" y="1360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Gap</a:t>
            </a:r>
            <a:r>
              <a:rPr sz="1800" b="0" i="0" lang="ko-KR">
                <a:solidFill>
                  <a:srgbClr val="13294B"/>
                </a:solidFill>
                <a:latin typeface="맑은 고딕"/>
                <a:ea typeface="맑은 고딕"/>
                <a:cs typeface="맑은 고딕"/>
              </a:rPr>
              <a:t>  ·  연구 공백</a:t>
            </a:r>
          </a:p>
        </p:txBody>
      </p:sp>
      <p:sp>
        <p:nvSpPr>
          <p:cNvPr id="128" name="Oval 127"/>
          <p:cNvSpPr/>
          <p:nvPr/>
        </p:nvSpPr>
        <p:spPr>
          <a:xfrm>
            <a:off x="666000" y="14220000"/>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1</a:t>
            </a:r>
          </a:p>
        </p:txBody>
      </p:sp>
      <p:sp>
        <p:nvSpPr>
          <p:cNvPr id="129" name="TextBox 128"/>
          <p:cNvSpPr txBox="1"/>
          <p:nvPr/>
        </p:nvSpPr>
        <p:spPr>
          <a:xfrm>
            <a:off x="1134000" y="14184000"/>
            <a:ext cx="5892000" cy="602675"/>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기존 기술융합 연구는 주로 서로 다른 산업·기술 분야 사이의 융합(ICT–가전, 식품–제약, 나노–바이오)을 다루었다.</a:t>
            </a:r>
          </a:p>
        </p:txBody>
      </p:sp>
      <p:sp>
        <p:nvSpPr>
          <p:cNvPr id="130" name="Oval 129"/>
          <p:cNvSpPr/>
          <p:nvPr/>
        </p:nvSpPr>
        <p:spPr>
          <a:xfrm>
            <a:off x="666000" y="14930675"/>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2</a:t>
            </a:r>
          </a:p>
        </p:txBody>
      </p:sp>
      <p:sp>
        <p:nvSpPr>
          <p:cNvPr id="131" name="TextBox 130"/>
          <p:cNvSpPr txBox="1"/>
          <p:nvPr/>
        </p:nvSpPr>
        <p:spPr>
          <a:xfrm>
            <a:off x="1134000" y="14894675"/>
            <a:ext cx="5892000" cy="877012"/>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한 산업 안에서 공정 단계를 가로지르는 융합은 충분히 다루어지지 않았고, 이를 특허 단위에서 검정한 연구도 부족하다.</a:t>
            </a:r>
          </a:p>
        </p:txBody>
      </p:sp>
      <p:sp>
        <p:nvSpPr>
          <p:cNvPr id="132" name="Oval 131"/>
          <p:cNvSpPr/>
          <p:nvPr/>
        </p:nvSpPr>
        <p:spPr>
          <a:xfrm>
            <a:off x="666000" y="15915686"/>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3</a:t>
            </a:r>
          </a:p>
        </p:txBody>
      </p:sp>
      <p:sp>
        <p:nvSpPr>
          <p:cNvPr id="133" name="TextBox 132"/>
          <p:cNvSpPr txBox="1"/>
          <p:nvPr/>
        </p:nvSpPr>
        <p:spPr>
          <a:xfrm>
            <a:off x="1134000" y="15879686"/>
            <a:ext cx="5892000" cy="602675"/>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융합을 단계적 과정으로 보는 이론에 비해, 융합 내용의 시간적 변화를 분석한 실증 연구는 부족하다.</a:t>
            </a:r>
          </a:p>
        </p:txBody>
      </p:sp>
      <p:sp>
        <p:nvSpPr>
          <p:cNvPr id="134" name="Rectangle 133"/>
          <p:cNvSpPr/>
          <p:nvPr/>
        </p:nvSpPr>
        <p:spPr>
          <a:xfrm>
            <a:off x="648000" y="16626361"/>
            <a:ext cx="6360000" cy="1224000"/>
          </a:xfrm>
          <a:prstGeom prst="rect">
            <a:avLst/>
          </a:prstGeom>
          <a:solidFill>
            <a:srgbClr val="FFF6DC"/>
          </a:solidFill>
          <a:ln w="25400">
            <a:solidFill>
              <a:srgbClr val="D4A72C"/>
            </a:solidFill>
          </a:ln>
        </p:spPr>
        <p:txBody>
          <a:bodyPr rtlCol="0" anchor="ctr" lIns="54000" rIns="54000" tIns="54000" bIns="54000"/>
          <a:lstStyle/>
          <a:p>
            <a:pPr algn="ctr"/>
          </a:p>
        </p:txBody>
      </p:sp>
      <p:sp>
        <p:nvSpPr>
          <p:cNvPr id="135" name="TextBox 134"/>
          <p:cNvSpPr txBox="1"/>
          <p:nvPr/>
        </p:nvSpPr>
        <p:spPr>
          <a:xfrm>
            <a:off x="828000" y="16662361"/>
            <a:ext cx="6000000" cy="1152000"/>
          </a:xfrm>
          <a:prstGeom prst="rect">
            <a:avLst/>
          </a:prstGeom>
          <a:noFill/>
        </p:spPr>
        <p:txBody>
          <a:bodyPr wrap="square" lIns="0" rIns="0" tIns="0" bIns="0" anchor="ctr">
            <a:noAutofit/>
          </a:bodyPr>
          <a:lstStyle/>
          <a:p>
            <a:pPr algn="l" marL="0" indent="0">
              <a:lnSpc>
                <a:spcPts val="1920"/>
              </a:lnSpc>
              <a:spcBef>
                <a:spcPts val="0"/>
              </a:spcBef>
              <a:spcAft>
                <a:spcPts val="200"/>
              </a:spcAft>
              <a:buNone/>
            </a:pPr>
            <a:r>
              <a:rPr sz="1600" b="1" i="0" lang="ko-KR">
                <a:solidFill>
                  <a:srgbClr val="A07800"/>
                </a:solidFill>
                <a:latin typeface="맑은 고딕"/>
                <a:ea typeface="맑은 고딕"/>
                <a:cs typeface="맑은 고딕"/>
              </a:rPr>
              <a:t>핵심 질문</a:t>
            </a:r>
          </a:p>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공정 단계 간 기술 경계의 융합을 개별 특허 수준에서 확인할 수 있는가? 그 융합은 시간에 따라 어떻게 전개되는가?</a:t>
            </a:r>
          </a:p>
        </p:txBody>
      </p:sp>
      <p:sp>
        <p:nvSpPr>
          <p:cNvPr id="136" name="Rectangle 135"/>
          <p:cNvSpPr/>
          <p:nvPr/>
        </p:nvSpPr>
        <p:spPr>
          <a:xfrm>
            <a:off x="576000" y="17994361"/>
            <a:ext cx="6504000" cy="414000"/>
          </a:xfrm>
          <a:prstGeom prst="rect">
            <a:avLst/>
          </a:prstGeom>
          <a:solidFill>
            <a:srgbClr val="E8EEF7"/>
          </a:solidFill>
          <a:ln>
            <a:noFill/>
          </a:ln>
        </p:spPr>
        <p:txBody>
          <a:bodyPr rtlCol="0" anchor="ctr" lIns="54000" rIns="54000" tIns="54000" bIns="54000"/>
          <a:lstStyle/>
          <a:p>
            <a:pPr algn="ctr"/>
          </a:p>
        </p:txBody>
      </p:sp>
      <p:sp>
        <p:nvSpPr>
          <p:cNvPr id="137" name="Rectangle 136"/>
          <p:cNvSpPr/>
          <p:nvPr/>
        </p:nvSpPr>
        <p:spPr>
          <a:xfrm>
            <a:off x="666000" y="18102361"/>
            <a:ext cx="108000" cy="198000"/>
          </a:xfrm>
          <a:prstGeom prst="rect">
            <a:avLst/>
          </a:prstGeom>
          <a:solidFill>
            <a:srgbClr val="13294B"/>
          </a:solidFill>
          <a:ln>
            <a:noFill/>
          </a:ln>
        </p:spPr>
        <p:txBody>
          <a:bodyPr rtlCol="0" anchor="ctr" lIns="54000" rIns="54000" tIns="54000" bIns="54000"/>
          <a:lstStyle/>
          <a:p>
            <a:pPr algn="ctr"/>
          </a:p>
        </p:txBody>
      </p:sp>
      <p:sp>
        <p:nvSpPr>
          <p:cNvPr id="138" name="TextBox 137"/>
          <p:cNvSpPr txBox="1"/>
          <p:nvPr/>
        </p:nvSpPr>
        <p:spPr>
          <a:xfrm>
            <a:off x="882000" y="17994361"/>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Questions</a:t>
            </a:r>
            <a:r>
              <a:rPr sz="1800" b="0" i="0" lang="ko-KR">
                <a:solidFill>
                  <a:srgbClr val="13294B"/>
                </a:solidFill>
                <a:latin typeface="맑은 고딕"/>
                <a:ea typeface="맑은 고딕"/>
                <a:cs typeface="맑은 고딕"/>
              </a:rPr>
              <a:t>  ·  연구 질문</a:t>
            </a:r>
          </a:p>
        </p:txBody>
      </p:sp>
      <p:sp>
        <p:nvSpPr>
          <p:cNvPr id="139" name="Rectangle 138"/>
          <p:cNvSpPr/>
          <p:nvPr/>
        </p:nvSpPr>
        <p:spPr>
          <a:xfrm>
            <a:off x="648000" y="18570361"/>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0" name="Rectangle 139"/>
          <p:cNvSpPr/>
          <p:nvPr/>
        </p:nvSpPr>
        <p:spPr>
          <a:xfrm>
            <a:off x="648000" y="18570361"/>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RQ1</a:t>
            </a:r>
          </a:p>
        </p:txBody>
      </p:sp>
      <p:sp>
        <p:nvSpPr>
          <p:cNvPr id="141" name="TextBox 140"/>
          <p:cNvSpPr txBox="1"/>
          <p:nvPr/>
        </p:nvSpPr>
        <p:spPr>
          <a:xfrm>
            <a:off x="1818000" y="18606361"/>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수준과 유형</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142" name="Rectangle 141"/>
          <p:cNvSpPr/>
          <p:nvPr/>
        </p:nvSpPr>
        <p:spPr>
          <a:xfrm>
            <a:off x="648000" y="20150241"/>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3" name="Rectangle 142"/>
          <p:cNvSpPr/>
          <p:nvPr/>
        </p:nvSpPr>
        <p:spPr>
          <a:xfrm>
            <a:off x="648000" y="20150241"/>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RQ2</a:t>
            </a:r>
          </a:p>
        </p:txBody>
      </p:sp>
      <p:sp>
        <p:nvSpPr>
          <p:cNvPr id="144" name="TextBox 143"/>
          <p:cNvSpPr txBox="1"/>
          <p:nvPr/>
        </p:nvSpPr>
        <p:spPr>
          <a:xfrm>
            <a:off x="1818000" y="20186241"/>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시간적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공정 단계 간 기술융합은 시간에 따라</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어떻게 변화해 왔는가?</a:t>
            </a:r>
          </a:p>
        </p:txBody>
      </p:sp>
      <p:sp>
        <p:nvSpPr>
          <p:cNvPr id="145" name="Rectangle 144"/>
          <p:cNvSpPr/>
          <p:nvPr/>
        </p:nvSpPr>
        <p:spPr>
          <a:xfrm>
            <a:off x="648000" y="21730120"/>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6" name="Rectangle 145"/>
          <p:cNvSpPr/>
          <p:nvPr/>
        </p:nvSpPr>
        <p:spPr>
          <a:xfrm>
            <a:off x="648000" y="21730120"/>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RQ3</a:t>
            </a:r>
          </a:p>
        </p:txBody>
      </p:sp>
      <p:sp>
        <p:nvSpPr>
          <p:cNvPr id="147" name="TextBox 146"/>
          <p:cNvSpPr txBox="1"/>
          <p:nvPr/>
        </p:nvSpPr>
        <p:spPr>
          <a:xfrm>
            <a:off x="1818000" y="21766120"/>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구조적 중심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148" name="Rectangle 147"/>
          <p:cNvSpPr/>
          <p:nvPr/>
        </p:nvSpPr>
        <p:spPr>
          <a:xfrm>
            <a:off x="7440000" y="4680000"/>
            <a:ext cx="6504000" cy="720000"/>
          </a:xfrm>
          <a:prstGeom prst="rect">
            <a:avLst/>
          </a:prstGeom>
          <a:solidFill>
            <a:srgbClr val="13294B"/>
          </a:solidFill>
          <a:ln>
            <a:noFill/>
          </a:ln>
        </p:spPr>
        <p:txBody>
          <a:bodyPr rtlCol="0" anchor="ctr" lIns="54000" rIns="54000" tIns="54000" bIns="54000"/>
          <a:lstStyle/>
          <a:p>
            <a:pPr algn="ctr"/>
          </a:p>
        </p:txBody>
      </p:sp>
      <p:sp>
        <p:nvSpPr>
          <p:cNvPr id="149" name="Oval 148"/>
          <p:cNvSpPr/>
          <p:nvPr/>
        </p:nvSpPr>
        <p:spPr>
          <a:xfrm>
            <a:off x="7620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2</a:t>
            </a:r>
          </a:p>
        </p:txBody>
      </p:sp>
      <p:sp>
        <p:nvSpPr>
          <p:cNvPr id="150" name="TextBox 149"/>
          <p:cNvSpPr txBox="1"/>
          <p:nvPr/>
        </p:nvSpPr>
        <p:spPr>
          <a:xfrm>
            <a:off x="8268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Solution</a:t>
            </a:r>
            <a:r>
              <a:rPr sz="2000" b="0" i="0" lang="ko-KR">
                <a:solidFill>
                  <a:srgbClr val="C8D3E6"/>
                </a:solidFill>
                <a:latin typeface="맑은 고딕"/>
                <a:ea typeface="맑은 고딕"/>
                <a:cs typeface="맑은 고딕"/>
              </a:rPr>
              <a:t>  ·  연구 설계</a:t>
            </a:r>
          </a:p>
        </p:txBody>
      </p:sp>
      <p:sp>
        <p:nvSpPr>
          <p:cNvPr id="151" name="Rectangle 150"/>
          <p:cNvSpPr/>
          <p:nvPr/>
        </p:nvSpPr>
        <p:spPr>
          <a:xfrm>
            <a:off x="7440000" y="5616000"/>
            <a:ext cx="6504000" cy="414000"/>
          </a:xfrm>
          <a:prstGeom prst="rect">
            <a:avLst/>
          </a:prstGeom>
          <a:solidFill>
            <a:srgbClr val="E8EEF7"/>
          </a:solidFill>
          <a:ln>
            <a:noFill/>
          </a:ln>
        </p:spPr>
        <p:txBody>
          <a:bodyPr rtlCol="0" anchor="ctr" lIns="54000" rIns="54000" tIns="54000" bIns="54000"/>
          <a:lstStyle/>
          <a:p>
            <a:pPr algn="ctr"/>
          </a:p>
        </p:txBody>
      </p:sp>
      <p:sp>
        <p:nvSpPr>
          <p:cNvPr id="152" name="Rectangle 151"/>
          <p:cNvSpPr/>
          <p:nvPr/>
        </p:nvSpPr>
        <p:spPr>
          <a:xfrm>
            <a:off x="7530000" y="5724000"/>
            <a:ext cx="108000" cy="198000"/>
          </a:xfrm>
          <a:prstGeom prst="rect">
            <a:avLst/>
          </a:prstGeom>
          <a:solidFill>
            <a:srgbClr val="13294B"/>
          </a:solidFill>
          <a:ln>
            <a:noFill/>
          </a:ln>
        </p:spPr>
        <p:txBody>
          <a:bodyPr rtlCol="0" anchor="ctr" lIns="54000" rIns="54000" tIns="54000" bIns="54000"/>
          <a:lstStyle/>
          <a:p>
            <a:pPr algn="ctr"/>
          </a:p>
        </p:txBody>
      </p:sp>
      <p:sp>
        <p:nvSpPr>
          <p:cNvPr id="153" name="TextBox 152"/>
          <p:cNvSpPr txBox="1"/>
          <p:nvPr/>
        </p:nvSpPr>
        <p:spPr>
          <a:xfrm>
            <a:off x="7746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Data</a:t>
            </a:r>
            <a:r>
              <a:rPr sz="1800" b="0" i="0" lang="ko-KR">
                <a:solidFill>
                  <a:srgbClr val="13294B"/>
                </a:solidFill>
                <a:latin typeface="맑은 고딕"/>
                <a:ea typeface="맑은 고딕"/>
                <a:cs typeface="맑은 고딕"/>
              </a:rPr>
              <a:t>  ·  자료</a:t>
            </a:r>
          </a:p>
        </p:txBody>
      </p:sp>
      <p:sp>
        <p:nvSpPr>
          <p:cNvPr id="154" name="Rectangle 153"/>
          <p:cNvSpPr/>
          <p:nvPr/>
        </p:nvSpPr>
        <p:spPr>
          <a:xfrm>
            <a:off x="7512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55" name="TextBox 154"/>
          <p:cNvSpPr txBox="1"/>
          <p:nvPr/>
        </p:nvSpPr>
        <p:spPr>
          <a:xfrm>
            <a:off x="7512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928</a:t>
            </a:r>
          </a:p>
        </p:txBody>
      </p:sp>
      <p:sp>
        <p:nvSpPr>
          <p:cNvPr id="156" name="TextBox 155"/>
          <p:cNvSpPr txBox="1"/>
          <p:nvPr/>
        </p:nvSpPr>
        <p:spPr>
          <a:xfrm>
            <a:off x="7512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관련 특허출원(건)</a:t>
            </a:r>
          </a:p>
        </p:txBody>
      </p:sp>
      <p:sp>
        <p:nvSpPr>
          <p:cNvPr id="157" name="Rectangle 156"/>
          <p:cNvSpPr/>
          <p:nvPr/>
        </p:nvSpPr>
        <p:spPr>
          <a:xfrm>
            <a:off x="9680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58" name="TextBox 157"/>
          <p:cNvSpPr txBox="1"/>
          <p:nvPr/>
        </p:nvSpPr>
        <p:spPr>
          <a:xfrm>
            <a:off x="9680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262</a:t>
            </a:r>
          </a:p>
        </p:txBody>
      </p:sp>
      <p:sp>
        <p:nvSpPr>
          <p:cNvPr id="159" name="TextBox 158"/>
          <p:cNvSpPr txBox="1"/>
          <p:nvPr/>
        </p:nvSpPr>
        <p:spPr>
          <a:xfrm>
            <a:off x="9680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CPC 서브그룹 기호(개)</a:t>
            </a:r>
          </a:p>
        </p:txBody>
      </p:sp>
      <p:sp>
        <p:nvSpPr>
          <p:cNvPr id="160" name="Rectangle 159"/>
          <p:cNvSpPr/>
          <p:nvPr/>
        </p:nvSpPr>
        <p:spPr>
          <a:xfrm>
            <a:off x="11848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61" name="TextBox 160"/>
          <p:cNvSpPr txBox="1"/>
          <p:nvPr/>
        </p:nvSpPr>
        <p:spPr>
          <a:xfrm>
            <a:off x="11848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8</a:t>
            </a:r>
          </a:p>
        </p:txBody>
      </p:sp>
      <p:sp>
        <p:nvSpPr>
          <p:cNvPr id="162" name="TextBox 161"/>
          <p:cNvSpPr txBox="1"/>
          <p:nvPr/>
        </p:nvSpPr>
        <p:spPr>
          <a:xfrm>
            <a:off x="11848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출원청(개)</a:t>
            </a:r>
          </a:p>
        </p:txBody>
      </p:sp>
      <p:sp>
        <p:nvSpPr>
          <p:cNvPr id="163" name="TextBox 162"/>
          <p:cNvSpPr txBox="1"/>
          <p:nvPr/>
        </p:nvSpPr>
        <p:spPr>
          <a:xfrm>
            <a:off x="7512000" y="7740000"/>
            <a:ext cx="6396000" cy="1080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EPO PATSTAT Global에서 CPC </a:t>
            </a:r>
            <a:r>
              <a:rPr sz="1700" b="1" i="0" lang="ko-KR">
                <a:solidFill>
                  <a:srgbClr val="2563C9"/>
                </a:solidFill>
                <a:latin typeface="맑은 고딕"/>
                <a:ea typeface="맑은 고딕"/>
                <a:cs typeface="맑은 고딕"/>
              </a:rPr>
              <a:t>H01L21(제조공정 분류)</a:t>
            </a:r>
            <a:r>
              <a:rPr sz="1700" b="0" i="0" lang="ko-KR">
                <a:solidFill>
                  <a:srgbClr val="1E2532"/>
                </a:solidFill>
                <a:latin typeface="맑은 고딕"/>
                <a:ea typeface="맑은 고딕"/>
                <a:cs typeface="맑은 고딕"/>
              </a:rPr>
              <a:t> 또는 </a:t>
            </a:r>
            <a:r>
              <a:rPr sz="1700" b="1" i="0" lang="ko-KR">
                <a:solidFill>
                  <a:srgbClr val="EA7A28"/>
                </a:solidFill>
                <a:latin typeface="맑은 고딕"/>
                <a:ea typeface="맑은 고딕"/>
                <a:cs typeface="맑은 고딕"/>
              </a:rPr>
              <a:t>H01L24(접합·인터커넥트 분류)</a:t>
            </a:r>
            <a:r>
              <a:rPr sz="1700" b="0" i="0" lang="ko-KR">
                <a:solidFill>
                  <a:srgbClr val="1E2532"/>
                </a:solidFill>
                <a:latin typeface="맑은 고딕"/>
                <a:ea typeface="맑은 고딕"/>
                <a:cs typeface="맑은 고딕"/>
              </a:rPr>
              <a:t> 기호를 가진 출원 중 제목에 hybrid bonding, direct bonding, Cu–Cu 등이 포함된 출원 (1968–2024)</a:t>
            </a:r>
          </a:p>
        </p:txBody>
      </p:sp>
      <p:sp>
        <p:nvSpPr>
          <p:cNvPr id="164" name="Rectangle 163"/>
          <p:cNvSpPr/>
          <p:nvPr/>
        </p:nvSpPr>
        <p:spPr>
          <a:xfrm>
            <a:off x="7440000" y="8928000"/>
            <a:ext cx="6504000" cy="414000"/>
          </a:xfrm>
          <a:prstGeom prst="rect">
            <a:avLst/>
          </a:prstGeom>
          <a:solidFill>
            <a:srgbClr val="E8EEF7"/>
          </a:solidFill>
          <a:ln>
            <a:noFill/>
          </a:ln>
        </p:spPr>
        <p:txBody>
          <a:bodyPr rtlCol="0" anchor="ctr" lIns="54000" rIns="54000" tIns="54000" bIns="54000"/>
          <a:lstStyle/>
          <a:p>
            <a:pPr algn="ctr"/>
          </a:p>
        </p:txBody>
      </p:sp>
      <p:sp>
        <p:nvSpPr>
          <p:cNvPr id="165" name="Rectangle 164"/>
          <p:cNvSpPr/>
          <p:nvPr/>
        </p:nvSpPr>
        <p:spPr>
          <a:xfrm>
            <a:off x="7530000" y="9036000"/>
            <a:ext cx="108000" cy="198000"/>
          </a:xfrm>
          <a:prstGeom prst="rect">
            <a:avLst/>
          </a:prstGeom>
          <a:solidFill>
            <a:srgbClr val="13294B"/>
          </a:solidFill>
          <a:ln>
            <a:noFill/>
          </a:ln>
        </p:spPr>
        <p:txBody>
          <a:bodyPr rtlCol="0" anchor="ctr" lIns="54000" rIns="54000" tIns="54000" bIns="54000"/>
          <a:lstStyle/>
          <a:p>
            <a:pPr algn="ctr"/>
          </a:p>
        </p:txBody>
      </p:sp>
      <p:sp>
        <p:nvSpPr>
          <p:cNvPr id="166" name="TextBox 165"/>
          <p:cNvSpPr txBox="1"/>
          <p:nvPr/>
        </p:nvSpPr>
        <p:spPr>
          <a:xfrm>
            <a:off x="7746000" y="892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Measurement</a:t>
            </a:r>
            <a:r>
              <a:rPr sz="1800" b="0" i="0" lang="ko-KR">
                <a:solidFill>
                  <a:srgbClr val="13294B"/>
                </a:solidFill>
                <a:latin typeface="맑은 고딕"/>
                <a:ea typeface="맑은 고딕"/>
                <a:cs typeface="맑은 고딕"/>
              </a:rPr>
              <a:t>  ·  공동분류 유형화</a:t>
            </a:r>
          </a:p>
        </p:txBody>
      </p:sp>
      <p:pic>
        <p:nvPicPr>
          <p:cNvPr id="167" name="Picture 166" descr="venn.png"/>
          <p:cNvPicPr>
            <a:picLocks noChangeAspect="1"/>
          </p:cNvPicPr>
          <p:nvPr/>
        </p:nvPicPr>
        <p:blipFill>
          <a:blip r:embed="rId3"/>
          <a:stretch>
            <a:fillRect/>
          </a:stretch>
        </p:blipFill>
        <p:spPr>
          <a:xfrm>
            <a:off x="7620000" y="9504000"/>
            <a:ext cx="6144000" cy="3312664"/>
          </a:xfrm>
          <a:prstGeom prst="rect">
            <a:avLst/>
          </a:prstGeom>
        </p:spPr>
      </p:pic>
      <p:sp>
        <p:nvSpPr>
          <p:cNvPr id="168" name="TextBox 167"/>
          <p:cNvSpPr txBox="1"/>
          <p:nvPr/>
        </p:nvSpPr>
        <p:spPr>
          <a:xfrm>
            <a:off x="7512000" y="12888664"/>
            <a:ext cx="6396000" cy="360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7C3AED"/>
                </a:solidFill>
                <a:latin typeface="맑은 고딕"/>
                <a:ea typeface="맑은 고딕"/>
                <a:cs typeface="맑은 고딕"/>
              </a:rPr>
              <a:t>통합형</a:t>
            </a:r>
            <a:r>
              <a:rPr sz="1600" b="0" i="0" lang="ko-KR">
                <a:solidFill>
                  <a:srgbClr val="1E2532"/>
                </a:solidFill>
                <a:latin typeface="맑은 고딕"/>
                <a:ea typeface="맑은 고딕"/>
                <a:cs typeface="맑은 고딕"/>
              </a:rPr>
              <a:t> = 두 분류가 함께 부여된, 공정 단계의 경계를 넘는 발명</a:t>
            </a:r>
          </a:p>
        </p:txBody>
      </p:sp>
      <p:sp>
        <p:nvSpPr>
          <p:cNvPr id="169" name="Rectangle 168"/>
          <p:cNvSpPr/>
          <p:nvPr/>
        </p:nvSpPr>
        <p:spPr>
          <a:xfrm>
            <a:off x="7440000" y="13464664"/>
            <a:ext cx="6504000" cy="414000"/>
          </a:xfrm>
          <a:prstGeom prst="rect">
            <a:avLst/>
          </a:prstGeom>
          <a:solidFill>
            <a:srgbClr val="E8EEF7"/>
          </a:solidFill>
          <a:ln>
            <a:noFill/>
          </a:ln>
        </p:spPr>
        <p:txBody>
          <a:bodyPr rtlCol="0" anchor="ctr" lIns="54000" rIns="54000" tIns="54000" bIns="54000"/>
          <a:lstStyle/>
          <a:p>
            <a:pPr algn="ctr"/>
          </a:p>
        </p:txBody>
      </p:sp>
      <p:sp>
        <p:nvSpPr>
          <p:cNvPr id="170" name="Rectangle 169"/>
          <p:cNvSpPr/>
          <p:nvPr/>
        </p:nvSpPr>
        <p:spPr>
          <a:xfrm>
            <a:off x="7530000" y="13572664"/>
            <a:ext cx="108000" cy="198000"/>
          </a:xfrm>
          <a:prstGeom prst="rect">
            <a:avLst/>
          </a:prstGeom>
          <a:solidFill>
            <a:srgbClr val="13294B"/>
          </a:solidFill>
          <a:ln>
            <a:noFill/>
          </a:ln>
        </p:spPr>
        <p:txBody>
          <a:bodyPr rtlCol="0" anchor="ctr" lIns="54000" rIns="54000" tIns="54000" bIns="54000"/>
          <a:lstStyle/>
          <a:p>
            <a:pPr algn="ctr"/>
          </a:p>
        </p:txBody>
      </p:sp>
      <p:sp>
        <p:nvSpPr>
          <p:cNvPr id="171" name="TextBox 170"/>
          <p:cNvSpPr txBox="1"/>
          <p:nvPr/>
        </p:nvSpPr>
        <p:spPr>
          <a:xfrm>
            <a:off x="7746000" y="13464664"/>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Core Technology</a:t>
            </a:r>
            <a:r>
              <a:rPr sz="1800" b="0" i="0" lang="ko-KR">
                <a:solidFill>
                  <a:srgbClr val="13294B"/>
                </a:solidFill>
                <a:latin typeface="맑은 고딕"/>
                <a:ea typeface="맑은 고딕"/>
                <a:cs typeface="맑은 고딕"/>
              </a:rPr>
              <a:t>  ·  핵심 기술 식별</a:t>
            </a:r>
          </a:p>
        </p:txBody>
      </p:sp>
      <p:pic>
        <p:nvPicPr>
          <p:cNvPr id="172" name="Picture 171" descr="network_nolegend.png"/>
          <p:cNvPicPr>
            <a:picLocks noChangeAspect="1"/>
          </p:cNvPicPr>
          <p:nvPr/>
        </p:nvPicPr>
        <p:blipFill>
          <a:blip r:embed="rId4"/>
          <a:stretch>
            <a:fillRect/>
          </a:stretch>
        </p:blipFill>
        <p:spPr>
          <a:xfrm>
            <a:off x="7692000" y="14040664"/>
            <a:ext cx="6000000" cy="4426897"/>
          </a:xfrm>
          <a:prstGeom prst="rect">
            <a:avLst/>
          </a:prstGeom>
        </p:spPr>
      </p:pic>
      <p:sp>
        <p:nvSpPr>
          <p:cNvPr id="173" name="Oval 172"/>
          <p:cNvSpPr/>
          <p:nvPr/>
        </p:nvSpPr>
        <p:spPr>
          <a:xfrm>
            <a:off x="7764000" y="18575561"/>
            <a:ext cx="162000" cy="162000"/>
          </a:xfrm>
          <a:prstGeom prst="ellipse">
            <a:avLst/>
          </a:prstGeom>
          <a:solidFill>
            <a:srgbClr val="B5441B"/>
          </a:solidFill>
          <a:ln>
            <a:noFill/>
          </a:ln>
        </p:spPr>
        <p:txBody>
          <a:bodyPr rtlCol="0" anchor="ctr" lIns="54000" rIns="54000" tIns="54000" bIns="54000"/>
          <a:lstStyle/>
          <a:p>
            <a:pPr algn="ctr"/>
          </a:p>
        </p:txBody>
      </p:sp>
      <p:sp>
        <p:nvSpPr>
          <p:cNvPr id="174" name="TextBox 173"/>
          <p:cNvSpPr txBox="1"/>
          <p:nvPr/>
        </p:nvSpPr>
        <p:spPr>
          <a:xfrm>
            <a:off x="7980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핵심 기술</a:t>
            </a:r>
          </a:p>
        </p:txBody>
      </p:sp>
      <p:sp>
        <p:nvSpPr>
          <p:cNvPr id="175" name="Oval 174"/>
          <p:cNvSpPr/>
          <p:nvPr/>
        </p:nvSpPr>
        <p:spPr>
          <a:xfrm>
            <a:off x="9716000" y="18575561"/>
            <a:ext cx="162000" cy="162000"/>
          </a:xfrm>
          <a:prstGeom prst="ellipse">
            <a:avLst/>
          </a:prstGeom>
          <a:solidFill>
            <a:srgbClr val="EFB26A"/>
          </a:solidFill>
          <a:ln>
            <a:noFill/>
          </a:ln>
        </p:spPr>
        <p:txBody>
          <a:bodyPr rtlCol="0" anchor="ctr" lIns="54000" rIns="54000" tIns="54000" bIns="54000"/>
          <a:lstStyle/>
          <a:p>
            <a:pPr algn="ctr"/>
          </a:p>
        </p:txBody>
      </p:sp>
      <p:sp>
        <p:nvSpPr>
          <p:cNvPr id="176" name="TextBox 175"/>
          <p:cNvSpPr txBox="1"/>
          <p:nvPr/>
        </p:nvSpPr>
        <p:spPr>
          <a:xfrm>
            <a:off x="9932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기타 접합 기호</a:t>
            </a:r>
          </a:p>
        </p:txBody>
      </p:sp>
      <p:sp>
        <p:nvSpPr>
          <p:cNvPr id="177" name="Oval 176"/>
          <p:cNvSpPr/>
          <p:nvPr/>
        </p:nvSpPr>
        <p:spPr>
          <a:xfrm>
            <a:off x="11668000" y="18575561"/>
            <a:ext cx="162000" cy="162000"/>
          </a:xfrm>
          <a:prstGeom prst="ellipse">
            <a:avLst/>
          </a:prstGeom>
          <a:solidFill>
            <a:srgbClr val="1F3A5F"/>
          </a:solidFill>
          <a:ln>
            <a:noFill/>
          </a:ln>
        </p:spPr>
        <p:txBody>
          <a:bodyPr rtlCol="0" anchor="ctr" lIns="54000" rIns="54000" tIns="54000" bIns="54000"/>
          <a:lstStyle/>
          <a:p>
            <a:pPr algn="ctr"/>
          </a:p>
        </p:txBody>
      </p:sp>
      <p:sp>
        <p:nvSpPr>
          <p:cNvPr id="178" name="TextBox 177"/>
          <p:cNvSpPr txBox="1"/>
          <p:nvPr/>
        </p:nvSpPr>
        <p:spPr>
          <a:xfrm>
            <a:off x="11884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제조공정 기호</a:t>
            </a:r>
          </a:p>
        </p:txBody>
      </p:sp>
      <p:sp>
        <p:nvSpPr>
          <p:cNvPr id="179" name="TextBox 178"/>
          <p:cNvSpPr txBox="1"/>
          <p:nvPr/>
        </p:nvSpPr>
        <p:spPr>
          <a:xfrm>
            <a:off x="7512000" y="18863561"/>
            <a:ext cx="6396000" cy="684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기술 클러스터(출원 200건 이상 기호)와 기술 네트워크로 핵심 접합 기호 </a:t>
            </a:r>
            <a:r>
              <a:rPr sz="1600" b="1" i="0" lang="ko-KR">
                <a:solidFill>
                  <a:srgbClr val="B5441B"/>
                </a:solidFill>
                <a:latin typeface="맑은 고딕"/>
                <a:ea typeface="맑은 고딕"/>
                <a:cs typeface="맑은 고딕"/>
              </a:rPr>
              <a:t>24/03·05·08·80</a:t>
            </a:r>
            <a:r>
              <a:rPr sz="1600" b="0" i="0" lang="ko-KR">
                <a:solidFill>
                  <a:srgbClr val="1E2532"/>
                </a:solidFill>
                <a:latin typeface="맑은 고딕"/>
                <a:ea typeface="맑은 고딕"/>
                <a:cs typeface="맑은 고딕"/>
              </a:rPr>
              <a:t> 식별 → 접합 출원의 81.3%가 보유</a:t>
            </a:r>
          </a:p>
        </p:txBody>
      </p:sp>
      <p:sp>
        <p:nvSpPr>
          <p:cNvPr id="180" name="Rectangle 179"/>
          <p:cNvSpPr/>
          <p:nvPr/>
        </p:nvSpPr>
        <p:spPr>
          <a:xfrm>
            <a:off x="7440000" y="19763561"/>
            <a:ext cx="6504000" cy="414000"/>
          </a:xfrm>
          <a:prstGeom prst="rect">
            <a:avLst/>
          </a:prstGeom>
          <a:solidFill>
            <a:srgbClr val="E8EEF7"/>
          </a:solidFill>
          <a:ln>
            <a:noFill/>
          </a:ln>
        </p:spPr>
        <p:txBody>
          <a:bodyPr rtlCol="0" anchor="ctr" lIns="54000" rIns="54000" tIns="54000" bIns="54000"/>
          <a:lstStyle/>
          <a:p>
            <a:pPr algn="ctr"/>
          </a:p>
        </p:txBody>
      </p:sp>
      <p:sp>
        <p:nvSpPr>
          <p:cNvPr id="181" name="Rectangle 180"/>
          <p:cNvSpPr/>
          <p:nvPr/>
        </p:nvSpPr>
        <p:spPr>
          <a:xfrm>
            <a:off x="7530000" y="19871561"/>
            <a:ext cx="108000" cy="198000"/>
          </a:xfrm>
          <a:prstGeom prst="rect">
            <a:avLst/>
          </a:prstGeom>
          <a:solidFill>
            <a:srgbClr val="13294B"/>
          </a:solidFill>
          <a:ln>
            <a:noFill/>
          </a:ln>
        </p:spPr>
        <p:txBody>
          <a:bodyPr rtlCol="0" anchor="ctr" lIns="54000" rIns="54000" tIns="54000" bIns="54000"/>
          <a:lstStyle/>
          <a:p>
            <a:pPr algn="ctr"/>
          </a:p>
        </p:txBody>
      </p:sp>
      <p:sp>
        <p:nvSpPr>
          <p:cNvPr id="182" name="TextBox 181"/>
          <p:cNvSpPr txBox="1"/>
          <p:nvPr/>
        </p:nvSpPr>
        <p:spPr>
          <a:xfrm>
            <a:off x="7746000" y="19763561"/>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Models</a:t>
            </a:r>
            <a:r>
              <a:rPr sz="1800" b="0" i="0" lang="ko-KR">
                <a:solidFill>
                  <a:srgbClr val="13294B"/>
                </a:solidFill>
                <a:latin typeface="맑은 고딕"/>
                <a:ea typeface="맑은 고딕"/>
                <a:cs typeface="맑은 고딕"/>
              </a:rPr>
              <a:t>  ·  분석 방법</a:t>
            </a:r>
          </a:p>
        </p:txBody>
      </p:sp>
      <p:graphicFrame>
        <p:nvGraphicFramePr>
          <p:cNvPr id="183" name="Table 182"/>
          <p:cNvGraphicFramePr>
            <a:graphicFrameLocks noGrp="1"/>
          </p:cNvGraphicFramePr>
          <p:nvPr/>
        </p:nvGraphicFramePr>
        <p:xfrm>
          <a:off x="7512000" y="20339561"/>
          <a:ext cx="6361200" cy="2646000"/>
        </p:xfrm>
        <a:graphic>
          <a:graphicData uri="http://schemas.openxmlformats.org/drawingml/2006/table">
            <a:tbl>
              <a:tblPr firstRow="1">
                <a:tableStyleId>{2D5ABB26-0587-4C30-8999-92F81FD0307C}</a:tableStyleId>
              </a:tblPr>
              <a:tblGrid>
                <a:gridCol w="1152000"/>
                <a:gridCol w="2160000"/>
                <a:gridCol w="3049200"/>
              </a:tblGrid>
              <a:tr h="522000">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연구 질문</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분석</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방법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r>
              <a:tr h="630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RQ1</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융합의 수준과 유형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유형 분포 · 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r h="630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RQ2</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시간적 변화</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시기별 분포 · 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r>
              <a:tr h="864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RQ3</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구조적 중심 변화</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 시기 이항 로짓,</a:t>
                      </a:r>
                    </a:p>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Jaccard 계수 · 매개 중심성</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bl>
          </a:graphicData>
        </a:graphic>
      </p:graphicFrame>
      <p:sp>
        <p:nvSpPr>
          <p:cNvPr id="184" name="Rectangle 183"/>
          <p:cNvSpPr/>
          <p:nvPr/>
        </p:nvSpPr>
        <p:spPr>
          <a:xfrm>
            <a:off x="14304000" y="4680000"/>
            <a:ext cx="6504000" cy="720000"/>
          </a:xfrm>
          <a:prstGeom prst="rect">
            <a:avLst/>
          </a:prstGeom>
          <a:solidFill>
            <a:srgbClr val="13294B"/>
          </a:solidFill>
          <a:ln>
            <a:noFill/>
          </a:ln>
        </p:spPr>
        <p:txBody>
          <a:bodyPr rtlCol="0" anchor="ctr" lIns="54000" rIns="54000" tIns="54000" bIns="54000"/>
          <a:lstStyle/>
          <a:p>
            <a:pPr algn="ctr"/>
          </a:p>
        </p:txBody>
      </p:sp>
      <p:sp>
        <p:nvSpPr>
          <p:cNvPr id="185" name="Oval 184"/>
          <p:cNvSpPr/>
          <p:nvPr/>
        </p:nvSpPr>
        <p:spPr>
          <a:xfrm>
            <a:off x="14484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3</a:t>
            </a:r>
          </a:p>
        </p:txBody>
      </p:sp>
      <p:sp>
        <p:nvSpPr>
          <p:cNvPr id="186" name="TextBox 185"/>
          <p:cNvSpPr txBox="1"/>
          <p:nvPr/>
        </p:nvSpPr>
        <p:spPr>
          <a:xfrm>
            <a:off x="15132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Evaluation</a:t>
            </a:r>
            <a:r>
              <a:rPr sz="2000" b="0" i="0" lang="ko-KR">
                <a:solidFill>
                  <a:srgbClr val="C8D3E6"/>
                </a:solidFill>
                <a:latin typeface="맑은 고딕"/>
                <a:ea typeface="맑은 고딕"/>
                <a:cs typeface="맑은 고딕"/>
              </a:rPr>
              <a:t>  ·  분석 결과</a:t>
            </a:r>
          </a:p>
        </p:txBody>
      </p:sp>
      <p:sp>
        <p:nvSpPr>
          <p:cNvPr id="187" name="Rectangle 186"/>
          <p:cNvSpPr/>
          <p:nvPr/>
        </p:nvSpPr>
        <p:spPr>
          <a:xfrm>
            <a:off x="14304000" y="5616000"/>
            <a:ext cx="6504000" cy="414000"/>
          </a:xfrm>
          <a:prstGeom prst="rect">
            <a:avLst/>
          </a:prstGeom>
          <a:solidFill>
            <a:srgbClr val="E8EEF7"/>
          </a:solidFill>
          <a:ln>
            <a:noFill/>
          </a:ln>
        </p:spPr>
        <p:txBody>
          <a:bodyPr rtlCol="0" anchor="ctr" lIns="54000" rIns="54000" tIns="54000" bIns="54000"/>
          <a:lstStyle/>
          <a:p>
            <a:pPr algn="ctr"/>
          </a:p>
        </p:txBody>
      </p:sp>
      <p:sp>
        <p:nvSpPr>
          <p:cNvPr id="188" name="Rectangle 187"/>
          <p:cNvSpPr/>
          <p:nvPr/>
        </p:nvSpPr>
        <p:spPr>
          <a:xfrm>
            <a:off x="14394000" y="5724000"/>
            <a:ext cx="108000" cy="198000"/>
          </a:xfrm>
          <a:prstGeom prst="rect">
            <a:avLst/>
          </a:prstGeom>
          <a:solidFill>
            <a:srgbClr val="13294B"/>
          </a:solidFill>
          <a:ln>
            <a:noFill/>
          </a:ln>
        </p:spPr>
        <p:txBody>
          <a:bodyPr rtlCol="0" anchor="ctr" lIns="54000" rIns="54000" tIns="54000" bIns="54000"/>
          <a:lstStyle/>
          <a:p>
            <a:pPr algn="ctr"/>
          </a:p>
        </p:txBody>
      </p:sp>
      <p:sp>
        <p:nvSpPr>
          <p:cNvPr id="189" name="TextBox 188"/>
          <p:cNvSpPr txBox="1"/>
          <p:nvPr/>
        </p:nvSpPr>
        <p:spPr>
          <a:xfrm>
            <a:off x="14610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RQ1</a:t>
            </a:r>
            <a:r>
              <a:rPr sz="1800" b="0" i="0" lang="ko-KR">
                <a:solidFill>
                  <a:srgbClr val="13294B"/>
                </a:solidFill>
                <a:latin typeface="맑은 고딕"/>
                <a:ea typeface="맑은 고딕"/>
                <a:cs typeface="맑은 고딕"/>
              </a:rPr>
              <a:t>  ·  융합의 수준과 유형</a:t>
            </a:r>
          </a:p>
        </p:txBody>
      </p:sp>
      <p:sp>
        <p:nvSpPr>
          <p:cNvPr id="190" name="Rectangle 189"/>
          <p:cNvSpPr/>
          <p:nvPr/>
        </p:nvSpPr>
        <p:spPr>
          <a:xfrm>
            <a:off x="14376000" y="6192000"/>
            <a:ext cx="2024000" cy="1188000"/>
          </a:xfrm>
          <a:prstGeom prst="rect">
            <a:avLst/>
          </a:prstGeom>
          <a:solidFill>
            <a:srgbClr val="FFFFFF"/>
          </a:solidFill>
          <a:ln w="25400">
            <a:solidFill>
              <a:srgbClr val="7C3AED"/>
            </a:solidFill>
          </a:ln>
        </p:spPr>
        <p:txBody>
          <a:bodyPr rtlCol="0" anchor="ctr" lIns="54000" rIns="54000" tIns="54000" bIns="54000"/>
          <a:lstStyle/>
          <a:p>
            <a:pPr algn="ctr"/>
          </a:p>
        </p:txBody>
      </p:sp>
      <p:sp>
        <p:nvSpPr>
          <p:cNvPr id="191" name="TextBox 190"/>
          <p:cNvSpPr txBox="1"/>
          <p:nvPr/>
        </p:nvSpPr>
        <p:spPr>
          <a:xfrm>
            <a:off x="14376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7C3AED"/>
                </a:solidFill>
                <a:latin typeface="맑은 고딕"/>
                <a:ea typeface="맑은 고딕"/>
                <a:cs typeface="맑은 고딕"/>
              </a:rPr>
              <a:t>45.8%</a:t>
            </a:r>
          </a:p>
        </p:txBody>
      </p:sp>
      <p:sp>
        <p:nvSpPr>
          <p:cNvPr id="192" name="TextBox 191"/>
          <p:cNvSpPr txBox="1"/>
          <p:nvPr/>
        </p:nvSpPr>
        <p:spPr>
          <a:xfrm>
            <a:off x="14376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통합형 = 최다 유형</a:t>
            </a:r>
          </a:p>
        </p:txBody>
      </p:sp>
      <p:sp>
        <p:nvSpPr>
          <p:cNvPr id="193" name="Rectangle 192"/>
          <p:cNvSpPr/>
          <p:nvPr/>
        </p:nvSpPr>
        <p:spPr>
          <a:xfrm>
            <a:off x="16544000" y="6192000"/>
            <a:ext cx="2024000" cy="1188000"/>
          </a:xfrm>
          <a:prstGeom prst="rect">
            <a:avLst/>
          </a:prstGeom>
          <a:solidFill>
            <a:srgbClr val="FFFFFF"/>
          </a:solidFill>
          <a:ln w="25400">
            <a:solidFill>
              <a:srgbClr val="9A72E8"/>
            </a:solidFill>
          </a:ln>
        </p:spPr>
        <p:txBody>
          <a:bodyPr rtlCol="0" anchor="ctr" lIns="54000" rIns="54000" tIns="54000" bIns="54000"/>
          <a:lstStyle/>
          <a:p>
            <a:pPr algn="ctr"/>
          </a:p>
        </p:txBody>
      </p:sp>
      <p:sp>
        <p:nvSpPr>
          <p:cNvPr id="194" name="TextBox 193"/>
          <p:cNvSpPr txBox="1"/>
          <p:nvPr/>
        </p:nvSpPr>
        <p:spPr>
          <a:xfrm>
            <a:off x="16544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9A72E8"/>
                </a:solidFill>
                <a:latin typeface="맑은 고딕"/>
                <a:ea typeface="맑은 고딕"/>
                <a:cs typeface="맑은 고딕"/>
              </a:rPr>
              <a:t>37.2%</a:t>
            </a:r>
          </a:p>
        </p:txBody>
      </p:sp>
      <p:sp>
        <p:nvSpPr>
          <p:cNvPr id="195" name="TextBox 194"/>
          <p:cNvSpPr txBox="1"/>
          <p:nvPr/>
        </p:nvSpPr>
        <p:spPr>
          <a:xfrm>
            <a:off x="16544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좁은 정의에서도</a:t>
            </a:r>
          </a:p>
        </p:txBody>
      </p:sp>
      <p:sp>
        <p:nvSpPr>
          <p:cNvPr id="196" name="Rectangle 195"/>
          <p:cNvSpPr/>
          <p:nvPr/>
        </p:nvSpPr>
        <p:spPr>
          <a:xfrm>
            <a:off x="18712000" y="6192000"/>
            <a:ext cx="2024000" cy="1188000"/>
          </a:xfrm>
          <a:prstGeom prst="rect">
            <a:avLst/>
          </a:prstGeom>
          <a:solidFill>
            <a:srgbClr val="FFFFFF"/>
          </a:solidFill>
          <a:ln w="25400">
            <a:solidFill>
              <a:srgbClr val="13294B"/>
            </a:solidFill>
          </a:ln>
        </p:spPr>
        <p:txBody>
          <a:bodyPr rtlCol="0" anchor="ctr" lIns="54000" rIns="54000" tIns="54000" bIns="54000"/>
          <a:lstStyle/>
          <a:p>
            <a:pPr algn="ctr"/>
          </a:p>
        </p:txBody>
      </p:sp>
      <p:sp>
        <p:nvSpPr>
          <p:cNvPr id="197" name="TextBox 196"/>
          <p:cNvSpPr txBox="1"/>
          <p:nvPr/>
        </p:nvSpPr>
        <p:spPr>
          <a:xfrm>
            <a:off x="18712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13294B"/>
                </a:solidFill>
                <a:latin typeface="맑은 고딕"/>
                <a:ea typeface="맑은 고딕"/>
                <a:cs typeface="맑은 고딕"/>
              </a:rPr>
              <a:t>1.40배</a:t>
            </a:r>
          </a:p>
        </p:txBody>
      </p:sp>
      <p:sp>
        <p:nvSpPr>
          <p:cNvPr id="198" name="TextBox 197"/>
          <p:cNvSpPr txBox="1"/>
          <p:nvPr/>
        </p:nvSpPr>
        <p:spPr>
          <a:xfrm>
            <a:off x="18712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기술범위 1 증가 시 RRR</a:t>
            </a:r>
          </a:p>
        </p:txBody>
      </p:sp>
      <p:sp>
        <p:nvSpPr>
          <p:cNvPr id="199" name="TextBox 198"/>
          <p:cNvSpPr txBox="1"/>
          <p:nvPr/>
        </p:nvSpPr>
        <p:spPr>
          <a:xfrm>
            <a:off x="14376000" y="74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기술범위(CPC 서브그룹 수)별 예측확률</a:t>
            </a:r>
          </a:p>
        </p:txBody>
      </p:sp>
      <p:graphicFrame>
        <p:nvGraphicFramePr>
          <p:cNvPr id="200" name="Chart 199"/>
          <p:cNvGraphicFramePr>
            <a:graphicFrameLocks noGrp="1"/>
          </p:cNvGraphicFramePr>
          <p:nvPr/>
        </p:nvGraphicFramePr>
        <p:xfrm>
          <a:off x="14304000" y="7740000"/>
          <a:ext cx="6504000" cy="3096000"/>
        </p:xfrm>
        <a:graphic>
          <a:graphicData uri="http://schemas.openxmlformats.org/drawingml/2006/chart">
            <c:chart xmlns:c="http://schemas.openxmlformats.org/drawingml/2006/chart" r:id="rId5"/>
          </a:graphicData>
        </a:graphic>
      </p:graphicFrame>
      <p:sp>
        <p:nvSpPr>
          <p:cNvPr id="201" name="Rectangle 200"/>
          <p:cNvSpPr/>
          <p:nvPr/>
        </p:nvSpPr>
        <p:spPr>
          <a:xfrm>
            <a:off x="14376000" y="10872000"/>
            <a:ext cx="6360000" cy="540000"/>
          </a:xfrm>
          <a:prstGeom prst="rect">
            <a:avLst/>
          </a:prstGeom>
          <a:solidFill>
            <a:srgbClr val="FFF6DC"/>
          </a:solidFill>
          <a:ln>
            <a:noFill/>
          </a:ln>
        </p:spPr>
        <p:txBody>
          <a:bodyPr rtlCol="0" anchor="ctr" lIns="54000" rIns="54000" tIns="54000" bIns="54000"/>
          <a:lstStyle/>
          <a:p>
            <a:pPr algn="ctr"/>
          </a:p>
        </p:txBody>
      </p:sp>
      <p:pic>
        <p:nvPicPr>
          <p:cNvPr id="202" name="Picture 201" descr="FaArrowRightLong_C9A227.png"/>
          <p:cNvPicPr>
            <a:picLocks noChangeAspect="1"/>
          </p:cNvPicPr>
          <p:nvPr/>
        </p:nvPicPr>
        <p:blipFill>
          <a:blip r:embed="rId6"/>
          <a:stretch>
            <a:fillRect/>
          </a:stretch>
        </p:blipFill>
        <p:spPr>
          <a:xfrm>
            <a:off x="14466000" y="11007000"/>
            <a:ext cx="270000" cy="270000"/>
          </a:xfrm>
          <a:prstGeom prst="rect">
            <a:avLst/>
          </a:prstGeom>
        </p:spPr>
      </p:pic>
      <p:sp>
        <p:nvSpPr>
          <p:cNvPr id="203" name="TextBox 202"/>
          <p:cNvSpPr txBox="1"/>
          <p:nvPr/>
        </p:nvSpPr>
        <p:spPr>
          <a:xfrm>
            <a:off x="14826000" y="10872000"/>
            <a:ext cx="5874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세부 기술이 다양한 출원일수록 통합형 (RRR 1.403***)</a:t>
            </a:r>
          </a:p>
        </p:txBody>
      </p:sp>
      <p:sp>
        <p:nvSpPr>
          <p:cNvPr id="204" name="Rectangle 203"/>
          <p:cNvSpPr/>
          <p:nvPr/>
        </p:nvSpPr>
        <p:spPr>
          <a:xfrm>
            <a:off x="14304000" y="11538000"/>
            <a:ext cx="6504000" cy="414000"/>
          </a:xfrm>
          <a:prstGeom prst="rect">
            <a:avLst/>
          </a:prstGeom>
          <a:solidFill>
            <a:srgbClr val="E8EEF7"/>
          </a:solidFill>
          <a:ln>
            <a:noFill/>
          </a:ln>
        </p:spPr>
        <p:txBody>
          <a:bodyPr rtlCol="0" anchor="ctr" lIns="54000" rIns="54000" tIns="54000" bIns="54000"/>
          <a:lstStyle/>
          <a:p>
            <a:pPr algn="ctr"/>
          </a:p>
        </p:txBody>
      </p:sp>
      <p:sp>
        <p:nvSpPr>
          <p:cNvPr id="205" name="Rectangle 204"/>
          <p:cNvSpPr/>
          <p:nvPr/>
        </p:nvSpPr>
        <p:spPr>
          <a:xfrm>
            <a:off x="14394000" y="11646000"/>
            <a:ext cx="108000" cy="198000"/>
          </a:xfrm>
          <a:prstGeom prst="rect">
            <a:avLst/>
          </a:prstGeom>
          <a:solidFill>
            <a:srgbClr val="13294B"/>
          </a:solidFill>
          <a:ln>
            <a:noFill/>
          </a:ln>
        </p:spPr>
        <p:txBody>
          <a:bodyPr rtlCol="0" anchor="ctr" lIns="54000" rIns="54000" tIns="54000" bIns="54000"/>
          <a:lstStyle/>
          <a:p>
            <a:pPr algn="ctr"/>
          </a:p>
        </p:txBody>
      </p:sp>
      <p:sp>
        <p:nvSpPr>
          <p:cNvPr id="206" name="TextBox 205"/>
          <p:cNvSpPr txBox="1"/>
          <p:nvPr/>
        </p:nvSpPr>
        <p:spPr>
          <a:xfrm>
            <a:off x="14610000" y="1153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RQ2</a:t>
            </a:r>
            <a:r>
              <a:rPr sz="1800" b="0" i="0" lang="ko-KR">
                <a:solidFill>
                  <a:srgbClr val="13294B"/>
                </a:solidFill>
                <a:latin typeface="맑은 고딕"/>
                <a:ea typeface="맑은 고딕"/>
                <a:cs typeface="맑은 고딕"/>
              </a:rPr>
              <a:t>  ·  시간적 변화</a:t>
            </a:r>
          </a:p>
        </p:txBody>
      </p:sp>
      <p:sp>
        <p:nvSpPr>
          <p:cNvPr id="207" name="TextBox 206"/>
          <p:cNvSpPr txBox="1"/>
          <p:nvPr/>
        </p:nvSpPr>
        <p:spPr>
          <a:xfrm>
            <a:off x="14376000" y="12114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시기별 공동분류 유형 구성비 (%)</a:t>
            </a:r>
          </a:p>
        </p:txBody>
      </p:sp>
      <p:graphicFrame>
        <p:nvGraphicFramePr>
          <p:cNvPr id="208" name="Chart 207"/>
          <p:cNvGraphicFramePr>
            <a:graphicFrameLocks noGrp="1"/>
          </p:cNvGraphicFramePr>
          <p:nvPr/>
        </p:nvGraphicFramePr>
        <p:xfrm>
          <a:off x="14304000" y="12366000"/>
          <a:ext cx="6504000" cy="3744000"/>
        </p:xfrm>
        <a:graphic>
          <a:graphicData uri="http://schemas.openxmlformats.org/drawingml/2006/chart">
            <c:chart xmlns:c="http://schemas.openxmlformats.org/drawingml/2006/chart" r:id="rId7"/>
          </a:graphicData>
        </a:graphic>
      </p:graphicFrame>
      <p:sp>
        <p:nvSpPr>
          <p:cNvPr id="209" name="Rectangle 208"/>
          <p:cNvSpPr/>
          <p:nvPr/>
        </p:nvSpPr>
        <p:spPr>
          <a:xfrm>
            <a:off x="14376000" y="16146000"/>
            <a:ext cx="6360000" cy="540000"/>
          </a:xfrm>
          <a:prstGeom prst="rect">
            <a:avLst/>
          </a:prstGeom>
          <a:solidFill>
            <a:srgbClr val="FFF6DC"/>
          </a:solidFill>
          <a:ln>
            <a:noFill/>
          </a:ln>
        </p:spPr>
        <p:txBody>
          <a:bodyPr rtlCol="0" anchor="ctr" lIns="54000" rIns="54000" tIns="54000" bIns="54000"/>
          <a:lstStyle/>
          <a:p>
            <a:pPr algn="ctr"/>
          </a:p>
        </p:txBody>
      </p:sp>
      <p:pic>
        <p:nvPicPr>
          <p:cNvPr id="210" name="Picture 209" descr="FaArrowRightLong_C9A227.png"/>
          <p:cNvPicPr>
            <a:picLocks noChangeAspect="1"/>
          </p:cNvPicPr>
          <p:nvPr/>
        </p:nvPicPr>
        <p:blipFill>
          <a:blip r:embed="rId6"/>
          <a:stretch>
            <a:fillRect/>
          </a:stretch>
        </p:blipFill>
        <p:spPr>
          <a:xfrm>
            <a:off x="14466000" y="16281000"/>
            <a:ext cx="270000" cy="270000"/>
          </a:xfrm>
          <a:prstGeom prst="rect">
            <a:avLst/>
          </a:prstGeom>
        </p:spPr>
      </p:pic>
      <p:sp>
        <p:nvSpPr>
          <p:cNvPr id="211" name="TextBox 210"/>
          <p:cNvSpPr txBox="1"/>
          <p:nvPr/>
        </p:nvSpPr>
        <p:spPr>
          <a:xfrm>
            <a:off x="14826000" y="16146000"/>
            <a:ext cx="5874000" cy="540000"/>
          </a:xfrm>
          <a:prstGeom prst="rect">
            <a:avLst/>
          </a:prstGeom>
          <a:noFill/>
        </p:spPr>
        <p:txBody>
          <a:bodyPr wrap="square" lIns="0" rIns="0" tIns="0" bIns="0" anchor="ctr">
            <a:noAutofit/>
          </a:bodyPr>
          <a:lstStyle/>
          <a:p>
            <a:pPr algn="l" marL="0" indent="0">
              <a:lnSpc>
                <a:spcPts val="1980"/>
              </a:lnSpc>
              <a:spcBef>
                <a:spcPts val="0"/>
              </a:spcBef>
              <a:spcAft>
                <a:spcPts val="0"/>
              </a:spcAft>
              <a:buNone/>
            </a:pPr>
            <a:r>
              <a:rPr sz="1650" b="1" i="0" lang="ko-KR">
                <a:solidFill>
                  <a:srgbClr val="13294B"/>
                </a:solidFill>
                <a:latin typeface="맑은 고딕"/>
                <a:ea typeface="맑은 고딕"/>
                <a:cs typeface="맑은 고딕"/>
              </a:rPr>
              <a:t>통합형 31.3% → 62.2% → 44.3%, 무게중심은 제조공정 → 접합</a:t>
            </a:r>
          </a:p>
        </p:txBody>
      </p:sp>
      <p:sp>
        <p:nvSpPr>
          <p:cNvPr id="212" name="Rectangle 211"/>
          <p:cNvSpPr/>
          <p:nvPr/>
        </p:nvSpPr>
        <p:spPr>
          <a:xfrm>
            <a:off x="14304000" y="16812000"/>
            <a:ext cx="6504000" cy="414000"/>
          </a:xfrm>
          <a:prstGeom prst="rect">
            <a:avLst/>
          </a:prstGeom>
          <a:solidFill>
            <a:srgbClr val="E8EEF7"/>
          </a:solidFill>
          <a:ln>
            <a:noFill/>
          </a:ln>
        </p:spPr>
        <p:txBody>
          <a:bodyPr rtlCol="0" anchor="ctr" lIns="54000" rIns="54000" tIns="54000" bIns="54000"/>
          <a:lstStyle/>
          <a:p>
            <a:pPr algn="ctr"/>
          </a:p>
        </p:txBody>
      </p:sp>
      <p:sp>
        <p:nvSpPr>
          <p:cNvPr id="213" name="Rectangle 212"/>
          <p:cNvSpPr/>
          <p:nvPr/>
        </p:nvSpPr>
        <p:spPr>
          <a:xfrm>
            <a:off x="14394000" y="16920000"/>
            <a:ext cx="108000" cy="198000"/>
          </a:xfrm>
          <a:prstGeom prst="rect">
            <a:avLst/>
          </a:prstGeom>
          <a:solidFill>
            <a:srgbClr val="13294B"/>
          </a:solidFill>
          <a:ln>
            <a:noFill/>
          </a:ln>
        </p:spPr>
        <p:txBody>
          <a:bodyPr rtlCol="0" anchor="ctr" lIns="54000" rIns="54000" tIns="54000" bIns="54000"/>
          <a:lstStyle/>
          <a:p>
            <a:pPr algn="ctr"/>
          </a:p>
        </p:txBody>
      </p:sp>
      <p:sp>
        <p:nvSpPr>
          <p:cNvPr id="214" name="TextBox 213"/>
          <p:cNvSpPr txBox="1"/>
          <p:nvPr/>
        </p:nvSpPr>
        <p:spPr>
          <a:xfrm>
            <a:off x="14610000" y="16812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RQ3</a:t>
            </a:r>
            <a:r>
              <a:rPr sz="1800" b="0" i="0" lang="ko-KR">
                <a:solidFill>
                  <a:srgbClr val="13294B"/>
                </a:solidFill>
                <a:latin typeface="맑은 고딕"/>
                <a:ea typeface="맑은 고딕"/>
                <a:cs typeface="맑은 고딕"/>
              </a:rPr>
              <a:t>  ·  구조적 중심 변화</a:t>
            </a:r>
          </a:p>
        </p:txBody>
      </p:sp>
      <p:sp>
        <p:nvSpPr>
          <p:cNvPr id="215" name="TextBox 214"/>
          <p:cNvSpPr txBox="1"/>
          <p:nvPr/>
        </p:nvSpPr>
        <p:spPr>
          <a:xfrm>
            <a:off x="14376000" y="173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핵심 기술 보유 → 통합형 승산비 (95% CI)</a:t>
            </a:r>
          </a:p>
        </p:txBody>
      </p:sp>
      <p:cxnSp>
        <p:nvCxnSpPr>
          <p:cNvPr id="216" name="Connector 215"/>
          <p:cNvCxnSpPr/>
          <p:nvPr/>
        </p:nvCxnSpPr>
        <p:spPr>
          <a:xfrm>
            <a:off x="16954286" y="17712000"/>
            <a:ext cx="0" cy="1134000"/>
          </a:xfrm>
          <a:prstGeom prst="line">
            <a:avLst/>
          </a:prstGeom>
          <a:ln w="19050">
            <a:solidFill>
              <a:srgbClr val="9AA3B2"/>
            </a:solidFill>
            <a:prstDash val="dash"/>
          </a:ln>
        </p:spPr>
      </p:cxnSp>
      <p:sp>
        <p:nvSpPr>
          <p:cNvPr id="217" name="TextBox 216"/>
          <p:cNvSpPr txBox="1"/>
          <p:nvPr/>
        </p:nvSpPr>
        <p:spPr>
          <a:xfrm>
            <a:off x="14376000" y="17730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2563C9"/>
                </a:solidFill>
                <a:latin typeface="맑은 고딕"/>
                <a:ea typeface="맑은 고딕"/>
                <a:cs typeface="맑은 고딕"/>
              </a:rPr>
              <a:t>형성기</a:t>
            </a:r>
          </a:p>
        </p:txBody>
      </p:sp>
      <p:cxnSp>
        <p:nvCxnSpPr>
          <p:cNvPr id="218" name="Connector 217"/>
          <p:cNvCxnSpPr/>
          <p:nvPr/>
        </p:nvCxnSpPr>
        <p:spPr>
          <a:xfrm>
            <a:off x="18433460" y="17892000"/>
            <a:ext cx="1989049" cy="0"/>
          </a:xfrm>
          <a:prstGeom prst="line">
            <a:avLst/>
          </a:prstGeom>
          <a:ln w="44450">
            <a:solidFill>
              <a:srgbClr val="2563C9"/>
            </a:solidFill>
          </a:ln>
        </p:spPr>
      </p:cxnSp>
      <p:sp>
        <p:nvSpPr>
          <p:cNvPr id="219" name="Oval 218"/>
          <p:cNvSpPr/>
          <p:nvPr/>
        </p:nvSpPr>
        <p:spPr>
          <a:xfrm>
            <a:off x="19319974" y="17784000"/>
            <a:ext cx="216000" cy="216000"/>
          </a:xfrm>
          <a:prstGeom prst="ellipse">
            <a:avLst/>
          </a:prstGeom>
          <a:solidFill>
            <a:srgbClr val="2563C9"/>
          </a:solidFill>
          <a:ln>
            <a:noFill/>
          </a:ln>
        </p:spPr>
        <p:txBody>
          <a:bodyPr rtlCol="0" anchor="ctr" lIns="54000" rIns="54000" tIns="54000" bIns="54000"/>
          <a:lstStyle/>
          <a:p>
            <a:pPr algn="ctr"/>
          </a:p>
        </p:txBody>
      </p:sp>
      <p:sp>
        <p:nvSpPr>
          <p:cNvPr id="220" name="TextBox 219"/>
          <p:cNvSpPr txBox="1"/>
          <p:nvPr/>
        </p:nvSpPr>
        <p:spPr>
          <a:xfrm>
            <a:off x="18203974" y="17550000"/>
            <a:ext cx="1080000" cy="216000"/>
          </a:xfrm>
          <a:prstGeom prst="rect">
            <a:avLst/>
          </a:prstGeom>
          <a:noFill/>
        </p:spPr>
        <p:txBody>
          <a:bodyPr wrap="square" lIns="0" rIns="0" tIns="0" bIns="0" anchor="t">
            <a:noAutofit/>
          </a:bodyPr>
          <a:lstStyle/>
          <a:p>
            <a:pPr algn="r" marL="0" indent="0">
              <a:lnSpc>
                <a:spcPts val="1680"/>
              </a:lnSpc>
              <a:spcBef>
                <a:spcPts val="0"/>
              </a:spcBef>
              <a:spcAft>
                <a:spcPts val="0"/>
              </a:spcAft>
              <a:buNone/>
            </a:pPr>
            <a:r>
              <a:rPr sz="1400" b="1" i="0" lang="ko-KR">
                <a:solidFill>
                  <a:srgbClr val="2563C9"/>
                </a:solidFill>
                <a:latin typeface="맑은 고딕"/>
                <a:ea typeface="맑은 고딕"/>
                <a:cs typeface="맑은 고딕"/>
              </a:rPr>
              <a:t>11.07***</a:t>
            </a:r>
          </a:p>
        </p:txBody>
      </p:sp>
      <p:sp>
        <p:nvSpPr>
          <p:cNvPr id="221" name="TextBox 220"/>
          <p:cNvSpPr txBox="1"/>
          <p:nvPr/>
        </p:nvSpPr>
        <p:spPr>
          <a:xfrm>
            <a:off x="14376000" y="18108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7C3AED"/>
                </a:solidFill>
                <a:latin typeface="맑은 고딕"/>
                <a:ea typeface="맑은 고딕"/>
                <a:cs typeface="맑은 고딕"/>
              </a:rPr>
              <a:t>확산기</a:t>
            </a:r>
          </a:p>
        </p:txBody>
      </p:sp>
      <p:cxnSp>
        <p:nvCxnSpPr>
          <p:cNvPr id="222" name="Connector 221"/>
          <p:cNvCxnSpPr/>
          <p:nvPr/>
        </p:nvCxnSpPr>
        <p:spPr>
          <a:xfrm>
            <a:off x="17105212" y="18270000"/>
            <a:ext cx="1544104" cy="0"/>
          </a:xfrm>
          <a:prstGeom prst="line">
            <a:avLst/>
          </a:prstGeom>
          <a:ln w="44450">
            <a:solidFill>
              <a:srgbClr val="7C3AED"/>
            </a:solidFill>
          </a:ln>
        </p:spPr>
      </p:cxnSp>
      <p:sp>
        <p:nvSpPr>
          <p:cNvPr id="223" name="Oval 222"/>
          <p:cNvSpPr/>
          <p:nvPr/>
        </p:nvSpPr>
        <p:spPr>
          <a:xfrm>
            <a:off x="17769063" y="18162000"/>
            <a:ext cx="216000" cy="216000"/>
          </a:xfrm>
          <a:prstGeom prst="ellipse">
            <a:avLst/>
          </a:prstGeom>
          <a:solidFill>
            <a:srgbClr val="7C3AED"/>
          </a:solidFill>
          <a:ln>
            <a:noFill/>
          </a:ln>
        </p:spPr>
        <p:txBody>
          <a:bodyPr rtlCol="0" anchor="ctr" lIns="54000" rIns="54000" tIns="54000" bIns="54000"/>
          <a:lstStyle/>
          <a:p>
            <a:pPr algn="ctr"/>
          </a:p>
        </p:txBody>
      </p:sp>
      <p:sp>
        <p:nvSpPr>
          <p:cNvPr id="224" name="TextBox 223"/>
          <p:cNvSpPr txBox="1"/>
          <p:nvPr/>
        </p:nvSpPr>
        <p:spPr>
          <a:xfrm>
            <a:off x="18721316" y="18154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7C3AED"/>
                </a:solidFill>
                <a:latin typeface="맑은 고딕"/>
                <a:ea typeface="맑은 고딕"/>
                <a:cs typeface="맑은 고딕"/>
              </a:rPr>
              <a:t>2.45**</a:t>
            </a:r>
          </a:p>
        </p:txBody>
      </p:sp>
      <p:sp>
        <p:nvSpPr>
          <p:cNvPr id="225" name="TextBox 224"/>
          <p:cNvSpPr txBox="1"/>
          <p:nvPr/>
        </p:nvSpPr>
        <p:spPr>
          <a:xfrm>
            <a:off x="14376000" y="18486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EA7A28"/>
                </a:solidFill>
                <a:latin typeface="맑은 고딕"/>
                <a:ea typeface="맑은 고딕"/>
                <a:cs typeface="맑은 고딕"/>
              </a:rPr>
              <a:t>재편기</a:t>
            </a:r>
          </a:p>
        </p:txBody>
      </p:sp>
      <p:cxnSp>
        <p:nvCxnSpPr>
          <p:cNvPr id="226" name="Connector 225"/>
          <p:cNvCxnSpPr/>
          <p:nvPr/>
        </p:nvCxnSpPr>
        <p:spPr>
          <a:xfrm>
            <a:off x="15942415" y="18648000"/>
            <a:ext cx="1164572" cy="0"/>
          </a:xfrm>
          <a:prstGeom prst="line">
            <a:avLst/>
          </a:prstGeom>
          <a:ln w="44450">
            <a:solidFill>
              <a:srgbClr val="EA7A28"/>
            </a:solidFill>
          </a:ln>
        </p:spPr>
      </p:cxnSp>
      <p:sp>
        <p:nvSpPr>
          <p:cNvPr id="227" name="Oval 226"/>
          <p:cNvSpPr/>
          <p:nvPr/>
        </p:nvSpPr>
        <p:spPr>
          <a:xfrm>
            <a:off x="16415661" y="18540000"/>
            <a:ext cx="216000" cy="216000"/>
          </a:xfrm>
          <a:prstGeom prst="ellipse">
            <a:avLst/>
          </a:prstGeom>
          <a:solidFill>
            <a:srgbClr val="EA7A28"/>
          </a:solidFill>
          <a:ln>
            <a:noFill/>
          </a:ln>
        </p:spPr>
        <p:txBody>
          <a:bodyPr rtlCol="0" anchor="ctr" lIns="54000" rIns="54000" tIns="54000" bIns="54000"/>
          <a:lstStyle/>
          <a:p>
            <a:pPr algn="ctr"/>
          </a:p>
        </p:txBody>
      </p:sp>
      <p:sp>
        <p:nvSpPr>
          <p:cNvPr id="228" name="TextBox 227"/>
          <p:cNvSpPr txBox="1"/>
          <p:nvPr/>
        </p:nvSpPr>
        <p:spPr>
          <a:xfrm>
            <a:off x="17178987" y="18532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EA7A28"/>
                </a:solidFill>
                <a:latin typeface="맑은 고딕"/>
                <a:ea typeface="맑은 고딕"/>
                <a:cs typeface="맑은 고딕"/>
              </a:rPr>
              <a:t>0.66 (비유의)</a:t>
            </a:r>
          </a:p>
        </p:txBody>
      </p:sp>
      <p:cxnSp>
        <p:nvCxnSpPr>
          <p:cNvPr id="229" name="Connector 228"/>
          <p:cNvCxnSpPr/>
          <p:nvPr/>
        </p:nvCxnSpPr>
        <p:spPr>
          <a:xfrm>
            <a:off x="15528000" y="18882000"/>
            <a:ext cx="4992000" cy="0"/>
          </a:xfrm>
          <a:prstGeom prst="line">
            <a:avLst/>
          </a:prstGeom>
          <a:ln w="15875">
            <a:solidFill>
              <a:srgbClr val="9AA3B2"/>
            </a:solidFill>
          </a:ln>
        </p:spPr>
      </p:cxnSp>
      <p:cxnSp>
        <p:nvCxnSpPr>
          <p:cNvPr id="230" name="Connector 229"/>
          <p:cNvCxnSpPr/>
          <p:nvPr/>
        </p:nvCxnSpPr>
        <p:spPr>
          <a:xfrm>
            <a:off x="15528000" y="18882000"/>
            <a:ext cx="0" cy="64800"/>
          </a:xfrm>
          <a:prstGeom prst="line">
            <a:avLst/>
          </a:prstGeom>
          <a:ln w="15875">
            <a:solidFill>
              <a:srgbClr val="9AA3B2"/>
            </a:solidFill>
          </a:ln>
        </p:spPr>
      </p:cxnSp>
      <p:sp>
        <p:nvSpPr>
          <p:cNvPr id="231" name="TextBox 230"/>
          <p:cNvSpPr txBox="1"/>
          <p:nvPr/>
        </p:nvSpPr>
        <p:spPr>
          <a:xfrm>
            <a:off x="15240000"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0.25</a:t>
            </a:r>
          </a:p>
        </p:txBody>
      </p:sp>
      <p:cxnSp>
        <p:nvCxnSpPr>
          <p:cNvPr id="232" name="Connector 231"/>
          <p:cNvCxnSpPr/>
          <p:nvPr/>
        </p:nvCxnSpPr>
        <p:spPr>
          <a:xfrm>
            <a:off x="16241143" y="18882000"/>
            <a:ext cx="0" cy="64800"/>
          </a:xfrm>
          <a:prstGeom prst="line">
            <a:avLst/>
          </a:prstGeom>
          <a:ln w="15875">
            <a:solidFill>
              <a:srgbClr val="9AA3B2"/>
            </a:solidFill>
          </a:ln>
        </p:spPr>
      </p:cxnSp>
      <p:sp>
        <p:nvSpPr>
          <p:cNvPr id="233" name="TextBox 232"/>
          <p:cNvSpPr txBox="1"/>
          <p:nvPr/>
        </p:nvSpPr>
        <p:spPr>
          <a:xfrm>
            <a:off x="15953143"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0.5</a:t>
            </a:r>
          </a:p>
        </p:txBody>
      </p:sp>
      <p:cxnSp>
        <p:nvCxnSpPr>
          <p:cNvPr id="234" name="Connector 233"/>
          <p:cNvCxnSpPr/>
          <p:nvPr/>
        </p:nvCxnSpPr>
        <p:spPr>
          <a:xfrm>
            <a:off x="16954286" y="18882000"/>
            <a:ext cx="0" cy="64800"/>
          </a:xfrm>
          <a:prstGeom prst="line">
            <a:avLst/>
          </a:prstGeom>
          <a:ln w="15875">
            <a:solidFill>
              <a:srgbClr val="9AA3B2"/>
            </a:solidFill>
          </a:ln>
        </p:spPr>
      </p:cxnSp>
      <p:sp>
        <p:nvSpPr>
          <p:cNvPr id="235" name="TextBox 234"/>
          <p:cNvSpPr txBox="1"/>
          <p:nvPr/>
        </p:nvSpPr>
        <p:spPr>
          <a:xfrm>
            <a:off x="16666286"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a:t>
            </a:r>
          </a:p>
        </p:txBody>
      </p:sp>
      <p:cxnSp>
        <p:nvCxnSpPr>
          <p:cNvPr id="236" name="Connector 235"/>
          <p:cNvCxnSpPr/>
          <p:nvPr/>
        </p:nvCxnSpPr>
        <p:spPr>
          <a:xfrm>
            <a:off x="17667429" y="18882000"/>
            <a:ext cx="0" cy="64800"/>
          </a:xfrm>
          <a:prstGeom prst="line">
            <a:avLst/>
          </a:prstGeom>
          <a:ln w="15875">
            <a:solidFill>
              <a:srgbClr val="9AA3B2"/>
            </a:solidFill>
          </a:ln>
        </p:spPr>
      </p:cxnSp>
      <p:sp>
        <p:nvSpPr>
          <p:cNvPr id="237" name="TextBox 236"/>
          <p:cNvSpPr txBox="1"/>
          <p:nvPr/>
        </p:nvSpPr>
        <p:spPr>
          <a:xfrm>
            <a:off x="17379429"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2</a:t>
            </a:r>
          </a:p>
        </p:txBody>
      </p:sp>
      <p:cxnSp>
        <p:nvCxnSpPr>
          <p:cNvPr id="238" name="Connector 237"/>
          <p:cNvCxnSpPr/>
          <p:nvPr/>
        </p:nvCxnSpPr>
        <p:spPr>
          <a:xfrm>
            <a:off x="18380571" y="18882000"/>
            <a:ext cx="0" cy="64800"/>
          </a:xfrm>
          <a:prstGeom prst="line">
            <a:avLst/>
          </a:prstGeom>
          <a:ln w="15875">
            <a:solidFill>
              <a:srgbClr val="9AA3B2"/>
            </a:solidFill>
          </a:ln>
        </p:spPr>
      </p:cxnSp>
      <p:sp>
        <p:nvSpPr>
          <p:cNvPr id="239" name="TextBox 238"/>
          <p:cNvSpPr txBox="1"/>
          <p:nvPr/>
        </p:nvSpPr>
        <p:spPr>
          <a:xfrm>
            <a:off x="18092571"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4</a:t>
            </a:r>
          </a:p>
        </p:txBody>
      </p:sp>
      <p:cxnSp>
        <p:nvCxnSpPr>
          <p:cNvPr id="240" name="Connector 239"/>
          <p:cNvCxnSpPr/>
          <p:nvPr/>
        </p:nvCxnSpPr>
        <p:spPr>
          <a:xfrm>
            <a:off x="19093714" y="18882000"/>
            <a:ext cx="0" cy="64800"/>
          </a:xfrm>
          <a:prstGeom prst="line">
            <a:avLst/>
          </a:prstGeom>
          <a:ln w="15875">
            <a:solidFill>
              <a:srgbClr val="9AA3B2"/>
            </a:solidFill>
          </a:ln>
        </p:spPr>
      </p:cxnSp>
      <p:sp>
        <p:nvSpPr>
          <p:cNvPr id="241" name="TextBox 240"/>
          <p:cNvSpPr txBox="1"/>
          <p:nvPr/>
        </p:nvSpPr>
        <p:spPr>
          <a:xfrm>
            <a:off x="18805714"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8</a:t>
            </a:r>
          </a:p>
        </p:txBody>
      </p:sp>
      <p:cxnSp>
        <p:nvCxnSpPr>
          <p:cNvPr id="242" name="Connector 241"/>
          <p:cNvCxnSpPr/>
          <p:nvPr/>
        </p:nvCxnSpPr>
        <p:spPr>
          <a:xfrm>
            <a:off x="19806857" y="18882000"/>
            <a:ext cx="0" cy="64800"/>
          </a:xfrm>
          <a:prstGeom prst="line">
            <a:avLst/>
          </a:prstGeom>
          <a:ln w="15875">
            <a:solidFill>
              <a:srgbClr val="9AA3B2"/>
            </a:solidFill>
          </a:ln>
        </p:spPr>
      </p:cxnSp>
      <p:sp>
        <p:nvSpPr>
          <p:cNvPr id="243" name="TextBox 242"/>
          <p:cNvSpPr txBox="1"/>
          <p:nvPr/>
        </p:nvSpPr>
        <p:spPr>
          <a:xfrm>
            <a:off x="19518857"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16</a:t>
            </a:r>
          </a:p>
        </p:txBody>
      </p:sp>
      <p:cxnSp>
        <p:nvCxnSpPr>
          <p:cNvPr id="244" name="Connector 243"/>
          <p:cNvCxnSpPr/>
          <p:nvPr/>
        </p:nvCxnSpPr>
        <p:spPr>
          <a:xfrm>
            <a:off x="20520000" y="18882000"/>
            <a:ext cx="0" cy="64800"/>
          </a:xfrm>
          <a:prstGeom prst="line">
            <a:avLst/>
          </a:prstGeom>
          <a:ln w="15875">
            <a:solidFill>
              <a:srgbClr val="9AA3B2"/>
            </a:solidFill>
          </a:ln>
        </p:spPr>
      </p:cxnSp>
      <p:sp>
        <p:nvSpPr>
          <p:cNvPr id="245" name="TextBox 244"/>
          <p:cNvSpPr txBox="1"/>
          <p:nvPr/>
        </p:nvSpPr>
        <p:spPr>
          <a:xfrm>
            <a:off x="20232000"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32</a:t>
            </a:r>
          </a:p>
        </p:txBody>
      </p:sp>
      <p:sp>
        <p:nvSpPr>
          <p:cNvPr id="246" name="TextBox 245"/>
          <p:cNvSpPr txBox="1"/>
          <p:nvPr/>
        </p:nvSpPr>
        <p:spPr>
          <a:xfrm>
            <a:off x="15874286" y="19152000"/>
            <a:ext cx="2160000" cy="216000"/>
          </a:xfrm>
          <a:prstGeom prst="rect">
            <a:avLst/>
          </a:prstGeom>
          <a:noFill/>
        </p:spPr>
        <p:txBody>
          <a:bodyPr wrap="square" lIns="0" rIns="0" tIns="0" bIns="0" anchor="t">
            <a:noAutofit/>
          </a:bodyPr>
          <a:lstStyle/>
          <a:p>
            <a:pPr algn="ctr" marL="0" indent="0">
              <a:lnSpc>
                <a:spcPts val="1440"/>
              </a:lnSpc>
              <a:spcBef>
                <a:spcPts val="0"/>
              </a:spcBef>
              <a:spcAft>
                <a:spcPts val="0"/>
              </a:spcAft>
              <a:buNone/>
            </a:pPr>
            <a:r>
              <a:rPr sz="1200" b="0" i="0" lang="ko-KR">
                <a:solidFill>
                  <a:srgbClr val="5B6475"/>
                </a:solidFill>
                <a:latin typeface="맑은 고딕"/>
                <a:ea typeface="맑은 고딕"/>
                <a:cs typeface="맑은 고딕"/>
              </a:rPr>
              <a:t>1 = 차이 없음</a:t>
            </a:r>
          </a:p>
        </p:txBody>
      </p:sp>
      <p:sp>
        <p:nvSpPr>
          <p:cNvPr id="247" name="TextBox 246"/>
          <p:cNvSpPr txBox="1"/>
          <p:nvPr/>
        </p:nvSpPr>
        <p:spPr>
          <a:xfrm>
            <a:off x="14376000" y="19386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제조공정 영역별 접합 기호와의 결합 강도 (Jaccard)</a:t>
            </a:r>
          </a:p>
        </p:txBody>
      </p:sp>
      <p:graphicFrame>
        <p:nvGraphicFramePr>
          <p:cNvPr id="248" name="Chart 247"/>
          <p:cNvGraphicFramePr>
            <a:graphicFrameLocks noGrp="1"/>
          </p:cNvGraphicFramePr>
          <p:nvPr/>
        </p:nvGraphicFramePr>
        <p:xfrm>
          <a:off x="14304000" y="19638000"/>
          <a:ext cx="6504000" cy="2952000"/>
        </p:xfrm>
        <a:graphic>
          <a:graphicData uri="http://schemas.openxmlformats.org/drawingml/2006/chart">
            <c:chart xmlns:c="http://schemas.openxmlformats.org/drawingml/2006/chart" r:id="rId8"/>
          </a:graphicData>
        </a:graphic>
      </p:graphicFrame>
      <p:sp>
        <p:nvSpPr>
          <p:cNvPr id="249" name="Rectangle 248"/>
          <p:cNvSpPr/>
          <p:nvPr/>
        </p:nvSpPr>
        <p:spPr>
          <a:xfrm>
            <a:off x="14376000" y="22626000"/>
            <a:ext cx="6360000" cy="540000"/>
          </a:xfrm>
          <a:prstGeom prst="rect">
            <a:avLst/>
          </a:prstGeom>
          <a:solidFill>
            <a:srgbClr val="FFF6DC"/>
          </a:solidFill>
          <a:ln>
            <a:noFill/>
          </a:ln>
        </p:spPr>
        <p:txBody>
          <a:bodyPr rtlCol="0" anchor="ctr" lIns="54000" rIns="54000" tIns="54000" bIns="54000"/>
          <a:lstStyle/>
          <a:p>
            <a:pPr algn="ctr"/>
          </a:p>
        </p:txBody>
      </p:sp>
      <p:pic>
        <p:nvPicPr>
          <p:cNvPr id="250" name="Picture 249" descr="FaArrowRightLong_C9A227.png"/>
          <p:cNvPicPr>
            <a:picLocks noChangeAspect="1"/>
          </p:cNvPicPr>
          <p:nvPr/>
        </p:nvPicPr>
        <p:blipFill>
          <a:blip r:embed="rId6"/>
          <a:stretch>
            <a:fillRect/>
          </a:stretch>
        </p:blipFill>
        <p:spPr>
          <a:xfrm>
            <a:off x="14466000" y="22761000"/>
            <a:ext cx="270000" cy="270000"/>
          </a:xfrm>
          <a:prstGeom prst="rect">
            <a:avLst/>
          </a:prstGeom>
        </p:spPr>
      </p:pic>
      <p:sp>
        <p:nvSpPr>
          <p:cNvPr id="251" name="TextBox 250"/>
          <p:cNvSpPr txBox="1"/>
          <p:nvPr/>
        </p:nvSpPr>
        <p:spPr>
          <a:xfrm>
            <a:off x="14826000" y="22626000"/>
            <a:ext cx="5874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결합 중심: 웨이퍼 제조공정 → 공정 장치·패키징 단계 공정</a:t>
            </a:r>
          </a:p>
        </p:txBody>
      </p:sp>
      <p:sp>
        <p:nvSpPr>
          <p:cNvPr id="252" name="Rectangle 251"/>
          <p:cNvSpPr/>
          <p:nvPr/>
        </p:nvSpPr>
        <p:spPr>
          <a:xfrm>
            <a:off x="576000" y="23472000"/>
            <a:ext cx="20232000" cy="720000"/>
          </a:xfrm>
          <a:prstGeom prst="rect">
            <a:avLst/>
          </a:prstGeom>
          <a:solidFill>
            <a:srgbClr val="13294B"/>
          </a:solidFill>
          <a:ln>
            <a:noFill/>
          </a:ln>
        </p:spPr>
        <p:txBody>
          <a:bodyPr rtlCol="0" anchor="ctr" lIns="54000" rIns="54000" tIns="54000" bIns="54000"/>
          <a:lstStyle/>
          <a:p>
            <a:pPr algn="ctr"/>
          </a:p>
        </p:txBody>
      </p:sp>
      <p:sp>
        <p:nvSpPr>
          <p:cNvPr id="253" name="Oval 252"/>
          <p:cNvSpPr/>
          <p:nvPr/>
        </p:nvSpPr>
        <p:spPr>
          <a:xfrm>
            <a:off x="756000" y="23580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4</a:t>
            </a:r>
          </a:p>
        </p:txBody>
      </p:sp>
      <p:sp>
        <p:nvSpPr>
          <p:cNvPr id="254" name="TextBox 253"/>
          <p:cNvSpPr txBox="1"/>
          <p:nvPr/>
        </p:nvSpPr>
        <p:spPr>
          <a:xfrm>
            <a:off x="1404000" y="23472000"/>
            <a:ext cx="14400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Conclusion &amp; Implications</a:t>
            </a:r>
            <a:r>
              <a:rPr sz="2000" b="0" i="0" lang="ko-KR">
                <a:solidFill>
                  <a:srgbClr val="C8D3E6"/>
                </a:solidFill>
                <a:latin typeface="맑은 고딕"/>
                <a:ea typeface="맑은 고딕"/>
                <a:cs typeface="맑은 고딕"/>
              </a:rPr>
              <a:t>  ·  결론 및 시사점</a:t>
            </a:r>
          </a:p>
        </p:txBody>
      </p:sp>
      <p:sp>
        <p:nvSpPr>
          <p:cNvPr id="255" name="Pentagon 254"/>
          <p:cNvSpPr/>
          <p:nvPr/>
        </p:nvSpPr>
        <p:spPr>
          <a:xfrm>
            <a:off x="576000" y="24372000"/>
            <a:ext cx="4428000" cy="792000"/>
          </a:xfrm>
          <a:prstGeom prst="homePlate">
            <a:avLst/>
          </a:prstGeom>
          <a:solidFill>
            <a:srgbClr val="2563C9"/>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형성기  </a:t>
            </a:r>
            <a:r>
              <a:rPr sz="1800" b="0" i="0" lang="ko-KR">
                <a:solidFill>
                  <a:srgbClr val="FFFFFF"/>
                </a:solidFill>
                <a:latin typeface="맑은 고딕"/>
                <a:ea typeface="맑은 고딕"/>
                <a:cs typeface="맑은 고딕"/>
              </a:rPr>
              <a:t>–2014</a:t>
            </a:r>
          </a:p>
        </p:txBody>
      </p:sp>
      <p:sp>
        <p:nvSpPr>
          <p:cNvPr id="256" name="TextBox 255"/>
          <p:cNvSpPr txBox="1"/>
          <p:nvPr/>
        </p:nvSpPr>
        <p:spPr>
          <a:xfrm>
            <a:off x="75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2563C9"/>
                </a:solidFill>
                <a:latin typeface="맑은 고딕"/>
                <a:ea typeface="맑은 고딕"/>
                <a:cs typeface="맑은 고딕"/>
              </a:rPr>
              <a:t>공정 단독형 우세 (43.6%)</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출원은 제조공정 지식을 함께 포함 (OR 11.1)</a:t>
            </a:r>
          </a:p>
        </p:txBody>
      </p:sp>
      <p:sp>
        <p:nvSpPr>
          <p:cNvPr id="257" name="Chevron 256"/>
          <p:cNvSpPr/>
          <p:nvPr/>
        </p:nvSpPr>
        <p:spPr>
          <a:xfrm>
            <a:off x="4896000" y="24372000"/>
            <a:ext cx="4428000" cy="792000"/>
          </a:xfrm>
          <a:prstGeom prst="chevron">
            <a:avLst/>
          </a:prstGeom>
          <a:solidFill>
            <a:srgbClr val="7C3AED"/>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확산기  </a:t>
            </a:r>
            <a:r>
              <a:rPr sz="1800" b="0" i="0" lang="ko-KR">
                <a:solidFill>
                  <a:srgbClr val="FFFFFF"/>
                </a:solidFill>
                <a:latin typeface="맑은 고딕"/>
                <a:ea typeface="맑은 고딕"/>
                <a:cs typeface="맑은 고딕"/>
              </a:rPr>
              <a:t>2015–2019</a:t>
            </a:r>
          </a:p>
        </p:txBody>
      </p:sp>
      <p:sp>
        <p:nvSpPr>
          <p:cNvPr id="258" name="TextBox 257"/>
          <p:cNvSpPr txBox="1"/>
          <p:nvPr/>
        </p:nvSpPr>
        <p:spPr>
          <a:xfrm>
            <a:off x="507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7C3AED"/>
                </a:solidFill>
                <a:latin typeface="맑은 고딕"/>
                <a:ea typeface="맑은 고딕"/>
                <a:cs typeface="맑은 고딕"/>
              </a:rPr>
              <a:t>통합형 정점 (62.2%)</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웨이퍼 제조공정과의 결합이 가장 강함</a:t>
            </a:r>
          </a:p>
        </p:txBody>
      </p:sp>
      <p:sp>
        <p:nvSpPr>
          <p:cNvPr id="259" name="Chevron 258"/>
          <p:cNvSpPr/>
          <p:nvPr/>
        </p:nvSpPr>
        <p:spPr>
          <a:xfrm>
            <a:off x="9216000" y="24372000"/>
            <a:ext cx="4428000" cy="792000"/>
          </a:xfrm>
          <a:prstGeom prst="chevron">
            <a:avLst/>
          </a:prstGeom>
          <a:solidFill>
            <a:srgbClr val="EA7A28"/>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재편기  </a:t>
            </a:r>
            <a:r>
              <a:rPr sz="1800" b="0" i="0" lang="ko-KR">
                <a:solidFill>
                  <a:srgbClr val="FFFFFF"/>
                </a:solidFill>
                <a:latin typeface="맑은 고딕"/>
                <a:ea typeface="맑은 고딕"/>
                <a:cs typeface="맑은 고딕"/>
              </a:rPr>
              <a:t>2020–2024</a:t>
            </a:r>
          </a:p>
        </p:txBody>
      </p:sp>
      <p:sp>
        <p:nvSpPr>
          <p:cNvPr id="260" name="TextBox 259"/>
          <p:cNvSpPr txBox="1"/>
          <p:nvPr/>
        </p:nvSpPr>
        <p:spPr>
          <a:xfrm>
            <a:off x="939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EA7A28"/>
                </a:solidFill>
                <a:latin typeface="맑은 고딕"/>
                <a:ea typeface="맑은 고딕"/>
                <a:cs typeface="맑은 고딕"/>
              </a:rPr>
              <a:t>접합 단독형 증가 (45.4%)</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설계 고착화 → 공정 장치·패키징 단계 공정으로 이동</a:t>
            </a:r>
          </a:p>
        </p:txBody>
      </p:sp>
      <p:sp>
        <p:nvSpPr>
          <p:cNvPr id="261" name="Rectangle 260"/>
          <p:cNvSpPr/>
          <p:nvPr/>
        </p:nvSpPr>
        <p:spPr>
          <a:xfrm>
            <a:off x="576000" y="26298000"/>
            <a:ext cx="13068000" cy="2034000"/>
          </a:xfrm>
          <a:prstGeom prst="rect">
            <a:avLst/>
          </a:prstGeom>
          <a:solidFill>
            <a:srgbClr val="13294B"/>
          </a:solidFill>
          <a:ln>
            <a:noFill/>
          </a:ln>
        </p:spPr>
        <p:txBody>
          <a:bodyPr rtlCol="0" anchor="ctr" lIns="54000" rIns="54000" tIns="54000" bIns="54000"/>
          <a:lstStyle/>
          <a:p>
            <a:pPr algn="ctr"/>
          </a:p>
        </p:txBody>
      </p:sp>
      <p:pic>
        <p:nvPicPr>
          <p:cNvPr id="262" name="Picture 261" descr="FaQuoteLeft_FFFFFF.png"/>
          <p:cNvPicPr>
            <a:picLocks noChangeAspect="1"/>
          </p:cNvPicPr>
          <p:nvPr/>
        </p:nvPicPr>
        <p:blipFill>
          <a:blip r:embed="rId9"/>
          <a:stretch>
            <a:fillRect/>
          </a:stretch>
        </p:blipFill>
        <p:spPr>
          <a:xfrm>
            <a:off x="792000" y="26442000"/>
            <a:ext cx="360000" cy="360000"/>
          </a:xfrm>
          <a:prstGeom prst="rect">
            <a:avLst/>
          </a:prstGeom>
        </p:spPr>
      </p:pic>
      <p:sp>
        <p:nvSpPr>
          <p:cNvPr id="263" name="TextBox 262"/>
          <p:cNvSpPr txBox="1"/>
          <p:nvPr/>
        </p:nvSpPr>
        <p:spPr>
          <a:xfrm>
            <a:off x="1296000" y="26298000"/>
            <a:ext cx="12132000" cy="2034000"/>
          </a:xfrm>
          <a:prstGeom prst="rect">
            <a:avLst/>
          </a:prstGeom>
          <a:noFill/>
        </p:spPr>
        <p:txBody>
          <a:bodyPr wrap="square" lIns="0" rIns="0" tIns="0" bIns="0" anchor="ctr">
            <a:noAutofit/>
          </a:bodyPr>
          <a:lstStyle/>
          <a:p>
            <a:pPr algn="l" marL="0" indent="0">
              <a:lnSpc>
                <a:spcPts val="3279"/>
              </a:lnSpc>
              <a:spcBef>
                <a:spcPts val="0"/>
              </a:spcBef>
              <a:spcAft>
                <a:spcPts val="0"/>
              </a:spcAft>
              <a:buNone/>
            </a:pPr>
            <a:r>
              <a:rPr sz="2600" b="1" i="1" lang="ko-KR">
                <a:solidFill>
                  <a:srgbClr val="FFFFFF"/>
                </a:solidFill>
                <a:latin typeface="맑은 고딕"/>
                <a:ea typeface="맑은 고딕"/>
                <a:cs typeface="맑은 고딕"/>
              </a:rPr>
              <a:t>공정 단계 간 기술융합은 단선적 확대가 아니라 융합의 내용과 중심이 국면에 따라 재편되는 </a:t>
            </a:r>
            <a:r>
              <a:rPr sz="2600" b="1" i="1" lang="ko-KR">
                <a:solidFill>
                  <a:srgbClr val="D4A72C"/>
                </a:solidFill>
                <a:latin typeface="맑은 고딕"/>
                <a:ea typeface="맑은 고딕"/>
                <a:cs typeface="맑은 고딕"/>
              </a:rPr>
              <a:t>동태적 과정</a:t>
            </a:r>
            <a:r>
              <a:rPr sz="2600" b="1" i="1" lang="ko-KR">
                <a:solidFill>
                  <a:srgbClr val="FFFFFF"/>
                </a:solidFill>
                <a:latin typeface="맑은 고딕"/>
                <a:ea typeface="맑은 고딕"/>
                <a:cs typeface="맑은 고딕"/>
              </a:rPr>
              <a:t>이며, 그 배경에 핵심 기술 설계의 고착화가 있음을 시사한다.</a:t>
            </a:r>
          </a:p>
        </p:txBody>
      </p:sp>
      <p:sp>
        <p:nvSpPr>
          <p:cNvPr id="264" name="TextBox 263"/>
          <p:cNvSpPr txBox="1"/>
          <p:nvPr/>
        </p:nvSpPr>
        <p:spPr>
          <a:xfrm>
            <a:off x="576000" y="28422000"/>
            <a:ext cx="13068000" cy="360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Keywords  </a:t>
            </a:r>
            <a:r>
              <a:rPr sz="1500" b="0" i="0" lang="ko-KR">
                <a:solidFill>
                  <a:srgbClr val="5B6475"/>
                </a:solidFill>
                <a:latin typeface="맑은 고딕"/>
                <a:ea typeface="맑은 고딕"/>
                <a:cs typeface="맑은 고딕"/>
              </a:rPr>
              <a:t>기술융합 · 공정 단계 간 융합 · 하이브리드 본딩 · 첨단 패키징 · 기술 네트워크 · 지배적 설계</a:t>
            </a:r>
          </a:p>
        </p:txBody>
      </p:sp>
      <p:sp>
        <p:nvSpPr>
          <p:cNvPr id="265" name="Rectangle 264"/>
          <p:cNvSpPr/>
          <p:nvPr/>
        </p:nvSpPr>
        <p:spPr>
          <a:xfrm>
            <a:off x="13968000" y="243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66" name="Oval 265"/>
          <p:cNvSpPr/>
          <p:nvPr/>
        </p:nvSpPr>
        <p:spPr>
          <a:xfrm>
            <a:off x="14076000" y="24462000"/>
            <a:ext cx="396000" cy="396000"/>
          </a:xfrm>
          <a:prstGeom prst="ellipse">
            <a:avLst/>
          </a:prstGeom>
          <a:solidFill>
            <a:srgbClr val="13294B"/>
          </a:solidFill>
          <a:ln>
            <a:noFill/>
          </a:ln>
        </p:spPr>
        <p:txBody>
          <a:bodyPr rtlCol="0" anchor="ctr" lIns="54000" rIns="54000" tIns="54000" bIns="54000"/>
          <a:lstStyle/>
          <a:p>
            <a:pPr algn="ctr"/>
          </a:p>
        </p:txBody>
      </p:sp>
      <p:pic>
        <p:nvPicPr>
          <p:cNvPr id="267" name="Picture 266" descr="FaGraduationCap_FFFFFF.png"/>
          <p:cNvPicPr>
            <a:picLocks noChangeAspect="1"/>
          </p:cNvPicPr>
          <p:nvPr/>
        </p:nvPicPr>
        <p:blipFill>
          <a:blip r:embed="rId10"/>
          <a:stretch>
            <a:fillRect/>
          </a:stretch>
        </p:blipFill>
        <p:spPr>
          <a:xfrm>
            <a:off x="14178960" y="24564960"/>
            <a:ext cx="190080" cy="190080"/>
          </a:xfrm>
          <a:prstGeom prst="rect">
            <a:avLst/>
          </a:prstGeom>
        </p:spPr>
      </p:pic>
      <p:sp>
        <p:nvSpPr>
          <p:cNvPr id="268" name="TextBox 267"/>
          <p:cNvSpPr txBox="1"/>
          <p:nvPr/>
        </p:nvSpPr>
        <p:spPr>
          <a:xfrm>
            <a:off x="14544000" y="244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학술적 시사점</a:t>
            </a:r>
          </a:p>
        </p:txBody>
      </p:sp>
      <p:sp>
        <p:nvSpPr>
          <p:cNvPr id="269" name="TextBox 268"/>
          <p:cNvSpPr txBox="1"/>
          <p:nvPr/>
        </p:nvSpPr>
        <p:spPr>
          <a:xfrm>
            <a:off x="14094000" y="248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분석 범위를 산업 간 → 공정 단계 간 융합으로 확장 (RQ1)</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융합을 유형 구성이 변하는 동태적 과정으로 분석 (RQ2)</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핵심–주변 관계·기술 순환 관점의 실증 근거 (RQ3)</a:t>
            </a:r>
          </a:p>
        </p:txBody>
      </p:sp>
      <p:sp>
        <p:nvSpPr>
          <p:cNvPr id="270" name="Rectangle 269"/>
          <p:cNvSpPr/>
          <p:nvPr/>
        </p:nvSpPr>
        <p:spPr>
          <a:xfrm>
            <a:off x="13968000" y="258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71" name="Oval 270"/>
          <p:cNvSpPr/>
          <p:nvPr/>
        </p:nvSpPr>
        <p:spPr>
          <a:xfrm>
            <a:off x="14076000" y="25962000"/>
            <a:ext cx="396000" cy="396000"/>
          </a:xfrm>
          <a:prstGeom prst="ellipse">
            <a:avLst/>
          </a:prstGeom>
          <a:solidFill>
            <a:srgbClr val="13294B"/>
          </a:solidFill>
          <a:ln>
            <a:noFill/>
          </a:ln>
        </p:spPr>
        <p:txBody>
          <a:bodyPr rtlCol="0" anchor="ctr" lIns="54000" rIns="54000" tIns="54000" bIns="54000"/>
          <a:lstStyle/>
          <a:p>
            <a:pPr algn="ctr"/>
          </a:p>
        </p:txBody>
      </p:sp>
      <p:pic>
        <p:nvPicPr>
          <p:cNvPr id="272" name="Picture 271" descr="FaFlask_FFFFFF.png"/>
          <p:cNvPicPr>
            <a:picLocks noChangeAspect="1"/>
          </p:cNvPicPr>
          <p:nvPr/>
        </p:nvPicPr>
        <p:blipFill>
          <a:blip r:embed="rId11"/>
          <a:stretch>
            <a:fillRect/>
          </a:stretch>
        </p:blipFill>
        <p:spPr>
          <a:xfrm>
            <a:off x="14178960" y="26064960"/>
            <a:ext cx="190080" cy="190080"/>
          </a:xfrm>
          <a:prstGeom prst="rect">
            <a:avLst/>
          </a:prstGeom>
        </p:spPr>
      </p:pic>
      <p:sp>
        <p:nvSpPr>
          <p:cNvPr id="273" name="TextBox 272"/>
          <p:cNvSpPr txBox="1"/>
          <p:nvPr/>
        </p:nvSpPr>
        <p:spPr>
          <a:xfrm>
            <a:off x="14544000" y="259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방법론적 기여</a:t>
            </a:r>
          </a:p>
        </p:txBody>
      </p:sp>
      <p:sp>
        <p:nvSpPr>
          <p:cNvPr id="274" name="TextBox 273"/>
          <p:cNvSpPr txBox="1"/>
          <p:nvPr/>
        </p:nvSpPr>
        <p:spPr>
          <a:xfrm>
            <a:off x="14094000" y="263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공동분류를 개별 특허의 유형으로 재구성</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기술 클러스터·네트워크로 식별한 핵심 기술과 연결</a:t>
            </a:r>
          </a:p>
        </p:txBody>
      </p:sp>
      <p:sp>
        <p:nvSpPr>
          <p:cNvPr id="275" name="Rectangle 274"/>
          <p:cNvSpPr/>
          <p:nvPr/>
        </p:nvSpPr>
        <p:spPr>
          <a:xfrm>
            <a:off x="13968000" y="273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76" name="Oval 275"/>
          <p:cNvSpPr/>
          <p:nvPr/>
        </p:nvSpPr>
        <p:spPr>
          <a:xfrm>
            <a:off x="14076000" y="27462000"/>
            <a:ext cx="396000" cy="396000"/>
          </a:xfrm>
          <a:prstGeom prst="ellipse">
            <a:avLst/>
          </a:prstGeom>
          <a:solidFill>
            <a:srgbClr val="13294B"/>
          </a:solidFill>
          <a:ln>
            <a:noFill/>
          </a:ln>
        </p:spPr>
        <p:txBody>
          <a:bodyPr rtlCol="0" anchor="ctr" lIns="54000" rIns="54000" tIns="54000" bIns="54000"/>
          <a:lstStyle/>
          <a:p>
            <a:pPr algn="ctr"/>
          </a:p>
        </p:txBody>
      </p:sp>
      <p:pic>
        <p:nvPicPr>
          <p:cNvPr id="277" name="Picture 276" descr="FaIndustry_FFFFFF.png"/>
          <p:cNvPicPr>
            <a:picLocks noChangeAspect="1"/>
          </p:cNvPicPr>
          <p:nvPr/>
        </p:nvPicPr>
        <p:blipFill>
          <a:blip r:embed="rId12"/>
          <a:stretch>
            <a:fillRect/>
          </a:stretch>
        </p:blipFill>
        <p:spPr>
          <a:xfrm>
            <a:off x="14178960" y="27564960"/>
            <a:ext cx="190080" cy="190080"/>
          </a:xfrm>
          <a:prstGeom prst="rect">
            <a:avLst/>
          </a:prstGeom>
        </p:spPr>
      </p:pic>
      <p:sp>
        <p:nvSpPr>
          <p:cNvPr id="278" name="TextBox 277"/>
          <p:cNvSpPr txBox="1"/>
          <p:nvPr/>
        </p:nvSpPr>
        <p:spPr>
          <a:xfrm>
            <a:off x="14544000" y="274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실무적 시사점</a:t>
            </a:r>
          </a:p>
        </p:txBody>
      </p:sp>
      <p:sp>
        <p:nvSpPr>
          <p:cNvPr id="279" name="TextBox 278"/>
          <p:cNvSpPr txBox="1"/>
          <p:nvPr/>
        </p:nvSpPr>
        <p:spPr>
          <a:xfrm>
            <a:off x="14094000" y="278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HBM 등 하이브리드 본딩 경쟁력은 접합 원리 하나에 좌우되지 않을 수 있음</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평탄화·표면 화학·정렬 계측과 얇은 다이를 다루고 적층하는 공정 역량까지 필요</a:t>
            </a:r>
          </a:p>
        </p:txBody>
      </p:sp>
      <p:sp>
        <p:nvSpPr>
          <p:cNvPr id="280" name="TextBox 279"/>
          <p:cNvSpPr txBox="1"/>
          <p:nvPr/>
        </p:nvSpPr>
        <p:spPr>
          <a:xfrm>
            <a:off x="576000" y="28962000"/>
            <a:ext cx="7560000" cy="12240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lang="ko-KR">
                <a:solidFill>
                  <a:srgbClr val="13294B"/>
                </a:solidFill>
                <a:latin typeface="맑은 고딕"/>
                <a:ea typeface="맑은 고딕"/>
                <a:cs typeface="맑은 고딕"/>
              </a:rPr>
              <a:t>주요 참고문헌</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281" name="TextBox 280"/>
          <p:cNvSpPr txBox="1"/>
          <p:nvPr/>
        </p:nvSpPr>
        <p:spPr>
          <a:xfrm>
            <a:off x="13608000" y="28962000"/>
            <a:ext cx="7200000" cy="1224000"/>
          </a:xfrm>
          <a:prstGeom prst="rect">
            <a:avLst/>
          </a:prstGeom>
          <a:noFill/>
        </p:spPr>
        <p:txBody>
          <a:bodyPr wrap="square" lIns="0" rIns="0" tIns="0" bIns="0" anchor="t">
            <a:noAutofit/>
          </a:bodyPr>
          <a:lstStyle/>
          <a:p>
            <a:pPr algn="r" marL="0" indent="0">
              <a:lnSpc>
                <a:spcPts val="1440"/>
              </a:lnSpc>
              <a:spcBef>
                <a:spcPts val="0"/>
              </a:spcBef>
              <a:spcAft>
                <a:spcPts val="0"/>
              </a:spcAft>
              <a:buNone/>
            </a:pPr>
            <a:r>
              <a:rPr sz="1200" b="1" i="0" lang="ko-KR">
                <a:solidFill>
                  <a:srgbClr val="13294B"/>
                </a:solidFill>
                <a:latin typeface="맑은 고딕"/>
                <a:ea typeface="맑은 고딕"/>
                <a:cs typeface="맑은 고딕"/>
              </a:rPr>
              <a:t>Contact</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이형규 · 한양대학교 기술경영전문대학원</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higgack@naver.com</a:t>
            </a:r>
          </a:p>
          <a:p>
            <a:pPr algn="r" marL="0" indent="0">
              <a:lnSpc>
                <a:spcPts val="1260"/>
              </a:lnSpc>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