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
  </p:notesMasterIdLst>
  <p:handoutMasterIdLst>
    <p:handoutMasterId r:id="rId4"/>
  </p:handoutMasterIdLst>
  <p:sldIdLst>
    <p:sldId id="257" r:id="rId2"/>
  </p:sldIdLst>
  <p:sldSz cx="21388388" cy="30275213"/>
  <p:notesSz cx="6888163" cy="10018713"/>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5" pos="13191">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 id="4" name="Taehyun Jung" initials="TJ" lastIdx="2" clrIdx="4">
    <p:extLst>
      <p:ext uri="{19B8F6BF-5375-455C-9EA6-DF929625EA0E}">
        <p15:presenceInfo xmlns:p15="http://schemas.microsoft.com/office/powerpoint/2012/main" userId="a3451b165ff1979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89" autoAdjust="0"/>
    <p:restoredTop sz="94777" autoAdjust="0"/>
  </p:normalViewPr>
  <p:slideViewPr>
    <p:cSldViewPr snapToGrid="0" snapToObjects="1" showGuides="1">
      <p:cViewPr varScale="1">
        <p:scale>
          <a:sx n="23" d="100"/>
          <a:sy n="23" d="100"/>
        </p:scale>
        <p:origin x="3078" y="60"/>
      </p:cViewPr>
      <p:guideLst>
        <p:guide orient="horz" pos="265"/>
        <p:guide orient="horz" pos="18541"/>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commentAuthors" Target="commentAuthors.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57150">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57150">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5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500">
                <a:solidFill>
                  <a:srgbClr val="1E2532"/>
                </a:solidFill>
                <a:latin typeface="맑은 고딕"/>
                <a:ea typeface="맑은 고딕"/>
              </a:defRPr>
            </a:pPr>
          </a:p>
        </c:txPr>
        <c:crossAx val="2118791784"/>
        <c:crosses val="autoZero"/>
        <c:majorUnit val="0.2"/>
      </c:valAx>
    </c:plotArea>
    <c:legend>
      <c:legendPos val="t"/>
      <c:layout/>
      <c:overlay val="0"/>
      <c:txPr>
        <a:bodyPr/>
        <a:lstStyle/>
        <a:p>
          <a:pPr>
            <a:defRPr sz="1500">
              <a:solidFill>
                <a:srgbClr val="1E2532"/>
              </a:solidFill>
              <a:latin typeface="맑은 고딕"/>
              <a:ea typeface="맑은 고딕"/>
            </a:defRPr>
          </a:pPr>
        </a:p>
      </c:txPr>
    </c:legend>
    <c:plotVisOnly val="1"/>
    <c:dispBlanksAs val="gap"/>
    <c:showDLblsOverMax val="0"/>
  </c:chart>
  <c:txPr>
    <a:bodyPr/>
    <a:lstStyle/>
    <a:p>
      <a:pPr>
        <a:defRPr sz="15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50800">
              <a:solidFill>
                <a:srgbClr val="2563C9"/>
              </a:solidFill>
            </a:ln>
          </c:spPr>
          <c:marker>
            <c:symbol val="circle"/>
            <c:size val="10"/>
            <c:spPr>
              <a:solidFill>
                <a:srgbClr val="2563C9"/>
              </a:solidFill>
              <a:ln>
                <a:solidFill>
                  <a:srgbClr val="2563C9"/>
                </a:solidFill>
              </a:ln>
            </c:spPr>
          </c:marker>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50800">
              <a:solidFill>
                <a:srgbClr val="10A39A"/>
              </a:solidFill>
            </a:ln>
          </c:spPr>
          <c:marker>
            <c:symbol val="circle"/>
            <c:size val="10"/>
            <c:spPr>
              <a:solidFill>
                <a:srgbClr val="10A39A"/>
              </a:solidFill>
              <a:ln>
                <a:solidFill>
                  <a:srgbClr val="10A39A"/>
                </a:solidFill>
              </a:ln>
            </c:spPr>
          </c:marker>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50800">
              <a:solidFill>
                <a:srgbClr val="E0A100"/>
              </a:solidFill>
            </a:ln>
          </c:spPr>
          <c:marker>
            <c:symbol val="circle"/>
            <c:size val="10"/>
            <c:spPr>
              <a:solidFill>
                <a:srgbClr val="E0A100"/>
              </a:solidFill>
              <a:ln>
                <a:solidFill>
                  <a:srgbClr val="E0A100"/>
                </a:solidFill>
              </a:ln>
            </c:spPr>
          </c:marker>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4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6"/>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400">
                <a:solidFill>
                  <a:srgbClr val="1E2532"/>
                </a:solidFill>
                <a:latin typeface="맑은 고딕"/>
                <a:ea typeface="맑은 고딕"/>
              </a:defRPr>
            </a:pPr>
          </a:p>
        </c:txPr>
        <c:crossAx val="2118791784"/>
        <c:crosses val="autoZero"/>
        <c:majorUnit val="0.2"/>
      </c:valAx>
    </c:plotArea>
    <c:legend>
      <c:legendPos val="t"/>
      <c:layout/>
      <c:overlay val="0"/>
      <c:txPr>
        <a:bodyPr/>
        <a:lstStyle/>
        <a:p>
          <a:pPr>
            <a:defRPr sz="1400">
              <a:solidFill>
                <a:srgbClr val="1E2532"/>
              </a:solidFill>
              <a:latin typeface="맑은 고딕"/>
              <a:ea typeface="맑은 고딕"/>
            </a:defRPr>
          </a:pPr>
        </a:p>
      </c:txPr>
    </c:legend>
    <c:plotVisOnly val="1"/>
    <c:dispBlanksAs val="gap"/>
    <c:showDLblsOverMax val="0"/>
  </c:chart>
  <c:txPr>
    <a:bodyPr/>
    <a:lstStyle/>
    <a:p>
      <a:pPr>
        <a:defRPr sz="1400">
          <a:solidFill>
            <a:srgbClr val="1E2532"/>
          </a:solidFill>
          <a:latin typeface="맑은 고딕"/>
          <a:ea typeface="맑은 고딕"/>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a:p>
        </p:txBody>
      </p:sp>
      <p:sp>
        <p:nvSpPr>
          <p:cNvPr id="3" name="Date Placeholder 2"/>
          <p:cNvSpPr>
            <a:spLocks noGrp="1"/>
          </p:cNvSpPr>
          <p:nvPr>
            <p:ph type="dt" sz="quarter" idx="1"/>
          </p:nvPr>
        </p:nvSpPr>
        <p:spPr>
          <a:xfrm>
            <a:off x="3901698" y="0"/>
            <a:ext cx="2984871" cy="500936"/>
          </a:xfrm>
          <a:prstGeom prst="rect">
            <a:avLst/>
          </a:prstGeom>
        </p:spPr>
        <p:txBody>
          <a:bodyPr vert="horz" lIns="96606" tIns="48303" rIns="96606" bIns="48303" rtlCol="0"/>
          <a:lstStyle>
            <a:lvl1pPr algn="r">
              <a:defRPr sz="1300"/>
            </a:lvl1pPr>
          </a:lstStyle>
          <a:p>
            <a:fld id="{0158C5BC-9A70-462C-B28D-9600239EAC64}" type="datetimeFigureOut">
              <a:rPr lang="en-US" smtClean="0"/>
              <a:pPr/>
              <a:t>9/24/2025</a:t>
            </a:fld>
            <a:endParaRPr lang="en-US"/>
          </a:p>
        </p:txBody>
      </p:sp>
      <p:sp>
        <p:nvSpPr>
          <p:cNvPr id="4" name="Footer Placeholder 3"/>
          <p:cNvSpPr>
            <a:spLocks noGrp="1"/>
          </p:cNvSpPr>
          <p:nvPr>
            <p:ph type="ftr" sz="quarter" idx="2"/>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a:p>
        </p:txBody>
      </p:sp>
      <p:sp>
        <p:nvSpPr>
          <p:cNvPr id="5" name="Slide Number Placeholder 4"/>
          <p:cNvSpPr>
            <a:spLocks noGrp="1"/>
          </p:cNvSpPr>
          <p:nvPr>
            <p:ph type="sldNum" sz="quarter" idx="3"/>
          </p:nvPr>
        </p:nvSpPr>
        <p:spPr>
          <a:xfrm>
            <a:off x="3901698" y="9516038"/>
            <a:ext cx="2984871" cy="500936"/>
          </a:xfrm>
          <a:prstGeom prst="rect">
            <a:avLst/>
          </a:prstGeom>
        </p:spPr>
        <p:txBody>
          <a:bodyPr vert="horz" lIns="96606" tIns="48303" rIns="96606" bIns="48303"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dirty="0"/>
          </a:p>
        </p:txBody>
      </p:sp>
      <p:sp>
        <p:nvSpPr>
          <p:cNvPr id="3" name="Date Placeholder 2"/>
          <p:cNvSpPr>
            <a:spLocks noGrp="1"/>
          </p:cNvSpPr>
          <p:nvPr>
            <p:ph type="dt" idx="1"/>
          </p:nvPr>
        </p:nvSpPr>
        <p:spPr>
          <a:xfrm>
            <a:off x="3901698" y="0"/>
            <a:ext cx="2984871" cy="500936"/>
          </a:xfrm>
          <a:prstGeom prst="rect">
            <a:avLst/>
          </a:prstGeom>
        </p:spPr>
        <p:txBody>
          <a:bodyPr vert="horz" lIns="96606" tIns="48303" rIns="96606" bIns="48303" rtlCol="0"/>
          <a:lstStyle>
            <a:lvl1pPr algn="r">
              <a:defRPr sz="1300"/>
            </a:lvl1pPr>
          </a:lstStyle>
          <a:p>
            <a:fld id="{E6CC2317-6751-4CD4-9995-8782DD78E936}" type="datetimeFigureOut">
              <a:rPr lang="en-US" smtClean="0"/>
              <a:pPr/>
              <a:t>9/24/2025</a:t>
            </a:fld>
            <a:endParaRPr lang="en-US" dirty="0"/>
          </a:p>
        </p:txBody>
      </p:sp>
      <p:sp>
        <p:nvSpPr>
          <p:cNvPr id="4" name="Slide Image Placeholder 3"/>
          <p:cNvSpPr>
            <a:spLocks noGrp="1" noRot="1" noChangeAspect="1"/>
          </p:cNvSpPr>
          <p:nvPr>
            <p:ph type="sldImg" idx="2"/>
          </p:nvPr>
        </p:nvSpPr>
        <p:spPr>
          <a:xfrm>
            <a:off x="2117725" y="750888"/>
            <a:ext cx="2652713" cy="3757612"/>
          </a:xfrm>
          <a:prstGeom prst="rect">
            <a:avLst/>
          </a:prstGeom>
          <a:noFill/>
          <a:ln w="12700">
            <a:solidFill>
              <a:prstClr val="black"/>
            </a:solidFill>
          </a:ln>
        </p:spPr>
        <p:txBody>
          <a:bodyPr vert="horz" lIns="96606" tIns="48303" rIns="96606" bIns="48303" rtlCol="0" anchor="ctr"/>
          <a:lstStyle/>
          <a:p>
            <a:endParaRPr lang="en-US" dirty="0"/>
          </a:p>
        </p:txBody>
      </p:sp>
      <p:sp>
        <p:nvSpPr>
          <p:cNvPr id="5" name="Notes Placeholder 4"/>
          <p:cNvSpPr>
            <a:spLocks noGrp="1"/>
          </p:cNvSpPr>
          <p:nvPr>
            <p:ph type="body" sz="quarter" idx="3"/>
          </p:nvPr>
        </p:nvSpPr>
        <p:spPr>
          <a:xfrm>
            <a:off x="688817" y="4758889"/>
            <a:ext cx="5510530" cy="4508421"/>
          </a:xfrm>
          <a:prstGeom prst="rect">
            <a:avLst/>
          </a:prstGeom>
        </p:spPr>
        <p:txBody>
          <a:bodyPr vert="horz" lIns="96606" tIns="48303" rIns="96606" bIns="4830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dirty="0"/>
          </a:p>
        </p:txBody>
      </p:sp>
      <p:sp>
        <p:nvSpPr>
          <p:cNvPr id="7" name="Slide Number Placeholder 6"/>
          <p:cNvSpPr>
            <a:spLocks noGrp="1"/>
          </p:cNvSpPr>
          <p:nvPr>
            <p:ph type="sldNum" sz="quarter" idx="5"/>
          </p:nvPr>
        </p:nvSpPr>
        <p:spPr>
          <a:xfrm>
            <a:off x="3901698" y="9516038"/>
            <a:ext cx="2984871" cy="500936"/>
          </a:xfrm>
          <a:prstGeom prst="rect">
            <a:avLst/>
          </a:prstGeom>
        </p:spPr>
        <p:txBody>
          <a:bodyPr vert="horz" lIns="96606" tIns="48303" rIns="96606" bIns="48303"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18346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C1893B17-B411-48C7-82AB-F8C444055F15}"/>
              </a:ext>
            </a:extLst>
          </p:cNvPr>
          <p:cNvPicPr>
            <a:picLocks noChangeAspect="1"/>
          </p:cNvPicPr>
          <p:nvPr userDrawn="1"/>
        </p:nvPicPr>
        <p:blipFill>
          <a:blip r:embed="rId3"/>
          <a:stretch>
            <a:fillRect/>
          </a:stretch>
        </p:blipFill>
        <p:spPr>
          <a:xfrm>
            <a:off x="8359272" y="29062412"/>
            <a:ext cx="4823328" cy="846087"/>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chart" Target="../charts/chart1.xml"/><Relationship Id="rId9"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banner_classic.png"/>
          <p:cNvPicPr>
            <a:picLocks noChangeAspect="1"/>
          </p:cNvPicPr>
          <p:nvPr/>
        </p:nvPicPr>
        <p:blipFill>
          <a:blip r:embed="rId3"/>
          <a:stretch>
            <a:fillRect/>
          </a:stretch>
        </p:blipFill>
        <p:spPr>
          <a:xfrm>
            <a:off x="0" y="0"/>
            <a:ext cx="21387600" cy="5220000"/>
          </a:xfrm>
          <a:prstGeom prst="rect">
            <a:avLst/>
          </a:prstGeom>
        </p:spPr>
      </p:pic>
      <p:sp>
        <p:nvSpPr>
          <p:cNvPr id="18" name="Rounded Rectangle 17"/>
          <p:cNvSpPr/>
          <p:nvPr/>
        </p:nvSpPr>
        <p:spPr>
          <a:xfrm>
            <a:off x="2160000" y="3384000"/>
            <a:ext cx="17064000" cy="720000"/>
          </a:xfrm>
          <a:prstGeom prst="roundRect">
            <a:avLst>
              <a:gd name="adj" fmla="val 50000"/>
            </a:avLst>
          </a:prstGeom>
          <a:solidFill>
            <a:srgbClr val="E6EEF9"/>
          </a:solidFill>
          <a:ln>
            <a:noFill/>
          </a:ln>
        </p:spPr>
        <p:txBody>
          <a:bodyPr rtlCol="0" anchor="ctr" lIns="54000" rIns="54000" tIns="54000" bIns="54000"/>
          <a:lstStyle/>
          <a:p>
            <a:pPr algn="ctr"/>
          </a:p>
        </p:txBody>
      </p:sp>
      <p:sp>
        <p:nvSpPr>
          <p:cNvPr id="13" name="텍스트 개체 틀 12"/>
          <p:cNvSpPr>
            <a:spLocks noGrp="1"/>
          </p:cNvSpPr>
          <p:nvPr>
            <p:ph type="body" sz="quarter" idx="150"/>
          </p:nvPr>
        </p:nvSpPr>
        <p:spPr>
          <a:xfrm>
            <a:off x="2160000" y="3384000"/>
            <a:ext cx="17064000" cy="720000"/>
          </a:xfrm>
        </p:spPr>
        <p:txBody>
          <a:bodyPr wrap="square" lIns="0" rIns="0" tIns="0" bIns="0" anchor="ctr">
            <a:noAutofit/>
          </a:bodyPr>
          <a:lstStyle/>
          <a:p>
            <a:pPr algn="ctr" marL="0" indent="0">
              <a:lnSpc>
                <a:spcPts val="3120"/>
              </a:lnSpc>
              <a:spcBef>
                <a:spcPts val="0"/>
              </a:spcBef>
              <a:spcAft>
                <a:spcPts val="0"/>
              </a:spcAft>
              <a:buNone/>
            </a:pPr>
            <a:r>
              <a:rPr sz="2600" b="1" i="0" lang="ko-KR">
                <a:solidFill>
                  <a:srgbClr val="1B2F6B"/>
                </a:solidFill>
                <a:latin typeface="맑은 고딕"/>
                <a:ea typeface="맑은 고딕"/>
                <a:cs typeface="맑은 고딕"/>
              </a:rPr>
              <a:t>이형규</a:t>
            </a:r>
            <a:r>
              <a:rPr sz="2200" b="0" i="0" lang="ko-KR">
                <a:solidFill>
                  <a:srgbClr val="1B2F6B"/>
                </a:solidFill>
                <a:latin typeface="맑은 고딕"/>
                <a:ea typeface="맑은 고딕"/>
                <a:cs typeface="맑은 고딕"/>
              </a:rPr>
              <a:t>   |   한양대학교 기술경영학과   |   higgack@naver.com</a:t>
            </a:r>
            <a:endParaRPr lang="ko-KR" altLang="en-US"/>
          </a:p>
        </p:txBody>
      </p:sp>
      <p:sp>
        <p:nvSpPr>
          <p:cNvPr id="14" name="텍스트 개체 틀 13"/>
          <p:cNvSpPr>
            <a:spLocks noGrp="1"/>
          </p:cNvSpPr>
          <p:nvPr>
            <p:ph type="body" sz="quarter" idx="151"/>
          </p:nvPr>
        </p:nvSpPr>
        <p:spPr>
          <a:xfrm>
            <a:off x="3420000" y="2556000"/>
            <a:ext cx="14760000" cy="468000"/>
          </a:xfrm>
        </p:spPr>
        <p:txBody>
          <a:bodyPr wrap="square" lIns="0" rIns="0" tIns="0" bIns="0" anchor="t">
            <a:noAutofit/>
          </a:bodyPr>
          <a:lstStyle/>
          <a:p>
            <a:pPr algn="ctr" marL="0" indent="0">
              <a:lnSpc>
                <a:spcPts val="2520"/>
              </a:lnSpc>
              <a:spcBef>
                <a:spcPts val="0"/>
              </a:spcBef>
              <a:spcAft>
                <a:spcPts val="0"/>
              </a:spcAft>
              <a:buNone/>
            </a:pPr>
            <a:r>
              <a:rPr sz="2100" b="1" i="0" lang="ko-KR">
                <a:solidFill>
                  <a:srgbClr val="2F5DA8"/>
                </a:solidFill>
                <a:latin typeface="맑은 고딕"/>
                <a:ea typeface="맑은 고딕"/>
                <a:cs typeface="맑은 고딕"/>
              </a:rPr>
              <a:t>A Dynamic Analysis of Cross-Stage Technological Convergence through Semiconductor Hybrid Bonding Patents</a:t>
            </a:r>
            <a:endParaRPr lang="ko-KR" altLang="en-US" dirty="0"/>
          </a:p>
        </p:txBody>
      </p:sp>
      <p:sp>
        <p:nvSpPr>
          <p:cNvPr id="15" name="텍스트 개체 틀 14"/>
          <p:cNvSpPr>
            <a:spLocks noGrp="1"/>
          </p:cNvSpPr>
          <p:nvPr>
            <p:ph type="body" sz="quarter" idx="153"/>
          </p:nvPr>
        </p:nvSpPr>
        <p:spPr>
          <a:xfrm>
            <a:off x="3420000" y="468000"/>
            <a:ext cx="14760000" cy="2016000"/>
          </a:xfrm>
        </p:spPr>
        <p:txBody>
          <a:bodyPr wrap="square" lIns="0" rIns="0" tIns="0" bIns="0" anchor="t">
            <a:noAutofit/>
          </a:bodyPr>
          <a:lstStyle/>
          <a:p>
            <a:pPr algn="ctr" marL="0" indent="0">
              <a:lnSpc>
                <a:spcPts val="6160"/>
              </a:lnSpc>
              <a:spcBef>
                <a:spcPts val="0"/>
              </a:spcBef>
              <a:spcAft>
                <a:spcPts val="0"/>
              </a:spcAft>
              <a:buNone/>
            </a:pPr>
            <a:r>
              <a:rPr sz="5400" b="1" i="0" lang="ko-KR">
                <a:solidFill>
                  <a:srgbClr val="1B2F6B"/>
                </a:solidFill>
                <a:latin typeface="맑은 고딕"/>
                <a:ea typeface="맑은 고딕"/>
                <a:cs typeface="맑은 고딕"/>
              </a:rPr>
              <a:t>반도체 하이브리드 본딩 특허를 통한</a:t>
            </a:r>
            <a:endParaRPr lang="ko-KR" altLang="en-US" dirty="0"/>
          </a:p>
          <a:p>
            <a:pPr algn="ctr" marL="0" indent="0">
              <a:lnSpc>
                <a:spcPts val="6160"/>
              </a:lnSpc>
              <a:spcBef>
                <a:spcPts val="0"/>
              </a:spcBef>
              <a:spcAft>
                <a:spcPts val="0"/>
              </a:spcAft>
              <a:buNone/>
            </a:pPr>
            <a:r>
              <a:rPr sz="5400" b="1" i="0" lang="ko-KR">
                <a:solidFill>
                  <a:srgbClr val="1B2F6B"/>
                </a:solidFill>
                <a:latin typeface="맑은 고딕"/>
                <a:ea typeface="맑은 고딕"/>
                <a:cs typeface="맑은 고딕"/>
              </a:rPr>
              <a:t>공정 단계 간 기술융합의 동태적 분석</a:t>
            </a:r>
          </a:p>
        </p:txBody>
      </p:sp>
      <p:sp>
        <p:nvSpPr>
          <p:cNvPr id="2" name="직사각형 1"/>
          <p:cNvSpPr/>
          <p:nvPr/>
        </p:nvSpPr>
        <p:spPr>
          <a:xfrm>
            <a:off x="19137086" y="348658"/>
            <a:ext cx="1567544" cy="826999"/>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200" dirty="0" smtClean="0">
                <a:solidFill>
                  <a:schemeClr val="tx1"/>
                </a:solidFill>
              </a:rPr>
              <a:t>P</a:t>
            </a:r>
            <a:endParaRPr lang="ko-KR" altLang="en-US" sz="3200" dirty="0">
              <a:solidFill>
                <a:schemeClr val="tx1"/>
              </a:solidFill>
            </a:endParaRPr>
          </a:p>
        </p:txBody>
      </p:sp>
      <p:pic>
        <p:nvPicPr>
          <p:cNvPr id="17" name="Picture 16" descr="emblem.png"/>
          <p:cNvPicPr>
            <a:picLocks noChangeAspect="1"/>
          </p:cNvPicPr>
          <p:nvPr/>
        </p:nvPicPr>
        <p:blipFill>
          <a:blip r:embed="rId4"/>
          <a:stretch>
            <a:fillRect/>
          </a:stretch>
        </p:blipFill>
        <p:spPr>
          <a:xfrm>
            <a:off x="720000" y="576000"/>
            <a:ext cx="2376000" cy="2401412"/>
          </a:xfrm>
          <a:prstGeom prst="rect">
            <a:avLst/>
          </a:prstGeom>
        </p:spPr>
      </p:pic>
      <p:sp>
        <p:nvSpPr>
          <p:cNvPr id="19" name="TextBox 18"/>
          <p:cNvSpPr txBox="1"/>
          <p:nvPr/>
        </p:nvSpPr>
        <p:spPr>
          <a:xfrm>
            <a:off x="2160000" y="4212000"/>
            <a:ext cx="17064000" cy="360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2F5DA8"/>
                </a:solidFill>
                <a:latin typeface="맑은 고딕"/>
                <a:ea typeface="맑은 고딕"/>
                <a:cs typeface="맑은 고딕"/>
              </a:rPr>
              <a:t>2026 한양MOT 리서치데이</a:t>
            </a:r>
          </a:p>
        </p:txBody>
      </p:sp>
      <p:sp>
        <p:nvSpPr>
          <p:cNvPr id="20" name="Rounded Rectangle 19"/>
          <p:cNvSpPr/>
          <p:nvPr/>
        </p:nvSpPr>
        <p:spPr>
          <a:xfrm>
            <a:off x="900000" y="5670000"/>
            <a:ext cx="9504000" cy="720000"/>
          </a:xfrm>
          <a:prstGeom prst="roundRect">
            <a:avLst>
              <a:gd name="adj" fmla="val 50000"/>
            </a:avLst>
          </a:prstGeom>
          <a:solidFill>
            <a:srgbClr val="FFFFFF"/>
          </a:solidFill>
          <a:ln w="28575">
            <a:solidFill>
              <a:srgbClr val="1B2F6B"/>
            </a:solidFill>
          </a:ln>
        </p:spPr>
        <p:txBody>
          <a:bodyPr rtlCol="0" anchor="ctr" lIns="54000" rIns="54000" tIns="54000" bIns="54000"/>
          <a:lstStyle/>
          <a:p>
            <a:pPr algn="ctr"/>
          </a:p>
        </p:txBody>
      </p:sp>
      <p:sp>
        <p:nvSpPr>
          <p:cNvPr id="21" name="Oval 20"/>
          <p:cNvSpPr/>
          <p:nvPr/>
        </p:nvSpPr>
        <p:spPr>
          <a:xfrm>
            <a:off x="576000" y="5616000"/>
            <a:ext cx="828000" cy="828000"/>
          </a:xfrm>
          <a:prstGeom prst="ellipse">
            <a:avLst/>
          </a:prstGeom>
          <a:solidFill>
            <a:srgbClr val="FFFFFF"/>
          </a:solidFill>
          <a:ln w="28575">
            <a:solidFill>
              <a:srgbClr val="1B2F6B"/>
            </a:solidFill>
          </a:ln>
        </p:spPr>
        <p:txBody>
          <a:bodyPr rtlCol="0" anchor="ctr" lIns="54000" rIns="54000" tIns="54000" bIns="54000"/>
          <a:lstStyle/>
          <a:p>
            <a:pPr algn="ctr"/>
          </a:p>
        </p:txBody>
      </p:sp>
      <p:sp>
        <p:nvSpPr>
          <p:cNvPr id="22" name="Oval 21"/>
          <p:cNvSpPr/>
          <p:nvPr/>
        </p:nvSpPr>
        <p:spPr>
          <a:xfrm>
            <a:off x="666000" y="5706000"/>
            <a:ext cx="648000" cy="648000"/>
          </a:xfrm>
          <a:prstGeom prst="ellipse">
            <a:avLst/>
          </a:prstGeom>
          <a:solidFill>
            <a:srgbClr val="2F5DA8"/>
          </a:solidFill>
          <a:ln>
            <a:noFill/>
          </a:ln>
        </p:spPr>
        <p:txBody>
          <a:bodyPr rtlCol="0" anchor="ctr" lIns="54000" rIns="54000" tIns="54000" bIns="54000"/>
          <a:lstStyle/>
          <a:p>
            <a:pPr algn="ctr"/>
          </a:p>
        </p:txBody>
      </p:sp>
      <p:pic>
        <p:nvPicPr>
          <p:cNvPr id="23" name="Picture 22" descr="FaMagnifyingGlass_FFFFFF.png"/>
          <p:cNvPicPr>
            <a:picLocks noChangeAspect="1"/>
          </p:cNvPicPr>
          <p:nvPr/>
        </p:nvPicPr>
        <p:blipFill>
          <a:blip r:embed="rId5"/>
          <a:stretch>
            <a:fillRect/>
          </a:stretch>
        </p:blipFill>
        <p:spPr>
          <a:xfrm>
            <a:off x="840960" y="5880960"/>
            <a:ext cx="298080" cy="298080"/>
          </a:xfrm>
          <a:prstGeom prst="rect">
            <a:avLst/>
          </a:prstGeom>
        </p:spPr>
      </p:pic>
      <p:sp>
        <p:nvSpPr>
          <p:cNvPr id="24" name="TextBox 23"/>
          <p:cNvSpPr txBox="1"/>
          <p:nvPr/>
        </p:nvSpPr>
        <p:spPr>
          <a:xfrm>
            <a:off x="1620000" y="5670000"/>
            <a:ext cx="8604000" cy="720000"/>
          </a:xfrm>
          <a:prstGeom prst="rect">
            <a:avLst/>
          </a:prstGeom>
          <a:noFill/>
        </p:spPr>
        <p:txBody>
          <a:bodyPr wrap="square" lIns="0" rIns="0" tIns="0" bIns="0" anchor="ctr">
            <a:noAutofit/>
          </a:bodyPr>
          <a:lstStyle/>
          <a:p>
            <a:pPr algn="l" marL="0" indent="0">
              <a:lnSpc>
                <a:spcPts val="3360"/>
              </a:lnSpc>
              <a:spcBef>
                <a:spcPts val="0"/>
              </a:spcBef>
              <a:spcAft>
                <a:spcPts val="0"/>
              </a:spcAft>
              <a:buNone/>
            </a:pPr>
            <a:r>
              <a:rPr sz="2800" b="1" i="0" lang="ko-KR">
                <a:solidFill>
                  <a:srgbClr val="111111"/>
                </a:solidFill>
                <a:latin typeface="맑은 고딕"/>
                <a:ea typeface="맑은 고딕"/>
                <a:cs typeface="맑은 고딕"/>
              </a:rPr>
              <a:t>연구 배경 및 목적</a:t>
            </a:r>
          </a:p>
        </p:txBody>
      </p:sp>
      <p:sp>
        <p:nvSpPr>
          <p:cNvPr id="25" name="TextBox 24"/>
          <p:cNvSpPr txBox="1"/>
          <p:nvPr/>
        </p:nvSpPr>
        <p:spPr>
          <a:xfrm>
            <a:off x="720000" y="6588000"/>
            <a:ext cx="9684000" cy="3501216"/>
          </a:xfrm>
          <a:prstGeom prst="rect">
            <a:avLst/>
          </a:prstGeom>
          <a:noFill/>
        </p:spPr>
        <p:txBody>
          <a:bodyPr wrap="square" lIns="0" rIns="0" tIns="0" bIns="0" anchor="t">
            <a:noAutofit/>
          </a:bodyPr>
          <a:lstStyle/>
          <a:p>
            <a:pPr algn="l" marL="288000" indent="-288000">
              <a:lnSpc>
                <a:spcPts val="2400"/>
              </a:lnSpc>
              <a:spcBef>
                <a:spcPts val="0"/>
              </a:spcBef>
              <a:spcAft>
                <a:spcPts val="600"/>
              </a:spcAft>
              <a:buClr>
                <a:srgbClr val="111111"/>
              </a:buClr>
              <a:buSzPct val="80000"/>
              <a:buFont typeface="Arial"/>
              <a:buChar char="■"/>
            </a:pPr>
            <a:r>
              <a:rPr sz="2000" b="0" i="0" lang="ko-KR">
                <a:solidFill>
                  <a:srgbClr val="1E2532"/>
                </a:solidFill>
                <a:latin typeface="맑은 고딕"/>
                <a:ea typeface="맑은 고딕"/>
                <a:cs typeface="맑은 고딕"/>
              </a:rPr>
              <a:t>반도체 산업은 </a:t>
            </a:r>
            <a:r>
              <a:rPr sz="2000" b="1" i="0" lang="ko-KR">
                <a:solidFill>
                  <a:srgbClr val="2563C9"/>
                </a:solidFill>
                <a:latin typeface="맑은 고딕"/>
                <a:ea typeface="맑은 고딕"/>
                <a:cs typeface="맑은 고딕"/>
              </a:rPr>
              <a:t>전공정</a:t>
            </a:r>
            <a:r>
              <a:rPr sz="2000" b="0" i="0" lang="ko-KR">
                <a:solidFill>
                  <a:srgbClr val="1E2532"/>
                </a:solidFill>
                <a:latin typeface="맑은 고딕"/>
                <a:ea typeface="맑은 고딕"/>
                <a:cs typeface="맑은 고딕"/>
              </a:rPr>
              <a:t>(웨이퍼 위 소자 형성)과 </a:t>
            </a:r>
            <a:r>
              <a:rPr sz="2000" b="1" i="0" lang="ko-KR">
                <a:solidFill>
                  <a:srgbClr val="EA7A28"/>
                </a:solidFill>
                <a:latin typeface="맑은 고딕"/>
                <a:ea typeface="맑은 고딕"/>
                <a:cs typeface="맑은 고딕"/>
              </a:rPr>
              <a:t>후공정</a:t>
            </a:r>
            <a:r>
              <a:rPr sz="2000" b="0" i="0" lang="ko-KR">
                <a:solidFill>
                  <a:srgbClr val="1E2532"/>
                </a:solidFill>
                <a:latin typeface="맑은 고딕"/>
                <a:ea typeface="맑은 고딕"/>
                <a:cs typeface="맑은 고딕"/>
              </a:rPr>
              <a:t>(절단·조립·패키징)의 분업 구조를 반세기 이상 유지해 왔다.</a:t>
            </a:r>
          </a:p>
          <a:p>
            <a:pPr algn="l" marL="288000" indent="-288000">
              <a:lnSpc>
                <a:spcPts val="2400"/>
              </a:lnSpc>
              <a:spcBef>
                <a:spcPts val="0"/>
              </a:spcBef>
              <a:spcAft>
                <a:spcPts val="600"/>
              </a:spcAft>
              <a:buClr>
                <a:srgbClr val="111111"/>
              </a:buClr>
              <a:buSzPct val="80000"/>
              <a:buFont typeface="Arial"/>
              <a:buChar char="■"/>
            </a:pPr>
            <a:r>
              <a:rPr sz="2000" b="0" i="0" lang="ko-KR">
                <a:solidFill>
                  <a:srgbClr val="1E2532"/>
                </a:solidFill>
                <a:latin typeface="맑은 고딕"/>
                <a:ea typeface="맑은 고딕"/>
                <a:cs typeface="맑은 고딕"/>
              </a:rPr>
              <a:t>미세화의 한계로 다이를 분할·적층·연결하는 첨단 패키징이 새로운 성능 향상의 원천이 되었다.</a:t>
            </a:r>
          </a:p>
          <a:p>
            <a:pPr algn="l" marL="288000" indent="-288000">
              <a:lnSpc>
                <a:spcPts val="2400"/>
              </a:lnSpc>
              <a:spcBef>
                <a:spcPts val="0"/>
              </a:spcBef>
              <a:spcAft>
                <a:spcPts val="600"/>
              </a:spcAft>
              <a:buClr>
                <a:srgbClr val="111111"/>
              </a:buClr>
              <a:buSzPct val="80000"/>
              <a:buFont typeface="Arial"/>
              <a:buChar char="■"/>
            </a:pPr>
            <a:r>
              <a:rPr sz="2000" b="1" i="0" lang="ko-KR">
                <a:solidFill>
                  <a:srgbClr val="1E2532"/>
                </a:solidFill>
                <a:latin typeface="맑은 고딕"/>
                <a:ea typeface="맑은 고딕"/>
                <a:cs typeface="맑은 고딕"/>
              </a:rPr>
              <a:t>하이브리드 본딩</a:t>
            </a:r>
            <a:r>
              <a:rPr sz="2000" b="0" i="0" lang="ko-KR">
                <a:solidFill>
                  <a:srgbClr val="1E2532"/>
                </a:solidFill>
                <a:latin typeface="맑은 고딕"/>
                <a:ea typeface="맑은 고딕"/>
                <a:cs typeface="맑은 고딕"/>
              </a:rPr>
              <a:t>은 솔더 범프 없이 구리 패드와 산화막을 직접 접합하여 10 µm 이하의 연결 간격을 구현한다.</a:t>
            </a:r>
          </a:p>
          <a:p>
            <a:pPr algn="l" marL="288000" indent="-288000">
              <a:lnSpc>
                <a:spcPts val="2400"/>
              </a:lnSpc>
              <a:spcBef>
                <a:spcPts val="0"/>
              </a:spcBef>
              <a:spcAft>
                <a:spcPts val="600"/>
              </a:spcAft>
              <a:buClr>
                <a:srgbClr val="111111"/>
              </a:buClr>
              <a:buSzPct val="80000"/>
              <a:buFont typeface="Arial"/>
              <a:buChar char="■"/>
            </a:pPr>
            <a:r>
              <a:rPr sz="2000" b="0" i="0" lang="ko-KR">
                <a:solidFill>
                  <a:srgbClr val="1E2532"/>
                </a:solidFill>
                <a:latin typeface="맑은 고딕"/>
                <a:ea typeface="맑은 고딕"/>
                <a:cs typeface="맑은 고딕"/>
              </a:rPr>
              <a:t>그 성패를 좌우하는 평탄화(CMP)·표면 활성화·정밀 정렬은 </a:t>
            </a:r>
            <a:r>
              <a:rPr sz="2000" b="1" i="0" lang="ko-KR">
                <a:solidFill>
                  <a:srgbClr val="2563C9"/>
                </a:solidFill>
                <a:latin typeface="맑은 고딕"/>
                <a:ea typeface="맑은 고딕"/>
                <a:cs typeface="맑은 고딕"/>
              </a:rPr>
              <a:t>전공정의 제조공정 역량</a:t>
            </a:r>
            <a:r>
              <a:rPr sz="2000" b="0" i="0" lang="ko-KR">
                <a:solidFill>
                  <a:srgbClr val="1E2532"/>
                </a:solidFill>
                <a:latin typeface="맑은 고딕"/>
                <a:ea typeface="맑은 고딕"/>
                <a:cs typeface="맑은 고딕"/>
              </a:rPr>
              <a:t>에 해당한다.</a:t>
            </a:r>
          </a:p>
          <a:p>
            <a:pPr algn="l" marL="288000" indent="-288000">
              <a:lnSpc>
                <a:spcPts val="2400"/>
              </a:lnSpc>
              <a:spcBef>
                <a:spcPts val="0"/>
              </a:spcBef>
              <a:spcAft>
                <a:spcPts val="600"/>
              </a:spcAft>
              <a:buClr>
                <a:srgbClr val="111111"/>
              </a:buClr>
              <a:buSzPct val="80000"/>
              <a:buFont typeface="Arial"/>
              <a:buChar char="■"/>
            </a:pPr>
            <a:r>
              <a:rPr sz="2000" b="0" i="0" lang="ko-KR">
                <a:solidFill>
                  <a:srgbClr val="1E2532"/>
                </a:solidFill>
                <a:latin typeface="맑은 고딕"/>
                <a:ea typeface="맑은 고딕"/>
                <a:cs typeface="맑은 고딕"/>
              </a:rPr>
              <a:t>본 연구는 </a:t>
            </a:r>
            <a:r>
              <a:rPr sz="2000" b="1" i="0" lang="ko-KR">
                <a:solidFill>
                  <a:srgbClr val="1B2F6B"/>
                </a:solidFill>
                <a:latin typeface="맑은 고딕"/>
                <a:ea typeface="맑은 고딕"/>
                <a:cs typeface="맑은 고딕"/>
              </a:rPr>
              <a:t>하이브리드 본딩 관련 특허출원 928건의 CPC 공동분류</a:t>
            </a:r>
            <a:r>
              <a:rPr sz="2000" b="0" i="0" lang="ko-KR">
                <a:solidFill>
                  <a:srgbClr val="1E2532"/>
                </a:solidFill>
                <a:latin typeface="맑은 고딕"/>
                <a:ea typeface="맑은 고딕"/>
                <a:cs typeface="맑은 고딕"/>
              </a:rPr>
              <a:t>로 공정 단계 간 기술융합의 수준과 유형, 시간적 변화, 구조적 중심 변화를 분석한다.</a:t>
            </a:r>
          </a:p>
        </p:txBody>
      </p:sp>
      <p:pic>
        <p:nvPicPr>
          <p:cNvPr id="26" name="Picture 25" descr="framework.png"/>
          <p:cNvPicPr>
            <a:picLocks noChangeAspect="1"/>
          </p:cNvPicPr>
          <p:nvPr/>
        </p:nvPicPr>
        <p:blipFill>
          <a:blip r:embed="rId6"/>
          <a:stretch>
            <a:fillRect/>
          </a:stretch>
        </p:blipFill>
        <p:spPr>
          <a:xfrm>
            <a:off x="2430000" y="10215216"/>
            <a:ext cx="6120000" cy="4857143"/>
          </a:xfrm>
          <a:prstGeom prst="rect">
            <a:avLst/>
          </a:prstGeom>
        </p:spPr>
      </p:pic>
      <p:sp>
        <p:nvSpPr>
          <p:cNvPr id="27" name="TextBox 26"/>
          <p:cNvSpPr txBox="1"/>
          <p:nvPr/>
        </p:nvSpPr>
        <p:spPr>
          <a:xfrm>
            <a:off x="576000" y="15108359"/>
            <a:ext cx="982800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1B2F6B"/>
                </a:solidFill>
                <a:latin typeface="맑은 고딕"/>
                <a:ea typeface="맑은 고딕"/>
                <a:cs typeface="맑은 고딕"/>
              </a:rPr>
              <a:t>&lt;그림 1&gt; 하이브리드 본딩의 기반 공정, 접합 형태, 소자 구조, 적용 제품</a:t>
            </a:r>
          </a:p>
        </p:txBody>
      </p:sp>
      <p:sp>
        <p:nvSpPr>
          <p:cNvPr id="28" name="Rounded Rectangle 27"/>
          <p:cNvSpPr/>
          <p:nvPr/>
        </p:nvSpPr>
        <p:spPr>
          <a:xfrm>
            <a:off x="900000" y="15738359"/>
            <a:ext cx="9504000" cy="720000"/>
          </a:xfrm>
          <a:prstGeom prst="roundRect">
            <a:avLst>
              <a:gd name="adj" fmla="val 50000"/>
            </a:avLst>
          </a:prstGeom>
          <a:solidFill>
            <a:srgbClr val="FFFFFF"/>
          </a:solidFill>
          <a:ln w="28575">
            <a:solidFill>
              <a:srgbClr val="1B2F6B"/>
            </a:solidFill>
          </a:ln>
        </p:spPr>
        <p:txBody>
          <a:bodyPr rtlCol="0" anchor="ctr" lIns="54000" rIns="54000" tIns="54000" bIns="54000"/>
          <a:lstStyle/>
          <a:p>
            <a:pPr algn="ctr"/>
          </a:p>
        </p:txBody>
      </p:sp>
      <p:sp>
        <p:nvSpPr>
          <p:cNvPr id="29" name="Oval 28"/>
          <p:cNvSpPr/>
          <p:nvPr/>
        </p:nvSpPr>
        <p:spPr>
          <a:xfrm>
            <a:off x="576000" y="15684359"/>
            <a:ext cx="828000" cy="828000"/>
          </a:xfrm>
          <a:prstGeom prst="ellipse">
            <a:avLst/>
          </a:prstGeom>
          <a:solidFill>
            <a:srgbClr val="FFFFFF"/>
          </a:solidFill>
          <a:ln w="28575">
            <a:solidFill>
              <a:srgbClr val="1B2F6B"/>
            </a:solidFill>
          </a:ln>
        </p:spPr>
        <p:txBody>
          <a:bodyPr rtlCol="0" anchor="ctr" lIns="54000" rIns="54000" tIns="54000" bIns="54000"/>
          <a:lstStyle/>
          <a:p>
            <a:pPr algn="ctr"/>
          </a:p>
        </p:txBody>
      </p:sp>
      <p:sp>
        <p:nvSpPr>
          <p:cNvPr id="30" name="Oval 29"/>
          <p:cNvSpPr/>
          <p:nvPr/>
        </p:nvSpPr>
        <p:spPr>
          <a:xfrm>
            <a:off x="666000" y="15774359"/>
            <a:ext cx="648000" cy="648000"/>
          </a:xfrm>
          <a:prstGeom prst="ellipse">
            <a:avLst/>
          </a:prstGeom>
          <a:solidFill>
            <a:srgbClr val="2F5DA8"/>
          </a:solidFill>
          <a:ln>
            <a:noFill/>
          </a:ln>
        </p:spPr>
        <p:txBody>
          <a:bodyPr rtlCol="0" anchor="ctr" lIns="54000" rIns="54000" tIns="54000" bIns="54000"/>
          <a:lstStyle/>
          <a:p>
            <a:pPr algn="ctr"/>
          </a:p>
        </p:txBody>
      </p:sp>
      <p:pic>
        <p:nvPicPr>
          <p:cNvPr id="31" name="Picture 30" descr="FaMagnifyingGlass_FFFFFF.png"/>
          <p:cNvPicPr>
            <a:picLocks noChangeAspect="1"/>
          </p:cNvPicPr>
          <p:nvPr/>
        </p:nvPicPr>
        <p:blipFill>
          <a:blip r:embed="rId5"/>
          <a:stretch>
            <a:fillRect/>
          </a:stretch>
        </p:blipFill>
        <p:spPr>
          <a:xfrm>
            <a:off x="840960" y="15949319"/>
            <a:ext cx="298080" cy="298080"/>
          </a:xfrm>
          <a:prstGeom prst="rect">
            <a:avLst/>
          </a:prstGeom>
        </p:spPr>
      </p:pic>
      <p:sp>
        <p:nvSpPr>
          <p:cNvPr id="32" name="TextBox 31"/>
          <p:cNvSpPr txBox="1"/>
          <p:nvPr/>
        </p:nvSpPr>
        <p:spPr>
          <a:xfrm>
            <a:off x="1620000" y="15738359"/>
            <a:ext cx="8604000" cy="720000"/>
          </a:xfrm>
          <a:prstGeom prst="rect">
            <a:avLst/>
          </a:prstGeom>
          <a:noFill/>
        </p:spPr>
        <p:txBody>
          <a:bodyPr wrap="square" lIns="0" rIns="0" tIns="0" bIns="0" anchor="ctr">
            <a:noAutofit/>
          </a:bodyPr>
          <a:lstStyle/>
          <a:p>
            <a:pPr algn="l" marL="0" indent="0">
              <a:lnSpc>
                <a:spcPts val="3360"/>
              </a:lnSpc>
              <a:spcBef>
                <a:spcPts val="0"/>
              </a:spcBef>
              <a:spcAft>
                <a:spcPts val="0"/>
              </a:spcAft>
              <a:buNone/>
            </a:pPr>
            <a:r>
              <a:rPr sz="2800" b="1" i="0" lang="ko-KR">
                <a:solidFill>
                  <a:srgbClr val="111111"/>
                </a:solidFill>
                <a:latin typeface="맑은 고딕"/>
                <a:ea typeface="맑은 고딕"/>
                <a:cs typeface="맑은 고딕"/>
              </a:rPr>
              <a:t>연구 질문</a:t>
            </a:r>
          </a:p>
        </p:txBody>
      </p:sp>
      <p:sp>
        <p:nvSpPr>
          <p:cNvPr id="33" name="TextBox 32"/>
          <p:cNvSpPr txBox="1"/>
          <p:nvPr/>
        </p:nvSpPr>
        <p:spPr>
          <a:xfrm>
            <a:off x="720000" y="16656359"/>
            <a:ext cx="9684000" cy="1824710"/>
          </a:xfrm>
          <a:prstGeom prst="rect">
            <a:avLst/>
          </a:prstGeom>
          <a:noFill/>
        </p:spPr>
        <p:txBody>
          <a:bodyPr wrap="square" lIns="0" rIns="0" tIns="0" bIns="0" anchor="t">
            <a:noAutofit/>
          </a:bodyPr>
          <a:lstStyle/>
          <a:p>
            <a:pPr algn="l" marL="288000" indent="-288000">
              <a:lnSpc>
                <a:spcPts val="2400"/>
              </a:lnSpc>
              <a:spcBef>
                <a:spcPts val="0"/>
              </a:spcBef>
              <a:spcAft>
                <a:spcPts val="600"/>
              </a:spcAft>
              <a:buClr>
                <a:srgbClr val="111111"/>
              </a:buClr>
              <a:buSzPct val="80000"/>
              <a:buFont typeface="Arial"/>
              <a:buChar char="■"/>
            </a:pPr>
            <a:r>
              <a:rPr sz="2000" b="1" i="0" lang="ko-KR">
                <a:solidFill>
                  <a:srgbClr val="1B2F6B"/>
                </a:solidFill>
                <a:latin typeface="맑은 고딕"/>
                <a:ea typeface="맑은 고딕"/>
                <a:cs typeface="맑은 고딕"/>
              </a:rPr>
              <a:t>RQ1 (수준과 유형) </a:t>
            </a:r>
            <a:r>
              <a:rPr sz="2000" b="0" i="0" lang="ko-KR">
                <a:solidFill>
                  <a:srgbClr val="1E2532"/>
                </a:solidFill>
                <a:latin typeface="맑은 고딕"/>
                <a:ea typeface="맑은 고딕"/>
                <a:cs typeface="맑은 고딕"/>
              </a:rPr>
              <a:t>제조공정과 접합 기술 간의 융합은 어느 정도로, 어떠한 형태로 나타나는가?</a:t>
            </a:r>
          </a:p>
          <a:p>
            <a:pPr algn="l" marL="288000" indent="-288000">
              <a:lnSpc>
                <a:spcPts val="2400"/>
              </a:lnSpc>
              <a:spcBef>
                <a:spcPts val="0"/>
              </a:spcBef>
              <a:spcAft>
                <a:spcPts val="600"/>
              </a:spcAft>
              <a:buClr>
                <a:srgbClr val="111111"/>
              </a:buClr>
              <a:buSzPct val="80000"/>
              <a:buFont typeface="Arial"/>
              <a:buChar char="■"/>
            </a:pPr>
            <a:r>
              <a:rPr sz="2000" b="1" i="0" lang="ko-KR">
                <a:solidFill>
                  <a:srgbClr val="1B2F6B"/>
                </a:solidFill>
                <a:latin typeface="맑은 고딕"/>
                <a:ea typeface="맑은 고딕"/>
                <a:cs typeface="맑은 고딕"/>
              </a:rPr>
              <a:t>RQ2 (시간적 변화) </a:t>
            </a:r>
            <a:r>
              <a:rPr sz="2000" b="0" i="0" lang="ko-KR">
                <a:solidFill>
                  <a:srgbClr val="1E2532"/>
                </a:solidFill>
                <a:latin typeface="맑은 고딕"/>
                <a:ea typeface="맑은 고딕"/>
                <a:cs typeface="맑은 고딕"/>
              </a:rPr>
              <a:t>융합의 수준과 형태는 시간에 따라 어떻게 변화하는가?</a:t>
            </a:r>
          </a:p>
          <a:p>
            <a:pPr algn="l" marL="288000" indent="-288000">
              <a:lnSpc>
                <a:spcPts val="2400"/>
              </a:lnSpc>
              <a:spcBef>
                <a:spcPts val="0"/>
              </a:spcBef>
              <a:spcAft>
                <a:spcPts val="600"/>
              </a:spcAft>
              <a:buClr>
                <a:srgbClr val="111111"/>
              </a:buClr>
              <a:buSzPct val="80000"/>
              <a:buFont typeface="Arial"/>
              <a:buChar char="■"/>
            </a:pPr>
            <a:r>
              <a:rPr sz="2000" b="1" i="0" lang="ko-KR">
                <a:solidFill>
                  <a:srgbClr val="1B2F6B"/>
                </a:solidFill>
                <a:latin typeface="맑은 고딕"/>
                <a:ea typeface="맑은 고딕"/>
                <a:cs typeface="맑은 고딕"/>
              </a:rPr>
              <a:t>RQ3 (구조적 중심 변화) </a:t>
            </a:r>
            <a:r>
              <a:rPr sz="2000" b="0" i="0" lang="ko-KR">
                <a:solidFill>
                  <a:srgbClr val="1E2532"/>
                </a:solidFill>
                <a:latin typeface="맑은 고딕"/>
                <a:ea typeface="맑은 고딕"/>
                <a:cs typeface="맑은 고딕"/>
              </a:rPr>
              <a:t>융합의 중심은 핵심 기술과 주변 기술 사이에서 어떻게 이동하는가?</a:t>
            </a:r>
          </a:p>
        </p:txBody>
      </p:sp>
      <p:sp>
        <p:nvSpPr>
          <p:cNvPr id="34" name="Rounded Rectangle 33"/>
          <p:cNvSpPr/>
          <p:nvPr/>
        </p:nvSpPr>
        <p:spPr>
          <a:xfrm>
            <a:off x="900000" y="18769069"/>
            <a:ext cx="9504000" cy="720000"/>
          </a:xfrm>
          <a:prstGeom prst="roundRect">
            <a:avLst>
              <a:gd name="adj" fmla="val 50000"/>
            </a:avLst>
          </a:prstGeom>
          <a:solidFill>
            <a:srgbClr val="FFFFFF"/>
          </a:solidFill>
          <a:ln w="28575">
            <a:solidFill>
              <a:srgbClr val="1B2F6B"/>
            </a:solidFill>
          </a:ln>
        </p:spPr>
        <p:txBody>
          <a:bodyPr rtlCol="0" anchor="ctr" lIns="54000" rIns="54000" tIns="54000" bIns="54000"/>
          <a:lstStyle/>
          <a:p>
            <a:pPr algn="ctr"/>
          </a:p>
        </p:txBody>
      </p:sp>
      <p:sp>
        <p:nvSpPr>
          <p:cNvPr id="35" name="Oval 34"/>
          <p:cNvSpPr/>
          <p:nvPr/>
        </p:nvSpPr>
        <p:spPr>
          <a:xfrm>
            <a:off x="576000" y="18715069"/>
            <a:ext cx="828000" cy="828000"/>
          </a:xfrm>
          <a:prstGeom prst="ellipse">
            <a:avLst/>
          </a:prstGeom>
          <a:solidFill>
            <a:srgbClr val="FFFFFF"/>
          </a:solidFill>
          <a:ln w="28575">
            <a:solidFill>
              <a:srgbClr val="1B2F6B"/>
            </a:solidFill>
          </a:ln>
        </p:spPr>
        <p:txBody>
          <a:bodyPr rtlCol="0" anchor="ctr" lIns="54000" rIns="54000" tIns="54000" bIns="54000"/>
          <a:lstStyle/>
          <a:p>
            <a:pPr algn="ctr"/>
          </a:p>
        </p:txBody>
      </p:sp>
      <p:sp>
        <p:nvSpPr>
          <p:cNvPr id="36" name="Oval 35"/>
          <p:cNvSpPr/>
          <p:nvPr/>
        </p:nvSpPr>
        <p:spPr>
          <a:xfrm>
            <a:off x="666000" y="18805069"/>
            <a:ext cx="648000" cy="648000"/>
          </a:xfrm>
          <a:prstGeom prst="ellipse">
            <a:avLst/>
          </a:prstGeom>
          <a:solidFill>
            <a:srgbClr val="2F5DA8"/>
          </a:solidFill>
          <a:ln>
            <a:noFill/>
          </a:ln>
        </p:spPr>
        <p:txBody>
          <a:bodyPr rtlCol="0" anchor="ctr" lIns="54000" rIns="54000" tIns="54000" bIns="54000"/>
          <a:lstStyle/>
          <a:p>
            <a:pPr algn="ctr"/>
          </a:p>
        </p:txBody>
      </p:sp>
      <p:pic>
        <p:nvPicPr>
          <p:cNvPr id="37" name="Picture 36" descr="FaMagnifyingGlass_FFFFFF.png"/>
          <p:cNvPicPr>
            <a:picLocks noChangeAspect="1"/>
          </p:cNvPicPr>
          <p:nvPr/>
        </p:nvPicPr>
        <p:blipFill>
          <a:blip r:embed="rId5"/>
          <a:stretch>
            <a:fillRect/>
          </a:stretch>
        </p:blipFill>
        <p:spPr>
          <a:xfrm>
            <a:off x="840960" y="18980029"/>
            <a:ext cx="298080" cy="298080"/>
          </a:xfrm>
          <a:prstGeom prst="rect">
            <a:avLst/>
          </a:prstGeom>
        </p:spPr>
      </p:pic>
      <p:sp>
        <p:nvSpPr>
          <p:cNvPr id="38" name="TextBox 37"/>
          <p:cNvSpPr txBox="1"/>
          <p:nvPr/>
        </p:nvSpPr>
        <p:spPr>
          <a:xfrm>
            <a:off x="1620000" y="18769069"/>
            <a:ext cx="8604000" cy="720000"/>
          </a:xfrm>
          <a:prstGeom prst="rect">
            <a:avLst/>
          </a:prstGeom>
          <a:noFill/>
        </p:spPr>
        <p:txBody>
          <a:bodyPr wrap="square" lIns="0" rIns="0" tIns="0" bIns="0" anchor="ctr">
            <a:noAutofit/>
          </a:bodyPr>
          <a:lstStyle/>
          <a:p>
            <a:pPr algn="l" marL="0" indent="0">
              <a:lnSpc>
                <a:spcPts val="3360"/>
              </a:lnSpc>
              <a:spcBef>
                <a:spcPts val="0"/>
              </a:spcBef>
              <a:spcAft>
                <a:spcPts val="0"/>
              </a:spcAft>
              <a:buNone/>
            </a:pPr>
            <a:r>
              <a:rPr sz="2800" b="1" i="0" lang="ko-KR">
                <a:solidFill>
                  <a:srgbClr val="111111"/>
                </a:solidFill>
                <a:latin typeface="맑은 고딕"/>
                <a:ea typeface="맑은 고딕"/>
                <a:cs typeface="맑은 고딕"/>
              </a:rPr>
              <a:t>자료 및 분석 방법</a:t>
            </a:r>
          </a:p>
        </p:txBody>
      </p:sp>
      <p:sp>
        <p:nvSpPr>
          <p:cNvPr id="39" name="TextBox 38"/>
          <p:cNvSpPr txBox="1"/>
          <p:nvPr/>
        </p:nvSpPr>
        <p:spPr>
          <a:xfrm>
            <a:off x="720000" y="19687069"/>
            <a:ext cx="9684000" cy="2815373"/>
          </a:xfrm>
          <a:prstGeom prst="rect">
            <a:avLst/>
          </a:prstGeom>
          <a:noFill/>
        </p:spPr>
        <p:txBody>
          <a:bodyPr wrap="square" lIns="0" rIns="0" tIns="0" bIns="0" anchor="t">
            <a:noAutofit/>
          </a:bodyPr>
          <a:lstStyle/>
          <a:p>
            <a:pPr algn="l" marL="288000" indent="-288000">
              <a:lnSpc>
                <a:spcPts val="2400"/>
              </a:lnSpc>
              <a:spcBef>
                <a:spcPts val="0"/>
              </a:spcBef>
              <a:spcAft>
                <a:spcPts val="600"/>
              </a:spcAft>
              <a:buClr>
                <a:srgbClr val="111111"/>
              </a:buClr>
              <a:buSzPct val="80000"/>
              <a:buFont typeface="Arial"/>
              <a:buChar char="■"/>
            </a:pPr>
            <a:r>
              <a:rPr sz="2000" b="1" i="0" lang="ko-KR">
                <a:solidFill>
                  <a:srgbClr val="1B2F6B"/>
                </a:solidFill>
                <a:latin typeface="맑은 고딕"/>
                <a:ea typeface="맑은 고딕"/>
                <a:cs typeface="맑은 고딕"/>
              </a:rPr>
              <a:t>자료: </a:t>
            </a:r>
            <a:r>
              <a:rPr sz="2000" b="0" i="0" lang="ko-KR">
                <a:solidFill>
                  <a:srgbClr val="1E2532"/>
                </a:solidFill>
                <a:latin typeface="맑은 고딕"/>
                <a:ea typeface="맑은 고딕"/>
                <a:cs typeface="맑은 고딕"/>
              </a:rPr>
              <a:t>EPO PATSTAT Global에서 CPC H01L21 또는 H01L24 기호와 제목 키워드(hybrid bonding, direct bonding, Cu–Cu 등)로 추출한 출원 928건(1968–2024)</a:t>
            </a:r>
          </a:p>
          <a:p>
            <a:pPr algn="l" marL="288000" indent="-288000">
              <a:lnSpc>
                <a:spcPts val="2400"/>
              </a:lnSpc>
              <a:spcBef>
                <a:spcPts val="0"/>
              </a:spcBef>
              <a:spcAft>
                <a:spcPts val="600"/>
              </a:spcAft>
              <a:buClr>
                <a:srgbClr val="111111"/>
              </a:buClr>
              <a:buSzPct val="80000"/>
              <a:buFont typeface="Arial"/>
              <a:buChar char="■"/>
            </a:pPr>
            <a:r>
              <a:rPr sz="2000" b="1" i="0" lang="ko-KR">
                <a:solidFill>
                  <a:srgbClr val="1B2F6B"/>
                </a:solidFill>
                <a:latin typeface="맑은 고딕"/>
                <a:ea typeface="맑은 고딕"/>
                <a:cs typeface="맑은 고딕"/>
              </a:rPr>
              <a:t>측정: </a:t>
            </a:r>
            <a:r>
              <a:rPr sz="2000" b="0" i="0" lang="ko-KR">
                <a:solidFill>
                  <a:srgbClr val="1E2532"/>
                </a:solidFill>
                <a:latin typeface="맑은 고딕"/>
                <a:ea typeface="맑은 고딕"/>
                <a:cs typeface="맑은 고딕"/>
              </a:rPr>
              <a:t>두 분류의 공동분류를 공정 단계 간 기술융합의 대리측정치로 사용(표 1)</a:t>
            </a:r>
          </a:p>
          <a:p>
            <a:pPr algn="l" marL="288000" indent="-288000">
              <a:lnSpc>
                <a:spcPts val="2400"/>
              </a:lnSpc>
              <a:spcBef>
                <a:spcPts val="0"/>
              </a:spcBef>
              <a:spcAft>
                <a:spcPts val="600"/>
              </a:spcAft>
              <a:buClr>
                <a:srgbClr val="111111"/>
              </a:buClr>
              <a:buSzPct val="80000"/>
              <a:buFont typeface="Arial"/>
              <a:buChar char="■"/>
            </a:pPr>
            <a:r>
              <a:rPr sz="2000" b="1" i="0" lang="ko-KR">
                <a:solidFill>
                  <a:srgbClr val="1B2F6B"/>
                </a:solidFill>
                <a:latin typeface="맑은 고딕"/>
                <a:ea typeface="맑은 고딕"/>
                <a:cs typeface="맑은 고딕"/>
              </a:rPr>
              <a:t>핵심 기술: </a:t>
            </a:r>
            <a:r>
              <a:rPr sz="2000" b="0" i="0" lang="ko-KR">
                <a:solidFill>
                  <a:srgbClr val="1E2532"/>
                </a:solidFill>
                <a:latin typeface="맑은 고딕"/>
                <a:ea typeface="맑은 고딕"/>
                <a:cs typeface="맑은 고딕"/>
              </a:rPr>
              <a:t>기술 클러스터와 기술 네트워크로 핵심 접합 기호 24/03·05·08·80 식별(그림 2)</a:t>
            </a:r>
          </a:p>
          <a:p>
            <a:pPr algn="l" marL="288000" indent="-288000">
              <a:lnSpc>
                <a:spcPts val="2400"/>
              </a:lnSpc>
              <a:spcBef>
                <a:spcPts val="0"/>
              </a:spcBef>
              <a:spcAft>
                <a:spcPts val="600"/>
              </a:spcAft>
              <a:buClr>
                <a:srgbClr val="111111"/>
              </a:buClr>
              <a:buSzPct val="80000"/>
              <a:buFont typeface="Arial"/>
              <a:buChar char="■"/>
            </a:pPr>
            <a:r>
              <a:rPr sz="2000" b="1" i="0" lang="ko-KR">
                <a:solidFill>
                  <a:srgbClr val="1B2F6B"/>
                </a:solidFill>
                <a:latin typeface="맑은 고딕"/>
                <a:ea typeface="맑은 고딕"/>
                <a:cs typeface="맑은 고딕"/>
              </a:rPr>
              <a:t>분석: </a:t>
            </a:r>
            <a:r>
              <a:rPr sz="2000" b="0" i="0" lang="ko-KR">
                <a:solidFill>
                  <a:srgbClr val="1E2532"/>
                </a:solidFill>
                <a:latin typeface="맑은 고딕"/>
                <a:ea typeface="맑은 고딕"/>
                <a:cs typeface="맑은 고딕"/>
              </a:rPr>
              <a:t>다항 로짓(RQ1·RQ2), 핵심 기술 × 시기 이항 로짓(RQ3), 영역별 Jaccard 계수·매개 중심성(RQ3)</a:t>
            </a:r>
          </a:p>
        </p:txBody>
      </p:sp>
      <p:sp>
        <p:nvSpPr>
          <p:cNvPr id="40" name="TextBox 39"/>
          <p:cNvSpPr txBox="1"/>
          <p:nvPr/>
        </p:nvSpPr>
        <p:spPr>
          <a:xfrm>
            <a:off x="576000" y="22628442"/>
            <a:ext cx="982800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1B2F6B"/>
                </a:solidFill>
                <a:latin typeface="맑은 고딕"/>
                <a:ea typeface="맑은 고딕"/>
                <a:cs typeface="맑은 고딕"/>
              </a:rPr>
              <a:t>&lt;표 1&gt; 공동분류 유형의 정의와 분포 (N = 928)</a:t>
            </a:r>
          </a:p>
        </p:txBody>
      </p:sp>
      <p:graphicFrame>
        <p:nvGraphicFramePr>
          <p:cNvPr id="41" name="Table 40"/>
          <p:cNvGraphicFramePr>
            <a:graphicFrameLocks noGrp="1"/>
          </p:cNvGraphicFramePr>
          <p:nvPr/>
        </p:nvGraphicFramePr>
        <p:xfrm>
          <a:off x="756000" y="23024442"/>
          <a:ext cx="9288000" cy="2088000"/>
        </p:xfrm>
        <a:graphic>
          <a:graphicData uri="http://schemas.openxmlformats.org/drawingml/2006/table">
            <a:tbl>
              <a:tblPr firstRow="1">
                <a:tableStyleId>{2D5ABB26-0587-4C30-8999-92F81FD0307C}</a:tableStyleId>
              </a:tblPr>
              <a:tblGrid>
                <a:gridCol w="1872000"/>
                <a:gridCol w="5184000"/>
                <a:gridCol w="2232000"/>
              </a:tblGrid>
              <a:tr h="522000">
                <a:tc>
                  <a:txBody>
                    <a:bodyPr wrap="square"/>
                    <a:lstStyle/>
                    <a:p>
                      <a:pPr algn="ctr" marL="0" indent="0">
                        <a:lnSpc>
                          <a:spcPts val="2039"/>
                        </a:lnSpc>
                        <a:spcBef>
                          <a:spcPts val="0"/>
                        </a:spcBef>
                        <a:spcAft>
                          <a:spcPts val="0"/>
                        </a:spcAft>
                        <a:buNone/>
                      </a:pPr>
                      <a:r>
                        <a:rPr sz="1700" b="1" i="0" lang="ko-KR">
                          <a:solidFill>
                            <a:srgbClr val="FFFFFF"/>
                          </a:solidFill>
                          <a:latin typeface="맑은 고딕"/>
                          <a:ea typeface="맑은 고딕"/>
                          <a:cs typeface="맑은 고딕"/>
                        </a:rPr>
                        <a:t>유형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3D6AB0"/>
                    </a:solidFill>
                  </a:tcPr>
                </a:tc>
                <a:tc>
                  <a:txBody>
                    <a:bodyPr wrap="square"/>
                    <a:lstStyle/>
                    <a:p>
                      <a:pPr algn="ctr" marL="0" indent="0">
                        <a:lnSpc>
                          <a:spcPts val="2039"/>
                        </a:lnSpc>
                        <a:spcBef>
                          <a:spcPts val="0"/>
                        </a:spcBef>
                        <a:spcAft>
                          <a:spcPts val="0"/>
                        </a:spcAft>
                        <a:buNone/>
                      </a:pPr>
                      <a:r>
                        <a:rPr sz="1700" b="1" i="0" lang="ko-KR">
                          <a:solidFill>
                            <a:srgbClr val="FFFFFF"/>
                          </a:solidFill>
                          <a:latin typeface="맑은 고딕"/>
                          <a:ea typeface="맑은 고딕"/>
                          <a:cs typeface="맑은 고딕"/>
                        </a:rPr>
                        <a:t>정의</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3D6AB0"/>
                    </a:solidFill>
                  </a:tcPr>
                </a:tc>
                <a:tc>
                  <a:txBody>
                    <a:bodyPr wrap="square"/>
                    <a:lstStyle/>
                    <a:p>
                      <a:pPr algn="ctr" marL="0" indent="0">
                        <a:lnSpc>
                          <a:spcPts val="2039"/>
                        </a:lnSpc>
                        <a:spcBef>
                          <a:spcPts val="0"/>
                        </a:spcBef>
                        <a:spcAft>
                          <a:spcPts val="0"/>
                        </a:spcAft>
                        <a:buNone/>
                      </a:pPr>
                      <a:r>
                        <a:rPr sz="1700" b="1" i="0" lang="ko-KR">
                          <a:solidFill>
                            <a:srgbClr val="FFFFFF"/>
                          </a:solidFill>
                          <a:latin typeface="맑은 고딕"/>
                          <a:ea typeface="맑은 고딕"/>
                          <a:cs typeface="맑은 고딕"/>
                        </a:rPr>
                        <a:t>출원 수 (비중)</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3D6AB0"/>
                    </a:solidFill>
                  </a:tcPr>
                </a:tc>
              </a:tr>
              <a:tr h="522000">
                <a:tc>
                  <a:txBody>
                    <a:bodyPr wrap="square"/>
                    <a:lstStyle/>
                    <a:p>
                      <a:pPr algn="ctr" marL="0" indent="0">
                        <a:lnSpc>
                          <a:spcPts val="2039"/>
                        </a:lnSpc>
                        <a:spcBef>
                          <a:spcPts val="0"/>
                        </a:spcBef>
                        <a:spcAft>
                          <a:spcPts val="0"/>
                        </a:spcAft>
                        <a:buNone/>
                      </a:pPr>
                      <a:r>
                        <a:rPr sz="1700" b="1" i="0" lang="ko-KR">
                          <a:solidFill>
                            <a:srgbClr val="EA7A28"/>
                          </a:solidFill>
                          <a:latin typeface="맑은 고딕"/>
                          <a:ea typeface="맑은 고딕"/>
                          <a:cs typeface="맑은 고딕"/>
                        </a:rPr>
                        <a:t>접합 단독형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H01L24(접합·인터커넥트 분류) 기호만 보유</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338 (36.4%)</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r h="522000">
                <a:tc>
                  <a:txBody>
                    <a:bodyPr wrap="square"/>
                    <a:lstStyle/>
                    <a:p>
                      <a:pPr algn="ctr" marL="0" indent="0">
                        <a:lnSpc>
                          <a:spcPts val="2039"/>
                        </a:lnSpc>
                        <a:spcBef>
                          <a:spcPts val="0"/>
                        </a:spcBef>
                        <a:spcAft>
                          <a:spcPts val="0"/>
                        </a:spcAft>
                        <a:buNone/>
                      </a:pPr>
                      <a:r>
                        <a:rPr sz="1700" b="1" i="0" lang="ko-KR">
                          <a:solidFill>
                            <a:srgbClr val="7C3AED"/>
                          </a:solidFill>
                          <a:latin typeface="맑은 고딕"/>
                          <a:ea typeface="맑은 고딕"/>
                          <a:cs typeface="맑은 고딕"/>
                        </a:rPr>
                        <a:t>통합형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EAF1FB"/>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두 분류의 기호를 함께 보유 = 경계를 넘는 발명</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EAF1FB"/>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425 (45.8%)</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EAF1FB"/>
                    </a:solidFill>
                  </a:tcPr>
                </a:tc>
              </a:tr>
              <a:tr h="522000">
                <a:tc>
                  <a:txBody>
                    <a:bodyPr wrap="square"/>
                    <a:lstStyle/>
                    <a:p>
                      <a:pPr algn="ctr" marL="0" indent="0">
                        <a:lnSpc>
                          <a:spcPts val="2039"/>
                        </a:lnSpc>
                        <a:spcBef>
                          <a:spcPts val="0"/>
                        </a:spcBef>
                        <a:spcAft>
                          <a:spcPts val="0"/>
                        </a:spcAft>
                        <a:buNone/>
                      </a:pPr>
                      <a:r>
                        <a:rPr sz="1700" b="1" i="0" lang="ko-KR">
                          <a:solidFill>
                            <a:srgbClr val="2563C9"/>
                          </a:solidFill>
                          <a:latin typeface="맑은 고딕"/>
                          <a:ea typeface="맑은 고딕"/>
                          <a:cs typeface="맑은 고딕"/>
                        </a:rPr>
                        <a:t>공정 단독형</a:t>
                      </a:r>
                    </a:p>
                  </a:txBody>
                  <a:tcPr marL="54000" marR="54000" marT="18000" marB="18000" anchor="ctr">
                    <a:lnB w="25400" cap="flat" cmpd="sng" algn="ctr">
                      <a:solidFill>
                        <a:srgbClr val="3D6AB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H01L21(제조공정 분류) 기호만 보유</a:t>
                      </a:r>
                    </a:p>
                  </a:txBody>
                  <a:tcPr marL="54000" marR="54000" marT="18000" marB="18000" anchor="ctr">
                    <a:lnB w="25400" cap="flat" cmpd="sng" algn="ctr">
                      <a:solidFill>
                        <a:srgbClr val="3D6AB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165 (17.8%)</a:t>
                      </a:r>
                    </a:p>
                  </a:txBody>
                  <a:tcPr marL="54000" marR="54000" marT="18000" marB="18000" anchor="ctr">
                    <a:lnB w="25400" cap="flat" cmpd="sng" algn="ctr">
                      <a:solidFill>
                        <a:srgbClr val="3D6AB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bl>
          </a:graphicData>
        </a:graphic>
      </p:graphicFrame>
      <p:pic>
        <p:nvPicPr>
          <p:cNvPr id="42" name="Picture 41" descr="network_nolegend.png"/>
          <p:cNvPicPr>
            <a:picLocks noChangeAspect="1"/>
          </p:cNvPicPr>
          <p:nvPr/>
        </p:nvPicPr>
        <p:blipFill>
          <a:blip r:embed="rId7"/>
          <a:stretch>
            <a:fillRect/>
          </a:stretch>
        </p:blipFill>
        <p:spPr>
          <a:xfrm>
            <a:off x="3503355" y="25328442"/>
            <a:ext cx="3973290" cy="2931558"/>
          </a:xfrm>
          <a:prstGeom prst="rect">
            <a:avLst/>
          </a:prstGeom>
        </p:spPr>
      </p:pic>
      <p:sp>
        <p:nvSpPr>
          <p:cNvPr id="43" name="TextBox 42"/>
          <p:cNvSpPr txBox="1"/>
          <p:nvPr/>
        </p:nvSpPr>
        <p:spPr>
          <a:xfrm>
            <a:off x="576000" y="28296000"/>
            <a:ext cx="982800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1B2F6B"/>
                </a:solidFill>
                <a:latin typeface="맑은 고딕"/>
                <a:ea typeface="맑은 고딕"/>
                <a:cs typeface="맑은 고딕"/>
              </a:rPr>
              <a:t>&lt;그림 2&gt; 기술 네트워크: 핵심 접합 기호(적갈색)가 허브 — 접합 출원의 81.3%가 보유</a:t>
            </a:r>
          </a:p>
        </p:txBody>
      </p:sp>
      <p:sp>
        <p:nvSpPr>
          <p:cNvPr id="44" name="Rounded Rectangle 43"/>
          <p:cNvSpPr/>
          <p:nvPr/>
        </p:nvSpPr>
        <p:spPr>
          <a:xfrm>
            <a:off x="11304000" y="5670000"/>
            <a:ext cx="9504000" cy="720000"/>
          </a:xfrm>
          <a:prstGeom prst="roundRect">
            <a:avLst>
              <a:gd name="adj" fmla="val 50000"/>
            </a:avLst>
          </a:prstGeom>
          <a:solidFill>
            <a:srgbClr val="FFFFFF"/>
          </a:solidFill>
          <a:ln w="28575">
            <a:solidFill>
              <a:srgbClr val="1B2F6B"/>
            </a:solidFill>
          </a:ln>
        </p:spPr>
        <p:txBody>
          <a:bodyPr rtlCol="0" anchor="ctr" lIns="54000" rIns="54000" tIns="54000" bIns="54000"/>
          <a:lstStyle/>
          <a:p>
            <a:pPr algn="ctr"/>
          </a:p>
        </p:txBody>
      </p:sp>
      <p:sp>
        <p:nvSpPr>
          <p:cNvPr id="45" name="Oval 44"/>
          <p:cNvSpPr/>
          <p:nvPr/>
        </p:nvSpPr>
        <p:spPr>
          <a:xfrm>
            <a:off x="10980000" y="5616000"/>
            <a:ext cx="828000" cy="828000"/>
          </a:xfrm>
          <a:prstGeom prst="ellipse">
            <a:avLst/>
          </a:prstGeom>
          <a:solidFill>
            <a:srgbClr val="FFFFFF"/>
          </a:solidFill>
          <a:ln w="28575">
            <a:solidFill>
              <a:srgbClr val="1B2F6B"/>
            </a:solidFill>
          </a:ln>
        </p:spPr>
        <p:txBody>
          <a:bodyPr rtlCol="0" anchor="ctr" lIns="54000" rIns="54000" tIns="54000" bIns="54000"/>
          <a:lstStyle/>
          <a:p>
            <a:pPr algn="ctr"/>
          </a:p>
        </p:txBody>
      </p:sp>
      <p:sp>
        <p:nvSpPr>
          <p:cNvPr id="46" name="Oval 45"/>
          <p:cNvSpPr/>
          <p:nvPr/>
        </p:nvSpPr>
        <p:spPr>
          <a:xfrm>
            <a:off x="11070000" y="5706000"/>
            <a:ext cx="648000" cy="648000"/>
          </a:xfrm>
          <a:prstGeom prst="ellipse">
            <a:avLst/>
          </a:prstGeom>
          <a:solidFill>
            <a:srgbClr val="2F5DA8"/>
          </a:solidFill>
          <a:ln>
            <a:noFill/>
          </a:ln>
        </p:spPr>
        <p:txBody>
          <a:bodyPr rtlCol="0" anchor="ctr" lIns="54000" rIns="54000" tIns="54000" bIns="54000"/>
          <a:lstStyle/>
          <a:p>
            <a:pPr algn="ctr"/>
          </a:p>
        </p:txBody>
      </p:sp>
      <p:pic>
        <p:nvPicPr>
          <p:cNvPr id="47" name="Picture 46" descr="FaMagnifyingGlass_FFFFFF.png"/>
          <p:cNvPicPr>
            <a:picLocks noChangeAspect="1"/>
          </p:cNvPicPr>
          <p:nvPr/>
        </p:nvPicPr>
        <p:blipFill>
          <a:blip r:embed="rId5"/>
          <a:stretch>
            <a:fillRect/>
          </a:stretch>
        </p:blipFill>
        <p:spPr>
          <a:xfrm>
            <a:off x="11244960" y="5880960"/>
            <a:ext cx="298080" cy="298080"/>
          </a:xfrm>
          <a:prstGeom prst="rect">
            <a:avLst/>
          </a:prstGeom>
        </p:spPr>
      </p:pic>
      <p:sp>
        <p:nvSpPr>
          <p:cNvPr id="48" name="TextBox 47"/>
          <p:cNvSpPr txBox="1"/>
          <p:nvPr/>
        </p:nvSpPr>
        <p:spPr>
          <a:xfrm>
            <a:off x="12024000" y="5670000"/>
            <a:ext cx="8604000" cy="720000"/>
          </a:xfrm>
          <a:prstGeom prst="rect">
            <a:avLst/>
          </a:prstGeom>
          <a:noFill/>
        </p:spPr>
        <p:txBody>
          <a:bodyPr wrap="square" lIns="0" rIns="0" tIns="0" bIns="0" anchor="ctr">
            <a:noAutofit/>
          </a:bodyPr>
          <a:lstStyle/>
          <a:p>
            <a:pPr algn="l" marL="0" indent="0">
              <a:lnSpc>
                <a:spcPts val="3360"/>
              </a:lnSpc>
              <a:spcBef>
                <a:spcPts val="0"/>
              </a:spcBef>
              <a:spcAft>
                <a:spcPts val="0"/>
              </a:spcAft>
              <a:buNone/>
            </a:pPr>
            <a:r>
              <a:rPr sz="2800" b="1" i="0" lang="ko-KR">
                <a:solidFill>
                  <a:srgbClr val="111111"/>
                </a:solidFill>
                <a:latin typeface="맑은 고딕"/>
                <a:ea typeface="맑은 고딕"/>
                <a:cs typeface="맑은 고딕"/>
              </a:rPr>
              <a:t>분석 결과 ① 융합의 수준과 유형 (RQ1)</a:t>
            </a:r>
          </a:p>
        </p:txBody>
      </p:sp>
      <p:sp>
        <p:nvSpPr>
          <p:cNvPr id="49" name="TextBox 48"/>
          <p:cNvSpPr txBox="1"/>
          <p:nvPr/>
        </p:nvSpPr>
        <p:spPr>
          <a:xfrm>
            <a:off x="11124000" y="6588000"/>
            <a:ext cx="9684000" cy="1519891"/>
          </a:xfrm>
          <a:prstGeom prst="rect">
            <a:avLst/>
          </a:prstGeom>
          <a:noFill/>
        </p:spPr>
        <p:txBody>
          <a:bodyPr wrap="square" lIns="0" rIns="0" tIns="0" bIns="0" anchor="t">
            <a:noAutofit/>
          </a:bodyPr>
          <a:lstStyle/>
          <a:p>
            <a:pPr algn="l" marL="288000" indent="-288000">
              <a:lnSpc>
                <a:spcPts val="2400"/>
              </a:lnSpc>
              <a:spcBef>
                <a:spcPts val="0"/>
              </a:spcBef>
              <a:spcAft>
                <a:spcPts val="600"/>
              </a:spcAft>
              <a:buClr>
                <a:srgbClr val="111111"/>
              </a:buClr>
              <a:buSzPct val="80000"/>
              <a:buFont typeface="Arial"/>
              <a:buChar char="■"/>
            </a:pPr>
            <a:r>
              <a:rPr sz="2000" b="0" i="0" lang="ko-KR">
                <a:solidFill>
                  <a:srgbClr val="1E2532"/>
                </a:solidFill>
                <a:latin typeface="맑은 고딕"/>
                <a:ea typeface="맑은 고딕"/>
                <a:cs typeface="맑은 고딕"/>
              </a:rPr>
              <a:t>통합형이 </a:t>
            </a:r>
            <a:r>
              <a:rPr sz="2000" b="1" i="0" lang="ko-KR">
                <a:solidFill>
                  <a:srgbClr val="7C3AED"/>
                </a:solidFill>
                <a:latin typeface="맑은 고딕"/>
                <a:ea typeface="맑은 고딕"/>
                <a:cs typeface="맑은 고딕"/>
              </a:rPr>
              <a:t>45.8%</a:t>
            </a:r>
            <a:r>
              <a:rPr sz="2000" b="0" i="0" lang="ko-KR">
                <a:solidFill>
                  <a:srgbClr val="1E2532"/>
                </a:solidFill>
                <a:latin typeface="맑은 고딕"/>
                <a:ea typeface="맑은 고딕"/>
                <a:cs typeface="맑은 고딕"/>
              </a:rPr>
              <a:t>로 가장 큰 비중을 차지하였으며, 패키징 단계 공정을 제외한 좁은 정의에서도 37.2%였다.</a:t>
            </a:r>
          </a:p>
          <a:p>
            <a:pPr algn="l" marL="288000" indent="-288000">
              <a:lnSpc>
                <a:spcPts val="2400"/>
              </a:lnSpc>
              <a:spcBef>
                <a:spcPts val="0"/>
              </a:spcBef>
              <a:spcAft>
                <a:spcPts val="600"/>
              </a:spcAft>
              <a:buClr>
                <a:srgbClr val="111111"/>
              </a:buClr>
              <a:buSzPct val="80000"/>
              <a:buFont typeface="Arial"/>
              <a:buChar char="■"/>
            </a:pPr>
            <a:r>
              <a:rPr sz="2000" b="0" i="0" lang="ko-KR">
                <a:solidFill>
                  <a:srgbClr val="1E2532"/>
                </a:solidFill>
                <a:latin typeface="맑은 고딕"/>
                <a:ea typeface="맑은 고딕"/>
                <a:cs typeface="맑은 고딕"/>
              </a:rPr>
              <a:t>세부 분류가 하나 증가할 때마다 통합형일 상대위험이 40% 높아졌다(RRR 1.403***).</a:t>
            </a:r>
          </a:p>
          <a:p>
            <a:pPr algn="l" marL="288000" indent="-288000">
              <a:lnSpc>
                <a:spcPts val="2400"/>
              </a:lnSpc>
              <a:spcBef>
                <a:spcPts val="0"/>
              </a:spcBef>
              <a:spcAft>
                <a:spcPts val="600"/>
              </a:spcAft>
              <a:buClr>
                <a:srgbClr val="111111"/>
              </a:buClr>
              <a:buSzPct val="80000"/>
              <a:buFont typeface="Arial"/>
              <a:buChar char="■"/>
            </a:pPr>
            <a:r>
              <a:rPr sz="2000" b="0" i="0" lang="ko-KR">
                <a:solidFill>
                  <a:srgbClr val="1E2532"/>
                </a:solidFill>
                <a:latin typeface="맑은 고딕"/>
                <a:ea typeface="맑은 고딕"/>
                <a:cs typeface="맑은 고딕"/>
              </a:rPr>
              <a:t>기술범위 3인 출원의 통합형 예측확률은 0.26, 8인 출원은 0.68이다(그림 3).</a:t>
            </a:r>
          </a:p>
        </p:txBody>
      </p:sp>
      <p:graphicFrame>
        <p:nvGraphicFramePr>
          <p:cNvPr id="50" name="Chart 49"/>
          <p:cNvGraphicFramePr>
            <a:graphicFrameLocks noGrp="1"/>
          </p:cNvGraphicFramePr>
          <p:nvPr/>
        </p:nvGraphicFramePr>
        <p:xfrm>
          <a:off x="11124000" y="8233891"/>
          <a:ext cx="9540000" cy="2952000"/>
        </p:xfrm>
        <a:graphic>
          <a:graphicData uri="http://schemas.openxmlformats.org/drawingml/2006/chart">
            <c:chart xmlns:c="http://schemas.openxmlformats.org/drawingml/2006/chart" r:id="rId8"/>
          </a:graphicData>
        </a:graphic>
      </p:graphicFrame>
      <p:sp>
        <p:nvSpPr>
          <p:cNvPr id="51" name="TextBox 50"/>
          <p:cNvSpPr txBox="1"/>
          <p:nvPr/>
        </p:nvSpPr>
        <p:spPr>
          <a:xfrm>
            <a:off x="10980000" y="11221891"/>
            <a:ext cx="982800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1B2F6B"/>
                </a:solidFill>
                <a:latin typeface="맑은 고딕"/>
                <a:ea typeface="맑은 고딕"/>
                <a:cs typeface="맑은 고딕"/>
              </a:rPr>
              <a:t>&lt;그림 3&gt; 기술범위에 따른 유형별 예측확률 (다항 로짓)</a:t>
            </a:r>
          </a:p>
        </p:txBody>
      </p:sp>
      <p:sp>
        <p:nvSpPr>
          <p:cNvPr id="52" name="Rounded Rectangle 51"/>
          <p:cNvSpPr/>
          <p:nvPr/>
        </p:nvSpPr>
        <p:spPr>
          <a:xfrm>
            <a:off x="11304000" y="11779891"/>
            <a:ext cx="9504000" cy="720000"/>
          </a:xfrm>
          <a:prstGeom prst="roundRect">
            <a:avLst>
              <a:gd name="adj" fmla="val 50000"/>
            </a:avLst>
          </a:prstGeom>
          <a:solidFill>
            <a:srgbClr val="FFFFFF"/>
          </a:solidFill>
          <a:ln w="28575">
            <a:solidFill>
              <a:srgbClr val="1B2F6B"/>
            </a:solidFill>
          </a:ln>
        </p:spPr>
        <p:txBody>
          <a:bodyPr rtlCol="0" anchor="ctr" lIns="54000" rIns="54000" tIns="54000" bIns="54000"/>
          <a:lstStyle/>
          <a:p>
            <a:pPr algn="ctr"/>
          </a:p>
        </p:txBody>
      </p:sp>
      <p:sp>
        <p:nvSpPr>
          <p:cNvPr id="53" name="Oval 52"/>
          <p:cNvSpPr/>
          <p:nvPr/>
        </p:nvSpPr>
        <p:spPr>
          <a:xfrm>
            <a:off x="10980000" y="11725891"/>
            <a:ext cx="828000" cy="828000"/>
          </a:xfrm>
          <a:prstGeom prst="ellipse">
            <a:avLst/>
          </a:prstGeom>
          <a:solidFill>
            <a:srgbClr val="FFFFFF"/>
          </a:solidFill>
          <a:ln w="28575">
            <a:solidFill>
              <a:srgbClr val="1B2F6B"/>
            </a:solidFill>
          </a:ln>
        </p:spPr>
        <p:txBody>
          <a:bodyPr rtlCol="0" anchor="ctr" lIns="54000" rIns="54000" tIns="54000" bIns="54000"/>
          <a:lstStyle/>
          <a:p>
            <a:pPr algn="ctr"/>
          </a:p>
        </p:txBody>
      </p:sp>
      <p:sp>
        <p:nvSpPr>
          <p:cNvPr id="54" name="Oval 53"/>
          <p:cNvSpPr/>
          <p:nvPr/>
        </p:nvSpPr>
        <p:spPr>
          <a:xfrm>
            <a:off x="11070000" y="11815891"/>
            <a:ext cx="648000" cy="648000"/>
          </a:xfrm>
          <a:prstGeom prst="ellipse">
            <a:avLst/>
          </a:prstGeom>
          <a:solidFill>
            <a:srgbClr val="2F5DA8"/>
          </a:solidFill>
          <a:ln>
            <a:noFill/>
          </a:ln>
        </p:spPr>
        <p:txBody>
          <a:bodyPr rtlCol="0" anchor="ctr" lIns="54000" rIns="54000" tIns="54000" bIns="54000"/>
          <a:lstStyle/>
          <a:p>
            <a:pPr algn="ctr"/>
          </a:p>
        </p:txBody>
      </p:sp>
      <p:pic>
        <p:nvPicPr>
          <p:cNvPr id="55" name="Picture 54" descr="FaMagnifyingGlass_FFFFFF.png"/>
          <p:cNvPicPr>
            <a:picLocks noChangeAspect="1"/>
          </p:cNvPicPr>
          <p:nvPr/>
        </p:nvPicPr>
        <p:blipFill>
          <a:blip r:embed="rId5"/>
          <a:stretch>
            <a:fillRect/>
          </a:stretch>
        </p:blipFill>
        <p:spPr>
          <a:xfrm>
            <a:off x="11244960" y="11990851"/>
            <a:ext cx="298080" cy="298080"/>
          </a:xfrm>
          <a:prstGeom prst="rect">
            <a:avLst/>
          </a:prstGeom>
        </p:spPr>
      </p:pic>
      <p:sp>
        <p:nvSpPr>
          <p:cNvPr id="56" name="TextBox 55"/>
          <p:cNvSpPr txBox="1"/>
          <p:nvPr/>
        </p:nvSpPr>
        <p:spPr>
          <a:xfrm>
            <a:off x="12024000" y="11779891"/>
            <a:ext cx="8604000" cy="720000"/>
          </a:xfrm>
          <a:prstGeom prst="rect">
            <a:avLst/>
          </a:prstGeom>
          <a:noFill/>
        </p:spPr>
        <p:txBody>
          <a:bodyPr wrap="square" lIns="0" rIns="0" tIns="0" bIns="0" anchor="ctr">
            <a:noAutofit/>
          </a:bodyPr>
          <a:lstStyle/>
          <a:p>
            <a:pPr algn="l" marL="0" indent="0">
              <a:lnSpc>
                <a:spcPts val="3360"/>
              </a:lnSpc>
              <a:spcBef>
                <a:spcPts val="0"/>
              </a:spcBef>
              <a:spcAft>
                <a:spcPts val="0"/>
              </a:spcAft>
              <a:buNone/>
            </a:pPr>
            <a:r>
              <a:rPr sz="2800" b="1" i="0" lang="ko-KR">
                <a:solidFill>
                  <a:srgbClr val="111111"/>
                </a:solidFill>
                <a:latin typeface="맑은 고딕"/>
                <a:ea typeface="맑은 고딕"/>
                <a:cs typeface="맑은 고딕"/>
              </a:rPr>
              <a:t>분석 결과 ② 시간적 변화 (RQ2)</a:t>
            </a:r>
          </a:p>
        </p:txBody>
      </p:sp>
      <p:sp>
        <p:nvSpPr>
          <p:cNvPr id="57" name="TextBox 56"/>
          <p:cNvSpPr txBox="1"/>
          <p:nvPr/>
        </p:nvSpPr>
        <p:spPr>
          <a:xfrm>
            <a:off x="11124000" y="12697891"/>
            <a:ext cx="9684000" cy="1138867"/>
          </a:xfrm>
          <a:prstGeom prst="rect">
            <a:avLst/>
          </a:prstGeom>
          <a:noFill/>
        </p:spPr>
        <p:txBody>
          <a:bodyPr wrap="square" lIns="0" rIns="0" tIns="0" bIns="0" anchor="t">
            <a:noAutofit/>
          </a:bodyPr>
          <a:lstStyle/>
          <a:p>
            <a:pPr algn="l" marL="288000" indent="-288000">
              <a:lnSpc>
                <a:spcPts val="2400"/>
              </a:lnSpc>
              <a:spcBef>
                <a:spcPts val="0"/>
              </a:spcBef>
              <a:spcAft>
                <a:spcPts val="600"/>
              </a:spcAft>
              <a:buClr>
                <a:srgbClr val="111111"/>
              </a:buClr>
              <a:buSzPct val="80000"/>
              <a:buFont typeface="Arial"/>
              <a:buChar char="■"/>
            </a:pPr>
            <a:r>
              <a:rPr sz="2000" b="0" i="0" lang="ko-KR">
                <a:solidFill>
                  <a:srgbClr val="1E2532"/>
                </a:solidFill>
                <a:latin typeface="맑은 고딕"/>
                <a:ea typeface="맑은 고딕"/>
                <a:cs typeface="맑은 고딕"/>
              </a:rPr>
              <a:t>통합형 비중은 </a:t>
            </a:r>
            <a:r>
              <a:rPr sz="2000" b="1" i="0" lang="ko-KR">
                <a:solidFill>
                  <a:srgbClr val="7C3AED"/>
                </a:solidFill>
                <a:latin typeface="맑은 고딕"/>
                <a:ea typeface="맑은 고딕"/>
                <a:cs typeface="맑은 고딕"/>
              </a:rPr>
              <a:t>31.3% → 62.2% → 44.3%</a:t>
            </a:r>
            <a:r>
              <a:rPr sz="2000" b="0" i="0" lang="ko-KR">
                <a:solidFill>
                  <a:srgbClr val="1E2532"/>
                </a:solidFill>
                <a:latin typeface="맑은 고딕"/>
                <a:ea typeface="맑은 고딕"/>
                <a:cs typeface="맑은 고딕"/>
              </a:rPr>
              <a:t>로 확산기에 정점에 이른 뒤 낮아졌다(표 2).</a:t>
            </a:r>
          </a:p>
          <a:p>
            <a:pPr algn="l" marL="288000" indent="-288000">
              <a:lnSpc>
                <a:spcPts val="2400"/>
              </a:lnSpc>
              <a:spcBef>
                <a:spcPts val="0"/>
              </a:spcBef>
              <a:spcAft>
                <a:spcPts val="600"/>
              </a:spcAft>
              <a:buClr>
                <a:srgbClr val="111111"/>
              </a:buClr>
              <a:buSzPct val="80000"/>
              <a:buFont typeface="Arial"/>
              <a:buChar char="■"/>
            </a:pPr>
            <a:r>
              <a:rPr sz="2000" b="0" i="0" lang="ko-KR">
                <a:solidFill>
                  <a:srgbClr val="1E2532"/>
                </a:solidFill>
                <a:latin typeface="맑은 고딕"/>
                <a:ea typeface="맑은 고딕"/>
                <a:cs typeface="맑은 고딕"/>
              </a:rPr>
              <a:t>공정 단독형의 상대위험은 매년 약 8.7% 감소하였다(RRR 0.913***). 출원의 무게중심은 제조공정에서 접합 쪽으로 이동하였다.</a:t>
            </a:r>
          </a:p>
        </p:txBody>
      </p:sp>
      <p:sp>
        <p:nvSpPr>
          <p:cNvPr id="58" name="TextBox 57"/>
          <p:cNvSpPr txBox="1"/>
          <p:nvPr/>
        </p:nvSpPr>
        <p:spPr>
          <a:xfrm>
            <a:off x="10980000" y="13962758"/>
            <a:ext cx="982800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1B2F6B"/>
                </a:solidFill>
                <a:latin typeface="맑은 고딕"/>
                <a:ea typeface="맑은 고딕"/>
                <a:cs typeface="맑은 고딕"/>
              </a:rPr>
              <a:t>&lt;표 2&gt; 시기별 공동분류 유형 분포 (행 비중, %)</a:t>
            </a:r>
          </a:p>
        </p:txBody>
      </p:sp>
      <p:graphicFrame>
        <p:nvGraphicFramePr>
          <p:cNvPr id="59" name="Table 58"/>
          <p:cNvGraphicFramePr>
            <a:graphicFrameLocks noGrp="1"/>
          </p:cNvGraphicFramePr>
          <p:nvPr/>
        </p:nvGraphicFramePr>
        <p:xfrm>
          <a:off x="11160000" y="14358758"/>
          <a:ext cx="8712000" cy="2016000"/>
        </p:xfrm>
        <a:graphic>
          <a:graphicData uri="http://schemas.openxmlformats.org/drawingml/2006/table">
            <a:tbl>
              <a:tblPr firstRow="1">
                <a:tableStyleId>{2D5ABB26-0587-4C30-8999-92F81FD0307C}</a:tableStyleId>
              </a:tblPr>
              <a:tblGrid>
                <a:gridCol w="2664000"/>
                <a:gridCol w="1656000"/>
                <a:gridCol w="1656000"/>
                <a:gridCol w="1656000"/>
                <a:gridCol w="1080000"/>
              </a:tblGrid>
              <a:tr h="504000">
                <a:tc>
                  <a:txBody>
                    <a:bodyPr wrap="square"/>
                    <a:lstStyle/>
                    <a:p>
                      <a:pPr algn="ctr" marL="0" indent="0">
                        <a:lnSpc>
                          <a:spcPts val="2039"/>
                        </a:lnSpc>
                        <a:spcBef>
                          <a:spcPts val="0"/>
                        </a:spcBef>
                        <a:spcAft>
                          <a:spcPts val="0"/>
                        </a:spcAft>
                        <a:buNone/>
                      </a:pPr>
                      <a:r>
                        <a:rPr sz="1700" b="1" i="0" lang="ko-KR">
                          <a:solidFill>
                            <a:srgbClr val="FFFFFF"/>
                          </a:solidFill>
                          <a:latin typeface="맑은 고딕"/>
                          <a:ea typeface="맑은 고딕"/>
                          <a:cs typeface="맑은 고딕"/>
                        </a:rPr>
                        <a:t>시기</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3D6AB0"/>
                    </a:solidFill>
                  </a:tcPr>
                </a:tc>
                <a:tc>
                  <a:txBody>
                    <a:bodyPr wrap="square"/>
                    <a:lstStyle/>
                    <a:p>
                      <a:pPr algn="ctr" marL="0" indent="0">
                        <a:lnSpc>
                          <a:spcPts val="2039"/>
                        </a:lnSpc>
                        <a:spcBef>
                          <a:spcPts val="0"/>
                        </a:spcBef>
                        <a:spcAft>
                          <a:spcPts val="0"/>
                        </a:spcAft>
                        <a:buNone/>
                      </a:pPr>
                      <a:r>
                        <a:rPr sz="1700" b="1" i="0" lang="ko-KR">
                          <a:solidFill>
                            <a:srgbClr val="FFFFFF"/>
                          </a:solidFill>
                          <a:latin typeface="맑은 고딕"/>
                          <a:ea typeface="맑은 고딕"/>
                          <a:cs typeface="맑은 고딕"/>
                        </a:rPr>
                        <a:t>접합 단독형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3D6AB0"/>
                    </a:solidFill>
                  </a:tcPr>
                </a:tc>
                <a:tc>
                  <a:txBody>
                    <a:bodyPr wrap="square"/>
                    <a:lstStyle/>
                    <a:p>
                      <a:pPr algn="ctr" marL="0" indent="0">
                        <a:lnSpc>
                          <a:spcPts val="2039"/>
                        </a:lnSpc>
                        <a:spcBef>
                          <a:spcPts val="0"/>
                        </a:spcBef>
                        <a:spcAft>
                          <a:spcPts val="0"/>
                        </a:spcAft>
                        <a:buNone/>
                      </a:pPr>
                      <a:r>
                        <a:rPr sz="1700" b="1" i="0" lang="ko-KR">
                          <a:solidFill>
                            <a:srgbClr val="FFFFFF"/>
                          </a:solidFill>
                          <a:latin typeface="맑은 고딕"/>
                          <a:ea typeface="맑은 고딕"/>
                          <a:cs typeface="맑은 고딕"/>
                        </a:rPr>
                        <a:t>통합형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3D6AB0"/>
                    </a:solidFill>
                  </a:tcPr>
                </a:tc>
                <a:tc>
                  <a:txBody>
                    <a:bodyPr wrap="square"/>
                    <a:lstStyle/>
                    <a:p>
                      <a:pPr algn="ctr" marL="0" indent="0">
                        <a:lnSpc>
                          <a:spcPts val="2039"/>
                        </a:lnSpc>
                        <a:spcBef>
                          <a:spcPts val="0"/>
                        </a:spcBef>
                        <a:spcAft>
                          <a:spcPts val="0"/>
                        </a:spcAft>
                        <a:buNone/>
                      </a:pPr>
                      <a:r>
                        <a:rPr sz="1700" b="1" i="0" lang="ko-KR">
                          <a:solidFill>
                            <a:srgbClr val="FFFFFF"/>
                          </a:solidFill>
                          <a:latin typeface="맑은 고딕"/>
                          <a:ea typeface="맑은 고딕"/>
                          <a:cs typeface="맑은 고딕"/>
                        </a:rPr>
                        <a:t>공정 단독형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3D6AB0"/>
                    </a:solidFill>
                  </a:tcPr>
                </a:tc>
                <a:tc>
                  <a:txBody>
                    <a:bodyPr wrap="square"/>
                    <a:lstStyle/>
                    <a:p>
                      <a:pPr algn="ctr" marL="0" indent="0">
                        <a:lnSpc>
                          <a:spcPts val="2039"/>
                        </a:lnSpc>
                        <a:spcBef>
                          <a:spcPts val="0"/>
                        </a:spcBef>
                        <a:spcAft>
                          <a:spcPts val="0"/>
                        </a:spcAft>
                        <a:buNone/>
                      </a:pPr>
                      <a:r>
                        <a:rPr sz="1700" b="1" i="0" lang="ko-KR">
                          <a:solidFill>
                            <a:srgbClr val="FFFFFF"/>
                          </a:solidFill>
                          <a:latin typeface="맑은 고딕"/>
                          <a:ea typeface="맑은 고딕"/>
                          <a:cs typeface="맑은 고딕"/>
                        </a:rPr>
                        <a:t>N</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3D6AB0"/>
                    </a:solidFill>
                  </a:tcPr>
                </a:tc>
              </a:tr>
              <a:tr h="504000">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형성기 (–2014)</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25.1</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31.3</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1" i="0" lang="ko-KR">
                          <a:solidFill>
                            <a:srgbClr val="2563C9"/>
                          </a:solidFill>
                          <a:latin typeface="맑은 고딕"/>
                          <a:ea typeface="맑은 고딕"/>
                          <a:cs typeface="맑은 고딕"/>
                        </a:rPr>
                        <a:t>43.6</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179</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r h="504000">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확산기 (2015–2019)</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EAF1FB"/>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23.0</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EAF1FB"/>
                    </a:solidFill>
                  </a:tcPr>
                </a:tc>
                <a:tc>
                  <a:txBody>
                    <a:bodyPr wrap="square"/>
                    <a:lstStyle/>
                    <a:p>
                      <a:pPr algn="ctr" marL="0" indent="0">
                        <a:lnSpc>
                          <a:spcPts val="2039"/>
                        </a:lnSpc>
                        <a:spcBef>
                          <a:spcPts val="0"/>
                        </a:spcBef>
                        <a:spcAft>
                          <a:spcPts val="0"/>
                        </a:spcAft>
                        <a:buNone/>
                      </a:pPr>
                      <a:r>
                        <a:rPr sz="1700" b="1" i="0" lang="ko-KR">
                          <a:solidFill>
                            <a:srgbClr val="7C3AED"/>
                          </a:solidFill>
                          <a:latin typeface="맑은 고딕"/>
                          <a:ea typeface="맑은 고딕"/>
                          <a:cs typeface="맑은 고딕"/>
                        </a:rPr>
                        <a:t>62.2</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EAF1FB"/>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14.8</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EAF1FB"/>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209</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EAF1FB"/>
                    </a:solidFill>
                  </a:tcPr>
                </a:tc>
              </a:tr>
              <a:tr h="504000">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재편기 (2020–2024)</a:t>
                      </a:r>
                    </a:p>
                  </a:txBody>
                  <a:tcPr marL="54000" marR="54000" marT="18000" marB="18000" anchor="ctr">
                    <a:lnB w="25400" cap="flat" cmpd="sng" algn="ctr">
                      <a:solidFill>
                        <a:srgbClr val="3D6AB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1" i="0" lang="ko-KR">
                          <a:solidFill>
                            <a:srgbClr val="EA7A28"/>
                          </a:solidFill>
                          <a:latin typeface="맑은 고딕"/>
                          <a:ea typeface="맑은 고딕"/>
                          <a:cs typeface="맑은 고딕"/>
                        </a:rPr>
                        <a:t>45.4</a:t>
                      </a:r>
                    </a:p>
                  </a:txBody>
                  <a:tcPr marL="54000" marR="54000" marT="18000" marB="18000" anchor="ctr">
                    <a:lnB w="25400" cap="flat" cmpd="sng" algn="ctr">
                      <a:solidFill>
                        <a:srgbClr val="3D6AB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44.3</a:t>
                      </a:r>
                    </a:p>
                  </a:txBody>
                  <a:tcPr marL="54000" marR="54000" marT="18000" marB="18000" anchor="ctr">
                    <a:lnB w="25400" cap="flat" cmpd="sng" algn="ctr">
                      <a:solidFill>
                        <a:srgbClr val="3D6AB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10.4</a:t>
                      </a:r>
                    </a:p>
                  </a:txBody>
                  <a:tcPr marL="54000" marR="54000" marT="18000" marB="18000" anchor="ctr">
                    <a:lnB w="25400" cap="flat" cmpd="sng" algn="ctr">
                      <a:solidFill>
                        <a:srgbClr val="3D6AB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540</a:t>
                      </a:r>
                    </a:p>
                  </a:txBody>
                  <a:tcPr marL="54000" marR="54000" marT="18000" marB="18000" anchor="ctr">
                    <a:lnB w="25400" cap="flat" cmpd="sng" algn="ctr">
                      <a:solidFill>
                        <a:srgbClr val="3D6AB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bl>
          </a:graphicData>
        </a:graphic>
      </p:graphicFrame>
      <p:sp>
        <p:nvSpPr>
          <p:cNvPr id="60" name="Rounded Rectangle 59"/>
          <p:cNvSpPr/>
          <p:nvPr/>
        </p:nvSpPr>
        <p:spPr>
          <a:xfrm>
            <a:off x="11304000" y="16644758"/>
            <a:ext cx="9504000" cy="720000"/>
          </a:xfrm>
          <a:prstGeom prst="roundRect">
            <a:avLst>
              <a:gd name="adj" fmla="val 50000"/>
            </a:avLst>
          </a:prstGeom>
          <a:solidFill>
            <a:srgbClr val="FFFFFF"/>
          </a:solidFill>
          <a:ln w="28575">
            <a:solidFill>
              <a:srgbClr val="1B2F6B"/>
            </a:solidFill>
          </a:ln>
        </p:spPr>
        <p:txBody>
          <a:bodyPr rtlCol="0" anchor="ctr" lIns="54000" rIns="54000" tIns="54000" bIns="54000"/>
          <a:lstStyle/>
          <a:p>
            <a:pPr algn="ctr"/>
          </a:p>
        </p:txBody>
      </p:sp>
      <p:sp>
        <p:nvSpPr>
          <p:cNvPr id="61" name="Oval 60"/>
          <p:cNvSpPr/>
          <p:nvPr/>
        </p:nvSpPr>
        <p:spPr>
          <a:xfrm>
            <a:off x="10980000" y="16590758"/>
            <a:ext cx="828000" cy="828000"/>
          </a:xfrm>
          <a:prstGeom prst="ellipse">
            <a:avLst/>
          </a:prstGeom>
          <a:solidFill>
            <a:srgbClr val="FFFFFF"/>
          </a:solidFill>
          <a:ln w="28575">
            <a:solidFill>
              <a:srgbClr val="1B2F6B"/>
            </a:solidFill>
          </a:ln>
        </p:spPr>
        <p:txBody>
          <a:bodyPr rtlCol="0" anchor="ctr" lIns="54000" rIns="54000" tIns="54000" bIns="54000"/>
          <a:lstStyle/>
          <a:p>
            <a:pPr algn="ctr"/>
          </a:p>
        </p:txBody>
      </p:sp>
      <p:sp>
        <p:nvSpPr>
          <p:cNvPr id="62" name="Oval 61"/>
          <p:cNvSpPr/>
          <p:nvPr/>
        </p:nvSpPr>
        <p:spPr>
          <a:xfrm>
            <a:off x="11070000" y="16680758"/>
            <a:ext cx="648000" cy="648000"/>
          </a:xfrm>
          <a:prstGeom prst="ellipse">
            <a:avLst/>
          </a:prstGeom>
          <a:solidFill>
            <a:srgbClr val="2F5DA8"/>
          </a:solidFill>
          <a:ln>
            <a:noFill/>
          </a:ln>
        </p:spPr>
        <p:txBody>
          <a:bodyPr rtlCol="0" anchor="ctr" lIns="54000" rIns="54000" tIns="54000" bIns="54000"/>
          <a:lstStyle/>
          <a:p>
            <a:pPr algn="ctr"/>
          </a:p>
        </p:txBody>
      </p:sp>
      <p:pic>
        <p:nvPicPr>
          <p:cNvPr id="63" name="Picture 62" descr="FaMagnifyingGlass_FFFFFF.png"/>
          <p:cNvPicPr>
            <a:picLocks noChangeAspect="1"/>
          </p:cNvPicPr>
          <p:nvPr/>
        </p:nvPicPr>
        <p:blipFill>
          <a:blip r:embed="rId5"/>
          <a:stretch>
            <a:fillRect/>
          </a:stretch>
        </p:blipFill>
        <p:spPr>
          <a:xfrm>
            <a:off x="11244960" y="16855718"/>
            <a:ext cx="298080" cy="298080"/>
          </a:xfrm>
          <a:prstGeom prst="rect">
            <a:avLst/>
          </a:prstGeom>
        </p:spPr>
      </p:pic>
      <p:sp>
        <p:nvSpPr>
          <p:cNvPr id="64" name="TextBox 63"/>
          <p:cNvSpPr txBox="1"/>
          <p:nvPr/>
        </p:nvSpPr>
        <p:spPr>
          <a:xfrm>
            <a:off x="12024000" y="16644758"/>
            <a:ext cx="8604000" cy="720000"/>
          </a:xfrm>
          <a:prstGeom prst="rect">
            <a:avLst/>
          </a:prstGeom>
          <a:noFill/>
        </p:spPr>
        <p:txBody>
          <a:bodyPr wrap="square" lIns="0" rIns="0" tIns="0" bIns="0" anchor="ctr">
            <a:noAutofit/>
          </a:bodyPr>
          <a:lstStyle/>
          <a:p>
            <a:pPr algn="l" marL="0" indent="0">
              <a:lnSpc>
                <a:spcPts val="3360"/>
              </a:lnSpc>
              <a:spcBef>
                <a:spcPts val="0"/>
              </a:spcBef>
              <a:spcAft>
                <a:spcPts val="0"/>
              </a:spcAft>
              <a:buNone/>
            </a:pPr>
            <a:r>
              <a:rPr sz="2800" b="1" i="0" lang="ko-KR">
                <a:solidFill>
                  <a:srgbClr val="111111"/>
                </a:solidFill>
                <a:latin typeface="맑은 고딕"/>
                <a:ea typeface="맑은 고딕"/>
                <a:cs typeface="맑은 고딕"/>
              </a:rPr>
              <a:t>분석 결과 ③ 구조적 중심 변화 (RQ3)</a:t>
            </a:r>
          </a:p>
        </p:txBody>
      </p:sp>
      <p:sp>
        <p:nvSpPr>
          <p:cNvPr id="65" name="TextBox 64"/>
          <p:cNvSpPr txBox="1"/>
          <p:nvPr/>
        </p:nvSpPr>
        <p:spPr>
          <a:xfrm>
            <a:off x="11124000" y="17562758"/>
            <a:ext cx="9684000" cy="1824710"/>
          </a:xfrm>
          <a:prstGeom prst="rect">
            <a:avLst/>
          </a:prstGeom>
          <a:noFill/>
        </p:spPr>
        <p:txBody>
          <a:bodyPr wrap="square" lIns="0" rIns="0" tIns="0" bIns="0" anchor="t">
            <a:noAutofit/>
          </a:bodyPr>
          <a:lstStyle/>
          <a:p>
            <a:pPr algn="l" marL="288000" indent="-288000">
              <a:lnSpc>
                <a:spcPts val="2400"/>
              </a:lnSpc>
              <a:spcBef>
                <a:spcPts val="0"/>
              </a:spcBef>
              <a:spcAft>
                <a:spcPts val="600"/>
              </a:spcAft>
              <a:buClr>
                <a:srgbClr val="111111"/>
              </a:buClr>
              <a:buSzPct val="80000"/>
              <a:buFont typeface="Arial"/>
              <a:buChar char="■"/>
            </a:pPr>
            <a:r>
              <a:rPr sz="2000" b="0" i="0" lang="ko-KR">
                <a:solidFill>
                  <a:srgbClr val="1E2532"/>
                </a:solidFill>
                <a:latin typeface="맑은 고딕"/>
                <a:ea typeface="맑은 고딕"/>
                <a:cs typeface="맑은 고딕"/>
              </a:rPr>
              <a:t>핵심 기술을 포함한 접합 출원의 통합형 승산비는 </a:t>
            </a:r>
            <a:r>
              <a:rPr sz="2000" b="1" i="0" lang="ko-KR">
                <a:solidFill>
                  <a:srgbClr val="B5441B"/>
                </a:solidFill>
                <a:latin typeface="맑은 고딕"/>
                <a:ea typeface="맑은 고딕"/>
                <a:cs typeface="맑은 고딕"/>
              </a:rPr>
              <a:t>11.07 → 2.45 → 0.66</a:t>
            </a:r>
            <a:r>
              <a:rPr sz="2000" b="0" i="0" lang="ko-KR">
                <a:solidFill>
                  <a:srgbClr val="1E2532"/>
                </a:solidFill>
                <a:latin typeface="맑은 고딕"/>
                <a:ea typeface="맑은 고딕"/>
                <a:cs typeface="맑은 고딕"/>
              </a:rPr>
              <a:t>으로 낮아져 재편기에는 유의하지 않았다(표 3).</a:t>
            </a:r>
          </a:p>
          <a:p>
            <a:pPr algn="l" marL="288000" indent="-288000">
              <a:lnSpc>
                <a:spcPts val="2400"/>
              </a:lnSpc>
              <a:spcBef>
                <a:spcPts val="0"/>
              </a:spcBef>
              <a:spcAft>
                <a:spcPts val="600"/>
              </a:spcAft>
              <a:buClr>
                <a:srgbClr val="111111"/>
              </a:buClr>
              <a:buSzPct val="80000"/>
              <a:buFont typeface="Arial"/>
              <a:buChar char="■"/>
            </a:pPr>
            <a:r>
              <a:rPr sz="2000" b="0" i="0" lang="ko-KR">
                <a:solidFill>
                  <a:srgbClr val="1E2532"/>
                </a:solidFill>
                <a:latin typeface="맑은 고딕"/>
                <a:ea typeface="맑은 고딕"/>
                <a:cs typeface="맑은 고딕"/>
              </a:rPr>
              <a:t>접합 출원 중 핵심 기술 비중은 53.5% → 78.7% → 88.0%로 높아졌다.</a:t>
            </a:r>
          </a:p>
          <a:p>
            <a:pPr algn="l" marL="288000" indent="-288000">
              <a:lnSpc>
                <a:spcPts val="2400"/>
              </a:lnSpc>
              <a:spcBef>
                <a:spcPts val="0"/>
              </a:spcBef>
              <a:spcAft>
                <a:spcPts val="600"/>
              </a:spcAft>
              <a:buClr>
                <a:srgbClr val="111111"/>
              </a:buClr>
              <a:buSzPct val="80000"/>
              <a:buFont typeface="Arial"/>
              <a:buChar char="■"/>
            </a:pPr>
            <a:r>
              <a:rPr sz="2000" b="0" i="0" lang="ko-KR">
                <a:solidFill>
                  <a:srgbClr val="1E2532"/>
                </a:solidFill>
                <a:latin typeface="맑은 고딕"/>
                <a:ea typeface="맑은 고딕"/>
                <a:cs typeface="맑은 고딕"/>
              </a:rPr>
              <a:t>접합과 가장 강하게 결합한 제조공정 영역은 웨이퍼 제조공정에서 패키징 단계 공정으로 바뀌었다(그림 4).</a:t>
            </a:r>
          </a:p>
        </p:txBody>
      </p:sp>
      <p:sp>
        <p:nvSpPr>
          <p:cNvPr id="66" name="TextBox 65"/>
          <p:cNvSpPr txBox="1"/>
          <p:nvPr/>
        </p:nvSpPr>
        <p:spPr>
          <a:xfrm>
            <a:off x="10980000" y="19513469"/>
            <a:ext cx="982800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1B2F6B"/>
                </a:solidFill>
                <a:latin typeface="맑은 고딕"/>
                <a:ea typeface="맑은 고딕"/>
                <a:cs typeface="맑은 고딕"/>
              </a:rPr>
              <a:t>&lt;표 3&gt; 핵심 기술 보유 여부별 통합형 비중과 승산비 (접합 출원 N = 763)</a:t>
            </a:r>
          </a:p>
        </p:txBody>
      </p:sp>
      <p:graphicFrame>
        <p:nvGraphicFramePr>
          <p:cNvPr id="67" name="Table 66"/>
          <p:cNvGraphicFramePr>
            <a:graphicFrameLocks noGrp="1"/>
          </p:cNvGraphicFramePr>
          <p:nvPr/>
        </p:nvGraphicFramePr>
        <p:xfrm>
          <a:off x="11160000" y="19909469"/>
          <a:ext cx="8712000" cy="2016000"/>
        </p:xfrm>
        <a:graphic>
          <a:graphicData uri="http://schemas.openxmlformats.org/drawingml/2006/table">
            <a:tbl>
              <a:tblPr firstRow="1">
                <a:tableStyleId>{2D5ABB26-0587-4C30-8999-92F81FD0307C}</a:tableStyleId>
              </a:tblPr>
              <a:tblGrid>
                <a:gridCol w="1872000"/>
                <a:gridCol w="2016000"/>
                <a:gridCol w="2016000"/>
                <a:gridCol w="2808000"/>
              </a:tblGrid>
              <a:tr h="504000">
                <a:tc>
                  <a:txBody>
                    <a:bodyPr wrap="square"/>
                    <a:lstStyle/>
                    <a:p>
                      <a:pPr algn="ctr" marL="0" indent="0">
                        <a:lnSpc>
                          <a:spcPts val="2039"/>
                        </a:lnSpc>
                        <a:spcBef>
                          <a:spcPts val="0"/>
                        </a:spcBef>
                        <a:spcAft>
                          <a:spcPts val="0"/>
                        </a:spcAft>
                        <a:buNone/>
                      </a:pPr>
                      <a:r>
                        <a:rPr sz="1700" b="1" i="0" lang="ko-KR">
                          <a:solidFill>
                            <a:srgbClr val="FFFFFF"/>
                          </a:solidFill>
                          <a:latin typeface="맑은 고딕"/>
                          <a:ea typeface="맑은 고딕"/>
                          <a:cs typeface="맑은 고딕"/>
                        </a:rPr>
                        <a:t>시기</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3D6AB0"/>
                    </a:solidFill>
                  </a:tcPr>
                </a:tc>
                <a:tc>
                  <a:txBody>
                    <a:bodyPr wrap="square"/>
                    <a:lstStyle/>
                    <a:p>
                      <a:pPr algn="ctr" marL="0" indent="0">
                        <a:lnSpc>
                          <a:spcPts val="2039"/>
                        </a:lnSpc>
                        <a:spcBef>
                          <a:spcPts val="0"/>
                        </a:spcBef>
                        <a:spcAft>
                          <a:spcPts val="0"/>
                        </a:spcAft>
                        <a:buNone/>
                      </a:pPr>
                      <a:r>
                        <a:rPr sz="1700" b="1" i="0" lang="ko-KR">
                          <a:solidFill>
                            <a:srgbClr val="FFFFFF"/>
                          </a:solidFill>
                          <a:latin typeface="맑은 고딕"/>
                          <a:ea typeface="맑은 고딕"/>
                          <a:cs typeface="맑은 고딕"/>
                        </a:rPr>
                        <a:t>핵심 기술 보유</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3D6AB0"/>
                    </a:solidFill>
                  </a:tcPr>
                </a:tc>
                <a:tc>
                  <a:txBody>
                    <a:bodyPr wrap="square"/>
                    <a:lstStyle/>
                    <a:p>
                      <a:pPr algn="ctr" marL="0" indent="0">
                        <a:lnSpc>
                          <a:spcPts val="2039"/>
                        </a:lnSpc>
                        <a:spcBef>
                          <a:spcPts val="0"/>
                        </a:spcBef>
                        <a:spcAft>
                          <a:spcPts val="0"/>
                        </a:spcAft>
                        <a:buNone/>
                      </a:pPr>
                      <a:r>
                        <a:rPr sz="1700" b="1" i="0" lang="ko-KR">
                          <a:solidFill>
                            <a:srgbClr val="FFFFFF"/>
                          </a:solidFill>
                          <a:latin typeface="맑은 고딕"/>
                          <a:ea typeface="맑은 고딕"/>
                          <a:cs typeface="맑은 고딕"/>
                        </a:rPr>
                        <a:t>핵심 기술 없음</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3D6AB0"/>
                    </a:solidFill>
                  </a:tcPr>
                </a:tc>
                <a:tc>
                  <a:txBody>
                    <a:bodyPr wrap="square"/>
                    <a:lstStyle/>
                    <a:p>
                      <a:pPr algn="ctr" marL="0" indent="0">
                        <a:lnSpc>
                          <a:spcPts val="2039"/>
                        </a:lnSpc>
                        <a:spcBef>
                          <a:spcPts val="0"/>
                        </a:spcBef>
                        <a:spcAft>
                          <a:spcPts val="0"/>
                        </a:spcAft>
                        <a:buNone/>
                      </a:pPr>
                      <a:r>
                        <a:rPr sz="1700" b="1" i="0" lang="ko-KR">
                          <a:solidFill>
                            <a:srgbClr val="FFFFFF"/>
                          </a:solidFill>
                          <a:latin typeface="맑은 고딕"/>
                          <a:ea typeface="맑은 고딕"/>
                          <a:cs typeface="맑은 고딕"/>
                        </a:rPr>
                        <a:t>승산비 (95% CI)</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3D6AB0"/>
                    </a:solidFill>
                  </a:tcPr>
                </a:tc>
              </a:tr>
              <a:tr h="504000">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형성기</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79.6%</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27.7%</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11.07*** (4.21–29.11)</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r h="504000">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확산기</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EAF1FB"/>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77.1%</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EAF1FB"/>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57.9%</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EAF1FB"/>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2.45** (1.16–5.19)</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EAF1FB"/>
                    </a:solidFill>
                  </a:tcPr>
                </a:tc>
              </a:tr>
              <a:tr h="504000">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재편기</a:t>
                      </a:r>
                    </a:p>
                  </a:txBody>
                  <a:tcPr marL="54000" marR="54000" marT="18000" marB="18000" anchor="ctr">
                    <a:lnB w="25400" cap="flat" cmpd="sng" algn="ctr">
                      <a:solidFill>
                        <a:srgbClr val="3D6AB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48.4%</a:t>
                      </a:r>
                    </a:p>
                  </a:txBody>
                  <a:tcPr marL="54000" marR="54000" marT="18000" marB="18000" anchor="ctr">
                    <a:lnB w="25400" cap="flat" cmpd="sng" algn="ctr">
                      <a:solidFill>
                        <a:srgbClr val="3D6AB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56.9%</a:t>
                      </a:r>
                    </a:p>
                  </a:txBody>
                  <a:tcPr marL="54000" marR="54000" marT="18000" marB="18000" anchor="ctr">
                    <a:lnB w="25400" cap="flat" cmpd="sng" algn="ctr">
                      <a:solidFill>
                        <a:srgbClr val="3D6AB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2039"/>
                        </a:lnSpc>
                        <a:spcBef>
                          <a:spcPts val="0"/>
                        </a:spcBef>
                        <a:spcAft>
                          <a:spcPts val="0"/>
                        </a:spcAft>
                        <a:buNone/>
                      </a:pPr>
                      <a:r>
                        <a:rPr sz="1700" b="0" i="0" lang="ko-KR">
                          <a:solidFill>
                            <a:srgbClr val="1E2532"/>
                          </a:solidFill>
                          <a:latin typeface="맑은 고딕"/>
                          <a:ea typeface="맑은 고딕"/>
                          <a:cs typeface="맑은 고딕"/>
                        </a:rPr>
                        <a:t>0.66 (0.37–1.16)</a:t>
                      </a:r>
                    </a:p>
                  </a:txBody>
                  <a:tcPr marL="54000" marR="54000" marT="18000" marB="18000" anchor="ctr">
                    <a:lnB w="25400" cap="flat" cmpd="sng" algn="ctr">
                      <a:solidFill>
                        <a:srgbClr val="3D6AB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bl>
          </a:graphicData>
        </a:graphic>
      </p:graphicFrame>
      <p:graphicFrame>
        <p:nvGraphicFramePr>
          <p:cNvPr id="68" name="Chart 67"/>
          <p:cNvGraphicFramePr>
            <a:graphicFrameLocks noGrp="1"/>
          </p:cNvGraphicFramePr>
          <p:nvPr/>
        </p:nvGraphicFramePr>
        <p:xfrm>
          <a:off x="11124000" y="22033469"/>
          <a:ext cx="9540000" cy="2448000"/>
        </p:xfrm>
        <a:graphic>
          <a:graphicData uri="http://schemas.openxmlformats.org/drawingml/2006/chart">
            <c:chart xmlns:c="http://schemas.openxmlformats.org/drawingml/2006/chart" r:id="rId9"/>
          </a:graphicData>
        </a:graphic>
      </p:graphicFrame>
      <p:sp>
        <p:nvSpPr>
          <p:cNvPr id="69" name="TextBox 68"/>
          <p:cNvSpPr txBox="1"/>
          <p:nvPr/>
        </p:nvSpPr>
        <p:spPr>
          <a:xfrm>
            <a:off x="10980000" y="24517469"/>
            <a:ext cx="982800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1B2F6B"/>
                </a:solidFill>
                <a:latin typeface="맑은 고딕"/>
                <a:ea typeface="맑은 고딕"/>
                <a:cs typeface="맑은 고딕"/>
              </a:rPr>
              <a:t>&lt;그림 4&gt; 제조공정 영역별 접합 기호와의 결합 강도 (Jaccard)</a:t>
            </a:r>
          </a:p>
        </p:txBody>
      </p:sp>
      <p:sp>
        <p:nvSpPr>
          <p:cNvPr id="70" name="Rounded Rectangle 69"/>
          <p:cNvSpPr/>
          <p:nvPr/>
        </p:nvSpPr>
        <p:spPr>
          <a:xfrm>
            <a:off x="11304000" y="25075469"/>
            <a:ext cx="9504000" cy="720000"/>
          </a:xfrm>
          <a:prstGeom prst="roundRect">
            <a:avLst>
              <a:gd name="adj" fmla="val 50000"/>
            </a:avLst>
          </a:prstGeom>
          <a:solidFill>
            <a:srgbClr val="FFFFFF"/>
          </a:solidFill>
          <a:ln w="28575">
            <a:solidFill>
              <a:srgbClr val="1B2F6B"/>
            </a:solidFill>
          </a:ln>
        </p:spPr>
        <p:txBody>
          <a:bodyPr rtlCol="0" anchor="ctr" lIns="54000" rIns="54000" tIns="54000" bIns="54000"/>
          <a:lstStyle/>
          <a:p>
            <a:pPr algn="ctr"/>
          </a:p>
        </p:txBody>
      </p:sp>
      <p:sp>
        <p:nvSpPr>
          <p:cNvPr id="71" name="Oval 70"/>
          <p:cNvSpPr/>
          <p:nvPr/>
        </p:nvSpPr>
        <p:spPr>
          <a:xfrm>
            <a:off x="10980000" y="25021469"/>
            <a:ext cx="828000" cy="828000"/>
          </a:xfrm>
          <a:prstGeom prst="ellipse">
            <a:avLst/>
          </a:prstGeom>
          <a:solidFill>
            <a:srgbClr val="FFFFFF"/>
          </a:solidFill>
          <a:ln w="28575">
            <a:solidFill>
              <a:srgbClr val="1B2F6B"/>
            </a:solidFill>
          </a:ln>
        </p:spPr>
        <p:txBody>
          <a:bodyPr rtlCol="0" anchor="ctr" lIns="54000" rIns="54000" tIns="54000" bIns="54000"/>
          <a:lstStyle/>
          <a:p>
            <a:pPr algn="ctr"/>
          </a:p>
        </p:txBody>
      </p:sp>
      <p:sp>
        <p:nvSpPr>
          <p:cNvPr id="72" name="Oval 71"/>
          <p:cNvSpPr/>
          <p:nvPr/>
        </p:nvSpPr>
        <p:spPr>
          <a:xfrm>
            <a:off x="11070000" y="25111469"/>
            <a:ext cx="648000" cy="648000"/>
          </a:xfrm>
          <a:prstGeom prst="ellipse">
            <a:avLst/>
          </a:prstGeom>
          <a:solidFill>
            <a:srgbClr val="2F5DA8"/>
          </a:solidFill>
          <a:ln>
            <a:noFill/>
          </a:ln>
        </p:spPr>
        <p:txBody>
          <a:bodyPr rtlCol="0" anchor="ctr" lIns="54000" rIns="54000" tIns="54000" bIns="54000"/>
          <a:lstStyle/>
          <a:p>
            <a:pPr algn="ctr"/>
          </a:p>
        </p:txBody>
      </p:sp>
      <p:pic>
        <p:nvPicPr>
          <p:cNvPr id="73" name="Picture 72" descr="FaMagnifyingGlass_FFFFFF.png"/>
          <p:cNvPicPr>
            <a:picLocks noChangeAspect="1"/>
          </p:cNvPicPr>
          <p:nvPr/>
        </p:nvPicPr>
        <p:blipFill>
          <a:blip r:embed="rId5"/>
          <a:stretch>
            <a:fillRect/>
          </a:stretch>
        </p:blipFill>
        <p:spPr>
          <a:xfrm>
            <a:off x="11244960" y="25286429"/>
            <a:ext cx="298080" cy="298080"/>
          </a:xfrm>
          <a:prstGeom prst="rect">
            <a:avLst/>
          </a:prstGeom>
        </p:spPr>
      </p:pic>
      <p:sp>
        <p:nvSpPr>
          <p:cNvPr id="74" name="TextBox 73"/>
          <p:cNvSpPr txBox="1"/>
          <p:nvPr/>
        </p:nvSpPr>
        <p:spPr>
          <a:xfrm>
            <a:off x="12024000" y="25075469"/>
            <a:ext cx="8604000" cy="720000"/>
          </a:xfrm>
          <a:prstGeom prst="rect">
            <a:avLst/>
          </a:prstGeom>
          <a:noFill/>
        </p:spPr>
        <p:txBody>
          <a:bodyPr wrap="square" lIns="0" rIns="0" tIns="0" bIns="0" anchor="ctr">
            <a:noAutofit/>
          </a:bodyPr>
          <a:lstStyle/>
          <a:p>
            <a:pPr algn="l" marL="0" indent="0">
              <a:lnSpc>
                <a:spcPts val="3360"/>
              </a:lnSpc>
              <a:spcBef>
                <a:spcPts val="0"/>
              </a:spcBef>
              <a:spcAft>
                <a:spcPts val="0"/>
              </a:spcAft>
              <a:buNone/>
            </a:pPr>
            <a:r>
              <a:rPr sz="2800" b="1" i="0" lang="ko-KR">
                <a:solidFill>
                  <a:srgbClr val="111111"/>
                </a:solidFill>
                <a:latin typeface="맑은 고딕"/>
                <a:ea typeface="맑은 고딕"/>
                <a:cs typeface="맑은 고딕"/>
              </a:rPr>
              <a:t>결론</a:t>
            </a:r>
          </a:p>
        </p:txBody>
      </p:sp>
      <p:sp>
        <p:nvSpPr>
          <p:cNvPr id="75" name="TextBox 74"/>
          <p:cNvSpPr txBox="1"/>
          <p:nvPr/>
        </p:nvSpPr>
        <p:spPr>
          <a:xfrm>
            <a:off x="11124000" y="25993469"/>
            <a:ext cx="9684000" cy="2434349"/>
          </a:xfrm>
          <a:prstGeom prst="rect">
            <a:avLst/>
          </a:prstGeom>
          <a:noFill/>
        </p:spPr>
        <p:txBody>
          <a:bodyPr wrap="square" lIns="0" rIns="0" tIns="0" bIns="0" anchor="t">
            <a:noAutofit/>
          </a:bodyPr>
          <a:lstStyle/>
          <a:p>
            <a:pPr algn="l" marL="288000" indent="-288000">
              <a:lnSpc>
                <a:spcPts val="2400"/>
              </a:lnSpc>
              <a:spcBef>
                <a:spcPts val="0"/>
              </a:spcBef>
              <a:spcAft>
                <a:spcPts val="600"/>
              </a:spcAft>
              <a:buClr>
                <a:srgbClr val="111111"/>
              </a:buClr>
              <a:buSzPct val="80000"/>
              <a:buFont typeface="Arial"/>
              <a:buChar char="■"/>
            </a:pPr>
            <a:r>
              <a:rPr sz="2000" b="1" i="0" lang="ko-KR">
                <a:solidFill>
                  <a:srgbClr val="1B2F6B"/>
                </a:solidFill>
                <a:latin typeface="맑은 고딕"/>
                <a:ea typeface="맑은 고딕"/>
                <a:cs typeface="맑은 고딕"/>
              </a:rPr>
              <a:t>공정 단계 간 기술융합은 단선적 확대가 아니라 융합의 내용과 중심이 국면에 따라 재편되는 </a:t>
            </a:r>
            <a:r>
              <a:rPr sz="2000" b="1" i="0" lang="ko-KR">
                <a:solidFill>
                  <a:srgbClr val="B5441B"/>
                </a:solidFill>
                <a:latin typeface="맑은 고딕"/>
                <a:ea typeface="맑은 고딕"/>
                <a:cs typeface="맑은 고딕"/>
              </a:rPr>
              <a:t>동태적 과정</a:t>
            </a:r>
            <a:r>
              <a:rPr sz="2000" b="1" i="0" lang="ko-KR">
                <a:solidFill>
                  <a:srgbClr val="1B2F6B"/>
                </a:solidFill>
                <a:latin typeface="맑은 고딕"/>
                <a:ea typeface="맑은 고딕"/>
                <a:cs typeface="맑은 고딕"/>
              </a:rPr>
              <a:t>이며, 그 배경에 핵심 기술 설계의 고착화가 있음을 시사한다.</a:t>
            </a:r>
          </a:p>
          <a:p>
            <a:pPr algn="l" marL="288000" indent="-288000">
              <a:lnSpc>
                <a:spcPts val="2400"/>
              </a:lnSpc>
              <a:spcBef>
                <a:spcPts val="0"/>
              </a:spcBef>
              <a:spcAft>
                <a:spcPts val="600"/>
              </a:spcAft>
              <a:buClr>
                <a:srgbClr val="111111"/>
              </a:buClr>
              <a:buSzPct val="80000"/>
              <a:buFont typeface="Arial"/>
              <a:buChar char="■"/>
            </a:pPr>
            <a:r>
              <a:rPr sz="2000" b="1" i="0" lang="ko-KR">
                <a:solidFill>
                  <a:srgbClr val="1B2F6B"/>
                </a:solidFill>
                <a:latin typeface="맑은 고딕"/>
                <a:ea typeface="맑은 고딕"/>
                <a:cs typeface="맑은 고딕"/>
              </a:rPr>
              <a:t>학술적 시사점: </a:t>
            </a:r>
            <a:r>
              <a:rPr sz="2000" b="0" i="0" lang="ko-KR">
                <a:solidFill>
                  <a:srgbClr val="1E2532"/>
                </a:solidFill>
                <a:latin typeface="맑은 고딕"/>
                <a:ea typeface="맑은 고딕"/>
                <a:cs typeface="맑은 고딕"/>
              </a:rPr>
              <a:t>기술융합 연구의 범위를 공정 단계 간 융합으로 확장하고, 융합을 동태적 과정으로 실증하였다.</a:t>
            </a:r>
          </a:p>
          <a:p>
            <a:pPr algn="l" marL="288000" indent="-288000">
              <a:lnSpc>
                <a:spcPts val="2400"/>
              </a:lnSpc>
              <a:spcBef>
                <a:spcPts val="0"/>
              </a:spcBef>
              <a:spcAft>
                <a:spcPts val="600"/>
              </a:spcAft>
              <a:buClr>
                <a:srgbClr val="111111"/>
              </a:buClr>
              <a:buSzPct val="80000"/>
              <a:buFont typeface="Arial"/>
              <a:buChar char="■"/>
            </a:pPr>
            <a:r>
              <a:rPr sz="2000" b="1" i="0" lang="ko-KR">
                <a:solidFill>
                  <a:srgbClr val="1B2F6B"/>
                </a:solidFill>
                <a:latin typeface="맑은 고딕"/>
                <a:ea typeface="맑은 고딕"/>
                <a:cs typeface="맑은 고딕"/>
              </a:rPr>
              <a:t>실무적 시사점: </a:t>
            </a:r>
            <a:r>
              <a:rPr sz="2000" b="0" i="0" lang="ko-KR">
                <a:solidFill>
                  <a:srgbClr val="1E2532"/>
                </a:solidFill>
                <a:latin typeface="맑은 고딕"/>
                <a:ea typeface="맑은 고딕"/>
                <a:cs typeface="맑은 고딕"/>
              </a:rPr>
              <a:t>하이브리드 본딩 경쟁력은 접합 원리 하나에 좌우되지 않을 수 있으며, 평탄화·표면 화학·정렬 계측과 얇은 다이를 다루고 적층하는 공정 역량이 함께 필요할 수 있다.</a:t>
            </a:r>
          </a:p>
        </p:txBody>
      </p:sp>
      <p:sp>
        <p:nvSpPr>
          <p:cNvPr id="76" name="TextBox 75"/>
          <p:cNvSpPr txBox="1"/>
          <p:nvPr/>
        </p:nvSpPr>
        <p:spPr>
          <a:xfrm>
            <a:off x="576000" y="28962000"/>
            <a:ext cx="7560000" cy="12240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lang="ko-KR">
                <a:solidFill>
                  <a:srgbClr val="1B2F6B"/>
                </a:solidFill>
                <a:latin typeface="맑은 고딕"/>
                <a:ea typeface="맑은 고딕"/>
                <a:cs typeface="맑은 고딕"/>
              </a:rPr>
              <a:t>주요 참고문헌</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Anderson &amp; Tushman (1990), Administrative Science Quarterly 35(4)</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Curran &amp; Leker (2011), Technological Forecasting and Social Change 78(2)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Hacklin, Marxt &amp; Fahrni (2010), Int. J. Technology Management 49(1–3)</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Lau (2022), IEEE Trans. Components, Packaging and Manufacturing Tech. 12(2)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Murmann &amp; Frenken (2006), Research Policy 35(7)</a:t>
            </a:r>
          </a:p>
        </p:txBody>
      </p:sp>
      <p:sp>
        <p:nvSpPr>
          <p:cNvPr id="77" name="TextBox 76"/>
          <p:cNvSpPr txBox="1"/>
          <p:nvPr/>
        </p:nvSpPr>
        <p:spPr>
          <a:xfrm>
            <a:off x="13608000" y="28962000"/>
            <a:ext cx="7200000" cy="1224000"/>
          </a:xfrm>
          <a:prstGeom prst="rect">
            <a:avLst/>
          </a:prstGeom>
          <a:noFill/>
        </p:spPr>
        <p:txBody>
          <a:bodyPr wrap="square" lIns="0" rIns="0" tIns="0" bIns="0" anchor="t">
            <a:noAutofit/>
          </a:bodyPr>
          <a:lstStyle/>
          <a:p>
            <a:pPr algn="r" marL="0" indent="0">
              <a:lnSpc>
                <a:spcPts val="1440"/>
              </a:lnSpc>
              <a:spcBef>
                <a:spcPts val="0"/>
              </a:spcBef>
              <a:spcAft>
                <a:spcPts val="0"/>
              </a:spcAft>
              <a:buNone/>
            </a:pPr>
            <a:r>
              <a:rPr sz="1200" b="1" i="0" lang="ko-KR">
                <a:solidFill>
                  <a:srgbClr val="1B2F6B"/>
                </a:solidFill>
                <a:latin typeface="맑은 고딕"/>
                <a:ea typeface="맑은 고딕"/>
                <a:cs typeface="맑은 고딕"/>
              </a:rPr>
              <a:t>Contact</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이형규 · 한양대학교 기술경영학과</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higgack@naver.com</a:t>
            </a:r>
          </a:p>
          <a:p>
            <a:pPr algn="r" marL="0" indent="0">
              <a:lnSpc>
                <a:spcPts val="1260"/>
              </a:lnSpc>
              <a:spcBef>
                <a:spcPts val="0"/>
              </a:spcBef>
              <a:spcAft>
                <a:spcPts val="0"/>
              </a:spcAft>
              <a:buNone/>
            </a:pPr>
            <a:r>
              <a:rPr sz="1050" b="0" i="0" lang="ko-KR">
                <a:solidFill>
                  <a:srgbClr val="5B6475"/>
                </a:solidFill>
                <a:latin typeface="맑은 고딕"/>
                <a:ea typeface="맑은 고딕"/>
                <a:cs typeface="맑은 고딕"/>
              </a:rPr>
              <a:t>자료: EPO PATSTAT Global · 분석 단위: 특허출원</a:t>
            </a:r>
          </a:p>
        </p:txBody>
      </p:sp>
    </p:spTree>
    <p:extLst>
      <p:ext uri="{BB962C8B-B14F-4D97-AF65-F5344CB8AC3E}">
        <p14:creationId xmlns:p14="http://schemas.microsoft.com/office/powerpoint/2010/main" val="3742088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1447</TotalTime>
  <Words>2</Words>
  <Application>Microsoft Office PowerPoint</Application>
  <PresentationFormat>사용자 지정</PresentationFormat>
  <Paragraphs>2</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맑은 고딕</vt:lpstr>
      <vt:lpstr>Arial</vt:lpstr>
      <vt:lpstr>Calibri</vt:lpstr>
      <vt:lpstr>Times New Roman</vt:lpstr>
      <vt:lpstr>Trebuchet MS</vt:lpstr>
      <vt:lpstr>A1 Template</vt:lpstr>
      <vt:lpstr>PowerPoint 프레젠테이션</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HYU</cp:lastModifiedBy>
  <cp:revision>51</cp:revision>
  <cp:lastPrinted>2024-06-19T17:05:08Z</cp:lastPrinted>
  <dcterms:created xsi:type="dcterms:W3CDTF">2012-02-10T00:21:22Z</dcterms:created>
  <dcterms:modified xsi:type="dcterms:W3CDTF">2025-09-24T07:06:34Z</dcterms:modified>
  <cp:category>Research poster templates</cp:category>
</cp:coreProperties>
</file>