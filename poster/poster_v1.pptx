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latin typeface="맑은 고딕"/>
                <a:ea typeface="맑은 고딕"/>
              </a:defRPr>
            </a:pPr>
          </a:p>
        </c:txPr>
        <c:crossAx val="2118791784"/>
        <c:crosses val="autoZero"/>
        <c:majorUnit val="0.2"/>
      </c:valAx>
    </c:plotArea>
    <c:legend>
      <c:legendPos val="t"/>
      <c:layout/>
      <c:overlay val="0"/>
      <c:txPr>
        <a:bodyPr/>
        <a:lstStyle/>
        <a:p>
          <a:pPr>
            <a:defRPr sz="1400">
              <a:latin typeface="맑은 고딕"/>
              <a:ea typeface="맑은 고딕"/>
            </a:defRPr>
          </a:pPr>
        </a:p>
      </c:txPr>
    </c:legend>
    <c:plotVisOnly val="1"/>
    <c:dispBlanksAs val="gap"/>
    <c:showDLblsOverMax val="0"/>
  </c:chart>
  <c:txPr>
    <a:bodyPr/>
    <a:lstStyle/>
    <a:p>
      <a:pPr>
        <a:defRPr sz="1400">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2015–19</c:v>
                </c:pt>
                <c:pt idx="2">
                  <c:v>재편기 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latin typeface="맑은 고딕"/>
                <a:ea typeface="맑은 고딕"/>
              </a:defRPr>
            </a:pPr>
          </a:p>
        </c:txPr>
        <c:crossAx val="-2068027336"/>
        <c:crosses val="autoZero"/>
      </c:valAx>
    </c:plotArea>
    <c:legend>
      <c:legendPos val="t"/>
      <c:overlay val="0"/>
      <c:txPr>
        <a:bodyPr/>
        <a:lstStyle/>
        <a:p>
          <a:pPr>
            <a:defRPr sz="1500">
              <a:latin typeface="맑은 고딕"/>
              <a:ea typeface="맑은 고딕"/>
            </a:defRPr>
          </a:pPr>
        </a:p>
      </c:txPr>
    </c:legend>
    <c:dispBlanksAs val="gap"/>
  </c:chart>
  <c:txPr>
    <a:bodyPr/>
    <a:lstStyle/>
    <a:p>
      <a:pPr>
        <a:defRPr sz="1500">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latin typeface="맑은 고딕"/>
                <a:ea typeface="맑은 고딕"/>
              </a:defRPr>
            </a:pPr>
          </a:p>
        </c:txPr>
        <c:crossAx val="2118791784"/>
        <c:crosses val="autoZero"/>
        <c:majorUnit val="0.2"/>
      </c:valAx>
    </c:plotArea>
    <c:legend>
      <c:legendPos val="t"/>
      <c:layout/>
      <c:overlay val="0"/>
      <c:txPr>
        <a:bodyPr/>
        <a:lstStyle/>
        <a:p>
          <a:pPr>
            <a:defRPr sz="1300">
              <a:latin typeface="맑은 고딕"/>
              <a:ea typeface="맑은 고딕"/>
            </a:defRPr>
          </a:pPr>
        </a:p>
      </c:txPr>
    </c:legend>
    <c:plotVisOnly val="1"/>
    <c:dispBlanksAs val="gap"/>
    <c:showDLblsOverMax val="0"/>
  </c:chart>
  <c:txPr>
    <a:bodyPr/>
    <a:lstStyle/>
    <a:p>
      <a:pPr>
        <a:defRPr sz="1300">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chart" Target="../charts/chart1.xml"/><Relationship Id="rId11" Type="http://schemas.openxmlformats.org/officeDocument/2006/relationships/chart" Target="../charts/chart2.xml"/><Relationship Id="rId12" Type="http://schemas.openxmlformats.org/officeDocument/2006/relationships/chart" Target="../charts/chart3.xml"/><Relationship Id="rId13" Type="http://schemas.openxmlformats.org/officeDocument/2006/relationships/image" Target="../media/image9.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cNvSpPr/>
          <p:nvPr/>
        </p:nvSpPr>
        <p:spPr>
          <a:xfrm>
            <a:off x="0" y="0"/>
            <a:ext cx="21387600" cy="4104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2988000"/>
            <a:ext cx="15480000" cy="792000"/>
          </a:xfrm>
        </p:spPr>
        <p:txBody>
          <a:bodyPr wrap="square" lIns="0" rIns="0" tIns="0" bIns="0" anchor="ctr">
            <a:noAutofit/>
          </a:bodyPr>
          <a:lstStyle/>
          <a:p>
            <a:pPr algn="l" marL="0" indent="0">
              <a:spcBef>
                <a:spcPts val="0"/>
              </a:spcBef>
              <a:spcAft>
                <a:spcPts val="0"/>
              </a:spcAft>
              <a:buNone/>
            </a:pPr>
            <a:r>
              <a:rPr sz="3400" b="1" i="0" lang="ko-KR">
                <a:solidFill>
                  <a:srgbClr val="FFFFFF"/>
                </a:solidFill>
                <a:latin typeface="맑은 고딕"/>
                <a:ea typeface="맑은 고딕"/>
                <a:cs typeface="맑은 고딕"/>
              </a:rPr>
              <a:t>이형규</a:t>
            </a:r>
            <a:r>
              <a:rPr sz="2600" b="0" i="0" lang="ko-KR">
                <a:solidFill>
                  <a:srgbClr val="DCE3EE"/>
                </a:solidFill>
                <a:latin typeface="맑은 고딕"/>
                <a:ea typeface="맑은 고딕"/>
                <a:cs typeface="맑은 고딕"/>
              </a:rPr>
              <a:t>   한양대학교 기술경영학과</a:t>
            </a:r>
            <a:endParaRPr lang="ko-KR" altLang="en-US"/>
          </a:p>
        </p:txBody>
      </p:sp>
      <p:sp>
        <p:nvSpPr>
          <p:cNvPr id="14" name="텍스트 개체 틀 13"/>
          <p:cNvSpPr>
            <a:spLocks noGrp="1"/>
          </p:cNvSpPr>
          <p:nvPr>
            <p:ph type="body" sz="quarter" idx="151"/>
          </p:nvPr>
        </p:nvSpPr>
        <p:spPr>
          <a:xfrm>
            <a:off x="576000" y="2430000"/>
            <a:ext cx="15480000" cy="432000"/>
          </a:xfrm>
        </p:spPr>
        <p:txBody>
          <a:bodyPr wrap="square" lIns="0" rIns="0" tIns="0" bIns="0" anchor="t">
            <a:noAutofit/>
          </a:bodyPr>
          <a:lstStyle/>
          <a:p>
            <a:pPr algn="l" marL="0" indent="0">
              <a:spcBef>
                <a:spcPts val="0"/>
              </a:spcBef>
              <a:spcAft>
                <a:spcPts val="0"/>
              </a:spcAft>
              <a:buNone/>
            </a:pPr>
            <a:r>
              <a:rPr sz="1900" b="0" i="0" lang="ko-KR">
                <a:solidFill>
                  <a:srgbClr val="B9C6DD"/>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576000" y="324000"/>
            <a:ext cx="15480000" cy="2016000"/>
          </a:xfrm>
        </p:spPr>
        <p:txBody>
          <a:bodyPr wrap="square" lIns="0" rIns="0" tIns="0" bIns="0" anchor="t">
            <a:noAutofit/>
          </a:bodyPr>
          <a:lstStyle/>
          <a:p>
            <a:pPr algn="l" marL="0" indent="0">
              <a:lnSpc>
                <a:spcPct val="92000"/>
              </a:lnSpc>
              <a:spcBef>
                <a:spcPts val="0"/>
              </a:spcBef>
              <a:spcAft>
                <a:spcPts val="0"/>
              </a:spcAft>
              <a:buNone/>
            </a:pPr>
            <a:r>
              <a:rPr sz="5800" b="1" i="0" lang="ko-KR">
                <a:solidFill>
                  <a:srgbClr val="FFFFFF"/>
                </a:solidFill>
                <a:latin typeface="맑은 고딕"/>
                <a:ea typeface="맑은 고딕"/>
                <a:cs typeface="맑은 고딕"/>
              </a:rPr>
              <a:t>반도체 하이브리드 본딩 특허를 통한</a:t>
            </a:r>
            <a:endParaRPr lang="ko-KR" altLang="en-US" dirty="0"/>
          </a:p>
          <a:p>
            <a:pPr algn="l" marL="0" indent="0">
              <a:lnSpc>
                <a:spcPct val="92000"/>
              </a:lnSpc>
              <a:spcBef>
                <a:spcPts val="0"/>
              </a:spcBef>
              <a:spcAft>
                <a:spcPts val="0"/>
              </a:spcAft>
              <a:buNone/>
            </a:pPr>
            <a:r>
              <a:rPr sz="5800" b="1" i="0" lang="ko-KR">
                <a:solidFill>
                  <a:srgbClr val="FFC000"/>
                </a:solidFill>
                <a:latin typeface="맑은 고딕"/>
                <a:ea typeface="맑은 고딕"/>
                <a:cs typeface="맑은 고딕"/>
              </a:rPr>
              <a:t>공정 단계 간 기술융합</a:t>
            </a:r>
            <a:r>
              <a:rPr sz="5800" b="1" i="0" lang="ko-KR">
                <a:solidFill>
                  <a:srgbClr val="FFFFFF"/>
                </a:solidFill>
                <a:latin typeface="맑은 고딕"/>
                <a:ea typeface="맑은 고딕"/>
                <a:cs typeface="맑은 고딕"/>
              </a:rPr>
              <a:t>의 동태적 분석</a:t>
            </a:r>
          </a:p>
        </p:txBody>
      </p:sp>
      <p:sp>
        <p:nvSpPr>
          <p:cNvPr id="17" name="Rectangle 16"/>
          <p:cNvSpPr/>
          <p:nvPr/>
        </p:nvSpPr>
        <p:spPr>
          <a:xfrm>
            <a:off x="16632000" y="1440000"/>
            <a:ext cx="3960000" cy="342000"/>
          </a:xfrm>
          <a:prstGeom prst="rect">
            <a:avLst/>
          </a:prstGeom>
          <a:solidFill>
            <a:srgbClr val="8FA6CC"/>
          </a:solidFill>
          <a:ln>
            <a:noFill/>
          </a:ln>
        </p:spPr>
        <p:txBody>
          <a:bodyPr rtlCol="0" anchor="ctr" lIns="54000" rIns="54000" tIns="54000" bIns="54000"/>
          <a:lstStyle/>
          <a:p>
            <a:pPr algn="ctr"/>
          </a:p>
        </p:txBody>
      </p:sp>
      <p:sp>
        <p:nvSpPr>
          <p:cNvPr id="18" name="Rectangle 17"/>
          <p:cNvSpPr/>
          <p:nvPr/>
        </p:nvSpPr>
        <p:spPr>
          <a:xfrm>
            <a:off x="16632000" y="1782000"/>
            <a:ext cx="3960000" cy="115200"/>
          </a:xfrm>
          <a:prstGeom prst="rect">
            <a:avLst/>
          </a:prstGeom>
          <a:solidFill>
            <a:srgbClr val="BFE3E6"/>
          </a:solidFill>
          <a:ln>
            <a:noFill/>
          </a:ln>
        </p:spPr>
        <p:txBody>
          <a:bodyPr rtlCol="0" anchor="ctr" lIns="54000" rIns="54000" tIns="54000" bIns="54000"/>
          <a:lstStyle/>
          <a:p>
            <a:pPr algn="ctr"/>
          </a:p>
        </p:txBody>
      </p:sp>
      <p:sp>
        <p:nvSpPr>
          <p:cNvPr id="19" name="Rectangle 18"/>
          <p:cNvSpPr/>
          <p:nvPr/>
        </p:nvSpPr>
        <p:spPr>
          <a:xfrm>
            <a:off x="16776000" y="1782000"/>
            <a:ext cx="198000" cy="115200"/>
          </a:xfrm>
          <a:prstGeom prst="rect">
            <a:avLst/>
          </a:prstGeom>
          <a:solidFill>
            <a:srgbClr val="EA7A28"/>
          </a:solidFill>
          <a:ln>
            <a:noFill/>
          </a:ln>
        </p:spPr>
        <p:txBody>
          <a:bodyPr rtlCol="0" anchor="ctr" lIns="54000" rIns="54000" tIns="54000" bIns="54000"/>
          <a:lstStyle/>
          <a:p>
            <a:pPr algn="ctr"/>
          </a:p>
        </p:txBody>
      </p:sp>
      <p:sp>
        <p:nvSpPr>
          <p:cNvPr id="20" name="Rectangle 19"/>
          <p:cNvSpPr/>
          <p:nvPr/>
        </p:nvSpPr>
        <p:spPr>
          <a:xfrm>
            <a:off x="17210250" y="1782000"/>
            <a:ext cx="198000" cy="115200"/>
          </a:xfrm>
          <a:prstGeom prst="rect">
            <a:avLst/>
          </a:prstGeom>
          <a:solidFill>
            <a:srgbClr val="EA7A28"/>
          </a:solidFill>
          <a:ln>
            <a:noFill/>
          </a:ln>
        </p:spPr>
        <p:txBody>
          <a:bodyPr rtlCol="0" anchor="ctr" lIns="54000" rIns="54000" tIns="54000" bIns="54000"/>
          <a:lstStyle/>
          <a:p>
            <a:pPr algn="ctr"/>
          </a:p>
        </p:txBody>
      </p:sp>
      <p:sp>
        <p:nvSpPr>
          <p:cNvPr id="21" name="Rectangle 20"/>
          <p:cNvSpPr/>
          <p:nvPr/>
        </p:nvSpPr>
        <p:spPr>
          <a:xfrm>
            <a:off x="17644500" y="1782000"/>
            <a:ext cx="198000" cy="115200"/>
          </a:xfrm>
          <a:prstGeom prst="rect">
            <a:avLst/>
          </a:prstGeom>
          <a:solidFill>
            <a:srgbClr val="EA7A28"/>
          </a:solidFill>
          <a:ln>
            <a:noFill/>
          </a:ln>
        </p:spPr>
        <p:txBody>
          <a:bodyPr rtlCol="0" anchor="ctr" lIns="54000" rIns="54000" tIns="54000" bIns="54000"/>
          <a:lstStyle/>
          <a:p>
            <a:pPr algn="ctr"/>
          </a:p>
        </p:txBody>
      </p:sp>
      <p:sp>
        <p:nvSpPr>
          <p:cNvPr id="22" name="Rectangle 21"/>
          <p:cNvSpPr/>
          <p:nvPr/>
        </p:nvSpPr>
        <p:spPr>
          <a:xfrm>
            <a:off x="18078750" y="1782000"/>
            <a:ext cx="198000" cy="1152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8513000" y="1782000"/>
            <a:ext cx="198000" cy="1152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8947250" y="1782000"/>
            <a:ext cx="198000" cy="1152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9381500" y="1782000"/>
            <a:ext cx="198000" cy="1152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9815750" y="1782000"/>
            <a:ext cx="198000" cy="1152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20250000" y="1782000"/>
            <a:ext cx="198000" cy="1152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6632000" y="1897200"/>
            <a:ext cx="3960000" cy="342000"/>
          </a:xfrm>
          <a:prstGeom prst="rect">
            <a:avLst/>
          </a:prstGeom>
          <a:solidFill>
            <a:srgbClr val="7D96BF"/>
          </a:solidFill>
          <a:ln>
            <a:noFill/>
          </a:ln>
        </p:spPr>
        <p:txBody>
          <a:bodyPr rtlCol="0" anchor="ctr" lIns="54000" rIns="54000" tIns="54000" bIns="54000"/>
          <a:lstStyle/>
          <a:p>
            <a:pPr algn="ctr"/>
          </a:p>
        </p:txBody>
      </p:sp>
      <p:sp>
        <p:nvSpPr>
          <p:cNvPr id="29" name="Rectangle 28"/>
          <p:cNvSpPr/>
          <p:nvPr/>
        </p:nvSpPr>
        <p:spPr>
          <a:xfrm>
            <a:off x="16632000" y="2239200"/>
            <a:ext cx="3960000" cy="115200"/>
          </a:xfrm>
          <a:prstGeom prst="rect">
            <a:avLst/>
          </a:prstGeom>
          <a:solidFill>
            <a:srgbClr val="BFE3E6"/>
          </a:solidFill>
          <a:ln>
            <a:noFill/>
          </a:ln>
        </p:spPr>
        <p:txBody>
          <a:bodyPr rtlCol="0" anchor="ctr" lIns="54000" rIns="54000" tIns="54000" bIns="54000"/>
          <a:lstStyle/>
          <a:p>
            <a:pPr algn="ctr"/>
          </a:p>
        </p:txBody>
      </p:sp>
      <p:sp>
        <p:nvSpPr>
          <p:cNvPr id="30" name="Rectangle 29"/>
          <p:cNvSpPr/>
          <p:nvPr/>
        </p:nvSpPr>
        <p:spPr>
          <a:xfrm>
            <a:off x="16776000" y="2239200"/>
            <a:ext cx="198000" cy="115200"/>
          </a:xfrm>
          <a:prstGeom prst="rect">
            <a:avLst/>
          </a:prstGeom>
          <a:solidFill>
            <a:srgbClr val="EA7A28"/>
          </a:solidFill>
          <a:ln>
            <a:noFill/>
          </a:ln>
        </p:spPr>
        <p:txBody>
          <a:bodyPr rtlCol="0" anchor="ctr" lIns="54000" rIns="54000" tIns="54000" bIns="54000"/>
          <a:lstStyle/>
          <a:p>
            <a:pPr algn="ctr"/>
          </a:p>
        </p:txBody>
      </p:sp>
      <p:sp>
        <p:nvSpPr>
          <p:cNvPr id="31" name="Rectangle 30"/>
          <p:cNvSpPr/>
          <p:nvPr/>
        </p:nvSpPr>
        <p:spPr>
          <a:xfrm>
            <a:off x="17210250" y="2239200"/>
            <a:ext cx="198000" cy="115200"/>
          </a:xfrm>
          <a:prstGeom prst="rect">
            <a:avLst/>
          </a:prstGeom>
          <a:solidFill>
            <a:srgbClr val="EA7A28"/>
          </a:solidFill>
          <a:ln>
            <a:noFill/>
          </a:ln>
        </p:spPr>
        <p:txBody>
          <a:bodyPr rtlCol="0" anchor="ctr" lIns="54000" rIns="54000" tIns="54000" bIns="54000"/>
          <a:lstStyle/>
          <a:p>
            <a:pPr algn="ctr"/>
          </a:p>
        </p:txBody>
      </p:sp>
      <p:sp>
        <p:nvSpPr>
          <p:cNvPr id="32" name="Rectangle 31"/>
          <p:cNvSpPr/>
          <p:nvPr/>
        </p:nvSpPr>
        <p:spPr>
          <a:xfrm>
            <a:off x="17644500" y="2239200"/>
            <a:ext cx="198000" cy="1152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8078750" y="2239200"/>
            <a:ext cx="198000" cy="1152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8513000" y="2239200"/>
            <a:ext cx="198000" cy="1152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8947250" y="2239200"/>
            <a:ext cx="198000" cy="1152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9381500" y="2239200"/>
            <a:ext cx="198000" cy="1152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9815750" y="2239200"/>
            <a:ext cx="198000" cy="1152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20250000" y="2239200"/>
            <a:ext cx="198000" cy="1152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6632000" y="2354400"/>
            <a:ext cx="3960000" cy="342000"/>
          </a:xfrm>
          <a:prstGeom prst="rect">
            <a:avLst/>
          </a:prstGeom>
          <a:solidFill>
            <a:srgbClr val="6B86B2"/>
          </a:solidFill>
          <a:ln>
            <a:noFill/>
          </a:ln>
        </p:spPr>
        <p:txBody>
          <a:bodyPr rtlCol="0" anchor="ctr" lIns="54000" rIns="54000" tIns="54000" bIns="54000"/>
          <a:lstStyle/>
          <a:p>
            <a:pPr algn="ctr"/>
          </a:p>
        </p:txBody>
      </p:sp>
      <p:sp>
        <p:nvSpPr>
          <p:cNvPr id="40" name="Rectangle 39"/>
          <p:cNvSpPr/>
          <p:nvPr/>
        </p:nvSpPr>
        <p:spPr>
          <a:xfrm>
            <a:off x="16632000" y="2696400"/>
            <a:ext cx="3960000" cy="115200"/>
          </a:xfrm>
          <a:prstGeom prst="rect">
            <a:avLst/>
          </a:prstGeom>
          <a:solidFill>
            <a:srgbClr val="BFE3E6"/>
          </a:solidFill>
          <a:ln>
            <a:noFill/>
          </a:ln>
        </p:spPr>
        <p:txBody>
          <a:bodyPr rtlCol="0" anchor="ctr" lIns="54000" rIns="54000" tIns="54000" bIns="54000"/>
          <a:lstStyle/>
          <a:p>
            <a:pPr algn="ctr"/>
          </a:p>
        </p:txBody>
      </p:sp>
      <p:sp>
        <p:nvSpPr>
          <p:cNvPr id="41" name="Rectangle 40"/>
          <p:cNvSpPr/>
          <p:nvPr/>
        </p:nvSpPr>
        <p:spPr>
          <a:xfrm>
            <a:off x="16776000" y="2696400"/>
            <a:ext cx="198000" cy="115200"/>
          </a:xfrm>
          <a:prstGeom prst="rect">
            <a:avLst/>
          </a:prstGeom>
          <a:solidFill>
            <a:srgbClr val="EA7A28"/>
          </a:solidFill>
          <a:ln>
            <a:noFill/>
          </a:ln>
        </p:spPr>
        <p:txBody>
          <a:bodyPr rtlCol="0" anchor="ctr" lIns="54000" rIns="54000" tIns="54000" bIns="54000"/>
          <a:lstStyle/>
          <a:p>
            <a:pPr algn="ctr"/>
          </a:p>
        </p:txBody>
      </p:sp>
      <p:sp>
        <p:nvSpPr>
          <p:cNvPr id="42" name="Rectangle 41"/>
          <p:cNvSpPr/>
          <p:nvPr/>
        </p:nvSpPr>
        <p:spPr>
          <a:xfrm>
            <a:off x="17210250" y="2696400"/>
            <a:ext cx="198000" cy="1152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7644500" y="2696400"/>
            <a:ext cx="198000" cy="1152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8078750" y="2696400"/>
            <a:ext cx="198000" cy="1152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8513000" y="2696400"/>
            <a:ext cx="198000" cy="1152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8947250" y="2696400"/>
            <a:ext cx="198000" cy="1152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9381500" y="2696400"/>
            <a:ext cx="198000" cy="1152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9815750" y="2696400"/>
            <a:ext cx="198000" cy="1152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20250000" y="2696400"/>
            <a:ext cx="198000" cy="1152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6632000" y="2811600"/>
            <a:ext cx="3960000" cy="342000"/>
          </a:xfrm>
          <a:prstGeom prst="rect">
            <a:avLst/>
          </a:prstGeom>
          <a:solidFill>
            <a:srgbClr val="5976A5"/>
          </a:solidFill>
          <a:ln>
            <a:noFill/>
          </a:ln>
        </p:spPr>
        <p:txBody>
          <a:bodyPr rtlCol="0" anchor="ctr" lIns="54000" rIns="54000" tIns="54000" bIns="54000"/>
          <a:lstStyle/>
          <a:p>
            <a:pPr algn="ctr"/>
          </a:p>
        </p:txBody>
      </p:sp>
      <p:sp>
        <p:nvSpPr>
          <p:cNvPr id="51" name="Rectangle 50"/>
          <p:cNvSpPr/>
          <p:nvPr/>
        </p:nvSpPr>
        <p:spPr>
          <a:xfrm>
            <a:off x="16632000" y="3153600"/>
            <a:ext cx="3960000" cy="1152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776000" y="3153600"/>
            <a:ext cx="198000" cy="1152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7210250" y="3153600"/>
            <a:ext cx="198000" cy="1152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7644500" y="3153600"/>
            <a:ext cx="198000" cy="1152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8078750" y="3153600"/>
            <a:ext cx="198000" cy="1152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8513000" y="3153600"/>
            <a:ext cx="198000" cy="1152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947250" y="3153600"/>
            <a:ext cx="198000" cy="1152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9381500" y="3153600"/>
            <a:ext cx="198000" cy="1152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9815750" y="3153600"/>
            <a:ext cx="198000" cy="1152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20250000" y="3153600"/>
            <a:ext cx="198000" cy="115200"/>
          </a:xfrm>
          <a:prstGeom prst="rect">
            <a:avLst/>
          </a:prstGeom>
          <a:solidFill>
            <a:srgbClr val="EA7A28"/>
          </a:solidFill>
          <a:ln>
            <a:noFill/>
          </a:ln>
        </p:spPr>
        <p:txBody>
          <a:bodyPr rtlCol="0" anchor="ctr" lIns="54000" rIns="54000" tIns="54000" bIns="54000"/>
          <a:lstStyle/>
          <a:p>
            <a:pPr algn="ctr"/>
          </a:p>
        </p:txBody>
      </p:sp>
      <p:sp>
        <p:nvSpPr>
          <p:cNvPr id="61" name="Rectangle 60"/>
          <p:cNvSpPr/>
          <p:nvPr/>
        </p:nvSpPr>
        <p:spPr>
          <a:xfrm>
            <a:off x="16416000" y="3268800"/>
            <a:ext cx="4392000" cy="378000"/>
          </a:xfrm>
          <a:prstGeom prst="rect">
            <a:avLst/>
          </a:prstGeom>
          <a:solidFill>
            <a:srgbClr val="3E5A8A"/>
          </a:solidFill>
          <a:ln>
            <a:noFill/>
          </a:ln>
        </p:spPr>
        <p:txBody>
          <a:bodyPr rtlCol="0" anchor="ctr" lIns="54000" rIns="54000" tIns="54000" bIns="54000"/>
          <a:lstStyle/>
          <a:p>
            <a:pPr algn="ctr"/>
          </a:p>
        </p:txBody>
      </p:sp>
      <p:sp>
        <p:nvSpPr>
          <p:cNvPr id="62" name="TextBox 61"/>
          <p:cNvSpPr txBox="1"/>
          <p:nvPr/>
        </p:nvSpPr>
        <p:spPr>
          <a:xfrm>
            <a:off x="16416000" y="3682800"/>
            <a:ext cx="4392000" cy="252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9FB0CC"/>
                </a:solidFill>
                <a:latin typeface="맑은 고딕"/>
                <a:ea typeface="맑은 고딕"/>
                <a:cs typeface="맑은 고딕"/>
              </a:rPr>
              <a:t>하이브리드 본딩 적층 구조 (개념도)</a:t>
            </a: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
        <p:nvSpPr>
          <p:cNvPr id="63" name="Rounded Rectangle 62"/>
          <p:cNvSpPr/>
          <p:nvPr/>
        </p:nvSpPr>
        <p:spPr>
          <a:xfrm>
            <a:off x="576000" y="4356000"/>
            <a:ext cx="20232000" cy="1224000"/>
          </a:xfrm>
          <a:prstGeom prst="roundRect">
            <a:avLst>
              <a:gd name="adj" fmla="val 14000"/>
            </a:avLst>
          </a:prstGeom>
          <a:solidFill>
            <a:srgbClr val="FFF6D6"/>
          </a:solidFill>
          <a:ln>
            <a:noFill/>
          </a:ln>
        </p:spPr>
        <p:txBody>
          <a:bodyPr rtlCol="0" anchor="ctr" lIns="54000" rIns="54000" tIns="54000" bIns="54000"/>
          <a:lstStyle/>
          <a:p>
            <a:pPr algn="ctr"/>
          </a:p>
        </p:txBody>
      </p:sp>
      <p:sp>
        <p:nvSpPr>
          <p:cNvPr id="64" name="Oval 63"/>
          <p:cNvSpPr/>
          <p:nvPr/>
        </p:nvSpPr>
        <p:spPr>
          <a:xfrm>
            <a:off x="828000" y="4536000"/>
            <a:ext cx="900000" cy="900000"/>
          </a:xfrm>
          <a:prstGeom prst="ellipse">
            <a:avLst/>
          </a:prstGeom>
          <a:solidFill>
            <a:srgbClr val="FFC000"/>
          </a:solidFill>
          <a:ln>
            <a:noFill/>
          </a:ln>
        </p:spPr>
        <p:txBody>
          <a:bodyPr rtlCol="0" anchor="ctr" lIns="54000" rIns="54000" tIns="54000" bIns="54000"/>
          <a:lstStyle/>
          <a:p>
            <a:pPr algn="ctr"/>
          </a:p>
        </p:txBody>
      </p:sp>
      <p:pic>
        <p:nvPicPr>
          <p:cNvPr id="65" name="Picture 64" descr="FaLightbulb_FFFFFF.png"/>
          <p:cNvPicPr>
            <a:picLocks noChangeAspect="1"/>
          </p:cNvPicPr>
          <p:nvPr/>
        </p:nvPicPr>
        <p:blipFill>
          <a:blip r:embed="rId3"/>
          <a:stretch>
            <a:fillRect/>
          </a:stretch>
        </p:blipFill>
        <p:spPr>
          <a:xfrm>
            <a:off x="1044000" y="4752000"/>
            <a:ext cx="468000" cy="468000"/>
          </a:xfrm>
          <a:prstGeom prst="rect">
            <a:avLst/>
          </a:prstGeom>
        </p:spPr>
      </p:pic>
      <p:sp>
        <p:nvSpPr>
          <p:cNvPr id="66" name="TextBox 65"/>
          <p:cNvSpPr txBox="1"/>
          <p:nvPr/>
        </p:nvSpPr>
        <p:spPr>
          <a:xfrm>
            <a:off x="1980000" y="4410000"/>
            <a:ext cx="18576000" cy="11160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2700" b="1" i="0" lang="ko-KR">
                <a:solidFill>
                  <a:srgbClr val="13294B"/>
                </a:solidFill>
                <a:latin typeface="맑은 고딕"/>
                <a:ea typeface="맑은 고딕"/>
                <a:cs typeface="맑은 고딕"/>
              </a:rPr>
              <a:t>하이브리드 본딩 관련 특허출원 928건을 분석한 결과, 공정 단계 간 기술융합은 한 방향으로 확대되지 않았다. </a:t>
            </a:r>
            <a:r>
              <a:rPr sz="2700" b="1" i="0" lang="ko-KR">
                <a:solidFill>
                  <a:srgbClr val="7C3AED"/>
                </a:solidFill>
                <a:latin typeface="맑은 고딕"/>
                <a:ea typeface="맑은 고딕"/>
                <a:cs typeface="맑은 고딕"/>
              </a:rPr>
              <a:t>형성기 → 확산기 → 재편기</a:t>
            </a:r>
            <a:r>
              <a:rPr sz="2700" b="1" i="0" lang="ko-KR">
                <a:solidFill>
                  <a:srgbClr val="13294B"/>
                </a:solidFill>
                <a:latin typeface="맑은 고딕"/>
                <a:ea typeface="맑은 고딕"/>
                <a:cs typeface="맑은 고딕"/>
              </a:rPr>
              <a:t>의 세 국면을 거치며 융합의 중심이 </a:t>
            </a:r>
            <a:r>
              <a:rPr sz="2700" b="1" i="0" lang="ko-KR">
                <a:solidFill>
                  <a:srgbClr val="B5441B"/>
                </a:solidFill>
                <a:latin typeface="맑은 고딕"/>
                <a:ea typeface="맑은 고딕"/>
                <a:cs typeface="맑은 고딕"/>
              </a:rPr>
              <a:t>핵심 접합 기술에서 주변 공정으로</a:t>
            </a:r>
            <a:r>
              <a:rPr sz="2700" b="1" i="0" lang="ko-KR">
                <a:solidFill>
                  <a:srgbClr val="13294B"/>
                </a:solidFill>
                <a:latin typeface="맑은 고딕"/>
                <a:ea typeface="맑은 고딕"/>
                <a:cs typeface="맑은 고딕"/>
              </a:rPr>
              <a:t> 이동하였다.</a:t>
            </a:r>
          </a:p>
        </p:txBody>
      </p:sp>
      <p:sp>
        <p:nvSpPr>
          <p:cNvPr id="67" name="Rounded Rectangle 66"/>
          <p:cNvSpPr/>
          <p:nvPr/>
        </p:nvSpPr>
        <p:spPr>
          <a:xfrm>
            <a:off x="576000" y="5832000"/>
            <a:ext cx="9900000" cy="612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68" name="Oval 67"/>
          <p:cNvSpPr/>
          <p:nvPr/>
        </p:nvSpPr>
        <p:spPr>
          <a:xfrm>
            <a:off x="828000" y="6048000"/>
            <a:ext cx="828000" cy="828000"/>
          </a:xfrm>
          <a:prstGeom prst="ellipse">
            <a:avLst/>
          </a:prstGeom>
          <a:solidFill>
            <a:srgbClr val="13294B"/>
          </a:solidFill>
          <a:ln>
            <a:noFill/>
          </a:ln>
        </p:spPr>
        <p:txBody>
          <a:bodyPr rtlCol="0" anchor="ctr" lIns="0" rIns="0" tIns="36000" bIns="36000" wrap="square"/>
          <a:lstStyle/>
          <a:p>
            <a:pPr algn="ctr" marL="0" indent="0">
              <a:spcBef>
                <a:spcPts val="0"/>
              </a:spcBef>
              <a:spcAft>
                <a:spcPts val="0"/>
              </a:spcAft>
              <a:buNone/>
            </a:pPr>
            <a:r>
              <a:rPr sz="3000" b="1" i="0" lang="ko-KR">
                <a:solidFill>
                  <a:srgbClr val="FFFFFF"/>
                </a:solidFill>
                <a:latin typeface="맑은 고딕"/>
                <a:ea typeface="맑은 고딕"/>
                <a:cs typeface="맑은 고딕"/>
              </a:rPr>
              <a:t>01</a:t>
            </a:r>
          </a:p>
        </p:txBody>
      </p:sp>
      <p:sp>
        <p:nvSpPr>
          <p:cNvPr id="69" name="TextBox 68"/>
          <p:cNvSpPr txBox="1"/>
          <p:nvPr/>
        </p:nvSpPr>
        <p:spPr>
          <a:xfrm>
            <a:off x="1800000" y="6030000"/>
            <a:ext cx="8388000" cy="864000"/>
          </a:xfrm>
          <a:prstGeom prst="rect">
            <a:avLst/>
          </a:prstGeom>
          <a:noFill/>
        </p:spPr>
        <p:txBody>
          <a:bodyPr wrap="square" lIns="0" rIns="0" tIns="0" bIns="0" anchor="ctr">
            <a:noAutofit/>
          </a:bodyPr>
          <a:lstStyle/>
          <a:p>
            <a:pPr algn="l" marL="0" indent="0">
              <a:spcBef>
                <a:spcPts val="0"/>
              </a:spcBef>
              <a:spcAft>
                <a:spcPts val="0"/>
              </a:spcAft>
              <a:buNone/>
            </a:pPr>
            <a:r>
              <a:rPr sz="4000" b="1" i="0" lang="ko-KR">
                <a:solidFill>
                  <a:srgbClr val="13294B"/>
                </a:solidFill>
                <a:latin typeface="맑은 고딕"/>
                <a:ea typeface="맑은 고딕"/>
                <a:cs typeface="맑은 고딕"/>
              </a:rPr>
              <a:t>연구 배경</a:t>
            </a:r>
          </a:p>
        </p:txBody>
      </p:sp>
      <p:sp>
        <p:nvSpPr>
          <p:cNvPr id="70" name="TextBox 69"/>
          <p:cNvSpPr txBox="1"/>
          <p:nvPr/>
        </p:nvSpPr>
        <p:spPr>
          <a:xfrm>
            <a:off x="900000" y="6930000"/>
            <a:ext cx="9252000" cy="2808000"/>
          </a:xfrm>
          <a:prstGeom prst="rect">
            <a:avLst/>
          </a:prstGeom>
          <a:noFill/>
        </p:spPr>
        <p:txBody>
          <a:bodyPr wrap="square" lIns="0" rIns="0" tIns="0" bIns="0" anchor="t">
            <a:noAutofit/>
          </a:bodyPr>
          <a:lstStyle/>
          <a:p>
            <a:pPr algn="l" marL="216000" indent="-216000">
              <a:spcBef>
                <a:spcPts val="0"/>
              </a:spcBef>
              <a:spcAft>
                <a:spcPts val="400"/>
              </a:spcAft>
              <a:buClr>
                <a:srgbClr val="13294B"/>
              </a:buClr>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spcBef>
                <a:spcPts val="0"/>
              </a:spcBef>
              <a:spcAft>
                <a:spcPts val="400"/>
              </a:spcAft>
              <a:buClr>
                <a:srgbClr val="13294B"/>
              </a:buClr>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spcBef>
                <a:spcPts val="0"/>
              </a:spcBef>
              <a:spcAft>
                <a:spcPts val="400"/>
              </a:spcAft>
              <a:buClr>
                <a:srgbClr val="13294B"/>
              </a:buClr>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34000" indent="-234000">
              <a:spcBef>
                <a:spcPts val="0"/>
              </a:spcBef>
              <a:spcAft>
                <a:spcPts val="0"/>
              </a:spcAft>
              <a:buClr>
                <a:srgbClr val="13294B"/>
              </a:buClr>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71" name="Rounded Rectangle 70"/>
          <p:cNvSpPr/>
          <p:nvPr/>
        </p:nvSpPr>
        <p:spPr>
          <a:xfrm>
            <a:off x="900000" y="9792000"/>
            <a:ext cx="4410000" cy="1944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2" name="TextBox 71"/>
          <p:cNvSpPr txBox="1"/>
          <p:nvPr/>
        </p:nvSpPr>
        <p:spPr>
          <a:xfrm>
            <a:off x="1008000" y="9864000"/>
            <a:ext cx="4194000" cy="324000"/>
          </a:xfrm>
          <a:prstGeom prst="rect">
            <a:avLst/>
          </a:prstGeom>
          <a:noFill/>
        </p:spPr>
        <p:txBody>
          <a:bodyPr wrap="square" lIns="0" rIns="0" tIns="0" bIns="0" anchor="t">
            <a:noAutofit/>
          </a:bodyPr>
          <a:lstStyle/>
          <a:p>
            <a:pPr algn="ctr" marL="0" indent="0">
              <a:spcBef>
                <a:spcPts val="0"/>
              </a:spcBef>
              <a:spcAft>
                <a:spcPts val="0"/>
              </a:spcAft>
              <a:buNone/>
            </a:pPr>
            <a:r>
              <a:rPr sz="2000" b="1" i="0" lang="ko-KR">
                <a:solidFill>
                  <a:srgbClr val="5B6475"/>
                </a:solidFill>
                <a:latin typeface="맑은 고딕"/>
                <a:ea typeface="맑은 고딕"/>
                <a:cs typeface="맑은 고딕"/>
              </a:rPr>
              <a:t>기존: 솔더 범프 접합</a:t>
            </a:r>
          </a:p>
        </p:txBody>
      </p:sp>
      <p:sp>
        <p:nvSpPr>
          <p:cNvPr id="73" name="Rectangle 72"/>
          <p:cNvSpPr/>
          <p:nvPr/>
        </p:nvSpPr>
        <p:spPr>
          <a:xfrm>
            <a:off x="1224000" y="10188000"/>
            <a:ext cx="3762000" cy="324000"/>
          </a:xfrm>
          <a:prstGeom prst="rect">
            <a:avLst/>
          </a:prstGeom>
          <a:solidFill>
            <a:srgbClr val="8A97AD"/>
          </a:solidFill>
          <a:ln>
            <a:noFill/>
          </a:ln>
        </p:spPr>
        <p:txBody>
          <a:bodyPr rtlCol="0" anchor="ctr" lIns="54000" rIns="54000" tIns="54000" bIns="54000"/>
          <a:lstStyle/>
          <a:p>
            <a:pPr algn="ctr"/>
          </a:p>
        </p:txBody>
      </p:sp>
      <p:sp>
        <p:nvSpPr>
          <p:cNvPr id="74" name="Oval 73"/>
          <p:cNvSpPr/>
          <p:nvPr/>
        </p:nvSpPr>
        <p:spPr>
          <a:xfrm>
            <a:off x="142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5" name="Oval 74"/>
          <p:cNvSpPr/>
          <p:nvPr/>
        </p:nvSpPr>
        <p:spPr>
          <a:xfrm>
            <a:off x="2187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6" name="Oval 75"/>
          <p:cNvSpPr/>
          <p:nvPr/>
        </p:nvSpPr>
        <p:spPr>
          <a:xfrm>
            <a:off x="295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7" name="Oval 76"/>
          <p:cNvSpPr/>
          <p:nvPr/>
        </p:nvSpPr>
        <p:spPr>
          <a:xfrm>
            <a:off x="3717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4482000" y="10504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Rectangle 78"/>
          <p:cNvSpPr/>
          <p:nvPr/>
        </p:nvSpPr>
        <p:spPr>
          <a:xfrm>
            <a:off x="1224000" y="10800000"/>
            <a:ext cx="3762000" cy="324000"/>
          </a:xfrm>
          <a:prstGeom prst="rect">
            <a:avLst/>
          </a:prstGeom>
          <a:solidFill>
            <a:srgbClr val="5E6C85"/>
          </a:solidFill>
          <a:ln>
            <a:noFill/>
          </a:ln>
        </p:spPr>
        <p:txBody>
          <a:bodyPr rtlCol="0" anchor="ctr" lIns="54000" rIns="54000" tIns="54000" bIns="54000"/>
          <a:lstStyle/>
          <a:p>
            <a:pPr algn="ctr"/>
          </a:p>
        </p:txBody>
      </p:sp>
      <p:sp>
        <p:nvSpPr>
          <p:cNvPr id="80" name="TextBox 79"/>
          <p:cNvSpPr txBox="1"/>
          <p:nvPr/>
        </p:nvSpPr>
        <p:spPr>
          <a:xfrm>
            <a:off x="1008000" y="11214000"/>
            <a:ext cx="4194000" cy="468000"/>
          </a:xfrm>
          <a:prstGeom prst="rect">
            <a:avLst/>
          </a:prstGeom>
          <a:noFill/>
        </p:spPr>
        <p:txBody>
          <a:bodyPr wrap="square" lIns="0" rIns="0" tIns="0" bIns="0" anchor="t">
            <a:noAutofit/>
          </a:bodyPr>
          <a:lstStyle/>
          <a:p>
            <a:pPr algn="ctr" marL="0" indent="0">
              <a:spcBef>
                <a:spcPts val="0"/>
              </a:spcBef>
              <a:spcAft>
                <a:spcPts val="0"/>
              </a:spcAft>
              <a:buNone/>
            </a:pPr>
            <a:r>
              <a:rPr sz="1600" b="1" i="0" lang="ko-KR">
                <a:solidFill>
                  <a:srgbClr val="1E2532"/>
                </a:solidFill>
                <a:latin typeface="맑은 고딕"/>
                <a:ea typeface="맑은 고딕"/>
                <a:cs typeface="맑은 고딕"/>
              </a:rPr>
              <a:t>다이 사이를 솔더 범프로 연결</a:t>
            </a:r>
          </a:p>
          <a:p>
            <a:pPr algn="ctr" marL="0" indent="0">
              <a:spcBef>
                <a:spcPts val="0"/>
              </a:spcBef>
              <a:spcAft>
                <a:spcPts val="0"/>
              </a:spcAft>
              <a:buNone/>
            </a:pPr>
            <a:r>
              <a:rPr sz="1600" b="0" i="0" lang="ko-KR">
                <a:solidFill>
                  <a:srgbClr val="5B6475"/>
                </a:solidFill>
                <a:latin typeface="맑은 고딕"/>
                <a:ea typeface="맑은 고딕"/>
                <a:cs typeface="맑은 고딕"/>
              </a:rPr>
              <a:t>10 µm 이하 간격은 구현하기 어려움</a:t>
            </a:r>
          </a:p>
        </p:txBody>
      </p:sp>
      <p:sp>
        <p:nvSpPr>
          <p:cNvPr id="81" name="Rounded Rectangle 80"/>
          <p:cNvSpPr/>
          <p:nvPr/>
        </p:nvSpPr>
        <p:spPr>
          <a:xfrm>
            <a:off x="5742000" y="9792000"/>
            <a:ext cx="4410000" cy="1944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2" name="TextBox 81"/>
          <p:cNvSpPr txBox="1"/>
          <p:nvPr/>
        </p:nvSpPr>
        <p:spPr>
          <a:xfrm>
            <a:off x="5850000" y="9864000"/>
            <a:ext cx="4194000" cy="324000"/>
          </a:xfrm>
          <a:prstGeom prst="rect">
            <a:avLst/>
          </a:prstGeom>
          <a:noFill/>
        </p:spPr>
        <p:txBody>
          <a:bodyPr wrap="square" lIns="0" rIns="0" tIns="0" bIns="0" anchor="t">
            <a:noAutofit/>
          </a:bodyPr>
          <a:lstStyle/>
          <a:p>
            <a:pPr algn="ctr" marL="0" indent="0">
              <a:spcBef>
                <a:spcPts val="0"/>
              </a:spcBef>
              <a:spcAft>
                <a:spcPts val="0"/>
              </a:spcAft>
              <a:buNone/>
            </a:pPr>
            <a:r>
              <a:rPr sz="2000" b="1" i="0" lang="ko-KR">
                <a:solidFill>
                  <a:srgbClr val="7C3AED"/>
                </a:solidFill>
                <a:latin typeface="맑은 고딕"/>
                <a:ea typeface="맑은 고딕"/>
                <a:cs typeface="맑은 고딕"/>
              </a:rPr>
              <a:t>하이브리드 본딩</a:t>
            </a:r>
          </a:p>
        </p:txBody>
      </p:sp>
      <p:sp>
        <p:nvSpPr>
          <p:cNvPr id="83" name="Rectangle 82"/>
          <p:cNvSpPr/>
          <p:nvPr/>
        </p:nvSpPr>
        <p:spPr>
          <a:xfrm>
            <a:off x="6066000" y="10188000"/>
            <a:ext cx="3762000" cy="324000"/>
          </a:xfrm>
          <a:prstGeom prst="rect">
            <a:avLst/>
          </a:prstGeom>
          <a:solidFill>
            <a:srgbClr val="8A97AD"/>
          </a:solidFill>
          <a:ln>
            <a:noFill/>
          </a:ln>
        </p:spPr>
        <p:txBody>
          <a:bodyPr rtlCol="0" anchor="ctr" lIns="54000" rIns="54000" tIns="54000" bIns="54000"/>
          <a:lstStyle/>
          <a:p>
            <a:pPr algn="ctr"/>
          </a:p>
        </p:txBody>
      </p:sp>
      <p:sp>
        <p:nvSpPr>
          <p:cNvPr id="84" name="Rectangle 83"/>
          <p:cNvSpPr/>
          <p:nvPr/>
        </p:nvSpPr>
        <p:spPr>
          <a:xfrm>
            <a:off x="6066000" y="10375200"/>
            <a:ext cx="3762000" cy="136800"/>
          </a:xfrm>
          <a:prstGeom prst="rect">
            <a:avLst/>
          </a:prstGeom>
          <a:solidFill>
            <a:srgbClr val="BFE3E6"/>
          </a:solidFill>
          <a:ln>
            <a:noFill/>
          </a:ln>
        </p:spPr>
        <p:txBody>
          <a:bodyPr rtlCol="0" anchor="ctr" lIns="54000" rIns="54000" tIns="54000" bIns="54000"/>
          <a:lstStyle/>
          <a:p>
            <a:pPr algn="ctr"/>
          </a:p>
        </p:txBody>
      </p:sp>
      <p:sp>
        <p:nvSpPr>
          <p:cNvPr id="85" name="Rectangle 84"/>
          <p:cNvSpPr/>
          <p:nvPr/>
        </p:nvSpPr>
        <p:spPr>
          <a:xfrm>
            <a:off x="6066000" y="10548000"/>
            <a:ext cx="3762000" cy="136800"/>
          </a:xfrm>
          <a:prstGeom prst="rect">
            <a:avLst/>
          </a:prstGeom>
          <a:solidFill>
            <a:srgbClr val="BFE3E6"/>
          </a:solidFill>
          <a:ln>
            <a:noFill/>
          </a:ln>
        </p:spPr>
        <p:txBody>
          <a:bodyPr rtlCol="0" anchor="ctr" lIns="54000" rIns="54000" tIns="54000" bIns="54000"/>
          <a:lstStyle/>
          <a:p>
            <a:pPr algn="ctr"/>
          </a:p>
        </p:txBody>
      </p:sp>
      <p:sp>
        <p:nvSpPr>
          <p:cNvPr id="86" name="Rectangle 85"/>
          <p:cNvSpPr/>
          <p:nvPr/>
        </p:nvSpPr>
        <p:spPr>
          <a:xfrm>
            <a:off x="6228000" y="10375200"/>
            <a:ext cx="252000" cy="136800"/>
          </a:xfrm>
          <a:prstGeom prst="rect">
            <a:avLst/>
          </a:prstGeom>
          <a:solidFill>
            <a:srgbClr val="EA7A28"/>
          </a:solidFill>
          <a:ln>
            <a:noFill/>
          </a:ln>
        </p:spPr>
        <p:txBody>
          <a:bodyPr rtlCol="0" anchor="ctr" lIns="54000" rIns="54000" tIns="54000" bIns="54000"/>
          <a:lstStyle/>
          <a:p>
            <a:pPr algn="ctr"/>
          </a:p>
        </p:txBody>
      </p:sp>
      <p:sp>
        <p:nvSpPr>
          <p:cNvPr id="87" name="Rectangle 86"/>
          <p:cNvSpPr/>
          <p:nvPr/>
        </p:nvSpPr>
        <p:spPr>
          <a:xfrm>
            <a:off x="6228000" y="10548000"/>
            <a:ext cx="252000" cy="136800"/>
          </a:xfrm>
          <a:prstGeom prst="rect">
            <a:avLst/>
          </a:prstGeom>
          <a:solidFill>
            <a:srgbClr val="EA7A28"/>
          </a:solidFill>
          <a:ln>
            <a:noFill/>
          </a:ln>
        </p:spPr>
        <p:txBody>
          <a:bodyPr rtlCol="0" anchor="ctr" lIns="54000" rIns="54000" tIns="54000" bIns="54000"/>
          <a:lstStyle/>
          <a:p>
            <a:pPr algn="ctr"/>
          </a:p>
        </p:txBody>
      </p:sp>
      <p:sp>
        <p:nvSpPr>
          <p:cNvPr id="88" name="Rectangle 87"/>
          <p:cNvSpPr/>
          <p:nvPr/>
        </p:nvSpPr>
        <p:spPr>
          <a:xfrm>
            <a:off x="6865200" y="10375200"/>
            <a:ext cx="252000" cy="136800"/>
          </a:xfrm>
          <a:prstGeom prst="rect">
            <a:avLst/>
          </a:prstGeom>
          <a:solidFill>
            <a:srgbClr val="EA7A28"/>
          </a:solidFill>
          <a:ln>
            <a:noFill/>
          </a:ln>
        </p:spPr>
        <p:txBody>
          <a:bodyPr rtlCol="0" anchor="ctr" lIns="54000" rIns="54000" tIns="54000" bIns="54000"/>
          <a:lstStyle/>
          <a:p>
            <a:pPr algn="ctr"/>
          </a:p>
        </p:txBody>
      </p:sp>
      <p:sp>
        <p:nvSpPr>
          <p:cNvPr id="89" name="Rectangle 88"/>
          <p:cNvSpPr/>
          <p:nvPr/>
        </p:nvSpPr>
        <p:spPr>
          <a:xfrm>
            <a:off x="6865200" y="10548000"/>
            <a:ext cx="252000" cy="136800"/>
          </a:xfrm>
          <a:prstGeom prst="rect">
            <a:avLst/>
          </a:prstGeom>
          <a:solidFill>
            <a:srgbClr val="EA7A28"/>
          </a:solidFill>
          <a:ln>
            <a:noFill/>
          </a:ln>
        </p:spPr>
        <p:txBody>
          <a:bodyPr rtlCol="0" anchor="ctr" lIns="54000" rIns="54000" tIns="54000" bIns="54000"/>
          <a:lstStyle/>
          <a:p>
            <a:pPr algn="ctr"/>
          </a:p>
        </p:txBody>
      </p:sp>
      <p:sp>
        <p:nvSpPr>
          <p:cNvPr id="90" name="Rectangle 89"/>
          <p:cNvSpPr/>
          <p:nvPr/>
        </p:nvSpPr>
        <p:spPr>
          <a:xfrm>
            <a:off x="7502400" y="10375200"/>
            <a:ext cx="252000" cy="136800"/>
          </a:xfrm>
          <a:prstGeom prst="rect">
            <a:avLst/>
          </a:prstGeom>
          <a:solidFill>
            <a:srgbClr val="EA7A28"/>
          </a:solidFill>
          <a:ln>
            <a:noFill/>
          </a:ln>
        </p:spPr>
        <p:txBody>
          <a:bodyPr rtlCol="0" anchor="ctr" lIns="54000" rIns="54000" tIns="54000" bIns="54000"/>
          <a:lstStyle/>
          <a:p>
            <a:pPr algn="ctr"/>
          </a:p>
        </p:txBody>
      </p:sp>
      <p:sp>
        <p:nvSpPr>
          <p:cNvPr id="91" name="Rectangle 90"/>
          <p:cNvSpPr/>
          <p:nvPr/>
        </p:nvSpPr>
        <p:spPr>
          <a:xfrm>
            <a:off x="7502400" y="10548000"/>
            <a:ext cx="252000" cy="136800"/>
          </a:xfrm>
          <a:prstGeom prst="rect">
            <a:avLst/>
          </a:prstGeom>
          <a:solidFill>
            <a:srgbClr val="EA7A28"/>
          </a:solidFill>
          <a:ln>
            <a:noFill/>
          </a:ln>
        </p:spPr>
        <p:txBody>
          <a:bodyPr rtlCol="0" anchor="ctr" lIns="54000" rIns="54000" tIns="54000" bIns="54000"/>
          <a:lstStyle/>
          <a:p>
            <a:pPr algn="ctr"/>
          </a:p>
        </p:txBody>
      </p:sp>
      <p:sp>
        <p:nvSpPr>
          <p:cNvPr id="92" name="Rectangle 91"/>
          <p:cNvSpPr/>
          <p:nvPr/>
        </p:nvSpPr>
        <p:spPr>
          <a:xfrm>
            <a:off x="8139600" y="10375200"/>
            <a:ext cx="252000" cy="136800"/>
          </a:xfrm>
          <a:prstGeom prst="rect">
            <a:avLst/>
          </a:prstGeom>
          <a:solidFill>
            <a:srgbClr val="EA7A28"/>
          </a:solidFill>
          <a:ln>
            <a:noFill/>
          </a:ln>
        </p:spPr>
        <p:txBody>
          <a:bodyPr rtlCol="0" anchor="ctr" lIns="54000" rIns="54000" tIns="54000" bIns="54000"/>
          <a:lstStyle/>
          <a:p>
            <a:pPr algn="ctr"/>
          </a:p>
        </p:txBody>
      </p:sp>
      <p:sp>
        <p:nvSpPr>
          <p:cNvPr id="93" name="Rectangle 92"/>
          <p:cNvSpPr/>
          <p:nvPr/>
        </p:nvSpPr>
        <p:spPr>
          <a:xfrm>
            <a:off x="8139600" y="10548000"/>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8776800" y="10375200"/>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8776800" y="10548000"/>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9414000" y="10375200"/>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9414000" y="10548000"/>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6066000" y="10512000"/>
            <a:ext cx="3762000" cy="36000"/>
          </a:xfrm>
          <a:prstGeom prst="rect">
            <a:avLst/>
          </a:prstGeom>
          <a:solidFill>
            <a:srgbClr val="7C3AED"/>
          </a:solidFill>
          <a:ln>
            <a:noFill/>
          </a:ln>
        </p:spPr>
        <p:txBody>
          <a:bodyPr rtlCol="0" anchor="ctr" lIns="54000" rIns="54000" tIns="54000" bIns="54000"/>
          <a:lstStyle/>
          <a:p>
            <a:pPr algn="ctr"/>
          </a:p>
        </p:txBody>
      </p:sp>
      <p:sp>
        <p:nvSpPr>
          <p:cNvPr id="99" name="Rectangle 98"/>
          <p:cNvSpPr/>
          <p:nvPr/>
        </p:nvSpPr>
        <p:spPr>
          <a:xfrm>
            <a:off x="6066000" y="10684800"/>
            <a:ext cx="3762000" cy="324000"/>
          </a:xfrm>
          <a:prstGeom prst="rect">
            <a:avLst/>
          </a:prstGeom>
          <a:solidFill>
            <a:srgbClr val="5E6C85"/>
          </a:solidFill>
          <a:ln>
            <a:noFill/>
          </a:ln>
        </p:spPr>
        <p:txBody>
          <a:bodyPr rtlCol="0" anchor="ctr" lIns="54000" rIns="54000" tIns="54000" bIns="54000"/>
          <a:lstStyle/>
          <a:p>
            <a:pPr algn="ctr"/>
          </a:p>
        </p:txBody>
      </p:sp>
      <p:sp>
        <p:nvSpPr>
          <p:cNvPr id="100" name="TextBox 99"/>
          <p:cNvSpPr txBox="1"/>
          <p:nvPr/>
        </p:nvSpPr>
        <p:spPr>
          <a:xfrm>
            <a:off x="5850000" y="11214000"/>
            <a:ext cx="4194000" cy="468000"/>
          </a:xfrm>
          <a:prstGeom prst="rect">
            <a:avLst/>
          </a:prstGeom>
          <a:noFill/>
        </p:spPr>
        <p:txBody>
          <a:bodyPr wrap="square" lIns="0" rIns="0" tIns="0" bIns="0" anchor="t">
            <a:noAutofit/>
          </a:bodyPr>
          <a:lstStyle/>
          <a:p>
            <a:pPr algn="ctr" marL="0" indent="0">
              <a:spcBef>
                <a:spcPts val="0"/>
              </a:spcBef>
              <a:spcAft>
                <a:spcPts val="0"/>
              </a:spcAft>
              <a:buNone/>
            </a:pPr>
            <a:r>
              <a:rPr sz="1600" b="1" i="0" lang="ko-KR">
                <a:solidFill>
                  <a:srgbClr val="1E2532"/>
                </a:solidFill>
                <a:latin typeface="맑은 고딕"/>
                <a:ea typeface="맑은 고딕"/>
                <a:cs typeface="맑은 고딕"/>
              </a:rPr>
              <a:t>구리–구리 + 산화막–산화막 직접 접합</a:t>
            </a:r>
          </a:p>
          <a:p>
            <a:pPr algn="ctr" marL="0" indent="0">
              <a:spcBef>
                <a:spcPts val="0"/>
              </a:spcBef>
              <a:spcAft>
                <a:spcPts val="0"/>
              </a:spcAft>
              <a:buNone/>
            </a:pPr>
            <a:r>
              <a:rPr sz="1600" b="0" i="0" lang="ko-KR">
                <a:solidFill>
                  <a:srgbClr val="5B6475"/>
                </a:solidFill>
                <a:latin typeface="맑은 고딕"/>
                <a:ea typeface="맑은 고딕"/>
                <a:cs typeface="맑은 고딕"/>
              </a:rPr>
              <a:t>범프 없이 10 µm 이하 간격</a:t>
            </a:r>
          </a:p>
        </p:txBody>
      </p:sp>
      <p:cxnSp>
        <p:nvCxnSpPr>
          <p:cNvPr id="101" name="Connector 100"/>
          <p:cNvCxnSpPr/>
          <p:nvPr/>
        </p:nvCxnSpPr>
        <p:spPr>
          <a:xfrm>
            <a:off x="5364000" y="10764000"/>
            <a:ext cx="324000" cy="0"/>
          </a:xfrm>
          <a:prstGeom prst="line">
            <a:avLst/>
          </a:prstGeom>
          <a:ln w="50800">
            <a:solidFill>
              <a:srgbClr val="7C3AED"/>
            </a:solidFill>
            <a:tailEnd type="triangle" w="med" len="med"/>
          </a:ln>
        </p:spPr>
      </p:cxnSp>
      <p:sp>
        <p:nvSpPr>
          <p:cNvPr id="102" name="Rounded Rectangle 101"/>
          <p:cNvSpPr/>
          <p:nvPr/>
        </p:nvSpPr>
        <p:spPr>
          <a:xfrm>
            <a:off x="10908000" y="5832000"/>
            <a:ext cx="9900000" cy="612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03" name="Oval 102"/>
          <p:cNvSpPr/>
          <p:nvPr/>
        </p:nvSpPr>
        <p:spPr>
          <a:xfrm>
            <a:off x="11160000" y="6048000"/>
            <a:ext cx="828000" cy="828000"/>
          </a:xfrm>
          <a:prstGeom prst="ellipse">
            <a:avLst/>
          </a:prstGeom>
          <a:solidFill>
            <a:srgbClr val="13294B"/>
          </a:solidFill>
          <a:ln>
            <a:noFill/>
          </a:ln>
        </p:spPr>
        <p:txBody>
          <a:bodyPr rtlCol="0" anchor="ctr" lIns="0" rIns="0" tIns="36000" bIns="36000" wrap="square"/>
          <a:lstStyle/>
          <a:p>
            <a:pPr algn="ctr" marL="0" indent="0">
              <a:spcBef>
                <a:spcPts val="0"/>
              </a:spcBef>
              <a:spcAft>
                <a:spcPts val="0"/>
              </a:spcAft>
              <a:buNone/>
            </a:pPr>
            <a:r>
              <a:rPr sz="3000" b="1" i="0" lang="ko-KR">
                <a:solidFill>
                  <a:srgbClr val="FFFFFF"/>
                </a:solidFill>
                <a:latin typeface="맑은 고딕"/>
                <a:ea typeface="맑은 고딕"/>
                <a:cs typeface="맑은 고딕"/>
              </a:rPr>
              <a:t>02</a:t>
            </a:r>
          </a:p>
        </p:txBody>
      </p:sp>
      <p:sp>
        <p:nvSpPr>
          <p:cNvPr id="104" name="TextBox 103"/>
          <p:cNvSpPr txBox="1"/>
          <p:nvPr/>
        </p:nvSpPr>
        <p:spPr>
          <a:xfrm>
            <a:off x="12132000" y="6030000"/>
            <a:ext cx="8388000" cy="864000"/>
          </a:xfrm>
          <a:prstGeom prst="rect">
            <a:avLst/>
          </a:prstGeom>
          <a:noFill/>
        </p:spPr>
        <p:txBody>
          <a:bodyPr wrap="square" lIns="0" rIns="0" tIns="0" bIns="0" anchor="ctr">
            <a:noAutofit/>
          </a:bodyPr>
          <a:lstStyle/>
          <a:p>
            <a:pPr algn="l" marL="0" indent="0">
              <a:spcBef>
                <a:spcPts val="0"/>
              </a:spcBef>
              <a:spcAft>
                <a:spcPts val="0"/>
              </a:spcAft>
              <a:buNone/>
            </a:pPr>
            <a:r>
              <a:rPr sz="4000" b="1" i="0" lang="ko-KR">
                <a:solidFill>
                  <a:srgbClr val="13294B"/>
                </a:solidFill>
                <a:latin typeface="맑은 고딕"/>
                <a:ea typeface="맑은 고딕"/>
                <a:cs typeface="맑은 고딕"/>
              </a:rPr>
              <a:t>연구 질문</a:t>
            </a:r>
          </a:p>
        </p:txBody>
      </p:sp>
      <p:sp>
        <p:nvSpPr>
          <p:cNvPr id="105" name="TextBox 104"/>
          <p:cNvSpPr txBox="1"/>
          <p:nvPr/>
        </p:nvSpPr>
        <p:spPr>
          <a:xfrm>
            <a:off x="11232000" y="6948000"/>
            <a:ext cx="9252000" cy="1224000"/>
          </a:xfrm>
          <a:prstGeom prst="rect">
            <a:avLst/>
          </a:prstGeom>
          <a:noFill/>
        </p:spPr>
        <p:txBody>
          <a:bodyPr wrap="square" lIns="0" rIns="0" tIns="0" bIns="0" anchor="t">
            <a:noAutofit/>
          </a:bodyPr>
          <a:lstStyle/>
          <a:p>
            <a:pPr algn="l" marL="0" indent="0">
              <a:spcBef>
                <a:spcPts val="0"/>
              </a:spcBef>
              <a:spcAft>
                <a:spcPts val="0"/>
              </a:spcAft>
              <a:buNone/>
            </a:pPr>
            <a:r>
              <a:rPr sz="2000" b="0" i="0" lang="ko-KR">
                <a:solidFill>
                  <a:srgbClr val="1E2532"/>
                </a:solidFill>
                <a:latin typeface="맑은 고딕"/>
                <a:ea typeface="맑은 고딕"/>
                <a:cs typeface="맑은 고딕"/>
              </a:rPr>
              <a:t>기존 기술융합 연구는 주로 </a:t>
            </a:r>
            <a:r>
              <a:rPr sz="2000" b="1" i="0" lang="ko-KR">
                <a:solidFill>
                  <a:srgbClr val="1E2532"/>
                </a:solidFill>
                <a:latin typeface="맑은 고딕"/>
                <a:ea typeface="맑은 고딕"/>
                <a:cs typeface="맑은 고딕"/>
              </a:rPr>
              <a:t>서로 다른 산업·기술 분야 사이</a:t>
            </a:r>
            <a:r>
              <a:rPr sz="2000" b="0" i="0" lang="ko-KR">
                <a:solidFill>
                  <a:srgbClr val="1E2532"/>
                </a:solidFill>
                <a:latin typeface="맑은 고딕"/>
                <a:ea typeface="맑은 고딕"/>
                <a:cs typeface="맑은 고딕"/>
              </a:rPr>
              <a:t>의 융합(ICT–가전, 식품–제약, 나노–바이오)을 다루었다. 반면 </a:t>
            </a:r>
            <a:r>
              <a:rPr sz="2000" b="1" i="0" lang="ko-KR">
                <a:solidFill>
                  <a:srgbClr val="7C3AED"/>
                </a:solidFill>
                <a:latin typeface="맑은 고딕"/>
                <a:ea typeface="맑은 고딕"/>
                <a:cs typeface="맑은 고딕"/>
              </a:rPr>
              <a:t>한 산업 안에서 공정 단계를 가로지르는 융합</a:t>
            </a:r>
            <a:r>
              <a:rPr sz="2000" b="0" i="0" lang="ko-KR">
                <a:solidFill>
                  <a:srgbClr val="1E2532"/>
                </a:solidFill>
                <a:latin typeface="맑은 고딕"/>
                <a:ea typeface="맑은 고딕"/>
                <a:cs typeface="맑은 고딕"/>
              </a:rPr>
              <a:t>과 </a:t>
            </a:r>
            <a:r>
              <a:rPr sz="2000" b="1" i="0" lang="ko-KR">
                <a:solidFill>
                  <a:srgbClr val="7C3AED"/>
                </a:solidFill>
                <a:latin typeface="맑은 고딕"/>
                <a:ea typeface="맑은 고딕"/>
                <a:cs typeface="맑은 고딕"/>
              </a:rPr>
              <a:t>융합 내용의 시간적 변화</a:t>
            </a:r>
            <a:r>
              <a:rPr sz="2000" b="0" i="0" lang="ko-KR">
                <a:solidFill>
                  <a:srgbClr val="1E2532"/>
                </a:solidFill>
                <a:latin typeface="맑은 고딕"/>
                <a:ea typeface="맑은 고딕"/>
                <a:cs typeface="맑은 고딕"/>
              </a:rPr>
              <a:t>는 실증 연구가 부족하다.</a:t>
            </a:r>
          </a:p>
        </p:txBody>
      </p:sp>
      <p:sp>
        <p:nvSpPr>
          <p:cNvPr id="106" name="Rounded Rectangle 105"/>
          <p:cNvSpPr/>
          <p:nvPr/>
        </p:nvSpPr>
        <p:spPr>
          <a:xfrm>
            <a:off x="11232000" y="8172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07" name="Rounded Rectangle 106"/>
          <p:cNvSpPr/>
          <p:nvPr/>
        </p:nvSpPr>
        <p:spPr>
          <a:xfrm>
            <a:off x="11358000" y="8316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800" b="1" i="0" lang="ko-KR">
                <a:solidFill>
                  <a:srgbClr val="FFC000"/>
                </a:solidFill>
                <a:latin typeface="맑은 고딕"/>
                <a:ea typeface="맑은 고딕"/>
                <a:cs typeface="맑은 고딕"/>
              </a:rPr>
              <a:t>RQ1</a:t>
            </a:r>
          </a:p>
        </p:txBody>
      </p:sp>
      <p:sp>
        <p:nvSpPr>
          <p:cNvPr id="108" name="TextBox 107"/>
          <p:cNvSpPr txBox="1"/>
          <p:nvPr/>
        </p:nvSpPr>
        <p:spPr>
          <a:xfrm>
            <a:off x="12744000" y="8226000"/>
            <a:ext cx="7596000" cy="1008000"/>
          </a:xfrm>
          <a:prstGeom prst="rect">
            <a:avLst/>
          </a:prstGeom>
          <a:noFill/>
        </p:spPr>
        <p:txBody>
          <a:bodyPr wrap="square" lIns="0" rIns="0" tIns="0" bIns="0" anchor="ctr">
            <a:noAutofit/>
          </a:bodyPr>
          <a:lstStyle/>
          <a:p>
            <a:pPr algn="l" marL="0" indent="0">
              <a:spcBef>
                <a:spcPts val="0"/>
              </a:spcBef>
              <a:spcAft>
                <a:spcPts val="100"/>
              </a:spcAft>
              <a:buNone/>
            </a:pPr>
            <a:r>
              <a:rPr sz="2200" b="1" i="0" lang="ko-KR">
                <a:solidFill>
                  <a:srgbClr val="13294B"/>
                </a:solidFill>
                <a:latin typeface="맑은 고딕"/>
                <a:ea typeface="맑은 고딕"/>
                <a:cs typeface="맑은 고딕"/>
              </a:rPr>
              <a:t>수준과 유형</a:t>
            </a:r>
          </a:p>
          <a:p>
            <a:pPr algn="l" marL="0" indent="0">
              <a:spcBef>
                <a:spcPts val="0"/>
              </a:spcBef>
              <a:spcAft>
                <a:spcPts val="0"/>
              </a:spcAft>
              <a:buNone/>
            </a:pPr>
            <a:r>
              <a:rPr sz="1900" b="0" i="0" lang="ko-KR">
                <a:solidFill>
                  <a:srgbClr val="1E2532"/>
                </a:solidFill>
                <a:latin typeface="맑은 고딕"/>
                <a:ea typeface="맑은 고딕"/>
                <a:cs typeface="맑은 고딕"/>
              </a:rPr>
              <a:t>제조공정과 접합 기술 간의 융합은 어느 정도로, 어떠한 형태로 나타나는가?</a:t>
            </a:r>
          </a:p>
        </p:txBody>
      </p:sp>
      <p:sp>
        <p:nvSpPr>
          <p:cNvPr id="109" name="Rounded Rectangle 108"/>
          <p:cNvSpPr/>
          <p:nvPr/>
        </p:nvSpPr>
        <p:spPr>
          <a:xfrm>
            <a:off x="11232000" y="9396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0" name="Rounded Rectangle 109"/>
          <p:cNvSpPr/>
          <p:nvPr/>
        </p:nvSpPr>
        <p:spPr>
          <a:xfrm>
            <a:off x="11358000" y="9540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800" b="1" i="0" lang="ko-KR">
                <a:solidFill>
                  <a:srgbClr val="FFC000"/>
                </a:solidFill>
                <a:latin typeface="맑은 고딕"/>
                <a:ea typeface="맑은 고딕"/>
                <a:cs typeface="맑은 고딕"/>
              </a:rPr>
              <a:t>RQ2</a:t>
            </a:r>
          </a:p>
        </p:txBody>
      </p:sp>
      <p:sp>
        <p:nvSpPr>
          <p:cNvPr id="111" name="TextBox 110"/>
          <p:cNvSpPr txBox="1"/>
          <p:nvPr/>
        </p:nvSpPr>
        <p:spPr>
          <a:xfrm>
            <a:off x="12744000" y="9450000"/>
            <a:ext cx="7596000" cy="1008000"/>
          </a:xfrm>
          <a:prstGeom prst="rect">
            <a:avLst/>
          </a:prstGeom>
          <a:noFill/>
        </p:spPr>
        <p:txBody>
          <a:bodyPr wrap="square" lIns="0" rIns="0" tIns="0" bIns="0" anchor="ctr">
            <a:noAutofit/>
          </a:bodyPr>
          <a:lstStyle/>
          <a:p>
            <a:pPr algn="l" marL="0" indent="0">
              <a:spcBef>
                <a:spcPts val="0"/>
              </a:spcBef>
              <a:spcAft>
                <a:spcPts val="100"/>
              </a:spcAft>
              <a:buNone/>
            </a:pPr>
            <a:r>
              <a:rPr sz="2200" b="1" i="0" lang="ko-KR">
                <a:solidFill>
                  <a:srgbClr val="13294B"/>
                </a:solidFill>
                <a:latin typeface="맑은 고딕"/>
                <a:ea typeface="맑은 고딕"/>
                <a:cs typeface="맑은 고딕"/>
              </a:rPr>
              <a:t>시간적 변화</a:t>
            </a:r>
          </a:p>
          <a:p>
            <a:pPr algn="l" marL="0" indent="0">
              <a:spcBef>
                <a:spcPts val="0"/>
              </a:spcBef>
              <a:spcAft>
                <a:spcPts val="0"/>
              </a:spcAft>
              <a:buNone/>
            </a:pPr>
            <a:r>
              <a:rPr sz="1900" b="0" i="0" lang="ko-KR">
                <a:solidFill>
                  <a:srgbClr val="1E2532"/>
                </a:solidFill>
                <a:latin typeface="맑은 고딕"/>
                <a:ea typeface="맑은 고딕"/>
                <a:cs typeface="맑은 고딕"/>
              </a:rPr>
              <a:t>융합의 수준과 형태는 시간에 따라 어떻게 변화하는가?</a:t>
            </a:r>
          </a:p>
        </p:txBody>
      </p:sp>
      <p:sp>
        <p:nvSpPr>
          <p:cNvPr id="112" name="Rounded Rectangle 111"/>
          <p:cNvSpPr/>
          <p:nvPr/>
        </p:nvSpPr>
        <p:spPr>
          <a:xfrm>
            <a:off x="11232000" y="10620000"/>
            <a:ext cx="9252000" cy="1116000"/>
          </a:xfrm>
          <a:prstGeom prst="roundRect">
            <a:avLst>
              <a:gd name="adj" fmla="val 10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3" name="Rounded Rectangle 112"/>
          <p:cNvSpPr/>
          <p:nvPr/>
        </p:nvSpPr>
        <p:spPr>
          <a:xfrm>
            <a:off x="11358000" y="10764000"/>
            <a:ext cx="1224000" cy="828000"/>
          </a:xfrm>
          <a:prstGeom prst="roundRect">
            <a:avLst>
              <a:gd name="adj" fmla="val 18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800" b="1" i="0" lang="ko-KR">
                <a:solidFill>
                  <a:srgbClr val="FFC000"/>
                </a:solidFill>
                <a:latin typeface="맑은 고딕"/>
                <a:ea typeface="맑은 고딕"/>
                <a:cs typeface="맑은 고딕"/>
              </a:rPr>
              <a:t>RQ3</a:t>
            </a:r>
          </a:p>
        </p:txBody>
      </p:sp>
      <p:sp>
        <p:nvSpPr>
          <p:cNvPr id="114" name="TextBox 113"/>
          <p:cNvSpPr txBox="1"/>
          <p:nvPr/>
        </p:nvSpPr>
        <p:spPr>
          <a:xfrm>
            <a:off x="12744000" y="10674000"/>
            <a:ext cx="7596000" cy="1008000"/>
          </a:xfrm>
          <a:prstGeom prst="rect">
            <a:avLst/>
          </a:prstGeom>
          <a:noFill/>
        </p:spPr>
        <p:txBody>
          <a:bodyPr wrap="square" lIns="0" rIns="0" tIns="0" bIns="0" anchor="ctr">
            <a:noAutofit/>
          </a:bodyPr>
          <a:lstStyle/>
          <a:p>
            <a:pPr algn="l" marL="0" indent="0">
              <a:spcBef>
                <a:spcPts val="0"/>
              </a:spcBef>
              <a:spcAft>
                <a:spcPts val="100"/>
              </a:spcAft>
              <a:buNone/>
            </a:pPr>
            <a:r>
              <a:rPr sz="2200" b="1" i="0" lang="ko-KR">
                <a:solidFill>
                  <a:srgbClr val="13294B"/>
                </a:solidFill>
                <a:latin typeface="맑은 고딕"/>
                <a:ea typeface="맑은 고딕"/>
                <a:cs typeface="맑은 고딕"/>
              </a:rPr>
              <a:t>구조적 중심 변화</a:t>
            </a:r>
          </a:p>
          <a:p>
            <a:pPr algn="l" marL="0" indent="0">
              <a:spcBef>
                <a:spcPts val="0"/>
              </a:spcBef>
              <a:spcAft>
                <a:spcPts val="0"/>
              </a:spcAft>
              <a:buNone/>
            </a:pPr>
            <a:r>
              <a:rPr sz="1900" b="0" i="0" lang="ko-KR">
                <a:solidFill>
                  <a:srgbClr val="1E2532"/>
                </a:solidFill>
                <a:latin typeface="맑은 고딕"/>
                <a:ea typeface="맑은 고딕"/>
                <a:cs typeface="맑은 고딕"/>
              </a:rPr>
              <a:t>융합의 중심은 핵심 기술과 주변 기술 사이에서 어떻게 이동하는가?</a:t>
            </a:r>
          </a:p>
        </p:txBody>
      </p:sp>
      <p:sp>
        <p:nvSpPr>
          <p:cNvPr id="115" name="Rounded Rectangle 114"/>
          <p:cNvSpPr/>
          <p:nvPr/>
        </p:nvSpPr>
        <p:spPr>
          <a:xfrm>
            <a:off x="576000" y="12204000"/>
            <a:ext cx="20232000" cy="540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16" name="Oval 115"/>
          <p:cNvSpPr/>
          <p:nvPr/>
        </p:nvSpPr>
        <p:spPr>
          <a:xfrm>
            <a:off x="828000" y="12420000"/>
            <a:ext cx="828000" cy="828000"/>
          </a:xfrm>
          <a:prstGeom prst="ellipse">
            <a:avLst/>
          </a:prstGeom>
          <a:solidFill>
            <a:srgbClr val="13294B"/>
          </a:solidFill>
          <a:ln>
            <a:noFill/>
          </a:ln>
        </p:spPr>
        <p:txBody>
          <a:bodyPr rtlCol="0" anchor="ctr" lIns="0" rIns="0" tIns="36000" bIns="36000" wrap="square"/>
          <a:lstStyle/>
          <a:p>
            <a:pPr algn="ctr" marL="0" indent="0">
              <a:spcBef>
                <a:spcPts val="0"/>
              </a:spcBef>
              <a:spcAft>
                <a:spcPts val="0"/>
              </a:spcAft>
              <a:buNone/>
            </a:pPr>
            <a:r>
              <a:rPr sz="3000" b="1" i="0" lang="ko-KR">
                <a:solidFill>
                  <a:srgbClr val="FFFFFF"/>
                </a:solidFill>
                <a:latin typeface="맑은 고딕"/>
                <a:ea typeface="맑은 고딕"/>
                <a:cs typeface="맑은 고딕"/>
              </a:rPr>
              <a:t>03</a:t>
            </a:r>
          </a:p>
        </p:txBody>
      </p:sp>
      <p:sp>
        <p:nvSpPr>
          <p:cNvPr id="117" name="TextBox 116"/>
          <p:cNvSpPr txBox="1"/>
          <p:nvPr/>
        </p:nvSpPr>
        <p:spPr>
          <a:xfrm>
            <a:off x="1800000" y="12402000"/>
            <a:ext cx="18720000" cy="864000"/>
          </a:xfrm>
          <a:prstGeom prst="rect">
            <a:avLst/>
          </a:prstGeom>
          <a:noFill/>
        </p:spPr>
        <p:txBody>
          <a:bodyPr wrap="square" lIns="0" rIns="0" tIns="0" bIns="0" anchor="ctr">
            <a:noAutofit/>
          </a:bodyPr>
          <a:lstStyle/>
          <a:p>
            <a:pPr algn="l" marL="0" indent="0">
              <a:spcBef>
                <a:spcPts val="0"/>
              </a:spcBef>
              <a:spcAft>
                <a:spcPts val="0"/>
              </a:spcAft>
              <a:buNone/>
            </a:pPr>
            <a:r>
              <a:rPr sz="4000" b="1" i="0" lang="ko-KR">
                <a:solidFill>
                  <a:srgbClr val="13294B"/>
                </a:solidFill>
                <a:latin typeface="맑은 고딕"/>
                <a:ea typeface="맑은 고딕"/>
                <a:cs typeface="맑은 고딕"/>
              </a:rPr>
              <a:t>자료와 방법</a:t>
            </a:r>
          </a:p>
        </p:txBody>
      </p:sp>
      <p:sp>
        <p:nvSpPr>
          <p:cNvPr id="118" name="Rounded Rectangle 117"/>
          <p:cNvSpPr/>
          <p:nvPr/>
        </p:nvSpPr>
        <p:spPr>
          <a:xfrm>
            <a:off x="900000" y="133200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19" name="Oval 118"/>
          <p:cNvSpPr/>
          <p:nvPr/>
        </p:nvSpPr>
        <p:spPr>
          <a:xfrm>
            <a:off x="1026000" y="13506750"/>
            <a:ext cx="576000" cy="576000"/>
          </a:xfrm>
          <a:prstGeom prst="ellipse">
            <a:avLst/>
          </a:prstGeom>
          <a:solidFill>
            <a:srgbClr val="24406E"/>
          </a:solidFill>
          <a:ln>
            <a:noFill/>
          </a:ln>
        </p:spPr>
        <p:txBody>
          <a:bodyPr rtlCol="0" anchor="ctr" lIns="54000" rIns="54000" tIns="54000" bIns="54000"/>
          <a:lstStyle/>
          <a:p>
            <a:pPr algn="ctr"/>
          </a:p>
        </p:txBody>
      </p:sp>
      <p:pic>
        <p:nvPicPr>
          <p:cNvPr id="120" name="Picture 119" descr="FaDatabase_FFFFFF.png"/>
          <p:cNvPicPr>
            <a:picLocks noChangeAspect="1"/>
          </p:cNvPicPr>
          <p:nvPr/>
        </p:nvPicPr>
        <p:blipFill>
          <a:blip r:embed="rId4"/>
          <a:stretch>
            <a:fillRect/>
          </a:stretch>
        </p:blipFill>
        <p:spPr>
          <a:xfrm>
            <a:off x="1175760" y="13656510"/>
            <a:ext cx="276480" cy="276480"/>
          </a:xfrm>
          <a:prstGeom prst="rect">
            <a:avLst/>
          </a:prstGeom>
        </p:spPr>
      </p:pic>
      <p:sp>
        <p:nvSpPr>
          <p:cNvPr id="121" name="TextBox 120"/>
          <p:cNvSpPr txBox="1"/>
          <p:nvPr/>
        </p:nvSpPr>
        <p:spPr>
          <a:xfrm>
            <a:off x="1728000" y="13356000"/>
            <a:ext cx="5796000" cy="877500"/>
          </a:xfrm>
          <a:prstGeom prst="rect">
            <a:avLst/>
          </a:prstGeom>
          <a:noFill/>
        </p:spPr>
        <p:txBody>
          <a:bodyPr wrap="square" lIns="0" rIns="0" tIns="0" bIns="0" anchor="ctr">
            <a:noAutofit/>
          </a:bodyPr>
          <a:lstStyle/>
          <a:p>
            <a:pPr algn="l" marL="0" indent="0">
              <a:spcBef>
                <a:spcPts val="0"/>
              </a:spcBef>
              <a:spcAft>
                <a:spcPts val="100"/>
              </a:spcAft>
              <a:buNone/>
            </a:pPr>
            <a:r>
              <a:rPr sz="1500" b="1" i="0" lang="ko-KR">
                <a:solidFill>
                  <a:srgbClr val="5B6475"/>
                </a:solidFill>
                <a:latin typeface="맑은 고딕"/>
                <a:ea typeface="맑은 고딕"/>
                <a:cs typeface="맑은 고딕"/>
              </a:rPr>
              <a:t>STEP 1  </a:t>
            </a:r>
            <a:r>
              <a:rPr sz="2000" b="1" i="0" lang="ko-KR">
                <a:solidFill>
                  <a:srgbClr val="13294B"/>
                </a:solidFill>
                <a:latin typeface="맑은 고딕"/>
                <a:ea typeface="맑은 고딕"/>
                <a:cs typeface="맑은 고딕"/>
              </a:rPr>
              <a:t>자료 수집</a:t>
            </a:r>
          </a:p>
          <a:p>
            <a:pPr algn="l" marL="0" indent="0">
              <a:spcBef>
                <a:spcPts val="0"/>
              </a:spcBef>
              <a:spcAft>
                <a:spcPts val="0"/>
              </a:spcAft>
              <a:buNone/>
            </a:pPr>
            <a:r>
              <a:rPr sz="1600" b="0" i="0" lang="ko-KR">
                <a:solidFill>
                  <a:srgbClr val="1E2532"/>
                </a:solidFill>
                <a:latin typeface="맑은 고딕"/>
                <a:ea typeface="맑은 고딕"/>
                <a:cs typeface="맑은 고딕"/>
              </a:rPr>
              <a:t>EPO PATSTAT Global, CPC H01L21·H01L24</a:t>
            </a:r>
          </a:p>
          <a:p>
            <a:pPr algn="l" marL="0" indent="0">
              <a:spcBef>
                <a:spcPts val="0"/>
              </a:spcBef>
              <a:spcAft>
                <a:spcPts val="0"/>
              </a:spcAft>
              <a:buNone/>
            </a:pPr>
            <a:r>
              <a:rPr sz="1600" b="0" i="0" lang="ko-KR">
                <a:solidFill>
                  <a:srgbClr val="1E2532"/>
                </a:solidFill>
                <a:latin typeface="맑은 고딕"/>
                <a:ea typeface="맑은 고딕"/>
                <a:cs typeface="맑은 고딕"/>
              </a:rPr>
              <a:t>+ 제목 키워드 → 관련 출원 928건 (1968–2024)</a:t>
            </a:r>
          </a:p>
        </p:txBody>
      </p:sp>
      <p:sp>
        <p:nvSpPr>
          <p:cNvPr id="122" name="Rounded Rectangle 121"/>
          <p:cNvSpPr/>
          <p:nvPr/>
        </p:nvSpPr>
        <p:spPr>
          <a:xfrm>
            <a:off x="900000" y="143595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23" name="Oval 122"/>
          <p:cNvSpPr/>
          <p:nvPr/>
        </p:nvSpPr>
        <p:spPr>
          <a:xfrm>
            <a:off x="1026000" y="14546250"/>
            <a:ext cx="576000" cy="576000"/>
          </a:xfrm>
          <a:prstGeom prst="ellipse">
            <a:avLst/>
          </a:prstGeom>
          <a:solidFill>
            <a:srgbClr val="24406E"/>
          </a:solidFill>
          <a:ln>
            <a:noFill/>
          </a:ln>
        </p:spPr>
        <p:txBody>
          <a:bodyPr rtlCol="0" anchor="ctr" lIns="54000" rIns="54000" tIns="54000" bIns="54000"/>
          <a:lstStyle/>
          <a:p>
            <a:pPr algn="ctr"/>
          </a:p>
        </p:txBody>
      </p:sp>
      <p:pic>
        <p:nvPicPr>
          <p:cNvPr id="124" name="Picture 123" descr="FaCodeMerge_FFFFFF.png"/>
          <p:cNvPicPr>
            <a:picLocks noChangeAspect="1"/>
          </p:cNvPicPr>
          <p:nvPr/>
        </p:nvPicPr>
        <p:blipFill>
          <a:blip r:embed="rId5"/>
          <a:stretch>
            <a:fillRect/>
          </a:stretch>
        </p:blipFill>
        <p:spPr>
          <a:xfrm>
            <a:off x="1175760" y="14696010"/>
            <a:ext cx="276480" cy="276480"/>
          </a:xfrm>
          <a:prstGeom prst="rect">
            <a:avLst/>
          </a:prstGeom>
        </p:spPr>
      </p:pic>
      <p:sp>
        <p:nvSpPr>
          <p:cNvPr id="125" name="TextBox 124"/>
          <p:cNvSpPr txBox="1"/>
          <p:nvPr/>
        </p:nvSpPr>
        <p:spPr>
          <a:xfrm>
            <a:off x="1728000" y="14395500"/>
            <a:ext cx="5796000" cy="877500"/>
          </a:xfrm>
          <a:prstGeom prst="rect">
            <a:avLst/>
          </a:prstGeom>
          <a:noFill/>
        </p:spPr>
        <p:txBody>
          <a:bodyPr wrap="square" lIns="0" rIns="0" tIns="0" bIns="0" anchor="ctr">
            <a:noAutofit/>
          </a:bodyPr>
          <a:lstStyle/>
          <a:p>
            <a:pPr algn="l" marL="0" indent="0">
              <a:spcBef>
                <a:spcPts val="0"/>
              </a:spcBef>
              <a:spcAft>
                <a:spcPts val="100"/>
              </a:spcAft>
              <a:buNone/>
            </a:pPr>
            <a:r>
              <a:rPr sz="1500" b="1" i="0" lang="ko-KR">
                <a:solidFill>
                  <a:srgbClr val="5B6475"/>
                </a:solidFill>
                <a:latin typeface="맑은 고딕"/>
                <a:ea typeface="맑은 고딕"/>
                <a:cs typeface="맑은 고딕"/>
              </a:rPr>
              <a:t>STEP 2  </a:t>
            </a:r>
            <a:r>
              <a:rPr sz="2000" b="1" i="0" lang="ko-KR">
                <a:solidFill>
                  <a:srgbClr val="13294B"/>
                </a:solidFill>
                <a:latin typeface="맑은 고딕"/>
                <a:ea typeface="맑은 고딕"/>
                <a:cs typeface="맑은 고딕"/>
              </a:rPr>
              <a:t>공동분류 유형화</a:t>
            </a:r>
          </a:p>
          <a:p>
            <a:pPr algn="l" marL="0" indent="0">
              <a:spcBef>
                <a:spcPts val="0"/>
              </a:spcBef>
              <a:spcAft>
                <a:spcPts val="0"/>
              </a:spcAft>
              <a:buNone/>
            </a:pPr>
            <a:r>
              <a:rPr sz="1600" b="0" i="0" lang="ko-KR">
                <a:solidFill>
                  <a:srgbClr val="1E2532"/>
                </a:solidFill>
                <a:latin typeface="맑은 고딕"/>
                <a:ea typeface="맑은 고딕"/>
                <a:cs typeface="맑은 고딕"/>
              </a:rPr>
              <a:t>두 분류의 공동분류 = 융합의 대리측정치</a:t>
            </a:r>
          </a:p>
          <a:p>
            <a:pPr algn="l" marL="0" indent="0">
              <a:spcBef>
                <a:spcPts val="0"/>
              </a:spcBef>
              <a:spcAft>
                <a:spcPts val="0"/>
              </a:spcAft>
              <a:buNone/>
            </a:pPr>
            <a:r>
              <a:rPr sz="1600" b="0" i="0" lang="ko-KR">
                <a:solidFill>
                  <a:srgbClr val="1E2532"/>
                </a:solidFill>
                <a:latin typeface="맑은 고딕"/>
                <a:ea typeface="맑은 고딕"/>
                <a:cs typeface="맑은 고딕"/>
              </a:rPr>
              <a:t>접합 단독형 · 통합형 · 공정 단독형</a:t>
            </a:r>
          </a:p>
        </p:txBody>
      </p:sp>
      <p:sp>
        <p:nvSpPr>
          <p:cNvPr id="126" name="Rounded Rectangle 125"/>
          <p:cNvSpPr/>
          <p:nvPr/>
        </p:nvSpPr>
        <p:spPr>
          <a:xfrm>
            <a:off x="900000" y="153990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27" name="Oval 126"/>
          <p:cNvSpPr/>
          <p:nvPr/>
        </p:nvSpPr>
        <p:spPr>
          <a:xfrm>
            <a:off x="1026000" y="15585750"/>
            <a:ext cx="576000" cy="576000"/>
          </a:xfrm>
          <a:prstGeom prst="ellipse">
            <a:avLst/>
          </a:prstGeom>
          <a:solidFill>
            <a:srgbClr val="24406E"/>
          </a:solidFill>
          <a:ln>
            <a:noFill/>
          </a:ln>
        </p:spPr>
        <p:txBody>
          <a:bodyPr rtlCol="0" anchor="ctr" lIns="54000" rIns="54000" tIns="54000" bIns="54000"/>
          <a:lstStyle/>
          <a:p>
            <a:pPr algn="ctr"/>
          </a:p>
        </p:txBody>
      </p:sp>
      <p:pic>
        <p:nvPicPr>
          <p:cNvPr id="128" name="Picture 127" descr="FaCircleNodes_FFFFFF.png"/>
          <p:cNvPicPr>
            <a:picLocks noChangeAspect="1"/>
          </p:cNvPicPr>
          <p:nvPr/>
        </p:nvPicPr>
        <p:blipFill>
          <a:blip r:embed="rId6"/>
          <a:stretch>
            <a:fillRect/>
          </a:stretch>
        </p:blipFill>
        <p:spPr>
          <a:xfrm>
            <a:off x="1175760" y="15735510"/>
            <a:ext cx="276480" cy="276480"/>
          </a:xfrm>
          <a:prstGeom prst="rect">
            <a:avLst/>
          </a:prstGeom>
        </p:spPr>
      </p:pic>
      <p:sp>
        <p:nvSpPr>
          <p:cNvPr id="129" name="TextBox 128"/>
          <p:cNvSpPr txBox="1"/>
          <p:nvPr/>
        </p:nvSpPr>
        <p:spPr>
          <a:xfrm>
            <a:off x="1728000" y="15435000"/>
            <a:ext cx="5796000" cy="877500"/>
          </a:xfrm>
          <a:prstGeom prst="rect">
            <a:avLst/>
          </a:prstGeom>
          <a:noFill/>
        </p:spPr>
        <p:txBody>
          <a:bodyPr wrap="square" lIns="0" rIns="0" tIns="0" bIns="0" anchor="ctr">
            <a:noAutofit/>
          </a:bodyPr>
          <a:lstStyle/>
          <a:p>
            <a:pPr algn="l" marL="0" indent="0">
              <a:spcBef>
                <a:spcPts val="0"/>
              </a:spcBef>
              <a:spcAft>
                <a:spcPts val="100"/>
              </a:spcAft>
              <a:buNone/>
            </a:pPr>
            <a:r>
              <a:rPr sz="1500" b="1" i="0" lang="ko-KR">
                <a:solidFill>
                  <a:srgbClr val="5B6475"/>
                </a:solidFill>
                <a:latin typeface="맑은 고딕"/>
                <a:ea typeface="맑은 고딕"/>
                <a:cs typeface="맑은 고딕"/>
              </a:rPr>
              <a:t>STEP 3  </a:t>
            </a:r>
            <a:r>
              <a:rPr sz="2000" b="1" i="0" lang="ko-KR">
                <a:solidFill>
                  <a:srgbClr val="13294B"/>
                </a:solidFill>
                <a:latin typeface="맑은 고딕"/>
                <a:ea typeface="맑은 고딕"/>
                <a:cs typeface="맑은 고딕"/>
              </a:rPr>
              <a:t>핵심 기술 식별</a:t>
            </a:r>
          </a:p>
          <a:p>
            <a:pPr algn="l" marL="0" indent="0">
              <a:spcBef>
                <a:spcPts val="0"/>
              </a:spcBef>
              <a:spcAft>
                <a:spcPts val="0"/>
              </a:spcAft>
              <a:buNone/>
            </a:pPr>
            <a:r>
              <a:rPr sz="1600" b="0" i="0" lang="ko-KR">
                <a:solidFill>
                  <a:srgbClr val="1E2532"/>
                </a:solidFill>
                <a:latin typeface="맑은 고딕"/>
                <a:ea typeface="맑은 고딕"/>
                <a:cs typeface="맑은 고딕"/>
              </a:rPr>
              <a:t>기술 클러스터 · 기술 네트워크</a:t>
            </a:r>
          </a:p>
          <a:p>
            <a:pPr algn="l" marL="0" indent="0">
              <a:spcBef>
                <a:spcPts val="0"/>
              </a:spcBef>
              <a:spcAft>
                <a:spcPts val="0"/>
              </a:spcAft>
              <a:buNone/>
            </a:pPr>
            <a:r>
              <a:rPr sz="1600" b="0" i="0" lang="ko-KR">
                <a:solidFill>
                  <a:srgbClr val="1E2532"/>
                </a:solidFill>
                <a:latin typeface="맑은 고딕"/>
                <a:ea typeface="맑은 고딕"/>
                <a:cs typeface="맑은 고딕"/>
              </a:rPr>
              <a:t>→ 핵심 접합 기호 24/03·05·08·80</a:t>
            </a:r>
          </a:p>
        </p:txBody>
      </p:sp>
      <p:sp>
        <p:nvSpPr>
          <p:cNvPr id="130" name="Rounded Rectangle 129"/>
          <p:cNvSpPr/>
          <p:nvPr/>
        </p:nvSpPr>
        <p:spPr>
          <a:xfrm>
            <a:off x="900000" y="16438500"/>
            <a:ext cx="7056000" cy="949500"/>
          </a:xfrm>
          <a:prstGeom prst="roundRect">
            <a:avLst>
              <a:gd name="adj" fmla="val 12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1" name="Oval 130"/>
          <p:cNvSpPr/>
          <p:nvPr/>
        </p:nvSpPr>
        <p:spPr>
          <a:xfrm>
            <a:off x="1026000" y="16625250"/>
            <a:ext cx="576000" cy="576000"/>
          </a:xfrm>
          <a:prstGeom prst="ellipse">
            <a:avLst/>
          </a:prstGeom>
          <a:solidFill>
            <a:srgbClr val="24406E"/>
          </a:solidFill>
          <a:ln>
            <a:noFill/>
          </a:ln>
        </p:spPr>
        <p:txBody>
          <a:bodyPr rtlCol="0" anchor="ctr" lIns="54000" rIns="54000" tIns="54000" bIns="54000"/>
          <a:lstStyle/>
          <a:p>
            <a:pPr algn="ctr"/>
          </a:p>
        </p:txBody>
      </p:sp>
      <p:pic>
        <p:nvPicPr>
          <p:cNvPr id="132" name="Picture 131" descr="FaChartLine_FFFFFF.png"/>
          <p:cNvPicPr>
            <a:picLocks noChangeAspect="1"/>
          </p:cNvPicPr>
          <p:nvPr/>
        </p:nvPicPr>
        <p:blipFill>
          <a:blip r:embed="rId7"/>
          <a:stretch>
            <a:fillRect/>
          </a:stretch>
        </p:blipFill>
        <p:spPr>
          <a:xfrm>
            <a:off x="1175760" y="16775010"/>
            <a:ext cx="276480" cy="276480"/>
          </a:xfrm>
          <a:prstGeom prst="rect">
            <a:avLst/>
          </a:prstGeom>
        </p:spPr>
      </p:pic>
      <p:sp>
        <p:nvSpPr>
          <p:cNvPr id="133" name="TextBox 132"/>
          <p:cNvSpPr txBox="1"/>
          <p:nvPr/>
        </p:nvSpPr>
        <p:spPr>
          <a:xfrm>
            <a:off x="1728000" y="16474500"/>
            <a:ext cx="5796000" cy="877500"/>
          </a:xfrm>
          <a:prstGeom prst="rect">
            <a:avLst/>
          </a:prstGeom>
          <a:noFill/>
        </p:spPr>
        <p:txBody>
          <a:bodyPr wrap="square" lIns="0" rIns="0" tIns="0" bIns="0" anchor="ctr">
            <a:noAutofit/>
          </a:bodyPr>
          <a:lstStyle/>
          <a:p>
            <a:pPr algn="l" marL="0" indent="0">
              <a:spcBef>
                <a:spcPts val="0"/>
              </a:spcBef>
              <a:spcAft>
                <a:spcPts val="100"/>
              </a:spcAft>
              <a:buNone/>
            </a:pPr>
            <a:r>
              <a:rPr sz="1500" b="1" i="0" lang="ko-KR">
                <a:solidFill>
                  <a:srgbClr val="5B6475"/>
                </a:solidFill>
                <a:latin typeface="맑은 고딕"/>
                <a:ea typeface="맑은 고딕"/>
                <a:cs typeface="맑은 고딕"/>
              </a:rPr>
              <a:t>STEP 4  </a:t>
            </a:r>
            <a:r>
              <a:rPr sz="2000" b="1" i="0" lang="ko-KR">
                <a:solidFill>
                  <a:srgbClr val="13294B"/>
                </a:solidFill>
                <a:latin typeface="맑은 고딕"/>
                <a:ea typeface="맑은 고딕"/>
                <a:cs typeface="맑은 고딕"/>
              </a:rPr>
              <a:t>통계 분석</a:t>
            </a:r>
          </a:p>
          <a:p>
            <a:pPr algn="l" marL="0" indent="0">
              <a:spcBef>
                <a:spcPts val="0"/>
              </a:spcBef>
              <a:spcAft>
                <a:spcPts val="0"/>
              </a:spcAft>
              <a:buNone/>
            </a:pPr>
            <a:r>
              <a:rPr sz="1600" b="0" i="0" lang="ko-KR">
                <a:solidFill>
                  <a:srgbClr val="1E2532"/>
                </a:solidFill>
                <a:latin typeface="맑은 고딕"/>
                <a:ea typeface="맑은 고딕"/>
                <a:cs typeface="맑은 고딕"/>
              </a:rPr>
              <a:t>다항 로짓(RQ1·RQ2), 이항 로짓(RQ3)</a:t>
            </a:r>
          </a:p>
          <a:p>
            <a:pPr algn="l" marL="0" indent="0">
              <a:spcBef>
                <a:spcPts val="0"/>
              </a:spcBef>
              <a:spcAft>
                <a:spcPts val="0"/>
              </a:spcAft>
              <a:buNone/>
            </a:pPr>
            <a:r>
              <a:rPr sz="1600" b="0" i="0" lang="ko-KR">
                <a:solidFill>
                  <a:srgbClr val="1E2532"/>
                </a:solidFill>
                <a:latin typeface="맑은 고딕"/>
                <a:ea typeface="맑은 고딕"/>
                <a:cs typeface="맑은 고딕"/>
              </a:rPr>
              <a:t>Jaccard 계수 · 매개 중심성(RQ3)</a:t>
            </a:r>
          </a:p>
        </p:txBody>
      </p:sp>
      <p:sp>
        <p:nvSpPr>
          <p:cNvPr id="134" name="Rounded Rectangle 133"/>
          <p:cNvSpPr/>
          <p:nvPr/>
        </p:nvSpPr>
        <p:spPr>
          <a:xfrm>
            <a:off x="8280000" y="13320000"/>
            <a:ext cx="6408000" cy="4068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5" name="TextBox 134"/>
          <p:cNvSpPr txBox="1"/>
          <p:nvPr/>
        </p:nvSpPr>
        <p:spPr>
          <a:xfrm>
            <a:off x="8280000" y="13410000"/>
            <a:ext cx="6408000" cy="324000"/>
          </a:xfrm>
          <a:prstGeom prst="rect">
            <a:avLst/>
          </a:prstGeom>
          <a:noFill/>
        </p:spPr>
        <p:txBody>
          <a:bodyPr wrap="square" lIns="0" rIns="0" tIns="0" bIns="0" anchor="t">
            <a:noAutofit/>
          </a:bodyPr>
          <a:lstStyle/>
          <a:p>
            <a:pPr algn="ctr" marL="0" indent="0">
              <a:spcBef>
                <a:spcPts val="0"/>
              </a:spcBef>
              <a:spcAft>
                <a:spcPts val="0"/>
              </a:spcAft>
              <a:buNone/>
            </a:pPr>
            <a:r>
              <a:rPr sz="1900" b="1" i="0" lang="ko-KR">
                <a:solidFill>
                  <a:srgbClr val="13294B"/>
                </a:solidFill>
                <a:latin typeface="맑은 고딕"/>
                <a:ea typeface="맑은 고딕"/>
                <a:cs typeface="맑은 고딕"/>
              </a:rPr>
              <a:t>CPC 공동분류에 따른 출원 유형 (N = 928)</a:t>
            </a:r>
          </a:p>
        </p:txBody>
      </p:sp>
      <p:pic>
        <p:nvPicPr>
          <p:cNvPr id="136" name="Picture 135" descr="venn.png"/>
          <p:cNvPicPr>
            <a:picLocks noChangeAspect="1"/>
          </p:cNvPicPr>
          <p:nvPr/>
        </p:nvPicPr>
        <p:blipFill>
          <a:blip r:embed="rId8"/>
          <a:stretch>
            <a:fillRect/>
          </a:stretch>
        </p:blipFill>
        <p:spPr>
          <a:xfrm>
            <a:off x="8496000" y="13788000"/>
            <a:ext cx="5976000" cy="3222083"/>
          </a:xfrm>
          <a:prstGeom prst="rect">
            <a:avLst/>
          </a:prstGeom>
        </p:spPr>
      </p:pic>
      <p:sp>
        <p:nvSpPr>
          <p:cNvPr id="137" name="TextBox 136"/>
          <p:cNvSpPr txBox="1"/>
          <p:nvPr/>
        </p:nvSpPr>
        <p:spPr>
          <a:xfrm>
            <a:off x="8388000" y="16974000"/>
            <a:ext cx="6192000" cy="360000"/>
          </a:xfrm>
          <a:prstGeom prst="rect">
            <a:avLst/>
          </a:prstGeom>
          <a:noFill/>
        </p:spPr>
        <p:txBody>
          <a:bodyPr wrap="square" lIns="0" rIns="0" tIns="0" bIns="0" anchor="t">
            <a:noAutofit/>
          </a:bodyPr>
          <a:lstStyle/>
          <a:p>
            <a:pPr algn="ctr" marL="0" indent="0">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38" name="Rounded Rectangle 137"/>
          <p:cNvSpPr/>
          <p:nvPr/>
        </p:nvSpPr>
        <p:spPr>
          <a:xfrm>
            <a:off x="15012000" y="13320000"/>
            <a:ext cx="5472000" cy="4068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39" name="TextBox 138"/>
          <p:cNvSpPr txBox="1"/>
          <p:nvPr/>
        </p:nvSpPr>
        <p:spPr>
          <a:xfrm>
            <a:off x="15012000" y="13410000"/>
            <a:ext cx="5472000" cy="324000"/>
          </a:xfrm>
          <a:prstGeom prst="rect">
            <a:avLst/>
          </a:prstGeom>
          <a:noFill/>
        </p:spPr>
        <p:txBody>
          <a:bodyPr wrap="square" lIns="0" rIns="0" tIns="0" bIns="0" anchor="t">
            <a:noAutofit/>
          </a:bodyPr>
          <a:lstStyle/>
          <a:p>
            <a:pPr algn="ctr" marL="0" indent="0">
              <a:spcBef>
                <a:spcPts val="0"/>
              </a:spcBef>
              <a:spcAft>
                <a:spcPts val="0"/>
              </a:spcAft>
              <a:buNone/>
            </a:pPr>
            <a:r>
              <a:rPr sz="1900" b="1" i="0" lang="ko-KR">
                <a:solidFill>
                  <a:srgbClr val="13294B"/>
                </a:solidFill>
                <a:latin typeface="맑은 고딕"/>
                <a:ea typeface="맑은 고딕"/>
                <a:cs typeface="맑은 고딕"/>
              </a:rPr>
              <a:t>기술 네트워크와 핵심 접합 기술</a:t>
            </a:r>
          </a:p>
        </p:txBody>
      </p:sp>
      <p:pic>
        <p:nvPicPr>
          <p:cNvPr id="140" name="Picture 139" descr="network_nolegend.png"/>
          <p:cNvPicPr>
            <a:picLocks noChangeAspect="1"/>
          </p:cNvPicPr>
          <p:nvPr/>
        </p:nvPicPr>
        <p:blipFill>
          <a:blip r:embed="rId9"/>
          <a:stretch>
            <a:fillRect/>
          </a:stretch>
        </p:blipFill>
        <p:spPr>
          <a:xfrm>
            <a:off x="15845087" y="13734000"/>
            <a:ext cx="3805826" cy="2808000"/>
          </a:xfrm>
          <a:prstGeom prst="rect">
            <a:avLst/>
          </a:prstGeom>
        </p:spPr>
      </p:pic>
      <p:sp>
        <p:nvSpPr>
          <p:cNvPr id="141" name="Oval 140"/>
          <p:cNvSpPr/>
          <p:nvPr/>
        </p:nvSpPr>
        <p:spPr>
          <a:xfrm>
            <a:off x="15264000" y="16650000"/>
            <a:ext cx="162000" cy="162000"/>
          </a:xfrm>
          <a:prstGeom prst="ellipse">
            <a:avLst/>
          </a:prstGeom>
          <a:solidFill>
            <a:srgbClr val="B5441B"/>
          </a:solidFill>
          <a:ln>
            <a:noFill/>
          </a:ln>
        </p:spPr>
        <p:txBody>
          <a:bodyPr rtlCol="0" anchor="ctr" lIns="54000" rIns="54000" tIns="54000" bIns="54000"/>
          <a:lstStyle/>
          <a:p>
            <a:pPr algn="ctr"/>
          </a:p>
        </p:txBody>
      </p:sp>
      <p:sp>
        <p:nvSpPr>
          <p:cNvPr id="142" name="TextBox 141"/>
          <p:cNvSpPr txBox="1"/>
          <p:nvPr/>
        </p:nvSpPr>
        <p:spPr>
          <a:xfrm>
            <a:off x="15480000" y="16578000"/>
            <a:ext cx="1440000" cy="288000"/>
          </a:xfrm>
          <a:prstGeom prst="rect">
            <a:avLst/>
          </a:prstGeom>
          <a:noFill/>
        </p:spPr>
        <p:txBody>
          <a:bodyPr wrap="square" lIns="0" rIns="0" tIns="0" bIns="0" anchor="ctr">
            <a:noAutofit/>
          </a:bodyPr>
          <a:lstStyle/>
          <a:p>
            <a:pPr algn="l" marL="0" indent="0">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43" name="Oval 142"/>
          <p:cNvSpPr/>
          <p:nvPr/>
        </p:nvSpPr>
        <p:spPr>
          <a:xfrm>
            <a:off x="16920000" y="16650000"/>
            <a:ext cx="162000" cy="162000"/>
          </a:xfrm>
          <a:prstGeom prst="ellipse">
            <a:avLst/>
          </a:prstGeom>
          <a:solidFill>
            <a:srgbClr val="EFB26A"/>
          </a:solidFill>
          <a:ln>
            <a:noFill/>
          </a:ln>
        </p:spPr>
        <p:txBody>
          <a:bodyPr rtlCol="0" anchor="ctr" lIns="54000" rIns="54000" tIns="54000" bIns="54000"/>
          <a:lstStyle/>
          <a:p>
            <a:pPr algn="ctr"/>
          </a:p>
        </p:txBody>
      </p:sp>
      <p:sp>
        <p:nvSpPr>
          <p:cNvPr id="144" name="TextBox 143"/>
          <p:cNvSpPr txBox="1"/>
          <p:nvPr/>
        </p:nvSpPr>
        <p:spPr>
          <a:xfrm>
            <a:off x="17136000" y="16578000"/>
            <a:ext cx="1440000" cy="288000"/>
          </a:xfrm>
          <a:prstGeom prst="rect">
            <a:avLst/>
          </a:prstGeom>
          <a:noFill/>
        </p:spPr>
        <p:txBody>
          <a:bodyPr wrap="square" lIns="0" rIns="0" tIns="0" bIns="0" anchor="ctr">
            <a:noAutofit/>
          </a:bodyPr>
          <a:lstStyle/>
          <a:p>
            <a:pPr algn="l" marL="0" indent="0">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45" name="Oval 144"/>
          <p:cNvSpPr/>
          <p:nvPr/>
        </p:nvSpPr>
        <p:spPr>
          <a:xfrm>
            <a:off x="18576000" y="16650000"/>
            <a:ext cx="162000" cy="162000"/>
          </a:xfrm>
          <a:prstGeom prst="ellipse">
            <a:avLst/>
          </a:prstGeom>
          <a:solidFill>
            <a:srgbClr val="1F3A5F"/>
          </a:solidFill>
          <a:ln>
            <a:noFill/>
          </a:ln>
        </p:spPr>
        <p:txBody>
          <a:bodyPr rtlCol="0" anchor="ctr" lIns="54000" rIns="54000" tIns="54000" bIns="54000"/>
          <a:lstStyle/>
          <a:p>
            <a:pPr algn="ctr"/>
          </a:p>
        </p:txBody>
      </p:sp>
      <p:sp>
        <p:nvSpPr>
          <p:cNvPr id="146" name="TextBox 145"/>
          <p:cNvSpPr txBox="1"/>
          <p:nvPr/>
        </p:nvSpPr>
        <p:spPr>
          <a:xfrm>
            <a:off x="18792000" y="16578000"/>
            <a:ext cx="1440000" cy="288000"/>
          </a:xfrm>
          <a:prstGeom prst="rect">
            <a:avLst/>
          </a:prstGeom>
          <a:noFill/>
        </p:spPr>
        <p:txBody>
          <a:bodyPr wrap="square" lIns="0" rIns="0" tIns="0" bIns="0" anchor="ctr">
            <a:noAutofit/>
          </a:bodyPr>
          <a:lstStyle/>
          <a:p>
            <a:pPr algn="l" marL="0" indent="0">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47" name="TextBox 146"/>
          <p:cNvSpPr txBox="1"/>
          <p:nvPr/>
        </p:nvSpPr>
        <p:spPr>
          <a:xfrm>
            <a:off x="15120000" y="16920000"/>
            <a:ext cx="5256000" cy="396000"/>
          </a:xfrm>
          <a:prstGeom prst="rect">
            <a:avLst/>
          </a:prstGeom>
          <a:noFill/>
        </p:spPr>
        <p:txBody>
          <a:bodyPr wrap="square" lIns="0" rIns="0" tIns="0" bIns="0" anchor="ctr">
            <a:noAutofit/>
          </a:bodyPr>
          <a:lstStyle/>
          <a:p>
            <a:pPr algn="ctr" marL="0" indent="0">
              <a:spcBef>
                <a:spcPts val="0"/>
              </a:spcBef>
              <a:spcAft>
                <a:spcPts val="0"/>
              </a:spcAft>
              <a:buNone/>
            </a:pPr>
            <a:r>
              <a:rPr sz="1500" b="0" i="0" lang="ko-KR">
                <a:solidFill>
                  <a:srgbClr val="1E2532"/>
                </a:solidFill>
                <a:latin typeface="맑은 고딕"/>
                <a:ea typeface="맑은 고딕"/>
                <a:cs typeface="맑은 고딕"/>
              </a:rPr>
              <a:t>핵심 접합 기호 4개를 접합 출원의 81.3%가 보유</a:t>
            </a:r>
          </a:p>
        </p:txBody>
      </p:sp>
      <p:sp>
        <p:nvSpPr>
          <p:cNvPr id="148" name="Rounded Rectangle 147"/>
          <p:cNvSpPr/>
          <p:nvPr/>
        </p:nvSpPr>
        <p:spPr>
          <a:xfrm>
            <a:off x="576000" y="17856000"/>
            <a:ext cx="20232000" cy="7056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149" name="Oval 148"/>
          <p:cNvSpPr/>
          <p:nvPr/>
        </p:nvSpPr>
        <p:spPr>
          <a:xfrm>
            <a:off x="828000" y="18072000"/>
            <a:ext cx="828000" cy="828000"/>
          </a:xfrm>
          <a:prstGeom prst="ellipse">
            <a:avLst/>
          </a:prstGeom>
          <a:solidFill>
            <a:srgbClr val="13294B"/>
          </a:solidFill>
          <a:ln>
            <a:noFill/>
          </a:ln>
        </p:spPr>
        <p:txBody>
          <a:bodyPr rtlCol="0" anchor="ctr" lIns="0" rIns="0" tIns="36000" bIns="36000" wrap="square"/>
          <a:lstStyle/>
          <a:p>
            <a:pPr algn="ctr" marL="0" indent="0">
              <a:spcBef>
                <a:spcPts val="0"/>
              </a:spcBef>
              <a:spcAft>
                <a:spcPts val="0"/>
              </a:spcAft>
              <a:buNone/>
            </a:pPr>
            <a:r>
              <a:rPr sz="3000" b="1" i="0" lang="ko-KR">
                <a:solidFill>
                  <a:srgbClr val="FFFFFF"/>
                </a:solidFill>
                <a:latin typeface="맑은 고딕"/>
                <a:ea typeface="맑은 고딕"/>
                <a:cs typeface="맑은 고딕"/>
              </a:rPr>
              <a:t>04</a:t>
            </a:r>
          </a:p>
        </p:txBody>
      </p:sp>
      <p:sp>
        <p:nvSpPr>
          <p:cNvPr id="150" name="TextBox 149"/>
          <p:cNvSpPr txBox="1"/>
          <p:nvPr/>
        </p:nvSpPr>
        <p:spPr>
          <a:xfrm>
            <a:off x="1800000" y="18054000"/>
            <a:ext cx="18720000" cy="864000"/>
          </a:xfrm>
          <a:prstGeom prst="rect">
            <a:avLst/>
          </a:prstGeom>
          <a:noFill/>
        </p:spPr>
        <p:txBody>
          <a:bodyPr wrap="square" lIns="0" rIns="0" tIns="0" bIns="0" anchor="ctr">
            <a:noAutofit/>
          </a:bodyPr>
          <a:lstStyle/>
          <a:p>
            <a:pPr algn="l" marL="0" indent="0">
              <a:spcBef>
                <a:spcPts val="0"/>
              </a:spcBef>
              <a:spcAft>
                <a:spcPts val="0"/>
              </a:spcAft>
              <a:buNone/>
            </a:pPr>
            <a:r>
              <a:rPr sz="4000" b="1" i="0" lang="ko-KR">
                <a:solidFill>
                  <a:srgbClr val="13294B"/>
                </a:solidFill>
                <a:latin typeface="맑은 고딕"/>
                <a:ea typeface="맑은 고딕"/>
                <a:cs typeface="맑은 고딕"/>
              </a:rPr>
              <a:t>분석 결과</a:t>
            </a:r>
          </a:p>
        </p:txBody>
      </p:sp>
      <p:sp>
        <p:nvSpPr>
          <p:cNvPr id="151" name="Rounded Rectangle 150"/>
          <p:cNvSpPr/>
          <p:nvPr/>
        </p:nvSpPr>
        <p:spPr>
          <a:xfrm>
            <a:off x="900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52" name="Rounded Rectangle 151"/>
          <p:cNvSpPr/>
          <p:nvPr/>
        </p:nvSpPr>
        <p:spPr>
          <a:xfrm>
            <a:off x="1080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200" b="1" i="0" lang="ko-KR">
                <a:solidFill>
                  <a:srgbClr val="FFC000"/>
                </a:solidFill>
                <a:latin typeface="맑은 고딕"/>
                <a:ea typeface="맑은 고딕"/>
                <a:cs typeface="맑은 고딕"/>
              </a:rPr>
              <a:t>RQ1</a:t>
            </a:r>
          </a:p>
        </p:txBody>
      </p:sp>
      <p:sp>
        <p:nvSpPr>
          <p:cNvPr id="153" name="TextBox 152"/>
          <p:cNvSpPr txBox="1"/>
          <p:nvPr/>
        </p:nvSpPr>
        <p:spPr>
          <a:xfrm>
            <a:off x="2088000" y="19116000"/>
            <a:ext cx="4980000" cy="540000"/>
          </a:xfrm>
          <a:prstGeom prst="rect">
            <a:avLst/>
          </a:prstGeom>
          <a:noFill/>
        </p:spPr>
        <p:txBody>
          <a:bodyPr wrap="square" lIns="0" rIns="0" tIns="0" bIns="0" anchor="ctr">
            <a:noAutofit/>
          </a:bodyPr>
          <a:lstStyle/>
          <a:p>
            <a:pPr algn="l" marL="0" indent="0">
              <a:spcBef>
                <a:spcPts val="0"/>
              </a:spcBef>
              <a:spcAft>
                <a:spcPts val="0"/>
              </a:spcAft>
              <a:buNone/>
            </a:pPr>
            <a:r>
              <a:rPr sz="2300" b="1" i="0" lang="ko-KR">
                <a:solidFill>
                  <a:srgbClr val="13294B"/>
                </a:solidFill>
                <a:latin typeface="맑은 고딕"/>
                <a:ea typeface="맑은 고딕"/>
                <a:cs typeface="맑은 고딕"/>
              </a:rPr>
              <a:t>공정 단계 간 융합은 예외가 아니다</a:t>
            </a:r>
          </a:p>
        </p:txBody>
      </p:sp>
      <p:sp>
        <p:nvSpPr>
          <p:cNvPr id="154" name="Rounded Rectangle 153"/>
          <p:cNvSpPr/>
          <p:nvPr/>
        </p:nvSpPr>
        <p:spPr>
          <a:xfrm>
            <a:off x="1044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55" name="Rounded Rectangle 154"/>
          <p:cNvSpPr/>
          <p:nvPr/>
        </p:nvSpPr>
        <p:spPr>
          <a:xfrm>
            <a:off x="7536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56" name="Rounded Rectangle 155"/>
          <p:cNvSpPr/>
          <p:nvPr/>
        </p:nvSpPr>
        <p:spPr>
          <a:xfrm>
            <a:off x="7716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200" b="1" i="0" lang="ko-KR">
                <a:solidFill>
                  <a:srgbClr val="FFC000"/>
                </a:solidFill>
                <a:latin typeface="맑은 고딕"/>
                <a:ea typeface="맑은 고딕"/>
                <a:cs typeface="맑은 고딕"/>
              </a:rPr>
              <a:t>RQ2</a:t>
            </a:r>
          </a:p>
        </p:txBody>
      </p:sp>
      <p:sp>
        <p:nvSpPr>
          <p:cNvPr id="157" name="TextBox 156"/>
          <p:cNvSpPr txBox="1"/>
          <p:nvPr/>
        </p:nvSpPr>
        <p:spPr>
          <a:xfrm>
            <a:off x="8724000" y="19116000"/>
            <a:ext cx="4980000" cy="540000"/>
          </a:xfrm>
          <a:prstGeom prst="rect">
            <a:avLst/>
          </a:prstGeom>
          <a:noFill/>
        </p:spPr>
        <p:txBody>
          <a:bodyPr wrap="square" lIns="0" rIns="0" tIns="0" bIns="0" anchor="ctr">
            <a:noAutofit/>
          </a:bodyPr>
          <a:lstStyle/>
          <a:p>
            <a:pPr algn="l" marL="0" indent="0">
              <a:spcBef>
                <a:spcPts val="0"/>
              </a:spcBef>
              <a:spcAft>
                <a:spcPts val="0"/>
              </a:spcAft>
              <a:buNone/>
            </a:pPr>
            <a:r>
              <a:rPr sz="2300" b="1" i="0" lang="ko-KR">
                <a:solidFill>
                  <a:srgbClr val="13294B"/>
                </a:solidFill>
                <a:latin typeface="맑은 고딕"/>
                <a:ea typeface="맑은 고딕"/>
                <a:cs typeface="맑은 고딕"/>
              </a:rPr>
              <a:t>형성 → 확산 → 재편의 세 국면</a:t>
            </a:r>
          </a:p>
        </p:txBody>
      </p:sp>
      <p:sp>
        <p:nvSpPr>
          <p:cNvPr id="158" name="Rounded Rectangle 157"/>
          <p:cNvSpPr/>
          <p:nvPr/>
        </p:nvSpPr>
        <p:spPr>
          <a:xfrm>
            <a:off x="7680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59" name="Rounded Rectangle 158"/>
          <p:cNvSpPr/>
          <p:nvPr/>
        </p:nvSpPr>
        <p:spPr>
          <a:xfrm>
            <a:off x="14172000" y="18972000"/>
            <a:ext cx="6312000" cy="5724000"/>
          </a:xfrm>
          <a:prstGeom prst="roundRect">
            <a:avLst>
              <a:gd name="adj" fmla="val 4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160" name="Rounded Rectangle 159"/>
          <p:cNvSpPr/>
          <p:nvPr/>
        </p:nvSpPr>
        <p:spPr>
          <a:xfrm>
            <a:off x="14352000" y="19134000"/>
            <a:ext cx="900000" cy="504000"/>
          </a:xfrm>
          <a:prstGeom prst="roundRect">
            <a:avLst>
              <a:gd name="adj" fmla="val 20000"/>
            </a:avLst>
          </a:prstGeom>
          <a:solidFill>
            <a:srgbClr val="13294B"/>
          </a:solidFill>
          <a:ln>
            <a:noFill/>
          </a:ln>
        </p:spPr>
        <p:txBody>
          <a:bodyPr rtlCol="0" anchor="ctr" lIns="0" rIns="0" tIns="36000" bIns="36000" wrap="square"/>
          <a:lstStyle/>
          <a:p>
            <a:pPr algn="ctr" marL="0" indent="0">
              <a:spcBef>
                <a:spcPts val="0"/>
              </a:spcBef>
              <a:spcAft>
                <a:spcPts val="0"/>
              </a:spcAft>
              <a:buNone/>
            </a:pPr>
            <a:r>
              <a:rPr sz="2200" b="1" i="0" lang="ko-KR">
                <a:solidFill>
                  <a:srgbClr val="FFC000"/>
                </a:solidFill>
                <a:latin typeface="맑은 고딕"/>
                <a:ea typeface="맑은 고딕"/>
                <a:cs typeface="맑은 고딕"/>
              </a:rPr>
              <a:t>RQ3</a:t>
            </a:r>
          </a:p>
        </p:txBody>
      </p:sp>
      <p:sp>
        <p:nvSpPr>
          <p:cNvPr id="161" name="TextBox 160"/>
          <p:cNvSpPr txBox="1"/>
          <p:nvPr/>
        </p:nvSpPr>
        <p:spPr>
          <a:xfrm>
            <a:off x="15360000" y="19116000"/>
            <a:ext cx="4980000" cy="540000"/>
          </a:xfrm>
          <a:prstGeom prst="rect">
            <a:avLst/>
          </a:prstGeom>
          <a:noFill/>
        </p:spPr>
        <p:txBody>
          <a:bodyPr wrap="square" lIns="0" rIns="0" tIns="0" bIns="0" anchor="ctr">
            <a:noAutofit/>
          </a:bodyPr>
          <a:lstStyle/>
          <a:p>
            <a:pPr algn="l" marL="0" indent="0">
              <a:spcBef>
                <a:spcPts val="0"/>
              </a:spcBef>
              <a:spcAft>
                <a:spcPts val="0"/>
              </a:spcAft>
              <a:buNone/>
            </a:pPr>
            <a:r>
              <a:rPr sz="2300" b="1" i="0" lang="ko-KR">
                <a:solidFill>
                  <a:srgbClr val="13294B"/>
                </a:solidFill>
                <a:latin typeface="맑은 고딕"/>
                <a:ea typeface="맑은 고딕"/>
                <a:cs typeface="맑은 고딕"/>
              </a:rPr>
              <a:t>융합의 중심: 핵심에서 주변으로</a:t>
            </a:r>
          </a:p>
        </p:txBody>
      </p:sp>
      <p:sp>
        <p:nvSpPr>
          <p:cNvPr id="162" name="Rounded Rectangle 161"/>
          <p:cNvSpPr/>
          <p:nvPr/>
        </p:nvSpPr>
        <p:spPr>
          <a:xfrm>
            <a:off x="14316000" y="23436000"/>
            <a:ext cx="6024000" cy="1188000"/>
          </a:xfrm>
          <a:prstGeom prst="roundRect">
            <a:avLst>
              <a:gd name="adj" fmla="val 8000"/>
            </a:avLst>
          </a:prstGeom>
          <a:solidFill>
            <a:srgbClr val="EEE6FD"/>
          </a:solidFill>
          <a:ln>
            <a:noFill/>
          </a:ln>
        </p:spPr>
        <p:txBody>
          <a:bodyPr rtlCol="0" anchor="ctr" lIns="54000" rIns="54000" tIns="54000" bIns="54000"/>
          <a:lstStyle/>
          <a:p>
            <a:pPr algn="ctr"/>
          </a:p>
        </p:txBody>
      </p:sp>
      <p:sp>
        <p:nvSpPr>
          <p:cNvPr id="163" name="TextBox 162"/>
          <p:cNvSpPr txBox="1"/>
          <p:nvPr/>
        </p:nvSpPr>
        <p:spPr>
          <a:xfrm>
            <a:off x="1080000" y="19692000"/>
            <a:ext cx="2664000" cy="1152000"/>
          </a:xfrm>
          <a:prstGeom prst="rect">
            <a:avLst/>
          </a:prstGeom>
          <a:noFill/>
        </p:spPr>
        <p:txBody>
          <a:bodyPr wrap="square" lIns="0" rIns="0" tIns="0" bIns="0" anchor="t">
            <a:noAutofit/>
          </a:bodyPr>
          <a:lstStyle/>
          <a:p>
            <a:pPr algn="l" marL="0" indent="0">
              <a:lnSpc>
                <a:spcPct val="85000"/>
              </a:lnSpc>
              <a:spcBef>
                <a:spcPts val="0"/>
              </a:spcBef>
              <a:spcAft>
                <a:spcPts val="0"/>
              </a:spcAft>
              <a:buNone/>
            </a:pPr>
            <a:r>
              <a:rPr sz="5800" b="1" i="0" lang="ko-KR">
                <a:solidFill>
                  <a:srgbClr val="7C3AED"/>
                </a:solidFill>
                <a:latin typeface="맑은 고딕"/>
                <a:ea typeface="맑은 고딕"/>
                <a:cs typeface="맑은 고딕"/>
              </a:rPr>
              <a:t>45.8%</a:t>
            </a:r>
          </a:p>
          <a:p>
            <a:pPr algn="l" marL="0" indent="0">
              <a:spcBef>
                <a:spcPts val="0"/>
              </a:spcBef>
              <a:spcAft>
                <a:spcPts val="0"/>
              </a:spcAft>
              <a:buNone/>
            </a:pPr>
            <a:r>
              <a:rPr sz="1700" b="1" i="0" lang="ko-KR">
                <a:solidFill>
                  <a:srgbClr val="1E2532"/>
                </a:solidFill>
                <a:latin typeface="맑은 고딕"/>
                <a:ea typeface="맑은 고딕"/>
                <a:cs typeface="맑은 고딕"/>
              </a:rPr>
              <a:t>통합형 = 최다 유형</a:t>
            </a:r>
          </a:p>
        </p:txBody>
      </p:sp>
      <p:sp>
        <p:nvSpPr>
          <p:cNvPr id="164" name="TextBox 163"/>
          <p:cNvSpPr txBox="1"/>
          <p:nvPr/>
        </p:nvSpPr>
        <p:spPr>
          <a:xfrm>
            <a:off x="3780000" y="19764000"/>
            <a:ext cx="3288000" cy="936000"/>
          </a:xfrm>
          <a:prstGeom prst="rect">
            <a:avLst/>
          </a:prstGeom>
          <a:noFill/>
        </p:spPr>
        <p:txBody>
          <a:bodyPr wrap="square" lIns="0" rIns="0" tIns="0" bIns="0" anchor="t">
            <a:noAutofit/>
          </a:bodyPr>
          <a:lstStyle/>
          <a:p>
            <a:pPr algn="l" marL="0" indent="0">
              <a:lnSpc>
                <a:spcPct val="90000"/>
              </a:lnSpc>
              <a:spcBef>
                <a:spcPts val="0"/>
              </a:spcBef>
              <a:spcAft>
                <a:spcPts val="0"/>
              </a:spcAft>
              <a:buNone/>
            </a:pPr>
            <a:r>
              <a:rPr sz="3600" b="1" i="0" lang="ko-KR">
                <a:solidFill>
                  <a:srgbClr val="9A72E8"/>
                </a:solidFill>
                <a:latin typeface="맑은 고딕"/>
                <a:ea typeface="맑은 고딕"/>
                <a:cs typeface="맑은 고딕"/>
              </a:rPr>
              <a:t>37.2%</a:t>
            </a:r>
          </a:p>
          <a:p>
            <a:pPr algn="l" marL="0" indent="0">
              <a:spcBef>
                <a:spcPts val="0"/>
              </a:spcBef>
              <a:spcAft>
                <a:spcPts val="0"/>
              </a:spcAft>
              <a:buNone/>
            </a:pPr>
            <a:r>
              <a:rPr sz="1500" b="0" i="0" lang="ko-KR">
                <a:solidFill>
                  <a:srgbClr val="5B6475"/>
                </a:solidFill>
                <a:latin typeface="맑은 고딕"/>
                <a:ea typeface="맑은 고딕"/>
                <a:cs typeface="맑은 고딕"/>
              </a:rPr>
              <a:t>패키징 단계 공정을 제외한</a:t>
            </a:r>
          </a:p>
          <a:p>
            <a:pPr algn="l" marL="0" indent="0">
              <a:spcBef>
                <a:spcPts val="0"/>
              </a:spcBef>
              <a:spcAft>
                <a:spcPts val="0"/>
              </a:spcAft>
              <a:buNone/>
            </a:pPr>
            <a:r>
              <a:rPr sz="1500" b="0" i="0" lang="ko-KR">
                <a:solidFill>
                  <a:srgbClr val="5B6475"/>
                </a:solidFill>
                <a:latin typeface="맑은 고딕"/>
                <a:ea typeface="맑은 고딕"/>
                <a:cs typeface="맑은 고딕"/>
              </a:rPr>
              <a:t>좁은 정의에서도</a:t>
            </a:r>
          </a:p>
        </p:txBody>
      </p:sp>
      <p:sp>
        <p:nvSpPr>
          <p:cNvPr id="165" name="TextBox 164"/>
          <p:cNvSpPr txBox="1"/>
          <p:nvPr/>
        </p:nvSpPr>
        <p:spPr>
          <a:xfrm>
            <a:off x="1080000" y="20898000"/>
            <a:ext cx="5952000" cy="288000"/>
          </a:xfrm>
          <a:prstGeom prst="rect">
            <a:avLst/>
          </a:prstGeom>
          <a:noFill/>
        </p:spPr>
        <p:txBody>
          <a:bodyPr wrap="square" lIns="0" rIns="0" tIns="0" bIns="0" anchor="t">
            <a:noAutofit/>
          </a:bodyPr>
          <a:lstStyle/>
          <a:p>
            <a:pPr algn="l" marL="0" indent="0">
              <a:spcBef>
                <a:spcPts val="0"/>
              </a:spcBef>
              <a:spcAft>
                <a:spcPts val="0"/>
              </a:spcAft>
              <a:buNone/>
            </a:pPr>
            <a:r>
              <a:rPr sz="1600" b="1" i="0" lang="ko-KR">
                <a:solidFill>
                  <a:srgbClr val="13294B"/>
                </a:solidFill>
                <a:latin typeface="맑은 고딕"/>
                <a:ea typeface="맑은 고딕"/>
                <a:cs typeface="맑은 고딕"/>
              </a:rPr>
              <a:t>기술범위(CPC 서브그룹 수)별 예측확률</a:t>
            </a:r>
          </a:p>
        </p:txBody>
      </p:sp>
      <p:graphicFrame>
        <p:nvGraphicFramePr>
          <p:cNvPr id="166" name="Chart 165"/>
          <p:cNvGraphicFramePr>
            <a:graphicFrameLocks noGrp="1"/>
          </p:cNvGraphicFramePr>
          <p:nvPr/>
        </p:nvGraphicFramePr>
        <p:xfrm>
          <a:off x="1008000" y="21168000"/>
          <a:ext cx="6096000" cy="2196000"/>
        </p:xfrm>
        <a:graphic>
          <a:graphicData uri="http://schemas.openxmlformats.org/drawingml/2006/chart">
            <c:chart xmlns:c="http://schemas.openxmlformats.org/drawingml/2006/chart" r:id="rId10"/>
          </a:graphicData>
        </a:graphic>
      </p:graphicFrame>
      <p:sp>
        <p:nvSpPr>
          <p:cNvPr id="167" name="TextBox 166"/>
          <p:cNvSpPr txBox="1"/>
          <p:nvPr/>
        </p:nvSpPr>
        <p:spPr>
          <a:xfrm>
            <a:off x="1152000" y="23490000"/>
            <a:ext cx="5844000" cy="1080000"/>
          </a:xfrm>
          <a:prstGeom prst="rect">
            <a:avLst/>
          </a:prstGeom>
          <a:noFill/>
        </p:spPr>
        <p:txBody>
          <a:bodyPr wrap="square" lIns="0" rIns="0" tIns="0" bIns="0" anchor="ctr">
            <a:noAutofit/>
          </a:bodyPr>
          <a:lstStyle/>
          <a:p>
            <a:pPr algn="l" marL="234000" indent="-234000">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세부 기술이 다양한 출원일수록 통합형</a:t>
            </a:r>
          </a:p>
          <a:p>
            <a:pPr algn="l" marL="234000" indent="-234000">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기술범위 1 증가 → 상대위험 1.40배</a:t>
            </a:r>
            <a:r>
              <a:rPr sz="1500" b="0" i="0" lang="ko-KR">
                <a:solidFill>
                  <a:srgbClr val="5B6475"/>
                </a:solidFill>
                <a:latin typeface="맑은 고딕"/>
                <a:ea typeface="맑은 고딕"/>
                <a:cs typeface="맑은 고딕"/>
              </a:rPr>
              <a:t> (RRR 1.403***)</a:t>
            </a:r>
          </a:p>
          <a:p>
            <a:pPr algn="l" marL="234000" indent="-234000">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기술범위 3 → 통합형 확률 0.26, 8 → 0.68</a:t>
            </a:r>
          </a:p>
        </p:txBody>
      </p:sp>
      <p:sp>
        <p:nvSpPr>
          <p:cNvPr id="168" name="TextBox 167"/>
          <p:cNvSpPr txBox="1"/>
          <p:nvPr/>
        </p:nvSpPr>
        <p:spPr>
          <a:xfrm>
            <a:off x="7716000" y="19710000"/>
            <a:ext cx="5952000" cy="288000"/>
          </a:xfrm>
          <a:prstGeom prst="rect">
            <a:avLst/>
          </a:prstGeom>
          <a:noFill/>
        </p:spPr>
        <p:txBody>
          <a:bodyPr wrap="square" lIns="0" rIns="0" tIns="0" bIns="0" anchor="t">
            <a:noAutofit/>
          </a:bodyPr>
          <a:lstStyle/>
          <a:p>
            <a:pPr algn="l" marL="0" indent="0">
              <a:spcBef>
                <a:spcPts val="0"/>
              </a:spcBef>
              <a:spcAft>
                <a:spcPts val="0"/>
              </a:spcAft>
              <a:buNone/>
            </a:pPr>
            <a:r>
              <a:rPr sz="1600" b="1" i="0" lang="ko-KR">
                <a:solidFill>
                  <a:srgbClr val="13294B"/>
                </a:solidFill>
                <a:latin typeface="맑은 고딕"/>
                <a:ea typeface="맑은 고딕"/>
                <a:cs typeface="맑은 고딕"/>
              </a:rPr>
              <a:t>시기별 공동분류 유형 구성비 (%)</a:t>
            </a:r>
          </a:p>
        </p:txBody>
      </p:sp>
      <p:graphicFrame>
        <p:nvGraphicFramePr>
          <p:cNvPr id="169" name="Chart 168"/>
          <p:cNvGraphicFramePr>
            <a:graphicFrameLocks noGrp="1"/>
          </p:cNvGraphicFramePr>
          <p:nvPr/>
        </p:nvGraphicFramePr>
        <p:xfrm>
          <a:off x="7644000" y="19980000"/>
          <a:ext cx="6096000" cy="3384000"/>
        </p:xfrm>
        <a:graphic>
          <a:graphicData uri="http://schemas.openxmlformats.org/drawingml/2006/chart">
            <c:chart xmlns:c="http://schemas.openxmlformats.org/drawingml/2006/chart" r:id="rId11"/>
          </a:graphicData>
        </a:graphic>
      </p:graphicFrame>
      <p:sp>
        <p:nvSpPr>
          <p:cNvPr id="170" name="TextBox 169"/>
          <p:cNvSpPr txBox="1"/>
          <p:nvPr/>
        </p:nvSpPr>
        <p:spPr>
          <a:xfrm>
            <a:off x="7788000" y="23490000"/>
            <a:ext cx="5844000" cy="1080000"/>
          </a:xfrm>
          <a:prstGeom prst="rect">
            <a:avLst/>
          </a:prstGeom>
          <a:noFill/>
        </p:spPr>
        <p:txBody>
          <a:bodyPr wrap="square" lIns="0" rIns="0" tIns="0" bIns="0" anchor="ctr">
            <a:noAutofit/>
          </a:bodyPr>
          <a:lstStyle/>
          <a:p>
            <a:pPr algn="l" marL="234000" indent="-234000">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통합형 31.3% → 62.2% → 44.3%</a:t>
            </a:r>
          </a:p>
          <a:p>
            <a:pPr algn="l" marL="234000" indent="-234000">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공정 단독형 상대위험 매년 8.7% 감소</a:t>
            </a:r>
            <a:r>
              <a:rPr sz="1500" b="0" i="0" lang="ko-KR">
                <a:solidFill>
                  <a:srgbClr val="5B6475"/>
                </a:solidFill>
                <a:latin typeface="맑은 고딕"/>
                <a:ea typeface="맑은 고딕"/>
                <a:cs typeface="맑은 고딕"/>
              </a:rPr>
              <a:t> (RRR 0.913***)</a:t>
            </a:r>
          </a:p>
          <a:p>
            <a:pPr algn="l" marL="234000" indent="-234000">
              <a:spcBef>
                <a:spcPts val="0"/>
              </a:spcBef>
              <a:spcAft>
                <a:spcPts val="300"/>
              </a:spcAft>
              <a:buClr>
                <a:srgbClr val="7C3AED"/>
              </a:buClr>
              <a:buFont typeface="Arial"/>
              <a:buChar char="●"/>
            </a:pPr>
            <a:r>
              <a:rPr sz="1700" b="1" i="0" lang="ko-KR">
                <a:solidFill>
                  <a:srgbClr val="1E2532"/>
                </a:solidFill>
                <a:latin typeface="맑은 고딕"/>
                <a:ea typeface="맑은 고딕"/>
                <a:cs typeface="맑은 고딕"/>
              </a:rPr>
              <a:t>출원의 무게중심: 제조공정 → 접합</a:t>
            </a:r>
          </a:p>
        </p:txBody>
      </p:sp>
      <p:sp>
        <p:nvSpPr>
          <p:cNvPr id="171" name="TextBox 170"/>
          <p:cNvSpPr txBox="1"/>
          <p:nvPr/>
        </p:nvSpPr>
        <p:spPr>
          <a:xfrm>
            <a:off x="14352000" y="19710000"/>
            <a:ext cx="5952000" cy="288000"/>
          </a:xfrm>
          <a:prstGeom prst="rect">
            <a:avLst/>
          </a:prstGeom>
          <a:noFill/>
        </p:spPr>
        <p:txBody>
          <a:bodyPr wrap="square" lIns="0" rIns="0" tIns="0" bIns="0" anchor="t">
            <a:noAutofit/>
          </a:bodyPr>
          <a:lstStyle/>
          <a:p>
            <a:pPr algn="l" marL="0" indent="0">
              <a:spcBef>
                <a:spcPts val="0"/>
              </a:spcBef>
              <a:spcAft>
                <a:spcPts val="0"/>
              </a:spcAft>
              <a:buNone/>
            </a:pPr>
            <a:r>
              <a:rPr sz="1600" b="1" i="0" lang="ko-KR">
                <a:solidFill>
                  <a:srgbClr val="13294B"/>
                </a:solidFill>
                <a:latin typeface="맑은 고딕"/>
                <a:ea typeface="맑은 고딕"/>
                <a:cs typeface="맑은 고딕"/>
              </a:rPr>
              <a:t>핵심 기술 보유 → 통합형 승산비 (95% CI)</a:t>
            </a:r>
          </a:p>
        </p:txBody>
      </p:sp>
      <p:cxnSp>
        <p:nvCxnSpPr>
          <p:cNvPr id="172" name="Connector 171"/>
          <p:cNvCxnSpPr/>
          <p:nvPr/>
        </p:nvCxnSpPr>
        <p:spPr>
          <a:xfrm>
            <a:off x="16818857" y="20034000"/>
            <a:ext cx="0" cy="1026000"/>
          </a:xfrm>
          <a:prstGeom prst="line">
            <a:avLst/>
          </a:prstGeom>
          <a:ln w="19050">
            <a:solidFill>
              <a:srgbClr val="9AA3B2"/>
            </a:solidFill>
            <a:prstDash val="dash"/>
          </a:ln>
        </p:spPr>
      </p:cxnSp>
      <p:sp>
        <p:nvSpPr>
          <p:cNvPr id="173" name="TextBox 172"/>
          <p:cNvSpPr txBox="1"/>
          <p:nvPr/>
        </p:nvSpPr>
        <p:spPr>
          <a:xfrm>
            <a:off x="14352000" y="20052000"/>
            <a:ext cx="1080000" cy="324000"/>
          </a:xfrm>
          <a:prstGeom prst="rect">
            <a:avLst/>
          </a:prstGeom>
          <a:noFill/>
        </p:spPr>
        <p:txBody>
          <a:bodyPr wrap="square" lIns="0" rIns="0" tIns="0" bIns="0" anchor="ctr">
            <a:noAutofit/>
          </a:bodyPr>
          <a:lstStyle/>
          <a:p>
            <a:pPr algn="l" marL="0" indent="0">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174" name="Connector 173"/>
          <p:cNvCxnSpPr/>
          <p:nvPr/>
        </p:nvCxnSpPr>
        <p:spPr>
          <a:xfrm>
            <a:off x="18219806" y="20214000"/>
            <a:ext cx="1883859" cy="0"/>
          </a:xfrm>
          <a:prstGeom prst="line">
            <a:avLst/>
          </a:prstGeom>
          <a:ln w="44450">
            <a:solidFill>
              <a:srgbClr val="2563C9"/>
            </a:solidFill>
          </a:ln>
        </p:spPr>
      </p:cxnSp>
      <p:sp>
        <p:nvSpPr>
          <p:cNvPr id="175" name="Oval 174"/>
          <p:cNvSpPr/>
          <p:nvPr/>
        </p:nvSpPr>
        <p:spPr>
          <a:xfrm>
            <a:off x="19053725" y="20106000"/>
            <a:ext cx="216000" cy="216000"/>
          </a:xfrm>
          <a:prstGeom prst="ellipse">
            <a:avLst/>
          </a:prstGeom>
          <a:solidFill>
            <a:srgbClr val="2563C9"/>
          </a:solidFill>
          <a:ln>
            <a:noFill/>
          </a:ln>
        </p:spPr>
        <p:txBody>
          <a:bodyPr rtlCol="0" anchor="ctr" lIns="54000" rIns="54000" tIns="54000" bIns="54000"/>
          <a:lstStyle/>
          <a:p>
            <a:pPr algn="ctr"/>
          </a:p>
        </p:txBody>
      </p:sp>
      <p:sp>
        <p:nvSpPr>
          <p:cNvPr id="176" name="TextBox 175"/>
          <p:cNvSpPr txBox="1"/>
          <p:nvPr/>
        </p:nvSpPr>
        <p:spPr>
          <a:xfrm>
            <a:off x="17937725" y="19872000"/>
            <a:ext cx="1080000" cy="216000"/>
          </a:xfrm>
          <a:prstGeom prst="rect">
            <a:avLst/>
          </a:prstGeom>
          <a:noFill/>
        </p:spPr>
        <p:txBody>
          <a:bodyPr wrap="square" lIns="0" rIns="0" tIns="0" bIns="0" anchor="t">
            <a:noAutofit/>
          </a:bodyPr>
          <a:lstStyle/>
          <a:p>
            <a:pPr algn="r" marL="0" indent="0">
              <a:spcBef>
                <a:spcPts val="0"/>
              </a:spcBef>
              <a:spcAft>
                <a:spcPts val="0"/>
              </a:spcAft>
              <a:buNone/>
            </a:pPr>
            <a:r>
              <a:rPr sz="1400" b="1" i="0" lang="ko-KR">
                <a:solidFill>
                  <a:srgbClr val="2563C9"/>
                </a:solidFill>
                <a:latin typeface="맑은 고딕"/>
                <a:ea typeface="맑은 고딕"/>
                <a:cs typeface="맑은 고딕"/>
              </a:rPr>
              <a:t>11.07***</a:t>
            </a:r>
          </a:p>
        </p:txBody>
      </p:sp>
      <p:sp>
        <p:nvSpPr>
          <p:cNvPr id="177" name="TextBox 176"/>
          <p:cNvSpPr txBox="1"/>
          <p:nvPr/>
        </p:nvSpPr>
        <p:spPr>
          <a:xfrm>
            <a:off x="14352000" y="20394000"/>
            <a:ext cx="1080000" cy="324000"/>
          </a:xfrm>
          <a:prstGeom prst="rect">
            <a:avLst/>
          </a:prstGeom>
          <a:noFill/>
        </p:spPr>
        <p:txBody>
          <a:bodyPr wrap="square" lIns="0" rIns="0" tIns="0" bIns="0" anchor="ctr">
            <a:noAutofit/>
          </a:bodyPr>
          <a:lstStyle/>
          <a:p>
            <a:pPr algn="l" marL="0" indent="0">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178" name="Connector 177"/>
          <p:cNvCxnSpPr/>
          <p:nvPr/>
        </p:nvCxnSpPr>
        <p:spPr>
          <a:xfrm>
            <a:off x="16961802" y="20556000"/>
            <a:ext cx="1462445" cy="0"/>
          </a:xfrm>
          <a:prstGeom prst="line">
            <a:avLst/>
          </a:prstGeom>
          <a:ln w="44450">
            <a:solidFill>
              <a:srgbClr val="7C3AED"/>
            </a:solidFill>
          </a:ln>
        </p:spPr>
      </p:cxnSp>
      <p:sp>
        <p:nvSpPr>
          <p:cNvPr id="179" name="Oval 178"/>
          <p:cNvSpPr/>
          <p:nvPr/>
        </p:nvSpPr>
        <p:spPr>
          <a:xfrm>
            <a:off x="17584834" y="20448000"/>
            <a:ext cx="216000" cy="216000"/>
          </a:xfrm>
          <a:prstGeom prst="ellipse">
            <a:avLst/>
          </a:prstGeom>
          <a:solidFill>
            <a:srgbClr val="7C3AED"/>
          </a:solidFill>
          <a:ln>
            <a:noFill/>
          </a:ln>
        </p:spPr>
        <p:txBody>
          <a:bodyPr rtlCol="0" anchor="ctr" lIns="54000" rIns="54000" tIns="54000" bIns="54000"/>
          <a:lstStyle/>
          <a:p>
            <a:pPr algn="ctr"/>
          </a:p>
        </p:txBody>
      </p:sp>
      <p:sp>
        <p:nvSpPr>
          <p:cNvPr id="180" name="TextBox 179"/>
          <p:cNvSpPr txBox="1"/>
          <p:nvPr/>
        </p:nvSpPr>
        <p:spPr>
          <a:xfrm>
            <a:off x="18496247" y="20440800"/>
            <a:ext cx="1224000" cy="216000"/>
          </a:xfrm>
          <a:prstGeom prst="rect">
            <a:avLst/>
          </a:prstGeom>
          <a:noFill/>
        </p:spPr>
        <p:txBody>
          <a:bodyPr wrap="square" lIns="0" rIns="0" tIns="0" bIns="0" anchor="ctr">
            <a:noAutofit/>
          </a:bodyPr>
          <a:lstStyle/>
          <a:p>
            <a:pPr algn="l" marL="0" indent="0">
              <a:spcBef>
                <a:spcPts val="0"/>
              </a:spcBef>
              <a:spcAft>
                <a:spcPts val="0"/>
              </a:spcAft>
              <a:buNone/>
            </a:pPr>
            <a:r>
              <a:rPr sz="1400" b="1" i="0" lang="ko-KR">
                <a:solidFill>
                  <a:srgbClr val="7C3AED"/>
                </a:solidFill>
                <a:latin typeface="맑은 고딕"/>
                <a:ea typeface="맑은 고딕"/>
                <a:cs typeface="맑은 고딕"/>
              </a:rPr>
              <a:t>2.45**</a:t>
            </a:r>
          </a:p>
        </p:txBody>
      </p:sp>
      <p:sp>
        <p:nvSpPr>
          <p:cNvPr id="181" name="TextBox 180"/>
          <p:cNvSpPr txBox="1"/>
          <p:nvPr/>
        </p:nvSpPr>
        <p:spPr>
          <a:xfrm>
            <a:off x="14352000" y="20736000"/>
            <a:ext cx="1080000" cy="324000"/>
          </a:xfrm>
          <a:prstGeom prst="rect">
            <a:avLst/>
          </a:prstGeom>
          <a:noFill/>
        </p:spPr>
        <p:txBody>
          <a:bodyPr wrap="square" lIns="0" rIns="0" tIns="0" bIns="0" anchor="ctr">
            <a:noAutofit/>
          </a:bodyPr>
          <a:lstStyle/>
          <a:p>
            <a:pPr algn="l" marL="0" indent="0">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182" name="Connector 181"/>
          <p:cNvCxnSpPr/>
          <p:nvPr/>
        </p:nvCxnSpPr>
        <p:spPr>
          <a:xfrm>
            <a:off x="15860498" y="20898000"/>
            <a:ext cx="1102985" cy="0"/>
          </a:xfrm>
          <a:prstGeom prst="line">
            <a:avLst/>
          </a:prstGeom>
          <a:ln w="44450">
            <a:solidFill>
              <a:srgbClr val="EA7A28"/>
            </a:solidFill>
          </a:ln>
        </p:spPr>
      </p:cxnSp>
      <p:sp>
        <p:nvSpPr>
          <p:cNvPr id="183" name="Oval 182"/>
          <p:cNvSpPr/>
          <p:nvPr/>
        </p:nvSpPr>
        <p:spPr>
          <a:xfrm>
            <a:off x="16303006" y="20790000"/>
            <a:ext cx="216000" cy="216000"/>
          </a:xfrm>
          <a:prstGeom prst="ellipse">
            <a:avLst/>
          </a:prstGeom>
          <a:solidFill>
            <a:srgbClr val="EA7A28"/>
          </a:solidFill>
          <a:ln>
            <a:noFill/>
          </a:ln>
        </p:spPr>
        <p:txBody>
          <a:bodyPr rtlCol="0" anchor="ctr" lIns="54000" rIns="54000" tIns="54000" bIns="54000"/>
          <a:lstStyle/>
          <a:p>
            <a:pPr algn="ctr"/>
          </a:p>
        </p:txBody>
      </p:sp>
      <p:sp>
        <p:nvSpPr>
          <p:cNvPr id="184" name="TextBox 183"/>
          <p:cNvSpPr txBox="1"/>
          <p:nvPr/>
        </p:nvSpPr>
        <p:spPr>
          <a:xfrm>
            <a:off x="17035483" y="20782800"/>
            <a:ext cx="1224000" cy="216000"/>
          </a:xfrm>
          <a:prstGeom prst="rect">
            <a:avLst/>
          </a:prstGeom>
          <a:noFill/>
        </p:spPr>
        <p:txBody>
          <a:bodyPr wrap="square" lIns="0" rIns="0" tIns="0" bIns="0" anchor="ctr">
            <a:noAutofit/>
          </a:bodyPr>
          <a:lstStyle/>
          <a:p>
            <a:pPr algn="l" marL="0" indent="0">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185" name="Connector 184"/>
          <p:cNvCxnSpPr/>
          <p:nvPr/>
        </p:nvCxnSpPr>
        <p:spPr>
          <a:xfrm>
            <a:off x="15468000" y="21096000"/>
            <a:ext cx="4728000" cy="0"/>
          </a:xfrm>
          <a:prstGeom prst="line">
            <a:avLst/>
          </a:prstGeom>
          <a:ln w="15875">
            <a:solidFill>
              <a:srgbClr val="9AA3B2"/>
            </a:solidFill>
          </a:ln>
        </p:spPr>
      </p:cxnSp>
      <p:cxnSp>
        <p:nvCxnSpPr>
          <p:cNvPr id="186" name="Connector 185"/>
          <p:cNvCxnSpPr/>
          <p:nvPr/>
        </p:nvCxnSpPr>
        <p:spPr>
          <a:xfrm>
            <a:off x="15468000" y="21096000"/>
            <a:ext cx="0" cy="64800"/>
          </a:xfrm>
          <a:prstGeom prst="line">
            <a:avLst/>
          </a:prstGeom>
          <a:ln w="15875">
            <a:solidFill>
              <a:srgbClr val="9AA3B2"/>
            </a:solidFill>
          </a:ln>
        </p:spPr>
      </p:cxnSp>
      <p:sp>
        <p:nvSpPr>
          <p:cNvPr id="187" name="TextBox 186"/>
          <p:cNvSpPr txBox="1"/>
          <p:nvPr/>
        </p:nvSpPr>
        <p:spPr>
          <a:xfrm>
            <a:off x="15180000"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188" name="Connector 187"/>
          <p:cNvCxnSpPr/>
          <p:nvPr/>
        </p:nvCxnSpPr>
        <p:spPr>
          <a:xfrm>
            <a:off x="16143429" y="21096000"/>
            <a:ext cx="0" cy="64800"/>
          </a:xfrm>
          <a:prstGeom prst="line">
            <a:avLst/>
          </a:prstGeom>
          <a:ln w="15875">
            <a:solidFill>
              <a:srgbClr val="9AA3B2"/>
            </a:solidFill>
          </a:ln>
        </p:spPr>
      </p:cxnSp>
      <p:sp>
        <p:nvSpPr>
          <p:cNvPr id="189" name="TextBox 188"/>
          <p:cNvSpPr txBox="1"/>
          <p:nvPr/>
        </p:nvSpPr>
        <p:spPr>
          <a:xfrm>
            <a:off x="15855429"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190" name="Connector 189"/>
          <p:cNvCxnSpPr/>
          <p:nvPr/>
        </p:nvCxnSpPr>
        <p:spPr>
          <a:xfrm>
            <a:off x="16818857" y="21096000"/>
            <a:ext cx="0" cy="64800"/>
          </a:xfrm>
          <a:prstGeom prst="line">
            <a:avLst/>
          </a:prstGeom>
          <a:ln w="15875">
            <a:solidFill>
              <a:srgbClr val="9AA3B2"/>
            </a:solidFill>
          </a:ln>
        </p:spPr>
      </p:cxnSp>
      <p:sp>
        <p:nvSpPr>
          <p:cNvPr id="191" name="TextBox 190"/>
          <p:cNvSpPr txBox="1"/>
          <p:nvPr/>
        </p:nvSpPr>
        <p:spPr>
          <a:xfrm>
            <a:off x="16530857"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192" name="Connector 191"/>
          <p:cNvCxnSpPr/>
          <p:nvPr/>
        </p:nvCxnSpPr>
        <p:spPr>
          <a:xfrm>
            <a:off x="17494286" y="21096000"/>
            <a:ext cx="0" cy="64800"/>
          </a:xfrm>
          <a:prstGeom prst="line">
            <a:avLst/>
          </a:prstGeom>
          <a:ln w="15875">
            <a:solidFill>
              <a:srgbClr val="9AA3B2"/>
            </a:solidFill>
          </a:ln>
        </p:spPr>
      </p:cxnSp>
      <p:sp>
        <p:nvSpPr>
          <p:cNvPr id="193" name="TextBox 192"/>
          <p:cNvSpPr txBox="1"/>
          <p:nvPr/>
        </p:nvSpPr>
        <p:spPr>
          <a:xfrm>
            <a:off x="17206286"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194" name="Connector 193"/>
          <p:cNvCxnSpPr/>
          <p:nvPr/>
        </p:nvCxnSpPr>
        <p:spPr>
          <a:xfrm>
            <a:off x="18169714" y="21096000"/>
            <a:ext cx="0" cy="64800"/>
          </a:xfrm>
          <a:prstGeom prst="line">
            <a:avLst/>
          </a:prstGeom>
          <a:ln w="15875">
            <a:solidFill>
              <a:srgbClr val="9AA3B2"/>
            </a:solidFill>
          </a:ln>
        </p:spPr>
      </p:cxnSp>
      <p:sp>
        <p:nvSpPr>
          <p:cNvPr id="195" name="TextBox 194"/>
          <p:cNvSpPr txBox="1"/>
          <p:nvPr/>
        </p:nvSpPr>
        <p:spPr>
          <a:xfrm>
            <a:off x="17881714"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196" name="Connector 195"/>
          <p:cNvCxnSpPr/>
          <p:nvPr/>
        </p:nvCxnSpPr>
        <p:spPr>
          <a:xfrm>
            <a:off x="18845143" y="21096000"/>
            <a:ext cx="0" cy="64800"/>
          </a:xfrm>
          <a:prstGeom prst="line">
            <a:avLst/>
          </a:prstGeom>
          <a:ln w="15875">
            <a:solidFill>
              <a:srgbClr val="9AA3B2"/>
            </a:solidFill>
          </a:ln>
        </p:spPr>
      </p:cxnSp>
      <p:sp>
        <p:nvSpPr>
          <p:cNvPr id="197" name="TextBox 196"/>
          <p:cNvSpPr txBox="1"/>
          <p:nvPr/>
        </p:nvSpPr>
        <p:spPr>
          <a:xfrm>
            <a:off x="18557143"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198" name="Connector 197"/>
          <p:cNvCxnSpPr/>
          <p:nvPr/>
        </p:nvCxnSpPr>
        <p:spPr>
          <a:xfrm>
            <a:off x="19520571" y="21096000"/>
            <a:ext cx="0" cy="64800"/>
          </a:xfrm>
          <a:prstGeom prst="line">
            <a:avLst/>
          </a:prstGeom>
          <a:ln w="15875">
            <a:solidFill>
              <a:srgbClr val="9AA3B2"/>
            </a:solidFill>
          </a:ln>
        </p:spPr>
      </p:cxnSp>
      <p:sp>
        <p:nvSpPr>
          <p:cNvPr id="199" name="TextBox 198"/>
          <p:cNvSpPr txBox="1"/>
          <p:nvPr/>
        </p:nvSpPr>
        <p:spPr>
          <a:xfrm>
            <a:off x="19232571"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00" name="Connector 199"/>
          <p:cNvCxnSpPr/>
          <p:nvPr/>
        </p:nvCxnSpPr>
        <p:spPr>
          <a:xfrm>
            <a:off x="20196000" y="21096000"/>
            <a:ext cx="0" cy="64800"/>
          </a:xfrm>
          <a:prstGeom prst="line">
            <a:avLst/>
          </a:prstGeom>
          <a:ln w="15875">
            <a:solidFill>
              <a:srgbClr val="9AA3B2"/>
            </a:solidFill>
          </a:ln>
        </p:spPr>
      </p:cxnSp>
      <p:sp>
        <p:nvSpPr>
          <p:cNvPr id="201" name="TextBox 200"/>
          <p:cNvSpPr txBox="1"/>
          <p:nvPr/>
        </p:nvSpPr>
        <p:spPr>
          <a:xfrm>
            <a:off x="19908000" y="21160800"/>
            <a:ext cx="576000" cy="216000"/>
          </a:xfrm>
          <a:prstGeom prst="rect">
            <a:avLst/>
          </a:prstGeom>
          <a:noFill/>
        </p:spPr>
        <p:txBody>
          <a:bodyPr wrap="square" lIns="0" rIns="0" tIns="0" bIns="0" anchor="t">
            <a:noAutofit/>
          </a:bodyPr>
          <a:lstStyle/>
          <a:p>
            <a:pPr algn="ctr" marL="0" indent="0">
              <a:spcBef>
                <a:spcPts val="0"/>
              </a:spcBef>
              <a:spcAft>
                <a:spcPts val="0"/>
              </a:spcAft>
              <a:buNone/>
            </a:pPr>
            <a:r>
              <a:rPr sz="1300" b="0" i="0" lang="ko-KR">
                <a:solidFill>
                  <a:srgbClr val="5B6475"/>
                </a:solidFill>
                <a:latin typeface="맑은 고딕"/>
                <a:ea typeface="맑은 고딕"/>
                <a:cs typeface="맑은 고딕"/>
              </a:rPr>
              <a:t>32</a:t>
            </a:r>
          </a:p>
        </p:txBody>
      </p:sp>
      <p:sp>
        <p:nvSpPr>
          <p:cNvPr id="202" name="TextBox 201"/>
          <p:cNvSpPr txBox="1"/>
          <p:nvPr/>
        </p:nvSpPr>
        <p:spPr>
          <a:xfrm>
            <a:off x="14352000" y="21402000"/>
            <a:ext cx="5952000" cy="288000"/>
          </a:xfrm>
          <a:prstGeom prst="rect">
            <a:avLst/>
          </a:prstGeom>
          <a:noFill/>
        </p:spPr>
        <p:txBody>
          <a:bodyPr wrap="square" lIns="0" rIns="0" tIns="0" bIns="0" anchor="t">
            <a:noAutofit/>
          </a:bodyPr>
          <a:lstStyle/>
          <a:p>
            <a:pPr algn="l" marL="0" indent="0">
              <a:spcBef>
                <a:spcPts val="0"/>
              </a:spcBef>
              <a:spcAft>
                <a:spcPts val="0"/>
              </a:spcAft>
              <a:buNone/>
            </a:pPr>
            <a:r>
              <a:rPr sz="1600" b="1" i="0" lang="ko-KR">
                <a:solidFill>
                  <a:srgbClr val="13294B"/>
                </a:solidFill>
                <a:latin typeface="맑은 고딕"/>
                <a:ea typeface="맑은 고딕"/>
                <a:cs typeface="맑은 고딕"/>
              </a:rPr>
              <a:t>제조공정 영역별 접합 기호와의 결합 강도 (Jaccard)</a:t>
            </a:r>
          </a:p>
        </p:txBody>
      </p:sp>
      <p:graphicFrame>
        <p:nvGraphicFramePr>
          <p:cNvPr id="203" name="Chart 202"/>
          <p:cNvGraphicFramePr>
            <a:graphicFrameLocks noGrp="1"/>
          </p:cNvGraphicFramePr>
          <p:nvPr/>
        </p:nvGraphicFramePr>
        <p:xfrm>
          <a:off x="14280000" y="21654000"/>
          <a:ext cx="6096000" cy="1728000"/>
        </p:xfrm>
        <a:graphic>
          <a:graphicData uri="http://schemas.openxmlformats.org/drawingml/2006/chart">
            <c:chart xmlns:c="http://schemas.openxmlformats.org/drawingml/2006/chart" r:id="rId12"/>
          </a:graphicData>
        </a:graphic>
      </p:graphicFrame>
      <p:sp>
        <p:nvSpPr>
          <p:cNvPr id="204" name="TextBox 203"/>
          <p:cNvSpPr txBox="1"/>
          <p:nvPr/>
        </p:nvSpPr>
        <p:spPr>
          <a:xfrm>
            <a:off x="14424000" y="23490000"/>
            <a:ext cx="5844000" cy="1080000"/>
          </a:xfrm>
          <a:prstGeom prst="rect">
            <a:avLst/>
          </a:prstGeom>
          <a:noFill/>
        </p:spPr>
        <p:txBody>
          <a:bodyPr wrap="square" lIns="0" rIns="0" tIns="0" bIns="0" anchor="ctr">
            <a:noAutofit/>
          </a:bodyPr>
          <a:lstStyle/>
          <a:p>
            <a:pPr algn="l" marL="234000" indent="-234000">
              <a:spcBef>
                <a:spcPts val="0"/>
              </a:spcBef>
              <a:spcAft>
                <a:spcPts val="300"/>
              </a:spcAft>
              <a:buClr>
                <a:srgbClr val="7C3AED"/>
              </a:buClr>
              <a:buFont typeface="Arial"/>
              <a:buChar char="●"/>
            </a:pPr>
            <a:r>
              <a:rPr sz="1800" b="1" i="0" lang="ko-KR">
                <a:solidFill>
                  <a:srgbClr val="1E2532"/>
                </a:solidFill>
                <a:latin typeface="맑은 고딕"/>
                <a:ea typeface="맑은 고딕"/>
                <a:cs typeface="맑은 고딕"/>
              </a:rPr>
              <a:t>재편기에는 핵심 기술의 통합형 우위가 확인되지 않음</a:t>
            </a:r>
          </a:p>
          <a:p>
            <a:pPr algn="l" marL="234000" indent="-234000">
              <a:spcBef>
                <a:spcPts val="0"/>
              </a:spcBef>
              <a:spcAft>
                <a:spcPts val="300"/>
              </a:spcAft>
              <a:buClr>
                <a:srgbClr val="7C3AED"/>
              </a:buClr>
              <a:buFont typeface="Arial"/>
              <a:buChar char="●"/>
            </a:pPr>
            <a:r>
              <a:rPr sz="1700" b="0" i="0" lang="ko-KR">
                <a:solidFill>
                  <a:srgbClr val="1E2532"/>
                </a:solidFill>
                <a:latin typeface="맑은 고딕"/>
                <a:ea typeface="맑은 고딕"/>
                <a:cs typeface="맑은 고딕"/>
              </a:rPr>
              <a:t>접합 출원 중 핵심 기술 53.5% → 88.0%</a:t>
            </a:r>
          </a:p>
          <a:p>
            <a:pPr algn="l" marL="234000" indent="-234000">
              <a:spcBef>
                <a:spcPts val="0"/>
              </a:spcBef>
              <a:spcAft>
                <a:spcPts val="300"/>
              </a:spcAft>
              <a:buClr>
                <a:srgbClr val="7C3AED"/>
              </a:buClr>
              <a:buFont typeface="Arial"/>
              <a:buChar char="●"/>
            </a:pPr>
            <a:r>
              <a:rPr sz="1700" b="1" i="0" lang="ko-KR">
                <a:solidFill>
                  <a:srgbClr val="1E2532"/>
                </a:solidFill>
                <a:latin typeface="맑은 고딕"/>
                <a:ea typeface="맑은 고딕"/>
                <a:cs typeface="맑은 고딕"/>
              </a:rPr>
              <a:t>결합 중심: 웨이퍼 제조공정 → 공정 장치·패키징 단계 공정</a:t>
            </a:r>
          </a:p>
        </p:txBody>
      </p:sp>
      <p:sp>
        <p:nvSpPr>
          <p:cNvPr id="205" name="Rounded Rectangle 204"/>
          <p:cNvSpPr/>
          <p:nvPr/>
        </p:nvSpPr>
        <p:spPr>
          <a:xfrm>
            <a:off x="576000" y="25164000"/>
            <a:ext cx="20232000" cy="3600000"/>
          </a:xfrm>
          <a:prstGeom prst="roundRect">
            <a:avLst>
              <a:gd name="adj" fmla="val 2500"/>
            </a:avLst>
          </a:prstGeom>
          <a:solidFill>
            <a:srgbClr val="F2F5FA"/>
          </a:solidFill>
          <a:ln>
            <a:noFill/>
          </a:ln>
        </p:spPr>
        <p:txBody>
          <a:bodyPr rtlCol="0" anchor="ctr" lIns="54000" rIns="54000" tIns="54000" bIns="54000"/>
          <a:lstStyle/>
          <a:p>
            <a:pPr algn="ctr"/>
          </a:p>
        </p:txBody>
      </p:sp>
      <p:sp>
        <p:nvSpPr>
          <p:cNvPr id="206" name="Oval 205"/>
          <p:cNvSpPr/>
          <p:nvPr/>
        </p:nvSpPr>
        <p:spPr>
          <a:xfrm>
            <a:off x="828000" y="25380000"/>
            <a:ext cx="828000" cy="828000"/>
          </a:xfrm>
          <a:prstGeom prst="ellipse">
            <a:avLst/>
          </a:prstGeom>
          <a:solidFill>
            <a:srgbClr val="13294B"/>
          </a:solidFill>
          <a:ln>
            <a:noFill/>
          </a:ln>
        </p:spPr>
        <p:txBody>
          <a:bodyPr rtlCol="0" anchor="ctr" lIns="0" rIns="0" tIns="36000" bIns="36000" wrap="square"/>
          <a:lstStyle/>
          <a:p>
            <a:pPr algn="ctr" marL="0" indent="0">
              <a:spcBef>
                <a:spcPts val="0"/>
              </a:spcBef>
              <a:spcAft>
                <a:spcPts val="0"/>
              </a:spcAft>
              <a:buNone/>
            </a:pPr>
            <a:r>
              <a:rPr sz="3000" b="1" i="0" lang="ko-KR">
                <a:solidFill>
                  <a:srgbClr val="FFFFFF"/>
                </a:solidFill>
                <a:latin typeface="맑은 고딕"/>
                <a:ea typeface="맑은 고딕"/>
                <a:cs typeface="맑은 고딕"/>
              </a:rPr>
              <a:t>05</a:t>
            </a:r>
          </a:p>
        </p:txBody>
      </p:sp>
      <p:sp>
        <p:nvSpPr>
          <p:cNvPr id="207" name="TextBox 206"/>
          <p:cNvSpPr txBox="1"/>
          <p:nvPr/>
        </p:nvSpPr>
        <p:spPr>
          <a:xfrm>
            <a:off x="1800000" y="25362000"/>
            <a:ext cx="18720000" cy="864000"/>
          </a:xfrm>
          <a:prstGeom prst="rect">
            <a:avLst/>
          </a:prstGeom>
          <a:noFill/>
        </p:spPr>
        <p:txBody>
          <a:bodyPr wrap="square" lIns="0" rIns="0" tIns="0" bIns="0" anchor="ctr">
            <a:noAutofit/>
          </a:bodyPr>
          <a:lstStyle/>
          <a:p>
            <a:pPr algn="l" marL="0" indent="0">
              <a:spcBef>
                <a:spcPts val="0"/>
              </a:spcBef>
              <a:spcAft>
                <a:spcPts val="0"/>
              </a:spcAft>
              <a:buNone/>
            </a:pPr>
            <a:r>
              <a:rPr sz="4000" b="1" i="0" lang="ko-KR">
                <a:solidFill>
                  <a:srgbClr val="13294B"/>
                </a:solidFill>
                <a:latin typeface="맑은 고딕"/>
                <a:ea typeface="맑은 고딕"/>
                <a:cs typeface="맑은 고딕"/>
              </a:rPr>
              <a:t>결론 및 시사점</a:t>
            </a:r>
          </a:p>
        </p:txBody>
      </p:sp>
      <p:sp>
        <p:nvSpPr>
          <p:cNvPr id="208" name="Pentagon 207"/>
          <p:cNvSpPr/>
          <p:nvPr/>
        </p:nvSpPr>
        <p:spPr>
          <a:xfrm>
            <a:off x="900000" y="26244000"/>
            <a:ext cx="4320000" cy="648000"/>
          </a:xfrm>
          <a:prstGeom prst="homePlate">
            <a:avLst/>
          </a:prstGeom>
          <a:solidFill>
            <a:srgbClr val="2563C9"/>
          </a:solidFill>
          <a:ln>
            <a:noFill/>
          </a:ln>
        </p:spPr>
        <p:txBody>
          <a:bodyPr rtlCol="0" anchor="ctr" lIns="324000" rIns="324000" tIns="36000" bIns="36000" wrap="square"/>
          <a:lstStyle/>
          <a:p>
            <a:pPr algn="ctr" marL="0" indent="0">
              <a:spcBef>
                <a:spcPts val="0"/>
              </a:spcBef>
              <a:spcAft>
                <a:spcPts val="0"/>
              </a:spcAft>
              <a:buNone/>
            </a:pPr>
            <a:r>
              <a:rPr sz="2200" b="1" i="0" lang="ko-KR">
                <a:solidFill>
                  <a:srgbClr val="FFFFFF"/>
                </a:solidFill>
                <a:latin typeface="맑은 고딕"/>
                <a:ea typeface="맑은 고딕"/>
                <a:cs typeface="맑은 고딕"/>
              </a:rPr>
              <a:t>형성기  </a:t>
            </a:r>
            <a:r>
              <a:rPr sz="1700" b="0" i="0" lang="ko-KR">
                <a:solidFill>
                  <a:srgbClr val="FFFFFF"/>
                </a:solidFill>
                <a:latin typeface="맑은 고딕"/>
                <a:ea typeface="맑은 고딕"/>
                <a:cs typeface="맑은 고딕"/>
              </a:rPr>
              <a:t>–2014</a:t>
            </a:r>
          </a:p>
        </p:txBody>
      </p:sp>
      <p:sp>
        <p:nvSpPr>
          <p:cNvPr id="209" name="TextBox 208"/>
          <p:cNvSpPr txBox="1"/>
          <p:nvPr/>
        </p:nvSpPr>
        <p:spPr>
          <a:xfrm>
            <a:off x="1080000" y="26946000"/>
            <a:ext cx="3780000" cy="864000"/>
          </a:xfrm>
          <a:prstGeom prst="rect">
            <a:avLst/>
          </a:prstGeom>
          <a:noFill/>
        </p:spPr>
        <p:txBody>
          <a:bodyPr wrap="square" lIns="0" rIns="0" tIns="0" bIns="0" anchor="t">
            <a:noAutofit/>
          </a:bodyPr>
          <a:lstStyle/>
          <a:p>
            <a:pPr algn="l" marL="0" indent="0">
              <a:spcBef>
                <a:spcPts val="0"/>
              </a:spcBef>
              <a:spcAft>
                <a:spcPts val="100"/>
              </a:spcAft>
              <a:buNone/>
            </a:pPr>
            <a:r>
              <a:rPr sz="1700" b="1" i="0" lang="ko-KR">
                <a:solidFill>
                  <a:srgbClr val="2563C9"/>
                </a:solidFill>
                <a:latin typeface="맑은 고딕"/>
                <a:ea typeface="맑은 고딕"/>
                <a:cs typeface="맑은 고딕"/>
              </a:rPr>
              <a:t>공정 단독형 우세 (43.6%)</a:t>
            </a:r>
          </a:p>
          <a:p>
            <a:pPr algn="l" marL="0" indent="0">
              <a:spcBef>
                <a:spcPts val="0"/>
              </a:spcBef>
              <a:spcAft>
                <a:spcPts val="0"/>
              </a:spcAft>
              <a:buNone/>
            </a:pPr>
            <a:r>
              <a:rPr sz="1500" b="0" i="0" lang="ko-KR">
                <a:solidFill>
                  <a:srgbClr val="1E2532"/>
                </a:solidFill>
                <a:latin typeface="맑은 고딕"/>
                <a:ea typeface="맑은 고딕"/>
                <a:cs typeface="맑은 고딕"/>
              </a:rPr>
              <a:t>핵심 기술 출원은 제조공정 지식을 함께 포함 (OR 11.1)</a:t>
            </a:r>
          </a:p>
        </p:txBody>
      </p:sp>
      <p:sp>
        <p:nvSpPr>
          <p:cNvPr id="210" name="Chevron 209"/>
          <p:cNvSpPr/>
          <p:nvPr/>
        </p:nvSpPr>
        <p:spPr>
          <a:xfrm>
            <a:off x="5112000" y="26244000"/>
            <a:ext cx="4320000" cy="648000"/>
          </a:xfrm>
          <a:prstGeom prst="chevron">
            <a:avLst/>
          </a:prstGeom>
          <a:solidFill>
            <a:srgbClr val="7C3AED"/>
          </a:solidFill>
          <a:ln>
            <a:noFill/>
          </a:ln>
        </p:spPr>
        <p:txBody>
          <a:bodyPr rtlCol="0" anchor="ctr" lIns="324000" rIns="324000" tIns="36000" bIns="36000" wrap="square"/>
          <a:lstStyle/>
          <a:p>
            <a:pPr algn="ctr" marL="0" indent="0">
              <a:spcBef>
                <a:spcPts val="0"/>
              </a:spcBef>
              <a:spcAft>
                <a:spcPts val="0"/>
              </a:spcAft>
              <a:buNone/>
            </a:pPr>
            <a:r>
              <a:rPr sz="2200" b="1" i="0" lang="ko-KR">
                <a:solidFill>
                  <a:srgbClr val="FFFFFF"/>
                </a:solidFill>
                <a:latin typeface="맑은 고딕"/>
                <a:ea typeface="맑은 고딕"/>
                <a:cs typeface="맑은 고딕"/>
              </a:rPr>
              <a:t>확산기  </a:t>
            </a:r>
            <a:r>
              <a:rPr sz="1700" b="0" i="0" lang="ko-KR">
                <a:solidFill>
                  <a:srgbClr val="FFFFFF"/>
                </a:solidFill>
                <a:latin typeface="맑은 고딕"/>
                <a:ea typeface="맑은 고딕"/>
                <a:cs typeface="맑은 고딕"/>
              </a:rPr>
              <a:t>2015–2019</a:t>
            </a:r>
          </a:p>
        </p:txBody>
      </p:sp>
      <p:sp>
        <p:nvSpPr>
          <p:cNvPr id="211" name="TextBox 210"/>
          <p:cNvSpPr txBox="1"/>
          <p:nvPr/>
        </p:nvSpPr>
        <p:spPr>
          <a:xfrm>
            <a:off x="5292000" y="26946000"/>
            <a:ext cx="3780000" cy="864000"/>
          </a:xfrm>
          <a:prstGeom prst="rect">
            <a:avLst/>
          </a:prstGeom>
          <a:noFill/>
        </p:spPr>
        <p:txBody>
          <a:bodyPr wrap="square" lIns="0" rIns="0" tIns="0" bIns="0" anchor="t">
            <a:noAutofit/>
          </a:bodyPr>
          <a:lstStyle/>
          <a:p>
            <a:pPr algn="l" marL="0" indent="0">
              <a:spcBef>
                <a:spcPts val="0"/>
              </a:spcBef>
              <a:spcAft>
                <a:spcPts val="100"/>
              </a:spcAft>
              <a:buNone/>
            </a:pPr>
            <a:r>
              <a:rPr sz="1700" b="1" i="0" lang="ko-KR">
                <a:solidFill>
                  <a:srgbClr val="7C3AED"/>
                </a:solidFill>
                <a:latin typeface="맑은 고딕"/>
                <a:ea typeface="맑은 고딕"/>
                <a:cs typeface="맑은 고딕"/>
              </a:rPr>
              <a:t>통합형 정점 (62.2%)</a:t>
            </a:r>
          </a:p>
          <a:p>
            <a:pPr algn="l" marL="0" indent="0">
              <a:spcBef>
                <a:spcPts val="0"/>
              </a:spcBef>
              <a:spcAft>
                <a:spcPts val="0"/>
              </a:spcAft>
              <a:buNone/>
            </a:pPr>
            <a:r>
              <a:rPr sz="1500" b="0" i="0" lang="ko-KR">
                <a:solidFill>
                  <a:srgbClr val="1E2532"/>
                </a:solidFill>
                <a:latin typeface="맑은 고딕"/>
                <a:ea typeface="맑은 고딕"/>
                <a:cs typeface="맑은 고딕"/>
              </a:rPr>
              <a:t>웨이퍼 제조공정과의 결합이 가장 강함</a:t>
            </a:r>
          </a:p>
        </p:txBody>
      </p:sp>
      <p:sp>
        <p:nvSpPr>
          <p:cNvPr id="212" name="Chevron 211"/>
          <p:cNvSpPr/>
          <p:nvPr/>
        </p:nvSpPr>
        <p:spPr>
          <a:xfrm>
            <a:off x="9324000" y="26244000"/>
            <a:ext cx="4320000" cy="648000"/>
          </a:xfrm>
          <a:prstGeom prst="chevron">
            <a:avLst/>
          </a:prstGeom>
          <a:solidFill>
            <a:srgbClr val="EA7A28"/>
          </a:solidFill>
          <a:ln>
            <a:noFill/>
          </a:ln>
        </p:spPr>
        <p:txBody>
          <a:bodyPr rtlCol="0" anchor="ctr" lIns="324000" rIns="324000" tIns="36000" bIns="36000" wrap="square"/>
          <a:lstStyle/>
          <a:p>
            <a:pPr algn="ctr" marL="0" indent="0">
              <a:spcBef>
                <a:spcPts val="0"/>
              </a:spcBef>
              <a:spcAft>
                <a:spcPts val="0"/>
              </a:spcAft>
              <a:buNone/>
            </a:pPr>
            <a:r>
              <a:rPr sz="2200" b="1" i="0" lang="ko-KR">
                <a:solidFill>
                  <a:srgbClr val="FFFFFF"/>
                </a:solidFill>
                <a:latin typeface="맑은 고딕"/>
                <a:ea typeface="맑은 고딕"/>
                <a:cs typeface="맑은 고딕"/>
              </a:rPr>
              <a:t>재편기  </a:t>
            </a:r>
            <a:r>
              <a:rPr sz="1700" b="0" i="0" lang="ko-KR">
                <a:solidFill>
                  <a:srgbClr val="FFFFFF"/>
                </a:solidFill>
                <a:latin typeface="맑은 고딕"/>
                <a:ea typeface="맑은 고딕"/>
                <a:cs typeface="맑은 고딕"/>
              </a:rPr>
              <a:t>2020–2024</a:t>
            </a:r>
          </a:p>
        </p:txBody>
      </p:sp>
      <p:sp>
        <p:nvSpPr>
          <p:cNvPr id="213" name="TextBox 212"/>
          <p:cNvSpPr txBox="1"/>
          <p:nvPr/>
        </p:nvSpPr>
        <p:spPr>
          <a:xfrm>
            <a:off x="9504000" y="26946000"/>
            <a:ext cx="3780000" cy="864000"/>
          </a:xfrm>
          <a:prstGeom prst="rect">
            <a:avLst/>
          </a:prstGeom>
          <a:noFill/>
        </p:spPr>
        <p:txBody>
          <a:bodyPr wrap="square" lIns="0" rIns="0" tIns="0" bIns="0" anchor="t">
            <a:noAutofit/>
          </a:bodyPr>
          <a:lstStyle/>
          <a:p>
            <a:pPr algn="l" marL="0" indent="0">
              <a:spcBef>
                <a:spcPts val="0"/>
              </a:spcBef>
              <a:spcAft>
                <a:spcPts val="100"/>
              </a:spcAft>
              <a:buNone/>
            </a:pPr>
            <a:r>
              <a:rPr sz="1700" b="1" i="0" lang="ko-KR">
                <a:solidFill>
                  <a:srgbClr val="EA7A28"/>
                </a:solidFill>
                <a:latin typeface="맑은 고딕"/>
                <a:ea typeface="맑은 고딕"/>
                <a:cs typeface="맑은 고딕"/>
              </a:rPr>
              <a:t>접합 단독형 증가 (45.4%)</a:t>
            </a:r>
          </a:p>
          <a:p>
            <a:pPr algn="l" marL="0" indent="0">
              <a:spcBef>
                <a:spcPts val="0"/>
              </a:spcBef>
              <a:spcAft>
                <a:spcPts val="0"/>
              </a:spcAft>
              <a:buNone/>
            </a:pPr>
            <a:r>
              <a:rPr sz="1500" b="0" i="0" lang="ko-KR">
                <a:solidFill>
                  <a:srgbClr val="1E2532"/>
                </a:solidFill>
                <a:latin typeface="맑은 고딕"/>
                <a:ea typeface="맑은 고딕"/>
                <a:cs typeface="맑은 고딕"/>
              </a:rPr>
              <a:t>핵심 설계 고착화 → 공정 장치·패키징 단계 공정으로 이동</a:t>
            </a:r>
          </a:p>
        </p:txBody>
      </p:sp>
      <p:sp>
        <p:nvSpPr>
          <p:cNvPr id="214" name="Rounded Rectangle 213"/>
          <p:cNvSpPr/>
          <p:nvPr/>
        </p:nvSpPr>
        <p:spPr>
          <a:xfrm>
            <a:off x="900000" y="27846000"/>
            <a:ext cx="12744000" cy="702000"/>
          </a:xfrm>
          <a:prstGeom prst="roundRect">
            <a:avLst>
              <a:gd name="adj" fmla="val 12000"/>
            </a:avLst>
          </a:prstGeom>
          <a:solidFill>
            <a:srgbClr val="13294B"/>
          </a:solidFill>
          <a:ln>
            <a:noFill/>
          </a:ln>
        </p:spPr>
        <p:txBody>
          <a:bodyPr rtlCol="0" anchor="ctr" lIns="54000" rIns="54000" tIns="54000" bIns="54000"/>
          <a:lstStyle/>
          <a:p>
            <a:pPr algn="ctr"/>
          </a:p>
        </p:txBody>
      </p:sp>
      <p:sp>
        <p:nvSpPr>
          <p:cNvPr id="215" name="TextBox 214"/>
          <p:cNvSpPr txBox="1"/>
          <p:nvPr/>
        </p:nvSpPr>
        <p:spPr>
          <a:xfrm>
            <a:off x="1116000" y="27846000"/>
            <a:ext cx="12312000" cy="7020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900" b="1" i="0" lang="ko-KR">
                <a:solidFill>
                  <a:srgbClr val="FFFFFF"/>
                </a:solidFill>
                <a:latin typeface="맑은 고딕"/>
                <a:ea typeface="맑은 고딕"/>
                <a:cs typeface="맑은 고딕"/>
              </a:rPr>
              <a:t>공정 단계 간 기술융합은 단선적 확대가 아니라 융합의 내용과 중심이 국면에 따라 재편되는 </a:t>
            </a:r>
            <a:r>
              <a:rPr sz="1900" b="1" i="0" lang="ko-KR">
                <a:solidFill>
                  <a:srgbClr val="FFC000"/>
                </a:solidFill>
                <a:latin typeface="맑은 고딕"/>
                <a:ea typeface="맑은 고딕"/>
                <a:cs typeface="맑은 고딕"/>
              </a:rPr>
              <a:t>동태적 과정</a:t>
            </a:r>
            <a:r>
              <a:rPr sz="1900" b="1" i="0" lang="ko-KR">
                <a:solidFill>
                  <a:srgbClr val="FFFFFF"/>
                </a:solidFill>
                <a:latin typeface="맑은 고딕"/>
                <a:ea typeface="맑은 고딕"/>
                <a:cs typeface="맑은 고딕"/>
              </a:rPr>
              <a:t>이며, 그 배경에 핵심 기술 설계의 고착화가 있음을 시사한다.</a:t>
            </a:r>
          </a:p>
        </p:txBody>
      </p:sp>
      <p:sp>
        <p:nvSpPr>
          <p:cNvPr id="216" name="Rounded Rectangle 215"/>
          <p:cNvSpPr/>
          <p:nvPr/>
        </p:nvSpPr>
        <p:spPr>
          <a:xfrm>
            <a:off x="13968000" y="26244000"/>
            <a:ext cx="6516000" cy="1098000"/>
          </a:xfrm>
          <a:prstGeom prst="roundRect">
            <a:avLst>
              <a:gd name="adj" fmla="val 8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217" name="Oval 216"/>
          <p:cNvSpPr/>
          <p:nvPr/>
        </p:nvSpPr>
        <p:spPr>
          <a:xfrm>
            <a:off x="14094000" y="26352000"/>
            <a:ext cx="468000" cy="468000"/>
          </a:xfrm>
          <a:prstGeom prst="ellipse">
            <a:avLst/>
          </a:prstGeom>
          <a:solidFill>
            <a:srgbClr val="24406E"/>
          </a:solidFill>
          <a:ln>
            <a:noFill/>
          </a:ln>
        </p:spPr>
        <p:txBody>
          <a:bodyPr rtlCol="0" anchor="ctr" lIns="54000" rIns="54000" tIns="54000" bIns="54000"/>
          <a:lstStyle/>
          <a:p>
            <a:pPr algn="ctr"/>
          </a:p>
        </p:txBody>
      </p:sp>
      <p:pic>
        <p:nvPicPr>
          <p:cNvPr id="218" name="Picture 217" descr="FaGraduationCap_FFFFFF.png"/>
          <p:cNvPicPr>
            <a:picLocks noChangeAspect="1"/>
          </p:cNvPicPr>
          <p:nvPr/>
        </p:nvPicPr>
        <p:blipFill>
          <a:blip r:embed="rId13"/>
          <a:stretch>
            <a:fillRect/>
          </a:stretch>
        </p:blipFill>
        <p:spPr>
          <a:xfrm>
            <a:off x="14215680" y="26473680"/>
            <a:ext cx="224640" cy="224640"/>
          </a:xfrm>
          <a:prstGeom prst="rect">
            <a:avLst/>
          </a:prstGeom>
        </p:spPr>
      </p:pic>
      <p:sp>
        <p:nvSpPr>
          <p:cNvPr id="219" name="TextBox 218"/>
          <p:cNvSpPr txBox="1"/>
          <p:nvPr/>
        </p:nvSpPr>
        <p:spPr>
          <a:xfrm>
            <a:off x="14670000" y="26334000"/>
            <a:ext cx="5724000" cy="504000"/>
          </a:xfrm>
          <a:prstGeom prst="rect">
            <a:avLst/>
          </a:prstGeom>
          <a:noFill/>
        </p:spPr>
        <p:txBody>
          <a:bodyPr wrap="square" lIns="0" rIns="0" tIns="0" bIns="0" anchor="ctr">
            <a:noAutofit/>
          </a:bodyPr>
          <a:lstStyle/>
          <a:p>
            <a:pPr algn="l" marL="0" indent="0">
              <a:spcBef>
                <a:spcPts val="0"/>
              </a:spcBef>
              <a:spcAft>
                <a:spcPts val="0"/>
              </a:spcAft>
              <a:buNone/>
            </a:pPr>
            <a:r>
              <a:rPr sz="1800" b="1" i="0" lang="ko-KR">
                <a:solidFill>
                  <a:srgbClr val="13294B"/>
                </a:solidFill>
                <a:latin typeface="맑은 고딕"/>
                <a:ea typeface="맑은 고딕"/>
                <a:cs typeface="맑은 고딕"/>
              </a:rPr>
              <a:t>학술적 시사점</a:t>
            </a:r>
          </a:p>
        </p:txBody>
      </p:sp>
      <p:sp>
        <p:nvSpPr>
          <p:cNvPr id="220" name="TextBox 219"/>
          <p:cNvSpPr txBox="1"/>
          <p:nvPr/>
        </p:nvSpPr>
        <p:spPr>
          <a:xfrm>
            <a:off x="14112000" y="26838000"/>
            <a:ext cx="6246000" cy="4680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400" b="0" i="0" lang="ko-KR">
                <a:solidFill>
                  <a:srgbClr val="1E2532"/>
                </a:solidFill>
                <a:latin typeface="맑은 고딕"/>
                <a:ea typeface="맑은 고딕"/>
                <a:cs typeface="맑은 고딕"/>
              </a:rPr>
              <a:t>기술융합 연구의 범위를 공정 단계 간 융합으로 확장하고, 융합을 동태적 과정으로 실증</a:t>
            </a:r>
          </a:p>
        </p:txBody>
      </p:sp>
      <p:sp>
        <p:nvSpPr>
          <p:cNvPr id="221" name="Rounded Rectangle 220"/>
          <p:cNvSpPr/>
          <p:nvPr/>
        </p:nvSpPr>
        <p:spPr>
          <a:xfrm>
            <a:off x="13968000" y="27450000"/>
            <a:ext cx="6516000" cy="1098000"/>
          </a:xfrm>
          <a:prstGeom prst="roundRect">
            <a:avLst>
              <a:gd name="adj" fmla="val 8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222" name="Oval 221"/>
          <p:cNvSpPr/>
          <p:nvPr/>
        </p:nvSpPr>
        <p:spPr>
          <a:xfrm>
            <a:off x="14094000" y="27558000"/>
            <a:ext cx="468000" cy="468000"/>
          </a:xfrm>
          <a:prstGeom prst="ellipse">
            <a:avLst/>
          </a:prstGeom>
          <a:solidFill>
            <a:srgbClr val="24406E"/>
          </a:solidFill>
          <a:ln>
            <a:noFill/>
          </a:ln>
        </p:spPr>
        <p:txBody>
          <a:bodyPr rtlCol="0" anchor="ctr" lIns="54000" rIns="54000" tIns="54000" bIns="54000"/>
          <a:lstStyle/>
          <a:p>
            <a:pPr algn="ctr"/>
          </a:p>
        </p:txBody>
      </p:sp>
      <p:pic>
        <p:nvPicPr>
          <p:cNvPr id="223" name="Picture 222" descr="FaIndustry_FFFFFF.png"/>
          <p:cNvPicPr>
            <a:picLocks noChangeAspect="1"/>
          </p:cNvPicPr>
          <p:nvPr/>
        </p:nvPicPr>
        <p:blipFill>
          <a:blip r:embed="rId14"/>
          <a:stretch>
            <a:fillRect/>
          </a:stretch>
        </p:blipFill>
        <p:spPr>
          <a:xfrm>
            <a:off x="14215680" y="27679680"/>
            <a:ext cx="224640" cy="224640"/>
          </a:xfrm>
          <a:prstGeom prst="rect">
            <a:avLst/>
          </a:prstGeom>
        </p:spPr>
      </p:pic>
      <p:sp>
        <p:nvSpPr>
          <p:cNvPr id="224" name="TextBox 223"/>
          <p:cNvSpPr txBox="1"/>
          <p:nvPr/>
        </p:nvSpPr>
        <p:spPr>
          <a:xfrm>
            <a:off x="14670000" y="27540000"/>
            <a:ext cx="5724000" cy="504000"/>
          </a:xfrm>
          <a:prstGeom prst="rect">
            <a:avLst/>
          </a:prstGeom>
          <a:noFill/>
        </p:spPr>
        <p:txBody>
          <a:bodyPr wrap="square" lIns="0" rIns="0" tIns="0" bIns="0" anchor="ctr">
            <a:noAutofit/>
          </a:bodyPr>
          <a:lstStyle/>
          <a:p>
            <a:pPr algn="l" marL="0" indent="0">
              <a:spcBef>
                <a:spcPts val="0"/>
              </a:spcBef>
              <a:spcAft>
                <a:spcPts val="0"/>
              </a:spcAft>
              <a:buNone/>
            </a:pPr>
            <a:r>
              <a:rPr sz="1800" b="1" i="0" lang="ko-KR">
                <a:solidFill>
                  <a:srgbClr val="13294B"/>
                </a:solidFill>
                <a:latin typeface="맑은 고딕"/>
                <a:ea typeface="맑은 고딕"/>
                <a:cs typeface="맑은 고딕"/>
              </a:rPr>
              <a:t>실무적 시사점</a:t>
            </a:r>
          </a:p>
        </p:txBody>
      </p:sp>
      <p:sp>
        <p:nvSpPr>
          <p:cNvPr id="225" name="TextBox 224"/>
          <p:cNvSpPr txBox="1"/>
          <p:nvPr/>
        </p:nvSpPr>
        <p:spPr>
          <a:xfrm>
            <a:off x="14112000" y="28044000"/>
            <a:ext cx="6246000" cy="4680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400" b="0" i="0" lang="ko-KR">
                <a:solidFill>
                  <a:srgbClr val="1E2532"/>
                </a:solidFill>
                <a:latin typeface="맑은 고딕"/>
                <a:ea typeface="맑은 고딕"/>
                <a:cs typeface="맑은 고딕"/>
              </a:rPr>
              <a:t>HBM 등 하이브리드 본딩 경쟁력은 접합 원리 하나에 좌우되지 않을 수 있음 → 평탄화·표면 화학·정렬 계측과 얇은 다이를 다루고 적층하는 공정 역량까지 필요</a:t>
            </a:r>
          </a:p>
        </p:txBody>
      </p:sp>
      <p:sp>
        <p:nvSpPr>
          <p:cNvPr id="226" name="TextBox 225"/>
          <p:cNvSpPr txBox="1"/>
          <p:nvPr/>
        </p:nvSpPr>
        <p:spPr>
          <a:xfrm>
            <a:off x="576000" y="28962000"/>
            <a:ext cx="7560000" cy="1224000"/>
          </a:xfrm>
          <a:prstGeom prst="rect">
            <a:avLst/>
          </a:prstGeom>
          <a:noFill/>
        </p:spPr>
        <p:txBody>
          <a:bodyPr wrap="square" lIns="0" rIns="0" tIns="0" bIns="0" anchor="t">
            <a:noAutofit/>
          </a:bodyPr>
          <a:lstStyle/>
          <a:p>
            <a:pPr algn="l" marL="0" indent="0">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27" name="TextBox 226"/>
          <p:cNvSpPr txBox="1"/>
          <p:nvPr/>
        </p:nvSpPr>
        <p:spPr>
          <a:xfrm>
            <a:off x="13608000" y="28962000"/>
            <a:ext cx="7200000" cy="1224000"/>
          </a:xfrm>
          <a:prstGeom prst="rect">
            <a:avLst/>
          </a:prstGeom>
          <a:noFill/>
        </p:spPr>
        <p:txBody>
          <a:bodyPr wrap="square" lIns="0" rIns="0" tIns="0" bIns="0" anchor="t">
            <a:noAutofit/>
          </a:bodyPr>
          <a:lstStyle/>
          <a:p>
            <a:pPr algn="r" marL="0" indent="0">
              <a:spcBef>
                <a:spcPts val="0"/>
              </a:spcBef>
              <a:spcAft>
                <a:spcPts val="0"/>
              </a:spcAft>
              <a:buNone/>
            </a:pPr>
            <a:r>
              <a:rPr sz="1200" b="1" i="0" lang="ko-KR">
                <a:solidFill>
                  <a:srgbClr val="13294B"/>
                </a:solidFill>
                <a:latin typeface="맑은 고딕"/>
                <a:ea typeface="맑은 고딕"/>
                <a:cs typeface="맑은 고딕"/>
              </a:rPr>
              <a:t>Contact</a:t>
            </a:r>
          </a:p>
          <a:p>
            <a:pPr algn="r" marL="0" indent="0">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spcBef>
                <a:spcPts val="0"/>
              </a:spcBef>
              <a:spcAft>
                <a:spcPts val="0"/>
              </a:spcAft>
              <a:buNone/>
            </a:pPr>
            <a:r>
              <a:rPr sz="1200" b="0" i="0" lang="ko-KR">
                <a:solidFill>
                  <a:srgbClr val="1E2532"/>
                </a:solidFill>
                <a:latin typeface="맑은 고딕"/>
                <a:ea typeface="맑은 고딕"/>
                <a:cs typeface="맑은 고딕"/>
              </a:rPr>
              <a:t>higgack@gmail.com</a:t>
            </a:r>
          </a:p>
          <a:p>
            <a:pPr algn="r" marL="0" indent="0">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