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A78BFA"/>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FB9A4B"/>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5B9BFF"/>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A6B88"/>
            </a:solidFill>
          </a:ln>
        </c:spPr>
        <c:txPr>
          <a:bodyPr/>
          <a:lstStyle/>
          <a:p>
            <a:pPr>
              <a:defRPr sz="1300">
                <a:solidFill>
                  <a:srgbClr val="D6DEEB"/>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263652"/>
              </a:solidFill>
            </a:ln>
          </c:spPr>
        </c:majorGridlines>
        <c:numFmt formatCode="0.0" sourceLinked="0"/>
        <c:majorTickMark val="out"/>
        <c:minorTickMark val="none"/>
        <c:tickLblPos val="nextTo"/>
        <c:spPr>
          <a:ln>
            <a:noFill/>
          </a:ln>
        </c:spPr>
        <c:txPr>
          <a:bodyPr/>
          <a:lstStyle/>
          <a:p>
            <a:pPr>
              <a:defRPr sz="1300">
                <a:solidFill>
                  <a:srgbClr val="D6DEEB"/>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D6DEEB"/>
              </a:solidFill>
              <a:latin typeface="맑은 고딕"/>
              <a:ea typeface="맑은 고딕"/>
            </a:defRPr>
          </a:pPr>
        </a:p>
      </c:txPr>
    </c:legend>
    <c:plotVisOnly val="1"/>
    <c:dispBlanksAs val="gap"/>
    <c:showDLblsOverMax val="0"/>
  </c:chart>
  <c:txPr>
    <a:bodyPr/>
    <a:lstStyle/>
    <a:p>
      <a:pPr>
        <a:defRPr sz="1300">
          <a:solidFill>
            <a:srgbClr val="D6DEEB"/>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3B7BF0"/>
            </a:solidFill>
          </c:spPr>
          <c:dLbls>
            <c:numFmt formatCode="0.0" sourceLinked="0"/>
            <c:txPr>
              <a:bodyPr/>
              <a:lstStyle/>
              <a:p>
                <a:pPr>
                  <a:defRPr sz="16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8B5CF6"/>
            </a:solidFill>
          </c:spPr>
          <c:dLbls>
            <c:numFmt formatCode="0.0" sourceLinked="0"/>
            <c:txPr>
              <a:bodyPr/>
              <a:lstStyle/>
              <a:p>
                <a:pPr>
                  <a:defRPr sz="16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F08A3C"/>
            </a:solidFill>
          </c:spPr>
          <c:dLbls>
            <c:numFmt formatCode="0.0" sourceLinked="0"/>
            <c:txPr>
              <a:bodyPr/>
              <a:lstStyle/>
              <a:p>
                <a:pPr>
                  <a:defRPr sz="16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5A6B88"/>
            </a:solidFill>
          </a:ln>
        </c:spPr>
        <c:txPr>
          <a:bodyPr/>
          <a:lstStyle/>
          <a:p>
            <a:pPr>
              <a:defRPr sz="1300">
                <a:solidFill>
                  <a:srgbClr val="D6DEEB"/>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300">
                <a:solidFill>
                  <a:srgbClr val="D6DEEB"/>
                </a:solidFill>
                <a:latin typeface="맑은 고딕"/>
                <a:ea typeface="맑은 고딕"/>
              </a:defRPr>
            </a:pPr>
          </a:p>
        </c:txPr>
        <c:crossAx val="-2068027336"/>
        <c:crosses val="autoZero"/>
      </c:valAx>
    </c:plotArea>
    <c:legend>
      <c:legendPos val="t"/>
      <c:overlay val="0"/>
      <c:txPr>
        <a:bodyPr/>
        <a:lstStyle/>
        <a:p>
          <a:pPr>
            <a:defRPr sz="1300">
              <a:solidFill>
                <a:srgbClr val="D6DEEB"/>
              </a:solidFill>
              <a:latin typeface="맑은 고딕"/>
              <a:ea typeface="맑은 고딕"/>
            </a:defRPr>
          </a:pPr>
        </a:p>
      </c:txPr>
    </c:legend>
    <c:dispBlanksAs val="gap"/>
  </c:chart>
  <c:txPr>
    <a:bodyPr/>
    <a:lstStyle/>
    <a:p>
      <a:pPr>
        <a:defRPr sz="1300">
          <a:solidFill>
            <a:srgbClr val="D6DEEB"/>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5B9BFF"/>
              </a:solidFill>
            </a:ln>
          </c:spPr>
          <c:marker>
            <c:symbol val="circle"/>
            <c:size val="10"/>
            <c:spPr>
              <a:solidFill>
                <a:srgbClr val="5B9BFF"/>
              </a:solidFill>
              <a:ln>
                <a:solidFill>
                  <a:srgbClr val="5B9BFF"/>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2DD4BF"/>
              </a:solidFill>
            </a:ln>
          </c:spPr>
          <c:marker>
            <c:symbol val="circle"/>
            <c:size val="10"/>
            <c:spPr>
              <a:solidFill>
                <a:srgbClr val="2DD4BF"/>
              </a:solidFill>
              <a:ln>
                <a:solidFill>
                  <a:srgbClr val="2DD4BF"/>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FACC15"/>
              </a:solidFill>
            </a:ln>
          </c:spPr>
          <c:marker>
            <c:symbol val="circle"/>
            <c:size val="10"/>
            <c:spPr>
              <a:solidFill>
                <a:srgbClr val="FACC15"/>
              </a:solidFill>
              <a:ln>
                <a:solidFill>
                  <a:srgbClr val="FACC15"/>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A6B88"/>
            </a:solidFill>
          </a:ln>
        </c:spPr>
        <c:txPr>
          <a:bodyPr/>
          <a:lstStyle/>
          <a:p>
            <a:pPr>
              <a:defRPr sz="1200">
                <a:solidFill>
                  <a:srgbClr val="D6DEEB"/>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263652"/>
              </a:solidFill>
            </a:ln>
          </c:spPr>
        </c:majorGridlines>
        <c:numFmt formatCode="0.0" sourceLinked="0"/>
        <c:majorTickMark val="out"/>
        <c:minorTickMark val="none"/>
        <c:tickLblPos val="nextTo"/>
        <c:spPr>
          <a:ln>
            <a:noFill/>
          </a:ln>
        </c:spPr>
        <c:txPr>
          <a:bodyPr/>
          <a:lstStyle/>
          <a:p>
            <a:pPr>
              <a:defRPr sz="1200">
                <a:solidFill>
                  <a:srgbClr val="D6DEEB"/>
                </a:solidFill>
                <a:latin typeface="맑은 고딕"/>
                <a:ea typeface="맑은 고딕"/>
              </a:defRPr>
            </a:pPr>
          </a:p>
        </c:txPr>
        <c:crossAx val="2118791784"/>
        <c:crosses val="autoZero"/>
        <c:majorUnit val="0.2"/>
      </c:valAx>
    </c:plotArea>
    <c:legend>
      <c:legendPos val="t"/>
      <c:layout/>
      <c:overlay val="0"/>
      <c:txPr>
        <a:bodyPr/>
        <a:lstStyle/>
        <a:p>
          <a:pPr>
            <a:defRPr sz="1200">
              <a:solidFill>
                <a:srgbClr val="D6DEEB"/>
              </a:solidFill>
              <a:latin typeface="맑은 고딕"/>
              <a:ea typeface="맑은 고딕"/>
            </a:defRPr>
          </a:pPr>
        </a:p>
      </c:txPr>
    </c:legend>
    <c:plotVisOnly val="1"/>
    <c:dispBlanksAs val="gap"/>
    <c:showDLblsOverMax val="0"/>
  </c:chart>
  <c:txPr>
    <a:bodyPr/>
    <a:lstStyle/>
    <a:p>
      <a:pPr>
        <a:defRPr sz="1200">
          <a:solidFill>
            <a:srgbClr val="D6DEEB"/>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chart" Target="../charts/chart1.xml"/><Relationship Id="rId9" Type="http://schemas.openxmlformats.org/officeDocument/2006/relationships/chart" Target="../charts/chart2.xml"/><Relationship Id="rId10" Type="http://schemas.openxmlformats.org/officeDocument/2006/relationships/chart" Target="../charts/chart3.xml"/><Relationship Id="rId11" Type="http://schemas.openxmlformats.org/officeDocument/2006/relationships/image" Target="../media/image7.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28836000"/>
          </a:xfrm>
          <a:prstGeom prst="rect">
            <a:avLst/>
          </a:prstGeom>
          <a:solidFill>
            <a:srgbClr val="0B1222"/>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276000"/>
            <a:ext cx="18000000" cy="684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a:t>
            </a:r>
            <a:r>
              <a:rPr sz="2200" b="0" i="0" lang="ko-KR">
                <a:solidFill>
                  <a:srgbClr val="A9B6CF"/>
                </a:solidFill>
                <a:latin typeface="맑은 고딕"/>
                <a:ea typeface="맑은 고딕"/>
                <a:cs typeface="맑은 고딕"/>
              </a:rPr>
              <a:t>   한양대학교 기술경영학과</a:t>
            </a:r>
            <a:endParaRPr lang="ko-KR" altLang="en-US"/>
          </a:p>
        </p:txBody>
      </p:sp>
      <p:sp>
        <p:nvSpPr>
          <p:cNvPr id="14" name="텍스트 개체 틀 13"/>
          <p:cNvSpPr>
            <a:spLocks noGrp="1"/>
          </p:cNvSpPr>
          <p:nvPr>
            <p:ph type="body" sz="quarter" idx="151"/>
          </p:nvPr>
        </p:nvSpPr>
        <p:spPr>
          <a:xfrm>
            <a:off x="576000" y="2808000"/>
            <a:ext cx="18000000" cy="360000"/>
          </a:xfrm>
        </p:spPr>
        <p:txBody>
          <a:bodyPr wrap="square" lIns="0" rIns="0" tIns="0" bIns="0" anchor="t">
            <a:noAutofit/>
          </a:bodyPr>
          <a:lstStyle/>
          <a:p>
            <a:pPr algn="l" marL="0" indent="0">
              <a:lnSpc>
                <a:spcPts val="1800"/>
              </a:lnSpc>
              <a:spcBef>
                <a:spcPts val="0"/>
              </a:spcBef>
              <a:spcAft>
                <a:spcPts val="0"/>
              </a:spcAft>
              <a:buNone/>
            </a:pPr>
            <a:r>
              <a:rPr sz="1500" b="1" i="0" lang="ko-KR" spc="100">
                <a:solidFill>
                  <a:srgbClr val="8FA3C7"/>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576000" y="972000"/>
            <a:ext cx="18000000" cy="1764000"/>
          </a:xfrm>
        </p:spPr>
        <p:txBody>
          <a:bodyPr wrap="square" lIns="0" rIns="0" tIns="0" bIns="0" anchor="t">
            <a:noAutofit/>
          </a:bodyPr>
          <a:lstStyle/>
          <a:p>
            <a:pPr algn="l" marL="0" indent="0">
              <a:lnSpc>
                <a:spcPts val="5960"/>
              </a:lnSpc>
              <a:spcBef>
                <a:spcPts val="0"/>
              </a:spcBef>
              <a:spcAft>
                <a:spcPts val="0"/>
              </a:spcAft>
              <a:buNone/>
            </a:pPr>
            <a:r>
              <a:rPr sz="5400" b="1" i="0" lang="ko-KR">
                <a:solidFill>
                  <a:srgbClr val="FFFFFF"/>
                </a:solidFill>
                <a:latin typeface="맑은 고딕"/>
                <a:ea typeface="맑은 고딕"/>
                <a:cs typeface="맑은 고딕"/>
              </a:rPr>
              <a:t>반도체 하이브리드 본딩 특허를 통한</a:t>
            </a:r>
            <a:endParaRPr lang="ko-KR" altLang="en-US" dirty="0"/>
          </a:p>
          <a:p>
            <a:pPr algn="l" marL="0" indent="0">
              <a:lnSpc>
                <a:spcPts val="5960"/>
              </a:lnSpc>
              <a:spcBef>
                <a:spcPts val="0"/>
              </a:spcBef>
              <a:spcAft>
                <a:spcPts val="0"/>
              </a:spcAft>
              <a:buNone/>
            </a:pPr>
            <a:r>
              <a:rPr sz="5400" b="1" i="0" lang="ko-KR">
                <a:solidFill>
                  <a:srgbClr val="FB923C"/>
                </a:solidFill>
                <a:latin typeface="맑은 고딕"/>
                <a:ea typeface="맑은 고딕"/>
                <a:cs typeface="맑은 고딕"/>
              </a:rPr>
              <a:t>공정 단계 간 기술융합</a:t>
            </a:r>
            <a:r>
              <a:rPr sz="5400" b="1" i="0" lang="ko-KR">
                <a:solidFill>
                  <a:srgbClr val="FFFFFF"/>
                </a:solidFill>
                <a:latin typeface="맑은 고딕"/>
                <a:ea typeface="맑은 고딕"/>
                <a:cs typeface="맑은 고딕"/>
              </a:rPr>
              <a:t>의 동태적 분석</a:t>
            </a:r>
          </a:p>
        </p:txBody>
      </p:sp>
      <p:sp>
        <p:nvSpPr>
          <p:cNvPr id="17" name="Rounded Rectangle 16"/>
          <p:cNvSpPr/>
          <p:nvPr/>
        </p:nvSpPr>
        <p:spPr>
          <a:xfrm>
            <a:off x="14616000" y="129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18" name="Rounded Rectangle 17"/>
          <p:cNvSpPr/>
          <p:nvPr/>
        </p:nvSpPr>
        <p:spPr>
          <a:xfrm>
            <a:off x="14616000" y="16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19" name="Rounded Rectangle 18"/>
          <p:cNvSpPr/>
          <p:nvPr/>
        </p:nvSpPr>
        <p:spPr>
          <a:xfrm>
            <a:off x="14616000" y="201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0" name="Rounded Rectangle 19"/>
          <p:cNvSpPr/>
          <p:nvPr/>
        </p:nvSpPr>
        <p:spPr>
          <a:xfrm>
            <a:off x="14616000" y="237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1" name="Rounded Rectangle 20"/>
          <p:cNvSpPr/>
          <p:nvPr/>
        </p:nvSpPr>
        <p:spPr>
          <a:xfrm>
            <a:off x="14616000" y="273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2" name="Rounded Rectangle 21"/>
          <p:cNvSpPr/>
          <p:nvPr/>
        </p:nvSpPr>
        <p:spPr>
          <a:xfrm>
            <a:off x="14616000" y="309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3" name="Rounded Rectangle 22"/>
          <p:cNvSpPr/>
          <p:nvPr/>
        </p:nvSpPr>
        <p:spPr>
          <a:xfrm>
            <a:off x="1461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4" name="Rounded Rectangle 23"/>
          <p:cNvSpPr/>
          <p:nvPr/>
        </p:nvSpPr>
        <p:spPr>
          <a:xfrm>
            <a:off x="15336000" y="129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25" name="Rounded Rectangle 24"/>
          <p:cNvSpPr/>
          <p:nvPr/>
        </p:nvSpPr>
        <p:spPr>
          <a:xfrm>
            <a:off x="15336000" y="165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26" name="Rounded Rectangle 25"/>
          <p:cNvSpPr/>
          <p:nvPr/>
        </p:nvSpPr>
        <p:spPr>
          <a:xfrm>
            <a:off x="15336000" y="201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7" name="Rounded Rectangle 26"/>
          <p:cNvSpPr/>
          <p:nvPr/>
        </p:nvSpPr>
        <p:spPr>
          <a:xfrm>
            <a:off x="15336000" y="237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8" name="Rounded Rectangle 27"/>
          <p:cNvSpPr/>
          <p:nvPr/>
        </p:nvSpPr>
        <p:spPr>
          <a:xfrm>
            <a:off x="15336000" y="273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29" name="Rounded Rectangle 28"/>
          <p:cNvSpPr/>
          <p:nvPr/>
        </p:nvSpPr>
        <p:spPr>
          <a:xfrm>
            <a:off x="15336000" y="309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0" name="Rounded Rectangle 29"/>
          <p:cNvSpPr/>
          <p:nvPr/>
        </p:nvSpPr>
        <p:spPr>
          <a:xfrm>
            <a:off x="1533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1" name="Rounded Rectangle 30"/>
          <p:cNvSpPr/>
          <p:nvPr/>
        </p:nvSpPr>
        <p:spPr>
          <a:xfrm>
            <a:off x="16056000" y="129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32" name="Rounded Rectangle 31"/>
          <p:cNvSpPr/>
          <p:nvPr/>
        </p:nvSpPr>
        <p:spPr>
          <a:xfrm>
            <a:off x="16056000" y="165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33" name="Rounded Rectangle 32"/>
          <p:cNvSpPr/>
          <p:nvPr/>
        </p:nvSpPr>
        <p:spPr>
          <a:xfrm>
            <a:off x="16056000" y="201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34" name="Rounded Rectangle 33"/>
          <p:cNvSpPr/>
          <p:nvPr/>
        </p:nvSpPr>
        <p:spPr>
          <a:xfrm>
            <a:off x="16056000" y="237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5" name="Rounded Rectangle 34"/>
          <p:cNvSpPr/>
          <p:nvPr/>
        </p:nvSpPr>
        <p:spPr>
          <a:xfrm>
            <a:off x="16056000" y="273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6" name="Rounded Rectangle 35"/>
          <p:cNvSpPr/>
          <p:nvPr/>
        </p:nvSpPr>
        <p:spPr>
          <a:xfrm>
            <a:off x="16056000" y="309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7" name="Rounded Rectangle 36"/>
          <p:cNvSpPr/>
          <p:nvPr/>
        </p:nvSpPr>
        <p:spPr>
          <a:xfrm>
            <a:off x="1605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38" name="Rounded Rectangle 37"/>
          <p:cNvSpPr/>
          <p:nvPr/>
        </p:nvSpPr>
        <p:spPr>
          <a:xfrm>
            <a:off x="16776000" y="129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39" name="Rounded Rectangle 38"/>
          <p:cNvSpPr/>
          <p:nvPr/>
        </p:nvSpPr>
        <p:spPr>
          <a:xfrm>
            <a:off x="16776000" y="165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40" name="Rounded Rectangle 39"/>
          <p:cNvSpPr/>
          <p:nvPr/>
        </p:nvSpPr>
        <p:spPr>
          <a:xfrm>
            <a:off x="16776000" y="201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41" name="Rounded Rectangle 40"/>
          <p:cNvSpPr/>
          <p:nvPr/>
        </p:nvSpPr>
        <p:spPr>
          <a:xfrm>
            <a:off x="16776000" y="237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42" name="Rounded Rectangle 41"/>
          <p:cNvSpPr/>
          <p:nvPr/>
        </p:nvSpPr>
        <p:spPr>
          <a:xfrm>
            <a:off x="16776000" y="273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43" name="Rounded Rectangle 42"/>
          <p:cNvSpPr/>
          <p:nvPr/>
        </p:nvSpPr>
        <p:spPr>
          <a:xfrm>
            <a:off x="16776000" y="309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44" name="Rounded Rectangle 43"/>
          <p:cNvSpPr/>
          <p:nvPr/>
        </p:nvSpPr>
        <p:spPr>
          <a:xfrm>
            <a:off x="1677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45" name="Rounded Rectangle 44"/>
          <p:cNvSpPr/>
          <p:nvPr/>
        </p:nvSpPr>
        <p:spPr>
          <a:xfrm>
            <a:off x="17496000" y="1296000"/>
            <a:ext cx="396000" cy="198000"/>
          </a:xfrm>
          <a:prstGeom prst="roundRect">
            <a:avLst>
              <a:gd name="adj" fmla="val 20000"/>
            </a:avLst>
          </a:prstGeom>
          <a:solidFill>
            <a:srgbClr val="FB923C">
              <a:alpha val="20000"/>
            </a:srgbClr>
          </a:solidFill>
          <a:ln>
            <a:noFill/>
          </a:ln>
        </p:spPr>
        <p:txBody>
          <a:bodyPr rtlCol="0" anchor="ctr" lIns="54000" rIns="54000" tIns="54000" bIns="54000"/>
          <a:lstStyle/>
          <a:p>
            <a:pPr algn="ctr"/>
          </a:p>
        </p:txBody>
      </p:sp>
      <p:sp>
        <p:nvSpPr>
          <p:cNvPr id="46" name="Rounded Rectangle 45"/>
          <p:cNvSpPr/>
          <p:nvPr/>
        </p:nvSpPr>
        <p:spPr>
          <a:xfrm>
            <a:off x="17496000" y="165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47" name="Rounded Rectangle 46"/>
          <p:cNvSpPr/>
          <p:nvPr/>
        </p:nvSpPr>
        <p:spPr>
          <a:xfrm>
            <a:off x="17496000" y="201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48" name="Rounded Rectangle 47"/>
          <p:cNvSpPr/>
          <p:nvPr/>
        </p:nvSpPr>
        <p:spPr>
          <a:xfrm>
            <a:off x="17496000" y="237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49" name="Rounded Rectangle 48"/>
          <p:cNvSpPr/>
          <p:nvPr/>
        </p:nvSpPr>
        <p:spPr>
          <a:xfrm>
            <a:off x="17496000" y="273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50" name="Rounded Rectangle 49"/>
          <p:cNvSpPr/>
          <p:nvPr/>
        </p:nvSpPr>
        <p:spPr>
          <a:xfrm>
            <a:off x="17496000" y="309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51" name="Rounded Rectangle 50"/>
          <p:cNvSpPr/>
          <p:nvPr/>
        </p:nvSpPr>
        <p:spPr>
          <a:xfrm>
            <a:off x="1749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52" name="Rounded Rectangle 51"/>
          <p:cNvSpPr/>
          <p:nvPr/>
        </p:nvSpPr>
        <p:spPr>
          <a:xfrm>
            <a:off x="18216000" y="1296000"/>
            <a:ext cx="396000" cy="198000"/>
          </a:xfrm>
          <a:prstGeom prst="roundRect">
            <a:avLst>
              <a:gd name="adj" fmla="val 20000"/>
            </a:avLst>
          </a:prstGeom>
          <a:solidFill>
            <a:srgbClr val="FB923C">
              <a:alpha val="23000"/>
            </a:srgbClr>
          </a:solidFill>
          <a:ln>
            <a:noFill/>
          </a:ln>
        </p:spPr>
        <p:txBody>
          <a:bodyPr rtlCol="0" anchor="ctr" lIns="54000" rIns="54000" tIns="54000" bIns="54000"/>
          <a:lstStyle/>
          <a:p>
            <a:pPr algn="ctr"/>
          </a:p>
        </p:txBody>
      </p:sp>
      <p:sp>
        <p:nvSpPr>
          <p:cNvPr id="53" name="Rounded Rectangle 52"/>
          <p:cNvSpPr/>
          <p:nvPr/>
        </p:nvSpPr>
        <p:spPr>
          <a:xfrm>
            <a:off x="18216000" y="1656000"/>
            <a:ext cx="396000" cy="198000"/>
          </a:xfrm>
          <a:prstGeom prst="roundRect">
            <a:avLst>
              <a:gd name="adj" fmla="val 20000"/>
            </a:avLst>
          </a:prstGeom>
          <a:solidFill>
            <a:srgbClr val="FB923C">
              <a:alpha val="20000"/>
            </a:srgbClr>
          </a:solidFill>
          <a:ln>
            <a:noFill/>
          </a:ln>
        </p:spPr>
        <p:txBody>
          <a:bodyPr rtlCol="0" anchor="ctr" lIns="54000" rIns="54000" tIns="54000" bIns="54000"/>
          <a:lstStyle/>
          <a:p>
            <a:pPr algn="ctr"/>
          </a:p>
        </p:txBody>
      </p:sp>
      <p:sp>
        <p:nvSpPr>
          <p:cNvPr id="54" name="Rounded Rectangle 53"/>
          <p:cNvSpPr/>
          <p:nvPr/>
        </p:nvSpPr>
        <p:spPr>
          <a:xfrm>
            <a:off x="18216000" y="201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55" name="Rounded Rectangle 54"/>
          <p:cNvSpPr/>
          <p:nvPr/>
        </p:nvSpPr>
        <p:spPr>
          <a:xfrm>
            <a:off x="18216000" y="237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56" name="Rounded Rectangle 55"/>
          <p:cNvSpPr/>
          <p:nvPr/>
        </p:nvSpPr>
        <p:spPr>
          <a:xfrm>
            <a:off x="18216000" y="273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57" name="Rounded Rectangle 56"/>
          <p:cNvSpPr/>
          <p:nvPr/>
        </p:nvSpPr>
        <p:spPr>
          <a:xfrm>
            <a:off x="18216000" y="309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58" name="Rounded Rectangle 57"/>
          <p:cNvSpPr/>
          <p:nvPr/>
        </p:nvSpPr>
        <p:spPr>
          <a:xfrm>
            <a:off x="18216000" y="3456000"/>
            <a:ext cx="396000" cy="198000"/>
          </a:xfrm>
          <a:prstGeom prst="roundRect">
            <a:avLst>
              <a:gd name="adj" fmla="val 20000"/>
            </a:avLst>
          </a:prstGeom>
          <a:solidFill>
            <a:srgbClr val="FB923C">
              <a:alpha val="5000"/>
            </a:srgbClr>
          </a:solidFill>
          <a:ln>
            <a:noFill/>
          </a:ln>
        </p:spPr>
        <p:txBody>
          <a:bodyPr rtlCol="0" anchor="ctr" lIns="54000" rIns="54000" tIns="54000" bIns="54000"/>
          <a:lstStyle/>
          <a:p>
            <a:pPr algn="ctr"/>
          </a:p>
        </p:txBody>
      </p:sp>
      <p:sp>
        <p:nvSpPr>
          <p:cNvPr id="59" name="Rounded Rectangle 58"/>
          <p:cNvSpPr/>
          <p:nvPr/>
        </p:nvSpPr>
        <p:spPr>
          <a:xfrm>
            <a:off x="18936000" y="1296000"/>
            <a:ext cx="396000" cy="198000"/>
          </a:xfrm>
          <a:prstGeom prst="roundRect">
            <a:avLst>
              <a:gd name="adj" fmla="val 20000"/>
            </a:avLst>
          </a:prstGeom>
          <a:solidFill>
            <a:srgbClr val="FB923C">
              <a:alpha val="26000"/>
            </a:srgbClr>
          </a:solidFill>
          <a:ln>
            <a:noFill/>
          </a:ln>
        </p:spPr>
        <p:txBody>
          <a:bodyPr rtlCol="0" anchor="ctr" lIns="54000" rIns="54000" tIns="54000" bIns="54000"/>
          <a:lstStyle/>
          <a:p>
            <a:pPr algn="ctr"/>
          </a:p>
        </p:txBody>
      </p:sp>
      <p:sp>
        <p:nvSpPr>
          <p:cNvPr id="60" name="Rounded Rectangle 59"/>
          <p:cNvSpPr/>
          <p:nvPr/>
        </p:nvSpPr>
        <p:spPr>
          <a:xfrm>
            <a:off x="18936000" y="1656000"/>
            <a:ext cx="396000" cy="198000"/>
          </a:xfrm>
          <a:prstGeom prst="roundRect">
            <a:avLst>
              <a:gd name="adj" fmla="val 20000"/>
            </a:avLst>
          </a:prstGeom>
          <a:solidFill>
            <a:srgbClr val="FB923C">
              <a:alpha val="23000"/>
            </a:srgbClr>
          </a:solidFill>
          <a:ln>
            <a:noFill/>
          </a:ln>
        </p:spPr>
        <p:txBody>
          <a:bodyPr rtlCol="0" anchor="ctr" lIns="54000" rIns="54000" tIns="54000" bIns="54000"/>
          <a:lstStyle/>
          <a:p>
            <a:pPr algn="ctr"/>
          </a:p>
        </p:txBody>
      </p:sp>
      <p:sp>
        <p:nvSpPr>
          <p:cNvPr id="61" name="Rounded Rectangle 60"/>
          <p:cNvSpPr/>
          <p:nvPr/>
        </p:nvSpPr>
        <p:spPr>
          <a:xfrm>
            <a:off x="18936000" y="2016000"/>
            <a:ext cx="396000" cy="198000"/>
          </a:xfrm>
          <a:prstGeom prst="roundRect">
            <a:avLst>
              <a:gd name="adj" fmla="val 20000"/>
            </a:avLst>
          </a:prstGeom>
          <a:solidFill>
            <a:srgbClr val="FB923C">
              <a:alpha val="20000"/>
            </a:srgbClr>
          </a:solidFill>
          <a:ln>
            <a:noFill/>
          </a:ln>
        </p:spPr>
        <p:txBody>
          <a:bodyPr rtlCol="0" anchor="ctr" lIns="54000" rIns="54000" tIns="54000" bIns="54000"/>
          <a:lstStyle/>
          <a:p>
            <a:pPr algn="ctr"/>
          </a:p>
        </p:txBody>
      </p:sp>
      <p:sp>
        <p:nvSpPr>
          <p:cNvPr id="62" name="Rounded Rectangle 61"/>
          <p:cNvSpPr/>
          <p:nvPr/>
        </p:nvSpPr>
        <p:spPr>
          <a:xfrm>
            <a:off x="18936000" y="237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63" name="Rounded Rectangle 62"/>
          <p:cNvSpPr/>
          <p:nvPr/>
        </p:nvSpPr>
        <p:spPr>
          <a:xfrm>
            <a:off x="18936000" y="273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64" name="Rounded Rectangle 63"/>
          <p:cNvSpPr/>
          <p:nvPr/>
        </p:nvSpPr>
        <p:spPr>
          <a:xfrm>
            <a:off x="18936000" y="309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65" name="Rounded Rectangle 64"/>
          <p:cNvSpPr/>
          <p:nvPr/>
        </p:nvSpPr>
        <p:spPr>
          <a:xfrm>
            <a:off x="18936000" y="3456000"/>
            <a:ext cx="396000" cy="198000"/>
          </a:xfrm>
          <a:prstGeom prst="roundRect">
            <a:avLst>
              <a:gd name="adj" fmla="val 20000"/>
            </a:avLst>
          </a:prstGeom>
          <a:solidFill>
            <a:srgbClr val="FB923C">
              <a:alpha val="8000"/>
            </a:srgbClr>
          </a:solidFill>
          <a:ln>
            <a:noFill/>
          </a:ln>
        </p:spPr>
        <p:txBody>
          <a:bodyPr rtlCol="0" anchor="ctr" lIns="54000" rIns="54000" tIns="54000" bIns="54000"/>
          <a:lstStyle/>
          <a:p>
            <a:pPr algn="ctr"/>
          </a:p>
        </p:txBody>
      </p:sp>
      <p:sp>
        <p:nvSpPr>
          <p:cNvPr id="66" name="Rounded Rectangle 65"/>
          <p:cNvSpPr/>
          <p:nvPr/>
        </p:nvSpPr>
        <p:spPr>
          <a:xfrm>
            <a:off x="19656000" y="1296000"/>
            <a:ext cx="396000" cy="198000"/>
          </a:xfrm>
          <a:prstGeom prst="roundRect">
            <a:avLst>
              <a:gd name="adj" fmla="val 20000"/>
            </a:avLst>
          </a:prstGeom>
          <a:solidFill>
            <a:srgbClr val="FB923C">
              <a:alpha val="29000"/>
            </a:srgbClr>
          </a:solidFill>
          <a:ln>
            <a:noFill/>
          </a:ln>
        </p:spPr>
        <p:txBody>
          <a:bodyPr rtlCol="0" anchor="ctr" lIns="54000" rIns="54000" tIns="54000" bIns="54000"/>
          <a:lstStyle/>
          <a:p>
            <a:pPr algn="ctr"/>
          </a:p>
        </p:txBody>
      </p:sp>
      <p:sp>
        <p:nvSpPr>
          <p:cNvPr id="67" name="Rounded Rectangle 66"/>
          <p:cNvSpPr/>
          <p:nvPr/>
        </p:nvSpPr>
        <p:spPr>
          <a:xfrm>
            <a:off x="19656000" y="1656000"/>
            <a:ext cx="396000" cy="198000"/>
          </a:xfrm>
          <a:prstGeom prst="roundRect">
            <a:avLst>
              <a:gd name="adj" fmla="val 20000"/>
            </a:avLst>
          </a:prstGeom>
          <a:solidFill>
            <a:srgbClr val="FB923C">
              <a:alpha val="26000"/>
            </a:srgbClr>
          </a:solidFill>
          <a:ln>
            <a:noFill/>
          </a:ln>
        </p:spPr>
        <p:txBody>
          <a:bodyPr rtlCol="0" anchor="ctr" lIns="54000" rIns="54000" tIns="54000" bIns="54000"/>
          <a:lstStyle/>
          <a:p>
            <a:pPr algn="ctr"/>
          </a:p>
        </p:txBody>
      </p:sp>
      <p:sp>
        <p:nvSpPr>
          <p:cNvPr id="68" name="Rounded Rectangle 67"/>
          <p:cNvSpPr/>
          <p:nvPr/>
        </p:nvSpPr>
        <p:spPr>
          <a:xfrm>
            <a:off x="19656000" y="2016000"/>
            <a:ext cx="396000" cy="198000"/>
          </a:xfrm>
          <a:prstGeom prst="roundRect">
            <a:avLst>
              <a:gd name="adj" fmla="val 20000"/>
            </a:avLst>
          </a:prstGeom>
          <a:solidFill>
            <a:srgbClr val="FB923C">
              <a:alpha val="23000"/>
            </a:srgbClr>
          </a:solidFill>
          <a:ln>
            <a:noFill/>
          </a:ln>
        </p:spPr>
        <p:txBody>
          <a:bodyPr rtlCol="0" anchor="ctr" lIns="54000" rIns="54000" tIns="54000" bIns="54000"/>
          <a:lstStyle/>
          <a:p>
            <a:pPr algn="ctr"/>
          </a:p>
        </p:txBody>
      </p:sp>
      <p:sp>
        <p:nvSpPr>
          <p:cNvPr id="69" name="Rounded Rectangle 68"/>
          <p:cNvSpPr/>
          <p:nvPr/>
        </p:nvSpPr>
        <p:spPr>
          <a:xfrm>
            <a:off x="19656000" y="2376000"/>
            <a:ext cx="396000" cy="198000"/>
          </a:xfrm>
          <a:prstGeom prst="roundRect">
            <a:avLst>
              <a:gd name="adj" fmla="val 20000"/>
            </a:avLst>
          </a:prstGeom>
          <a:solidFill>
            <a:srgbClr val="FB923C">
              <a:alpha val="20000"/>
            </a:srgbClr>
          </a:solidFill>
          <a:ln>
            <a:noFill/>
          </a:ln>
        </p:spPr>
        <p:txBody>
          <a:bodyPr rtlCol="0" anchor="ctr" lIns="54000" rIns="54000" tIns="54000" bIns="54000"/>
          <a:lstStyle/>
          <a:p>
            <a:pPr algn="ctr"/>
          </a:p>
        </p:txBody>
      </p:sp>
      <p:sp>
        <p:nvSpPr>
          <p:cNvPr id="70" name="Rounded Rectangle 69"/>
          <p:cNvSpPr/>
          <p:nvPr/>
        </p:nvSpPr>
        <p:spPr>
          <a:xfrm>
            <a:off x="19656000" y="273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71" name="Rounded Rectangle 70"/>
          <p:cNvSpPr/>
          <p:nvPr/>
        </p:nvSpPr>
        <p:spPr>
          <a:xfrm>
            <a:off x="19656000" y="309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72" name="Rounded Rectangle 71"/>
          <p:cNvSpPr/>
          <p:nvPr/>
        </p:nvSpPr>
        <p:spPr>
          <a:xfrm>
            <a:off x="19656000" y="3456000"/>
            <a:ext cx="396000" cy="198000"/>
          </a:xfrm>
          <a:prstGeom prst="roundRect">
            <a:avLst>
              <a:gd name="adj" fmla="val 20000"/>
            </a:avLst>
          </a:prstGeom>
          <a:solidFill>
            <a:srgbClr val="FB923C">
              <a:alpha val="11000"/>
            </a:srgbClr>
          </a:solidFill>
          <a:ln>
            <a:noFill/>
          </a:ln>
        </p:spPr>
        <p:txBody>
          <a:bodyPr rtlCol="0" anchor="ctr" lIns="54000" rIns="54000" tIns="54000" bIns="54000"/>
          <a:lstStyle/>
          <a:p>
            <a:pPr algn="ctr"/>
          </a:p>
        </p:txBody>
      </p:sp>
      <p:sp>
        <p:nvSpPr>
          <p:cNvPr id="73" name="Rounded Rectangle 72"/>
          <p:cNvSpPr/>
          <p:nvPr/>
        </p:nvSpPr>
        <p:spPr>
          <a:xfrm>
            <a:off x="20376000" y="1296000"/>
            <a:ext cx="396000" cy="198000"/>
          </a:xfrm>
          <a:prstGeom prst="roundRect">
            <a:avLst>
              <a:gd name="adj" fmla="val 20000"/>
            </a:avLst>
          </a:prstGeom>
          <a:solidFill>
            <a:srgbClr val="FB923C">
              <a:alpha val="32000"/>
            </a:srgbClr>
          </a:solidFill>
          <a:ln>
            <a:noFill/>
          </a:ln>
        </p:spPr>
        <p:txBody>
          <a:bodyPr rtlCol="0" anchor="ctr" lIns="54000" rIns="54000" tIns="54000" bIns="54000"/>
          <a:lstStyle/>
          <a:p>
            <a:pPr algn="ctr"/>
          </a:p>
        </p:txBody>
      </p:sp>
      <p:sp>
        <p:nvSpPr>
          <p:cNvPr id="74" name="Rounded Rectangle 73"/>
          <p:cNvSpPr/>
          <p:nvPr/>
        </p:nvSpPr>
        <p:spPr>
          <a:xfrm>
            <a:off x="20376000" y="1656000"/>
            <a:ext cx="396000" cy="198000"/>
          </a:xfrm>
          <a:prstGeom prst="roundRect">
            <a:avLst>
              <a:gd name="adj" fmla="val 20000"/>
            </a:avLst>
          </a:prstGeom>
          <a:solidFill>
            <a:srgbClr val="FB923C">
              <a:alpha val="29000"/>
            </a:srgbClr>
          </a:solidFill>
          <a:ln>
            <a:noFill/>
          </a:ln>
        </p:spPr>
        <p:txBody>
          <a:bodyPr rtlCol="0" anchor="ctr" lIns="54000" rIns="54000" tIns="54000" bIns="54000"/>
          <a:lstStyle/>
          <a:p>
            <a:pPr algn="ctr"/>
          </a:p>
        </p:txBody>
      </p:sp>
      <p:sp>
        <p:nvSpPr>
          <p:cNvPr id="75" name="Rounded Rectangle 74"/>
          <p:cNvSpPr/>
          <p:nvPr/>
        </p:nvSpPr>
        <p:spPr>
          <a:xfrm>
            <a:off x="20376000" y="2016000"/>
            <a:ext cx="396000" cy="198000"/>
          </a:xfrm>
          <a:prstGeom prst="roundRect">
            <a:avLst>
              <a:gd name="adj" fmla="val 20000"/>
            </a:avLst>
          </a:prstGeom>
          <a:solidFill>
            <a:srgbClr val="FB923C">
              <a:alpha val="26000"/>
            </a:srgbClr>
          </a:solidFill>
          <a:ln>
            <a:noFill/>
          </a:ln>
        </p:spPr>
        <p:txBody>
          <a:bodyPr rtlCol="0" anchor="ctr" lIns="54000" rIns="54000" tIns="54000" bIns="54000"/>
          <a:lstStyle/>
          <a:p>
            <a:pPr algn="ctr"/>
          </a:p>
        </p:txBody>
      </p:sp>
      <p:sp>
        <p:nvSpPr>
          <p:cNvPr id="76" name="Rounded Rectangle 75"/>
          <p:cNvSpPr/>
          <p:nvPr/>
        </p:nvSpPr>
        <p:spPr>
          <a:xfrm>
            <a:off x="20376000" y="2376000"/>
            <a:ext cx="396000" cy="198000"/>
          </a:xfrm>
          <a:prstGeom prst="roundRect">
            <a:avLst>
              <a:gd name="adj" fmla="val 20000"/>
            </a:avLst>
          </a:prstGeom>
          <a:solidFill>
            <a:srgbClr val="FB923C">
              <a:alpha val="23000"/>
            </a:srgbClr>
          </a:solidFill>
          <a:ln>
            <a:noFill/>
          </a:ln>
        </p:spPr>
        <p:txBody>
          <a:bodyPr rtlCol="0" anchor="ctr" lIns="54000" rIns="54000" tIns="54000" bIns="54000"/>
          <a:lstStyle/>
          <a:p>
            <a:pPr algn="ctr"/>
          </a:p>
        </p:txBody>
      </p:sp>
      <p:sp>
        <p:nvSpPr>
          <p:cNvPr id="77" name="Rounded Rectangle 76"/>
          <p:cNvSpPr/>
          <p:nvPr/>
        </p:nvSpPr>
        <p:spPr>
          <a:xfrm>
            <a:off x="20376000" y="2736000"/>
            <a:ext cx="396000" cy="198000"/>
          </a:xfrm>
          <a:prstGeom prst="roundRect">
            <a:avLst>
              <a:gd name="adj" fmla="val 20000"/>
            </a:avLst>
          </a:prstGeom>
          <a:solidFill>
            <a:srgbClr val="FB923C">
              <a:alpha val="20000"/>
            </a:srgbClr>
          </a:solidFill>
          <a:ln>
            <a:noFill/>
          </a:ln>
        </p:spPr>
        <p:txBody>
          <a:bodyPr rtlCol="0" anchor="ctr" lIns="54000" rIns="54000" tIns="54000" bIns="54000"/>
          <a:lstStyle/>
          <a:p>
            <a:pPr algn="ctr"/>
          </a:p>
        </p:txBody>
      </p:sp>
      <p:sp>
        <p:nvSpPr>
          <p:cNvPr id="78" name="Rounded Rectangle 77"/>
          <p:cNvSpPr/>
          <p:nvPr/>
        </p:nvSpPr>
        <p:spPr>
          <a:xfrm>
            <a:off x="20376000" y="3096000"/>
            <a:ext cx="396000" cy="198000"/>
          </a:xfrm>
          <a:prstGeom prst="roundRect">
            <a:avLst>
              <a:gd name="adj" fmla="val 20000"/>
            </a:avLst>
          </a:prstGeom>
          <a:solidFill>
            <a:srgbClr val="FB923C">
              <a:alpha val="17000"/>
            </a:srgbClr>
          </a:solidFill>
          <a:ln>
            <a:noFill/>
          </a:ln>
        </p:spPr>
        <p:txBody>
          <a:bodyPr rtlCol="0" anchor="ctr" lIns="54000" rIns="54000" tIns="54000" bIns="54000"/>
          <a:lstStyle/>
          <a:p>
            <a:pPr algn="ctr"/>
          </a:p>
        </p:txBody>
      </p:sp>
      <p:sp>
        <p:nvSpPr>
          <p:cNvPr id="79" name="Rounded Rectangle 78"/>
          <p:cNvSpPr/>
          <p:nvPr/>
        </p:nvSpPr>
        <p:spPr>
          <a:xfrm>
            <a:off x="20376000" y="3456000"/>
            <a:ext cx="396000" cy="198000"/>
          </a:xfrm>
          <a:prstGeom prst="roundRect">
            <a:avLst>
              <a:gd name="adj" fmla="val 20000"/>
            </a:avLst>
          </a:prstGeom>
          <a:solidFill>
            <a:srgbClr val="FB923C">
              <a:alpha val="14000"/>
            </a:srgbClr>
          </a:solidFill>
          <a:ln>
            <a:noFill/>
          </a:ln>
        </p:spPr>
        <p:txBody>
          <a:bodyPr rtlCol="0" anchor="ctr" lIns="54000" rIns="54000" tIns="54000" bIns="54000"/>
          <a:lstStyle/>
          <a:p>
            <a:pPr algn="ct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
        <p:nvSpPr>
          <p:cNvPr id="80" name="Rounded Rectangle 79"/>
          <p:cNvSpPr/>
          <p:nvPr/>
        </p:nvSpPr>
        <p:spPr>
          <a:xfrm>
            <a:off x="576000" y="360000"/>
            <a:ext cx="5112000" cy="450000"/>
          </a:xfrm>
          <a:prstGeom prst="roundRect">
            <a:avLst>
              <a:gd name="adj" fmla="val 50000"/>
            </a:avLst>
          </a:prstGeom>
          <a:noFill/>
          <a:ln w="19050">
            <a:solidFill>
              <a:srgbClr val="38BDF8"/>
            </a:solidFill>
          </a:ln>
        </p:spPr>
        <p:txBody>
          <a:bodyPr rtlCol="0" anchor="ctr" lIns="36000" rIns="36000" tIns="36000" bIns="36000" wrap="square"/>
          <a:lstStyle/>
          <a:p>
            <a:pPr algn="ctr" marL="0" indent="0">
              <a:lnSpc>
                <a:spcPts val="1800"/>
              </a:lnSpc>
              <a:spcBef>
                <a:spcPts val="0"/>
              </a:spcBef>
              <a:spcAft>
                <a:spcPts val="0"/>
              </a:spcAft>
              <a:buNone/>
            </a:pPr>
            <a:r>
              <a:rPr sz="1500" b="1" i="0" lang="ko-KR" spc="150">
                <a:solidFill>
                  <a:srgbClr val="38BDF8"/>
                </a:solidFill>
                <a:latin typeface="맑은 고딕"/>
                <a:ea typeface="맑은 고딕"/>
                <a:cs typeface="맑은 고딕"/>
              </a:rPr>
              <a:t>2026 HANYANG MOT RESEARCH DAY</a:t>
            </a:r>
          </a:p>
        </p:txBody>
      </p:sp>
      <p:sp>
        <p:nvSpPr>
          <p:cNvPr id="81" name="Rounded Rectangle 80"/>
          <p:cNvSpPr/>
          <p:nvPr/>
        </p:nvSpPr>
        <p:spPr>
          <a:xfrm>
            <a:off x="576000" y="4284000"/>
            <a:ext cx="6528000" cy="1656000"/>
          </a:xfrm>
          <a:prstGeom prst="roundRect">
            <a:avLst>
              <a:gd name="adj" fmla="val 8000"/>
            </a:avLst>
          </a:prstGeom>
          <a:solidFill>
            <a:srgbClr val="131E36"/>
          </a:solidFill>
          <a:ln w="25400">
            <a:solidFill>
              <a:srgbClr val="FB923C"/>
            </a:solidFill>
          </a:ln>
        </p:spPr>
        <p:txBody>
          <a:bodyPr rtlCol="0" anchor="ctr" lIns="54000" rIns="54000" tIns="54000" bIns="54000"/>
          <a:lstStyle/>
          <a:p>
            <a:pPr algn="ctr"/>
          </a:p>
        </p:txBody>
      </p:sp>
      <p:sp>
        <p:nvSpPr>
          <p:cNvPr id="82" name="TextBox 81"/>
          <p:cNvSpPr txBox="1"/>
          <p:nvPr/>
        </p:nvSpPr>
        <p:spPr>
          <a:xfrm>
            <a:off x="576000" y="4374000"/>
            <a:ext cx="6528000" cy="1044000"/>
          </a:xfrm>
          <a:prstGeom prst="rect">
            <a:avLst/>
          </a:prstGeom>
          <a:noFill/>
        </p:spPr>
        <p:txBody>
          <a:bodyPr wrap="square" lIns="0" rIns="0" tIns="0" bIns="0" anchor="ctr">
            <a:noAutofit/>
          </a:bodyPr>
          <a:lstStyle/>
          <a:p>
            <a:pPr algn="ctr" marL="0" indent="0">
              <a:lnSpc>
                <a:spcPts val="7559"/>
              </a:lnSpc>
              <a:spcBef>
                <a:spcPts val="0"/>
              </a:spcBef>
              <a:spcAft>
                <a:spcPts val="0"/>
              </a:spcAft>
              <a:buNone/>
            </a:pPr>
            <a:r>
              <a:rPr sz="7000" b="1" i="0" lang="ko-KR">
                <a:solidFill>
                  <a:srgbClr val="FB923C"/>
                </a:solidFill>
                <a:latin typeface="맑은 고딕"/>
                <a:ea typeface="맑은 고딕"/>
                <a:cs typeface="맑은 고딕"/>
              </a:rPr>
              <a:t>928</a:t>
            </a:r>
          </a:p>
        </p:txBody>
      </p:sp>
      <p:sp>
        <p:nvSpPr>
          <p:cNvPr id="83" name="TextBox 82"/>
          <p:cNvSpPr txBox="1"/>
          <p:nvPr/>
        </p:nvSpPr>
        <p:spPr>
          <a:xfrm>
            <a:off x="720000" y="5454000"/>
            <a:ext cx="6240000" cy="39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0" i="0" lang="ko-KR">
                <a:solidFill>
                  <a:srgbClr val="E6ECF7"/>
                </a:solidFill>
                <a:latin typeface="맑은 고딕"/>
                <a:ea typeface="맑은 고딕"/>
                <a:cs typeface="맑은 고딕"/>
              </a:rPr>
              <a:t>하이브리드 본딩 관련 특허출원 (1968–2024)</a:t>
            </a:r>
          </a:p>
        </p:txBody>
      </p:sp>
      <p:sp>
        <p:nvSpPr>
          <p:cNvPr id="84" name="Rounded Rectangle 83"/>
          <p:cNvSpPr/>
          <p:nvPr/>
        </p:nvSpPr>
        <p:spPr>
          <a:xfrm>
            <a:off x="7428000" y="4284000"/>
            <a:ext cx="6528000" cy="1656000"/>
          </a:xfrm>
          <a:prstGeom prst="roundRect">
            <a:avLst>
              <a:gd name="adj" fmla="val 8000"/>
            </a:avLst>
          </a:prstGeom>
          <a:solidFill>
            <a:srgbClr val="131E36"/>
          </a:solidFill>
          <a:ln w="25400">
            <a:solidFill>
              <a:srgbClr val="A78BFA"/>
            </a:solidFill>
          </a:ln>
        </p:spPr>
        <p:txBody>
          <a:bodyPr rtlCol="0" anchor="ctr" lIns="54000" rIns="54000" tIns="54000" bIns="54000"/>
          <a:lstStyle/>
          <a:p>
            <a:pPr algn="ctr"/>
          </a:p>
        </p:txBody>
      </p:sp>
      <p:sp>
        <p:nvSpPr>
          <p:cNvPr id="85" name="TextBox 84"/>
          <p:cNvSpPr txBox="1"/>
          <p:nvPr/>
        </p:nvSpPr>
        <p:spPr>
          <a:xfrm>
            <a:off x="7428000" y="4374000"/>
            <a:ext cx="6528000" cy="1044000"/>
          </a:xfrm>
          <a:prstGeom prst="rect">
            <a:avLst/>
          </a:prstGeom>
          <a:noFill/>
        </p:spPr>
        <p:txBody>
          <a:bodyPr wrap="square" lIns="0" rIns="0" tIns="0" bIns="0" anchor="ctr">
            <a:noAutofit/>
          </a:bodyPr>
          <a:lstStyle/>
          <a:p>
            <a:pPr algn="ctr" marL="0" indent="0">
              <a:lnSpc>
                <a:spcPts val="7559"/>
              </a:lnSpc>
              <a:spcBef>
                <a:spcPts val="0"/>
              </a:spcBef>
              <a:spcAft>
                <a:spcPts val="0"/>
              </a:spcAft>
              <a:buNone/>
            </a:pPr>
            <a:r>
              <a:rPr sz="7000" b="1" i="0" lang="ko-KR">
                <a:solidFill>
                  <a:srgbClr val="A78BFA"/>
                </a:solidFill>
                <a:latin typeface="맑은 고딕"/>
                <a:ea typeface="맑은 고딕"/>
                <a:cs typeface="맑은 고딕"/>
              </a:rPr>
              <a:t>45.8%</a:t>
            </a:r>
          </a:p>
        </p:txBody>
      </p:sp>
      <p:sp>
        <p:nvSpPr>
          <p:cNvPr id="86" name="TextBox 85"/>
          <p:cNvSpPr txBox="1"/>
          <p:nvPr/>
        </p:nvSpPr>
        <p:spPr>
          <a:xfrm>
            <a:off x="7572000" y="5454000"/>
            <a:ext cx="6240000" cy="39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0" i="0" lang="ko-KR">
                <a:solidFill>
                  <a:srgbClr val="E6ECF7"/>
                </a:solidFill>
                <a:latin typeface="맑은 고딕"/>
                <a:ea typeface="맑은 고딕"/>
                <a:cs typeface="맑은 고딕"/>
              </a:rPr>
              <a:t>두 공정 분류를 함께 가진 통합형 비중</a:t>
            </a:r>
          </a:p>
        </p:txBody>
      </p:sp>
      <p:sp>
        <p:nvSpPr>
          <p:cNvPr id="87" name="Rounded Rectangle 86"/>
          <p:cNvSpPr/>
          <p:nvPr/>
        </p:nvSpPr>
        <p:spPr>
          <a:xfrm>
            <a:off x="14280000" y="4284000"/>
            <a:ext cx="6528000" cy="1656000"/>
          </a:xfrm>
          <a:prstGeom prst="roundRect">
            <a:avLst>
              <a:gd name="adj" fmla="val 8000"/>
            </a:avLst>
          </a:prstGeom>
          <a:solidFill>
            <a:srgbClr val="131E36"/>
          </a:solidFill>
          <a:ln w="25400">
            <a:solidFill>
              <a:srgbClr val="38BDF8"/>
            </a:solidFill>
          </a:ln>
        </p:spPr>
        <p:txBody>
          <a:bodyPr rtlCol="0" anchor="ctr" lIns="54000" rIns="54000" tIns="54000" bIns="54000"/>
          <a:lstStyle/>
          <a:p>
            <a:pPr algn="ctr"/>
          </a:p>
        </p:txBody>
      </p:sp>
      <p:sp>
        <p:nvSpPr>
          <p:cNvPr id="88" name="TextBox 87"/>
          <p:cNvSpPr txBox="1"/>
          <p:nvPr/>
        </p:nvSpPr>
        <p:spPr>
          <a:xfrm>
            <a:off x="14280000" y="4374000"/>
            <a:ext cx="6528000" cy="1044000"/>
          </a:xfrm>
          <a:prstGeom prst="rect">
            <a:avLst/>
          </a:prstGeom>
          <a:noFill/>
        </p:spPr>
        <p:txBody>
          <a:bodyPr wrap="square" lIns="0" rIns="0" tIns="0" bIns="0" anchor="ctr">
            <a:noAutofit/>
          </a:bodyPr>
          <a:lstStyle/>
          <a:p>
            <a:pPr algn="ctr" marL="0" indent="0">
              <a:lnSpc>
                <a:spcPts val="7559"/>
              </a:lnSpc>
              <a:spcBef>
                <a:spcPts val="0"/>
              </a:spcBef>
              <a:spcAft>
                <a:spcPts val="0"/>
              </a:spcAft>
              <a:buNone/>
            </a:pPr>
            <a:r>
              <a:rPr sz="7000" b="1" i="0" lang="ko-KR">
                <a:solidFill>
                  <a:srgbClr val="38BDF8"/>
                </a:solidFill>
                <a:latin typeface="맑은 고딕"/>
                <a:ea typeface="맑은 고딕"/>
                <a:cs typeface="맑은 고딕"/>
              </a:rPr>
              <a:t>3국면</a:t>
            </a:r>
          </a:p>
        </p:txBody>
      </p:sp>
      <p:sp>
        <p:nvSpPr>
          <p:cNvPr id="89" name="TextBox 88"/>
          <p:cNvSpPr txBox="1"/>
          <p:nvPr/>
        </p:nvSpPr>
        <p:spPr>
          <a:xfrm>
            <a:off x="14424000" y="5454000"/>
            <a:ext cx="6240000" cy="39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0" i="0" lang="ko-KR">
                <a:solidFill>
                  <a:srgbClr val="E6ECF7"/>
                </a:solidFill>
                <a:latin typeface="맑은 고딕"/>
                <a:ea typeface="맑은 고딕"/>
                <a:cs typeface="맑은 고딕"/>
              </a:rPr>
              <a:t>형성기 → 확산기 → 재편기</a:t>
            </a:r>
          </a:p>
        </p:txBody>
      </p:sp>
      <p:sp>
        <p:nvSpPr>
          <p:cNvPr id="90" name="TextBox 89"/>
          <p:cNvSpPr txBox="1"/>
          <p:nvPr/>
        </p:nvSpPr>
        <p:spPr>
          <a:xfrm>
            <a:off x="576000" y="6120000"/>
            <a:ext cx="14400000" cy="792000"/>
          </a:xfrm>
          <a:prstGeom prst="rect">
            <a:avLst/>
          </a:prstGeom>
          <a:noFill/>
        </p:spPr>
        <p:txBody>
          <a:bodyPr wrap="square" lIns="0" rIns="0" tIns="0" bIns="0" anchor="ctr">
            <a:noAutofit/>
          </a:bodyPr>
          <a:lstStyle/>
          <a:p>
            <a:pPr algn="l" marL="0" indent="0">
              <a:lnSpc>
                <a:spcPts val="5280"/>
              </a:lnSpc>
              <a:spcBef>
                <a:spcPts val="0"/>
              </a:spcBef>
              <a:spcAft>
                <a:spcPts val="0"/>
              </a:spcAft>
              <a:buNone/>
            </a:pPr>
            <a:r>
              <a:rPr sz="4400" b="1" i="0" lang="ko-KR" spc="400">
                <a:solidFill>
                  <a:srgbClr val="38BDF8"/>
                </a:solidFill>
                <a:latin typeface="맑은 고딕"/>
                <a:ea typeface="맑은 고딕"/>
                <a:cs typeface="맑은 고딕"/>
              </a:rPr>
              <a:t>01  </a:t>
            </a:r>
            <a:r>
              <a:rPr sz="4400" b="1" i="0" lang="ko-KR" spc="400">
                <a:solidFill>
                  <a:srgbClr val="FFFFFF"/>
                </a:solidFill>
                <a:latin typeface="맑은 고딕"/>
                <a:ea typeface="맑은 고딕"/>
                <a:cs typeface="맑은 고딕"/>
              </a:rPr>
              <a:t>PROBLEM</a:t>
            </a:r>
            <a:r>
              <a:rPr sz="2200" b="0" i="0" lang="ko-KR">
                <a:solidFill>
                  <a:srgbClr val="A9B6CF"/>
                </a:solidFill>
                <a:latin typeface="맑은 고딕"/>
                <a:ea typeface="맑은 고딕"/>
                <a:cs typeface="맑은 고딕"/>
              </a:rPr>
              <a:t>   왜 이 연구인가</a:t>
            </a:r>
          </a:p>
        </p:txBody>
      </p:sp>
      <p:sp>
        <p:nvSpPr>
          <p:cNvPr id="91" name="Rounded Rectangle 90"/>
          <p:cNvSpPr/>
          <p:nvPr/>
        </p:nvSpPr>
        <p:spPr>
          <a:xfrm>
            <a:off x="576000" y="6984000"/>
            <a:ext cx="9954000" cy="4968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92" name="TextBox 91"/>
          <p:cNvSpPr txBox="1"/>
          <p:nvPr/>
        </p:nvSpPr>
        <p:spPr>
          <a:xfrm>
            <a:off x="828000" y="7164000"/>
            <a:ext cx="9450000" cy="360000"/>
          </a:xfrm>
          <a:prstGeom prst="rect">
            <a:avLst/>
          </a:prstGeom>
          <a:noFill/>
        </p:spPr>
        <p:txBody>
          <a:bodyPr wrap="square" lIns="0" rIns="0" tIns="0" bIns="0" anchor="ctr">
            <a:noAutofit/>
          </a:bodyPr>
          <a:lstStyle/>
          <a:p>
            <a:pPr algn="l" marL="0" indent="0">
              <a:lnSpc>
                <a:spcPts val="2400"/>
              </a:lnSpc>
              <a:spcBef>
                <a:spcPts val="0"/>
              </a:spcBef>
              <a:spcAft>
                <a:spcPts val="0"/>
              </a:spcAft>
              <a:buNone/>
            </a:pPr>
            <a:r>
              <a:rPr sz="2000" b="1" i="0" lang="ko-KR">
                <a:solidFill>
                  <a:srgbClr val="38BDF8"/>
                </a:solidFill>
                <a:latin typeface="맑은 고딕"/>
                <a:ea typeface="맑은 고딕"/>
                <a:cs typeface="맑은 고딕"/>
              </a:rPr>
              <a:t>배경</a:t>
            </a:r>
          </a:p>
        </p:txBody>
      </p:sp>
      <p:sp>
        <p:nvSpPr>
          <p:cNvPr id="93" name="TextBox 92"/>
          <p:cNvSpPr txBox="1"/>
          <p:nvPr/>
        </p:nvSpPr>
        <p:spPr>
          <a:xfrm>
            <a:off x="828000" y="7578000"/>
            <a:ext cx="9450000" cy="2520000"/>
          </a:xfrm>
          <a:prstGeom prst="rect">
            <a:avLst/>
          </a:prstGeom>
          <a:noFill/>
        </p:spPr>
        <p:txBody>
          <a:bodyPr wrap="square" lIns="0" rIns="0" tIns="0" bIns="0" anchor="t">
            <a:noAutofit/>
          </a:bodyPr>
          <a:lstStyle/>
          <a:p>
            <a:pPr algn="l" marL="216000" indent="-216000">
              <a:lnSpc>
                <a:spcPts val="2160"/>
              </a:lnSpc>
              <a:spcBef>
                <a:spcPts val="0"/>
              </a:spcBef>
              <a:spcAft>
                <a:spcPts val="400"/>
              </a:spcAft>
              <a:buClr>
                <a:srgbClr val="38BDF8"/>
              </a:buClr>
              <a:buSzPct val="100000"/>
              <a:buFont typeface="Arial"/>
              <a:buChar char="▪"/>
            </a:pPr>
            <a:r>
              <a:rPr sz="1800" b="0" i="0" lang="ko-KR">
                <a:solidFill>
                  <a:srgbClr val="E6ECF7"/>
                </a:solidFill>
                <a:latin typeface="맑은 고딕"/>
                <a:ea typeface="맑은 고딕"/>
                <a:cs typeface="맑은 고딕"/>
              </a:rPr>
              <a:t>반도체 산업은 </a:t>
            </a:r>
            <a:r>
              <a:rPr sz="1800" b="1" i="0" lang="ko-KR">
                <a:solidFill>
                  <a:srgbClr val="60A5FA"/>
                </a:solidFill>
                <a:latin typeface="맑은 고딕"/>
                <a:ea typeface="맑은 고딕"/>
                <a:cs typeface="맑은 고딕"/>
              </a:rPr>
              <a:t>전공정</a:t>
            </a:r>
            <a:r>
              <a:rPr sz="1800" b="0" i="0" lang="ko-KR">
                <a:solidFill>
                  <a:srgbClr val="E6ECF7"/>
                </a:solidFill>
                <a:latin typeface="맑은 고딕"/>
                <a:ea typeface="맑은 고딕"/>
                <a:cs typeface="맑은 고딕"/>
              </a:rPr>
              <a:t>(웨이퍼 위 소자 형성)과 </a:t>
            </a:r>
            <a:r>
              <a:rPr sz="1800" b="1" i="0" lang="ko-KR">
                <a:solidFill>
                  <a:srgbClr val="FB923C"/>
                </a:solidFill>
                <a:latin typeface="맑은 고딕"/>
                <a:ea typeface="맑은 고딕"/>
                <a:cs typeface="맑은 고딕"/>
              </a:rPr>
              <a:t>후공정</a:t>
            </a:r>
            <a:r>
              <a:rPr sz="1800" b="0" i="0" lang="ko-KR">
                <a:solidFill>
                  <a:srgbClr val="E6ECF7"/>
                </a:solidFill>
                <a:latin typeface="맑은 고딕"/>
                <a:ea typeface="맑은 고딕"/>
                <a:cs typeface="맑은 고딕"/>
              </a:rPr>
              <a:t>(절단·조립·패키징)의 분업 구조를 반세기 이상 유지해 왔다.</a:t>
            </a:r>
          </a:p>
          <a:p>
            <a:pPr algn="l" marL="216000" indent="-216000">
              <a:lnSpc>
                <a:spcPts val="2160"/>
              </a:lnSpc>
              <a:spcBef>
                <a:spcPts val="0"/>
              </a:spcBef>
              <a:spcAft>
                <a:spcPts val="400"/>
              </a:spcAft>
              <a:buClr>
                <a:srgbClr val="38BDF8"/>
              </a:buClr>
              <a:buSzPct val="100000"/>
              <a:buFont typeface="Arial"/>
              <a:buChar char="▪"/>
            </a:pPr>
            <a:r>
              <a:rPr sz="1800" b="0" i="0" lang="ko-KR">
                <a:solidFill>
                  <a:srgbClr val="E6ECF7"/>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160"/>
              </a:lnSpc>
              <a:spcBef>
                <a:spcPts val="0"/>
              </a:spcBef>
              <a:spcAft>
                <a:spcPts val="400"/>
              </a:spcAft>
              <a:buClr>
                <a:srgbClr val="38BDF8"/>
              </a:buClr>
              <a:buSzPct val="100000"/>
              <a:buFont typeface="Arial"/>
              <a:buChar char="▪"/>
            </a:pPr>
            <a:r>
              <a:rPr sz="1800" b="1" i="0" lang="ko-KR">
                <a:solidFill>
                  <a:srgbClr val="E6ECF7"/>
                </a:solidFill>
                <a:latin typeface="맑은 고딕"/>
                <a:ea typeface="맑은 고딕"/>
                <a:cs typeface="맑은 고딕"/>
              </a:rPr>
              <a:t>하이브리드 본딩</a:t>
            </a:r>
            <a:r>
              <a:rPr sz="1800" b="0" i="0" lang="ko-KR">
                <a:solidFill>
                  <a:srgbClr val="E6ECF7"/>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160"/>
              </a:lnSpc>
              <a:spcBef>
                <a:spcPts val="0"/>
              </a:spcBef>
              <a:spcAft>
                <a:spcPts val="400"/>
              </a:spcAft>
              <a:buClr>
                <a:srgbClr val="38BDF8"/>
              </a:buClr>
              <a:buSzPct val="100000"/>
              <a:buFont typeface="Arial"/>
              <a:buChar char="▪"/>
            </a:pPr>
            <a:r>
              <a:rPr sz="1800" b="0" i="0" lang="ko-KR">
                <a:solidFill>
                  <a:srgbClr val="E6ECF7"/>
                </a:solidFill>
                <a:latin typeface="맑은 고딕"/>
                <a:ea typeface="맑은 고딕"/>
                <a:cs typeface="맑은 고딕"/>
              </a:rPr>
              <a:t>그 성패를 좌우하는 평탄화(CMP)·표면 활성화·정밀 정렬은 </a:t>
            </a:r>
            <a:r>
              <a:rPr sz="1800" b="1" i="0" lang="ko-KR">
                <a:solidFill>
                  <a:srgbClr val="60A5FA"/>
                </a:solidFill>
                <a:latin typeface="맑은 고딕"/>
                <a:ea typeface="맑은 고딕"/>
                <a:cs typeface="맑은 고딕"/>
              </a:rPr>
              <a:t>전공정의 제조공정 역량</a:t>
            </a:r>
            <a:r>
              <a:rPr sz="1800" b="0" i="0" lang="ko-KR">
                <a:solidFill>
                  <a:srgbClr val="E6ECF7"/>
                </a:solidFill>
                <a:latin typeface="맑은 고딕"/>
                <a:ea typeface="맑은 고딕"/>
                <a:cs typeface="맑은 고딕"/>
              </a:rPr>
              <a:t>에 해당한다.</a:t>
            </a:r>
          </a:p>
        </p:txBody>
      </p:sp>
      <p:sp>
        <p:nvSpPr>
          <p:cNvPr id="94" name="Rounded Rectangle 93"/>
          <p:cNvSpPr/>
          <p:nvPr/>
        </p:nvSpPr>
        <p:spPr>
          <a:xfrm>
            <a:off x="828000" y="9900000"/>
            <a:ext cx="4545000" cy="1872000"/>
          </a:xfrm>
          <a:prstGeom prst="roundRect">
            <a:avLst>
              <a:gd name="adj" fmla="val 6000"/>
            </a:avLst>
          </a:prstGeom>
          <a:solidFill>
            <a:srgbClr val="1B2948"/>
          </a:solidFill>
          <a:ln>
            <a:noFill/>
          </a:ln>
        </p:spPr>
        <p:txBody>
          <a:bodyPr rtlCol="0" anchor="ctr" lIns="54000" rIns="54000" tIns="54000" bIns="54000"/>
          <a:lstStyle/>
          <a:p>
            <a:pPr algn="ctr"/>
          </a:p>
        </p:txBody>
      </p:sp>
      <p:sp>
        <p:nvSpPr>
          <p:cNvPr id="95" name="TextBox 94"/>
          <p:cNvSpPr txBox="1"/>
          <p:nvPr/>
        </p:nvSpPr>
        <p:spPr>
          <a:xfrm>
            <a:off x="936000" y="9972000"/>
            <a:ext cx="4329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A9B6CF"/>
                </a:solidFill>
                <a:latin typeface="맑은 고딕"/>
                <a:ea typeface="맑은 고딕"/>
                <a:cs typeface="맑은 고딕"/>
              </a:rPr>
              <a:t>기존: 솔더 범프 접합</a:t>
            </a:r>
          </a:p>
        </p:txBody>
      </p:sp>
      <p:sp>
        <p:nvSpPr>
          <p:cNvPr id="96" name="Rectangle 95"/>
          <p:cNvSpPr/>
          <p:nvPr/>
        </p:nvSpPr>
        <p:spPr>
          <a:xfrm>
            <a:off x="1152000" y="10296000"/>
            <a:ext cx="3897000" cy="324000"/>
          </a:xfrm>
          <a:prstGeom prst="rect">
            <a:avLst/>
          </a:prstGeom>
          <a:solidFill>
            <a:srgbClr val="8A97AD"/>
          </a:solidFill>
          <a:ln>
            <a:noFill/>
          </a:ln>
        </p:spPr>
        <p:txBody>
          <a:bodyPr rtlCol="0" anchor="ctr" lIns="54000" rIns="54000" tIns="54000" bIns="54000"/>
          <a:lstStyle/>
          <a:p>
            <a:pPr algn="ctr"/>
          </a:p>
        </p:txBody>
      </p:sp>
      <p:sp>
        <p:nvSpPr>
          <p:cNvPr id="97" name="Oval 96"/>
          <p:cNvSpPr/>
          <p:nvPr/>
        </p:nvSpPr>
        <p:spPr>
          <a:xfrm>
            <a:off x="1350000" y="1061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98" name="Oval 97"/>
          <p:cNvSpPr/>
          <p:nvPr/>
        </p:nvSpPr>
        <p:spPr>
          <a:xfrm>
            <a:off x="2148750" y="1061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99" name="Oval 98"/>
          <p:cNvSpPr/>
          <p:nvPr/>
        </p:nvSpPr>
        <p:spPr>
          <a:xfrm>
            <a:off x="2947500" y="1061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100" name="Oval 99"/>
          <p:cNvSpPr/>
          <p:nvPr/>
        </p:nvSpPr>
        <p:spPr>
          <a:xfrm>
            <a:off x="3746250" y="1061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101" name="Oval 100"/>
          <p:cNvSpPr/>
          <p:nvPr/>
        </p:nvSpPr>
        <p:spPr>
          <a:xfrm>
            <a:off x="4545000" y="1061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102" name="Rectangle 101"/>
          <p:cNvSpPr/>
          <p:nvPr/>
        </p:nvSpPr>
        <p:spPr>
          <a:xfrm>
            <a:off x="1152000" y="10908000"/>
            <a:ext cx="3897000" cy="324000"/>
          </a:xfrm>
          <a:prstGeom prst="rect">
            <a:avLst/>
          </a:prstGeom>
          <a:solidFill>
            <a:srgbClr val="5E6C85"/>
          </a:solidFill>
          <a:ln>
            <a:noFill/>
          </a:ln>
        </p:spPr>
        <p:txBody>
          <a:bodyPr rtlCol="0" anchor="ctr" lIns="54000" rIns="54000" tIns="54000" bIns="54000"/>
          <a:lstStyle/>
          <a:p>
            <a:pPr algn="ctr"/>
          </a:p>
        </p:txBody>
      </p:sp>
      <p:sp>
        <p:nvSpPr>
          <p:cNvPr id="103" name="TextBox 102"/>
          <p:cNvSpPr txBox="1"/>
          <p:nvPr/>
        </p:nvSpPr>
        <p:spPr>
          <a:xfrm>
            <a:off x="936000" y="11250000"/>
            <a:ext cx="4329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E6ECF7"/>
                </a:solidFill>
                <a:latin typeface="맑은 고딕"/>
                <a:ea typeface="맑은 고딕"/>
                <a:cs typeface="맑은 고딕"/>
              </a:rPr>
              <a:t>다이 사이를 솔더 범프로 연결</a:t>
            </a:r>
          </a:p>
          <a:p>
            <a:pPr algn="ctr" marL="0" indent="0">
              <a:lnSpc>
                <a:spcPts val="1680"/>
              </a:lnSpc>
              <a:spcBef>
                <a:spcPts val="0"/>
              </a:spcBef>
              <a:spcAft>
                <a:spcPts val="0"/>
              </a:spcAft>
              <a:buNone/>
            </a:pPr>
            <a:r>
              <a:rPr sz="1400" b="0" i="0" lang="ko-KR">
                <a:solidFill>
                  <a:srgbClr val="A9B6CF"/>
                </a:solidFill>
                <a:latin typeface="맑은 고딕"/>
                <a:ea typeface="맑은 고딕"/>
                <a:cs typeface="맑은 고딕"/>
              </a:rPr>
              <a:t>10 µm 이하 간격은 구현하기 어려움</a:t>
            </a:r>
          </a:p>
        </p:txBody>
      </p:sp>
      <p:sp>
        <p:nvSpPr>
          <p:cNvPr id="104" name="Rounded Rectangle 103"/>
          <p:cNvSpPr/>
          <p:nvPr/>
        </p:nvSpPr>
        <p:spPr>
          <a:xfrm>
            <a:off x="5733000" y="9900000"/>
            <a:ext cx="4545000" cy="1872000"/>
          </a:xfrm>
          <a:prstGeom prst="roundRect">
            <a:avLst>
              <a:gd name="adj" fmla="val 6000"/>
            </a:avLst>
          </a:prstGeom>
          <a:solidFill>
            <a:srgbClr val="1B2948"/>
          </a:solidFill>
          <a:ln>
            <a:noFill/>
          </a:ln>
        </p:spPr>
        <p:txBody>
          <a:bodyPr rtlCol="0" anchor="ctr" lIns="54000" rIns="54000" tIns="54000" bIns="54000"/>
          <a:lstStyle/>
          <a:p>
            <a:pPr algn="ctr"/>
          </a:p>
        </p:txBody>
      </p:sp>
      <p:sp>
        <p:nvSpPr>
          <p:cNvPr id="105" name="TextBox 104"/>
          <p:cNvSpPr txBox="1"/>
          <p:nvPr/>
        </p:nvSpPr>
        <p:spPr>
          <a:xfrm>
            <a:off x="5841000" y="9972000"/>
            <a:ext cx="4329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106" name="Rectangle 105"/>
          <p:cNvSpPr/>
          <p:nvPr/>
        </p:nvSpPr>
        <p:spPr>
          <a:xfrm>
            <a:off x="6057000" y="10296000"/>
            <a:ext cx="3897000" cy="324000"/>
          </a:xfrm>
          <a:prstGeom prst="rect">
            <a:avLst/>
          </a:prstGeom>
          <a:solidFill>
            <a:srgbClr val="8A97AD"/>
          </a:solidFill>
          <a:ln>
            <a:noFill/>
          </a:ln>
        </p:spPr>
        <p:txBody>
          <a:bodyPr rtlCol="0" anchor="ctr" lIns="54000" rIns="54000" tIns="54000" bIns="54000"/>
          <a:lstStyle/>
          <a:p>
            <a:pPr algn="ctr"/>
          </a:p>
        </p:txBody>
      </p:sp>
      <p:sp>
        <p:nvSpPr>
          <p:cNvPr id="107" name="Rectangle 106"/>
          <p:cNvSpPr/>
          <p:nvPr/>
        </p:nvSpPr>
        <p:spPr>
          <a:xfrm>
            <a:off x="6057000" y="10483200"/>
            <a:ext cx="3897000" cy="136800"/>
          </a:xfrm>
          <a:prstGeom prst="rect">
            <a:avLst/>
          </a:prstGeom>
          <a:solidFill>
            <a:srgbClr val="BFE3E6"/>
          </a:solidFill>
          <a:ln>
            <a:noFill/>
          </a:ln>
        </p:spPr>
        <p:txBody>
          <a:bodyPr rtlCol="0" anchor="ctr" lIns="54000" rIns="54000" tIns="54000" bIns="54000"/>
          <a:lstStyle/>
          <a:p>
            <a:pPr algn="ctr"/>
          </a:p>
        </p:txBody>
      </p:sp>
      <p:sp>
        <p:nvSpPr>
          <p:cNvPr id="108" name="Rectangle 107"/>
          <p:cNvSpPr/>
          <p:nvPr/>
        </p:nvSpPr>
        <p:spPr>
          <a:xfrm>
            <a:off x="6057000" y="10656000"/>
            <a:ext cx="3897000" cy="136800"/>
          </a:xfrm>
          <a:prstGeom prst="rect">
            <a:avLst/>
          </a:prstGeom>
          <a:solidFill>
            <a:srgbClr val="BFE3E6"/>
          </a:solidFill>
          <a:ln>
            <a:noFill/>
          </a:ln>
        </p:spPr>
        <p:txBody>
          <a:bodyPr rtlCol="0" anchor="ctr" lIns="54000" rIns="54000" tIns="54000" bIns="54000"/>
          <a:lstStyle/>
          <a:p>
            <a:pPr algn="ctr"/>
          </a:p>
        </p:txBody>
      </p:sp>
      <p:sp>
        <p:nvSpPr>
          <p:cNvPr id="109" name="Rectangle 108"/>
          <p:cNvSpPr/>
          <p:nvPr/>
        </p:nvSpPr>
        <p:spPr>
          <a:xfrm>
            <a:off x="6219000" y="10483200"/>
            <a:ext cx="252000" cy="136800"/>
          </a:xfrm>
          <a:prstGeom prst="rect">
            <a:avLst/>
          </a:prstGeom>
          <a:solidFill>
            <a:srgbClr val="EA7A28"/>
          </a:solidFill>
          <a:ln>
            <a:noFill/>
          </a:ln>
        </p:spPr>
        <p:txBody>
          <a:bodyPr rtlCol="0" anchor="ctr" lIns="54000" rIns="54000" tIns="54000" bIns="54000"/>
          <a:lstStyle/>
          <a:p>
            <a:pPr algn="ctr"/>
          </a:p>
        </p:txBody>
      </p:sp>
      <p:sp>
        <p:nvSpPr>
          <p:cNvPr id="110" name="Rectangle 109"/>
          <p:cNvSpPr/>
          <p:nvPr/>
        </p:nvSpPr>
        <p:spPr>
          <a:xfrm>
            <a:off x="6219000" y="10656000"/>
            <a:ext cx="252000" cy="136800"/>
          </a:xfrm>
          <a:prstGeom prst="rect">
            <a:avLst/>
          </a:prstGeom>
          <a:solidFill>
            <a:srgbClr val="EA7A28"/>
          </a:solidFill>
          <a:ln>
            <a:noFill/>
          </a:ln>
        </p:spPr>
        <p:txBody>
          <a:bodyPr rtlCol="0" anchor="ctr" lIns="54000" rIns="54000" tIns="54000" bIns="54000"/>
          <a:lstStyle/>
          <a:p>
            <a:pPr algn="ctr"/>
          </a:p>
        </p:txBody>
      </p:sp>
      <p:sp>
        <p:nvSpPr>
          <p:cNvPr id="111" name="Rectangle 110"/>
          <p:cNvSpPr/>
          <p:nvPr/>
        </p:nvSpPr>
        <p:spPr>
          <a:xfrm>
            <a:off x="6883200" y="10483200"/>
            <a:ext cx="252000" cy="136800"/>
          </a:xfrm>
          <a:prstGeom prst="rect">
            <a:avLst/>
          </a:prstGeom>
          <a:solidFill>
            <a:srgbClr val="EA7A28"/>
          </a:solidFill>
          <a:ln>
            <a:noFill/>
          </a:ln>
        </p:spPr>
        <p:txBody>
          <a:bodyPr rtlCol="0" anchor="ctr" lIns="54000" rIns="54000" tIns="54000" bIns="54000"/>
          <a:lstStyle/>
          <a:p>
            <a:pPr algn="ctr"/>
          </a:p>
        </p:txBody>
      </p:sp>
      <p:sp>
        <p:nvSpPr>
          <p:cNvPr id="112" name="Rectangle 111"/>
          <p:cNvSpPr/>
          <p:nvPr/>
        </p:nvSpPr>
        <p:spPr>
          <a:xfrm>
            <a:off x="6883200" y="10656000"/>
            <a:ext cx="252000" cy="136800"/>
          </a:xfrm>
          <a:prstGeom prst="rect">
            <a:avLst/>
          </a:prstGeom>
          <a:solidFill>
            <a:srgbClr val="EA7A28"/>
          </a:solidFill>
          <a:ln>
            <a:noFill/>
          </a:ln>
        </p:spPr>
        <p:txBody>
          <a:bodyPr rtlCol="0" anchor="ctr" lIns="54000" rIns="54000" tIns="54000" bIns="54000"/>
          <a:lstStyle/>
          <a:p>
            <a:pPr algn="ctr"/>
          </a:p>
        </p:txBody>
      </p:sp>
      <p:sp>
        <p:nvSpPr>
          <p:cNvPr id="113" name="Rectangle 112"/>
          <p:cNvSpPr/>
          <p:nvPr/>
        </p:nvSpPr>
        <p:spPr>
          <a:xfrm>
            <a:off x="7547400" y="10483200"/>
            <a:ext cx="252000" cy="136800"/>
          </a:xfrm>
          <a:prstGeom prst="rect">
            <a:avLst/>
          </a:prstGeom>
          <a:solidFill>
            <a:srgbClr val="EA7A28"/>
          </a:solidFill>
          <a:ln>
            <a:noFill/>
          </a:ln>
        </p:spPr>
        <p:txBody>
          <a:bodyPr rtlCol="0" anchor="ctr" lIns="54000" rIns="54000" tIns="54000" bIns="54000"/>
          <a:lstStyle/>
          <a:p>
            <a:pPr algn="ctr"/>
          </a:p>
        </p:txBody>
      </p:sp>
      <p:sp>
        <p:nvSpPr>
          <p:cNvPr id="114" name="Rectangle 113"/>
          <p:cNvSpPr/>
          <p:nvPr/>
        </p:nvSpPr>
        <p:spPr>
          <a:xfrm>
            <a:off x="7547400" y="10656000"/>
            <a:ext cx="252000" cy="136800"/>
          </a:xfrm>
          <a:prstGeom prst="rect">
            <a:avLst/>
          </a:prstGeom>
          <a:solidFill>
            <a:srgbClr val="EA7A28"/>
          </a:solidFill>
          <a:ln>
            <a:noFill/>
          </a:ln>
        </p:spPr>
        <p:txBody>
          <a:bodyPr rtlCol="0" anchor="ctr" lIns="54000" rIns="54000" tIns="54000" bIns="54000"/>
          <a:lstStyle/>
          <a:p>
            <a:pPr algn="ctr"/>
          </a:p>
        </p:txBody>
      </p:sp>
      <p:sp>
        <p:nvSpPr>
          <p:cNvPr id="115" name="Rectangle 114"/>
          <p:cNvSpPr/>
          <p:nvPr/>
        </p:nvSpPr>
        <p:spPr>
          <a:xfrm>
            <a:off x="8211600" y="10483200"/>
            <a:ext cx="252000" cy="136800"/>
          </a:xfrm>
          <a:prstGeom prst="rect">
            <a:avLst/>
          </a:prstGeom>
          <a:solidFill>
            <a:srgbClr val="EA7A28"/>
          </a:solidFill>
          <a:ln>
            <a:noFill/>
          </a:ln>
        </p:spPr>
        <p:txBody>
          <a:bodyPr rtlCol="0" anchor="ctr" lIns="54000" rIns="54000" tIns="54000" bIns="54000"/>
          <a:lstStyle/>
          <a:p>
            <a:pPr algn="ctr"/>
          </a:p>
        </p:txBody>
      </p:sp>
      <p:sp>
        <p:nvSpPr>
          <p:cNvPr id="116" name="Rectangle 115"/>
          <p:cNvSpPr/>
          <p:nvPr/>
        </p:nvSpPr>
        <p:spPr>
          <a:xfrm>
            <a:off x="8211600" y="10656000"/>
            <a:ext cx="252000" cy="136800"/>
          </a:xfrm>
          <a:prstGeom prst="rect">
            <a:avLst/>
          </a:prstGeom>
          <a:solidFill>
            <a:srgbClr val="EA7A28"/>
          </a:solidFill>
          <a:ln>
            <a:noFill/>
          </a:ln>
        </p:spPr>
        <p:txBody>
          <a:bodyPr rtlCol="0" anchor="ctr" lIns="54000" rIns="54000" tIns="54000" bIns="54000"/>
          <a:lstStyle/>
          <a:p>
            <a:pPr algn="ctr"/>
          </a:p>
        </p:txBody>
      </p:sp>
      <p:sp>
        <p:nvSpPr>
          <p:cNvPr id="117" name="Rectangle 116"/>
          <p:cNvSpPr/>
          <p:nvPr/>
        </p:nvSpPr>
        <p:spPr>
          <a:xfrm>
            <a:off x="8875800" y="10483200"/>
            <a:ext cx="252000" cy="136800"/>
          </a:xfrm>
          <a:prstGeom prst="rect">
            <a:avLst/>
          </a:prstGeom>
          <a:solidFill>
            <a:srgbClr val="EA7A28"/>
          </a:solidFill>
          <a:ln>
            <a:noFill/>
          </a:ln>
        </p:spPr>
        <p:txBody>
          <a:bodyPr rtlCol="0" anchor="ctr" lIns="54000" rIns="54000" tIns="54000" bIns="54000"/>
          <a:lstStyle/>
          <a:p>
            <a:pPr algn="ctr"/>
          </a:p>
        </p:txBody>
      </p:sp>
      <p:sp>
        <p:nvSpPr>
          <p:cNvPr id="118" name="Rectangle 117"/>
          <p:cNvSpPr/>
          <p:nvPr/>
        </p:nvSpPr>
        <p:spPr>
          <a:xfrm>
            <a:off x="8875800" y="10656000"/>
            <a:ext cx="252000" cy="136800"/>
          </a:xfrm>
          <a:prstGeom prst="rect">
            <a:avLst/>
          </a:prstGeom>
          <a:solidFill>
            <a:srgbClr val="EA7A28"/>
          </a:solidFill>
          <a:ln>
            <a:noFill/>
          </a:ln>
        </p:spPr>
        <p:txBody>
          <a:bodyPr rtlCol="0" anchor="ctr" lIns="54000" rIns="54000" tIns="54000" bIns="54000"/>
          <a:lstStyle/>
          <a:p>
            <a:pPr algn="ctr"/>
          </a:p>
        </p:txBody>
      </p:sp>
      <p:sp>
        <p:nvSpPr>
          <p:cNvPr id="119" name="Rectangle 118"/>
          <p:cNvSpPr/>
          <p:nvPr/>
        </p:nvSpPr>
        <p:spPr>
          <a:xfrm>
            <a:off x="9540000" y="10483200"/>
            <a:ext cx="252000" cy="136800"/>
          </a:xfrm>
          <a:prstGeom prst="rect">
            <a:avLst/>
          </a:prstGeom>
          <a:solidFill>
            <a:srgbClr val="EA7A28"/>
          </a:solidFill>
          <a:ln>
            <a:noFill/>
          </a:ln>
        </p:spPr>
        <p:txBody>
          <a:bodyPr rtlCol="0" anchor="ctr" lIns="54000" rIns="54000" tIns="54000" bIns="54000"/>
          <a:lstStyle/>
          <a:p>
            <a:pPr algn="ctr"/>
          </a:p>
        </p:txBody>
      </p:sp>
      <p:sp>
        <p:nvSpPr>
          <p:cNvPr id="120" name="Rectangle 119"/>
          <p:cNvSpPr/>
          <p:nvPr/>
        </p:nvSpPr>
        <p:spPr>
          <a:xfrm>
            <a:off x="9540000" y="10656000"/>
            <a:ext cx="252000" cy="136800"/>
          </a:xfrm>
          <a:prstGeom prst="rect">
            <a:avLst/>
          </a:prstGeom>
          <a:solidFill>
            <a:srgbClr val="EA7A28"/>
          </a:solidFill>
          <a:ln>
            <a:noFill/>
          </a:ln>
        </p:spPr>
        <p:txBody>
          <a:bodyPr rtlCol="0" anchor="ctr" lIns="54000" rIns="54000" tIns="54000" bIns="54000"/>
          <a:lstStyle/>
          <a:p>
            <a:pPr algn="ctr"/>
          </a:p>
        </p:txBody>
      </p:sp>
      <p:sp>
        <p:nvSpPr>
          <p:cNvPr id="121" name="Rectangle 120"/>
          <p:cNvSpPr/>
          <p:nvPr/>
        </p:nvSpPr>
        <p:spPr>
          <a:xfrm>
            <a:off x="6057000" y="10620000"/>
            <a:ext cx="3897000" cy="36000"/>
          </a:xfrm>
          <a:prstGeom prst="rect">
            <a:avLst/>
          </a:prstGeom>
          <a:solidFill>
            <a:srgbClr val="7C3AED"/>
          </a:solidFill>
          <a:ln>
            <a:noFill/>
          </a:ln>
        </p:spPr>
        <p:txBody>
          <a:bodyPr rtlCol="0" anchor="ctr" lIns="54000" rIns="54000" tIns="54000" bIns="54000"/>
          <a:lstStyle/>
          <a:p>
            <a:pPr algn="ctr"/>
          </a:p>
        </p:txBody>
      </p:sp>
      <p:sp>
        <p:nvSpPr>
          <p:cNvPr id="122" name="Rectangle 121"/>
          <p:cNvSpPr/>
          <p:nvPr/>
        </p:nvSpPr>
        <p:spPr>
          <a:xfrm>
            <a:off x="6057000" y="10792800"/>
            <a:ext cx="3897000" cy="324000"/>
          </a:xfrm>
          <a:prstGeom prst="rect">
            <a:avLst/>
          </a:prstGeom>
          <a:solidFill>
            <a:srgbClr val="5E6C85"/>
          </a:solidFill>
          <a:ln>
            <a:noFill/>
          </a:ln>
        </p:spPr>
        <p:txBody>
          <a:bodyPr rtlCol="0" anchor="ctr" lIns="54000" rIns="54000" tIns="54000" bIns="54000"/>
          <a:lstStyle/>
          <a:p>
            <a:pPr algn="ctr"/>
          </a:p>
        </p:txBody>
      </p:sp>
      <p:sp>
        <p:nvSpPr>
          <p:cNvPr id="123" name="TextBox 122"/>
          <p:cNvSpPr txBox="1"/>
          <p:nvPr/>
        </p:nvSpPr>
        <p:spPr>
          <a:xfrm>
            <a:off x="5841000" y="11250000"/>
            <a:ext cx="4329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E6ECF7"/>
                </a:solidFill>
                <a:latin typeface="맑은 고딕"/>
                <a:ea typeface="맑은 고딕"/>
                <a:cs typeface="맑은 고딕"/>
              </a:rPr>
              <a:t>구리–구리 + 산화막–산화막 직접 접합</a:t>
            </a:r>
          </a:p>
          <a:p>
            <a:pPr algn="ctr" marL="0" indent="0">
              <a:lnSpc>
                <a:spcPts val="1680"/>
              </a:lnSpc>
              <a:spcBef>
                <a:spcPts val="0"/>
              </a:spcBef>
              <a:spcAft>
                <a:spcPts val="0"/>
              </a:spcAft>
              <a:buNone/>
            </a:pPr>
            <a:r>
              <a:rPr sz="1400" b="0" i="0" lang="ko-KR">
                <a:solidFill>
                  <a:srgbClr val="A9B6CF"/>
                </a:solidFill>
                <a:latin typeface="맑은 고딕"/>
                <a:ea typeface="맑은 고딕"/>
                <a:cs typeface="맑은 고딕"/>
              </a:rPr>
              <a:t>범프 없이 10 µm 이하 간격</a:t>
            </a:r>
          </a:p>
        </p:txBody>
      </p:sp>
      <p:cxnSp>
        <p:nvCxnSpPr>
          <p:cNvPr id="124" name="Connector 123"/>
          <p:cNvCxnSpPr/>
          <p:nvPr/>
        </p:nvCxnSpPr>
        <p:spPr>
          <a:xfrm>
            <a:off x="5427000" y="10836000"/>
            <a:ext cx="252000" cy="0"/>
          </a:xfrm>
          <a:prstGeom prst="line">
            <a:avLst/>
          </a:prstGeom>
          <a:ln w="50800">
            <a:solidFill>
              <a:srgbClr val="7C3AED"/>
            </a:solidFill>
            <a:tailEnd type="triangle" w="med" len="med"/>
          </a:ln>
        </p:spPr>
      </p:cxnSp>
      <p:sp>
        <p:nvSpPr>
          <p:cNvPr id="125" name="Rounded Rectangle 124"/>
          <p:cNvSpPr/>
          <p:nvPr/>
        </p:nvSpPr>
        <p:spPr>
          <a:xfrm>
            <a:off x="10854000" y="6984000"/>
            <a:ext cx="9954000" cy="4968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26" name="TextBox 125"/>
          <p:cNvSpPr txBox="1"/>
          <p:nvPr/>
        </p:nvSpPr>
        <p:spPr>
          <a:xfrm>
            <a:off x="11106000" y="7164000"/>
            <a:ext cx="9450000" cy="360000"/>
          </a:xfrm>
          <a:prstGeom prst="rect">
            <a:avLst/>
          </a:prstGeom>
          <a:noFill/>
        </p:spPr>
        <p:txBody>
          <a:bodyPr wrap="square" lIns="0" rIns="0" tIns="0" bIns="0" anchor="ctr">
            <a:noAutofit/>
          </a:bodyPr>
          <a:lstStyle/>
          <a:p>
            <a:pPr algn="l" marL="0" indent="0">
              <a:lnSpc>
                <a:spcPts val="2400"/>
              </a:lnSpc>
              <a:spcBef>
                <a:spcPts val="0"/>
              </a:spcBef>
              <a:spcAft>
                <a:spcPts val="0"/>
              </a:spcAft>
              <a:buNone/>
            </a:pPr>
            <a:r>
              <a:rPr sz="2000" b="1" i="0" lang="ko-KR">
                <a:solidFill>
                  <a:srgbClr val="38BDF8"/>
                </a:solidFill>
                <a:latin typeface="맑은 고딕"/>
                <a:ea typeface="맑은 고딕"/>
                <a:cs typeface="맑은 고딕"/>
              </a:rPr>
              <a:t>연구 공백</a:t>
            </a:r>
          </a:p>
        </p:txBody>
      </p:sp>
      <p:sp>
        <p:nvSpPr>
          <p:cNvPr id="127" name="TextBox 126"/>
          <p:cNvSpPr txBox="1"/>
          <p:nvPr/>
        </p:nvSpPr>
        <p:spPr>
          <a:xfrm>
            <a:off x="11106000" y="7578000"/>
            <a:ext cx="9450000" cy="1512000"/>
          </a:xfrm>
          <a:prstGeom prst="rect">
            <a:avLst/>
          </a:prstGeom>
          <a:noFill/>
        </p:spPr>
        <p:txBody>
          <a:bodyPr wrap="square" lIns="0" rIns="0" tIns="0" bIns="0" anchor="t">
            <a:noAutofit/>
          </a:bodyPr>
          <a:lstStyle/>
          <a:p>
            <a:pPr algn="l" marL="216000" indent="-216000">
              <a:lnSpc>
                <a:spcPts val="2039"/>
              </a:lnSpc>
              <a:spcBef>
                <a:spcPts val="0"/>
              </a:spcBef>
              <a:spcAft>
                <a:spcPts val="300"/>
              </a:spcAft>
              <a:buClr>
                <a:srgbClr val="38BDF8"/>
              </a:buClr>
              <a:buSzPct val="100000"/>
              <a:buFont typeface="Arial"/>
              <a:buChar char="▪"/>
            </a:pPr>
            <a:r>
              <a:rPr sz="1700" b="0" i="0" lang="ko-KR">
                <a:solidFill>
                  <a:srgbClr val="E6ECF7"/>
                </a:solidFill>
                <a:latin typeface="맑은 고딕"/>
                <a:ea typeface="맑은 고딕"/>
                <a:cs typeface="맑은 고딕"/>
              </a:rPr>
              <a:t>기존 기술융합 연구는 주로 서로 다른 산업·기술 분야 사이의 융합(ICT–가전, 식품–제약, 나노–바이오)을 다루었다.</a:t>
            </a:r>
          </a:p>
          <a:p>
            <a:pPr algn="l" marL="216000" indent="-216000">
              <a:lnSpc>
                <a:spcPts val="2039"/>
              </a:lnSpc>
              <a:spcBef>
                <a:spcPts val="0"/>
              </a:spcBef>
              <a:spcAft>
                <a:spcPts val="300"/>
              </a:spcAft>
              <a:buClr>
                <a:srgbClr val="38BDF8"/>
              </a:buClr>
              <a:buSzPct val="100000"/>
              <a:buFont typeface="Arial"/>
              <a:buChar char="▪"/>
            </a:pPr>
            <a:r>
              <a:rPr sz="1700" b="0" i="0" lang="ko-KR">
                <a:solidFill>
                  <a:srgbClr val="E6ECF7"/>
                </a:solidFill>
                <a:latin typeface="맑은 고딕"/>
                <a:ea typeface="맑은 고딕"/>
                <a:cs typeface="맑은 고딕"/>
              </a:rPr>
              <a:t>한 산업 안에서 공정 단계를 가로지르는 융합은 충분히 다루어지지 않았고, 이를 특허 단위에서 검정한 연구도 부족하다.</a:t>
            </a:r>
          </a:p>
          <a:p>
            <a:pPr algn="l" marL="216000" indent="-216000">
              <a:lnSpc>
                <a:spcPts val="2039"/>
              </a:lnSpc>
              <a:spcBef>
                <a:spcPts val="0"/>
              </a:spcBef>
              <a:spcAft>
                <a:spcPts val="300"/>
              </a:spcAft>
              <a:buClr>
                <a:srgbClr val="38BDF8"/>
              </a:buClr>
              <a:buSzPct val="100000"/>
              <a:buFont typeface="Arial"/>
              <a:buChar char="▪"/>
            </a:pPr>
            <a:r>
              <a:rPr sz="1700" b="0" i="0" lang="ko-KR">
                <a:solidFill>
                  <a:srgbClr val="E6ECF7"/>
                </a:solidFill>
                <a:latin typeface="맑은 고딕"/>
                <a:ea typeface="맑은 고딕"/>
                <a:cs typeface="맑은 고딕"/>
              </a:rPr>
              <a:t>융합을 단계적 과정으로 보는 이론에 비해, 융합 내용의 시간적 변화를 분석한 실증 연구는 부족하다.</a:t>
            </a:r>
          </a:p>
        </p:txBody>
      </p:sp>
      <p:sp>
        <p:nvSpPr>
          <p:cNvPr id="128" name="TextBox 127"/>
          <p:cNvSpPr txBox="1"/>
          <p:nvPr/>
        </p:nvSpPr>
        <p:spPr>
          <a:xfrm>
            <a:off x="11106000" y="9162000"/>
            <a:ext cx="9450000" cy="360000"/>
          </a:xfrm>
          <a:prstGeom prst="rect">
            <a:avLst/>
          </a:prstGeom>
          <a:noFill/>
        </p:spPr>
        <p:txBody>
          <a:bodyPr wrap="square" lIns="0" rIns="0" tIns="0" bIns="0" anchor="ctr">
            <a:noAutofit/>
          </a:bodyPr>
          <a:lstStyle/>
          <a:p>
            <a:pPr algn="l" marL="0" indent="0">
              <a:lnSpc>
                <a:spcPts val="2400"/>
              </a:lnSpc>
              <a:spcBef>
                <a:spcPts val="0"/>
              </a:spcBef>
              <a:spcAft>
                <a:spcPts val="0"/>
              </a:spcAft>
              <a:buNone/>
            </a:pPr>
            <a:r>
              <a:rPr sz="2000" b="1" i="0" lang="ko-KR">
                <a:solidFill>
                  <a:srgbClr val="38BDF8"/>
                </a:solidFill>
                <a:latin typeface="맑은 고딕"/>
                <a:ea typeface="맑은 고딕"/>
                <a:cs typeface="맑은 고딕"/>
              </a:rPr>
              <a:t>연구 질문</a:t>
            </a:r>
          </a:p>
        </p:txBody>
      </p:sp>
      <p:sp>
        <p:nvSpPr>
          <p:cNvPr id="129" name="Rounded Rectangle 128"/>
          <p:cNvSpPr/>
          <p:nvPr/>
        </p:nvSpPr>
        <p:spPr>
          <a:xfrm>
            <a:off x="11106000" y="9576000"/>
            <a:ext cx="1008000" cy="720000"/>
          </a:xfrm>
          <a:prstGeom prst="roundRect">
            <a:avLst>
              <a:gd name="adj" fmla="val 15000"/>
            </a:avLst>
          </a:prstGeom>
          <a:solidFill>
            <a:srgbClr val="1D4ED8"/>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FFFFF"/>
                </a:solidFill>
                <a:latin typeface="맑은 고딕"/>
                <a:ea typeface="맑은 고딕"/>
                <a:cs typeface="맑은 고딕"/>
              </a:rPr>
              <a:t>RQ1</a:t>
            </a:r>
          </a:p>
        </p:txBody>
      </p:sp>
      <p:sp>
        <p:nvSpPr>
          <p:cNvPr id="130" name="TextBox 129"/>
          <p:cNvSpPr txBox="1"/>
          <p:nvPr/>
        </p:nvSpPr>
        <p:spPr>
          <a:xfrm>
            <a:off x="12222000" y="9576000"/>
            <a:ext cx="829800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FACC15"/>
                </a:solidFill>
                <a:latin typeface="맑은 고딕"/>
                <a:ea typeface="맑은 고딕"/>
                <a:cs typeface="맑은 고딕"/>
              </a:rPr>
              <a:t>수준과 유형</a:t>
            </a:r>
          </a:p>
          <a:p>
            <a:pPr algn="l" marL="0" indent="0">
              <a:lnSpc>
                <a:spcPts val="1920"/>
              </a:lnSpc>
              <a:spcBef>
                <a:spcPts val="0"/>
              </a:spcBef>
              <a:spcAft>
                <a:spcPts val="0"/>
              </a:spcAft>
              <a:buNone/>
            </a:pPr>
            <a:r>
              <a:rPr sz="1600" b="0" i="0" lang="ko-KR">
                <a:solidFill>
                  <a:srgbClr val="E6ECF7"/>
                </a:solidFill>
                <a:latin typeface="맑은 고딕"/>
                <a:ea typeface="맑은 고딕"/>
                <a:cs typeface="맑은 고딕"/>
              </a:rPr>
              <a:t>제조공정과 접합 기술 간의 융합은 어느 정도로, 어떠한 형태로 나타나는가?</a:t>
            </a:r>
          </a:p>
        </p:txBody>
      </p:sp>
      <p:sp>
        <p:nvSpPr>
          <p:cNvPr id="131" name="Rounded Rectangle 130"/>
          <p:cNvSpPr/>
          <p:nvPr/>
        </p:nvSpPr>
        <p:spPr>
          <a:xfrm>
            <a:off x="11106000" y="10350000"/>
            <a:ext cx="1008000" cy="720000"/>
          </a:xfrm>
          <a:prstGeom prst="roundRect">
            <a:avLst>
              <a:gd name="adj" fmla="val 15000"/>
            </a:avLst>
          </a:prstGeom>
          <a:solidFill>
            <a:srgbClr val="1D4ED8"/>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FFFFF"/>
                </a:solidFill>
                <a:latin typeface="맑은 고딕"/>
                <a:ea typeface="맑은 고딕"/>
                <a:cs typeface="맑은 고딕"/>
              </a:rPr>
              <a:t>RQ2</a:t>
            </a:r>
          </a:p>
        </p:txBody>
      </p:sp>
      <p:sp>
        <p:nvSpPr>
          <p:cNvPr id="132" name="TextBox 131"/>
          <p:cNvSpPr txBox="1"/>
          <p:nvPr/>
        </p:nvSpPr>
        <p:spPr>
          <a:xfrm>
            <a:off x="12222000" y="10350000"/>
            <a:ext cx="829800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FACC15"/>
                </a:solidFill>
                <a:latin typeface="맑은 고딕"/>
                <a:ea typeface="맑은 고딕"/>
                <a:cs typeface="맑은 고딕"/>
              </a:rPr>
              <a:t>시간적 변화</a:t>
            </a:r>
          </a:p>
          <a:p>
            <a:pPr algn="l" marL="0" indent="0">
              <a:lnSpc>
                <a:spcPts val="1920"/>
              </a:lnSpc>
              <a:spcBef>
                <a:spcPts val="0"/>
              </a:spcBef>
              <a:spcAft>
                <a:spcPts val="0"/>
              </a:spcAft>
              <a:buNone/>
            </a:pPr>
            <a:r>
              <a:rPr sz="1600" b="0" i="0" lang="ko-KR">
                <a:solidFill>
                  <a:srgbClr val="E6ECF7"/>
                </a:solidFill>
                <a:latin typeface="맑은 고딕"/>
                <a:ea typeface="맑은 고딕"/>
                <a:cs typeface="맑은 고딕"/>
              </a:rPr>
              <a:t>융합의 수준과 형태는 시간에 따라 어떻게 변화하는가?</a:t>
            </a:r>
          </a:p>
        </p:txBody>
      </p:sp>
      <p:sp>
        <p:nvSpPr>
          <p:cNvPr id="133" name="Rounded Rectangle 132"/>
          <p:cNvSpPr/>
          <p:nvPr/>
        </p:nvSpPr>
        <p:spPr>
          <a:xfrm>
            <a:off x="11106000" y="11124000"/>
            <a:ext cx="1008000" cy="720000"/>
          </a:xfrm>
          <a:prstGeom prst="roundRect">
            <a:avLst>
              <a:gd name="adj" fmla="val 15000"/>
            </a:avLst>
          </a:prstGeom>
          <a:solidFill>
            <a:srgbClr val="1D4ED8"/>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FFFFF"/>
                </a:solidFill>
                <a:latin typeface="맑은 고딕"/>
                <a:ea typeface="맑은 고딕"/>
                <a:cs typeface="맑은 고딕"/>
              </a:rPr>
              <a:t>RQ3</a:t>
            </a:r>
          </a:p>
        </p:txBody>
      </p:sp>
      <p:sp>
        <p:nvSpPr>
          <p:cNvPr id="134" name="TextBox 133"/>
          <p:cNvSpPr txBox="1"/>
          <p:nvPr/>
        </p:nvSpPr>
        <p:spPr>
          <a:xfrm>
            <a:off x="12222000" y="11124000"/>
            <a:ext cx="829800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solidFill>
                  <a:srgbClr val="FACC15"/>
                </a:solidFill>
                <a:latin typeface="맑은 고딕"/>
                <a:ea typeface="맑은 고딕"/>
                <a:cs typeface="맑은 고딕"/>
              </a:rPr>
              <a:t>구조적 중심 변화</a:t>
            </a:r>
          </a:p>
          <a:p>
            <a:pPr algn="l" marL="0" indent="0">
              <a:lnSpc>
                <a:spcPts val="1920"/>
              </a:lnSpc>
              <a:spcBef>
                <a:spcPts val="0"/>
              </a:spcBef>
              <a:spcAft>
                <a:spcPts val="0"/>
              </a:spcAft>
              <a:buNone/>
            </a:pPr>
            <a:r>
              <a:rPr sz="1600" b="0" i="0" lang="ko-KR">
                <a:solidFill>
                  <a:srgbClr val="E6ECF7"/>
                </a:solidFill>
                <a:latin typeface="맑은 고딕"/>
                <a:ea typeface="맑은 고딕"/>
                <a:cs typeface="맑은 고딕"/>
              </a:rPr>
              <a:t>융합의 중심은 핵심 기술과 주변 기술 사이에서 어떻게 이동하는가?</a:t>
            </a:r>
          </a:p>
        </p:txBody>
      </p:sp>
      <p:sp>
        <p:nvSpPr>
          <p:cNvPr id="135" name="TextBox 134"/>
          <p:cNvSpPr txBox="1"/>
          <p:nvPr/>
        </p:nvSpPr>
        <p:spPr>
          <a:xfrm>
            <a:off x="576000" y="12240000"/>
            <a:ext cx="14400000" cy="792000"/>
          </a:xfrm>
          <a:prstGeom prst="rect">
            <a:avLst/>
          </a:prstGeom>
          <a:noFill/>
        </p:spPr>
        <p:txBody>
          <a:bodyPr wrap="square" lIns="0" rIns="0" tIns="0" bIns="0" anchor="ctr">
            <a:noAutofit/>
          </a:bodyPr>
          <a:lstStyle/>
          <a:p>
            <a:pPr algn="l" marL="0" indent="0">
              <a:lnSpc>
                <a:spcPts val="5280"/>
              </a:lnSpc>
              <a:spcBef>
                <a:spcPts val="0"/>
              </a:spcBef>
              <a:spcAft>
                <a:spcPts val="0"/>
              </a:spcAft>
              <a:buNone/>
            </a:pPr>
            <a:r>
              <a:rPr sz="4400" b="1" i="0" lang="ko-KR" spc="400">
                <a:solidFill>
                  <a:srgbClr val="38BDF8"/>
                </a:solidFill>
                <a:latin typeface="맑은 고딕"/>
                <a:ea typeface="맑은 고딕"/>
                <a:cs typeface="맑은 고딕"/>
              </a:rPr>
              <a:t>02  </a:t>
            </a:r>
            <a:r>
              <a:rPr sz="4400" b="1" i="0" lang="ko-KR" spc="400">
                <a:solidFill>
                  <a:srgbClr val="FFFFFF"/>
                </a:solidFill>
                <a:latin typeface="맑은 고딕"/>
                <a:ea typeface="맑은 고딕"/>
                <a:cs typeface="맑은 고딕"/>
              </a:rPr>
              <a:t>SOLUTION</a:t>
            </a:r>
            <a:r>
              <a:rPr sz="2200" b="0" i="0" lang="ko-KR">
                <a:solidFill>
                  <a:srgbClr val="A9B6CF"/>
                </a:solidFill>
                <a:latin typeface="맑은 고딕"/>
                <a:ea typeface="맑은 고딕"/>
                <a:cs typeface="맑은 고딕"/>
              </a:rPr>
              <a:t>   어떻게 분석했는가</a:t>
            </a:r>
          </a:p>
        </p:txBody>
      </p:sp>
      <p:sp>
        <p:nvSpPr>
          <p:cNvPr id="136" name="Rounded Rectangle 135"/>
          <p:cNvSpPr/>
          <p:nvPr/>
        </p:nvSpPr>
        <p:spPr>
          <a:xfrm>
            <a:off x="576000" y="13104000"/>
            <a:ext cx="6120000" cy="1053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37" name="Oval 136"/>
          <p:cNvSpPr/>
          <p:nvPr/>
        </p:nvSpPr>
        <p:spPr>
          <a:xfrm>
            <a:off x="702000" y="13360500"/>
            <a:ext cx="540000" cy="540000"/>
          </a:xfrm>
          <a:prstGeom prst="ellipse">
            <a:avLst/>
          </a:prstGeom>
          <a:solidFill>
            <a:srgbClr val="1D4ED8"/>
          </a:solidFill>
          <a:ln>
            <a:noFill/>
          </a:ln>
        </p:spPr>
        <p:txBody>
          <a:bodyPr rtlCol="0" anchor="ctr" lIns="54000" rIns="54000" tIns="54000" bIns="54000"/>
          <a:lstStyle/>
          <a:p>
            <a:pPr algn="ctr"/>
          </a:p>
        </p:txBody>
      </p:sp>
      <p:pic>
        <p:nvPicPr>
          <p:cNvPr id="138" name="Picture 137" descr="FaDatabase_FFFFFF.png"/>
          <p:cNvPicPr>
            <a:picLocks noChangeAspect="1"/>
          </p:cNvPicPr>
          <p:nvPr/>
        </p:nvPicPr>
        <p:blipFill>
          <a:blip r:embed="rId3"/>
          <a:stretch>
            <a:fillRect/>
          </a:stretch>
        </p:blipFill>
        <p:spPr>
          <a:xfrm>
            <a:off x="842400" y="13500900"/>
            <a:ext cx="259200" cy="259200"/>
          </a:xfrm>
          <a:prstGeom prst="rect">
            <a:avLst/>
          </a:prstGeom>
        </p:spPr>
      </p:pic>
      <p:sp>
        <p:nvSpPr>
          <p:cNvPr id="139" name="TextBox 138"/>
          <p:cNvSpPr txBox="1"/>
          <p:nvPr/>
        </p:nvSpPr>
        <p:spPr>
          <a:xfrm>
            <a:off x="1350000" y="13122000"/>
            <a:ext cx="5256000" cy="1017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300" b="1" i="0" lang="ko-KR">
                <a:solidFill>
                  <a:srgbClr val="38BDF8"/>
                </a:solidFill>
                <a:latin typeface="맑은 고딕"/>
                <a:ea typeface="맑은 고딕"/>
                <a:cs typeface="맑은 고딕"/>
              </a:rPr>
              <a:t>STEP 1  </a:t>
            </a:r>
            <a:r>
              <a:rPr sz="1800" b="1" i="0" lang="ko-KR">
                <a:solidFill>
                  <a:srgbClr val="FFFFFF"/>
                </a:solidFill>
                <a:latin typeface="맑은 고딕"/>
                <a:ea typeface="맑은 고딕"/>
                <a:cs typeface="맑은 고딕"/>
              </a:rPr>
              <a:t>자료 수집</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EPO PATSTAT Global, CPC H01L21·H01L24</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 제목 키워드 → 관련 출원 928건 (1968–2024)</a:t>
            </a:r>
          </a:p>
        </p:txBody>
      </p:sp>
      <p:sp>
        <p:nvSpPr>
          <p:cNvPr id="140" name="Rounded Rectangle 139"/>
          <p:cNvSpPr/>
          <p:nvPr/>
        </p:nvSpPr>
        <p:spPr>
          <a:xfrm>
            <a:off x="576000" y="14265000"/>
            <a:ext cx="6120000" cy="1053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41" name="Oval 140"/>
          <p:cNvSpPr/>
          <p:nvPr/>
        </p:nvSpPr>
        <p:spPr>
          <a:xfrm>
            <a:off x="702000" y="14521500"/>
            <a:ext cx="540000" cy="540000"/>
          </a:xfrm>
          <a:prstGeom prst="ellipse">
            <a:avLst/>
          </a:prstGeom>
          <a:solidFill>
            <a:srgbClr val="1D4ED8"/>
          </a:solidFill>
          <a:ln>
            <a:noFill/>
          </a:ln>
        </p:spPr>
        <p:txBody>
          <a:bodyPr rtlCol="0" anchor="ctr" lIns="54000" rIns="54000" tIns="54000" bIns="54000"/>
          <a:lstStyle/>
          <a:p>
            <a:pPr algn="ctr"/>
          </a:p>
        </p:txBody>
      </p:sp>
      <p:pic>
        <p:nvPicPr>
          <p:cNvPr id="142" name="Picture 141" descr="FaCodeMerge_FFFFFF.png"/>
          <p:cNvPicPr>
            <a:picLocks noChangeAspect="1"/>
          </p:cNvPicPr>
          <p:nvPr/>
        </p:nvPicPr>
        <p:blipFill>
          <a:blip r:embed="rId4"/>
          <a:stretch>
            <a:fillRect/>
          </a:stretch>
        </p:blipFill>
        <p:spPr>
          <a:xfrm>
            <a:off x="842400" y="14661900"/>
            <a:ext cx="259200" cy="259200"/>
          </a:xfrm>
          <a:prstGeom prst="rect">
            <a:avLst/>
          </a:prstGeom>
        </p:spPr>
      </p:pic>
      <p:sp>
        <p:nvSpPr>
          <p:cNvPr id="143" name="TextBox 142"/>
          <p:cNvSpPr txBox="1"/>
          <p:nvPr/>
        </p:nvSpPr>
        <p:spPr>
          <a:xfrm>
            <a:off x="1350000" y="14283000"/>
            <a:ext cx="5256000" cy="1017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300" b="1" i="0" lang="ko-KR">
                <a:solidFill>
                  <a:srgbClr val="38BDF8"/>
                </a:solidFill>
                <a:latin typeface="맑은 고딕"/>
                <a:ea typeface="맑은 고딕"/>
                <a:cs typeface="맑은 고딕"/>
              </a:rPr>
              <a:t>STEP 2  </a:t>
            </a:r>
            <a:r>
              <a:rPr sz="1800" b="1" i="0" lang="ko-KR">
                <a:solidFill>
                  <a:srgbClr val="FFFFFF"/>
                </a:solidFill>
                <a:latin typeface="맑은 고딕"/>
                <a:ea typeface="맑은 고딕"/>
                <a:cs typeface="맑은 고딕"/>
              </a:rPr>
              <a:t>공동분류 유형화</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두 분류의 공동분류 = 융합의 대리측정치</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접합 단독형 · 통합형 · 공정 단독형</a:t>
            </a:r>
          </a:p>
        </p:txBody>
      </p:sp>
      <p:sp>
        <p:nvSpPr>
          <p:cNvPr id="144" name="Rounded Rectangle 143"/>
          <p:cNvSpPr/>
          <p:nvPr/>
        </p:nvSpPr>
        <p:spPr>
          <a:xfrm>
            <a:off x="576000" y="15426000"/>
            <a:ext cx="6120000" cy="1053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45" name="Oval 144"/>
          <p:cNvSpPr/>
          <p:nvPr/>
        </p:nvSpPr>
        <p:spPr>
          <a:xfrm>
            <a:off x="702000" y="15682500"/>
            <a:ext cx="540000" cy="540000"/>
          </a:xfrm>
          <a:prstGeom prst="ellipse">
            <a:avLst/>
          </a:prstGeom>
          <a:solidFill>
            <a:srgbClr val="1D4ED8"/>
          </a:solidFill>
          <a:ln>
            <a:noFill/>
          </a:ln>
        </p:spPr>
        <p:txBody>
          <a:bodyPr rtlCol="0" anchor="ctr" lIns="54000" rIns="54000" tIns="54000" bIns="54000"/>
          <a:lstStyle/>
          <a:p>
            <a:pPr algn="ctr"/>
          </a:p>
        </p:txBody>
      </p:sp>
      <p:pic>
        <p:nvPicPr>
          <p:cNvPr id="146" name="Picture 145" descr="FaCircleNodes_FFFFFF.png"/>
          <p:cNvPicPr>
            <a:picLocks noChangeAspect="1"/>
          </p:cNvPicPr>
          <p:nvPr/>
        </p:nvPicPr>
        <p:blipFill>
          <a:blip r:embed="rId5"/>
          <a:stretch>
            <a:fillRect/>
          </a:stretch>
        </p:blipFill>
        <p:spPr>
          <a:xfrm>
            <a:off x="842400" y="15822900"/>
            <a:ext cx="259200" cy="259200"/>
          </a:xfrm>
          <a:prstGeom prst="rect">
            <a:avLst/>
          </a:prstGeom>
        </p:spPr>
      </p:pic>
      <p:sp>
        <p:nvSpPr>
          <p:cNvPr id="147" name="TextBox 146"/>
          <p:cNvSpPr txBox="1"/>
          <p:nvPr/>
        </p:nvSpPr>
        <p:spPr>
          <a:xfrm>
            <a:off x="1350000" y="15444000"/>
            <a:ext cx="5256000" cy="1017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300" b="1" i="0" lang="ko-KR">
                <a:solidFill>
                  <a:srgbClr val="38BDF8"/>
                </a:solidFill>
                <a:latin typeface="맑은 고딕"/>
                <a:ea typeface="맑은 고딕"/>
                <a:cs typeface="맑은 고딕"/>
              </a:rPr>
              <a:t>STEP 3  </a:t>
            </a:r>
            <a:r>
              <a:rPr sz="1800" b="1" i="0" lang="ko-KR">
                <a:solidFill>
                  <a:srgbClr val="FFFFFF"/>
                </a:solidFill>
                <a:latin typeface="맑은 고딕"/>
                <a:ea typeface="맑은 고딕"/>
                <a:cs typeface="맑은 고딕"/>
              </a:rPr>
              <a:t>핵심 기술 식별</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기술 클러스터 · 기술 네트워크</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 핵심 접합 기호 24/03·05·08·80</a:t>
            </a:r>
          </a:p>
        </p:txBody>
      </p:sp>
      <p:sp>
        <p:nvSpPr>
          <p:cNvPr id="148" name="Rounded Rectangle 147"/>
          <p:cNvSpPr/>
          <p:nvPr/>
        </p:nvSpPr>
        <p:spPr>
          <a:xfrm>
            <a:off x="576000" y="16587000"/>
            <a:ext cx="6120000" cy="1053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49" name="Oval 148"/>
          <p:cNvSpPr/>
          <p:nvPr/>
        </p:nvSpPr>
        <p:spPr>
          <a:xfrm>
            <a:off x="702000" y="16843500"/>
            <a:ext cx="540000" cy="540000"/>
          </a:xfrm>
          <a:prstGeom prst="ellipse">
            <a:avLst/>
          </a:prstGeom>
          <a:solidFill>
            <a:srgbClr val="1D4ED8"/>
          </a:solidFill>
          <a:ln>
            <a:noFill/>
          </a:ln>
        </p:spPr>
        <p:txBody>
          <a:bodyPr rtlCol="0" anchor="ctr" lIns="54000" rIns="54000" tIns="54000" bIns="54000"/>
          <a:lstStyle/>
          <a:p>
            <a:pPr algn="ctr"/>
          </a:p>
        </p:txBody>
      </p:sp>
      <p:pic>
        <p:nvPicPr>
          <p:cNvPr id="150" name="Picture 149" descr="FaChartLine_FFFFFF.png"/>
          <p:cNvPicPr>
            <a:picLocks noChangeAspect="1"/>
          </p:cNvPicPr>
          <p:nvPr/>
        </p:nvPicPr>
        <p:blipFill>
          <a:blip r:embed="rId6"/>
          <a:stretch>
            <a:fillRect/>
          </a:stretch>
        </p:blipFill>
        <p:spPr>
          <a:xfrm>
            <a:off x="842400" y="16983900"/>
            <a:ext cx="259200" cy="259200"/>
          </a:xfrm>
          <a:prstGeom prst="rect">
            <a:avLst/>
          </a:prstGeom>
        </p:spPr>
      </p:pic>
      <p:sp>
        <p:nvSpPr>
          <p:cNvPr id="151" name="TextBox 150"/>
          <p:cNvSpPr txBox="1"/>
          <p:nvPr/>
        </p:nvSpPr>
        <p:spPr>
          <a:xfrm>
            <a:off x="1350000" y="16605000"/>
            <a:ext cx="5256000" cy="1017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300" b="1" i="0" lang="ko-KR">
                <a:solidFill>
                  <a:srgbClr val="38BDF8"/>
                </a:solidFill>
                <a:latin typeface="맑은 고딕"/>
                <a:ea typeface="맑은 고딕"/>
                <a:cs typeface="맑은 고딕"/>
              </a:rPr>
              <a:t>STEP 4  </a:t>
            </a:r>
            <a:r>
              <a:rPr sz="1800" b="1" i="0" lang="ko-KR">
                <a:solidFill>
                  <a:srgbClr val="FFFFFF"/>
                </a:solidFill>
                <a:latin typeface="맑은 고딕"/>
                <a:ea typeface="맑은 고딕"/>
                <a:cs typeface="맑은 고딕"/>
              </a:rPr>
              <a:t>통계 분석</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다항 로짓(RQ1·RQ2), 이항 로짓(RQ3)</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Jaccard 계수 · 매개 중심성(RQ3)</a:t>
            </a:r>
          </a:p>
        </p:txBody>
      </p:sp>
      <p:sp>
        <p:nvSpPr>
          <p:cNvPr id="152" name="Rounded Rectangle 151"/>
          <p:cNvSpPr/>
          <p:nvPr/>
        </p:nvSpPr>
        <p:spPr>
          <a:xfrm>
            <a:off x="7020000" y="13104000"/>
            <a:ext cx="7200000" cy="4536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53" name="TextBox 152"/>
          <p:cNvSpPr txBox="1"/>
          <p:nvPr/>
        </p:nvSpPr>
        <p:spPr>
          <a:xfrm>
            <a:off x="7020000" y="13212000"/>
            <a:ext cx="7200000" cy="3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solidFill>
                  <a:srgbClr val="FFFFFF"/>
                </a:solidFill>
                <a:latin typeface="맑은 고딕"/>
                <a:ea typeface="맑은 고딕"/>
                <a:cs typeface="맑은 고딕"/>
              </a:rPr>
              <a:t>CPC 공동분류로 본 세 유형 (N = 928)</a:t>
            </a:r>
          </a:p>
        </p:txBody>
      </p:sp>
      <p:pic>
        <p:nvPicPr>
          <p:cNvPr id="154" name="Picture 153" descr="venn_dark.png"/>
          <p:cNvPicPr>
            <a:picLocks noChangeAspect="1"/>
          </p:cNvPicPr>
          <p:nvPr/>
        </p:nvPicPr>
        <p:blipFill>
          <a:blip r:embed="rId7"/>
          <a:stretch>
            <a:fillRect/>
          </a:stretch>
        </p:blipFill>
        <p:spPr>
          <a:xfrm>
            <a:off x="7272000" y="13608000"/>
            <a:ext cx="6696000" cy="3610286"/>
          </a:xfrm>
          <a:prstGeom prst="rect">
            <a:avLst/>
          </a:prstGeom>
        </p:spPr>
      </p:pic>
      <p:sp>
        <p:nvSpPr>
          <p:cNvPr id="155" name="TextBox 154"/>
          <p:cNvSpPr txBox="1"/>
          <p:nvPr/>
        </p:nvSpPr>
        <p:spPr>
          <a:xfrm>
            <a:off x="7164000" y="17208000"/>
            <a:ext cx="6912000" cy="360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solidFill>
                  <a:srgbClr val="A78BFA"/>
                </a:solidFill>
                <a:latin typeface="맑은 고딕"/>
                <a:ea typeface="맑은 고딕"/>
                <a:cs typeface="맑은 고딕"/>
              </a:rPr>
              <a:t>통합형</a:t>
            </a:r>
            <a:r>
              <a:rPr sz="1500" b="0" i="0" lang="ko-KR">
                <a:solidFill>
                  <a:srgbClr val="E6ECF7"/>
                </a:solidFill>
                <a:latin typeface="맑은 고딕"/>
                <a:ea typeface="맑은 고딕"/>
                <a:cs typeface="맑은 고딕"/>
              </a:rPr>
              <a:t> = 공정 단계의 경계를 넘는 발명</a:t>
            </a:r>
          </a:p>
        </p:txBody>
      </p:sp>
      <p:sp>
        <p:nvSpPr>
          <p:cNvPr id="156" name="Rounded Rectangle 155"/>
          <p:cNvSpPr/>
          <p:nvPr/>
        </p:nvSpPr>
        <p:spPr>
          <a:xfrm>
            <a:off x="14544000" y="13104000"/>
            <a:ext cx="6264000" cy="4536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157" name="TextBox 156"/>
          <p:cNvSpPr txBox="1"/>
          <p:nvPr/>
        </p:nvSpPr>
        <p:spPr>
          <a:xfrm>
            <a:off x="14544000" y="13212000"/>
            <a:ext cx="6264000" cy="3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solidFill>
                  <a:srgbClr val="FFFFFF"/>
                </a:solidFill>
                <a:latin typeface="맑은 고딕"/>
                <a:ea typeface="맑은 고딕"/>
                <a:cs typeface="맑은 고딕"/>
              </a:rPr>
              <a:t>핵심 접합 기술</a:t>
            </a:r>
          </a:p>
        </p:txBody>
      </p:sp>
      <p:sp>
        <p:nvSpPr>
          <p:cNvPr id="158" name="Rounded Rectangle 157"/>
          <p:cNvSpPr/>
          <p:nvPr/>
        </p:nvSpPr>
        <p:spPr>
          <a:xfrm>
            <a:off x="14796000" y="13680000"/>
            <a:ext cx="2790000" cy="540000"/>
          </a:xfrm>
          <a:prstGeom prst="roundRect">
            <a:avLst>
              <a:gd name="adj" fmla="val 50000"/>
            </a:avLst>
          </a:prstGeom>
          <a:solidFill>
            <a:srgbClr val="3A1C10"/>
          </a:solidFill>
          <a:ln w="25400">
            <a:solidFill>
              <a:srgbClr val="FB923C"/>
            </a:solid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B923C"/>
                </a:solidFill>
                <a:latin typeface="맑은 고딕"/>
                <a:ea typeface="맑은 고딕"/>
                <a:cs typeface="맑은 고딕"/>
              </a:rPr>
              <a:t>H01L 24/03</a:t>
            </a:r>
          </a:p>
        </p:txBody>
      </p:sp>
      <p:sp>
        <p:nvSpPr>
          <p:cNvPr id="159" name="Rounded Rectangle 158"/>
          <p:cNvSpPr/>
          <p:nvPr/>
        </p:nvSpPr>
        <p:spPr>
          <a:xfrm>
            <a:off x="17766000" y="13680000"/>
            <a:ext cx="2790000" cy="540000"/>
          </a:xfrm>
          <a:prstGeom prst="roundRect">
            <a:avLst>
              <a:gd name="adj" fmla="val 50000"/>
            </a:avLst>
          </a:prstGeom>
          <a:solidFill>
            <a:srgbClr val="3A1C10"/>
          </a:solidFill>
          <a:ln w="25400">
            <a:solidFill>
              <a:srgbClr val="FB923C"/>
            </a:solid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B923C"/>
                </a:solidFill>
                <a:latin typeface="맑은 고딕"/>
                <a:ea typeface="맑은 고딕"/>
                <a:cs typeface="맑은 고딕"/>
              </a:rPr>
              <a:t>H01L 24/05</a:t>
            </a:r>
          </a:p>
        </p:txBody>
      </p:sp>
      <p:sp>
        <p:nvSpPr>
          <p:cNvPr id="160" name="Rounded Rectangle 159"/>
          <p:cNvSpPr/>
          <p:nvPr/>
        </p:nvSpPr>
        <p:spPr>
          <a:xfrm>
            <a:off x="14796000" y="14364000"/>
            <a:ext cx="2790000" cy="540000"/>
          </a:xfrm>
          <a:prstGeom prst="roundRect">
            <a:avLst>
              <a:gd name="adj" fmla="val 50000"/>
            </a:avLst>
          </a:prstGeom>
          <a:solidFill>
            <a:srgbClr val="3A1C10"/>
          </a:solidFill>
          <a:ln w="25400">
            <a:solidFill>
              <a:srgbClr val="FB923C"/>
            </a:solid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B923C"/>
                </a:solidFill>
                <a:latin typeface="맑은 고딕"/>
                <a:ea typeface="맑은 고딕"/>
                <a:cs typeface="맑은 고딕"/>
              </a:rPr>
              <a:t>H01L 24/08</a:t>
            </a:r>
          </a:p>
        </p:txBody>
      </p:sp>
      <p:sp>
        <p:nvSpPr>
          <p:cNvPr id="161" name="Rounded Rectangle 160"/>
          <p:cNvSpPr/>
          <p:nvPr/>
        </p:nvSpPr>
        <p:spPr>
          <a:xfrm>
            <a:off x="17766000" y="14364000"/>
            <a:ext cx="2790000" cy="540000"/>
          </a:xfrm>
          <a:prstGeom prst="roundRect">
            <a:avLst>
              <a:gd name="adj" fmla="val 50000"/>
            </a:avLst>
          </a:prstGeom>
          <a:solidFill>
            <a:srgbClr val="3A1C10"/>
          </a:solidFill>
          <a:ln w="25400">
            <a:solidFill>
              <a:srgbClr val="FB923C"/>
            </a:solid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FB923C"/>
                </a:solidFill>
                <a:latin typeface="맑은 고딕"/>
                <a:ea typeface="맑은 고딕"/>
                <a:cs typeface="맑은 고딕"/>
              </a:rPr>
              <a:t>H01L 24/80</a:t>
            </a:r>
          </a:p>
        </p:txBody>
      </p:sp>
      <p:sp>
        <p:nvSpPr>
          <p:cNvPr id="162" name="TextBox 161"/>
          <p:cNvSpPr txBox="1"/>
          <p:nvPr/>
        </p:nvSpPr>
        <p:spPr>
          <a:xfrm>
            <a:off x="14544000" y="15120000"/>
            <a:ext cx="6264000" cy="864000"/>
          </a:xfrm>
          <a:prstGeom prst="rect">
            <a:avLst/>
          </a:prstGeom>
          <a:noFill/>
        </p:spPr>
        <p:txBody>
          <a:bodyPr wrap="square" lIns="0" rIns="0" tIns="0" bIns="0" anchor="ctr">
            <a:noAutofit/>
          </a:bodyPr>
          <a:lstStyle/>
          <a:p>
            <a:pPr algn="ctr" marL="0" indent="0">
              <a:lnSpc>
                <a:spcPts val="5830"/>
              </a:lnSpc>
              <a:spcBef>
                <a:spcPts val="0"/>
              </a:spcBef>
              <a:spcAft>
                <a:spcPts val="0"/>
              </a:spcAft>
              <a:buNone/>
            </a:pPr>
            <a:r>
              <a:rPr sz="5400" b="1" i="0" lang="ko-KR">
                <a:solidFill>
                  <a:srgbClr val="FB923C"/>
                </a:solidFill>
                <a:latin typeface="맑은 고딕"/>
                <a:ea typeface="맑은 고딕"/>
                <a:cs typeface="맑은 고딕"/>
              </a:rPr>
              <a:t>81.3%</a:t>
            </a:r>
          </a:p>
        </p:txBody>
      </p:sp>
      <p:sp>
        <p:nvSpPr>
          <p:cNvPr id="163" name="TextBox 162"/>
          <p:cNvSpPr txBox="1"/>
          <p:nvPr/>
        </p:nvSpPr>
        <p:spPr>
          <a:xfrm>
            <a:off x="14724000" y="15984000"/>
            <a:ext cx="5904000" cy="720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0" i="0" lang="ko-KR">
                <a:solidFill>
                  <a:srgbClr val="E6ECF7"/>
                </a:solidFill>
                <a:latin typeface="맑은 고딕"/>
                <a:ea typeface="맑은 고딕"/>
                <a:cs typeface="맑은 고딕"/>
              </a:rPr>
              <a:t>접합 출원 763건 중 핵심 기술을 포함한 비중</a:t>
            </a:r>
          </a:p>
        </p:txBody>
      </p:sp>
      <p:sp>
        <p:nvSpPr>
          <p:cNvPr id="164" name="TextBox 163"/>
          <p:cNvSpPr txBox="1"/>
          <p:nvPr/>
        </p:nvSpPr>
        <p:spPr>
          <a:xfrm>
            <a:off x="14724000" y="16668000"/>
            <a:ext cx="5904000" cy="86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A9B6CF"/>
                </a:solidFill>
                <a:latin typeface="맑은 고딕"/>
                <a:ea typeface="맑은 고딕"/>
                <a:cs typeface="맑은 고딕"/>
              </a:rPr>
              <a:t>기술 클러스터(출원 200건 이상 기호)와 기술 네트워크의 연결 강도로 식별</a:t>
            </a:r>
          </a:p>
        </p:txBody>
      </p:sp>
      <p:sp>
        <p:nvSpPr>
          <p:cNvPr id="165" name="TextBox 164"/>
          <p:cNvSpPr txBox="1"/>
          <p:nvPr/>
        </p:nvSpPr>
        <p:spPr>
          <a:xfrm>
            <a:off x="576000" y="17928000"/>
            <a:ext cx="14400000" cy="792000"/>
          </a:xfrm>
          <a:prstGeom prst="rect">
            <a:avLst/>
          </a:prstGeom>
          <a:noFill/>
        </p:spPr>
        <p:txBody>
          <a:bodyPr wrap="square" lIns="0" rIns="0" tIns="0" bIns="0" anchor="ctr">
            <a:noAutofit/>
          </a:bodyPr>
          <a:lstStyle/>
          <a:p>
            <a:pPr algn="l" marL="0" indent="0">
              <a:lnSpc>
                <a:spcPts val="5280"/>
              </a:lnSpc>
              <a:spcBef>
                <a:spcPts val="0"/>
              </a:spcBef>
              <a:spcAft>
                <a:spcPts val="0"/>
              </a:spcAft>
              <a:buNone/>
            </a:pPr>
            <a:r>
              <a:rPr sz="4400" b="1" i="0" lang="ko-KR" spc="400">
                <a:solidFill>
                  <a:srgbClr val="38BDF8"/>
                </a:solidFill>
                <a:latin typeface="맑은 고딕"/>
                <a:ea typeface="맑은 고딕"/>
                <a:cs typeface="맑은 고딕"/>
              </a:rPr>
              <a:t>03  </a:t>
            </a:r>
            <a:r>
              <a:rPr sz="4400" b="1" i="0" lang="ko-KR" spc="400">
                <a:solidFill>
                  <a:srgbClr val="FFFFFF"/>
                </a:solidFill>
                <a:latin typeface="맑은 고딕"/>
                <a:ea typeface="맑은 고딕"/>
                <a:cs typeface="맑은 고딕"/>
              </a:rPr>
              <a:t>EVALUATION</a:t>
            </a:r>
            <a:r>
              <a:rPr sz="2200" b="0" i="0" lang="ko-KR">
                <a:solidFill>
                  <a:srgbClr val="A9B6CF"/>
                </a:solidFill>
                <a:latin typeface="맑은 고딕"/>
                <a:ea typeface="맑은 고딕"/>
                <a:cs typeface="맑은 고딕"/>
              </a:rPr>
              <a:t>   무엇을 발견했는가</a:t>
            </a:r>
          </a:p>
        </p:txBody>
      </p:sp>
      <p:sp>
        <p:nvSpPr>
          <p:cNvPr id="166" name="Rounded Rectangle 165"/>
          <p:cNvSpPr/>
          <p:nvPr/>
        </p:nvSpPr>
        <p:spPr>
          <a:xfrm>
            <a:off x="576000" y="18792000"/>
            <a:ext cx="6528000" cy="6192000"/>
          </a:xfrm>
          <a:prstGeom prst="roundRect">
            <a:avLst>
              <a:gd name="adj" fmla="val 4000"/>
            </a:avLst>
          </a:prstGeom>
          <a:solidFill>
            <a:srgbClr val="131E36"/>
          </a:solidFill>
          <a:ln w="15875">
            <a:solidFill>
              <a:srgbClr val="A78BFA"/>
            </a:solidFill>
          </a:ln>
        </p:spPr>
        <p:txBody>
          <a:bodyPr rtlCol="0" anchor="ctr" lIns="54000" rIns="54000" tIns="54000" bIns="54000"/>
          <a:lstStyle/>
          <a:p>
            <a:pPr algn="ctr"/>
          </a:p>
        </p:txBody>
      </p:sp>
      <p:sp>
        <p:nvSpPr>
          <p:cNvPr id="167" name="Rounded Rectangle 166"/>
          <p:cNvSpPr/>
          <p:nvPr/>
        </p:nvSpPr>
        <p:spPr>
          <a:xfrm>
            <a:off x="756000" y="18954000"/>
            <a:ext cx="864000" cy="468000"/>
          </a:xfrm>
          <a:prstGeom prst="roundRect">
            <a:avLst>
              <a:gd name="adj" fmla="val 25000"/>
            </a:avLst>
          </a:prstGeom>
          <a:solidFill>
            <a:srgbClr val="A78BFA"/>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0B1222"/>
                </a:solidFill>
                <a:latin typeface="맑은 고딕"/>
                <a:ea typeface="맑은 고딕"/>
                <a:cs typeface="맑은 고딕"/>
              </a:rPr>
              <a:t>RQ1</a:t>
            </a:r>
          </a:p>
        </p:txBody>
      </p:sp>
      <p:sp>
        <p:nvSpPr>
          <p:cNvPr id="168" name="TextBox 167"/>
          <p:cNvSpPr txBox="1"/>
          <p:nvPr/>
        </p:nvSpPr>
        <p:spPr>
          <a:xfrm>
            <a:off x="1728000" y="18936000"/>
            <a:ext cx="5232000" cy="504000"/>
          </a:xfrm>
          <a:prstGeom prst="rect">
            <a:avLst/>
          </a:prstGeom>
          <a:noFill/>
        </p:spPr>
        <p:txBody>
          <a:bodyPr wrap="square" lIns="0" rIns="0" tIns="0" bIns="0" anchor="ctr">
            <a:noAutofit/>
          </a:bodyPr>
          <a:lstStyle/>
          <a:p>
            <a:pPr algn="l" marL="0" indent="0">
              <a:lnSpc>
                <a:spcPts val="2520"/>
              </a:lnSpc>
              <a:spcBef>
                <a:spcPts val="0"/>
              </a:spcBef>
              <a:spcAft>
                <a:spcPts val="0"/>
              </a:spcAft>
              <a:buNone/>
            </a:pPr>
            <a:r>
              <a:rPr sz="2100" b="1" i="0" lang="ko-KR">
                <a:solidFill>
                  <a:srgbClr val="FFFFFF"/>
                </a:solidFill>
                <a:latin typeface="맑은 고딕"/>
                <a:ea typeface="맑은 고딕"/>
                <a:cs typeface="맑은 고딕"/>
              </a:rPr>
              <a:t>융합은 예외가 아니다</a:t>
            </a:r>
          </a:p>
        </p:txBody>
      </p:sp>
      <p:sp>
        <p:nvSpPr>
          <p:cNvPr id="169" name="Rounded Rectangle 168"/>
          <p:cNvSpPr/>
          <p:nvPr/>
        </p:nvSpPr>
        <p:spPr>
          <a:xfrm>
            <a:off x="720000" y="23760000"/>
            <a:ext cx="6240000" cy="1080000"/>
          </a:xfrm>
          <a:prstGeom prst="roundRect">
            <a:avLst>
              <a:gd name="adj" fmla="val 8000"/>
            </a:avLst>
          </a:prstGeom>
          <a:solidFill>
            <a:srgbClr val="1B2948"/>
          </a:solidFill>
          <a:ln>
            <a:noFill/>
          </a:ln>
        </p:spPr>
        <p:txBody>
          <a:bodyPr rtlCol="0" anchor="ctr" lIns="54000" rIns="54000" tIns="54000" bIns="54000"/>
          <a:lstStyle/>
          <a:p>
            <a:pPr algn="ctr"/>
          </a:p>
        </p:txBody>
      </p:sp>
      <p:sp>
        <p:nvSpPr>
          <p:cNvPr id="170" name="Rounded Rectangle 169"/>
          <p:cNvSpPr/>
          <p:nvPr/>
        </p:nvSpPr>
        <p:spPr>
          <a:xfrm>
            <a:off x="7428000" y="18792000"/>
            <a:ext cx="6528000" cy="6192000"/>
          </a:xfrm>
          <a:prstGeom prst="roundRect">
            <a:avLst>
              <a:gd name="adj" fmla="val 4000"/>
            </a:avLst>
          </a:prstGeom>
          <a:solidFill>
            <a:srgbClr val="131E36"/>
          </a:solidFill>
          <a:ln w="15875">
            <a:solidFill>
              <a:srgbClr val="38BDF8"/>
            </a:solidFill>
          </a:ln>
        </p:spPr>
        <p:txBody>
          <a:bodyPr rtlCol="0" anchor="ctr" lIns="54000" rIns="54000" tIns="54000" bIns="54000"/>
          <a:lstStyle/>
          <a:p>
            <a:pPr algn="ctr"/>
          </a:p>
        </p:txBody>
      </p:sp>
      <p:sp>
        <p:nvSpPr>
          <p:cNvPr id="171" name="Rounded Rectangle 170"/>
          <p:cNvSpPr/>
          <p:nvPr/>
        </p:nvSpPr>
        <p:spPr>
          <a:xfrm>
            <a:off x="7608000" y="18954000"/>
            <a:ext cx="864000" cy="468000"/>
          </a:xfrm>
          <a:prstGeom prst="roundRect">
            <a:avLst>
              <a:gd name="adj" fmla="val 25000"/>
            </a:avLst>
          </a:prstGeom>
          <a:solidFill>
            <a:srgbClr val="38BDF8"/>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0B1222"/>
                </a:solidFill>
                <a:latin typeface="맑은 고딕"/>
                <a:ea typeface="맑은 고딕"/>
                <a:cs typeface="맑은 고딕"/>
              </a:rPr>
              <a:t>RQ2</a:t>
            </a:r>
          </a:p>
        </p:txBody>
      </p:sp>
      <p:sp>
        <p:nvSpPr>
          <p:cNvPr id="172" name="TextBox 171"/>
          <p:cNvSpPr txBox="1"/>
          <p:nvPr/>
        </p:nvSpPr>
        <p:spPr>
          <a:xfrm>
            <a:off x="8580000" y="18936000"/>
            <a:ext cx="5232000" cy="504000"/>
          </a:xfrm>
          <a:prstGeom prst="rect">
            <a:avLst/>
          </a:prstGeom>
          <a:noFill/>
        </p:spPr>
        <p:txBody>
          <a:bodyPr wrap="square" lIns="0" rIns="0" tIns="0" bIns="0" anchor="ctr">
            <a:noAutofit/>
          </a:bodyPr>
          <a:lstStyle/>
          <a:p>
            <a:pPr algn="l" marL="0" indent="0">
              <a:lnSpc>
                <a:spcPts val="2520"/>
              </a:lnSpc>
              <a:spcBef>
                <a:spcPts val="0"/>
              </a:spcBef>
              <a:spcAft>
                <a:spcPts val="0"/>
              </a:spcAft>
              <a:buNone/>
            </a:pPr>
            <a:r>
              <a:rPr sz="2100" b="1" i="0" lang="ko-KR">
                <a:solidFill>
                  <a:srgbClr val="FFFFFF"/>
                </a:solidFill>
                <a:latin typeface="맑은 고딕"/>
                <a:ea typeface="맑은 고딕"/>
                <a:cs typeface="맑은 고딕"/>
              </a:rPr>
              <a:t>형성 → 확산 → 재편</a:t>
            </a:r>
          </a:p>
        </p:txBody>
      </p:sp>
      <p:sp>
        <p:nvSpPr>
          <p:cNvPr id="173" name="Rounded Rectangle 172"/>
          <p:cNvSpPr/>
          <p:nvPr/>
        </p:nvSpPr>
        <p:spPr>
          <a:xfrm>
            <a:off x="7572000" y="23760000"/>
            <a:ext cx="6240000" cy="1080000"/>
          </a:xfrm>
          <a:prstGeom prst="roundRect">
            <a:avLst>
              <a:gd name="adj" fmla="val 8000"/>
            </a:avLst>
          </a:prstGeom>
          <a:solidFill>
            <a:srgbClr val="1B2948"/>
          </a:solidFill>
          <a:ln>
            <a:noFill/>
          </a:ln>
        </p:spPr>
        <p:txBody>
          <a:bodyPr rtlCol="0" anchor="ctr" lIns="54000" rIns="54000" tIns="54000" bIns="54000"/>
          <a:lstStyle/>
          <a:p>
            <a:pPr algn="ctr"/>
          </a:p>
        </p:txBody>
      </p:sp>
      <p:sp>
        <p:nvSpPr>
          <p:cNvPr id="174" name="Rounded Rectangle 173"/>
          <p:cNvSpPr/>
          <p:nvPr/>
        </p:nvSpPr>
        <p:spPr>
          <a:xfrm>
            <a:off x="14280000" y="18792000"/>
            <a:ext cx="6528000" cy="6192000"/>
          </a:xfrm>
          <a:prstGeom prst="roundRect">
            <a:avLst>
              <a:gd name="adj" fmla="val 4000"/>
            </a:avLst>
          </a:prstGeom>
          <a:solidFill>
            <a:srgbClr val="131E36"/>
          </a:solidFill>
          <a:ln w="15875">
            <a:solidFill>
              <a:srgbClr val="FB923C"/>
            </a:solidFill>
          </a:ln>
        </p:spPr>
        <p:txBody>
          <a:bodyPr rtlCol="0" anchor="ctr" lIns="54000" rIns="54000" tIns="54000" bIns="54000"/>
          <a:lstStyle/>
          <a:p>
            <a:pPr algn="ctr"/>
          </a:p>
        </p:txBody>
      </p:sp>
      <p:sp>
        <p:nvSpPr>
          <p:cNvPr id="175" name="Rounded Rectangle 174"/>
          <p:cNvSpPr/>
          <p:nvPr/>
        </p:nvSpPr>
        <p:spPr>
          <a:xfrm>
            <a:off x="14460000" y="18954000"/>
            <a:ext cx="864000" cy="468000"/>
          </a:xfrm>
          <a:prstGeom prst="roundRect">
            <a:avLst>
              <a:gd name="adj" fmla="val 25000"/>
            </a:avLst>
          </a:prstGeom>
          <a:solidFill>
            <a:srgbClr val="FB923C"/>
          </a:solidFill>
          <a:ln>
            <a:noFill/>
          </a:ln>
        </p:spPr>
        <p:txBody>
          <a:bodyPr rtlCol="0" anchor="ctr" lIns="0" rIns="0" tIns="36000" bIns="36000" wrap="square"/>
          <a:lstStyle/>
          <a:p>
            <a:pPr algn="ctr" marL="0" indent="0">
              <a:lnSpc>
                <a:spcPts val="2400"/>
              </a:lnSpc>
              <a:spcBef>
                <a:spcPts val="0"/>
              </a:spcBef>
              <a:spcAft>
                <a:spcPts val="0"/>
              </a:spcAft>
              <a:buNone/>
            </a:pPr>
            <a:r>
              <a:rPr sz="2000" b="1" i="0" lang="ko-KR">
                <a:solidFill>
                  <a:srgbClr val="0B1222"/>
                </a:solidFill>
                <a:latin typeface="맑은 고딕"/>
                <a:ea typeface="맑은 고딕"/>
                <a:cs typeface="맑은 고딕"/>
              </a:rPr>
              <a:t>RQ3</a:t>
            </a:r>
          </a:p>
        </p:txBody>
      </p:sp>
      <p:sp>
        <p:nvSpPr>
          <p:cNvPr id="176" name="TextBox 175"/>
          <p:cNvSpPr txBox="1"/>
          <p:nvPr/>
        </p:nvSpPr>
        <p:spPr>
          <a:xfrm>
            <a:off x="15432000" y="18936000"/>
            <a:ext cx="5232000" cy="504000"/>
          </a:xfrm>
          <a:prstGeom prst="rect">
            <a:avLst/>
          </a:prstGeom>
          <a:noFill/>
        </p:spPr>
        <p:txBody>
          <a:bodyPr wrap="square" lIns="0" rIns="0" tIns="0" bIns="0" anchor="ctr">
            <a:noAutofit/>
          </a:bodyPr>
          <a:lstStyle/>
          <a:p>
            <a:pPr algn="l" marL="0" indent="0">
              <a:lnSpc>
                <a:spcPts val="2520"/>
              </a:lnSpc>
              <a:spcBef>
                <a:spcPts val="0"/>
              </a:spcBef>
              <a:spcAft>
                <a:spcPts val="0"/>
              </a:spcAft>
              <a:buNone/>
            </a:pPr>
            <a:r>
              <a:rPr sz="2100" b="1" i="0" lang="ko-KR">
                <a:solidFill>
                  <a:srgbClr val="FFFFFF"/>
                </a:solidFill>
                <a:latin typeface="맑은 고딕"/>
                <a:ea typeface="맑은 고딕"/>
                <a:cs typeface="맑은 고딕"/>
              </a:rPr>
              <a:t>중심 이동: 핵심 → 주변</a:t>
            </a:r>
          </a:p>
        </p:txBody>
      </p:sp>
      <p:sp>
        <p:nvSpPr>
          <p:cNvPr id="177" name="Rounded Rectangle 176"/>
          <p:cNvSpPr/>
          <p:nvPr/>
        </p:nvSpPr>
        <p:spPr>
          <a:xfrm>
            <a:off x="14424000" y="23760000"/>
            <a:ext cx="6240000" cy="1080000"/>
          </a:xfrm>
          <a:prstGeom prst="roundRect">
            <a:avLst>
              <a:gd name="adj" fmla="val 8000"/>
            </a:avLst>
          </a:prstGeom>
          <a:solidFill>
            <a:srgbClr val="1B2948"/>
          </a:solidFill>
          <a:ln>
            <a:noFill/>
          </a:ln>
        </p:spPr>
        <p:txBody>
          <a:bodyPr rtlCol="0" anchor="ctr" lIns="54000" rIns="54000" tIns="54000" bIns="54000"/>
          <a:lstStyle/>
          <a:p>
            <a:pPr algn="ctr"/>
          </a:p>
        </p:txBody>
      </p:sp>
      <p:sp>
        <p:nvSpPr>
          <p:cNvPr id="178" name="TextBox 177"/>
          <p:cNvSpPr txBox="1"/>
          <p:nvPr/>
        </p:nvSpPr>
        <p:spPr>
          <a:xfrm>
            <a:off x="756000" y="19548000"/>
            <a:ext cx="6168000" cy="864000"/>
          </a:xfrm>
          <a:prstGeom prst="rect">
            <a:avLst/>
          </a:prstGeom>
          <a:noFill/>
        </p:spPr>
        <p:txBody>
          <a:bodyPr wrap="square" lIns="0" rIns="0" tIns="0" bIns="0" anchor="t">
            <a:noAutofit/>
          </a:bodyPr>
          <a:lstStyle/>
          <a:p>
            <a:pPr algn="l" marL="0" indent="0">
              <a:lnSpc>
                <a:spcPts val="5400"/>
              </a:lnSpc>
              <a:spcBef>
                <a:spcPts val="0"/>
              </a:spcBef>
              <a:spcAft>
                <a:spcPts val="0"/>
              </a:spcAft>
              <a:buNone/>
            </a:pPr>
            <a:r>
              <a:rPr sz="5000" b="1" i="0" lang="ko-KR">
                <a:solidFill>
                  <a:srgbClr val="A78BFA"/>
                </a:solidFill>
                <a:latin typeface="맑은 고딕"/>
                <a:ea typeface="맑은 고딕"/>
                <a:cs typeface="맑은 고딕"/>
              </a:rPr>
              <a:t>45.8%</a:t>
            </a:r>
            <a:r>
              <a:rPr sz="1700" b="1" i="0" lang="ko-KR">
                <a:solidFill>
                  <a:srgbClr val="E6ECF7"/>
                </a:solidFill>
                <a:latin typeface="맑은 고딕"/>
                <a:ea typeface="맑은 고딕"/>
                <a:cs typeface="맑은 고딕"/>
              </a:rPr>
              <a:t>  통합형</a:t>
            </a:r>
          </a:p>
          <a:p>
            <a:pPr algn="l" marL="0" indent="0">
              <a:lnSpc>
                <a:spcPts val="1800"/>
              </a:lnSpc>
              <a:spcBef>
                <a:spcPts val="0"/>
              </a:spcBef>
              <a:spcAft>
                <a:spcPts val="0"/>
              </a:spcAft>
              <a:buNone/>
            </a:pPr>
            <a:r>
              <a:rPr sz="1500" b="0" i="0" lang="ko-KR">
                <a:solidFill>
                  <a:srgbClr val="A9B6CF"/>
                </a:solidFill>
                <a:latin typeface="맑은 고딕"/>
                <a:ea typeface="맑은 고딕"/>
                <a:cs typeface="맑은 고딕"/>
              </a:rPr>
              <a:t>좁은 정의에서도 37.2%</a:t>
            </a:r>
          </a:p>
        </p:txBody>
      </p:sp>
      <p:sp>
        <p:nvSpPr>
          <p:cNvPr id="179" name="TextBox 178"/>
          <p:cNvSpPr txBox="1"/>
          <p:nvPr/>
        </p:nvSpPr>
        <p:spPr>
          <a:xfrm>
            <a:off x="756000" y="20520000"/>
            <a:ext cx="6168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A9B6CF"/>
                </a:solidFill>
                <a:latin typeface="맑은 고딕"/>
                <a:ea typeface="맑은 고딕"/>
                <a:cs typeface="맑은 고딕"/>
              </a:rPr>
              <a:t>기술범위별 유형 예측확률</a:t>
            </a:r>
          </a:p>
        </p:txBody>
      </p:sp>
      <p:graphicFrame>
        <p:nvGraphicFramePr>
          <p:cNvPr id="180" name="Chart 179"/>
          <p:cNvGraphicFramePr>
            <a:graphicFrameLocks noGrp="1"/>
          </p:cNvGraphicFramePr>
          <p:nvPr/>
        </p:nvGraphicFramePr>
        <p:xfrm>
          <a:off x="648000" y="20772000"/>
          <a:ext cx="6384000" cy="2916000"/>
        </p:xfrm>
        <a:graphic>
          <a:graphicData uri="http://schemas.openxmlformats.org/drawingml/2006/chart">
            <c:chart xmlns:c="http://schemas.openxmlformats.org/drawingml/2006/chart" r:id="rId8"/>
          </a:graphicData>
        </a:graphic>
      </p:graphicFrame>
      <p:sp>
        <p:nvSpPr>
          <p:cNvPr id="181" name="TextBox 180"/>
          <p:cNvSpPr txBox="1"/>
          <p:nvPr/>
        </p:nvSpPr>
        <p:spPr>
          <a:xfrm>
            <a:off x="828000" y="23796000"/>
            <a:ext cx="6060000" cy="1008000"/>
          </a:xfrm>
          <a:prstGeom prst="rect">
            <a:avLst/>
          </a:prstGeom>
          <a:noFill/>
        </p:spPr>
        <p:txBody>
          <a:bodyPr wrap="square" lIns="0" rIns="0" tIns="0" bIns="0" anchor="ctr">
            <a:noAutofit/>
          </a:bodyPr>
          <a:lstStyle/>
          <a:p>
            <a:pPr algn="l" marL="216000" indent="-216000">
              <a:lnSpc>
                <a:spcPts val="1920"/>
              </a:lnSpc>
              <a:spcBef>
                <a:spcPts val="0"/>
              </a:spcBef>
              <a:spcAft>
                <a:spcPts val="200"/>
              </a:spcAft>
              <a:buClr>
                <a:srgbClr val="FACC15"/>
              </a:buClr>
              <a:buSzPct val="100000"/>
              <a:buFont typeface="Arial"/>
              <a:buChar char="▪"/>
            </a:pPr>
            <a:r>
              <a:rPr sz="1600" b="1" i="0" lang="ko-KR">
                <a:solidFill>
                  <a:srgbClr val="FFFFFF"/>
                </a:solidFill>
                <a:latin typeface="맑은 고딕"/>
                <a:ea typeface="맑은 고딕"/>
                <a:cs typeface="맑은 고딕"/>
              </a:rPr>
              <a:t>세부 기술이 다양할수록 통합형</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기술범위 1 증가 → RRR 1.403***</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기술범위 3 → 0.26, 8 → 0.68</a:t>
            </a:r>
          </a:p>
        </p:txBody>
      </p:sp>
      <p:sp>
        <p:nvSpPr>
          <p:cNvPr id="182" name="TextBox 181"/>
          <p:cNvSpPr txBox="1"/>
          <p:nvPr/>
        </p:nvSpPr>
        <p:spPr>
          <a:xfrm>
            <a:off x="7608000" y="19548000"/>
            <a:ext cx="6168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A9B6CF"/>
                </a:solidFill>
                <a:latin typeface="맑은 고딕"/>
                <a:ea typeface="맑은 고딕"/>
                <a:cs typeface="맑은 고딕"/>
              </a:rPr>
              <a:t>시기별 유형 구성비 (%)</a:t>
            </a:r>
          </a:p>
        </p:txBody>
      </p:sp>
      <p:graphicFrame>
        <p:nvGraphicFramePr>
          <p:cNvPr id="183" name="Chart 182"/>
          <p:cNvGraphicFramePr>
            <a:graphicFrameLocks noGrp="1"/>
          </p:cNvGraphicFramePr>
          <p:nvPr/>
        </p:nvGraphicFramePr>
        <p:xfrm>
          <a:off x="7500000" y="19800000"/>
          <a:ext cx="6384000" cy="3888000"/>
        </p:xfrm>
        <a:graphic>
          <a:graphicData uri="http://schemas.openxmlformats.org/drawingml/2006/chart">
            <c:chart xmlns:c="http://schemas.openxmlformats.org/drawingml/2006/chart" r:id="rId9"/>
          </a:graphicData>
        </a:graphic>
      </p:graphicFrame>
      <p:sp>
        <p:nvSpPr>
          <p:cNvPr id="184" name="TextBox 183"/>
          <p:cNvSpPr txBox="1"/>
          <p:nvPr/>
        </p:nvSpPr>
        <p:spPr>
          <a:xfrm>
            <a:off x="7680000" y="23796000"/>
            <a:ext cx="6060000" cy="1008000"/>
          </a:xfrm>
          <a:prstGeom prst="rect">
            <a:avLst/>
          </a:prstGeom>
          <a:noFill/>
        </p:spPr>
        <p:txBody>
          <a:bodyPr wrap="square" lIns="0" rIns="0" tIns="0" bIns="0" anchor="ctr">
            <a:noAutofit/>
          </a:bodyPr>
          <a:lstStyle/>
          <a:p>
            <a:pPr algn="l" marL="216000" indent="-216000">
              <a:lnSpc>
                <a:spcPts val="1920"/>
              </a:lnSpc>
              <a:spcBef>
                <a:spcPts val="0"/>
              </a:spcBef>
              <a:spcAft>
                <a:spcPts val="200"/>
              </a:spcAft>
              <a:buClr>
                <a:srgbClr val="FACC15"/>
              </a:buClr>
              <a:buSzPct val="100000"/>
              <a:buFont typeface="Arial"/>
              <a:buChar char="▪"/>
            </a:pPr>
            <a:r>
              <a:rPr sz="1600" b="1" i="0" lang="ko-KR">
                <a:solidFill>
                  <a:srgbClr val="FFFFFF"/>
                </a:solidFill>
                <a:latin typeface="맑은 고딕"/>
                <a:ea typeface="맑은 고딕"/>
                <a:cs typeface="맑은 고딕"/>
              </a:rPr>
              <a:t>통합형 31.3% → 62.2% → 44.3%</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공정 단독형 매년 8.7% 감소 (RRR 0.913***)</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무게중심: 제조공정 → 접합</a:t>
            </a:r>
          </a:p>
        </p:txBody>
      </p:sp>
      <p:sp>
        <p:nvSpPr>
          <p:cNvPr id="185" name="TextBox 184"/>
          <p:cNvSpPr txBox="1"/>
          <p:nvPr/>
        </p:nvSpPr>
        <p:spPr>
          <a:xfrm>
            <a:off x="14460000" y="19548000"/>
            <a:ext cx="6168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A9B6CF"/>
                </a:solidFill>
                <a:latin typeface="맑은 고딕"/>
                <a:ea typeface="맑은 고딕"/>
                <a:cs typeface="맑은 고딕"/>
              </a:rPr>
              <a:t>핵심 기술 → 통합형 승산비 (95% CI)</a:t>
            </a:r>
          </a:p>
        </p:txBody>
      </p:sp>
      <p:cxnSp>
        <p:nvCxnSpPr>
          <p:cNvPr id="186" name="Connector 185"/>
          <p:cNvCxnSpPr/>
          <p:nvPr/>
        </p:nvCxnSpPr>
        <p:spPr>
          <a:xfrm>
            <a:off x="16916571" y="19836000"/>
            <a:ext cx="0" cy="1026000"/>
          </a:xfrm>
          <a:prstGeom prst="line">
            <a:avLst/>
          </a:prstGeom>
          <a:ln w="19050">
            <a:solidFill>
              <a:srgbClr val="5A6B88"/>
            </a:solidFill>
            <a:prstDash val="dash"/>
          </a:ln>
        </p:spPr>
      </p:cxnSp>
      <p:sp>
        <p:nvSpPr>
          <p:cNvPr id="187" name="TextBox 186"/>
          <p:cNvSpPr txBox="1"/>
          <p:nvPr/>
        </p:nvSpPr>
        <p:spPr>
          <a:xfrm>
            <a:off x="14424000" y="19854000"/>
            <a:ext cx="864000" cy="324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5B9BFF"/>
                </a:solidFill>
                <a:latin typeface="맑은 고딕"/>
                <a:ea typeface="맑은 고딕"/>
                <a:cs typeface="맑은 고딕"/>
              </a:rPr>
              <a:t>형성기</a:t>
            </a:r>
          </a:p>
        </p:txBody>
      </p:sp>
      <p:cxnSp>
        <p:nvCxnSpPr>
          <p:cNvPr id="188" name="Connector 187"/>
          <p:cNvCxnSpPr/>
          <p:nvPr/>
        </p:nvCxnSpPr>
        <p:spPr>
          <a:xfrm>
            <a:off x="18381523" y="20016000"/>
            <a:ext cx="1969924" cy="0"/>
          </a:xfrm>
          <a:prstGeom prst="line">
            <a:avLst/>
          </a:prstGeom>
          <a:ln w="44450">
            <a:solidFill>
              <a:srgbClr val="5B9BFF"/>
            </a:solidFill>
          </a:ln>
        </p:spPr>
      </p:cxnSp>
      <p:sp>
        <p:nvSpPr>
          <p:cNvPr id="189" name="Oval 188"/>
          <p:cNvSpPr/>
          <p:nvPr/>
        </p:nvSpPr>
        <p:spPr>
          <a:xfrm>
            <a:off x="19258474" y="19908000"/>
            <a:ext cx="216000" cy="216000"/>
          </a:xfrm>
          <a:prstGeom prst="ellipse">
            <a:avLst/>
          </a:prstGeom>
          <a:solidFill>
            <a:srgbClr val="5B9BFF"/>
          </a:solidFill>
          <a:ln>
            <a:noFill/>
          </a:ln>
        </p:spPr>
        <p:txBody>
          <a:bodyPr rtlCol="0" anchor="ctr" lIns="54000" rIns="54000" tIns="54000" bIns="54000"/>
          <a:lstStyle/>
          <a:p>
            <a:pPr algn="ctr"/>
          </a:p>
        </p:txBody>
      </p:sp>
      <p:sp>
        <p:nvSpPr>
          <p:cNvPr id="190" name="TextBox 189"/>
          <p:cNvSpPr txBox="1"/>
          <p:nvPr/>
        </p:nvSpPr>
        <p:spPr>
          <a:xfrm>
            <a:off x="18142474" y="19674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5B9BFF"/>
                </a:solidFill>
                <a:latin typeface="맑은 고딕"/>
                <a:ea typeface="맑은 고딕"/>
                <a:cs typeface="맑은 고딕"/>
              </a:rPr>
              <a:t>11.07***</a:t>
            </a:r>
          </a:p>
        </p:txBody>
      </p:sp>
      <p:sp>
        <p:nvSpPr>
          <p:cNvPr id="191" name="TextBox 190"/>
          <p:cNvSpPr txBox="1"/>
          <p:nvPr/>
        </p:nvSpPr>
        <p:spPr>
          <a:xfrm>
            <a:off x="14424000" y="20196000"/>
            <a:ext cx="864000" cy="324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A78BFA"/>
                </a:solidFill>
                <a:latin typeface="맑은 고딕"/>
                <a:ea typeface="맑은 고딕"/>
                <a:cs typeface="맑은 고딕"/>
              </a:rPr>
              <a:t>확산기</a:t>
            </a:r>
          </a:p>
        </p:txBody>
      </p:sp>
      <p:cxnSp>
        <p:nvCxnSpPr>
          <p:cNvPr id="192" name="Connector 191"/>
          <p:cNvCxnSpPr/>
          <p:nvPr/>
        </p:nvCxnSpPr>
        <p:spPr>
          <a:xfrm>
            <a:off x="17066046" y="20358000"/>
            <a:ext cx="1529258" cy="0"/>
          </a:xfrm>
          <a:prstGeom prst="line">
            <a:avLst/>
          </a:prstGeom>
          <a:ln w="44450">
            <a:solidFill>
              <a:srgbClr val="A78BFA"/>
            </a:solidFill>
          </a:ln>
        </p:spPr>
      </p:cxnSp>
      <p:sp>
        <p:nvSpPr>
          <p:cNvPr id="193" name="Oval 192"/>
          <p:cNvSpPr/>
          <p:nvPr/>
        </p:nvSpPr>
        <p:spPr>
          <a:xfrm>
            <a:off x="17722476" y="20250000"/>
            <a:ext cx="216000" cy="216000"/>
          </a:xfrm>
          <a:prstGeom prst="ellipse">
            <a:avLst/>
          </a:prstGeom>
          <a:solidFill>
            <a:srgbClr val="A78BFA"/>
          </a:solidFill>
          <a:ln>
            <a:noFill/>
          </a:ln>
        </p:spPr>
        <p:txBody>
          <a:bodyPr rtlCol="0" anchor="ctr" lIns="54000" rIns="54000" tIns="54000" bIns="54000"/>
          <a:lstStyle/>
          <a:p>
            <a:pPr algn="ctr"/>
          </a:p>
        </p:txBody>
      </p:sp>
      <p:sp>
        <p:nvSpPr>
          <p:cNvPr id="194" name="TextBox 193"/>
          <p:cNvSpPr txBox="1"/>
          <p:nvPr/>
        </p:nvSpPr>
        <p:spPr>
          <a:xfrm>
            <a:off x="18667304" y="20242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A78BFA"/>
                </a:solidFill>
                <a:latin typeface="맑은 고딕"/>
                <a:ea typeface="맑은 고딕"/>
                <a:cs typeface="맑은 고딕"/>
              </a:rPr>
              <a:t>2.45**</a:t>
            </a:r>
          </a:p>
        </p:txBody>
      </p:sp>
      <p:sp>
        <p:nvSpPr>
          <p:cNvPr id="195" name="TextBox 194"/>
          <p:cNvSpPr txBox="1"/>
          <p:nvPr/>
        </p:nvSpPr>
        <p:spPr>
          <a:xfrm>
            <a:off x="14424000" y="20538000"/>
            <a:ext cx="864000" cy="324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FB9A4B"/>
                </a:solidFill>
                <a:latin typeface="맑은 고딕"/>
                <a:ea typeface="맑은 고딕"/>
                <a:cs typeface="맑은 고딕"/>
              </a:rPr>
              <a:t>재편기</a:t>
            </a:r>
          </a:p>
        </p:txBody>
      </p:sp>
      <p:cxnSp>
        <p:nvCxnSpPr>
          <p:cNvPr id="196" name="Connector 195"/>
          <p:cNvCxnSpPr/>
          <p:nvPr/>
        </p:nvCxnSpPr>
        <p:spPr>
          <a:xfrm>
            <a:off x="15914430" y="20700000"/>
            <a:ext cx="1153375" cy="0"/>
          </a:xfrm>
          <a:prstGeom prst="line">
            <a:avLst/>
          </a:prstGeom>
          <a:ln w="44450">
            <a:solidFill>
              <a:srgbClr val="FB9A4B"/>
            </a:solidFill>
          </a:ln>
        </p:spPr>
      </p:cxnSp>
      <p:sp>
        <p:nvSpPr>
          <p:cNvPr id="197" name="Oval 196"/>
          <p:cNvSpPr/>
          <p:nvPr/>
        </p:nvSpPr>
        <p:spPr>
          <a:xfrm>
            <a:off x="16382088" y="20592000"/>
            <a:ext cx="216000" cy="216000"/>
          </a:xfrm>
          <a:prstGeom prst="ellipse">
            <a:avLst/>
          </a:prstGeom>
          <a:solidFill>
            <a:srgbClr val="FB9A4B"/>
          </a:solidFill>
          <a:ln>
            <a:noFill/>
          </a:ln>
        </p:spPr>
        <p:txBody>
          <a:bodyPr rtlCol="0" anchor="ctr" lIns="54000" rIns="54000" tIns="54000" bIns="54000"/>
          <a:lstStyle/>
          <a:p>
            <a:pPr algn="ctr"/>
          </a:p>
        </p:txBody>
      </p:sp>
      <p:sp>
        <p:nvSpPr>
          <p:cNvPr id="198" name="TextBox 197"/>
          <p:cNvSpPr txBox="1"/>
          <p:nvPr/>
        </p:nvSpPr>
        <p:spPr>
          <a:xfrm>
            <a:off x="17139805" y="20584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FB9A4B"/>
                </a:solidFill>
                <a:latin typeface="맑은 고딕"/>
                <a:ea typeface="맑은 고딕"/>
                <a:cs typeface="맑은 고딕"/>
              </a:rPr>
              <a:t>0.66 (비유의)</a:t>
            </a:r>
          </a:p>
        </p:txBody>
      </p:sp>
      <p:cxnSp>
        <p:nvCxnSpPr>
          <p:cNvPr id="199" name="Connector 198"/>
          <p:cNvCxnSpPr/>
          <p:nvPr/>
        </p:nvCxnSpPr>
        <p:spPr>
          <a:xfrm>
            <a:off x="15504000" y="20898000"/>
            <a:ext cx="4944000" cy="0"/>
          </a:xfrm>
          <a:prstGeom prst="line">
            <a:avLst/>
          </a:prstGeom>
          <a:ln w="15875">
            <a:solidFill>
              <a:srgbClr val="5A6B88"/>
            </a:solidFill>
          </a:ln>
        </p:spPr>
      </p:cxnSp>
      <p:cxnSp>
        <p:nvCxnSpPr>
          <p:cNvPr id="200" name="Connector 199"/>
          <p:cNvCxnSpPr/>
          <p:nvPr/>
        </p:nvCxnSpPr>
        <p:spPr>
          <a:xfrm>
            <a:off x="15504000" y="20898000"/>
            <a:ext cx="0" cy="64800"/>
          </a:xfrm>
          <a:prstGeom prst="line">
            <a:avLst/>
          </a:prstGeom>
          <a:ln w="15875">
            <a:solidFill>
              <a:srgbClr val="5A6B88"/>
            </a:solidFill>
          </a:ln>
        </p:spPr>
      </p:cxnSp>
      <p:sp>
        <p:nvSpPr>
          <p:cNvPr id="201" name="TextBox 200"/>
          <p:cNvSpPr txBox="1"/>
          <p:nvPr/>
        </p:nvSpPr>
        <p:spPr>
          <a:xfrm>
            <a:off x="15216000"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0.25</a:t>
            </a:r>
          </a:p>
        </p:txBody>
      </p:sp>
      <p:cxnSp>
        <p:nvCxnSpPr>
          <p:cNvPr id="202" name="Connector 201"/>
          <p:cNvCxnSpPr/>
          <p:nvPr/>
        </p:nvCxnSpPr>
        <p:spPr>
          <a:xfrm>
            <a:off x="16210286" y="20898000"/>
            <a:ext cx="0" cy="64800"/>
          </a:xfrm>
          <a:prstGeom prst="line">
            <a:avLst/>
          </a:prstGeom>
          <a:ln w="15875">
            <a:solidFill>
              <a:srgbClr val="5A6B88"/>
            </a:solidFill>
          </a:ln>
        </p:spPr>
      </p:cxnSp>
      <p:sp>
        <p:nvSpPr>
          <p:cNvPr id="203" name="TextBox 202"/>
          <p:cNvSpPr txBox="1"/>
          <p:nvPr/>
        </p:nvSpPr>
        <p:spPr>
          <a:xfrm>
            <a:off x="15922286"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0.5</a:t>
            </a:r>
          </a:p>
        </p:txBody>
      </p:sp>
      <p:cxnSp>
        <p:nvCxnSpPr>
          <p:cNvPr id="204" name="Connector 203"/>
          <p:cNvCxnSpPr/>
          <p:nvPr/>
        </p:nvCxnSpPr>
        <p:spPr>
          <a:xfrm>
            <a:off x="16916571" y="20898000"/>
            <a:ext cx="0" cy="64800"/>
          </a:xfrm>
          <a:prstGeom prst="line">
            <a:avLst/>
          </a:prstGeom>
          <a:ln w="15875">
            <a:solidFill>
              <a:srgbClr val="5A6B88"/>
            </a:solidFill>
          </a:ln>
        </p:spPr>
      </p:cxnSp>
      <p:sp>
        <p:nvSpPr>
          <p:cNvPr id="205" name="TextBox 204"/>
          <p:cNvSpPr txBox="1"/>
          <p:nvPr/>
        </p:nvSpPr>
        <p:spPr>
          <a:xfrm>
            <a:off x="16628571"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1</a:t>
            </a:r>
          </a:p>
        </p:txBody>
      </p:sp>
      <p:cxnSp>
        <p:nvCxnSpPr>
          <p:cNvPr id="206" name="Connector 205"/>
          <p:cNvCxnSpPr/>
          <p:nvPr/>
        </p:nvCxnSpPr>
        <p:spPr>
          <a:xfrm>
            <a:off x="17622857" y="20898000"/>
            <a:ext cx="0" cy="64800"/>
          </a:xfrm>
          <a:prstGeom prst="line">
            <a:avLst/>
          </a:prstGeom>
          <a:ln w="15875">
            <a:solidFill>
              <a:srgbClr val="5A6B88"/>
            </a:solidFill>
          </a:ln>
        </p:spPr>
      </p:cxnSp>
      <p:sp>
        <p:nvSpPr>
          <p:cNvPr id="207" name="TextBox 206"/>
          <p:cNvSpPr txBox="1"/>
          <p:nvPr/>
        </p:nvSpPr>
        <p:spPr>
          <a:xfrm>
            <a:off x="17334857"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2</a:t>
            </a:r>
          </a:p>
        </p:txBody>
      </p:sp>
      <p:cxnSp>
        <p:nvCxnSpPr>
          <p:cNvPr id="208" name="Connector 207"/>
          <p:cNvCxnSpPr/>
          <p:nvPr/>
        </p:nvCxnSpPr>
        <p:spPr>
          <a:xfrm>
            <a:off x="18329143" y="20898000"/>
            <a:ext cx="0" cy="64800"/>
          </a:xfrm>
          <a:prstGeom prst="line">
            <a:avLst/>
          </a:prstGeom>
          <a:ln w="15875">
            <a:solidFill>
              <a:srgbClr val="5A6B88"/>
            </a:solidFill>
          </a:ln>
        </p:spPr>
      </p:cxnSp>
      <p:sp>
        <p:nvSpPr>
          <p:cNvPr id="209" name="TextBox 208"/>
          <p:cNvSpPr txBox="1"/>
          <p:nvPr/>
        </p:nvSpPr>
        <p:spPr>
          <a:xfrm>
            <a:off x="18041143"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4</a:t>
            </a:r>
          </a:p>
        </p:txBody>
      </p:sp>
      <p:cxnSp>
        <p:nvCxnSpPr>
          <p:cNvPr id="210" name="Connector 209"/>
          <p:cNvCxnSpPr/>
          <p:nvPr/>
        </p:nvCxnSpPr>
        <p:spPr>
          <a:xfrm>
            <a:off x="19035429" y="20898000"/>
            <a:ext cx="0" cy="64800"/>
          </a:xfrm>
          <a:prstGeom prst="line">
            <a:avLst/>
          </a:prstGeom>
          <a:ln w="15875">
            <a:solidFill>
              <a:srgbClr val="5A6B88"/>
            </a:solidFill>
          </a:ln>
        </p:spPr>
      </p:cxnSp>
      <p:sp>
        <p:nvSpPr>
          <p:cNvPr id="211" name="TextBox 210"/>
          <p:cNvSpPr txBox="1"/>
          <p:nvPr/>
        </p:nvSpPr>
        <p:spPr>
          <a:xfrm>
            <a:off x="18747429"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8</a:t>
            </a:r>
          </a:p>
        </p:txBody>
      </p:sp>
      <p:cxnSp>
        <p:nvCxnSpPr>
          <p:cNvPr id="212" name="Connector 211"/>
          <p:cNvCxnSpPr/>
          <p:nvPr/>
        </p:nvCxnSpPr>
        <p:spPr>
          <a:xfrm>
            <a:off x="19741714" y="20898000"/>
            <a:ext cx="0" cy="64800"/>
          </a:xfrm>
          <a:prstGeom prst="line">
            <a:avLst/>
          </a:prstGeom>
          <a:ln w="15875">
            <a:solidFill>
              <a:srgbClr val="5A6B88"/>
            </a:solidFill>
          </a:ln>
        </p:spPr>
      </p:cxnSp>
      <p:sp>
        <p:nvSpPr>
          <p:cNvPr id="213" name="TextBox 212"/>
          <p:cNvSpPr txBox="1"/>
          <p:nvPr/>
        </p:nvSpPr>
        <p:spPr>
          <a:xfrm>
            <a:off x="19453714"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16</a:t>
            </a:r>
          </a:p>
        </p:txBody>
      </p:sp>
      <p:cxnSp>
        <p:nvCxnSpPr>
          <p:cNvPr id="214" name="Connector 213"/>
          <p:cNvCxnSpPr/>
          <p:nvPr/>
        </p:nvCxnSpPr>
        <p:spPr>
          <a:xfrm>
            <a:off x="20448000" y="20898000"/>
            <a:ext cx="0" cy="64800"/>
          </a:xfrm>
          <a:prstGeom prst="line">
            <a:avLst/>
          </a:prstGeom>
          <a:ln w="15875">
            <a:solidFill>
              <a:srgbClr val="5A6B88"/>
            </a:solidFill>
          </a:ln>
        </p:spPr>
      </p:cxnSp>
      <p:sp>
        <p:nvSpPr>
          <p:cNvPr id="215" name="TextBox 214"/>
          <p:cNvSpPr txBox="1"/>
          <p:nvPr/>
        </p:nvSpPr>
        <p:spPr>
          <a:xfrm>
            <a:off x="20160000" y="20962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D6DEEB"/>
                </a:solidFill>
                <a:latin typeface="맑은 고딕"/>
                <a:ea typeface="맑은 고딕"/>
                <a:cs typeface="맑은 고딕"/>
              </a:rPr>
              <a:t>32</a:t>
            </a:r>
          </a:p>
        </p:txBody>
      </p:sp>
      <p:sp>
        <p:nvSpPr>
          <p:cNvPr id="216" name="TextBox 215"/>
          <p:cNvSpPr txBox="1"/>
          <p:nvPr/>
        </p:nvSpPr>
        <p:spPr>
          <a:xfrm>
            <a:off x="14460000" y="21186000"/>
            <a:ext cx="6168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A9B6CF"/>
                </a:solidFill>
                <a:latin typeface="맑은 고딕"/>
                <a:ea typeface="맑은 고딕"/>
                <a:cs typeface="맑은 고딕"/>
              </a:rPr>
              <a:t>제조공정 영역별 결합 강도 (Jaccard)</a:t>
            </a:r>
          </a:p>
        </p:txBody>
      </p:sp>
      <p:graphicFrame>
        <p:nvGraphicFramePr>
          <p:cNvPr id="217" name="Chart 216"/>
          <p:cNvGraphicFramePr>
            <a:graphicFrameLocks noGrp="1"/>
          </p:cNvGraphicFramePr>
          <p:nvPr/>
        </p:nvGraphicFramePr>
        <p:xfrm>
          <a:off x="14352000" y="21438000"/>
          <a:ext cx="6384000" cy="2286000"/>
        </p:xfrm>
        <a:graphic>
          <a:graphicData uri="http://schemas.openxmlformats.org/drawingml/2006/chart">
            <c:chart xmlns:c="http://schemas.openxmlformats.org/drawingml/2006/chart" r:id="rId10"/>
          </a:graphicData>
        </a:graphic>
      </p:graphicFrame>
      <p:sp>
        <p:nvSpPr>
          <p:cNvPr id="218" name="TextBox 217"/>
          <p:cNvSpPr txBox="1"/>
          <p:nvPr/>
        </p:nvSpPr>
        <p:spPr>
          <a:xfrm>
            <a:off x="14532000" y="23796000"/>
            <a:ext cx="6060000" cy="1008000"/>
          </a:xfrm>
          <a:prstGeom prst="rect">
            <a:avLst/>
          </a:prstGeom>
          <a:noFill/>
        </p:spPr>
        <p:txBody>
          <a:bodyPr wrap="square" lIns="0" rIns="0" tIns="0" bIns="0" anchor="ctr">
            <a:noAutofit/>
          </a:bodyPr>
          <a:lstStyle/>
          <a:p>
            <a:pPr algn="l" marL="216000" indent="-216000">
              <a:lnSpc>
                <a:spcPts val="1920"/>
              </a:lnSpc>
              <a:spcBef>
                <a:spcPts val="0"/>
              </a:spcBef>
              <a:spcAft>
                <a:spcPts val="200"/>
              </a:spcAft>
              <a:buClr>
                <a:srgbClr val="FACC15"/>
              </a:buClr>
              <a:buSzPct val="100000"/>
              <a:buFont typeface="Arial"/>
              <a:buChar char="▪"/>
            </a:pPr>
            <a:r>
              <a:rPr sz="1600" b="1" i="0" lang="ko-KR">
                <a:solidFill>
                  <a:srgbClr val="FFFFFF"/>
                </a:solidFill>
                <a:latin typeface="맑은 고딕"/>
                <a:ea typeface="맑은 고딕"/>
                <a:cs typeface="맑은 고딕"/>
              </a:rPr>
              <a:t>재편기에는 핵심 기술의 우위가 확인되지 않음</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핵심 기술 비중 53.5% → 88.0%</a:t>
            </a:r>
          </a:p>
          <a:p>
            <a:pPr algn="l" marL="216000" indent="-216000">
              <a:lnSpc>
                <a:spcPts val="1800"/>
              </a:lnSpc>
              <a:spcBef>
                <a:spcPts val="0"/>
              </a:spcBef>
              <a:spcAft>
                <a:spcPts val="200"/>
              </a:spcAft>
              <a:buClr>
                <a:srgbClr val="FACC15"/>
              </a:buClr>
              <a:buSzPct val="100000"/>
              <a:buFont typeface="Arial"/>
              <a:buChar char="▪"/>
            </a:pPr>
            <a:r>
              <a:rPr sz="1500" b="0" i="0" lang="ko-KR">
                <a:solidFill>
                  <a:srgbClr val="E6ECF7"/>
                </a:solidFill>
                <a:latin typeface="맑은 고딕"/>
                <a:ea typeface="맑은 고딕"/>
                <a:cs typeface="맑은 고딕"/>
              </a:rPr>
              <a:t>웨이퍼 제조공정 → 공정 장치·패키징 단계 공정</a:t>
            </a:r>
          </a:p>
        </p:txBody>
      </p:sp>
      <p:sp>
        <p:nvSpPr>
          <p:cNvPr id="219" name="TextBox 218"/>
          <p:cNvSpPr txBox="1"/>
          <p:nvPr/>
        </p:nvSpPr>
        <p:spPr>
          <a:xfrm>
            <a:off x="576000" y="25272000"/>
            <a:ext cx="14400000" cy="792000"/>
          </a:xfrm>
          <a:prstGeom prst="rect">
            <a:avLst/>
          </a:prstGeom>
          <a:noFill/>
        </p:spPr>
        <p:txBody>
          <a:bodyPr wrap="square" lIns="0" rIns="0" tIns="0" bIns="0" anchor="ctr">
            <a:noAutofit/>
          </a:bodyPr>
          <a:lstStyle/>
          <a:p>
            <a:pPr algn="l" marL="0" indent="0">
              <a:lnSpc>
                <a:spcPts val="5280"/>
              </a:lnSpc>
              <a:spcBef>
                <a:spcPts val="0"/>
              </a:spcBef>
              <a:spcAft>
                <a:spcPts val="0"/>
              </a:spcAft>
              <a:buNone/>
            </a:pPr>
            <a:r>
              <a:rPr sz="4400" b="1" i="0" lang="ko-KR" spc="400">
                <a:solidFill>
                  <a:srgbClr val="38BDF8"/>
                </a:solidFill>
                <a:latin typeface="맑은 고딕"/>
                <a:ea typeface="맑은 고딕"/>
                <a:cs typeface="맑은 고딕"/>
              </a:rPr>
              <a:t>04  </a:t>
            </a:r>
            <a:r>
              <a:rPr sz="4400" b="1" i="0" lang="ko-KR" spc="400">
                <a:solidFill>
                  <a:srgbClr val="FFFFFF"/>
                </a:solidFill>
                <a:latin typeface="맑은 고딕"/>
                <a:ea typeface="맑은 고딕"/>
                <a:cs typeface="맑은 고딕"/>
              </a:rPr>
              <a:t>TAKEAWAY</a:t>
            </a:r>
            <a:r>
              <a:rPr sz="2200" b="0" i="0" lang="ko-KR">
                <a:solidFill>
                  <a:srgbClr val="A9B6CF"/>
                </a:solidFill>
                <a:latin typeface="맑은 고딕"/>
                <a:ea typeface="맑은 고딕"/>
                <a:cs typeface="맑은 고딕"/>
              </a:rPr>
              <a:t>   결론과 시사점</a:t>
            </a:r>
          </a:p>
        </p:txBody>
      </p:sp>
      <p:sp>
        <p:nvSpPr>
          <p:cNvPr id="220" name="Pentagon 219"/>
          <p:cNvSpPr/>
          <p:nvPr/>
        </p:nvSpPr>
        <p:spPr>
          <a:xfrm>
            <a:off x="576000" y="26136000"/>
            <a:ext cx="4428000" cy="648000"/>
          </a:xfrm>
          <a:prstGeom prst="homePlate">
            <a:avLst/>
          </a:prstGeom>
          <a:solidFill>
            <a:srgbClr val="1D4ED8"/>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형성기  </a:t>
            </a:r>
            <a:r>
              <a:rPr sz="1600" b="0" i="0" lang="ko-KR">
                <a:solidFill>
                  <a:srgbClr val="FFFFFF"/>
                </a:solidFill>
                <a:latin typeface="맑은 고딕"/>
                <a:ea typeface="맑은 고딕"/>
                <a:cs typeface="맑은 고딕"/>
              </a:rPr>
              <a:t>–2014</a:t>
            </a:r>
          </a:p>
        </p:txBody>
      </p:sp>
      <p:sp>
        <p:nvSpPr>
          <p:cNvPr id="221" name="TextBox 220"/>
          <p:cNvSpPr txBox="1"/>
          <p:nvPr/>
        </p:nvSpPr>
        <p:spPr>
          <a:xfrm>
            <a:off x="756000" y="26838000"/>
            <a:ext cx="3924000" cy="82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60A5FA"/>
                </a:solidFill>
                <a:latin typeface="맑은 고딕"/>
                <a:ea typeface="맑은 고딕"/>
                <a:cs typeface="맑은 고딕"/>
              </a:rPr>
              <a:t>공정 단독형 우세 (43.6%)</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핵심 기술 출원은 제조공정 지식을 함께 포함 (OR 11.1)</a:t>
            </a:r>
          </a:p>
        </p:txBody>
      </p:sp>
      <p:sp>
        <p:nvSpPr>
          <p:cNvPr id="222" name="Chevron 221"/>
          <p:cNvSpPr/>
          <p:nvPr/>
        </p:nvSpPr>
        <p:spPr>
          <a:xfrm>
            <a:off x="4896000" y="26136000"/>
            <a:ext cx="4428000" cy="648000"/>
          </a:xfrm>
          <a:prstGeom prst="chevron">
            <a:avLst/>
          </a:prstGeom>
          <a:solidFill>
            <a:srgbClr val="6D28D9"/>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확산기  </a:t>
            </a:r>
            <a:r>
              <a:rPr sz="1600" b="0" i="0" lang="ko-KR">
                <a:solidFill>
                  <a:srgbClr val="FFFFFF"/>
                </a:solidFill>
                <a:latin typeface="맑은 고딕"/>
                <a:ea typeface="맑은 고딕"/>
                <a:cs typeface="맑은 고딕"/>
              </a:rPr>
              <a:t>2015–2019</a:t>
            </a:r>
          </a:p>
        </p:txBody>
      </p:sp>
      <p:sp>
        <p:nvSpPr>
          <p:cNvPr id="223" name="TextBox 222"/>
          <p:cNvSpPr txBox="1"/>
          <p:nvPr/>
        </p:nvSpPr>
        <p:spPr>
          <a:xfrm>
            <a:off x="5076000" y="26838000"/>
            <a:ext cx="3924000" cy="82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A78BFA"/>
                </a:solidFill>
                <a:latin typeface="맑은 고딕"/>
                <a:ea typeface="맑은 고딕"/>
                <a:cs typeface="맑은 고딕"/>
              </a:rPr>
              <a:t>통합형 정점 (62.2%)</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웨이퍼 제조공정과의 결합이 가장 강함</a:t>
            </a:r>
          </a:p>
        </p:txBody>
      </p:sp>
      <p:sp>
        <p:nvSpPr>
          <p:cNvPr id="224" name="Chevron 223"/>
          <p:cNvSpPr/>
          <p:nvPr/>
        </p:nvSpPr>
        <p:spPr>
          <a:xfrm>
            <a:off x="9216000" y="26136000"/>
            <a:ext cx="4428000" cy="648000"/>
          </a:xfrm>
          <a:prstGeom prst="chevron">
            <a:avLst/>
          </a:prstGeom>
          <a:solidFill>
            <a:srgbClr val="EA580C"/>
          </a:solidFill>
          <a:ln>
            <a:noFill/>
          </a:ln>
        </p:spPr>
        <p:txBody>
          <a:bodyPr rtlCol="0" anchor="ctr" lIns="324000" rIns="324000" tIns="36000" bIns="36000" wrap="square"/>
          <a:lstStyle/>
          <a:p>
            <a:pPr algn="ctr" marL="0" indent="0">
              <a:lnSpc>
                <a:spcPts val="2640"/>
              </a:lnSpc>
              <a:spcBef>
                <a:spcPts val="0"/>
              </a:spcBef>
              <a:spcAft>
                <a:spcPts val="0"/>
              </a:spcAft>
              <a:buNone/>
            </a:pPr>
            <a:r>
              <a:rPr sz="2200" b="1" i="0" lang="ko-KR">
                <a:solidFill>
                  <a:srgbClr val="FFFFFF"/>
                </a:solidFill>
                <a:latin typeface="맑은 고딕"/>
                <a:ea typeface="맑은 고딕"/>
                <a:cs typeface="맑은 고딕"/>
              </a:rPr>
              <a:t>재편기  </a:t>
            </a:r>
            <a:r>
              <a:rPr sz="1600" b="0" i="0" lang="ko-KR">
                <a:solidFill>
                  <a:srgbClr val="FFFFFF"/>
                </a:solidFill>
                <a:latin typeface="맑은 고딕"/>
                <a:ea typeface="맑은 고딕"/>
                <a:cs typeface="맑은 고딕"/>
              </a:rPr>
              <a:t>2020–2024</a:t>
            </a:r>
          </a:p>
        </p:txBody>
      </p:sp>
      <p:sp>
        <p:nvSpPr>
          <p:cNvPr id="225" name="TextBox 224"/>
          <p:cNvSpPr txBox="1"/>
          <p:nvPr/>
        </p:nvSpPr>
        <p:spPr>
          <a:xfrm>
            <a:off x="9396000" y="26838000"/>
            <a:ext cx="3924000" cy="82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1" i="0" lang="ko-KR">
                <a:solidFill>
                  <a:srgbClr val="FB923C"/>
                </a:solidFill>
                <a:latin typeface="맑은 고딕"/>
                <a:ea typeface="맑은 고딕"/>
                <a:cs typeface="맑은 고딕"/>
              </a:rPr>
              <a:t>접합 단독형 증가 (45.4%)</a:t>
            </a:r>
          </a:p>
          <a:p>
            <a:pPr algn="l" marL="0" indent="0">
              <a:lnSpc>
                <a:spcPts val="1680"/>
              </a:lnSpc>
              <a:spcBef>
                <a:spcPts val="0"/>
              </a:spcBef>
              <a:spcAft>
                <a:spcPts val="0"/>
              </a:spcAft>
              <a:buNone/>
            </a:pPr>
            <a:r>
              <a:rPr sz="1400" b="0" i="0" lang="ko-KR">
                <a:solidFill>
                  <a:srgbClr val="A9B6CF"/>
                </a:solidFill>
                <a:latin typeface="맑은 고딕"/>
                <a:ea typeface="맑은 고딕"/>
                <a:cs typeface="맑은 고딕"/>
              </a:rPr>
              <a:t>핵심 설계 고착화 → 공정 장치·패키징 단계 공정으로 이동</a:t>
            </a:r>
          </a:p>
        </p:txBody>
      </p:sp>
      <p:sp>
        <p:nvSpPr>
          <p:cNvPr id="226" name="TextBox 225"/>
          <p:cNvSpPr txBox="1"/>
          <p:nvPr/>
        </p:nvSpPr>
        <p:spPr>
          <a:xfrm>
            <a:off x="576000" y="27720000"/>
            <a:ext cx="13068000" cy="97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FFFFFF"/>
                </a:solidFill>
                <a:latin typeface="맑은 고딕"/>
                <a:ea typeface="맑은 고딕"/>
                <a:cs typeface="맑은 고딕"/>
              </a:rPr>
              <a:t>공정 단계 간 기술융합은 단선적 확대가 아니라 융합의 내용과 중심이 국면에 따라 재편되는 </a:t>
            </a:r>
            <a:r>
              <a:rPr sz="1900" b="1" i="0" lang="ko-KR">
                <a:solidFill>
                  <a:srgbClr val="FACC15"/>
                </a:solidFill>
                <a:latin typeface="맑은 고딕"/>
                <a:ea typeface="맑은 고딕"/>
                <a:cs typeface="맑은 고딕"/>
              </a:rPr>
              <a:t>동태적 과정</a:t>
            </a:r>
            <a:r>
              <a:rPr sz="1900" b="1" i="0" lang="ko-KR">
                <a:solidFill>
                  <a:srgbClr val="FFFFFF"/>
                </a:solidFill>
                <a:latin typeface="맑은 고딕"/>
                <a:ea typeface="맑은 고딕"/>
                <a:cs typeface="맑은 고딕"/>
              </a:rPr>
              <a:t>이며, 그 배경에 핵심 기술 설계의 고착화가 있음을 시사한다.</a:t>
            </a:r>
          </a:p>
        </p:txBody>
      </p:sp>
      <p:sp>
        <p:nvSpPr>
          <p:cNvPr id="227" name="Rounded Rectangle 226"/>
          <p:cNvSpPr/>
          <p:nvPr/>
        </p:nvSpPr>
        <p:spPr>
          <a:xfrm>
            <a:off x="13968000" y="26136000"/>
            <a:ext cx="6840000" cy="1224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228" name="Oval 227"/>
          <p:cNvSpPr/>
          <p:nvPr/>
        </p:nvSpPr>
        <p:spPr>
          <a:xfrm>
            <a:off x="14094000" y="26244000"/>
            <a:ext cx="432000" cy="432000"/>
          </a:xfrm>
          <a:prstGeom prst="ellipse">
            <a:avLst/>
          </a:prstGeom>
          <a:solidFill>
            <a:srgbClr val="1D4ED8"/>
          </a:solidFill>
          <a:ln>
            <a:noFill/>
          </a:ln>
        </p:spPr>
        <p:txBody>
          <a:bodyPr rtlCol="0" anchor="ctr" lIns="54000" rIns="54000" tIns="54000" bIns="54000"/>
          <a:lstStyle/>
          <a:p>
            <a:pPr algn="ctr"/>
          </a:p>
        </p:txBody>
      </p:sp>
      <p:pic>
        <p:nvPicPr>
          <p:cNvPr id="229" name="Picture 228" descr="FaGraduationCap_FFFFFF.png"/>
          <p:cNvPicPr>
            <a:picLocks noChangeAspect="1"/>
          </p:cNvPicPr>
          <p:nvPr/>
        </p:nvPicPr>
        <p:blipFill>
          <a:blip r:embed="rId11"/>
          <a:stretch>
            <a:fillRect/>
          </a:stretch>
        </p:blipFill>
        <p:spPr>
          <a:xfrm>
            <a:off x="14206320" y="26356320"/>
            <a:ext cx="207360" cy="207360"/>
          </a:xfrm>
          <a:prstGeom prst="rect">
            <a:avLst/>
          </a:prstGeom>
        </p:spPr>
      </p:pic>
      <p:sp>
        <p:nvSpPr>
          <p:cNvPr id="230" name="TextBox 229"/>
          <p:cNvSpPr txBox="1"/>
          <p:nvPr/>
        </p:nvSpPr>
        <p:spPr>
          <a:xfrm>
            <a:off x="14634000" y="26226000"/>
            <a:ext cx="6084000" cy="468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FACC15"/>
                </a:solidFill>
                <a:latin typeface="맑은 고딕"/>
                <a:ea typeface="맑은 고딕"/>
                <a:cs typeface="맑은 고딕"/>
              </a:rPr>
              <a:t>학술적 시사점</a:t>
            </a:r>
          </a:p>
        </p:txBody>
      </p:sp>
      <p:sp>
        <p:nvSpPr>
          <p:cNvPr id="231" name="TextBox 230"/>
          <p:cNvSpPr txBox="1"/>
          <p:nvPr/>
        </p:nvSpPr>
        <p:spPr>
          <a:xfrm>
            <a:off x="14112000" y="26694000"/>
            <a:ext cx="6570000" cy="648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0" i="0" lang="ko-KR">
                <a:solidFill>
                  <a:srgbClr val="E6ECF7"/>
                </a:solidFill>
                <a:latin typeface="맑은 고딕"/>
                <a:ea typeface="맑은 고딕"/>
                <a:cs typeface="맑은 고딕"/>
              </a:rPr>
              <a:t>기술융합 연구의 범위를 공정 단계 간 융합으로 확장하고, 융합을 동태적 과정으로 실증</a:t>
            </a:r>
          </a:p>
        </p:txBody>
      </p:sp>
      <p:sp>
        <p:nvSpPr>
          <p:cNvPr id="232" name="Rounded Rectangle 231"/>
          <p:cNvSpPr/>
          <p:nvPr/>
        </p:nvSpPr>
        <p:spPr>
          <a:xfrm>
            <a:off x="13968000" y="27468000"/>
            <a:ext cx="6840000" cy="1224000"/>
          </a:xfrm>
          <a:prstGeom prst="roundRect">
            <a:avLst>
              <a:gd name="adj" fmla="val 4000"/>
            </a:avLst>
          </a:prstGeom>
          <a:solidFill>
            <a:srgbClr val="131E36"/>
          </a:solidFill>
          <a:ln w="15875">
            <a:solidFill>
              <a:srgbClr val="25385E"/>
            </a:solidFill>
          </a:ln>
        </p:spPr>
        <p:txBody>
          <a:bodyPr rtlCol="0" anchor="ctr" lIns="54000" rIns="54000" tIns="54000" bIns="54000"/>
          <a:lstStyle/>
          <a:p>
            <a:pPr algn="ctr"/>
          </a:p>
        </p:txBody>
      </p:sp>
      <p:sp>
        <p:nvSpPr>
          <p:cNvPr id="233" name="Oval 232"/>
          <p:cNvSpPr/>
          <p:nvPr/>
        </p:nvSpPr>
        <p:spPr>
          <a:xfrm>
            <a:off x="14094000" y="27576000"/>
            <a:ext cx="432000" cy="432000"/>
          </a:xfrm>
          <a:prstGeom prst="ellipse">
            <a:avLst/>
          </a:prstGeom>
          <a:solidFill>
            <a:srgbClr val="1D4ED8"/>
          </a:solidFill>
          <a:ln>
            <a:noFill/>
          </a:ln>
        </p:spPr>
        <p:txBody>
          <a:bodyPr rtlCol="0" anchor="ctr" lIns="54000" rIns="54000" tIns="54000" bIns="54000"/>
          <a:lstStyle/>
          <a:p>
            <a:pPr algn="ctr"/>
          </a:p>
        </p:txBody>
      </p:sp>
      <p:pic>
        <p:nvPicPr>
          <p:cNvPr id="234" name="Picture 233" descr="FaIndustry_FFFFFF.png"/>
          <p:cNvPicPr>
            <a:picLocks noChangeAspect="1"/>
          </p:cNvPicPr>
          <p:nvPr/>
        </p:nvPicPr>
        <p:blipFill>
          <a:blip r:embed="rId12"/>
          <a:stretch>
            <a:fillRect/>
          </a:stretch>
        </p:blipFill>
        <p:spPr>
          <a:xfrm>
            <a:off x="14206320" y="27688320"/>
            <a:ext cx="207360" cy="207360"/>
          </a:xfrm>
          <a:prstGeom prst="rect">
            <a:avLst/>
          </a:prstGeom>
        </p:spPr>
      </p:pic>
      <p:sp>
        <p:nvSpPr>
          <p:cNvPr id="235" name="TextBox 234"/>
          <p:cNvSpPr txBox="1"/>
          <p:nvPr/>
        </p:nvSpPr>
        <p:spPr>
          <a:xfrm>
            <a:off x="14634000" y="27558000"/>
            <a:ext cx="6084000" cy="468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FACC15"/>
                </a:solidFill>
                <a:latin typeface="맑은 고딕"/>
                <a:ea typeface="맑은 고딕"/>
                <a:cs typeface="맑은 고딕"/>
              </a:rPr>
              <a:t>실무적 시사점</a:t>
            </a:r>
          </a:p>
        </p:txBody>
      </p:sp>
      <p:sp>
        <p:nvSpPr>
          <p:cNvPr id="236" name="TextBox 235"/>
          <p:cNvSpPr txBox="1"/>
          <p:nvPr/>
        </p:nvSpPr>
        <p:spPr>
          <a:xfrm>
            <a:off x="14112000" y="28026000"/>
            <a:ext cx="6570000" cy="648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0" i="0" lang="ko-KR">
                <a:solidFill>
                  <a:srgbClr val="E6ECF7"/>
                </a:solidFill>
                <a:latin typeface="맑은 고딕"/>
                <a:ea typeface="맑은 고딕"/>
                <a:cs typeface="맑은 고딕"/>
              </a:rPr>
              <a:t>HBM 등 하이브리드 본딩 경쟁력은 접합 원리 하나에 좌우되지 않을 수 있음 → 평탄화·표면 화학·정렬 계측과 얇은 다이를 다루고 적층하는 공정 역량까지 필요</a:t>
            </a:r>
          </a:p>
        </p:txBody>
      </p:sp>
      <p:sp>
        <p:nvSpPr>
          <p:cNvPr id="237" name="TextBox 236"/>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38" name="TextBox 237"/>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